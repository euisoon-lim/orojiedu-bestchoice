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0"/>
  </p:notesMasterIdLst>
  <p:handoutMasterIdLst>
    <p:handoutMasterId r:id="rId21"/>
  </p:handoutMasterIdLst>
  <p:sldIdLst>
    <p:sldId id="2119931931" r:id="rId2"/>
    <p:sldId id="2119932394" r:id="rId3"/>
    <p:sldId id="2119932448" r:id="rId4"/>
    <p:sldId id="2119932449" r:id="rId5"/>
    <p:sldId id="2119932430" r:id="rId6"/>
    <p:sldId id="2119932431" r:id="rId7"/>
    <p:sldId id="2119932472" r:id="rId8"/>
    <p:sldId id="2119932473" r:id="rId9"/>
    <p:sldId id="2119932477" r:id="rId10"/>
    <p:sldId id="2119932478" r:id="rId11"/>
    <p:sldId id="2119932484" r:id="rId12"/>
    <p:sldId id="2119932395" r:id="rId13"/>
    <p:sldId id="2119932455" r:id="rId14"/>
    <p:sldId id="2119932456" r:id="rId15"/>
    <p:sldId id="2119932459" r:id="rId16"/>
    <p:sldId id="2119932460" r:id="rId17"/>
    <p:sldId id="2119932483" r:id="rId18"/>
    <p:sldId id="2119932465" r:id="rId19"/>
  </p:sldIdLst>
  <p:sldSz cx="10691813" cy="7559675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0" userDrawn="1">
          <p15:clr>
            <a:srgbClr val="A4A3A4"/>
          </p15:clr>
        </p15:guide>
        <p15:guide id="2" pos="442" userDrawn="1">
          <p15:clr>
            <a:srgbClr val="A4A3A4"/>
          </p15:clr>
        </p15:guide>
        <p15:guide id="3" orient="horz" pos="4309" userDrawn="1">
          <p15:clr>
            <a:srgbClr val="A4A3A4"/>
          </p15:clr>
        </p15:guide>
        <p15:guide id="4" pos="629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E6FF"/>
    <a:srgbClr val="4075BA"/>
    <a:srgbClr val="FFFFFF"/>
    <a:srgbClr val="618BDA"/>
    <a:srgbClr val="F2F2F2"/>
    <a:srgbClr val="F4B625"/>
    <a:srgbClr val="082865"/>
    <a:srgbClr val="6591E0"/>
    <a:srgbClr val="2458B8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674" autoAdjust="0"/>
    <p:restoredTop sz="97864" autoAdjust="0"/>
  </p:normalViewPr>
  <p:slideViewPr>
    <p:cSldViewPr snapToGrid="0">
      <p:cViewPr varScale="1">
        <p:scale>
          <a:sx n="125" d="100"/>
          <a:sy n="125" d="100"/>
        </p:scale>
        <p:origin x="324" y="132"/>
      </p:cViewPr>
      <p:guideLst>
        <p:guide orient="horz" pos="680"/>
        <p:guide pos="442"/>
        <p:guide orient="horz" pos="4309"/>
        <p:guide pos="629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33" d="100"/>
          <a:sy n="133" d="100"/>
        </p:scale>
        <p:origin x="6096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82255B7-69C7-7145-92A2-93286F5161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E0EE83-4C27-0961-45B7-CF3AF98090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40E75C-46A5-5041-B4AB-57D2765D022B}" type="datetimeFigureOut">
              <a:rPr kumimoji="1" lang="ko-KR" altLang="en-US" smtClean="0"/>
              <a:t>2026-09-28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BC1988-EA31-1A2D-F8B5-00874E9F37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20238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E7F57B-A869-0676-3EC1-A896656BE2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20238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722C54-0F67-9546-9DFA-4061D50953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693523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AD2C1536-A46D-44B8-9DB0-87DAF5674984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52513" y="1252538"/>
            <a:ext cx="47847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48AE9C61-D71F-4873-9C6E-8768632F0B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564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3D86F-B1CD-F8FF-F7DA-A0616BA74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471775-D9D5-9666-5318-091557ED7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48896C-E003-4231-877F-1211396D8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932CD4-8910-88F2-FB03-A0E1E2E7AF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AE9C61-D71F-4873-9C6E-8768632F0BDD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5582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8591E-E608-031C-1C7A-5E7A94DB0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D661AB-A7C4-1958-72CB-8ECF9F82B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FA6922-85EA-F6A1-ABAD-50CBF3585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B1892A-F416-716E-EDD6-DCC18F86B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AE9C61-D71F-4873-9C6E-8768632F0BDD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0259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421D18-3C75-A511-23B6-8E390E3AEA03}"/>
              </a:ext>
            </a:extLst>
          </p:cNvPr>
          <p:cNvSpPr txBox="1"/>
          <p:nvPr userDrawn="1"/>
        </p:nvSpPr>
        <p:spPr>
          <a:xfrm>
            <a:off x="6513935" y="6819497"/>
            <a:ext cx="3099734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00"/>
              </a:spcBef>
            </a:pPr>
            <a:r>
              <a:rPr lang="ko-KR" altLang="en-US" sz="1000" b="0" i="0" spc="-40" dirty="0">
                <a:solidFill>
                  <a:schemeClr val="bg1"/>
                </a:solidFill>
                <a:latin typeface="NanumSquareOTF Light" panose="020B0600000101010101" pitchFamily="34" charset="-127"/>
                <a:ea typeface="NanumSquareOTF Light" panose="020B0600000101010101" pitchFamily="34" charset="-127"/>
              </a:rPr>
              <a:t>본 자료를 설계사 교육을 위해 만든 자료입니다</a:t>
            </a:r>
            <a:r>
              <a:rPr lang="en-US" altLang="ko-KR" sz="1000" b="0" i="0" spc="-40" dirty="0">
                <a:solidFill>
                  <a:schemeClr val="bg1"/>
                </a:solidFill>
                <a:latin typeface="NanumSquareOTF Light" panose="020B0600000101010101" pitchFamily="34" charset="-127"/>
                <a:ea typeface="NanumSquareOTF Light" panose="020B0600000101010101" pitchFamily="34" charset="-127"/>
              </a:rPr>
              <a:t>.</a:t>
            </a:r>
          </a:p>
          <a:p>
            <a:pPr algn="ctr">
              <a:spcBef>
                <a:spcPts val="200"/>
              </a:spcBef>
            </a:pPr>
            <a:r>
              <a:rPr lang="ko-KR" altLang="en-US" sz="1000" b="0" i="0" spc="-40" dirty="0">
                <a:solidFill>
                  <a:schemeClr val="bg1"/>
                </a:solidFill>
                <a:latin typeface="NanumSquareOTF Light" panose="020B0600000101010101" pitchFamily="34" charset="-127"/>
                <a:ea typeface="NanumSquareOTF Light" panose="020B0600000101010101" pitchFamily="34" charset="-127"/>
              </a:rPr>
              <a:t>고객에게 배포할 수 없으며 이 자료를 광고나 다른 용도로</a:t>
            </a:r>
            <a:endParaRPr lang="en-US" altLang="ko-KR" sz="1000" b="0" i="0" spc="-40" dirty="0">
              <a:solidFill>
                <a:schemeClr val="bg1"/>
              </a:solidFill>
              <a:latin typeface="NanumSquareOTF Light" panose="020B0600000101010101" pitchFamily="34" charset="-127"/>
              <a:ea typeface="NanumSquareOTF Light" panose="020B0600000101010101" pitchFamily="34" charset="-127"/>
            </a:endParaRPr>
          </a:p>
          <a:p>
            <a:pPr algn="ctr">
              <a:spcBef>
                <a:spcPts val="200"/>
              </a:spcBef>
            </a:pPr>
            <a:r>
              <a:rPr lang="ko-KR" altLang="en-US" sz="1000" b="0" i="0" spc="-40" dirty="0">
                <a:solidFill>
                  <a:schemeClr val="bg1"/>
                </a:solidFill>
                <a:latin typeface="NanumSquareOTF Light" panose="020B0600000101010101" pitchFamily="34" charset="-127"/>
                <a:ea typeface="NanumSquareOTF Light" panose="020B0600000101010101" pitchFamily="34" charset="-127"/>
              </a:rPr>
              <a:t>사용시 생기는 문제에 법적 책임을 지지 않습니다</a:t>
            </a:r>
            <a:r>
              <a:rPr lang="en-US" altLang="ko-KR" sz="1000" b="0" i="0" spc="-40" dirty="0">
                <a:solidFill>
                  <a:schemeClr val="bg1"/>
                </a:solidFill>
                <a:latin typeface="NanumSquareOTF Light" panose="020B0600000101010101" pitchFamily="34" charset="-127"/>
                <a:ea typeface="NanumSquareOTF Light" panose="020B0600000101010101" pitchFamily="34" charset="-127"/>
              </a:rPr>
              <a:t>. </a:t>
            </a:r>
            <a:endParaRPr lang="ko-KR" altLang="en-US" sz="1000" b="0" i="0" spc="-40" dirty="0">
              <a:solidFill>
                <a:schemeClr val="bg1"/>
              </a:solidFill>
              <a:latin typeface="NanumSquareOTF Light" panose="020B0600000101010101" pitchFamily="34" charset="-127"/>
              <a:ea typeface="NanumSquareOTF Light" panose="020B0600000101010101" pitchFamily="34" charset="-127"/>
            </a:endParaRPr>
          </a:p>
        </p:txBody>
      </p:sp>
      <p:pic>
        <p:nvPicPr>
          <p:cNvPr id="5" name="그림 4" descr="텍스트, 스크린샷, 아쿠아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CCB1244-BA0F-64AE-4297-4DD71A3E7D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" y="1587"/>
            <a:ext cx="10686258" cy="756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5852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3A9E597-C0E1-05F0-AA48-14B3F68360A1}"/>
              </a:ext>
            </a:extLst>
          </p:cNvPr>
          <p:cNvSpPr/>
          <p:nvPr userDrawn="1"/>
        </p:nvSpPr>
        <p:spPr>
          <a:xfrm>
            <a:off x="1370253" y="7136296"/>
            <a:ext cx="7951305" cy="423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912E17-8989-DD7A-7B6F-220629C6EACB}"/>
              </a:ext>
            </a:extLst>
          </p:cNvPr>
          <p:cNvSpPr txBox="1"/>
          <p:nvPr userDrawn="1"/>
        </p:nvSpPr>
        <p:spPr>
          <a:xfrm>
            <a:off x="706047" y="7282888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-40" dirty="0">
                <a:solidFill>
                  <a:srgbClr val="C00000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본 자료를 설계사 교육을 위해 만든 자료입니다</a:t>
            </a:r>
            <a:r>
              <a:rPr lang="en-US" altLang="ko-KR" sz="1000" spc="-40" dirty="0">
                <a:solidFill>
                  <a:srgbClr val="C00000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 </a:t>
            </a:r>
            <a:r>
              <a:rPr lang="ko-KR" altLang="en-US" sz="1000" spc="-40" dirty="0">
                <a:solidFill>
                  <a:srgbClr val="C00000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고객에게 배포할 수 없으며 이 자료를 광고나 다른 용도로 사용시 생기는 문제에 법적 책임을 지지 않습니다</a:t>
            </a:r>
            <a:r>
              <a:rPr lang="en-US" altLang="ko-KR" sz="1000" spc="-40" dirty="0">
                <a:solidFill>
                  <a:srgbClr val="C00000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 </a:t>
            </a:r>
            <a:endParaRPr lang="ko-KR" altLang="en-US" sz="1000" spc="-40" dirty="0">
              <a:solidFill>
                <a:srgbClr val="C00000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pic>
        <p:nvPicPr>
          <p:cNvPr id="6" name="그림 5" descr="텍스트, 스크린샷, 명함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E307CEE-302B-24F5-BE50-5201F8C6DD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" y="1587"/>
            <a:ext cx="10686258" cy="756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90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 userDrawn="1">
          <p15:clr>
            <a:srgbClr val="FBAE40"/>
          </p15:clr>
        </p15:guide>
        <p15:guide id="2" pos="336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411597-BE99-2EFC-F2DF-738D03BF3196}"/>
              </a:ext>
            </a:extLst>
          </p:cNvPr>
          <p:cNvSpPr txBox="1"/>
          <p:nvPr userDrawn="1"/>
        </p:nvSpPr>
        <p:spPr>
          <a:xfrm>
            <a:off x="1726654" y="7246312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-40" dirty="0">
                <a:solidFill>
                  <a:schemeClr val="bg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본 자료를 설계사 교육을 위해 만든 자료입니다</a:t>
            </a:r>
            <a:r>
              <a:rPr lang="en-US" altLang="ko-KR" sz="1000" spc="-40" dirty="0">
                <a:solidFill>
                  <a:schemeClr val="bg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 </a:t>
            </a:r>
            <a:r>
              <a:rPr lang="ko-KR" altLang="en-US" sz="1000" spc="-40" dirty="0">
                <a:solidFill>
                  <a:schemeClr val="bg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고객에게 배포할 수 없으며 이 자료를 광고나 다른 용도로 사용시 생기는 문제에 법적 책임을 지지 않습니다</a:t>
            </a:r>
            <a:r>
              <a:rPr lang="en-US" altLang="ko-KR" sz="1000" spc="-40" dirty="0">
                <a:solidFill>
                  <a:schemeClr val="bg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 </a:t>
            </a:r>
            <a:endParaRPr lang="ko-KR" altLang="en-US" sz="1000" spc="-40" dirty="0">
              <a:solidFill>
                <a:schemeClr val="bg1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pic>
        <p:nvPicPr>
          <p:cNvPr id="7" name="그림 6" descr="텍스트, 스크린샷, 폰트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7D6A4F3-5249-672D-B08F-79C22DBED3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" y="1587"/>
            <a:ext cx="10686258" cy="756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994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411597-BE99-2EFC-F2DF-738D03BF3196}"/>
              </a:ext>
            </a:extLst>
          </p:cNvPr>
          <p:cNvSpPr txBox="1"/>
          <p:nvPr userDrawn="1"/>
        </p:nvSpPr>
        <p:spPr>
          <a:xfrm>
            <a:off x="1726654" y="7246312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-40" dirty="0">
                <a:solidFill>
                  <a:schemeClr val="bg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본 자료를 설계사 교육을 위해 만든 자료입니다</a:t>
            </a:r>
            <a:r>
              <a:rPr lang="en-US" altLang="ko-KR" sz="1000" spc="-40" dirty="0">
                <a:solidFill>
                  <a:schemeClr val="bg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 </a:t>
            </a:r>
            <a:r>
              <a:rPr lang="ko-KR" altLang="en-US" sz="1000" spc="-40" dirty="0">
                <a:solidFill>
                  <a:schemeClr val="bg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고객에게 배포할 수 없으며 이 자료를 광고나 다른 용도로 사용시 생기는 문제에 법적 책임을 지지 않습니다</a:t>
            </a:r>
            <a:r>
              <a:rPr lang="en-US" altLang="ko-KR" sz="1000" spc="-40" dirty="0">
                <a:solidFill>
                  <a:schemeClr val="bg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 </a:t>
            </a:r>
            <a:endParaRPr lang="ko-KR" altLang="en-US" sz="1000" spc="-40" dirty="0">
              <a:solidFill>
                <a:schemeClr val="bg1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pic>
        <p:nvPicPr>
          <p:cNvPr id="7" name="그림 6" descr="텍스트, 스크린샷, 폰트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C1AA881-38AB-3DDE-1943-71B5567513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" y="1587"/>
            <a:ext cx="10686257" cy="755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8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881C91-5510-C858-0EC7-ECC379369AC9}"/>
              </a:ext>
            </a:extLst>
          </p:cNvPr>
          <p:cNvSpPr txBox="1"/>
          <p:nvPr userDrawn="1"/>
        </p:nvSpPr>
        <p:spPr>
          <a:xfrm>
            <a:off x="2039370" y="7246312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spc="-40" dirty="0">
                <a:solidFill>
                  <a:schemeClr val="bg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본 자료를 설계사 교육을 위해 만든 자료입니다</a:t>
            </a:r>
            <a:r>
              <a:rPr lang="en-US" altLang="ko-KR" sz="1000" spc="-40" dirty="0">
                <a:solidFill>
                  <a:schemeClr val="bg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 </a:t>
            </a:r>
            <a:r>
              <a:rPr lang="ko-KR" altLang="en-US" sz="1000" spc="-40" dirty="0">
                <a:solidFill>
                  <a:schemeClr val="bg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고객에게 배포할 수 없으며 이 자료를 광고나 다른 용도로 사용시 생기는 문제에 법적 책임을 지지 않습니다</a:t>
            </a:r>
            <a:r>
              <a:rPr lang="en-US" altLang="ko-KR" sz="1000" spc="-40" dirty="0">
                <a:solidFill>
                  <a:schemeClr val="bg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 </a:t>
            </a:r>
            <a:endParaRPr lang="ko-KR" altLang="en-US" sz="1000" spc="-40" dirty="0">
              <a:solidFill>
                <a:schemeClr val="bg1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pic>
        <p:nvPicPr>
          <p:cNvPr id="7" name="그림 6" descr="텍스트, 스크린샷, 폰트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88D108C-C133-4AA1-5D62-E023CFFEE2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" y="1587"/>
            <a:ext cx="10686258" cy="756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550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411597-BE99-2EFC-F2DF-738D03BF3196}"/>
              </a:ext>
            </a:extLst>
          </p:cNvPr>
          <p:cNvSpPr txBox="1"/>
          <p:nvPr userDrawn="1"/>
        </p:nvSpPr>
        <p:spPr>
          <a:xfrm>
            <a:off x="1726654" y="7246312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-40" dirty="0">
                <a:solidFill>
                  <a:schemeClr val="bg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본 자료를 설계사 교육을 위해 만든 자료입니다</a:t>
            </a:r>
            <a:r>
              <a:rPr lang="en-US" altLang="ko-KR" sz="1000" spc="-40" dirty="0">
                <a:solidFill>
                  <a:schemeClr val="bg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 </a:t>
            </a:r>
            <a:r>
              <a:rPr lang="ko-KR" altLang="en-US" sz="1000" spc="-40" dirty="0">
                <a:solidFill>
                  <a:schemeClr val="bg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고객에게 배포할 수 없으며 이 자료를 광고나 다른 용도로 사용시 생기는 문제에 법적 책임을 지지 않습니다</a:t>
            </a:r>
            <a:r>
              <a:rPr lang="en-US" altLang="ko-KR" sz="1000" spc="-40" dirty="0">
                <a:solidFill>
                  <a:schemeClr val="bg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 </a:t>
            </a:r>
            <a:endParaRPr lang="ko-KR" altLang="en-US" sz="1000" spc="-40" dirty="0">
              <a:solidFill>
                <a:schemeClr val="bg1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pic>
        <p:nvPicPr>
          <p:cNvPr id="7" name="그림 6" descr="텍스트, 스크린샷, 폰트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FBF228E-4C16-7DC1-0E37-4FA8483489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" y="1587"/>
            <a:ext cx="10686257" cy="755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496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스크린샷, 화이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F5610C2-8A95-AC95-CE83-A7DAC47477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" y="1586"/>
            <a:ext cx="10686258" cy="75604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4BED0C-96CD-40AE-9203-DB60680F6F10}"/>
              </a:ext>
            </a:extLst>
          </p:cNvPr>
          <p:cNvSpPr txBox="1"/>
          <p:nvPr userDrawn="1"/>
        </p:nvSpPr>
        <p:spPr>
          <a:xfrm>
            <a:off x="631384" y="7282888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-40" dirty="0">
                <a:solidFill>
                  <a:srgbClr val="C00000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본 자료를 설계사 교육을 위해 만든 자료입니다</a:t>
            </a:r>
            <a:r>
              <a:rPr lang="en-US" altLang="ko-KR" sz="1000" spc="-40" dirty="0">
                <a:solidFill>
                  <a:srgbClr val="C00000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 </a:t>
            </a:r>
            <a:r>
              <a:rPr lang="ko-KR" altLang="en-US" sz="1000" spc="-40" dirty="0">
                <a:solidFill>
                  <a:srgbClr val="C00000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고객에게 배포할 수 없으며 이 자료를 광고나 다른 용도로 사용시 생기는 문제에 법적 책임을 지지 않습니다</a:t>
            </a:r>
            <a:r>
              <a:rPr lang="en-US" altLang="ko-KR" sz="1000" spc="-40" dirty="0">
                <a:solidFill>
                  <a:srgbClr val="C00000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 </a:t>
            </a:r>
            <a:endParaRPr lang="ko-KR" altLang="en-US" sz="1000" spc="-40" dirty="0">
              <a:solidFill>
                <a:srgbClr val="C00000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841C4A-69C1-1968-A185-92F557B85102}"/>
              </a:ext>
            </a:extLst>
          </p:cNvPr>
          <p:cNvSpPr txBox="1"/>
          <p:nvPr userDrawn="1"/>
        </p:nvSpPr>
        <p:spPr>
          <a:xfrm>
            <a:off x="631384" y="7092663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더 자세한 상품내용은 </a:t>
            </a:r>
            <a:r>
              <a:rPr lang="en-US" altLang="ko-KR" sz="100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GA </a:t>
            </a:r>
            <a:r>
              <a:rPr lang="ko-KR" altLang="en-US" sz="100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소식지와 지점장님 상품조회 자료를 참고해 주세요</a:t>
            </a:r>
            <a:r>
              <a:rPr lang="en-US" altLang="ko-KR" sz="100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D24CAD2-A3AF-9B9B-C76C-DB2DFFEB23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23446" y="7146743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0">
                <a:solidFill>
                  <a:schemeClr val="bg1">
                    <a:lumMod val="5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defRPr>
            </a:lvl1pPr>
          </a:lstStyle>
          <a:p>
            <a:fld id="{96CF2415-8700-42C2-90DE-5515E2AF2CA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37649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그린, 직사각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A688CBF-18C1-356D-733A-DCA2792223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" y="1587"/>
            <a:ext cx="10686258" cy="75604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4BED0C-96CD-40AE-9203-DB60680F6F10}"/>
              </a:ext>
            </a:extLst>
          </p:cNvPr>
          <p:cNvSpPr txBox="1"/>
          <p:nvPr userDrawn="1"/>
        </p:nvSpPr>
        <p:spPr>
          <a:xfrm>
            <a:off x="631384" y="7282888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-40" dirty="0">
                <a:solidFill>
                  <a:srgbClr val="C00000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본 자료를 설계사 교육을 위해 만든 자료입니다</a:t>
            </a:r>
            <a:r>
              <a:rPr lang="en-US" altLang="ko-KR" sz="1000" spc="-40" dirty="0">
                <a:solidFill>
                  <a:srgbClr val="C00000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 </a:t>
            </a:r>
            <a:r>
              <a:rPr lang="ko-KR" altLang="en-US" sz="1000" spc="-40" dirty="0">
                <a:solidFill>
                  <a:srgbClr val="C00000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고객에게 배포할 수 없으며 이 자료를 광고나 다른 용도로 사용시 생기는 문제에 법적 책임을 지지 않습니다</a:t>
            </a:r>
            <a:r>
              <a:rPr lang="en-US" altLang="ko-KR" sz="1000" spc="-40" dirty="0">
                <a:solidFill>
                  <a:srgbClr val="C00000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 </a:t>
            </a:r>
            <a:endParaRPr lang="ko-KR" altLang="en-US" sz="1000" spc="-40" dirty="0">
              <a:solidFill>
                <a:srgbClr val="C00000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712497-85A8-91BA-04A7-6B091B2F7F54}"/>
              </a:ext>
            </a:extLst>
          </p:cNvPr>
          <p:cNvSpPr txBox="1"/>
          <p:nvPr userDrawn="1"/>
        </p:nvSpPr>
        <p:spPr>
          <a:xfrm>
            <a:off x="631384" y="7092663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더 자세한 상품내용은 </a:t>
            </a:r>
            <a:r>
              <a:rPr lang="en-US" altLang="ko-KR" sz="100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GA </a:t>
            </a:r>
            <a:r>
              <a:rPr lang="ko-KR" altLang="en-US" sz="100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소식지와 지점장님 상품조회 자료를 참고해 주세요</a:t>
            </a:r>
            <a:r>
              <a:rPr lang="en-US" altLang="ko-KR" sz="100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4EC1C3B-FE12-84FF-97C9-F442FC306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23446" y="7146743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0">
                <a:solidFill>
                  <a:schemeClr val="bg1">
                    <a:lumMod val="5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defRPr>
            </a:lvl1pPr>
          </a:lstStyle>
          <a:p>
            <a:fld id="{96CF2415-8700-42C2-90DE-5515E2AF2CA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84509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화이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35132A4-B8CF-F8FE-F209-9EE58E6415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" y="1587"/>
            <a:ext cx="10686257" cy="755808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81BF64F-F936-A774-5C04-A10E244359CE}"/>
              </a:ext>
            </a:extLst>
          </p:cNvPr>
          <p:cNvSpPr txBox="1"/>
          <p:nvPr userDrawn="1"/>
        </p:nvSpPr>
        <p:spPr>
          <a:xfrm>
            <a:off x="631384" y="7282888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-40" dirty="0">
                <a:solidFill>
                  <a:srgbClr val="C00000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본 자료를 설계사 교육을 위해 만든 자료입니다</a:t>
            </a:r>
            <a:r>
              <a:rPr lang="en-US" altLang="ko-KR" sz="1000" spc="-40" dirty="0">
                <a:solidFill>
                  <a:srgbClr val="C00000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 </a:t>
            </a:r>
            <a:r>
              <a:rPr lang="ko-KR" altLang="en-US" sz="1000" spc="-40" dirty="0">
                <a:solidFill>
                  <a:srgbClr val="C00000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고객에게 배포할 수 없으며 이 자료를 광고나 다른 용도로 사용시 생기는 문제에 법적 책임을 지지 않습니다</a:t>
            </a:r>
            <a:r>
              <a:rPr lang="en-US" altLang="ko-KR" sz="1000" spc="-40" dirty="0">
                <a:solidFill>
                  <a:srgbClr val="C00000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 </a:t>
            </a:r>
            <a:endParaRPr lang="ko-KR" altLang="en-US" sz="1000" spc="-40" dirty="0">
              <a:solidFill>
                <a:srgbClr val="C00000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625191-7BD4-F3B5-3692-8949C6D7631D}"/>
              </a:ext>
            </a:extLst>
          </p:cNvPr>
          <p:cNvSpPr txBox="1"/>
          <p:nvPr userDrawn="1"/>
        </p:nvSpPr>
        <p:spPr>
          <a:xfrm>
            <a:off x="631384" y="7092663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더 자세한 상품내용은 </a:t>
            </a:r>
            <a:r>
              <a:rPr lang="en-US" altLang="ko-KR" sz="100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GA </a:t>
            </a:r>
            <a:r>
              <a:rPr lang="ko-KR" altLang="en-US" sz="100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소식지와 지점장님 상품조회 자료를 참고해 주세요</a:t>
            </a:r>
            <a:r>
              <a:rPr lang="en-US" altLang="ko-KR" sz="1000" spc="-4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F031F99-7D76-F58C-BF94-9406A0A183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23446" y="7146743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0">
                <a:solidFill>
                  <a:schemeClr val="bg1">
                    <a:lumMod val="50000"/>
                  </a:schemeClr>
                </a:solidFill>
                <a:latin typeface="NanumSquareOTF" panose="020B0600000101010101" pitchFamily="34" charset="-127"/>
                <a:ea typeface="NanumSquareOTF" panose="020B0600000101010101" pitchFamily="34" charset="-127"/>
              </a:defRPr>
            </a:lvl1pPr>
          </a:lstStyle>
          <a:p>
            <a:fld id="{96CF2415-8700-42C2-90DE-5515E2AF2CA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16819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881C91-5510-C858-0EC7-ECC379369AC9}"/>
              </a:ext>
            </a:extLst>
          </p:cNvPr>
          <p:cNvSpPr txBox="1"/>
          <p:nvPr userDrawn="1"/>
        </p:nvSpPr>
        <p:spPr>
          <a:xfrm>
            <a:off x="2199048" y="7246312"/>
            <a:ext cx="78692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spc="-40" dirty="0">
                <a:solidFill>
                  <a:schemeClr val="bg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본 자료를 설계사 교육을 위해 만든 자료입니다</a:t>
            </a:r>
            <a:r>
              <a:rPr lang="en-US" altLang="ko-KR" sz="1000" spc="-40" dirty="0">
                <a:solidFill>
                  <a:schemeClr val="bg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 </a:t>
            </a:r>
            <a:r>
              <a:rPr lang="ko-KR" altLang="en-US" sz="1000" spc="-40" dirty="0">
                <a:solidFill>
                  <a:schemeClr val="bg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고객에게 배포할 수 없으며 이 자료를 광고나 다른 용도로 사용시 생기는 문제에 법적 책임을 지지 않습니다</a:t>
            </a:r>
            <a:r>
              <a:rPr lang="en-US" altLang="ko-KR" sz="1000" spc="-40" dirty="0">
                <a:solidFill>
                  <a:schemeClr val="bg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 </a:t>
            </a:r>
            <a:endParaRPr lang="ko-KR" altLang="en-US" sz="1000" spc="-40" dirty="0">
              <a:solidFill>
                <a:schemeClr val="bg1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pic>
        <p:nvPicPr>
          <p:cNvPr id="5" name="그림 4" descr="텍스트, 명함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F497AD9-DCBB-6BB7-8686-E56FC2EB22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" y="1587"/>
            <a:ext cx="10686257" cy="755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504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B191892-9E66-39CB-2DAA-8336724A93A3}"/>
              </a:ext>
            </a:extLst>
          </p:cNvPr>
          <p:cNvSpPr/>
          <p:nvPr userDrawn="1"/>
        </p:nvSpPr>
        <p:spPr>
          <a:xfrm>
            <a:off x="180109" y="7051964"/>
            <a:ext cx="9933709" cy="507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5" name="그림 4" descr="텍스트, 명함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211B21E-7249-0447-527C-E1EB41236E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" y="1587"/>
            <a:ext cx="10686258" cy="756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71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2AC4B-9E04-FC40-AEFE-D28BBAF23CA9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081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19D80-1296-C249-B707-2352911286B5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1013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5C68A-C941-6944-B9E9-AB1C3DFFDF5C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852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3B0CA-C8B8-4A46-A634-9A9E2D55BB52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675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3C578-5653-CB49-93C2-B0DEE82531F5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823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BB72A-BCC3-0047-A5A1-D1D5751BABD4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034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94AA7-725C-EA41-B28C-CFF7422012B8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CF2415-8700-42C2-90DE-5515E2AF2CA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41A3510-D841-D57E-58A7-939CF19275C4}"/>
              </a:ext>
            </a:extLst>
          </p:cNvPr>
          <p:cNvSpPr/>
          <p:nvPr userDrawn="1"/>
        </p:nvSpPr>
        <p:spPr>
          <a:xfrm>
            <a:off x="0" y="-631771"/>
            <a:ext cx="381000" cy="381000"/>
          </a:xfrm>
          <a:prstGeom prst="rect">
            <a:avLst/>
          </a:prstGeom>
          <a:solidFill>
            <a:srgbClr val="1D46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9ECDB31-7482-EC9D-FA37-CD3B8999A764}"/>
              </a:ext>
            </a:extLst>
          </p:cNvPr>
          <p:cNvSpPr/>
          <p:nvPr userDrawn="1"/>
        </p:nvSpPr>
        <p:spPr>
          <a:xfrm>
            <a:off x="447395" y="-631771"/>
            <a:ext cx="381000" cy="381000"/>
          </a:xfrm>
          <a:prstGeom prst="rect">
            <a:avLst/>
          </a:prstGeom>
          <a:solidFill>
            <a:srgbClr val="1F46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3829A9-B53A-8696-08FF-FC13DAD9C5EE}"/>
              </a:ext>
            </a:extLst>
          </p:cNvPr>
          <p:cNvSpPr/>
          <p:nvPr userDrawn="1"/>
        </p:nvSpPr>
        <p:spPr>
          <a:xfrm>
            <a:off x="894790" y="-631771"/>
            <a:ext cx="381000" cy="381000"/>
          </a:xfrm>
          <a:prstGeom prst="rect">
            <a:avLst/>
          </a:prstGeom>
          <a:solidFill>
            <a:srgbClr val="0828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82536A5-82D1-7036-CA53-3B11ECF5BDDA}"/>
              </a:ext>
            </a:extLst>
          </p:cNvPr>
          <p:cNvSpPr/>
          <p:nvPr userDrawn="1"/>
        </p:nvSpPr>
        <p:spPr>
          <a:xfrm>
            <a:off x="1342185" y="-631771"/>
            <a:ext cx="381000" cy="381000"/>
          </a:xfrm>
          <a:prstGeom prst="rect">
            <a:avLst/>
          </a:prstGeom>
          <a:solidFill>
            <a:srgbClr val="C193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77B089-B2F8-C5D6-B5A5-A707CB82FD28}"/>
              </a:ext>
            </a:extLst>
          </p:cNvPr>
          <p:cNvSpPr/>
          <p:nvPr userDrawn="1"/>
        </p:nvSpPr>
        <p:spPr>
          <a:xfrm>
            <a:off x="1789580" y="-631771"/>
            <a:ext cx="381000" cy="381000"/>
          </a:xfrm>
          <a:prstGeom prst="rect">
            <a:avLst/>
          </a:prstGeom>
          <a:solidFill>
            <a:srgbClr val="FFEC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1B20C33-88AE-587C-3082-01DEBE7AD01E}"/>
              </a:ext>
            </a:extLst>
          </p:cNvPr>
          <p:cNvSpPr/>
          <p:nvPr userDrawn="1"/>
        </p:nvSpPr>
        <p:spPr>
          <a:xfrm>
            <a:off x="2236975" y="-631771"/>
            <a:ext cx="381000" cy="381000"/>
          </a:xfrm>
          <a:prstGeom prst="rect">
            <a:avLst/>
          </a:prstGeom>
          <a:solidFill>
            <a:srgbClr val="F2F7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1FA97E1-400D-5D8F-92F6-977982564E4C}"/>
              </a:ext>
            </a:extLst>
          </p:cNvPr>
          <p:cNvSpPr/>
          <p:nvPr userDrawn="1"/>
        </p:nvSpPr>
        <p:spPr>
          <a:xfrm>
            <a:off x="2684370" y="-631771"/>
            <a:ext cx="381000" cy="381000"/>
          </a:xfrm>
          <a:prstGeom prst="rect">
            <a:avLst/>
          </a:prstGeom>
          <a:solidFill>
            <a:srgbClr val="2458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0A1294-BECE-F9C5-934F-C75AD9E74F23}"/>
              </a:ext>
            </a:extLst>
          </p:cNvPr>
          <p:cNvSpPr/>
          <p:nvPr userDrawn="1"/>
        </p:nvSpPr>
        <p:spPr>
          <a:xfrm>
            <a:off x="3131764" y="-631771"/>
            <a:ext cx="381000" cy="381000"/>
          </a:xfrm>
          <a:prstGeom prst="rect">
            <a:avLst/>
          </a:prstGeom>
          <a:solidFill>
            <a:srgbClr val="618B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CB0FFDF-4019-D498-C747-C1D3A9A76B84}"/>
              </a:ext>
            </a:extLst>
          </p:cNvPr>
          <p:cNvSpPr/>
          <p:nvPr userDrawn="1"/>
        </p:nvSpPr>
        <p:spPr>
          <a:xfrm>
            <a:off x="3573588" y="-631771"/>
            <a:ext cx="381000" cy="381000"/>
          </a:xfrm>
          <a:prstGeom prst="rect">
            <a:avLst/>
          </a:prstGeom>
          <a:solidFill>
            <a:srgbClr val="6591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9A77CEC-D3BB-88E0-F34C-C50F59399BE6}"/>
              </a:ext>
            </a:extLst>
          </p:cNvPr>
          <p:cNvSpPr/>
          <p:nvPr userDrawn="1"/>
        </p:nvSpPr>
        <p:spPr>
          <a:xfrm>
            <a:off x="4015412" y="-633883"/>
            <a:ext cx="381000" cy="381000"/>
          </a:xfrm>
          <a:prstGeom prst="rect">
            <a:avLst/>
          </a:prstGeom>
          <a:solidFill>
            <a:srgbClr val="E8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5AF087-DDDE-8E74-11B9-CE045C68CEA0}"/>
              </a:ext>
            </a:extLst>
          </p:cNvPr>
          <p:cNvSpPr txBox="1"/>
          <p:nvPr userDrawn="1"/>
        </p:nvSpPr>
        <p:spPr>
          <a:xfrm>
            <a:off x="631384" y="7246312"/>
            <a:ext cx="9279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-40" dirty="0">
                <a:solidFill>
                  <a:srgbClr val="C00000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본 자료를 설계사 교육을 위해 만든 자료입니다</a:t>
            </a:r>
            <a:r>
              <a:rPr lang="en-US" altLang="ko-KR" sz="1000" spc="-40" dirty="0">
                <a:solidFill>
                  <a:srgbClr val="C00000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 </a:t>
            </a:r>
            <a:r>
              <a:rPr lang="ko-KR" altLang="en-US" sz="1000" spc="-40" dirty="0">
                <a:solidFill>
                  <a:srgbClr val="C00000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고객에게 배포할 수 없으며 이 자료를 광고나 다른 용도로 사용시 생기는 문제에 법적 책임을 지지 않습니다</a:t>
            </a:r>
            <a:r>
              <a:rPr lang="en-US" altLang="ko-KR" sz="1000" spc="-40" dirty="0">
                <a:solidFill>
                  <a:srgbClr val="C00000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 </a:t>
            </a:r>
            <a:endParaRPr lang="ko-KR" altLang="en-US" sz="1000" spc="-40" dirty="0">
              <a:solidFill>
                <a:srgbClr val="C00000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DD75E6-3DAC-0AFE-1E6F-11CBF302F95C}"/>
              </a:ext>
            </a:extLst>
          </p:cNvPr>
          <p:cNvSpPr/>
          <p:nvPr userDrawn="1"/>
        </p:nvSpPr>
        <p:spPr>
          <a:xfrm>
            <a:off x="4457236" y="-633883"/>
            <a:ext cx="381000" cy="381000"/>
          </a:xfrm>
          <a:prstGeom prst="rect">
            <a:avLst/>
          </a:prstGeom>
          <a:solidFill>
            <a:srgbClr val="F4B6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050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78" r:id="rId4"/>
    <p:sldLayoutId id="2147483674" r:id="rId5"/>
    <p:sldLayoutId id="2147483679" r:id="rId6"/>
    <p:sldLayoutId id="2147483665" r:id="rId7"/>
    <p:sldLayoutId id="2147483676" r:id="rId8"/>
    <p:sldLayoutId id="2147483677" r:id="rId9"/>
    <p:sldLayoutId id="214748367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</p:sldLayoutIdLst>
  <p:hf hdr="0" ftr="0" dt="0"/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9104FB4-D36B-0C93-636C-D74FB8746600}"/>
              </a:ext>
            </a:extLst>
          </p:cNvPr>
          <p:cNvSpPr/>
          <p:nvPr/>
        </p:nvSpPr>
        <p:spPr>
          <a:xfrm>
            <a:off x="4074289" y="1990846"/>
            <a:ext cx="5416952" cy="151628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삼성생명 </a:t>
            </a: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– </a:t>
            </a: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인생대표 </a:t>
            </a: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/ </a:t>
            </a: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가족대표</a:t>
            </a:r>
            <a:endParaRPr kumimoji="1" lang="en-US" altLang="ko-KR" sz="16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흥국생명 </a:t>
            </a: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– </a:t>
            </a:r>
            <a:r>
              <a:rPr kumimoji="1" lang="ko-KR" altLang="en-US" sz="160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다사랑</a:t>
            </a: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통합보험</a:t>
            </a:r>
            <a:endParaRPr kumimoji="1" lang="en-US" altLang="ko-KR" sz="16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kumimoji="1" lang="ko-KR" altLang="en-US" sz="160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미래에셋생명</a:t>
            </a: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</a:t>
            </a: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– M-</a:t>
            </a: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케어 건강보험</a:t>
            </a:r>
            <a:endParaRPr kumimoji="1" lang="en-US" altLang="ko-KR" sz="16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kumimoji="1" lang="en-US" altLang="ko-KR" sz="160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iM</a:t>
            </a: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라이프 </a:t>
            </a: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– </a:t>
            </a:r>
            <a:r>
              <a:rPr kumimoji="1" lang="en-US" altLang="ko-KR" sz="160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iM</a:t>
            </a: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마스터 </a:t>
            </a: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PRO </a:t>
            </a:r>
            <a:r>
              <a:rPr kumimoji="1" lang="ko-KR" altLang="en-US" sz="160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변액연금</a:t>
            </a:r>
            <a:endParaRPr kumimoji="1" lang="en-US" altLang="ko-KR" sz="16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BE9917-6EE0-1DF7-AB44-93F3A9C14601}"/>
              </a:ext>
            </a:extLst>
          </p:cNvPr>
          <p:cNvSpPr/>
          <p:nvPr/>
        </p:nvSpPr>
        <p:spPr>
          <a:xfrm>
            <a:off x="4074289" y="4514126"/>
            <a:ext cx="5416952" cy="151628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KB</a:t>
            </a: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손해보험 </a:t>
            </a: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–</a:t>
            </a: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</a:t>
            </a: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5.10.10</a:t>
            </a:r>
            <a:r>
              <a:rPr lang="en-US" altLang="ko-KR" sz="16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Young</a:t>
            </a:r>
            <a:r>
              <a:rPr lang="ko-KR" altLang="en-US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플러스건강</a:t>
            </a:r>
            <a:endParaRPr kumimoji="1" lang="en-US" altLang="ko-KR" sz="16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삼성화재 </a:t>
            </a: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–</a:t>
            </a: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</a:t>
            </a: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New</a:t>
            </a:r>
            <a:r>
              <a:rPr kumimoji="1" lang="ko-KR" altLang="en-US" sz="160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내돈내삼</a:t>
            </a:r>
            <a:endParaRPr kumimoji="1" lang="en-US" altLang="ko-KR" sz="16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흥국화재 </a:t>
            </a: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–</a:t>
            </a: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든든한 </a:t>
            </a: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3N5 </a:t>
            </a:r>
            <a:r>
              <a:rPr kumimoji="1" lang="ko-KR" altLang="en-US" sz="160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초경증</a:t>
            </a:r>
            <a:endParaRPr kumimoji="1" lang="en-US" altLang="ko-KR" sz="16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345DBF4-C127-287F-67F5-3A94E137AE5A}"/>
              </a:ext>
            </a:extLst>
          </p:cNvPr>
          <p:cNvSpPr/>
          <p:nvPr/>
        </p:nvSpPr>
        <p:spPr>
          <a:xfrm>
            <a:off x="491660" y="7870498"/>
            <a:ext cx="9708492" cy="7755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각 박스 안에 내용에 맞게 기입해주시면 됩니다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9F1FD9D-6DCC-95DD-05D9-86908BC070B1}"/>
              </a:ext>
            </a:extLst>
          </p:cNvPr>
          <p:cNvSpPr/>
          <p:nvPr/>
        </p:nvSpPr>
        <p:spPr>
          <a:xfrm>
            <a:off x="1390650" y="6191250"/>
            <a:ext cx="1962149" cy="5973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kumimoji="1" lang="ko-KR" altLang="en-US" sz="12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손해보험 가성비 상품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21BC206-27D1-96ED-7F78-F388966EE7FF}"/>
              </a:ext>
            </a:extLst>
          </p:cNvPr>
          <p:cNvSpPr/>
          <p:nvPr/>
        </p:nvSpPr>
        <p:spPr>
          <a:xfrm>
            <a:off x="491660" y="3574473"/>
            <a:ext cx="6952009" cy="8766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5B6AFA3-2C22-5578-C3DB-D0C262040409}"/>
              </a:ext>
            </a:extLst>
          </p:cNvPr>
          <p:cNvSpPr/>
          <p:nvPr/>
        </p:nvSpPr>
        <p:spPr>
          <a:xfrm>
            <a:off x="598284" y="6093447"/>
            <a:ext cx="6952009" cy="8766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725B11E-3E23-2A29-7472-C3580A8DBCEE}"/>
              </a:ext>
            </a:extLst>
          </p:cNvPr>
          <p:cNvSpPr/>
          <p:nvPr/>
        </p:nvSpPr>
        <p:spPr>
          <a:xfrm>
            <a:off x="491660" y="4548891"/>
            <a:ext cx="9460060" cy="14608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53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F0319-EB33-7A80-4BAB-1D1C3DA79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A2D709EF-9914-280E-FE41-FBC256857496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생명보험 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BEST CHOICE</a:t>
            </a:r>
          </a:p>
        </p:txBody>
      </p:sp>
      <p:sp>
        <p:nvSpPr>
          <p:cNvPr id="35" name="부제목 2">
            <a:extLst>
              <a:ext uri="{FF2B5EF4-FFF2-40B4-BE49-F238E27FC236}">
                <a16:creationId xmlns:a16="http://schemas.microsoft.com/office/drawing/2014/main" id="{F47907C6-101D-8D71-43B6-55573F0D2F43}"/>
              </a:ext>
            </a:extLst>
          </p:cNvPr>
          <p:cNvSpPr txBox="1">
            <a:spLocks/>
          </p:cNvSpPr>
          <p:nvPr/>
        </p:nvSpPr>
        <p:spPr>
          <a:xfrm>
            <a:off x="8873230" y="177539"/>
            <a:ext cx="1548796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400" b="1" i="0" u="none" strike="noStrike" kern="1200" cap="none" spc="-100" normalizeH="0" baseline="0" noProof="0" dirty="0">
                <a:ln>
                  <a:noFill/>
                </a:ln>
                <a:solidFill>
                  <a:srgbClr val="082765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rPr>
              <a:t>생명보험</a:t>
            </a:r>
          </a:p>
        </p:txBody>
      </p:sp>
      <p:pic>
        <p:nvPicPr>
          <p:cNvPr id="96" name="그림 95" descr="테이블웨어, 컵, 트로피, 정물 사진이(가) 표시된 사진&#10;&#10;자동 생성된 설명">
            <a:extLst>
              <a:ext uri="{FF2B5EF4-FFF2-40B4-BE49-F238E27FC236}">
                <a16:creationId xmlns:a16="http://schemas.microsoft.com/office/drawing/2014/main" id="{A081FB2A-9D66-ECA9-C63E-DE40C9174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673" y="1037100"/>
            <a:ext cx="622490" cy="1545495"/>
          </a:xfrm>
          <a:prstGeom prst="rect">
            <a:avLst/>
          </a:prstGeom>
        </p:spPr>
      </p:pic>
      <p:sp>
        <p:nvSpPr>
          <p:cNvPr id="97" name="부제목 2">
            <a:extLst>
              <a:ext uri="{FF2B5EF4-FFF2-40B4-BE49-F238E27FC236}">
                <a16:creationId xmlns:a16="http://schemas.microsoft.com/office/drawing/2014/main" id="{33D4BD19-A417-42ED-CBF9-EFC18D63C512}"/>
              </a:ext>
            </a:extLst>
          </p:cNvPr>
          <p:cNvSpPr txBox="1">
            <a:spLocks/>
          </p:cNvSpPr>
          <p:nvPr/>
        </p:nvSpPr>
        <p:spPr>
          <a:xfrm>
            <a:off x="691977" y="2968511"/>
            <a:ext cx="641882" cy="40531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B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E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S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T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0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 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C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H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O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I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C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E</a:t>
            </a:r>
            <a:endParaRPr kumimoji="0" lang="ko-KR" altLang="en-US" sz="2400" b="1" i="0" u="none" strike="noStrike" kern="1200" cap="none" spc="-100" normalizeH="0" baseline="0" noProof="0" dirty="0">
              <a:ln>
                <a:noFill/>
              </a:ln>
              <a:solidFill>
                <a:srgbClr val="DDEBF8"/>
              </a:solidFill>
              <a:effectLst/>
              <a:uLnTx/>
              <a:uFillTx/>
              <a:latin typeface="NanumSquareOTF ExtraBold" panose="020B0600000101010101" pitchFamily="34" charset="-127"/>
              <a:ea typeface="NanumSquareOTF ExtraBold" panose="020B0600000101010101" pitchFamily="34" charset="-127"/>
              <a:cs typeface="+mn-cs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84E20DC-B57A-2748-E31E-1170A3B966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B1965D7-FD8E-0F4A-D681-837EEC7ADFE8}"/>
              </a:ext>
            </a:extLst>
          </p:cNvPr>
          <p:cNvGrpSpPr/>
          <p:nvPr/>
        </p:nvGrpSpPr>
        <p:grpSpPr>
          <a:xfrm>
            <a:off x="1626871" y="1068395"/>
            <a:ext cx="8363264" cy="944564"/>
            <a:chOff x="1626871" y="1071034"/>
            <a:chExt cx="8363264" cy="944564"/>
          </a:xfrm>
        </p:grpSpPr>
        <p:sp>
          <p:nvSpPr>
            <p:cNvPr id="4" name="한쪽 모서리가 둥근 사각형 30">
              <a:extLst>
                <a:ext uri="{FF2B5EF4-FFF2-40B4-BE49-F238E27FC236}">
                  <a16:creationId xmlns:a16="http://schemas.microsoft.com/office/drawing/2014/main" id="{145CD00A-5ACB-32E5-610E-7406A0B55A65}"/>
                </a:ext>
              </a:extLst>
            </p:cNvPr>
            <p:cNvSpPr/>
            <p:nvPr/>
          </p:nvSpPr>
          <p:spPr>
            <a:xfrm>
              <a:off x="1626871" y="1071034"/>
              <a:ext cx="1698348" cy="944368"/>
            </a:xfrm>
            <a:prstGeom prst="round1Rect">
              <a:avLst>
                <a:gd name="adj" fmla="val 23391"/>
              </a:avLst>
            </a:prstGeom>
            <a:solidFill>
              <a:srgbClr val="85A4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NanumSquareOTF Bold" panose="020B0600000101010101" pitchFamily="34" charset="-127"/>
                  <a:ea typeface="NanumSquareOTF Bold" panose="020B0600000101010101" pitchFamily="34" charset="-127"/>
                  <a:cs typeface="+mn-cs"/>
                </a:rPr>
                <a:t>순환계</a:t>
              </a:r>
              <a:endPara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NanumSquareOTF Bold" panose="020B0600000101010101" pitchFamily="34" charset="-127"/>
                  <a:ea typeface="NanumSquareOTF Bold" panose="020B0600000101010101" pitchFamily="34" charset="-127"/>
                  <a:cs typeface="+mn-cs"/>
                </a:rPr>
                <a:t>통합치료</a:t>
              </a:r>
            </a:p>
          </p:txBody>
        </p:sp>
        <p:sp>
          <p:nvSpPr>
            <p:cNvPr id="5" name="한쪽 모서리가 둥근 사각형 48">
              <a:extLst>
                <a:ext uri="{FF2B5EF4-FFF2-40B4-BE49-F238E27FC236}">
                  <a16:creationId xmlns:a16="http://schemas.microsoft.com/office/drawing/2014/main" id="{ADBE3C69-D83C-1F6E-9534-D5D2239D4757}"/>
                </a:ext>
              </a:extLst>
            </p:cNvPr>
            <p:cNvSpPr/>
            <p:nvPr/>
          </p:nvSpPr>
          <p:spPr>
            <a:xfrm flipH="1">
              <a:off x="3325219" y="1071230"/>
              <a:ext cx="6664916" cy="944368"/>
            </a:xfrm>
            <a:prstGeom prst="round1Rect">
              <a:avLst>
                <a:gd name="adj" fmla="val 23391"/>
              </a:avLst>
            </a:prstGeom>
            <a:solidFill>
              <a:srgbClr val="EAF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tlCol="0" anchor="ctr"/>
            <a:lstStyle/>
            <a:p>
              <a:pPr marL="177800" lvl="0" indent="-177800">
                <a:spcBef>
                  <a:spcPts val="200"/>
                </a:spcBef>
                <a:buFont typeface="Arial" panose="020B0604020202020204" pitchFamily="34" charset="0"/>
                <a:buChar char="•"/>
                <a:tabLst>
                  <a:tab pos="130175" algn="l"/>
                </a:tabLst>
                <a:defRPr/>
              </a:pP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삼성생명 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– 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인생대표 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/ 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가족대표</a:t>
              </a:r>
              <a:endParaRPr lang="en-US" altLang="ko-KR" sz="16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  <a:p>
              <a:pPr marL="177800" lvl="0" indent="-177800">
                <a:spcBef>
                  <a:spcPts val="200"/>
                </a:spcBef>
                <a:buFont typeface="Arial" panose="020B0604020202020204" pitchFamily="34" charset="0"/>
                <a:buChar char="•"/>
                <a:tabLst>
                  <a:tab pos="130175" algn="l"/>
                </a:tabLst>
                <a:defRPr/>
              </a:pP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한화생명 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– </a:t>
              </a:r>
              <a:r>
                <a:rPr lang="ko-KR" altLang="en-US" sz="1600" b="1" dirty="0" err="1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시그니처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H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통합건강</a:t>
              </a:r>
              <a:endParaRPr lang="en-US" altLang="ko-KR" sz="16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  <a:p>
              <a:pPr marL="177800" lvl="0" indent="-177800">
                <a:spcBef>
                  <a:spcPts val="200"/>
                </a:spcBef>
                <a:buFont typeface="Arial" panose="020B0604020202020204" pitchFamily="34" charset="0"/>
                <a:buChar char="•"/>
                <a:tabLst>
                  <a:tab pos="130175" algn="l"/>
                </a:tabLst>
                <a:defRPr/>
              </a:pP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동양생명 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– 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우리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WON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하는 보장보험</a:t>
              </a:r>
              <a:endParaRPr lang="en-US" altLang="ko-KR" sz="16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pic>
          <p:nvPicPr>
            <p:cNvPr id="6" name="그림 5" descr="스케치, 클립아트, 그림, 그래픽이(가) 표시된 사진&#10;&#10;자동 생성된 설명">
              <a:extLst>
                <a:ext uri="{FF2B5EF4-FFF2-40B4-BE49-F238E27FC236}">
                  <a16:creationId xmlns:a16="http://schemas.microsoft.com/office/drawing/2014/main" id="{48614BB7-7CA7-140A-F227-B308F7105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duotone>
                <a:prstClr val="black"/>
                <a:srgbClr val="85A4D8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12390" y="1266629"/>
              <a:ext cx="737590" cy="645391"/>
            </a:xfrm>
            <a:prstGeom prst="rect">
              <a:avLst/>
            </a:prstGeom>
          </p:spPr>
        </p:pic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10ED98B-736A-E979-EE96-C04D49460514}"/>
              </a:ext>
            </a:extLst>
          </p:cNvPr>
          <p:cNvGrpSpPr/>
          <p:nvPr/>
        </p:nvGrpSpPr>
        <p:grpSpPr>
          <a:xfrm>
            <a:off x="1626873" y="2170619"/>
            <a:ext cx="8363264" cy="944564"/>
            <a:chOff x="1626873" y="2136595"/>
            <a:chExt cx="8363264" cy="944564"/>
          </a:xfrm>
        </p:grpSpPr>
        <p:sp>
          <p:nvSpPr>
            <p:cNvPr id="14" name="한쪽 모서리가 둥근 사각형 51">
              <a:extLst>
                <a:ext uri="{FF2B5EF4-FFF2-40B4-BE49-F238E27FC236}">
                  <a16:creationId xmlns:a16="http://schemas.microsoft.com/office/drawing/2014/main" id="{74C1828A-FAE8-4ACC-A022-D2710FDA2CD0}"/>
                </a:ext>
              </a:extLst>
            </p:cNvPr>
            <p:cNvSpPr/>
            <p:nvPr/>
          </p:nvSpPr>
          <p:spPr>
            <a:xfrm>
              <a:off x="1626873" y="2136595"/>
              <a:ext cx="1698348" cy="944368"/>
            </a:xfrm>
            <a:prstGeom prst="round1Rect">
              <a:avLst>
                <a:gd name="adj" fmla="val 23391"/>
              </a:avLst>
            </a:prstGeom>
            <a:solidFill>
              <a:srgbClr val="85A4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NanumSquareOTF Bold" panose="020B0600000101010101" pitchFamily="34" charset="-127"/>
                  <a:ea typeface="NanumSquareOTF Bold" panose="020B0600000101010101" pitchFamily="34" charset="-127"/>
                  <a:cs typeface="+mn-cs"/>
                </a:rPr>
                <a:t>암 복합치료</a:t>
              </a:r>
            </a:p>
          </p:txBody>
        </p:sp>
        <p:sp>
          <p:nvSpPr>
            <p:cNvPr id="18" name="한쪽 모서리가 둥근 사각형 52">
              <a:extLst>
                <a:ext uri="{FF2B5EF4-FFF2-40B4-BE49-F238E27FC236}">
                  <a16:creationId xmlns:a16="http://schemas.microsoft.com/office/drawing/2014/main" id="{05B52D1E-AB3E-3464-AB78-CA0FC85D94A1}"/>
                </a:ext>
              </a:extLst>
            </p:cNvPr>
            <p:cNvSpPr/>
            <p:nvPr/>
          </p:nvSpPr>
          <p:spPr>
            <a:xfrm flipH="1">
              <a:off x="3325221" y="2136791"/>
              <a:ext cx="6664916" cy="944368"/>
            </a:xfrm>
            <a:prstGeom prst="round1Rect">
              <a:avLst>
                <a:gd name="adj" fmla="val 23391"/>
              </a:avLst>
            </a:prstGeom>
            <a:solidFill>
              <a:srgbClr val="EAF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tlCol="0" anchor="ctr"/>
            <a:lstStyle/>
            <a:p>
              <a:pPr marL="177800" indent="-177800">
                <a:spcBef>
                  <a:spcPts val="200"/>
                </a:spcBef>
                <a:buFont typeface="Arial" panose="020B0604020202020204" pitchFamily="34" charset="0"/>
                <a:buChar char="•"/>
                <a:defRPr/>
              </a:pP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흥국생명 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– </a:t>
              </a:r>
              <a:r>
                <a:rPr lang="ko-KR" altLang="en-US" sz="1600" b="1" dirty="0" err="1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다사랑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 통합보험</a:t>
              </a:r>
              <a:endParaRPr lang="en-US" altLang="ko-KR" sz="16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  <a:p>
              <a:pPr marL="177800" lvl="0" indent="-177800">
                <a:spcBef>
                  <a:spcPts val="200"/>
                </a:spcBef>
                <a:buFont typeface="Arial" panose="020B0604020202020204" pitchFamily="34" charset="0"/>
                <a:buChar char="•"/>
                <a:defRPr/>
              </a:pP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동양생명 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– 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우리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WON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하는 보장보험</a:t>
              </a:r>
              <a:endParaRPr lang="en-US" altLang="ko-KR" sz="16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  <a:p>
              <a:pPr marL="177800" lvl="0" indent="-177800">
                <a:spcBef>
                  <a:spcPts val="200"/>
                </a:spcBef>
                <a:buFont typeface="Arial" panose="020B0604020202020204" pitchFamily="34" charset="0"/>
                <a:buChar char="•"/>
                <a:defRPr/>
              </a:pP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26E"/>
                  </a:solidFill>
                  <a:effectLst/>
                  <a:uLnTx/>
                  <a:uFillTx/>
                  <a:latin typeface="NanumSquareOTF Bold" panose="020B0600000101010101" pitchFamily="34" charset="-127"/>
                  <a:ea typeface="NanumSquareOTF Bold" panose="020B0600000101010101" pitchFamily="34" charset="-127"/>
                  <a:cs typeface="+mn-cs"/>
                </a:rPr>
                <a:t>신한라이프 </a:t>
              </a: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26E"/>
                  </a:solidFill>
                  <a:effectLst/>
                  <a:uLnTx/>
                  <a:uFillTx/>
                  <a:latin typeface="NanumSquareOTF Bold" panose="020B0600000101010101" pitchFamily="34" charset="-127"/>
                  <a:ea typeface="NanumSquareOTF Bold" panose="020B0600000101010101" pitchFamily="34" charset="-127"/>
                  <a:cs typeface="+mn-cs"/>
                </a:rPr>
                <a:t>– </a:t>
              </a: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1326E"/>
                  </a:solidFill>
                  <a:effectLst/>
                  <a:uLnTx/>
                  <a:uFillTx/>
                  <a:latin typeface="NanumSquareOTF Bold" panose="020B0600000101010101" pitchFamily="34" charset="-127"/>
                  <a:ea typeface="NanumSquareOTF Bold" panose="020B0600000101010101" pitchFamily="34" charset="-127"/>
                  <a:cs typeface="+mn-cs"/>
                </a:rPr>
                <a:t>통합건강보험 원</a:t>
              </a:r>
            </a:p>
          </p:txBody>
        </p:sp>
        <p:pic>
          <p:nvPicPr>
            <p:cNvPr id="19" name="그림 18" descr="직사각형, 상징, 대칭, 사각형이(가) 표시된 사진&#10;&#10;자동 생성된 설명">
              <a:extLst>
                <a:ext uri="{FF2B5EF4-FFF2-40B4-BE49-F238E27FC236}">
                  <a16:creationId xmlns:a16="http://schemas.microsoft.com/office/drawing/2014/main" id="{5E5C9B74-7E6C-86EA-B7C7-837E3E859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duotone>
                <a:prstClr val="black"/>
                <a:srgbClr val="85A4D8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90759" y="2342496"/>
              <a:ext cx="580852" cy="645391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49D7119-B1C3-FE63-9D36-6BB970044407}"/>
              </a:ext>
            </a:extLst>
          </p:cNvPr>
          <p:cNvGrpSpPr/>
          <p:nvPr/>
        </p:nvGrpSpPr>
        <p:grpSpPr>
          <a:xfrm>
            <a:off x="1622922" y="4375067"/>
            <a:ext cx="8363264" cy="944564"/>
            <a:chOff x="1622922" y="4377706"/>
            <a:chExt cx="8363264" cy="944564"/>
          </a:xfrm>
        </p:grpSpPr>
        <p:sp>
          <p:nvSpPr>
            <p:cNvPr id="21" name="한쪽 모서리가 둥근 사각형 55">
              <a:extLst>
                <a:ext uri="{FF2B5EF4-FFF2-40B4-BE49-F238E27FC236}">
                  <a16:creationId xmlns:a16="http://schemas.microsoft.com/office/drawing/2014/main" id="{ECBD9827-7BCE-A44E-1050-6CC8A6781297}"/>
                </a:ext>
              </a:extLst>
            </p:cNvPr>
            <p:cNvSpPr/>
            <p:nvPr/>
          </p:nvSpPr>
          <p:spPr>
            <a:xfrm>
              <a:off x="1622922" y="4377706"/>
              <a:ext cx="1698348" cy="944368"/>
            </a:xfrm>
            <a:prstGeom prst="round1Rect">
              <a:avLst>
                <a:gd name="adj" fmla="val 23391"/>
              </a:avLst>
            </a:prstGeom>
            <a:solidFill>
              <a:srgbClr val="85A4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NanumSquareOTF Bold" panose="020B0600000101010101" pitchFamily="34" charset="-127"/>
                  <a:ea typeface="NanumSquareOTF Bold" panose="020B0600000101010101" pitchFamily="34" charset="-127"/>
                  <a:cs typeface="+mn-cs"/>
                </a:rPr>
                <a:t>보증형</a:t>
              </a:r>
              <a:endPara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20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NanumSquareOTF Bold" panose="020B0600000101010101" pitchFamily="34" charset="-127"/>
                  <a:ea typeface="NanumSquareOTF Bold" panose="020B0600000101010101" pitchFamily="34" charset="-127"/>
                  <a:cs typeface="+mn-cs"/>
                </a:rPr>
                <a:t>변액연금</a:t>
              </a:r>
              <a:endParaRPr kumimoji="1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endParaRPr>
            </a:p>
          </p:txBody>
        </p:sp>
        <p:sp>
          <p:nvSpPr>
            <p:cNvPr id="22" name="한쪽 모서리가 둥근 사각형 56">
              <a:extLst>
                <a:ext uri="{FF2B5EF4-FFF2-40B4-BE49-F238E27FC236}">
                  <a16:creationId xmlns:a16="http://schemas.microsoft.com/office/drawing/2014/main" id="{8E33ADD5-C1D9-E8C3-407B-57C03611D675}"/>
                </a:ext>
              </a:extLst>
            </p:cNvPr>
            <p:cNvSpPr/>
            <p:nvPr/>
          </p:nvSpPr>
          <p:spPr>
            <a:xfrm flipH="1">
              <a:off x="3321270" y="4377902"/>
              <a:ext cx="6664916" cy="944368"/>
            </a:xfrm>
            <a:prstGeom prst="round1Rect">
              <a:avLst>
                <a:gd name="adj" fmla="val 23391"/>
              </a:avLst>
            </a:prstGeom>
            <a:solidFill>
              <a:srgbClr val="EAF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tlCol="0" anchor="ctr"/>
            <a:lstStyle/>
            <a:p>
              <a:pPr marL="177800" lvl="0" indent="-177800">
                <a:spcBef>
                  <a:spcPts val="200"/>
                </a:spcBef>
                <a:buFont typeface="Arial" panose="020B0604020202020204" pitchFamily="34" charset="0"/>
                <a:buChar char="•"/>
                <a:defRPr/>
              </a:pPr>
              <a:r>
                <a:rPr lang="en-US" altLang="ko-KR" sz="1600" b="1" dirty="0" err="1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iM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라이프 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– </a:t>
              </a:r>
              <a:r>
                <a:rPr lang="en-US" altLang="ko-KR" sz="1600" b="1" dirty="0" err="1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iM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마스터  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PRO </a:t>
              </a:r>
              <a:r>
                <a:rPr lang="ko-KR" altLang="en-US" sz="1600" b="1" dirty="0" err="1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변액연금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 </a:t>
              </a:r>
              <a:endParaRPr lang="en-US" altLang="ko-KR" sz="16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  <a:p>
              <a:pPr marL="177800" lvl="0" indent="-177800">
                <a:spcBef>
                  <a:spcPts val="200"/>
                </a:spcBef>
                <a:buFont typeface="Arial" panose="020B0604020202020204" pitchFamily="34" charset="0"/>
                <a:buChar char="•"/>
                <a:defRPr/>
              </a:pP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KDB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생명 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– 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더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!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행복드림 </a:t>
              </a:r>
              <a:r>
                <a:rPr lang="ko-KR" altLang="en-US" sz="1600" b="1" dirty="0" err="1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변액연금보험</a:t>
              </a:r>
              <a:endParaRPr lang="en-US" altLang="ko-KR" sz="16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  <a:p>
              <a:pPr marL="177800" lvl="0" indent="-177800">
                <a:spcBef>
                  <a:spcPts val="200"/>
                </a:spcBef>
                <a:buFont typeface="Arial" panose="020B0604020202020204" pitchFamily="34" charset="0"/>
                <a:buChar char="•"/>
                <a:defRPr/>
              </a:pP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IBK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연금보험 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– </a:t>
              </a:r>
              <a:r>
                <a:rPr lang="ko-KR" altLang="en-US" sz="1600" b="1" dirty="0" err="1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연금액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 </a:t>
              </a:r>
              <a:r>
                <a:rPr lang="ko-KR" altLang="en-US" sz="1600" b="1" dirty="0" err="1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평생보증받는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 </a:t>
              </a:r>
              <a:r>
                <a:rPr lang="ko-KR" altLang="en-US" sz="1600" b="1" dirty="0" err="1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변액연금보험</a:t>
              </a:r>
              <a:endParaRPr lang="en-US" altLang="ko-KR" sz="16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pic>
          <p:nvPicPr>
            <p:cNvPr id="23" name="그림 22" descr="상징, 예술, 대칭, 그래픽이(가) 표시된 사진&#10;&#10;자동 생성된 설명">
              <a:extLst>
                <a:ext uri="{FF2B5EF4-FFF2-40B4-BE49-F238E27FC236}">
                  <a16:creationId xmlns:a16="http://schemas.microsoft.com/office/drawing/2014/main" id="{FB73C6E6-189E-89E4-A6AF-17D1A6A3D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duotone>
                <a:prstClr val="black"/>
                <a:srgbClr val="85A4D8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249" y="4472806"/>
              <a:ext cx="497873" cy="691490"/>
            </a:xfrm>
            <a:prstGeom prst="rect">
              <a:avLst/>
            </a:prstGeom>
          </p:spPr>
        </p:pic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9D4C352-57FF-9BBE-1E94-3BDB949CFF72}"/>
              </a:ext>
            </a:extLst>
          </p:cNvPr>
          <p:cNvGrpSpPr/>
          <p:nvPr/>
        </p:nvGrpSpPr>
        <p:grpSpPr>
          <a:xfrm>
            <a:off x="1626873" y="3272843"/>
            <a:ext cx="8359312" cy="944564"/>
            <a:chOff x="1626873" y="3204516"/>
            <a:chExt cx="8359312" cy="944564"/>
          </a:xfrm>
        </p:grpSpPr>
        <p:sp>
          <p:nvSpPr>
            <p:cNvPr id="27" name="한쪽 모서리가 둥근 사각형 53">
              <a:extLst>
                <a:ext uri="{FF2B5EF4-FFF2-40B4-BE49-F238E27FC236}">
                  <a16:creationId xmlns:a16="http://schemas.microsoft.com/office/drawing/2014/main" id="{9FED6E94-B36E-516F-5928-200533F92FF9}"/>
                </a:ext>
              </a:extLst>
            </p:cNvPr>
            <p:cNvSpPr/>
            <p:nvPr/>
          </p:nvSpPr>
          <p:spPr>
            <a:xfrm>
              <a:off x="1626873" y="3204516"/>
              <a:ext cx="1698348" cy="944368"/>
            </a:xfrm>
            <a:prstGeom prst="round1Rect">
              <a:avLst>
                <a:gd name="adj" fmla="val 23391"/>
              </a:avLst>
            </a:prstGeom>
            <a:solidFill>
              <a:srgbClr val="85A4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2000" b="1" dirty="0"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관절</a:t>
              </a:r>
              <a:r>
                <a:rPr kumimoji="1" lang="en-US" altLang="ko-KR" sz="2000" b="1" dirty="0"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 </a:t>
              </a:r>
              <a:r>
                <a:rPr kumimoji="1" lang="ko-KR" altLang="en-US" sz="2000" b="1" dirty="0"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및 재해</a:t>
              </a:r>
              <a:endParaRPr kumimoji="1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endParaRPr>
            </a:p>
          </p:txBody>
        </p:sp>
        <p:sp>
          <p:nvSpPr>
            <p:cNvPr id="28" name="한쪽 모서리가 둥근 사각형 54">
              <a:extLst>
                <a:ext uri="{FF2B5EF4-FFF2-40B4-BE49-F238E27FC236}">
                  <a16:creationId xmlns:a16="http://schemas.microsoft.com/office/drawing/2014/main" id="{B4EE67B7-EAD7-F06A-0CBC-CEDE790C2E15}"/>
                </a:ext>
              </a:extLst>
            </p:cNvPr>
            <p:cNvSpPr/>
            <p:nvPr/>
          </p:nvSpPr>
          <p:spPr>
            <a:xfrm flipH="1">
              <a:off x="3325221" y="3204712"/>
              <a:ext cx="6660964" cy="944368"/>
            </a:xfrm>
            <a:prstGeom prst="round1Rect">
              <a:avLst>
                <a:gd name="adj" fmla="val 23391"/>
              </a:avLst>
            </a:prstGeom>
            <a:solidFill>
              <a:srgbClr val="EAF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tlCol="0" anchor="ctr"/>
            <a:lstStyle/>
            <a:p>
              <a:pPr marL="177800" lvl="0" indent="-177800">
                <a:spcBef>
                  <a:spcPts val="200"/>
                </a:spcBef>
                <a:buFont typeface="Arial" panose="020B0604020202020204" pitchFamily="34" charset="0"/>
                <a:buChar char="•"/>
                <a:defRPr/>
              </a:pPr>
              <a:r>
                <a:rPr lang="ko-KR" altLang="en-US" sz="1600" b="1" dirty="0" err="1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미래에셋생명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– M-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케어 건강보험</a:t>
              </a:r>
              <a:endParaRPr lang="en-US" altLang="ko-KR" sz="16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  <a:p>
              <a:pPr marL="177800" indent="-177800">
                <a:spcBef>
                  <a:spcPts val="200"/>
                </a:spcBef>
                <a:buFont typeface="Arial" panose="020B0604020202020204" pitchFamily="34" charset="0"/>
                <a:buChar char="•"/>
                <a:defRPr/>
              </a:pPr>
              <a:r>
                <a:rPr lang="ko-KR" altLang="en-US" sz="1600" b="1" dirty="0" err="1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라이나생명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– </a:t>
              </a:r>
              <a:r>
                <a:rPr lang="ko-KR" altLang="en-US" sz="1600" b="1" dirty="0" err="1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새로담는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 간편건강보험</a:t>
              </a:r>
              <a:endParaRPr lang="en-US" altLang="ko-KR" sz="16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  <a:p>
              <a:pPr marL="177800" lvl="0" indent="-177800">
                <a:spcBef>
                  <a:spcPts val="200"/>
                </a:spcBef>
                <a:buFont typeface="Arial" panose="020B0604020202020204" pitchFamily="34" charset="0"/>
                <a:buChar char="•"/>
                <a:defRPr/>
              </a:pP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흥국생명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– </a:t>
              </a:r>
              <a:r>
                <a:rPr lang="ko-KR" altLang="en-US" sz="1600" b="1" dirty="0" err="1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다사랑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 간편 통합 상해보험</a:t>
              </a:r>
              <a:endParaRPr lang="en-US" altLang="ko-KR" sz="16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pic>
          <p:nvPicPr>
            <p:cNvPr id="29" name="그림 28" descr="원, 그래픽, 디자인, 예술이(가) 표시된 사진&#10;&#10;자동 생성된 설명">
              <a:extLst>
                <a:ext uri="{FF2B5EF4-FFF2-40B4-BE49-F238E27FC236}">
                  <a16:creationId xmlns:a16="http://schemas.microsoft.com/office/drawing/2014/main" id="{B1F607F6-4A47-110A-C6F1-21FBE446D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duotone>
                <a:prstClr val="black"/>
                <a:srgbClr val="85A4D8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90759" y="3326297"/>
              <a:ext cx="580852" cy="6914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01925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365CC-D441-1B4D-AE77-D8CE52608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A863AD8-BA68-4C25-A4BC-3A1FED92F9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54415"/>
              </p:ext>
            </p:extLst>
          </p:nvPr>
        </p:nvGraphicFramePr>
        <p:xfrm>
          <a:off x="701674" y="1079501"/>
          <a:ext cx="9288466" cy="60510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934">
                  <a:extLst>
                    <a:ext uri="{9D8B030D-6E8A-4147-A177-3AD203B41FA5}">
                      <a16:colId xmlns:a16="http://schemas.microsoft.com/office/drawing/2014/main" val="44608511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3129994776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1732450029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4103007133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3367925447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5786400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3713970330"/>
                    </a:ext>
                  </a:extLst>
                </a:gridCol>
              </a:tblGrid>
              <a:tr h="2373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구분</a:t>
                      </a:r>
                      <a:endParaRPr lang="ko-KR" altLang="en-US" sz="15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삼성생명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한화생명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동양생명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281874"/>
                  </a:ext>
                </a:extLst>
              </a:tr>
              <a:tr h="2064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상품명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인생대표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/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가족대표 건강보험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시그니처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H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통합건강보험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우리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WON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하는 보장보험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950163"/>
                  </a:ext>
                </a:extLst>
              </a:tr>
              <a:tr h="2064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심사유형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간편 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~ 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건강체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간편 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~ 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건강체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간편 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~ 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건강체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461785"/>
                  </a:ext>
                </a:extLst>
              </a:tr>
              <a:tr h="2064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가입한도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연 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억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연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억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연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억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545920"/>
                  </a:ext>
                </a:extLst>
              </a:tr>
              <a:tr h="2064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검사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(MRI/PET/CT)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5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 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/ 5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 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/ 10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 20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 20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 20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 20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758312"/>
                  </a:ext>
                </a:extLst>
              </a:tr>
              <a:tr h="2064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수술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2,500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2,000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2,000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280378"/>
                  </a:ext>
                </a:extLst>
              </a:tr>
              <a:tr h="2064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혈전용해술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3,000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2,500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2,500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357508"/>
                  </a:ext>
                </a:extLst>
              </a:tr>
              <a:tr h="2064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혈전제거술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3,000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1,000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260231"/>
                  </a:ext>
                </a:extLst>
              </a:tr>
              <a:tr h="2064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중환자실 치료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1,000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1,500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1,500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330860"/>
                  </a:ext>
                </a:extLst>
              </a:tr>
              <a:tr h="2064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재활치료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입원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외래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 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(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연 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15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회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)</a:t>
                      </a:r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연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회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연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15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회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225070"/>
                  </a:ext>
                </a:extLst>
              </a:tr>
              <a:tr h="2064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에크모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2,000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2,000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2,000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120590"/>
                  </a:ext>
                </a:extLst>
              </a:tr>
              <a:tr h="2064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인공호흡기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933449"/>
                  </a:ext>
                </a:extLst>
              </a:tr>
              <a:tr h="3509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저체온요법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500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68827"/>
                  </a:ext>
                </a:extLst>
              </a:tr>
              <a:tr h="3509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CRRT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500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500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379726"/>
                  </a:ext>
                </a:extLst>
              </a:tr>
              <a:tr h="2064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보험료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50299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표준체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47,662</a:t>
                      </a:r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27,546</a:t>
                      </a:r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63,627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39,925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49,997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32,191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137976"/>
                  </a:ext>
                </a:extLst>
              </a:tr>
              <a:tr h="2064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355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57,714</a:t>
                      </a:r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33,649</a:t>
                      </a:r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75,408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43,529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56,267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36,753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189818"/>
                  </a:ext>
                </a:extLst>
              </a:tr>
              <a:tr h="3509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주요 특징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수술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, 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혈전용해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, 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제거 등</a:t>
                      </a:r>
                      <a:endParaRPr lang="en-US" altLang="ko-KR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압도적 보장금액 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&amp; 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가성비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 err="1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검사비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 및 재활치료 특화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질병후유장해</a:t>
                      </a:r>
                      <a:r>
                        <a:rPr lang="ko-KR" altLang="en-US" sz="11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보험료 가성비↑</a:t>
                      </a:r>
                      <a:endParaRPr lang="en-US" altLang="ko-KR" sz="11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1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순환계통합치료와 조합 추천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870843"/>
                  </a:ext>
                </a:extLst>
              </a:tr>
            </a:tbl>
          </a:graphicData>
        </a:graphic>
      </p:graphicFrame>
      <p:sp>
        <p:nvSpPr>
          <p:cNvPr id="3" name="부제목 2">
            <a:extLst>
              <a:ext uri="{FF2B5EF4-FFF2-40B4-BE49-F238E27FC236}">
                <a16:creationId xmlns:a16="http://schemas.microsoft.com/office/drawing/2014/main" id="{7C340228-838F-5FF3-77DE-ABD44347E9BA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타사 비교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표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_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삼성생명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– 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인생대표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/ 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가족대표</a:t>
            </a:r>
            <a:endParaRPr lang="en-US" altLang="ko-KR" sz="2400" b="1" spc="-150" dirty="0">
              <a:solidFill>
                <a:schemeClr val="bg1"/>
              </a:solidFill>
              <a:latin typeface="NanumSquareOTF ExtraBold" panose="020B0600000101010101" pitchFamily="34" charset="-127"/>
              <a:ea typeface="NanumSquareOTF ExtraBold" panose="020B0600000101010101" pitchFamily="34" charset="-127"/>
            </a:endParaRPr>
          </a:p>
        </p:txBody>
      </p:sp>
      <p:pic>
        <p:nvPicPr>
          <p:cNvPr id="7" name="그림 6" descr="그래픽, 원, 로고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601E3C9-539B-2CC0-1BD4-E2A083899E0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697" y="848886"/>
            <a:ext cx="624488" cy="89081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EB7454-7553-BD28-1B51-700F7D6E8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12" name="부제목 2">
            <a:extLst>
              <a:ext uri="{FF2B5EF4-FFF2-40B4-BE49-F238E27FC236}">
                <a16:creationId xmlns:a16="http://schemas.microsoft.com/office/drawing/2014/main" id="{0979EF64-0073-ADDE-1F80-99ACB625187A}"/>
              </a:ext>
            </a:extLst>
          </p:cNvPr>
          <p:cNvSpPr txBox="1">
            <a:spLocks/>
          </p:cNvSpPr>
          <p:nvPr/>
        </p:nvSpPr>
        <p:spPr>
          <a:xfrm>
            <a:off x="8774553" y="177539"/>
            <a:ext cx="1755874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457200" latinLnBrk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sz="2400" b="1" spc="-100" dirty="0">
                <a:solidFill>
                  <a:srgbClr val="062765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순환계 통합치료</a:t>
            </a:r>
          </a:p>
        </p:txBody>
      </p:sp>
    </p:spTree>
    <p:extLst>
      <p:ext uri="{BB962C8B-B14F-4D97-AF65-F5344CB8AC3E}">
        <p14:creationId xmlns:p14="http://schemas.microsoft.com/office/powerpoint/2010/main" val="3842797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D555B-DDEE-00A6-98FE-C05C354C3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2">
            <a:extLst>
              <a:ext uri="{FF2B5EF4-FFF2-40B4-BE49-F238E27FC236}">
                <a16:creationId xmlns:a16="http://schemas.microsoft.com/office/drawing/2014/main" id="{DDD8EB8C-34D2-CB39-A49A-BA971FA7B5B9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선정 이유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_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삼성생명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– 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인생대표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/ 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가족대표</a:t>
            </a:r>
            <a:endParaRPr lang="en" altLang="ko-KR" sz="2400" b="1" spc="-150" dirty="0">
              <a:solidFill>
                <a:schemeClr val="bg1"/>
              </a:solidFill>
              <a:latin typeface="NanumSquareOTF ExtraBold" panose="020B0600000101010101" pitchFamily="34" charset="-127"/>
              <a:ea typeface="NanumSquareOTF ExtraBold" panose="020B0600000101010101" pitchFamily="34" charset="-127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7F8FD130-EC44-472F-2FC6-BBCA0F1B283C}"/>
              </a:ext>
            </a:extLst>
          </p:cNvPr>
          <p:cNvSpPr/>
          <p:nvPr/>
        </p:nvSpPr>
        <p:spPr>
          <a:xfrm>
            <a:off x="701676" y="1087814"/>
            <a:ext cx="1251816" cy="1613823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상품 특징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65F56A7A-AE27-1379-7C23-6D3A4547F901}"/>
              </a:ext>
            </a:extLst>
          </p:cNvPr>
          <p:cNvSpPr/>
          <p:nvPr/>
        </p:nvSpPr>
        <p:spPr>
          <a:xfrm>
            <a:off x="1953491" y="1087813"/>
            <a:ext cx="8036645" cy="1613823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가입 연령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– 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만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15 ~ 75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세</a:t>
            </a:r>
            <a:endParaRPr lang="en-US" altLang="ko-KR" sz="1600" dirty="0">
              <a:solidFill>
                <a:schemeClr val="tx1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간편부터 건강체까지 무사고 사고전환 가능</a:t>
            </a:r>
            <a:endParaRPr lang="en-US" altLang="ko-KR" sz="1600" dirty="0">
              <a:solidFill>
                <a:schemeClr val="tx1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D2978A97-DF65-9FE8-6E7B-885E67D3EFDF}"/>
              </a:ext>
            </a:extLst>
          </p:cNvPr>
          <p:cNvSpPr/>
          <p:nvPr/>
        </p:nvSpPr>
        <p:spPr>
          <a:xfrm>
            <a:off x="701675" y="2984057"/>
            <a:ext cx="1251816" cy="1205769"/>
          </a:xfrm>
          <a:prstGeom prst="roundRect">
            <a:avLst>
              <a:gd name="adj" fmla="val 12683"/>
            </a:avLst>
          </a:prstGeom>
          <a:solidFill>
            <a:srgbClr val="598F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선정 이유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63895F07-A35A-EED3-39F0-50E337E3E3CE}"/>
              </a:ext>
            </a:extLst>
          </p:cNvPr>
          <p:cNvSpPr/>
          <p:nvPr/>
        </p:nvSpPr>
        <p:spPr>
          <a:xfrm>
            <a:off x="1953490" y="2984056"/>
            <a:ext cx="8036645" cy="1205769"/>
          </a:xfrm>
          <a:prstGeom prst="roundRect">
            <a:avLst>
              <a:gd name="adj" fmla="val 7686"/>
            </a:avLst>
          </a:prstGeom>
          <a:solidFill>
            <a:srgbClr val="FFFB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순환계치료시 업계 최대 보장금액 </a:t>
            </a:r>
            <a:r>
              <a:rPr lang="en-US" altLang="ko-KR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+ </a:t>
            </a:r>
            <a:r>
              <a:rPr lang="ko-KR" altLang="en-US" sz="1600" b="1" dirty="0" err="1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사성비는</a:t>
            </a: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TOP</a:t>
            </a:r>
          </a:p>
          <a:p>
            <a:pPr marL="182563" indent="-182563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업계 최대 예외인수로 입원일수 및 수술 횟수 등 관계없이 완치 후 인수</a:t>
            </a:r>
            <a:endParaRPr lang="en-US" altLang="ko-KR" sz="1600" b="1" dirty="0">
              <a:solidFill>
                <a:srgbClr val="FF00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3B1DA5E2-9B98-5F5E-83BC-5532B94FA79C}"/>
              </a:ext>
            </a:extLst>
          </p:cNvPr>
          <p:cNvSpPr/>
          <p:nvPr/>
        </p:nvSpPr>
        <p:spPr>
          <a:xfrm>
            <a:off x="701674" y="4472248"/>
            <a:ext cx="1251816" cy="2369127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세일즈</a:t>
            </a:r>
            <a:endParaRPr lang="en-US" altLang="ko-KR" sz="17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포인트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CF5BAF82-13DA-A611-7293-7DF0D2563D35}"/>
              </a:ext>
            </a:extLst>
          </p:cNvPr>
          <p:cNvSpPr/>
          <p:nvPr/>
        </p:nvSpPr>
        <p:spPr>
          <a:xfrm>
            <a:off x="1953489" y="4472247"/>
            <a:ext cx="8036645" cy="2369127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수술하고 바로 일상생활 복귀가 아닌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반복되는 수술과 치료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,</a:t>
            </a:r>
            <a:b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</a:br>
            <a:r>
              <a:rPr lang="ko-KR" altLang="en-US" sz="1600" dirty="0" err="1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통원하면서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 쌓여가는 검사비와 재활치료비 등 부담이 큰 순환계질환에 대해</a:t>
            </a:r>
            <a:b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</a:b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한 가지 특약으로 한 번에 해결할 수 있는 상품</a:t>
            </a:r>
            <a:endParaRPr lang="en-US" altLang="ko-KR" sz="1600" dirty="0">
              <a:solidFill>
                <a:schemeClr val="tx1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pic>
        <p:nvPicPr>
          <p:cNvPr id="17" name="그림 16" descr="그래픽, 다채로움, 스크린샷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A7E3E12-6AD3-53EF-EA98-20A278728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586" y="3205941"/>
            <a:ext cx="762000" cy="76200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8C58FD6-09A8-174D-68FE-8C344D856A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94A5303D-0E7E-AAD7-2B3B-7651B40CB636}"/>
              </a:ext>
            </a:extLst>
          </p:cNvPr>
          <p:cNvSpPr txBox="1">
            <a:spLocks/>
          </p:cNvSpPr>
          <p:nvPr/>
        </p:nvSpPr>
        <p:spPr>
          <a:xfrm>
            <a:off x="8774553" y="177539"/>
            <a:ext cx="1755874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457200" latinLnBrk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sz="2400" b="1" spc="-100" dirty="0">
                <a:solidFill>
                  <a:srgbClr val="062765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순환계 통합치료</a:t>
            </a:r>
          </a:p>
        </p:txBody>
      </p:sp>
    </p:spTree>
    <p:extLst>
      <p:ext uri="{BB962C8B-B14F-4D97-AF65-F5344CB8AC3E}">
        <p14:creationId xmlns:p14="http://schemas.microsoft.com/office/powerpoint/2010/main" val="3115122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5B72E-1AA6-EEBE-E124-7112A1C85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BD9F5A7-4514-CFE7-EE22-8C9A7B9F4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162562"/>
              </p:ext>
            </p:extLst>
          </p:nvPr>
        </p:nvGraphicFramePr>
        <p:xfrm>
          <a:off x="701674" y="1079502"/>
          <a:ext cx="9288466" cy="4962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926">
                  <a:extLst>
                    <a:ext uri="{9D8B030D-6E8A-4147-A177-3AD203B41FA5}">
                      <a16:colId xmlns:a16="http://schemas.microsoft.com/office/drawing/2014/main" val="44608511"/>
                    </a:ext>
                  </a:extLst>
                </a:gridCol>
                <a:gridCol w="975008">
                  <a:extLst>
                    <a:ext uri="{9D8B030D-6E8A-4147-A177-3AD203B41FA5}">
                      <a16:colId xmlns:a16="http://schemas.microsoft.com/office/drawing/2014/main" val="1437452466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3129994776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2484543178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4103007133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4125922931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5786400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2800868476"/>
                    </a:ext>
                  </a:extLst>
                </a:gridCol>
              </a:tblGrid>
              <a:tr h="36488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구분</a:t>
                      </a:r>
                      <a:endParaRPr lang="ko-KR" altLang="en-US" sz="15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흥국생명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동양생명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신한라이프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281874"/>
                  </a:ext>
                </a:extLst>
              </a:tr>
              <a:tr h="31729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상품명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 err="1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다사랑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 통합보험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우리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WON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하는 보장보험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통합건강보험 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950163"/>
                  </a:ext>
                </a:extLst>
              </a:tr>
              <a:tr h="31729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가입연령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15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세 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- 80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15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 </a:t>
                      </a:r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- 80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15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– 70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490452"/>
                  </a:ext>
                </a:extLst>
              </a:tr>
              <a:tr h="317292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보장</a:t>
                      </a:r>
                      <a:endParaRPr lang="en-US" altLang="ko-KR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수술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O</a:t>
                      </a:r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O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O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545920"/>
                  </a:ext>
                </a:extLst>
              </a:tr>
              <a:tr h="31729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약물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O</a:t>
                      </a:r>
                      <a:endParaRPr kumimoji="0" lang="ko-KR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O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O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68827"/>
                  </a:ext>
                </a:extLst>
              </a:tr>
              <a:tr h="31729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방사선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O</a:t>
                      </a:r>
                      <a:endParaRPr kumimoji="0" lang="ko-KR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O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O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00693"/>
                  </a:ext>
                </a:extLst>
              </a:tr>
              <a:tr h="31729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중환자실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O</a:t>
                      </a:r>
                      <a:endParaRPr kumimoji="0" lang="ko-KR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O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O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270693"/>
                  </a:ext>
                </a:extLst>
              </a:tr>
              <a:tr h="31729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치료횟수 조건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연간 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회 </a:t>
                      </a:r>
                      <a:r>
                        <a:rPr lang="ko-KR" altLang="en-US" sz="1400" b="1" i="0" dirty="0" err="1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이상시</a:t>
                      </a:r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연간 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회 </a:t>
                      </a:r>
                      <a:r>
                        <a:rPr lang="ko-KR" altLang="en-US" sz="1400" b="1" i="0" dirty="0" err="1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이상시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연간 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회 </a:t>
                      </a:r>
                      <a:r>
                        <a:rPr lang="ko-KR" altLang="en-US" sz="1400" b="1" i="0" dirty="0" err="1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이상시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026642"/>
                  </a:ext>
                </a:extLst>
              </a:tr>
              <a:tr h="31729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최대</a:t>
                      </a:r>
                      <a:endParaRPr lang="en-US" altLang="ko-KR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보장</a:t>
                      </a:r>
                      <a:endParaRPr lang="en-US" altLang="ko-KR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금액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2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2,000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2,000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1,000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308768"/>
                  </a:ext>
                </a:extLst>
              </a:tr>
              <a:tr h="31729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3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1,000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1,000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1,000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597047"/>
                  </a:ext>
                </a:extLst>
              </a:tr>
              <a:tr h="31729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-</a:t>
                      </a:r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1,000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2,000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048501"/>
                  </a:ext>
                </a:extLst>
              </a:tr>
              <a:tr h="3884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보험료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502999"/>
                  </a:ext>
                </a:extLst>
              </a:tr>
              <a:tr h="19691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kern="1200" dirty="0">
                          <a:solidFill>
                            <a:schemeClr val="dk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55,952</a:t>
                      </a:r>
                      <a:endParaRPr lang="ko-KR" altLang="en-US" sz="1400" b="1" i="0" kern="1200" dirty="0">
                        <a:solidFill>
                          <a:schemeClr val="dk1"/>
                        </a:solidFill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kern="1200" dirty="0">
                          <a:solidFill>
                            <a:schemeClr val="dk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41,436</a:t>
                      </a:r>
                      <a:endParaRPr lang="ko-KR" altLang="en-US" sz="1400" b="1" i="0" kern="1200" dirty="0">
                        <a:solidFill>
                          <a:schemeClr val="dk1"/>
                        </a:solidFill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58,267</a:t>
                      </a:r>
                      <a:endParaRPr lang="ko-KR" altLang="en-US" sz="1400" b="0" i="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41,428</a:t>
                      </a:r>
                      <a:endParaRPr lang="ko-KR" altLang="en-US" sz="1400" b="0" i="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50,649</a:t>
                      </a:r>
                      <a:endParaRPr lang="ko-KR" altLang="en-US" sz="1400" b="0" i="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44,104</a:t>
                      </a:r>
                      <a:endParaRPr lang="ko-KR" altLang="en-US" sz="1400" b="0" i="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599260"/>
                  </a:ext>
                </a:extLst>
              </a:tr>
              <a:tr h="57905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주요 특징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kern="1200" dirty="0">
                          <a:solidFill>
                            <a:schemeClr val="dk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2</a:t>
                      </a:r>
                      <a:r>
                        <a:rPr lang="ko-KR" altLang="en-US" sz="1400" b="1" i="0" kern="1200" dirty="0">
                          <a:solidFill>
                            <a:schemeClr val="dk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회</a:t>
                      </a:r>
                      <a:r>
                        <a:rPr lang="en-US" altLang="ko-KR" sz="1400" b="1" i="0" kern="1200" dirty="0">
                          <a:solidFill>
                            <a:schemeClr val="dk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,3</a:t>
                      </a:r>
                      <a:r>
                        <a:rPr lang="ko-KR" altLang="en-US" sz="1400" b="1" i="0" kern="1200" dirty="0">
                          <a:solidFill>
                            <a:schemeClr val="dk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회 보장을 </a:t>
                      </a:r>
                      <a:r>
                        <a:rPr lang="ko-KR" altLang="en-US" sz="1400" b="1" i="0" kern="1200" dirty="0" err="1">
                          <a:solidFill>
                            <a:schemeClr val="dk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가성비있게</a:t>
                      </a:r>
                      <a:r>
                        <a:rPr lang="ko-KR" altLang="en-US" sz="1400" b="1" i="0" kern="1200" dirty="0">
                          <a:solidFill>
                            <a:schemeClr val="dk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 준비 가능</a:t>
                      </a:r>
                      <a:r>
                        <a:rPr lang="en-US" altLang="ko-KR" sz="1400" b="1" i="0" kern="1200" dirty="0">
                          <a:solidFill>
                            <a:schemeClr val="dk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400" b="1" i="0" kern="1200" dirty="0">
                          <a:solidFill>
                            <a:schemeClr val="dk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타사와 달리 일반병원부터 보장</a:t>
                      </a:r>
                      <a:endParaRPr lang="en-US" altLang="ko-KR" sz="1400" b="1" i="0" kern="1200" dirty="0">
                        <a:solidFill>
                          <a:schemeClr val="dk1"/>
                        </a:solidFill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여성 보험료 경쟁력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최대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4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회까지 보상하고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중대질환 분리심사 및 경증 예외질환 강점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870843"/>
                  </a:ext>
                </a:extLst>
              </a:tr>
            </a:tbl>
          </a:graphicData>
        </a:graphic>
      </p:graphicFrame>
      <p:sp>
        <p:nvSpPr>
          <p:cNvPr id="3" name="부제목 2">
            <a:extLst>
              <a:ext uri="{FF2B5EF4-FFF2-40B4-BE49-F238E27FC236}">
                <a16:creationId xmlns:a16="http://schemas.microsoft.com/office/drawing/2014/main" id="{8920C244-F343-352E-440B-1729E26653E0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타사 비교표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_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흥국생명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– </a:t>
            </a:r>
            <a:r>
              <a:rPr kumimoji="1" lang="ko-KR" altLang="en-US" sz="2400" dirty="0" err="1">
                <a:solidFill>
                  <a:schemeClr val="bg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다사랑</a:t>
            </a:r>
            <a:r>
              <a:rPr kumimoji="1" lang="ko-KR" altLang="en-US" sz="2400" dirty="0">
                <a:solidFill>
                  <a:schemeClr val="bg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 통합보험</a:t>
            </a:r>
            <a:endParaRPr lang="en" altLang="ko-KR" sz="2400" b="1" spc="-150" dirty="0">
              <a:solidFill>
                <a:schemeClr val="bg1"/>
              </a:solidFill>
              <a:latin typeface="NanumSquareOTF ExtraBold" panose="020B0600000101010101" pitchFamily="34" charset="-127"/>
              <a:ea typeface="NanumSquareOTF ExtraBold" panose="020B0600000101010101" pitchFamily="34" charset="-127"/>
            </a:endParaRPr>
          </a:p>
        </p:txBody>
      </p:sp>
      <p:pic>
        <p:nvPicPr>
          <p:cNvPr id="7" name="그림 6" descr="그래픽, 원, 로고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8CCA94D-5CB9-AEC6-497C-BBF2CB5F720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697" y="848886"/>
            <a:ext cx="624488" cy="89081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06DB7B-1CCD-50C8-52EB-AA2F620DB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E2E25230-F5D8-CBCF-B93A-DAF30DF3E0DC}"/>
              </a:ext>
            </a:extLst>
          </p:cNvPr>
          <p:cNvSpPr txBox="1">
            <a:spLocks/>
          </p:cNvSpPr>
          <p:nvPr/>
        </p:nvSpPr>
        <p:spPr>
          <a:xfrm>
            <a:off x="8774553" y="177539"/>
            <a:ext cx="1755874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457200" latinLnBrk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sz="2400" b="1" spc="-100" dirty="0">
                <a:solidFill>
                  <a:srgbClr val="062765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암 복합치료</a:t>
            </a:r>
          </a:p>
        </p:txBody>
      </p:sp>
    </p:spTree>
    <p:extLst>
      <p:ext uri="{BB962C8B-B14F-4D97-AF65-F5344CB8AC3E}">
        <p14:creationId xmlns:p14="http://schemas.microsoft.com/office/powerpoint/2010/main" val="387336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79A6F-A8EC-E2E6-6D2C-CADFB2CE1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2">
            <a:extLst>
              <a:ext uri="{FF2B5EF4-FFF2-40B4-BE49-F238E27FC236}">
                <a16:creationId xmlns:a16="http://schemas.microsoft.com/office/drawing/2014/main" id="{808CB72D-062E-F3E4-CB42-3DF29435F655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선정 이유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_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흥국생명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– </a:t>
            </a:r>
            <a:r>
              <a:rPr kumimoji="1" lang="ko-KR" altLang="en-US" sz="2400" dirty="0" err="1">
                <a:solidFill>
                  <a:schemeClr val="bg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다사랑</a:t>
            </a:r>
            <a:r>
              <a:rPr kumimoji="1" lang="ko-KR" altLang="en-US" sz="2400" dirty="0">
                <a:solidFill>
                  <a:schemeClr val="bg1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 통합보험</a:t>
            </a:r>
            <a:endParaRPr lang="en" altLang="ko-KR" sz="2400" b="1" spc="-150" dirty="0">
              <a:solidFill>
                <a:schemeClr val="bg1"/>
              </a:solidFill>
              <a:latin typeface="NanumSquareOTF ExtraBold" panose="020B0600000101010101" pitchFamily="34" charset="-127"/>
              <a:ea typeface="NanumSquareOTF ExtraBold" panose="020B0600000101010101" pitchFamily="34" charset="-127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AFA73DEC-EB71-ACFD-803F-7FB5F63B75FE}"/>
              </a:ext>
            </a:extLst>
          </p:cNvPr>
          <p:cNvSpPr/>
          <p:nvPr/>
        </p:nvSpPr>
        <p:spPr>
          <a:xfrm>
            <a:off x="701676" y="1087814"/>
            <a:ext cx="1251816" cy="1613823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상품 특징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67455D0-DFB3-3752-91C4-FF07FF52E9BB}"/>
              </a:ext>
            </a:extLst>
          </p:cNvPr>
          <p:cNvSpPr/>
          <p:nvPr/>
        </p:nvSpPr>
        <p:spPr>
          <a:xfrm>
            <a:off x="1953491" y="1087813"/>
            <a:ext cx="8036645" cy="1613823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가입 연령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– 15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세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- 80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세</a:t>
            </a:r>
            <a:endParaRPr lang="en-US" altLang="ko-KR" sz="1600" dirty="0">
              <a:solidFill>
                <a:schemeClr val="tx1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주계약을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70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세만기로 </a:t>
            </a:r>
            <a:r>
              <a:rPr lang="ko-KR" altLang="en-US" sz="1600" dirty="0" err="1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설정시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 타사대비 보험료 절감효과↑</a:t>
            </a:r>
            <a:endParaRPr lang="en-US" altLang="ko-KR" sz="1600" dirty="0">
              <a:solidFill>
                <a:schemeClr val="tx1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97C35B2D-2B41-C72F-67A2-0FB5264C95D6}"/>
              </a:ext>
            </a:extLst>
          </p:cNvPr>
          <p:cNvSpPr/>
          <p:nvPr/>
        </p:nvSpPr>
        <p:spPr>
          <a:xfrm>
            <a:off x="701675" y="2984057"/>
            <a:ext cx="1251816" cy="1205769"/>
          </a:xfrm>
          <a:prstGeom prst="roundRect">
            <a:avLst>
              <a:gd name="adj" fmla="val 12683"/>
            </a:avLst>
          </a:prstGeom>
          <a:solidFill>
            <a:srgbClr val="598F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선정 이유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FD1DDF4D-4D58-41BF-E255-455D40E1B00D}"/>
              </a:ext>
            </a:extLst>
          </p:cNvPr>
          <p:cNvSpPr/>
          <p:nvPr/>
        </p:nvSpPr>
        <p:spPr>
          <a:xfrm>
            <a:off x="1953490" y="2984056"/>
            <a:ext cx="8036645" cy="1205769"/>
          </a:xfrm>
          <a:prstGeom prst="roundRect">
            <a:avLst>
              <a:gd name="adj" fmla="val 7686"/>
            </a:avLst>
          </a:prstGeom>
          <a:solidFill>
            <a:srgbClr val="FFFB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비급여 항암제의 치료비는 점점 증가하는 추세</a:t>
            </a:r>
            <a:r>
              <a:rPr lang="en-US" altLang="ko-KR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복합치료 비중도 많이 늘어난 상황</a:t>
            </a:r>
            <a:endParaRPr lang="en-US" altLang="ko-KR" sz="1600" b="1" dirty="0">
              <a:solidFill>
                <a:srgbClr val="FF00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182563" indent="-182563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가장 </a:t>
            </a:r>
            <a:r>
              <a:rPr lang="ko-KR" altLang="en-US" sz="1600" b="1" dirty="0" err="1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가성비있게</a:t>
            </a: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준비할 수 있는 암 치료비 플랜 </a:t>
            </a:r>
            <a:r>
              <a:rPr lang="en-US" altLang="ko-KR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= </a:t>
            </a: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암 복합치료 </a:t>
            </a:r>
            <a:r>
              <a:rPr lang="en-US" altLang="ko-KR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</a:t>
            </a: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암주요치료생활비</a:t>
            </a:r>
            <a:r>
              <a:rPr lang="en-US" altLang="ko-KR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)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E1A3C291-CD9C-892D-F0BA-19F05AEA6B46}"/>
              </a:ext>
            </a:extLst>
          </p:cNvPr>
          <p:cNvSpPr/>
          <p:nvPr/>
        </p:nvSpPr>
        <p:spPr>
          <a:xfrm>
            <a:off x="701674" y="4472248"/>
            <a:ext cx="1251816" cy="2369127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세일즈</a:t>
            </a:r>
            <a:endParaRPr lang="en-US" altLang="ko-KR" sz="17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포인트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362A1BD0-A494-6B19-8959-7595326963BE}"/>
              </a:ext>
            </a:extLst>
          </p:cNvPr>
          <p:cNvSpPr/>
          <p:nvPr/>
        </p:nvSpPr>
        <p:spPr>
          <a:xfrm>
            <a:off x="1953489" y="4472247"/>
            <a:ext cx="8036645" cy="2369127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암종별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 상이하나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대부분의 암은 수술과 항암제를 병행하여 </a:t>
            </a:r>
            <a:r>
              <a:rPr lang="ko-KR" altLang="en-US" sz="1600" dirty="0" err="1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치료중이고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수술 시 중환자실 입원은 대부분 함께 이루어지고 있는 상황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 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암 진단비와 암 주요치료비의 보험료가 많이 올라 다소 비싼 상황에서 가장 가성비 있게 암치료비를 준비할 수 있는 담보로 적극 추천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!</a:t>
            </a:r>
          </a:p>
        </p:txBody>
      </p:sp>
      <p:pic>
        <p:nvPicPr>
          <p:cNvPr id="17" name="그림 16" descr="그래픽, 다채로움, 스크린샷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40D9009-3988-819A-62DE-EBDD47872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586" y="3205941"/>
            <a:ext cx="762000" cy="76200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D6C2018-BD72-1041-D54F-FF8FEAB9D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C916244D-E80A-F31D-6E3D-86CF38334381}"/>
              </a:ext>
            </a:extLst>
          </p:cNvPr>
          <p:cNvSpPr txBox="1">
            <a:spLocks/>
          </p:cNvSpPr>
          <p:nvPr/>
        </p:nvSpPr>
        <p:spPr>
          <a:xfrm>
            <a:off x="8774553" y="177539"/>
            <a:ext cx="1755874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457200" latinLnBrk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sz="2400" b="1" spc="-100" dirty="0">
                <a:solidFill>
                  <a:srgbClr val="062765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암 복합치료</a:t>
            </a:r>
          </a:p>
        </p:txBody>
      </p:sp>
    </p:spTree>
    <p:extLst>
      <p:ext uri="{BB962C8B-B14F-4D97-AF65-F5344CB8AC3E}">
        <p14:creationId xmlns:p14="http://schemas.microsoft.com/office/powerpoint/2010/main" val="4285179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6B72B-4F54-D9C6-1078-CB22E33F6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B4223D3-6F3D-ECEB-D2D6-A1E688657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226699"/>
              </p:ext>
            </p:extLst>
          </p:nvPr>
        </p:nvGraphicFramePr>
        <p:xfrm>
          <a:off x="562768" y="1079501"/>
          <a:ext cx="9566276" cy="5959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39">
                  <a:extLst>
                    <a:ext uri="{9D8B030D-6E8A-4147-A177-3AD203B41FA5}">
                      <a16:colId xmlns:a16="http://schemas.microsoft.com/office/drawing/2014/main" val="44608511"/>
                    </a:ext>
                  </a:extLst>
                </a:gridCol>
                <a:gridCol w="1148817">
                  <a:extLst>
                    <a:ext uri="{9D8B030D-6E8A-4147-A177-3AD203B41FA5}">
                      <a16:colId xmlns:a16="http://schemas.microsoft.com/office/drawing/2014/main" val="3129994776"/>
                    </a:ext>
                  </a:extLst>
                </a:gridCol>
                <a:gridCol w="1312024">
                  <a:extLst>
                    <a:ext uri="{9D8B030D-6E8A-4147-A177-3AD203B41FA5}">
                      <a16:colId xmlns:a16="http://schemas.microsoft.com/office/drawing/2014/main" val="1732450029"/>
                    </a:ext>
                  </a:extLst>
                </a:gridCol>
                <a:gridCol w="1312024">
                  <a:extLst>
                    <a:ext uri="{9D8B030D-6E8A-4147-A177-3AD203B41FA5}">
                      <a16:colId xmlns:a16="http://schemas.microsoft.com/office/drawing/2014/main" val="4103007133"/>
                    </a:ext>
                  </a:extLst>
                </a:gridCol>
                <a:gridCol w="1312024">
                  <a:extLst>
                    <a:ext uri="{9D8B030D-6E8A-4147-A177-3AD203B41FA5}">
                      <a16:colId xmlns:a16="http://schemas.microsoft.com/office/drawing/2014/main" val="3367925447"/>
                    </a:ext>
                  </a:extLst>
                </a:gridCol>
                <a:gridCol w="1312024">
                  <a:extLst>
                    <a:ext uri="{9D8B030D-6E8A-4147-A177-3AD203B41FA5}">
                      <a16:colId xmlns:a16="http://schemas.microsoft.com/office/drawing/2014/main" val="5786400"/>
                    </a:ext>
                  </a:extLst>
                </a:gridCol>
                <a:gridCol w="1312024">
                  <a:extLst>
                    <a:ext uri="{9D8B030D-6E8A-4147-A177-3AD203B41FA5}">
                      <a16:colId xmlns:a16="http://schemas.microsoft.com/office/drawing/2014/main" val="3713970330"/>
                    </a:ext>
                  </a:extLst>
                </a:gridCol>
              </a:tblGrid>
              <a:tr h="4085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구분</a:t>
                      </a:r>
                      <a:endParaRPr lang="ko-KR" altLang="en-US" sz="15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 err="1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미래에셋생명</a:t>
                      </a:r>
                      <a:endParaRPr lang="ko-KR" altLang="en-US" sz="17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 err="1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라이나생명</a:t>
                      </a:r>
                      <a:endParaRPr lang="ko-KR" altLang="en-US" sz="17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흥국생명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281874"/>
                  </a:ext>
                </a:extLst>
              </a:tr>
              <a:tr h="3552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상품명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M-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케어 건강보험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새로담는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간편건강보험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다사랑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간편 통합상해보험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950163"/>
                  </a:ext>
                </a:extLst>
              </a:tr>
              <a:tr h="3552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통합재해진단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경증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3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461785"/>
                  </a:ext>
                </a:extLst>
              </a:tr>
              <a:tr h="3552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통합재해진단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중등증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30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545920"/>
                  </a:ext>
                </a:extLst>
              </a:tr>
              <a:tr h="3552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통합재해진단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중증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500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600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758312"/>
                  </a:ext>
                </a:extLst>
              </a:tr>
              <a:tr h="3552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재해골절진단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280378"/>
                  </a:ext>
                </a:extLst>
              </a:tr>
              <a:tr h="3552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깁스치료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50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357508"/>
                  </a:ext>
                </a:extLst>
              </a:tr>
              <a:tr h="3552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재해수술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30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260231"/>
                  </a:ext>
                </a:extLst>
              </a:tr>
              <a:tr h="3552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재해수술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종합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-</a:t>
                      </a:r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-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-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330860"/>
                  </a:ext>
                </a:extLst>
              </a:tr>
              <a:tr h="3552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재해수술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상급종합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70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-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-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225070"/>
                  </a:ext>
                </a:extLst>
              </a:tr>
              <a:tr h="3552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인공관절치환술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500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-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120590"/>
                  </a:ext>
                </a:extLst>
              </a:tr>
              <a:tr h="3552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중증무릎관절연골손상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500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-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933449"/>
                  </a:ext>
                </a:extLst>
              </a:tr>
              <a:tr h="3552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보험료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502999"/>
                  </a:ext>
                </a:extLst>
              </a:tr>
              <a:tr h="3552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(20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년 갱신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21,824</a:t>
                      </a:r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22,395</a:t>
                      </a:r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22,691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29,013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25,882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27,734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137976"/>
                  </a:ext>
                </a:extLst>
              </a:tr>
              <a:tr h="6039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주요 특징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골절부터 수술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, </a:t>
                      </a:r>
                      <a:r>
                        <a:rPr lang="ko-KR" altLang="en-US" sz="1400" b="1" i="0" dirty="0" err="1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중증무릎관절</a:t>
                      </a:r>
                      <a:endParaRPr lang="en-US" altLang="ko-KR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All-Care 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가성비 플랜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1007943" rtl="0" eaLnBrk="1" latinLnBrk="1" hangingPunct="1">
                        <a:spcBef>
                          <a:spcPts val="300"/>
                        </a:spcBef>
                      </a:pP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골절진단 및 골절수술 등</a:t>
                      </a:r>
                      <a:endParaRPr lang="en-US" altLang="ko-KR" sz="1400" b="0" i="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  <a:p>
                      <a:pPr marL="0" algn="ctr" defTabSz="1007943" rtl="0" eaLnBrk="1" latinLnBrk="1" hangingPunct="1">
                        <a:spcBef>
                          <a:spcPts val="300"/>
                        </a:spcBef>
                      </a:pP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일부 담보 한하여 가입한도 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1007943" rtl="0" eaLnBrk="1" latinLnBrk="1" hangingPunct="1">
                        <a:spcBef>
                          <a:spcPts val="300"/>
                        </a:spcBef>
                      </a:pP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관절통증주사치료 보장으로</a:t>
                      </a:r>
                      <a:endParaRPr lang="en-US" altLang="ko-KR" sz="1400" b="0" i="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  <a:p>
                      <a:pPr marL="0" algn="ctr" defTabSz="1007943" rtl="0" eaLnBrk="1" latinLnBrk="1" hangingPunct="1">
                        <a:spcBef>
                          <a:spcPts val="300"/>
                        </a:spcBef>
                      </a:pP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경증 특화 플랜으로 </a:t>
                      </a:r>
                      <a:r>
                        <a:rPr lang="ko-KR" altLang="en-US" sz="1400" b="0" i="0" kern="1200" dirty="0" err="1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셋팅시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 유리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870843"/>
                  </a:ext>
                </a:extLst>
              </a:tr>
            </a:tbl>
          </a:graphicData>
        </a:graphic>
      </p:graphicFrame>
      <p:sp>
        <p:nvSpPr>
          <p:cNvPr id="3" name="부제목 2">
            <a:extLst>
              <a:ext uri="{FF2B5EF4-FFF2-40B4-BE49-F238E27FC236}">
                <a16:creationId xmlns:a16="http://schemas.microsoft.com/office/drawing/2014/main" id="{94105AF4-A3AA-C536-C22E-12B256158A8B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타사 비교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표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_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</a:t>
            </a:r>
            <a:r>
              <a:rPr lang="ko-KR" altLang="en-US" sz="2400" b="1" spc="-150" dirty="0" err="1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미래에셋생명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– M-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케어 건강보험</a:t>
            </a:r>
            <a:endParaRPr lang="en" altLang="ko-KR" sz="2400" b="1" spc="-150" dirty="0">
              <a:solidFill>
                <a:schemeClr val="bg1"/>
              </a:solidFill>
              <a:latin typeface="NanumSquareOTF ExtraBold" panose="020B0600000101010101" pitchFamily="34" charset="-127"/>
              <a:ea typeface="NanumSquareOTF ExtraBold" panose="020B0600000101010101" pitchFamily="34" charset="-127"/>
            </a:endParaRPr>
          </a:p>
        </p:txBody>
      </p:sp>
      <p:pic>
        <p:nvPicPr>
          <p:cNvPr id="7" name="그림 6" descr="그래픽, 원, 로고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53F0CCB-225B-74DE-588A-8BC4C14BB4C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372" y="848886"/>
            <a:ext cx="624488" cy="89081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86ECE9-8D1B-8A3E-1E65-92F72F379E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41BA3D53-9E02-E041-ACA9-63976D1E39DD}"/>
              </a:ext>
            </a:extLst>
          </p:cNvPr>
          <p:cNvSpPr txBox="1">
            <a:spLocks/>
          </p:cNvSpPr>
          <p:nvPr/>
        </p:nvSpPr>
        <p:spPr>
          <a:xfrm>
            <a:off x="8774553" y="177539"/>
            <a:ext cx="1755874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2500"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457200" latinLnBrk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sz="2400" b="1" spc="-100" dirty="0">
                <a:solidFill>
                  <a:srgbClr val="062765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관절 및 재해</a:t>
            </a:r>
          </a:p>
        </p:txBody>
      </p:sp>
    </p:spTree>
    <p:extLst>
      <p:ext uri="{BB962C8B-B14F-4D97-AF65-F5344CB8AC3E}">
        <p14:creationId xmlns:p14="http://schemas.microsoft.com/office/powerpoint/2010/main" val="2478240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88270-4510-2E4F-7434-7510B3E55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2">
            <a:extLst>
              <a:ext uri="{FF2B5EF4-FFF2-40B4-BE49-F238E27FC236}">
                <a16:creationId xmlns:a16="http://schemas.microsoft.com/office/drawing/2014/main" id="{42067D6B-1BB1-84C8-680B-9A7E0AA853CA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선정 이유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_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</a:t>
            </a:r>
            <a:r>
              <a:rPr lang="ko-KR" altLang="en-US" sz="2400" b="1" spc="-150" dirty="0" err="1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미래에셋생명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– M-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케어 건강보험</a:t>
            </a:r>
            <a:endParaRPr lang="en" altLang="ko-KR" sz="2400" b="1" spc="-150" dirty="0">
              <a:solidFill>
                <a:schemeClr val="bg1"/>
              </a:solidFill>
              <a:latin typeface="NanumSquareOTF ExtraBold" panose="020B0600000101010101" pitchFamily="34" charset="-127"/>
              <a:ea typeface="NanumSquareOTF ExtraBold" panose="020B0600000101010101" pitchFamily="34" charset="-127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96880B28-6BD5-D519-9D92-0292B6F4BA06}"/>
              </a:ext>
            </a:extLst>
          </p:cNvPr>
          <p:cNvSpPr/>
          <p:nvPr/>
        </p:nvSpPr>
        <p:spPr>
          <a:xfrm>
            <a:off x="701676" y="1087814"/>
            <a:ext cx="1251816" cy="1613823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상품 특징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A59B3415-74F7-36EC-02D7-AAFD5F535A88}"/>
              </a:ext>
            </a:extLst>
          </p:cNvPr>
          <p:cNvSpPr/>
          <p:nvPr/>
        </p:nvSpPr>
        <p:spPr>
          <a:xfrm>
            <a:off x="1953491" y="1087813"/>
            <a:ext cx="8036645" cy="1613823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가입 연령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– 15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세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- 75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세</a:t>
            </a:r>
            <a:endParaRPr lang="en-US" altLang="ko-KR" sz="1600" dirty="0">
              <a:solidFill>
                <a:schemeClr val="tx1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낙상으로 인한 염좌부터 골절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, </a:t>
            </a:r>
            <a:r>
              <a:rPr lang="ko-KR" altLang="en-US" sz="1600" dirty="0" err="1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중증무릎관절연골손상까지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 재해 관련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All-Care</a:t>
            </a:r>
          </a:p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단순 </a:t>
            </a:r>
            <a:r>
              <a:rPr lang="ko-KR" altLang="en-US" sz="1600" dirty="0" err="1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염좌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 </a:t>
            </a:r>
            <a:r>
              <a:rPr lang="ko-KR" altLang="en-US" sz="1600" dirty="0" err="1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진단시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3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만원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, </a:t>
            </a:r>
            <a:r>
              <a:rPr lang="ko-KR" altLang="en-US" sz="1600" dirty="0" err="1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골절시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50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만원 보상</a:t>
            </a:r>
            <a:endParaRPr lang="en-US" altLang="ko-KR" sz="1600" dirty="0">
              <a:solidFill>
                <a:schemeClr val="tx1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D1579B93-E92B-C701-6C95-892E81662C50}"/>
              </a:ext>
            </a:extLst>
          </p:cNvPr>
          <p:cNvSpPr/>
          <p:nvPr/>
        </p:nvSpPr>
        <p:spPr>
          <a:xfrm>
            <a:off x="701675" y="2984057"/>
            <a:ext cx="1251816" cy="1205769"/>
          </a:xfrm>
          <a:prstGeom prst="roundRect">
            <a:avLst>
              <a:gd name="adj" fmla="val 12683"/>
            </a:avLst>
          </a:prstGeom>
          <a:solidFill>
            <a:srgbClr val="598F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선정 이유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6C2E8ACA-5717-77C7-D211-E07DE2B95F4F}"/>
              </a:ext>
            </a:extLst>
          </p:cNvPr>
          <p:cNvSpPr/>
          <p:nvPr/>
        </p:nvSpPr>
        <p:spPr>
          <a:xfrm>
            <a:off x="1953490" y="2984056"/>
            <a:ext cx="8036645" cy="1205769"/>
          </a:xfrm>
          <a:prstGeom prst="roundRect">
            <a:avLst>
              <a:gd name="adj" fmla="val 7686"/>
            </a:avLst>
          </a:prstGeom>
          <a:solidFill>
            <a:srgbClr val="FFFB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활동이 늘어나는 가을</a:t>
            </a:r>
            <a:r>
              <a:rPr lang="en-US" altLang="ko-KR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그리고 다가오는 겨울 미끄럼사고까지 대비하는 고령자 맞춤상품</a:t>
            </a:r>
            <a:endParaRPr lang="en-US" altLang="ko-KR" sz="1600" b="1" dirty="0">
              <a:solidFill>
                <a:srgbClr val="FF00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5A31B82E-92EE-8DFE-3874-A4FDF874B720}"/>
              </a:ext>
            </a:extLst>
          </p:cNvPr>
          <p:cNvSpPr/>
          <p:nvPr/>
        </p:nvSpPr>
        <p:spPr>
          <a:xfrm>
            <a:off x="701674" y="4472248"/>
            <a:ext cx="1251816" cy="2369127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세일즈</a:t>
            </a:r>
            <a:endParaRPr lang="en-US" altLang="ko-KR" sz="17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포인트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C128BB34-4E25-A44D-D73C-F896BDF24DE4}"/>
              </a:ext>
            </a:extLst>
          </p:cNvPr>
          <p:cNvSpPr/>
          <p:nvPr/>
        </p:nvSpPr>
        <p:spPr>
          <a:xfrm>
            <a:off x="1953489" y="4472247"/>
            <a:ext cx="8036645" cy="2369127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가벼운 운동을 </a:t>
            </a:r>
            <a:r>
              <a:rPr lang="ko-KR" altLang="en-US" sz="1600" dirty="0" err="1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하다가도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빙판길에 넘어져도 쉽게 발생하는 골절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,</a:t>
            </a:r>
            <a:b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</a:b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그로 인한 수술과 이후 발생하는 연골손상까지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,</a:t>
            </a:r>
            <a:b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</a:b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단 돈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2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만원으로 가볍게 준비할 수 있는 고령자 맞춤 가성비 상품</a:t>
            </a:r>
            <a:endParaRPr lang="en-US" altLang="ko-KR" sz="1600" dirty="0">
              <a:solidFill>
                <a:schemeClr val="tx1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pic>
        <p:nvPicPr>
          <p:cNvPr id="17" name="그림 16" descr="그래픽, 다채로움, 스크린샷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D1E90D1-B8AC-E926-DA0D-FABDBA5E5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7706" y="3205941"/>
            <a:ext cx="762000" cy="76200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49BEBA1-C660-6655-6CC3-620E2A8A7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04CD16C9-5C3B-0299-89EE-AE35372B403F}"/>
              </a:ext>
            </a:extLst>
          </p:cNvPr>
          <p:cNvSpPr txBox="1">
            <a:spLocks/>
          </p:cNvSpPr>
          <p:nvPr/>
        </p:nvSpPr>
        <p:spPr>
          <a:xfrm>
            <a:off x="8774553" y="177539"/>
            <a:ext cx="1755874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2500"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457200" latinLnBrk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sz="2400" b="1" spc="-100" dirty="0">
                <a:solidFill>
                  <a:srgbClr val="062765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관절 및 재해</a:t>
            </a:r>
          </a:p>
        </p:txBody>
      </p:sp>
    </p:spTree>
    <p:extLst>
      <p:ext uri="{BB962C8B-B14F-4D97-AF65-F5344CB8AC3E}">
        <p14:creationId xmlns:p14="http://schemas.microsoft.com/office/powerpoint/2010/main" val="3935629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93403-C6BB-FE8E-F998-7BF4AC2DF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81D7A82-362D-2606-25BF-DE1F4392E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048362"/>
              </p:ext>
            </p:extLst>
          </p:nvPr>
        </p:nvGraphicFramePr>
        <p:xfrm>
          <a:off x="562768" y="1079500"/>
          <a:ext cx="9566277" cy="59962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670">
                  <a:extLst>
                    <a:ext uri="{9D8B030D-6E8A-4147-A177-3AD203B41FA5}">
                      <a16:colId xmlns:a16="http://schemas.microsoft.com/office/drawing/2014/main" val="44608511"/>
                    </a:ext>
                  </a:extLst>
                </a:gridCol>
                <a:gridCol w="928670">
                  <a:extLst>
                    <a:ext uri="{9D8B030D-6E8A-4147-A177-3AD203B41FA5}">
                      <a16:colId xmlns:a16="http://schemas.microsoft.com/office/drawing/2014/main" val="1301830557"/>
                    </a:ext>
                  </a:extLst>
                </a:gridCol>
                <a:gridCol w="1148817">
                  <a:extLst>
                    <a:ext uri="{9D8B030D-6E8A-4147-A177-3AD203B41FA5}">
                      <a16:colId xmlns:a16="http://schemas.microsoft.com/office/drawing/2014/main" val="3129994776"/>
                    </a:ext>
                  </a:extLst>
                </a:gridCol>
                <a:gridCol w="1312024">
                  <a:extLst>
                    <a:ext uri="{9D8B030D-6E8A-4147-A177-3AD203B41FA5}">
                      <a16:colId xmlns:a16="http://schemas.microsoft.com/office/drawing/2014/main" val="1732450029"/>
                    </a:ext>
                  </a:extLst>
                </a:gridCol>
                <a:gridCol w="1312024">
                  <a:extLst>
                    <a:ext uri="{9D8B030D-6E8A-4147-A177-3AD203B41FA5}">
                      <a16:colId xmlns:a16="http://schemas.microsoft.com/office/drawing/2014/main" val="4103007133"/>
                    </a:ext>
                  </a:extLst>
                </a:gridCol>
                <a:gridCol w="1312024">
                  <a:extLst>
                    <a:ext uri="{9D8B030D-6E8A-4147-A177-3AD203B41FA5}">
                      <a16:colId xmlns:a16="http://schemas.microsoft.com/office/drawing/2014/main" val="3367925447"/>
                    </a:ext>
                  </a:extLst>
                </a:gridCol>
                <a:gridCol w="1312024">
                  <a:extLst>
                    <a:ext uri="{9D8B030D-6E8A-4147-A177-3AD203B41FA5}">
                      <a16:colId xmlns:a16="http://schemas.microsoft.com/office/drawing/2014/main" val="5786400"/>
                    </a:ext>
                  </a:extLst>
                </a:gridCol>
                <a:gridCol w="1312024">
                  <a:extLst>
                    <a:ext uri="{9D8B030D-6E8A-4147-A177-3AD203B41FA5}">
                      <a16:colId xmlns:a16="http://schemas.microsoft.com/office/drawing/2014/main" val="3713970330"/>
                    </a:ext>
                  </a:extLst>
                </a:gridCol>
              </a:tblGrid>
              <a:tr h="47638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구분</a:t>
                      </a:r>
                      <a:endParaRPr lang="ko-KR" altLang="en-US" sz="15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700" b="1" i="0" dirty="0" err="1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iM</a:t>
                      </a:r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라이프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KDB</a:t>
                      </a:r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생명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IBK</a:t>
                      </a:r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연금보험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281874"/>
                  </a:ext>
                </a:extLst>
              </a:tr>
              <a:tr h="41424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상품명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iM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마스터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PRO 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변액연금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더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!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행복드림 </a:t>
                      </a:r>
                      <a:r>
                        <a:rPr lang="ko-KR" altLang="en-US" sz="1400" kern="1200" dirty="0" err="1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변액연금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연금액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평생보증받는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변액연금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950163"/>
                  </a:ext>
                </a:extLst>
              </a:tr>
              <a:tr h="41424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가입연령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15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~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만 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15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세 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~ 60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세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0 ~ 68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461785"/>
                  </a:ext>
                </a:extLst>
              </a:tr>
              <a:tr h="60415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최소 납입보험료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만원</a:t>
                      </a:r>
                      <a:endParaRPr lang="en-US" altLang="ko-KR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(5,7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년납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10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만원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만원</a:t>
                      </a:r>
                      <a:endParaRPr lang="en-US" altLang="ko-KR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(5,7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년납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545920"/>
                  </a:ext>
                </a:extLst>
              </a:tr>
              <a:tr h="60415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최소 거치기간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납기포함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스타트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25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년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마스터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년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트래블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15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년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납기포함 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20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년</a:t>
                      </a:r>
                      <a:endParaRPr lang="en-US" altLang="ko-KR" sz="140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  <a:p>
                      <a:pPr marL="0" algn="ctr" defTabSz="1007943" rtl="0" eaLnBrk="1" latinLnBrk="1" hangingPunct="1"/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(20</a:t>
                      </a:r>
                      <a:r>
                        <a:rPr lang="ko-KR" altLang="en-US" sz="1400" kern="1200" dirty="0" err="1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년납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5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년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년납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7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년</a:t>
                      </a:r>
                      <a:endParaRPr lang="en-US" altLang="ko-KR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7, 10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년납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758312"/>
                  </a:ext>
                </a:extLst>
              </a:tr>
              <a:tr h="414248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환급률</a:t>
                      </a:r>
                      <a:endParaRPr lang="en-US" altLang="ko-KR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/>
                      <a:r>
                        <a:rPr lang="en-US" altLang="ko-KR" sz="8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(40</a:t>
                      </a:r>
                      <a:r>
                        <a:rPr lang="ko-KR" altLang="en-US" sz="8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 남성 기준</a:t>
                      </a:r>
                      <a:r>
                        <a:rPr lang="en-US" altLang="ko-KR" sz="8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  <a:endParaRPr lang="en-US" altLang="ko-KR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년차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60.5%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63.3%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87.8%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280378"/>
                  </a:ext>
                </a:extLst>
              </a:tr>
              <a:tr h="41424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10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년차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66.7%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66.6%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83.8%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357508"/>
                  </a:ext>
                </a:extLst>
              </a:tr>
              <a:tr h="41424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년차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63.6%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56.0%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69.6%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260231"/>
                  </a:ext>
                </a:extLst>
              </a:tr>
              <a:tr h="60415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최저보증이율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가입 후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년 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연단리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7%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년 이후 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연단리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5%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가입 후 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20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년 </a:t>
                      </a:r>
                      <a:r>
                        <a:rPr lang="ko-KR" altLang="en-US" sz="1400" kern="1200" dirty="0" err="1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연단리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7%</a:t>
                      </a:r>
                    </a:p>
                    <a:p>
                      <a:pPr marL="0" algn="ctr" defTabSz="1007943" rtl="0" eaLnBrk="1" latinLnBrk="1" hangingPunct="1"/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20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년 이후 </a:t>
                      </a:r>
                      <a:r>
                        <a:rPr lang="ko-KR" altLang="en-US" sz="1400" kern="1200" dirty="0" err="1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연단리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6%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가입 후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년 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연단리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8%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년 이후 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연단리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5%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330860"/>
                  </a:ext>
                </a:extLst>
              </a:tr>
              <a:tr h="41424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평생보증 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연금액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남성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502999"/>
                  </a:ext>
                </a:extLst>
              </a:tr>
              <a:tr h="41424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65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 개시 기준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1,865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1,783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1,693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1,609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1,605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1,537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137976"/>
                  </a:ext>
                </a:extLst>
              </a:tr>
              <a:tr h="70422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주요 특징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1007943" rtl="0" eaLnBrk="1" latinLnBrk="1" hangingPunct="1">
                        <a:spcBef>
                          <a:spcPts val="300"/>
                        </a:spcBef>
                      </a:pP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최대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30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년 </a:t>
                      </a:r>
                      <a:r>
                        <a:rPr lang="ko-KR" altLang="en-US" sz="1400" b="0" i="0" kern="1200" dirty="0" err="1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연단리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7%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제공</a:t>
                      </a:r>
                      <a:endParaRPr lang="en-US" altLang="ko-KR" sz="1400" b="0" i="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  <a:p>
                      <a:pPr marL="0" algn="ctr" defTabSz="1007943" rtl="0" eaLnBrk="1" latinLnBrk="1" hangingPunct="1">
                        <a:spcBef>
                          <a:spcPts val="300"/>
                        </a:spcBef>
                      </a:pP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가장 높은 </a:t>
                      </a:r>
                      <a:r>
                        <a:rPr lang="ko-KR" altLang="en-US" sz="1400" b="0" i="0" kern="1200" dirty="0" err="1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연금연액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 지급</a:t>
                      </a:r>
                      <a:endParaRPr lang="en-US" altLang="ko-KR" sz="1400" b="0" i="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  <a:p>
                      <a:pPr marL="0" algn="ctr" defTabSz="1007943" rtl="0" eaLnBrk="1" latinLnBrk="1" hangingPunct="1">
                        <a:spcBef>
                          <a:spcPts val="300"/>
                        </a:spcBef>
                      </a:pP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청장년층 권장상품</a:t>
                      </a:r>
                      <a:endParaRPr lang="en-US" altLang="ko-KR" sz="1400" b="0" i="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20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년 이후시점 </a:t>
                      </a:r>
                      <a:r>
                        <a:rPr lang="ko-KR" altLang="en-US" sz="1400" kern="1200" dirty="0" err="1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연단리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6%</a:t>
                      </a:r>
                    </a:p>
                    <a:p>
                      <a:pPr marL="0" algn="ctr" defTabSz="1007943" rtl="0" eaLnBrk="1" latinLnBrk="1" hangingPunct="1"/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조기 가입시 타사대비 강점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1007943" rtl="0" eaLnBrk="1" latinLnBrk="1" hangingPunct="1">
                        <a:spcBef>
                          <a:spcPts val="300"/>
                        </a:spcBef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0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세부터 가입가능</a:t>
                      </a:r>
                      <a:endParaRPr lang="en-US" altLang="ko-KR" sz="1400" b="0" i="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  <a:p>
                      <a:pPr marL="0" algn="ctr" defTabSz="1007943" rtl="0" eaLnBrk="1" latinLnBrk="1" hangingPunct="1">
                        <a:spcBef>
                          <a:spcPts val="300"/>
                        </a:spcBef>
                      </a:pP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손자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손녀 맞춤상품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!</a:t>
                      </a:r>
                      <a:endParaRPr lang="ko-KR" altLang="en-US" sz="1400" b="0" i="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870843"/>
                  </a:ext>
                </a:extLst>
              </a:tr>
            </a:tbl>
          </a:graphicData>
        </a:graphic>
      </p:graphicFrame>
      <p:sp>
        <p:nvSpPr>
          <p:cNvPr id="3" name="부제목 2">
            <a:extLst>
              <a:ext uri="{FF2B5EF4-FFF2-40B4-BE49-F238E27FC236}">
                <a16:creationId xmlns:a16="http://schemas.microsoft.com/office/drawing/2014/main" id="{8F6F64B8-8161-67CD-57E2-7F10F2A25501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타사 비교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표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_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</a:t>
            </a:r>
            <a:r>
              <a:rPr lang="en-US" altLang="ko-KR" sz="2400" b="1" spc="-150" dirty="0" err="1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iM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라이프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– </a:t>
            </a:r>
            <a:r>
              <a:rPr lang="en-US" altLang="ko-KR" sz="2400" b="1" spc="-150" dirty="0" err="1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iM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마스터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PRO </a:t>
            </a:r>
            <a:r>
              <a:rPr lang="ko-KR" altLang="en-US" sz="2400" b="1" spc="-150" dirty="0" err="1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변액연금</a:t>
            </a:r>
            <a:endParaRPr lang="en" altLang="ko-KR" sz="2400" b="1" spc="-150" dirty="0">
              <a:solidFill>
                <a:schemeClr val="bg1"/>
              </a:solidFill>
              <a:latin typeface="NanumSquareOTF ExtraBold" panose="020B0600000101010101" pitchFamily="34" charset="-127"/>
              <a:ea typeface="NanumSquareOTF ExtraBold" panose="020B0600000101010101" pitchFamily="34" charset="-127"/>
            </a:endParaRPr>
          </a:p>
        </p:txBody>
      </p:sp>
      <p:pic>
        <p:nvPicPr>
          <p:cNvPr id="7" name="그림 6" descr="그래픽, 원, 로고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35765FB-0D3C-5C64-F60C-5710C504EDA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372" y="848886"/>
            <a:ext cx="624488" cy="89081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032FA9-8E61-7132-A1B1-84CF806F3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EC0D37B5-F88F-FEA2-5CF5-E1A18032B269}"/>
              </a:ext>
            </a:extLst>
          </p:cNvPr>
          <p:cNvSpPr txBox="1">
            <a:spLocks/>
          </p:cNvSpPr>
          <p:nvPr/>
        </p:nvSpPr>
        <p:spPr>
          <a:xfrm>
            <a:off x="8774553" y="177539"/>
            <a:ext cx="1755874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457200" latinLnBrk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sz="2400" b="1" spc="-100" dirty="0">
                <a:solidFill>
                  <a:srgbClr val="062765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보증형 </a:t>
            </a:r>
            <a:r>
              <a:rPr lang="ko-KR" altLang="en-US" sz="2400" b="1" spc="-100" dirty="0" err="1">
                <a:solidFill>
                  <a:srgbClr val="062765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변액연금</a:t>
            </a:r>
            <a:endParaRPr lang="ko-KR" altLang="en-US" sz="2400" b="1" spc="-100" dirty="0">
              <a:solidFill>
                <a:srgbClr val="062765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3F3962-FF97-B232-7017-39294FE9A9E9}"/>
              </a:ext>
            </a:extLst>
          </p:cNvPr>
          <p:cNvSpPr txBox="1"/>
          <p:nvPr/>
        </p:nvSpPr>
        <p:spPr>
          <a:xfrm>
            <a:off x="7216139" y="833389"/>
            <a:ext cx="3004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latinLnBrk="1"/>
            <a:r>
              <a:rPr lang="en-US" altLang="ko-KR" sz="11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40</a:t>
            </a:r>
            <a:r>
              <a:rPr lang="ko-KR" altLang="en-US" sz="11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세</a:t>
            </a:r>
            <a:r>
              <a:rPr lang="en-US" altLang="ko-KR" sz="11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1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월납</a:t>
            </a:r>
            <a:r>
              <a:rPr lang="ko-KR" altLang="en-US" sz="11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lang="en-US" altLang="ko-KR" sz="11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100</a:t>
            </a:r>
            <a:r>
              <a:rPr lang="ko-KR" altLang="en-US" sz="11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만</a:t>
            </a:r>
            <a:r>
              <a:rPr lang="en-US" altLang="ko-KR" sz="11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10</a:t>
            </a:r>
            <a:r>
              <a:rPr lang="ko-KR" altLang="en-US" sz="11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년납</a:t>
            </a:r>
            <a:r>
              <a:rPr lang="ko-KR" altLang="en-US" sz="11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기준</a:t>
            </a:r>
            <a:endParaRPr lang="ko-KR" altLang="en-US" sz="14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9084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59551-46EA-0CB1-0DBA-454948D95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2">
            <a:extLst>
              <a:ext uri="{FF2B5EF4-FFF2-40B4-BE49-F238E27FC236}">
                <a16:creationId xmlns:a16="http://schemas.microsoft.com/office/drawing/2014/main" id="{FDBE1363-5989-DA9B-754A-9EA8ACEF6942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선정 이유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_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</a:t>
            </a:r>
            <a:r>
              <a:rPr lang="en-US" altLang="ko-KR" sz="2400" b="1" spc="-150" dirty="0" err="1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iM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라이프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– </a:t>
            </a:r>
            <a:r>
              <a:rPr lang="en-US" altLang="ko-KR" sz="2400" b="1" spc="-150" dirty="0" err="1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iM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마스터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PRO </a:t>
            </a:r>
            <a:r>
              <a:rPr lang="ko-KR" altLang="en-US" sz="2400" b="1" spc="-150" dirty="0" err="1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변액연금</a:t>
            </a:r>
            <a:endParaRPr lang="en" altLang="ko-KR" sz="2400" b="1" spc="-150" dirty="0">
              <a:solidFill>
                <a:schemeClr val="bg1"/>
              </a:solidFill>
              <a:latin typeface="NanumSquareOTF ExtraBold" panose="020B0600000101010101" pitchFamily="34" charset="-127"/>
              <a:ea typeface="NanumSquareOTF ExtraBold" panose="020B0600000101010101" pitchFamily="34" charset="-127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69EDB7B0-F953-66CB-953B-F21B0D065512}"/>
              </a:ext>
            </a:extLst>
          </p:cNvPr>
          <p:cNvSpPr/>
          <p:nvPr/>
        </p:nvSpPr>
        <p:spPr>
          <a:xfrm>
            <a:off x="701676" y="1087814"/>
            <a:ext cx="1251816" cy="1613823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상품 특징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24A24B0F-C4BC-2AB2-13F8-A61D70C44F23}"/>
              </a:ext>
            </a:extLst>
          </p:cNvPr>
          <p:cNvSpPr/>
          <p:nvPr/>
        </p:nvSpPr>
        <p:spPr>
          <a:xfrm>
            <a:off x="1953491" y="1087813"/>
            <a:ext cx="8036645" cy="1613823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가입 연령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– 15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세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- 50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세</a:t>
            </a:r>
            <a:endParaRPr lang="en-US" altLang="ko-KR" sz="1600" dirty="0">
              <a:solidFill>
                <a:schemeClr val="tx1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최대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30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년 </a:t>
            </a:r>
            <a:r>
              <a:rPr lang="ko-KR" altLang="en-US" sz="1600" dirty="0" err="1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연단리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7% 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제공</a:t>
            </a:r>
            <a:endParaRPr lang="en-US" altLang="ko-KR" sz="1600" dirty="0">
              <a:solidFill>
                <a:schemeClr val="tx1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A7825E67-A71A-BDCE-4065-6355F0A91EF0}"/>
              </a:ext>
            </a:extLst>
          </p:cNvPr>
          <p:cNvSpPr/>
          <p:nvPr/>
        </p:nvSpPr>
        <p:spPr>
          <a:xfrm>
            <a:off x="701675" y="2984057"/>
            <a:ext cx="1251816" cy="1205769"/>
          </a:xfrm>
          <a:prstGeom prst="roundRect">
            <a:avLst>
              <a:gd name="adj" fmla="val 12683"/>
            </a:avLst>
          </a:prstGeom>
          <a:solidFill>
            <a:srgbClr val="598F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선정 이유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13A2B764-F2D0-45B3-5954-214DF7DC11A9}"/>
              </a:ext>
            </a:extLst>
          </p:cNvPr>
          <p:cNvSpPr/>
          <p:nvPr/>
        </p:nvSpPr>
        <p:spPr>
          <a:xfrm>
            <a:off x="1953490" y="2984056"/>
            <a:ext cx="8036645" cy="1205769"/>
          </a:xfrm>
          <a:prstGeom prst="roundRect">
            <a:avLst>
              <a:gd name="adj" fmla="val 7686"/>
            </a:avLst>
          </a:prstGeom>
          <a:solidFill>
            <a:srgbClr val="FFFB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금리와 주식시장 관계없이</a:t>
            </a:r>
            <a:r>
              <a:rPr lang="en-US" altLang="ko-KR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내 자산을 안전하게 </a:t>
            </a:r>
            <a:r>
              <a:rPr lang="ko-KR" altLang="en-US" sz="1600" b="1" dirty="0" err="1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불려나갈</a:t>
            </a: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수 있는 최소한의 안전장치</a:t>
            </a:r>
            <a:endParaRPr lang="en-US" altLang="ko-KR" sz="1600" b="1" dirty="0">
              <a:solidFill>
                <a:srgbClr val="FF00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182563" indent="-182563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유동성 필요시 납기 중에도 납입중지</a:t>
            </a:r>
            <a:r>
              <a:rPr lang="en-US" altLang="ko-KR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중도인출 활용 가능</a:t>
            </a:r>
            <a:endParaRPr lang="en-US" altLang="ko-KR" sz="1600" b="1" dirty="0">
              <a:solidFill>
                <a:srgbClr val="FF00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47E8217-A866-B74F-2400-4BABEE579E25}"/>
              </a:ext>
            </a:extLst>
          </p:cNvPr>
          <p:cNvSpPr/>
          <p:nvPr/>
        </p:nvSpPr>
        <p:spPr>
          <a:xfrm>
            <a:off x="701674" y="4472248"/>
            <a:ext cx="1251816" cy="2369127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세일즈</a:t>
            </a:r>
            <a:endParaRPr lang="en-US" altLang="ko-KR" sz="17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포인트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B761E17-9B2C-D677-B508-F14AD8A711F6}"/>
              </a:ext>
            </a:extLst>
          </p:cNvPr>
          <p:cNvSpPr/>
          <p:nvPr/>
        </p:nvSpPr>
        <p:spPr>
          <a:xfrm>
            <a:off x="1953489" y="4472247"/>
            <a:ext cx="8036645" cy="2369127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변동성 장세와 관계없이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확정수익을 낼 수 있는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내 노후에 필요한 최소 자금 마련에 최적화</a:t>
            </a:r>
            <a:endParaRPr lang="en-US" altLang="ko-KR" sz="1600" dirty="0">
              <a:solidFill>
                <a:schemeClr val="tx1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대부분의 자산을 공격적인 투자를 하고 있다면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포트폴리오에 꼭 담아가야 하는 상품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!</a:t>
            </a:r>
          </a:p>
        </p:txBody>
      </p:sp>
      <p:pic>
        <p:nvPicPr>
          <p:cNvPr id="17" name="그림 16" descr="그래픽, 다채로움, 스크린샷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4AAF505-5520-E367-AB2D-7A21CF9B4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7706" y="3205941"/>
            <a:ext cx="762000" cy="76200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BAD974B-1351-7AA5-E018-AE97EE0E0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E8952AE1-4C94-7330-086B-FD97BF16BD34}"/>
              </a:ext>
            </a:extLst>
          </p:cNvPr>
          <p:cNvSpPr txBox="1">
            <a:spLocks/>
          </p:cNvSpPr>
          <p:nvPr/>
        </p:nvSpPr>
        <p:spPr>
          <a:xfrm>
            <a:off x="8774553" y="177539"/>
            <a:ext cx="1755874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457200" latinLnBrk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sz="2400" b="1" spc="-100" dirty="0">
                <a:solidFill>
                  <a:srgbClr val="062765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보증형 </a:t>
            </a:r>
            <a:r>
              <a:rPr lang="ko-KR" altLang="en-US" sz="2400" b="1" spc="-100" dirty="0" err="1">
                <a:solidFill>
                  <a:srgbClr val="062765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변액연금</a:t>
            </a:r>
            <a:endParaRPr lang="ko-KR" altLang="en-US" sz="2400" b="1" spc="-100" dirty="0">
              <a:solidFill>
                <a:srgbClr val="062765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9527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CBF4F-B4D4-7DF2-AA4B-2080B0064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62A53B7-1803-7A05-F724-EB4CDA363468}"/>
              </a:ext>
            </a:extLst>
          </p:cNvPr>
          <p:cNvSpPr/>
          <p:nvPr/>
        </p:nvSpPr>
        <p:spPr>
          <a:xfrm>
            <a:off x="4074289" y="1990846"/>
            <a:ext cx="5416952" cy="151628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삼성생명 </a:t>
            </a: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– </a:t>
            </a: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인생대표 </a:t>
            </a: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/ </a:t>
            </a: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가족대표</a:t>
            </a:r>
            <a:endParaRPr kumimoji="1" lang="en-US" altLang="ko-KR" sz="16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흥국생명 </a:t>
            </a: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– </a:t>
            </a:r>
            <a:r>
              <a:rPr kumimoji="1" lang="ko-KR" altLang="en-US" sz="160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다사랑</a:t>
            </a: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통합보험</a:t>
            </a:r>
            <a:endParaRPr kumimoji="1" lang="en-US" altLang="ko-KR" sz="16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kumimoji="1" lang="ko-KR" altLang="en-US" sz="160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미래에셋생명</a:t>
            </a: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</a:t>
            </a: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– M-</a:t>
            </a: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케어 건강보험</a:t>
            </a:r>
            <a:endParaRPr kumimoji="1" lang="en-US" altLang="ko-KR" sz="16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kumimoji="1" lang="en-US" altLang="ko-KR" sz="160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iM</a:t>
            </a: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라이프 </a:t>
            </a: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– </a:t>
            </a:r>
            <a:r>
              <a:rPr kumimoji="1" lang="en-US" altLang="ko-KR" sz="160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iM</a:t>
            </a: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마스터 </a:t>
            </a: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PRO </a:t>
            </a:r>
            <a:r>
              <a:rPr kumimoji="1" lang="ko-KR" altLang="en-US" sz="160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변액연금</a:t>
            </a:r>
            <a:endParaRPr kumimoji="1" lang="en-US" altLang="ko-KR" sz="16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2BE8FCB-0071-7397-B32D-6DF670AFF56F}"/>
              </a:ext>
            </a:extLst>
          </p:cNvPr>
          <p:cNvSpPr/>
          <p:nvPr/>
        </p:nvSpPr>
        <p:spPr>
          <a:xfrm>
            <a:off x="4074289" y="4514126"/>
            <a:ext cx="5416952" cy="151628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KB</a:t>
            </a: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손해보험 </a:t>
            </a: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–</a:t>
            </a: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</a:t>
            </a: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5.10.10</a:t>
            </a:r>
            <a:r>
              <a:rPr lang="en-US" altLang="ko-KR" sz="16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Young</a:t>
            </a:r>
            <a:r>
              <a:rPr lang="ko-KR" altLang="en-US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플러스건강</a:t>
            </a:r>
            <a:endParaRPr kumimoji="1" lang="en-US" altLang="ko-KR" sz="16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삼성화재 </a:t>
            </a: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–</a:t>
            </a: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</a:t>
            </a: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New</a:t>
            </a:r>
            <a:r>
              <a:rPr kumimoji="1" lang="ko-KR" altLang="en-US" sz="160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내돈내삼</a:t>
            </a:r>
            <a:endParaRPr kumimoji="1" lang="en-US" altLang="ko-KR" sz="16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흥국화재 </a:t>
            </a: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–</a:t>
            </a:r>
            <a:r>
              <a:rPr kumimoji="1" lang="ko-KR" altLang="en-US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든든한 </a:t>
            </a:r>
            <a:r>
              <a:rPr kumimoji="1" lang="en-US" altLang="ko-KR" sz="16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3N5 </a:t>
            </a:r>
            <a:r>
              <a:rPr kumimoji="1" lang="ko-KR" altLang="en-US" sz="160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초경증</a:t>
            </a:r>
            <a:endParaRPr kumimoji="1" lang="en-US" altLang="ko-KR" sz="16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E8AAAE3-2E67-AD6D-D5CB-3D56D40AF59B}"/>
              </a:ext>
            </a:extLst>
          </p:cNvPr>
          <p:cNvSpPr/>
          <p:nvPr/>
        </p:nvSpPr>
        <p:spPr>
          <a:xfrm>
            <a:off x="491660" y="7870498"/>
            <a:ext cx="9708492" cy="7755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각 박스 안에 내용에 맞게 기입해주시면 됩니다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C2D6C92-1EAF-493E-5AC4-65585BB690C4}"/>
              </a:ext>
            </a:extLst>
          </p:cNvPr>
          <p:cNvSpPr/>
          <p:nvPr/>
        </p:nvSpPr>
        <p:spPr>
          <a:xfrm>
            <a:off x="1390650" y="6191250"/>
            <a:ext cx="1962149" cy="5973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ts val="300"/>
              </a:spcBef>
              <a:buFont typeface="Wingdings" pitchFamily="2" charset="2"/>
              <a:buChar char="§"/>
            </a:pPr>
            <a:r>
              <a:rPr kumimoji="1" lang="ko-KR" altLang="en-US" sz="12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손해보험 가성비 상품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98EDEEA-B7DA-35D4-27C1-C700BD65FF7B}"/>
              </a:ext>
            </a:extLst>
          </p:cNvPr>
          <p:cNvSpPr/>
          <p:nvPr/>
        </p:nvSpPr>
        <p:spPr>
          <a:xfrm>
            <a:off x="491660" y="3574473"/>
            <a:ext cx="6952009" cy="8766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3C6DE24-F6E0-7E9C-D66B-7D5E19543F63}"/>
              </a:ext>
            </a:extLst>
          </p:cNvPr>
          <p:cNvSpPr/>
          <p:nvPr/>
        </p:nvSpPr>
        <p:spPr>
          <a:xfrm>
            <a:off x="598284" y="6093447"/>
            <a:ext cx="6952009" cy="8766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7A9CE56-E066-B7D1-E2AE-786674147CBC}"/>
              </a:ext>
            </a:extLst>
          </p:cNvPr>
          <p:cNvSpPr/>
          <p:nvPr/>
        </p:nvSpPr>
        <p:spPr>
          <a:xfrm>
            <a:off x="438263" y="1872372"/>
            <a:ext cx="9528697" cy="16347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7517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B0A5A-430C-F803-472F-242C7643A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2">
            <a:extLst>
              <a:ext uri="{FF2B5EF4-FFF2-40B4-BE49-F238E27FC236}">
                <a16:creationId xmlns:a16="http://schemas.microsoft.com/office/drawing/2014/main" id="{4D1E70D0-1E34-B8F2-EC69-C29E7973F9F2}"/>
              </a:ext>
            </a:extLst>
          </p:cNvPr>
          <p:cNvSpPr txBox="1">
            <a:spLocks/>
          </p:cNvSpPr>
          <p:nvPr/>
        </p:nvSpPr>
        <p:spPr>
          <a:xfrm>
            <a:off x="8873230" y="177539"/>
            <a:ext cx="1548796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400" b="1" i="0" u="none" strike="noStrike" kern="1200" cap="none" spc="-100" normalizeH="0" baseline="0" noProof="0" dirty="0">
                <a:ln>
                  <a:noFill/>
                </a:ln>
                <a:solidFill>
                  <a:srgbClr val="1C468F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rPr>
              <a:t>손해보험</a:t>
            </a:r>
          </a:p>
        </p:txBody>
      </p:sp>
      <p:sp>
        <p:nvSpPr>
          <p:cNvPr id="15" name="부제목 2">
            <a:extLst>
              <a:ext uri="{FF2B5EF4-FFF2-40B4-BE49-F238E27FC236}">
                <a16:creationId xmlns:a16="http://schemas.microsoft.com/office/drawing/2014/main" id="{6C3330CB-5B1B-5F9E-81BA-224E7E2B1529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07943" rtl="0" eaLnBrk="1" fontAlgn="auto" latinLnBrk="1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손해보험 </a:t>
            </a:r>
            <a:r>
              <a:rPr kumimoji="0" lang="en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BEST CHOICE</a:t>
            </a:r>
          </a:p>
        </p:txBody>
      </p:sp>
      <p:pic>
        <p:nvPicPr>
          <p:cNvPr id="39" name="그림 38" descr="테이블웨어, 컵, 트로피, 정물 사진이(가) 표시된 사진&#10;&#10;자동 생성된 설명">
            <a:extLst>
              <a:ext uri="{FF2B5EF4-FFF2-40B4-BE49-F238E27FC236}">
                <a16:creationId xmlns:a16="http://schemas.microsoft.com/office/drawing/2014/main" id="{068A3345-23DE-ACA8-078C-5490CC6ED5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673" y="1045399"/>
            <a:ext cx="622490" cy="1545495"/>
          </a:xfrm>
          <a:prstGeom prst="rect">
            <a:avLst/>
          </a:prstGeom>
        </p:spPr>
      </p:pic>
      <p:sp>
        <p:nvSpPr>
          <p:cNvPr id="24" name="부제목 2">
            <a:extLst>
              <a:ext uri="{FF2B5EF4-FFF2-40B4-BE49-F238E27FC236}">
                <a16:creationId xmlns:a16="http://schemas.microsoft.com/office/drawing/2014/main" id="{19C88BE9-26CA-6B17-3051-0FE129505131}"/>
              </a:ext>
            </a:extLst>
          </p:cNvPr>
          <p:cNvSpPr txBox="1">
            <a:spLocks/>
          </p:cNvSpPr>
          <p:nvPr/>
        </p:nvSpPr>
        <p:spPr>
          <a:xfrm>
            <a:off x="691977" y="2976810"/>
            <a:ext cx="641882" cy="40531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B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E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S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T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0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 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C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H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O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I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C</a:t>
            </a:r>
          </a:p>
          <a:p>
            <a:pPr marL="0" marR="0" lvl="0" indent="0" algn="ctr" defTabSz="100794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-100" normalizeH="0" baseline="0" noProof="0" dirty="0">
                <a:ln>
                  <a:noFill/>
                </a:ln>
                <a:solidFill>
                  <a:srgbClr val="DDEBF8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E</a:t>
            </a:r>
            <a:endParaRPr kumimoji="0" lang="ko-KR" altLang="en-US" sz="2400" b="1" i="0" u="none" strike="noStrike" kern="1200" cap="none" spc="-100" normalizeH="0" baseline="0" noProof="0" dirty="0">
              <a:ln>
                <a:noFill/>
              </a:ln>
              <a:solidFill>
                <a:srgbClr val="DDEBF8"/>
              </a:solidFill>
              <a:effectLst/>
              <a:uLnTx/>
              <a:uFillTx/>
              <a:latin typeface="NanumSquareOTF ExtraBold" panose="020B0600000101010101" pitchFamily="34" charset="-127"/>
              <a:ea typeface="NanumSquareOTF ExtraBold" panose="020B0600000101010101" pitchFamily="34" charset="-127"/>
              <a:cs typeface="+mn-cs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34B3238-F5FD-A311-B711-19A6298E30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6F103B3-6F2A-1019-E24F-5D6ACB0CD45E}"/>
              </a:ext>
            </a:extLst>
          </p:cNvPr>
          <p:cNvGrpSpPr/>
          <p:nvPr/>
        </p:nvGrpSpPr>
        <p:grpSpPr>
          <a:xfrm>
            <a:off x="1626871" y="1068394"/>
            <a:ext cx="8363264" cy="1307929"/>
            <a:chOff x="1626871" y="1068394"/>
            <a:chExt cx="8363264" cy="1307929"/>
          </a:xfrm>
        </p:grpSpPr>
        <p:sp>
          <p:nvSpPr>
            <p:cNvPr id="36" name="한쪽 모서리가 둥근 사각형 30">
              <a:extLst>
                <a:ext uri="{FF2B5EF4-FFF2-40B4-BE49-F238E27FC236}">
                  <a16:creationId xmlns:a16="http://schemas.microsoft.com/office/drawing/2014/main" id="{4A788A0C-F54E-1755-B90D-AC438963485F}"/>
                </a:ext>
              </a:extLst>
            </p:cNvPr>
            <p:cNvSpPr/>
            <p:nvPr/>
          </p:nvSpPr>
          <p:spPr>
            <a:xfrm>
              <a:off x="1626871" y="1068394"/>
              <a:ext cx="1698348" cy="1307733"/>
            </a:xfrm>
            <a:prstGeom prst="round1Rect">
              <a:avLst>
                <a:gd name="adj" fmla="val 23391"/>
              </a:avLst>
            </a:prstGeom>
            <a:solidFill>
              <a:srgbClr val="85A4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kumimoji="1" lang="ko-KR" altLang="en-US" sz="2000" b="1" dirty="0"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수술비</a:t>
              </a:r>
            </a:p>
          </p:txBody>
        </p:sp>
        <p:sp>
          <p:nvSpPr>
            <p:cNvPr id="37" name="한쪽 모서리가 둥근 사각형 48">
              <a:extLst>
                <a:ext uri="{FF2B5EF4-FFF2-40B4-BE49-F238E27FC236}">
                  <a16:creationId xmlns:a16="http://schemas.microsoft.com/office/drawing/2014/main" id="{00D80807-7614-CD60-A31D-E5923B7E248F}"/>
                </a:ext>
              </a:extLst>
            </p:cNvPr>
            <p:cNvSpPr/>
            <p:nvPr/>
          </p:nvSpPr>
          <p:spPr>
            <a:xfrm flipH="1">
              <a:off x="3325219" y="1068590"/>
              <a:ext cx="6664916" cy="1307733"/>
            </a:xfrm>
            <a:prstGeom prst="round1Rect">
              <a:avLst>
                <a:gd name="adj" fmla="val 23391"/>
              </a:avLst>
            </a:prstGeom>
            <a:solidFill>
              <a:srgbClr val="EAF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tlCol="0" anchor="ctr"/>
            <a:lstStyle/>
            <a:p>
              <a:pPr marL="177800" lvl="0" indent="-177800">
                <a:spcBef>
                  <a:spcPts val="200"/>
                </a:spcBef>
                <a:buFont typeface="Arial" panose="020B0604020202020204" pitchFamily="34" charset="0"/>
                <a:buChar char="•"/>
                <a:tabLst>
                  <a:tab pos="130175" algn="l"/>
                </a:tabLst>
                <a:defRPr/>
              </a:pP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KB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손해보험 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– 5.10.10 Young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 플러스건강보험</a:t>
              </a:r>
              <a:endParaRPr lang="en-US" altLang="ko-KR" sz="16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  <a:p>
              <a:pPr marL="177800" lvl="0" indent="-177800">
                <a:spcBef>
                  <a:spcPts val="200"/>
                </a:spcBef>
                <a:buFont typeface="Arial" panose="020B0604020202020204" pitchFamily="34" charset="0"/>
                <a:buChar char="•"/>
                <a:tabLst>
                  <a:tab pos="130175" algn="l"/>
                </a:tabLst>
                <a:defRPr/>
              </a:pP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삼성화재 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– New</a:t>
              </a:r>
              <a:r>
                <a:rPr lang="ko-KR" altLang="en-US" sz="1600" b="1" dirty="0" err="1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내돈내삼</a:t>
              </a:r>
              <a:endParaRPr lang="en-US" altLang="ko-KR" sz="16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  <a:p>
              <a:pPr marL="177800" lvl="0" indent="-177800">
                <a:spcBef>
                  <a:spcPts val="200"/>
                </a:spcBef>
                <a:buFont typeface="Arial" panose="020B0604020202020204" pitchFamily="34" charset="0"/>
                <a:buChar char="•"/>
                <a:tabLst>
                  <a:tab pos="130175" algn="l"/>
                </a:tabLst>
                <a:defRPr/>
              </a:pP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하나손해보험 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– 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더퍼스트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5.10.5</a:t>
              </a:r>
            </a:p>
          </p:txBody>
        </p:sp>
      </p:grpSp>
      <p:pic>
        <p:nvPicPr>
          <p:cNvPr id="38" name="그림 37" descr="스케치, 클립아트, 그림, 그래픽이(가) 표시된 사진&#10;&#10;자동 생성된 설명">
            <a:extLst>
              <a:ext uri="{FF2B5EF4-FFF2-40B4-BE49-F238E27FC236}">
                <a16:creationId xmlns:a16="http://schemas.microsoft.com/office/drawing/2014/main" id="{7493B92A-16C7-0026-1AF8-7FEFF630C30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duotone>
              <a:prstClr val="black"/>
              <a:srgbClr val="85A4D8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390" y="1399564"/>
            <a:ext cx="737590" cy="645391"/>
          </a:xfrm>
          <a:prstGeom prst="rect">
            <a:avLst/>
          </a:prstGeom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EC04C45B-CEFA-8D2C-B304-D12373B08890}"/>
              </a:ext>
            </a:extLst>
          </p:cNvPr>
          <p:cNvGrpSpPr/>
          <p:nvPr/>
        </p:nvGrpSpPr>
        <p:grpSpPr>
          <a:xfrm>
            <a:off x="1626873" y="2570668"/>
            <a:ext cx="8363264" cy="1307929"/>
            <a:chOff x="1626873" y="2170618"/>
            <a:chExt cx="8363264" cy="1307929"/>
          </a:xfrm>
        </p:grpSpPr>
        <p:sp>
          <p:nvSpPr>
            <p:cNvPr id="41" name="한쪽 모서리가 둥근 사각형 51">
              <a:extLst>
                <a:ext uri="{FF2B5EF4-FFF2-40B4-BE49-F238E27FC236}">
                  <a16:creationId xmlns:a16="http://schemas.microsoft.com/office/drawing/2014/main" id="{542DCFAA-5545-754D-6311-10EB331A7BBF}"/>
                </a:ext>
              </a:extLst>
            </p:cNvPr>
            <p:cNvSpPr/>
            <p:nvPr/>
          </p:nvSpPr>
          <p:spPr>
            <a:xfrm>
              <a:off x="1626873" y="2170618"/>
              <a:ext cx="1698348" cy="1307733"/>
            </a:xfrm>
            <a:prstGeom prst="round1Rect">
              <a:avLst>
                <a:gd name="adj" fmla="val 23391"/>
              </a:avLst>
            </a:prstGeom>
            <a:solidFill>
              <a:srgbClr val="85A4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kumimoji="1" lang="ko-KR" altLang="en-US" sz="2000" b="1" dirty="0"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비급여</a:t>
              </a:r>
              <a:endParaRPr kumimoji="1" lang="en-US" altLang="ko-KR" sz="2000" b="1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  <a:p>
              <a:pPr lvl="0" algn="ctr">
                <a:defRPr/>
              </a:pPr>
              <a:r>
                <a:rPr kumimoji="1" lang="ko-KR" altLang="en-US" sz="2000" b="1" dirty="0"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암 통합치료</a:t>
              </a:r>
            </a:p>
          </p:txBody>
        </p:sp>
        <p:sp>
          <p:nvSpPr>
            <p:cNvPr id="42" name="한쪽 모서리가 둥근 사각형 52">
              <a:extLst>
                <a:ext uri="{FF2B5EF4-FFF2-40B4-BE49-F238E27FC236}">
                  <a16:creationId xmlns:a16="http://schemas.microsoft.com/office/drawing/2014/main" id="{E2D3E342-CD6F-1438-C59D-B1842A8DEA8C}"/>
                </a:ext>
              </a:extLst>
            </p:cNvPr>
            <p:cNvSpPr/>
            <p:nvPr/>
          </p:nvSpPr>
          <p:spPr>
            <a:xfrm flipH="1">
              <a:off x="3325221" y="2170814"/>
              <a:ext cx="6664916" cy="1307733"/>
            </a:xfrm>
            <a:prstGeom prst="round1Rect">
              <a:avLst>
                <a:gd name="adj" fmla="val 23391"/>
              </a:avLst>
            </a:prstGeom>
            <a:solidFill>
              <a:srgbClr val="EAF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tlCol="0" anchor="ctr"/>
            <a:lstStyle/>
            <a:p>
              <a:pPr marL="177800" lvl="0" indent="-177800">
                <a:spcBef>
                  <a:spcPts val="200"/>
                </a:spcBef>
                <a:buFont typeface="Arial" panose="020B0604020202020204" pitchFamily="34" charset="0"/>
                <a:buChar char="•"/>
                <a:tabLst>
                  <a:tab pos="130175" algn="l"/>
                </a:tabLst>
                <a:defRPr/>
              </a:pP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삼성화재 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– New</a:t>
              </a:r>
              <a:r>
                <a:rPr lang="ko-KR" altLang="en-US" sz="1600" b="1" dirty="0" err="1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내돈내삼</a:t>
              </a:r>
              <a:endParaRPr lang="en-US" altLang="ko-KR" sz="16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  <a:p>
              <a:pPr marL="177800" lvl="0" indent="-177800">
                <a:spcBef>
                  <a:spcPts val="200"/>
                </a:spcBef>
                <a:buFont typeface="Arial" panose="020B0604020202020204" pitchFamily="34" charset="0"/>
                <a:buChar char="•"/>
                <a:tabLst>
                  <a:tab pos="130175" algn="l"/>
                </a:tabLst>
                <a:defRPr/>
              </a:pP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KB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손해보험 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– 5.10.10 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플러스건강보험</a:t>
              </a:r>
              <a:endParaRPr lang="en-US" altLang="ko-KR" sz="16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  <a:p>
              <a:pPr marL="177800" lvl="0" indent="-177800">
                <a:spcBef>
                  <a:spcPts val="200"/>
                </a:spcBef>
                <a:buFont typeface="Arial" panose="020B0604020202020204" pitchFamily="34" charset="0"/>
                <a:buChar char="•"/>
                <a:tabLst>
                  <a:tab pos="130175" algn="l"/>
                </a:tabLst>
                <a:defRPr/>
              </a:pP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메리츠화재 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– </a:t>
              </a:r>
              <a:r>
                <a:rPr lang="ko-KR" altLang="en-US" sz="1600" b="1" dirty="0" err="1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또걸려도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 </a:t>
              </a:r>
              <a:r>
                <a:rPr lang="ko-KR" altLang="en-US" sz="1600" b="1" dirty="0" err="1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또받는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 </a:t>
              </a:r>
              <a:r>
                <a:rPr lang="ko-KR" altLang="en-US" sz="1600" b="1" dirty="0" err="1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암보험</a:t>
              </a:r>
              <a:endParaRPr lang="en-US" altLang="ko-KR" sz="16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</p:grpSp>
      <p:pic>
        <p:nvPicPr>
          <p:cNvPr id="43" name="그림 42" descr="직사각형, 상징, 대칭, 사각형이(가) 표시된 사진&#10;&#10;자동 생성된 설명">
            <a:extLst>
              <a:ext uri="{FF2B5EF4-FFF2-40B4-BE49-F238E27FC236}">
                <a16:creationId xmlns:a16="http://schemas.microsoft.com/office/drawing/2014/main" id="{3B65E5DD-64BF-6A2F-C7FF-C04118CE1514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duotone>
              <a:prstClr val="black"/>
              <a:srgbClr val="85A4D8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0759" y="2896734"/>
            <a:ext cx="580852" cy="645391"/>
          </a:xfrm>
          <a:prstGeom prst="rect">
            <a:avLst/>
          </a:prstGeom>
        </p:spPr>
      </p:pic>
      <p:grpSp>
        <p:nvGrpSpPr>
          <p:cNvPr id="44" name="그룹 43">
            <a:extLst>
              <a:ext uri="{FF2B5EF4-FFF2-40B4-BE49-F238E27FC236}">
                <a16:creationId xmlns:a16="http://schemas.microsoft.com/office/drawing/2014/main" id="{6679D9D8-65F2-DCDB-663E-785741F4767C}"/>
              </a:ext>
            </a:extLst>
          </p:cNvPr>
          <p:cNvGrpSpPr/>
          <p:nvPr/>
        </p:nvGrpSpPr>
        <p:grpSpPr>
          <a:xfrm>
            <a:off x="1626873" y="4072942"/>
            <a:ext cx="8359312" cy="1307929"/>
            <a:chOff x="1626873" y="4072942"/>
            <a:chExt cx="8359312" cy="1307929"/>
          </a:xfrm>
        </p:grpSpPr>
        <p:sp>
          <p:nvSpPr>
            <p:cNvPr id="45" name="한쪽 모서리가 둥근 사각형 53">
              <a:extLst>
                <a:ext uri="{FF2B5EF4-FFF2-40B4-BE49-F238E27FC236}">
                  <a16:creationId xmlns:a16="http://schemas.microsoft.com/office/drawing/2014/main" id="{E922553C-5990-8ED0-B7E6-417813C1E588}"/>
                </a:ext>
              </a:extLst>
            </p:cNvPr>
            <p:cNvSpPr/>
            <p:nvPr/>
          </p:nvSpPr>
          <p:spPr>
            <a:xfrm>
              <a:off x="1626873" y="4072942"/>
              <a:ext cx="1698348" cy="1307733"/>
            </a:xfrm>
            <a:prstGeom prst="round1Rect">
              <a:avLst>
                <a:gd name="adj" fmla="val 23391"/>
              </a:avLst>
            </a:prstGeom>
            <a:solidFill>
              <a:srgbClr val="85A4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kumimoji="1" lang="ko-KR" altLang="en-US" sz="2000" b="1" dirty="0"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간병인</a:t>
              </a:r>
              <a:endParaRPr kumimoji="1" lang="en-US" altLang="ko-KR" sz="2000" b="1" dirty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  <a:p>
              <a:pPr lvl="0" algn="ctr">
                <a:defRPr/>
              </a:pPr>
              <a:r>
                <a:rPr kumimoji="1" lang="ko-KR" altLang="en-US" sz="2000" b="1" dirty="0">
                  <a:solidFill>
                    <a:prstClr val="white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사용일당</a:t>
              </a:r>
            </a:p>
          </p:txBody>
        </p:sp>
        <p:sp>
          <p:nvSpPr>
            <p:cNvPr id="46" name="한쪽 모서리가 둥근 사각형 54">
              <a:extLst>
                <a:ext uri="{FF2B5EF4-FFF2-40B4-BE49-F238E27FC236}">
                  <a16:creationId xmlns:a16="http://schemas.microsoft.com/office/drawing/2014/main" id="{6E19128B-1F5E-01DC-222A-F3BEF40A1D79}"/>
                </a:ext>
              </a:extLst>
            </p:cNvPr>
            <p:cNvSpPr/>
            <p:nvPr/>
          </p:nvSpPr>
          <p:spPr>
            <a:xfrm flipH="1">
              <a:off x="3325221" y="4073138"/>
              <a:ext cx="6660964" cy="1307733"/>
            </a:xfrm>
            <a:prstGeom prst="round1Rect">
              <a:avLst>
                <a:gd name="adj" fmla="val 23391"/>
              </a:avLst>
            </a:prstGeom>
            <a:solidFill>
              <a:srgbClr val="EAF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rtlCol="0" anchor="ctr"/>
            <a:lstStyle/>
            <a:p>
              <a:pPr marL="177800" lvl="0" indent="-177800">
                <a:spcBef>
                  <a:spcPts val="200"/>
                </a:spcBef>
                <a:buFont typeface="Arial" panose="020B0604020202020204" pitchFamily="34" charset="0"/>
                <a:buChar char="•"/>
                <a:tabLst>
                  <a:tab pos="130175" algn="l"/>
                </a:tabLst>
                <a:defRPr/>
              </a:pP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흥국화재 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– 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든든한 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3N5 </a:t>
              </a:r>
              <a:r>
                <a:rPr lang="ko-KR" altLang="en-US" sz="1600" b="1" dirty="0" err="1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초경증</a:t>
              </a:r>
              <a:endParaRPr lang="en-US" altLang="ko-KR" sz="1600" b="1" dirty="0">
                <a:solidFill>
                  <a:srgbClr val="01326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  <a:p>
              <a:pPr marL="177800" lvl="0" indent="-177800">
                <a:spcBef>
                  <a:spcPts val="200"/>
                </a:spcBef>
                <a:buFont typeface="Arial" panose="020B0604020202020204" pitchFamily="34" charset="0"/>
                <a:buChar char="•"/>
                <a:tabLst>
                  <a:tab pos="130175" algn="l"/>
                </a:tabLst>
                <a:defRPr/>
              </a:pP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현대해상 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– 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간편한 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3.10.10</a:t>
              </a:r>
            </a:p>
            <a:p>
              <a:pPr marL="177800" lvl="0" indent="-177800">
                <a:spcBef>
                  <a:spcPts val="200"/>
                </a:spcBef>
                <a:buFont typeface="Arial" panose="020B0604020202020204" pitchFamily="34" charset="0"/>
                <a:buChar char="•"/>
                <a:tabLst>
                  <a:tab pos="130175" algn="l"/>
                </a:tabLst>
                <a:defRPr/>
              </a:pP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DB</a:t>
              </a:r>
              <a:r>
                <a:rPr lang="ko-KR" altLang="en-US" sz="1600" b="1" dirty="0" err="1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손보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 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– 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나에게 맞춘 </a:t>
              </a:r>
              <a:r>
                <a:rPr lang="ko-KR" altLang="en-US" sz="1600" b="1" dirty="0" err="1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초경증</a:t>
              </a:r>
              <a:r>
                <a:rPr lang="ko-KR" altLang="en-US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 </a:t>
              </a:r>
              <a:r>
                <a:rPr lang="en-US" altLang="ko-KR" sz="1600" b="1" dirty="0">
                  <a:solidFill>
                    <a:srgbClr val="01326E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3.8.5</a:t>
              </a:r>
            </a:p>
          </p:txBody>
        </p:sp>
      </p:grpSp>
      <p:pic>
        <p:nvPicPr>
          <p:cNvPr id="47" name="그림 46" descr="원, 그래픽, 디자인, 예술이(가) 표시된 사진&#10;&#10;자동 생성된 설명">
            <a:extLst>
              <a:ext uri="{FF2B5EF4-FFF2-40B4-BE49-F238E27FC236}">
                <a16:creationId xmlns:a16="http://schemas.microsoft.com/office/drawing/2014/main" id="{6788B899-5F2A-9DA2-0F7B-420DC64F2BC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duotone>
              <a:prstClr val="black"/>
              <a:srgbClr val="85A4D8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0759" y="4347627"/>
            <a:ext cx="580852" cy="69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408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959E1-4A9A-71AF-E83F-D9D17505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B6D04B5-B1FE-8F7E-45B4-ABB1D845E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695002"/>
              </p:ext>
            </p:extLst>
          </p:nvPr>
        </p:nvGraphicFramePr>
        <p:xfrm>
          <a:off x="701674" y="1079501"/>
          <a:ext cx="9288466" cy="5692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467">
                  <a:extLst>
                    <a:ext uri="{9D8B030D-6E8A-4147-A177-3AD203B41FA5}">
                      <a16:colId xmlns:a16="http://schemas.microsoft.com/office/drawing/2014/main" val="44608511"/>
                    </a:ext>
                  </a:extLst>
                </a:gridCol>
                <a:gridCol w="822467">
                  <a:extLst>
                    <a:ext uri="{9D8B030D-6E8A-4147-A177-3AD203B41FA5}">
                      <a16:colId xmlns:a16="http://schemas.microsoft.com/office/drawing/2014/main" val="4238362464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3129994776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2484543178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4103007133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4125922931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5786400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2800868476"/>
                    </a:ext>
                  </a:extLst>
                </a:gridCol>
              </a:tblGrid>
              <a:tr h="15187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구분</a:t>
                      </a:r>
                      <a:endParaRPr lang="ko-KR" altLang="en-US" sz="15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KB</a:t>
                      </a:r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손해보험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7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삼성화재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7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하나손해보험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7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281874"/>
                  </a:ext>
                </a:extLst>
              </a:tr>
              <a:tr h="13206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상품명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5.10.10 Young 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플러스 건강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New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내돈내삼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더퍼스트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5.10.5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950163"/>
                  </a:ext>
                </a:extLst>
              </a:tr>
              <a:tr h="132067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1-5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종</a:t>
                      </a:r>
                      <a:endParaRPr lang="en-US" altLang="ko-KR" sz="14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/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최대</a:t>
                      </a:r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  <a:endParaRPr lang="ko-KR" altLang="en-US" sz="14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30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490452"/>
                  </a:ext>
                </a:extLst>
              </a:tr>
              <a:tr h="1320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50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545920"/>
                  </a:ext>
                </a:extLst>
              </a:tr>
              <a:tr h="1320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400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918032"/>
                  </a:ext>
                </a:extLst>
              </a:tr>
              <a:tr h="1320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4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500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1,000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68827"/>
                  </a:ext>
                </a:extLst>
              </a:tr>
              <a:tr h="1320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1,000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2,000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1,000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00693"/>
                  </a:ext>
                </a:extLst>
              </a:tr>
              <a:tr h="132067">
                <a:tc rowSpan="7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N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대 수술비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최대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116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대 질병</a:t>
                      </a:r>
                      <a:endParaRPr lang="en-US" altLang="ko-KR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111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대 질병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136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대 질병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270693"/>
                  </a:ext>
                </a:extLst>
              </a:tr>
              <a:tr h="132067"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15</a:t>
                      </a:r>
                      <a:r>
                        <a:rPr lang="ko-KR" altLang="en-US" sz="1400" b="1" i="0" dirty="0" err="1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대질병</a:t>
                      </a:r>
                      <a:endParaRPr lang="en-US" altLang="ko-KR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2,000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  <a:endParaRPr lang="en-US" altLang="ko-KR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대기관 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관혈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5,000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17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대질병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1,000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084949"/>
                  </a:ext>
                </a:extLst>
              </a:tr>
              <a:tr h="132067"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23</a:t>
                      </a:r>
                      <a:r>
                        <a:rPr lang="ko-KR" altLang="en-US" sz="1400" b="1" i="0" dirty="0" err="1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대질병</a:t>
                      </a:r>
                      <a:endParaRPr lang="en-US" altLang="ko-KR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500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  <a:endParaRPr lang="en-US" altLang="ko-KR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</a:t>
                      </a:r>
                      <a:r>
                        <a:rPr lang="ko-KR" altLang="en-US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대기관 </a:t>
                      </a:r>
                      <a:r>
                        <a:rPr lang="ko-KR" altLang="en-US" sz="12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비관혈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2,500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14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대질병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118184"/>
                  </a:ext>
                </a:extLst>
              </a:tr>
              <a:tr h="132067"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22</a:t>
                      </a:r>
                      <a:r>
                        <a:rPr lang="ko-KR" altLang="en-US" sz="1400" b="1" i="0" dirty="0" err="1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대질병</a:t>
                      </a:r>
                      <a:endParaRPr lang="en-US" altLang="ko-KR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  <a:endParaRPr lang="en-US" altLang="ko-KR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22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대질병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26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대질병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638290"/>
                  </a:ext>
                </a:extLst>
              </a:tr>
              <a:tr h="132067"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49</a:t>
                      </a:r>
                      <a:r>
                        <a:rPr lang="ko-KR" altLang="en-US" sz="1400" b="1" i="0" dirty="0" err="1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대질병</a:t>
                      </a:r>
                      <a:endParaRPr lang="en-US" altLang="ko-KR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  <a:endParaRPr lang="en-US" altLang="ko-KR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대질병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40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대질병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2540"/>
                  </a:ext>
                </a:extLst>
              </a:tr>
              <a:tr h="132067"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백내장</a:t>
                      </a:r>
                      <a:endParaRPr lang="en-US" altLang="ko-KR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50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  <a:endParaRPr lang="en-US" altLang="ko-KR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19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대질병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38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대질병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051471"/>
                  </a:ext>
                </a:extLst>
              </a:tr>
              <a:tr h="132067"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6</a:t>
                      </a:r>
                      <a:r>
                        <a:rPr lang="ko-KR" altLang="en-US" sz="1400" b="1" i="0" dirty="0" err="1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대질병</a:t>
                      </a:r>
                      <a:endParaRPr lang="en-US" altLang="ko-KR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40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  <a:endParaRPr lang="en-US" altLang="ko-KR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62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대질병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치핵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719586"/>
                  </a:ext>
                </a:extLst>
              </a:tr>
              <a:tr h="132067"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40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 기준</a:t>
                      </a:r>
                      <a:endParaRPr lang="en-US" altLang="ko-KR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년납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100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세만기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남성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i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502999"/>
                  </a:ext>
                </a:extLst>
              </a:tr>
              <a:tr h="132067"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45,989</a:t>
                      </a:r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50,243</a:t>
                      </a:r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80,748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66,819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55,013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56,169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208005"/>
                  </a:ext>
                </a:extLst>
              </a:tr>
              <a:tr h="17154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주요 특징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최소 보험료로 충분한 보장을</a:t>
                      </a:r>
                      <a:endParaRPr lang="en-US" altLang="ko-KR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가져갈 수 있는 가성비 플랜</a:t>
                      </a:r>
                      <a:endParaRPr lang="en-US" altLang="ko-KR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최대 보장금액을 가져갈 수 있는</a:t>
                      </a:r>
                      <a:endParaRPr lang="en-US" altLang="ko-KR" sz="14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든든한 보장 플랜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4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종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3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종 최대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400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  <a:endParaRPr lang="en-US" altLang="ko-KR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경증부터 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중등증질환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보장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Best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870843"/>
                  </a:ext>
                </a:extLst>
              </a:tr>
            </a:tbl>
          </a:graphicData>
        </a:graphic>
      </p:graphicFrame>
      <p:sp>
        <p:nvSpPr>
          <p:cNvPr id="3" name="부제목 2">
            <a:extLst>
              <a:ext uri="{FF2B5EF4-FFF2-40B4-BE49-F238E27FC236}">
                <a16:creationId xmlns:a16="http://schemas.microsoft.com/office/drawing/2014/main" id="{A4671564-8F9F-BF30-D3DE-E0FCC06500D2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타사 비교표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_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KB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손해보험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– 5.10.10 Young 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플러스건강</a:t>
            </a:r>
          </a:p>
        </p:txBody>
      </p:sp>
      <p:pic>
        <p:nvPicPr>
          <p:cNvPr id="7" name="그림 6" descr="그래픽, 원, 로고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670F66C-3E0B-5972-0FEC-37ACC2EB373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697" y="848886"/>
            <a:ext cx="624488" cy="89081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15168E-9D5A-033E-FFF9-0802B1D6A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9A6C7FB1-8BA8-B6B7-6A36-84C1F3C03BCB}"/>
              </a:ext>
            </a:extLst>
          </p:cNvPr>
          <p:cNvSpPr txBox="1">
            <a:spLocks/>
          </p:cNvSpPr>
          <p:nvPr/>
        </p:nvSpPr>
        <p:spPr>
          <a:xfrm>
            <a:off x="8745960" y="177539"/>
            <a:ext cx="1762218" cy="433342"/>
          </a:xfrm>
          <a:prstGeom prst="rect">
            <a:avLst/>
          </a:prstGeom>
          <a:noFill/>
        </p:spPr>
        <p:txBody>
          <a:bodyPr vert="horz" lIns="0" tIns="0" rIns="0" bIns="0" rtlCol="0" anchor="ctr">
            <a:normAutofit fontScale="85000" lnSpcReduction="20000"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2400" b="1" spc="-100" dirty="0">
                <a:solidFill>
                  <a:srgbClr val="062765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1~5</a:t>
            </a:r>
            <a:r>
              <a:rPr lang="ko-KR" altLang="en-US" sz="2400" b="1" spc="-100" dirty="0">
                <a:solidFill>
                  <a:srgbClr val="062765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종 </a:t>
            </a:r>
            <a:r>
              <a:rPr lang="en-US" altLang="ko-KR" sz="2400" b="1" spc="-100" dirty="0">
                <a:solidFill>
                  <a:srgbClr val="062765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+ N</a:t>
            </a:r>
            <a:r>
              <a:rPr lang="ko-KR" altLang="en-US" sz="2400" b="1" spc="-100" dirty="0">
                <a:solidFill>
                  <a:srgbClr val="062765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대수술</a:t>
            </a:r>
          </a:p>
        </p:txBody>
      </p:sp>
    </p:spTree>
    <p:extLst>
      <p:ext uri="{BB962C8B-B14F-4D97-AF65-F5344CB8AC3E}">
        <p14:creationId xmlns:p14="http://schemas.microsoft.com/office/powerpoint/2010/main" val="2590160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6F67D-B142-E5B3-2ACA-577ABF60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2">
            <a:extLst>
              <a:ext uri="{FF2B5EF4-FFF2-40B4-BE49-F238E27FC236}">
                <a16:creationId xmlns:a16="http://schemas.microsoft.com/office/drawing/2014/main" id="{A9FBAC97-A7A1-7041-BC5A-6E211EEAC2BB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선정 이유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_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KB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손해보험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– 5.10.10 Young 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플러스건강</a:t>
            </a:r>
            <a:endParaRPr lang="en" altLang="ko-KR" sz="2400" b="1" spc="-150" dirty="0">
              <a:solidFill>
                <a:schemeClr val="bg1"/>
              </a:solidFill>
              <a:latin typeface="NanumSquareOTF ExtraBold" panose="020B0600000101010101" pitchFamily="34" charset="-127"/>
              <a:ea typeface="NanumSquareOTF ExtraBold" panose="020B0600000101010101" pitchFamily="34" charset="-127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D6765F30-3EB4-A9F2-2014-52852B86ACE4}"/>
              </a:ext>
            </a:extLst>
          </p:cNvPr>
          <p:cNvSpPr/>
          <p:nvPr/>
        </p:nvSpPr>
        <p:spPr>
          <a:xfrm>
            <a:off x="701676" y="1087814"/>
            <a:ext cx="1251816" cy="1613823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상품 특징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EAED3FC6-EAF7-653D-A54E-31BF8A9874D4}"/>
              </a:ext>
            </a:extLst>
          </p:cNvPr>
          <p:cNvSpPr/>
          <p:nvPr/>
        </p:nvSpPr>
        <p:spPr>
          <a:xfrm>
            <a:off x="1953491" y="1087813"/>
            <a:ext cx="8036645" cy="1613823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가입 연령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– 5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세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- 40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세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간편상품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90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세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가입한도 상이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)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D10109FC-8774-5759-7465-CF411C774E1F}"/>
              </a:ext>
            </a:extLst>
          </p:cNvPr>
          <p:cNvSpPr/>
          <p:nvPr/>
        </p:nvSpPr>
        <p:spPr>
          <a:xfrm>
            <a:off x="701675" y="2984057"/>
            <a:ext cx="1251816" cy="1205769"/>
          </a:xfrm>
          <a:prstGeom prst="roundRect">
            <a:avLst>
              <a:gd name="adj" fmla="val 12683"/>
            </a:avLst>
          </a:prstGeom>
          <a:solidFill>
            <a:srgbClr val="598F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선정 이유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85221162-E90E-AAB4-10FA-82C09BD650B5}"/>
              </a:ext>
            </a:extLst>
          </p:cNvPr>
          <p:cNvSpPr/>
          <p:nvPr/>
        </p:nvSpPr>
        <p:spPr>
          <a:xfrm>
            <a:off x="1953490" y="2984056"/>
            <a:ext cx="8036645" cy="1205769"/>
          </a:xfrm>
          <a:prstGeom prst="roundRect">
            <a:avLst>
              <a:gd name="adj" fmla="val 7686"/>
            </a:avLst>
          </a:prstGeom>
          <a:solidFill>
            <a:srgbClr val="FFFB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1~4</a:t>
            </a: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세대 실손 </a:t>
            </a:r>
            <a:r>
              <a:rPr lang="ko-KR" altLang="en-US" sz="1600" b="1" dirty="0" err="1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전환시</a:t>
            </a: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절감되는 보험료로 보장의 공백을 준비할 수 있는</a:t>
            </a:r>
            <a:br>
              <a:rPr lang="en-US" altLang="ko-KR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</a:b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가장 우선시 되는 담보 </a:t>
            </a:r>
            <a:r>
              <a:rPr lang="en-US" altLang="ko-KR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‘</a:t>
            </a: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수술비</a:t>
            </a:r>
            <a:r>
              <a:rPr lang="en-US" altLang="ko-KR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‘</a:t>
            </a: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를 가성비 있게 준비 할 수 있는 상품</a:t>
            </a:r>
            <a:endParaRPr lang="en-US" altLang="ko-KR" sz="1600" b="1" dirty="0">
              <a:solidFill>
                <a:srgbClr val="FF00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E098DA5-7587-1687-45B7-6470B0208C80}"/>
              </a:ext>
            </a:extLst>
          </p:cNvPr>
          <p:cNvSpPr/>
          <p:nvPr/>
        </p:nvSpPr>
        <p:spPr>
          <a:xfrm>
            <a:off x="701674" y="4472248"/>
            <a:ext cx="1251816" cy="2369127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세일즈</a:t>
            </a:r>
            <a:endParaRPr lang="en-US" altLang="ko-KR" sz="17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포인트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2A44C690-9712-B4E8-DD9E-A69922DDF7AB}"/>
              </a:ext>
            </a:extLst>
          </p:cNvPr>
          <p:cNvSpPr/>
          <p:nvPr/>
        </p:nvSpPr>
        <p:spPr>
          <a:xfrm>
            <a:off x="1953489" y="4472247"/>
            <a:ext cx="8036645" cy="2369127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계속해서 증가하는 로봇수술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비급여수술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 </a:t>
            </a:r>
            <a:r>
              <a:rPr lang="ko-KR" altLang="en-US" sz="1600" dirty="0" err="1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비중증질환은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실손에서는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50% 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보상 가능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</a:t>
            </a:r>
            <a:b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</a:b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환자가 느끼는 고통은 적고 일상생활 복귀도 압도적으로 빨리 할 수 있는 장점을 가진</a:t>
            </a:r>
            <a:b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</a:b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로봇수술과 비급여수술을 금전적인 사유로 하지 못하는 일이 발생하지 않도록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돕는 상품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!</a:t>
            </a:r>
          </a:p>
        </p:txBody>
      </p:sp>
      <p:pic>
        <p:nvPicPr>
          <p:cNvPr id="17" name="그림 16" descr="그래픽, 다채로움, 스크린샷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3992822-40ED-C292-B333-488B6B1B4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586" y="3205941"/>
            <a:ext cx="762000" cy="76200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1E14342-F823-2E73-ACAF-912B34B24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4ADD87E9-0739-E775-8B29-9B583BB25515}"/>
              </a:ext>
            </a:extLst>
          </p:cNvPr>
          <p:cNvSpPr txBox="1">
            <a:spLocks/>
          </p:cNvSpPr>
          <p:nvPr/>
        </p:nvSpPr>
        <p:spPr>
          <a:xfrm>
            <a:off x="8745960" y="177539"/>
            <a:ext cx="1762218" cy="433342"/>
          </a:xfrm>
          <a:prstGeom prst="rect">
            <a:avLst/>
          </a:prstGeom>
          <a:noFill/>
        </p:spPr>
        <p:txBody>
          <a:bodyPr vert="horz" lIns="0" tIns="0" rIns="0" bIns="0" rtlCol="0" anchor="ctr">
            <a:normAutofit fontScale="85000" lnSpcReduction="20000"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2400" b="1" spc="-100" dirty="0">
                <a:solidFill>
                  <a:srgbClr val="062765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1~5</a:t>
            </a:r>
            <a:r>
              <a:rPr lang="ko-KR" altLang="en-US" sz="2400" b="1" spc="-100" dirty="0">
                <a:solidFill>
                  <a:srgbClr val="062765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종 </a:t>
            </a:r>
            <a:r>
              <a:rPr lang="en-US" altLang="ko-KR" sz="2400" b="1" spc="-100" dirty="0">
                <a:solidFill>
                  <a:srgbClr val="062765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+ N</a:t>
            </a:r>
            <a:r>
              <a:rPr lang="ko-KR" altLang="en-US" sz="2400" b="1" spc="-100" dirty="0">
                <a:solidFill>
                  <a:srgbClr val="062765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대수술</a:t>
            </a:r>
          </a:p>
        </p:txBody>
      </p:sp>
    </p:spTree>
    <p:extLst>
      <p:ext uri="{BB962C8B-B14F-4D97-AF65-F5344CB8AC3E}">
        <p14:creationId xmlns:p14="http://schemas.microsoft.com/office/powerpoint/2010/main" val="3220505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15D02-4ECA-CB86-EBEF-AD007D504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E557C335-636A-107C-BC5B-52691FF33684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타사 비교표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_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삼성화재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– New 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내돈내삼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CDC56E-8DCB-E5BF-7C45-733602E35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B8DF9F3-DD2C-906D-7421-A1DE63BE9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717505"/>
              </p:ext>
            </p:extLst>
          </p:nvPr>
        </p:nvGraphicFramePr>
        <p:xfrm>
          <a:off x="701674" y="1079501"/>
          <a:ext cx="9288466" cy="616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467">
                  <a:extLst>
                    <a:ext uri="{9D8B030D-6E8A-4147-A177-3AD203B41FA5}">
                      <a16:colId xmlns:a16="http://schemas.microsoft.com/office/drawing/2014/main" val="44608511"/>
                    </a:ext>
                  </a:extLst>
                </a:gridCol>
                <a:gridCol w="822467">
                  <a:extLst>
                    <a:ext uri="{9D8B030D-6E8A-4147-A177-3AD203B41FA5}">
                      <a16:colId xmlns:a16="http://schemas.microsoft.com/office/drawing/2014/main" val="3323166291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3129994776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2484543178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4103007133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4125922931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5786400"/>
                    </a:ext>
                  </a:extLst>
                </a:gridCol>
                <a:gridCol w="1273922">
                  <a:extLst>
                    <a:ext uri="{9D8B030D-6E8A-4147-A177-3AD203B41FA5}">
                      <a16:colId xmlns:a16="http://schemas.microsoft.com/office/drawing/2014/main" val="2800868476"/>
                    </a:ext>
                  </a:extLst>
                </a:gridCol>
              </a:tblGrid>
              <a:tr h="45403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구분</a:t>
                      </a:r>
                      <a:endParaRPr lang="ko-KR" altLang="en-US" sz="15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삼성화재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7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KB</a:t>
                      </a:r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손해보험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7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메리츠화재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7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281874"/>
                  </a:ext>
                </a:extLst>
              </a:tr>
              <a:tr h="39480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상품명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New 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내돈내삼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5.10.10 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플러스 건강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또걸료도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또받는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암보험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950163"/>
                  </a:ext>
                </a:extLst>
              </a:tr>
              <a:tr h="39480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보장횟수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수술 회당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, 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이외 연 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수술 회당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, 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이외 연 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회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수술 회당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, 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이외 연 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회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359856"/>
                  </a:ext>
                </a:extLst>
              </a:tr>
              <a:tr h="39480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수술</a:t>
                      </a:r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일반</a:t>
                      </a:r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기갑</a:t>
                      </a:r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  <a:endParaRPr lang="ko-KR" altLang="en-US" sz="14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1,000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 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/ 1,000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1,000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 </a:t>
                      </a:r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 200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1,000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 200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490452"/>
                  </a:ext>
                </a:extLst>
              </a:tr>
              <a:tr h="39480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약물</a:t>
                      </a:r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일반</a:t>
                      </a:r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기갑</a:t>
                      </a:r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  <a:endParaRPr lang="ko-KR" altLang="en-US" sz="14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1,000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 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/ 1,000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1,000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 </a:t>
                      </a:r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 200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1,000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 200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545920"/>
                  </a:ext>
                </a:extLst>
              </a:tr>
              <a:tr h="39480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방사선</a:t>
                      </a:r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일반</a:t>
                      </a:r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기갑</a:t>
                      </a:r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7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1,000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 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/ 1,000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1,000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 </a:t>
                      </a:r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 200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1,000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 200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68827"/>
                  </a:ext>
                </a:extLst>
              </a:tr>
              <a:tr h="39480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다빈치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7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7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일반암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07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1,000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1,000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1,000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00693"/>
                  </a:ext>
                </a:extLst>
              </a:tr>
              <a:tr h="39480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갑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07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500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270693"/>
                  </a:ext>
                </a:extLst>
              </a:tr>
              <a:tr h="39480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표적항암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일반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기갑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3,000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 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/ 3,000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3,000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 600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3,000</a:t>
                      </a:r>
                      <a:r>
                        <a:rPr lang="ko-KR" altLang="en-US" sz="1400" b="0" i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 </a:t>
                      </a:r>
                      <a:r>
                        <a:rPr lang="en-US" altLang="ko-KR" sz="1400" b="0" i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 3,000</a:t>
                      </a:r>
                      <a:r>
                        <a:rPr lang="ko-KR" altLang="en-US" sz="1400" b="0" i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026642"/>
                  </a:ext>
                </a:extLst>
              </a:tr>
              <a:tr h="39480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면역항암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일반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기갑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3,000</a:t>
                      </a:r>
                      <a:r>
                        <a:rPr kumimoji="0" lang="ko-KR" alt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만 </a:t>
                      </a:r>
                      <a:r>
                        <a:rPr kumimoji="0" lang="en-US" altLang="ko-K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/ 3,000</a:t>
                      </a:r>
                      <a:r>
                        <a:rPr kumimoji="0" lang="ko-KR" alt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만</a:t>
                      </a:r>
                      <a:endParaRPr kumimoji="0" lang="ko-KR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3,000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만 </a:t>
                      </a: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/ 600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만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3,000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만 </a:t>
                      </a: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/ 3,000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만</a:t>
                      </a:r>
                      <a:endParaRPr lang="ko-KR" altLang="en-US" sz="1400" b="0" i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244290"/>
                  </a:ext>
                </a:extLst>
              </a:tr>
              <a:tr h="39480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양성자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일반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기갑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3,000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만 </a:t>
                      </a: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/ 3,000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3,000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만 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/ 600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3,000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만 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/ 3,000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만</a:t>
                      </a:r>
                      <a:endParaRPr lang="ko-KR" altLang="en-US" sz="1400" b="0" i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048501"/>
                  </a:ext>
                </a:extLst>
              </a:tr>
              <a:tr h="394809"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년납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100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세만기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40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세 남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4B6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40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세 여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40</a:t>
                      </a:r>
                      <a:r>
                        <a:rPr lang="ko-KR" altLang="en-US" sz="1400" b="0" i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 남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40</a:t>
                      </a:r>
                      <a:r>
                        <a:rPr lang="ko-KR" altLang="en-US" sz="1400" b="0" i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 여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40</a:t>
                      </a:r>
                      <a:r>
                        <a:rPr lang="ko-KR" altLang="en-US" sz="1400" b="0" i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 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40</a:t>
                      </a:r>
                      <a:r>
                        <a:rPr lang="ko-KR" altLang="en-US" sz="1400" b="0" i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 여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502999"/>
                  </a:ext>
                </a:extLst>
              </a:tr>
              <a:tr h="394809"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25,647</a:t>
                      </a:r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18,022</a:t>
                      </a:r>
                      <a:endParaRPr lang="ko-KR" altLang="en-US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20,395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12,672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22,840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16,950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208005"/>
                  </a:ext>
                </a:extLst>
              </a:tr>
              <a:tr h="6153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주요 특징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수술 회당지급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, 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기갑 동일보장</a:t>
                      </a:r>
                      <a:endParaRPr lang="en-US" altLang="ko-KR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갑상선</a:t>
                      </a:r>
                      <a:r>
                        <a:rPr lang="en-US" altLang="ko-KR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/</a:t>
                      </a:r>
                      <a:r>
                        <a:rPr lang="ko-KR" altLang="en-US" sz="14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전립선 다빈치수술↑</a:t>
                      </a:r>
                      <a:endParaRPr lang="en-US" altLang="ko-KR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4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400" b="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암담보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가성비 </a:t>
                      </a:r>
                      <a:r>
                        <a:rPr lang="en-US" altLang="ko-KR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TOP </a:t>
                      </a:r>
                      <a:r>
                        <a:rPr lang="ko-KR" altLang="en-US" sz="1400" b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상품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4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암진단치료비 등 가성비 담보와 함께 가입하기 좋은 상품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870843"/>
                  </a:ext>
                </a:extLst>
              </a:tr>
            </a:tbl>
          </a:graphicData>
        </a:graphic>
      </p:graphicFrame>
      <p:pic>
        <p:nvPicPr>
          <p:cNvPr id="7" name="그림 6" descr="그래픽, 원, 로고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4F4C6BA-86E4-C3E7-B819-7C14E9DCDF9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697" y="848886"/>
            <a:ext cx="624488" cy="890814"/>
          </a:xfrm>
          <a:prstGeom prst="rect">
            <a:avLst/>
          </a:prstGeom>
        </p:spPr>
      </p:pic>
      <p:sp>
        <p:nvSpPr>
          <p:cNvPr id="5" name="부제목 2">
            <a:extLst>
              <a:ext uri="{FF2B5EF4-FFF2-40B4-BE49-F238E27FC236}">
                <a16:creationId xmlns:a16="http://schemas.microsoft.com/office/drawing/2014/main" id="{17736890-9777-D0D2-27A2-26433BE5B218}"/>
              </a:ext>
            </a:extLst>
          </p:cNvPr>
          <p:cNvSpPr txBox="1">
            <a:spLocks/>
          </p:cNvSpPr>
          <p:nvPr/>
        </p:nvSpPr>
        <p:spPr>
          <a:xfrm>
            <a:off x="8745960" y="177539"/>
            <a:ext cx="1762218" cy="433342"/>
          </a:xfrm>
          <a:prstGeom prst="rect">
            <a:avLst/>
          </a:prstGeom>
          <a:noFill/>
        </p:spPr>
        <p:txBody>
          <a:bodyPr vert="horz" lIns="0" tIns="0" rIns="0" bIns="0" rtlCol="0" anchor="ctr">
            <a:normAutofit fontScale="85000" lnSpcReduction="20000"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2400" b="1" spc="-100" dirty="0">
                <a:solidFill>
                  <a:srgbClr val="062765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비급여 암 통합치료</a:t>
            </a:r>
          </a:p>
        </p:txBody>
      </p:sp>
    </p:spTree>
    <p:extLst>
      <p:ext uri="{BB962C8B-B14F-4D97-AF65-F5344CB8AC3E}">
        <p14:creationId xmlns:p14="http://schemas.microsoft.com/office/powerpoint/2010/main" val="1006235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36F4B-C7D0-BE72-6858-6D7EBC826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2">
            <a:extLst>
              <a:ext uri="{FF2B5EF4-FFF2-40B4-BE49-F238E27FC236}">
                <a16:creationId xmlns:a16="http://schemas.microsoft.com/office/drawing/2014/main" id="{690A9B18-0AC4-79DA-CFB3-6F6C6C19A0E3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선정 이유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_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삼성화재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– New 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내돈내삼</a:t>
            </a:r>
            <a:endParaRPr lang="en" altLang="ko-KR" sz="2400" b="1" spc="-150" dirty="0">
              <a:solidFill>
                <a:schemeClr val="bg1"/>
              </a:solidFill>
              <a:latin typeface="NanumSquareOTF ExtraBold" panose="020B0600000101010101" pitchFamily="34" charset="-127"/>
              <a:ea typeface="NanumSquareOTF ExtraBold" panose="020B0600000101010101" pitchFamily="34" charset="-127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3F7A983-E397-91BA-0940-499EB584FC41}"/>
              </a:ext>
            </a:extLst>
          </p:cNvPr>
          <p:cNvSpPr/>
          <p:nvPr/>
        </p:nvSpPr>
        <p:spPr>
          <a:xfrm>
            <a:off x="701676" y="1087814"/>
            <a:ext cx="1251816" cy="1613823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상품 특징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62051BD3-AFF2-8725-5B2D-E86FC6B93B63}"/>
              </a:ext>
            </a:extLst>
          </p:cNvPr>
          <p:cNvSpPr/>
          <p:nvPr/>
        </p:nvSpPr>
        <p:spPr>
          <a:xfrm>
            <a:off x="1953491" y="1087813"/>
            <a:ext cx="8036645" cy="1613823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가입 연령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– 16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세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- 70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세</a:t>
            </a:r>
            <a:endParaRPr lang="en-US" altLang="ko-KR" sz="1600" dirty="0">
              <a:solidFill>
                <a:schemeClr val="tx1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일반 </a:t>
            </a:r>
            <a:r>
              <a:rPr lang="ko-KR" altLang="en-US" sz="1600" dirty="0" err="1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납면요건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+ 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뇌혈관질환수술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, </a:t>
            </a:r>
            <a:r>
              <a:rPr lang="ko-KR" altLang="en-US" sz="1600" dirty="0" err="1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허혈성심장질환수술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 추가</a:t>
            </a:r>
            <a:endParaRPr lang="en-US" altLang="ko-KR" sz="1600" dirty="0">
              <a:solidFill>
                <a:schemeClr val="tx1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3B67E32D-88DB-17FE-C4CE-148452678D70}"/>
              </a:ext>
            </a:extLst>
          </p:cNvPr>
          <p:cNvSpPr/>
          <p:nvPr/>
        </p:nvSpPr>
        <p:spPr>
          <a:xfrm>
            <a:off x="701675" y="2984057"/>
            <a:ext cx="1251816" cy="1205769"/>
          </a:xfrm>
          <a:prstGeom prst="roundRect">
            <a:avLst>
              <a:gd name="adj" fmla="val 12683"/>
            </a:avLst>
          </a:prstGeom>
          <a:solidFill>
            <a:srgbClr val="598F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선정 이유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08D2927E-9477-8341-4472-117C25001C24}"/>
              </a:ext>
            </a:extLst>
          </p:cNvPr>
          <p:cNvSpPr/>
          <p:nvPr/>
        </p:nvSpPr>
        <p:spPr>
          <a:xfrm>
            <a:off x="1953490" y="2984056"/>
            <a:ext cx="8036645" cy="1205769"/>
          </a:xfrm>
          <a:prstGeom prst="roundRect">
            <a:avLst>
              <a:gd name="adj" fmla="val 7686"/>
            </a:avLst>
          </a:prstGeom>
          <a:solidFill>
            <a:srgbClr val="FFFB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타사와 달리 주요치료에서 기타피부암</a:t>
            </a:r>
            <a:r>
              <a:rPr lang="en-US" altLang="ko-KR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갑상선암도 동일 가입금액 보장</a:t>
            </a:r>
            <a:endParaRPr lang="en-US" altLang="ko-KR" sz="1600" b="1" dirty="0">
              <a:solidFill>
                <a:srgbClr val="FF00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182563" indent="-182563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전립선</a:t>
            </a:r>
            <a:r>
              <a:rPr lang="en-US" altLang="ko-KR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/</a:t>
            </a: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갑상선도 타사대비 </a:t>
            </a:r>
            <a:r>
              <a:rPr lang="en-US" altLang="ko-KR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</a:t>
            </a: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배 보장</a:t>
            </a:r>
            <a:endParaRPr lang="en-US" altLang="ko-KR" sz="1600" b="1" dirty="0">
              <a:solidFill>
                <a:srgbClr val="FF00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80463079-BF67-D232-9F79-537256B7244B}"/>
              </a:ext>
            </a:extLst>
          </p:cNvPr>
          <p:cNvSpPr/>
          <p:nvPr/>
        </p:nvSpPr>
        <p:spPr>
          <a:xfrm>
            <a:off x="701674" y="4472248"/>
            <a:ext cx="1251816" cy="2369127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세일즈</a:t>
            </a:r>
            <a:endParaRPr lang="en-US" altLang="ko-KR" sz="17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포인트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4E68A77B-EF14-0E0D-7B13-09A1D3340CEB}"/>
              </a:ext>
            </a:extLst>
          </p:cNvPr>
          <p:cNvSpPr/>
          <p:nvPr/>
        </p:nvSpPr>
        <p:spPr>
          <a:xfrm>
            <a:off x="1953489" y="4472247"/>
            <a:ext cx="8036645" cy="2369127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지금 볼 때는 대부분의 치료가 급여화 되어있다고 생각할 수 있지만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,</a:t>
            </a:r>
            <a:b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</a:b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만약 내가 걸렸을 때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치료제가 아직 비급여라면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돈 때문에 치료를 포기할 수 있을까요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?</a:t>
            </a:r>
            <a:b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</a:b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내가 돈이 없다면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가족들은 빚을 </a:t>
            </a:r>
            <a:r>
              <a:rPr lang="ko-KR" altLang="en-US" sz="1600" dirty="0" err="1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져서라도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 치료를 시키겠죠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</a:t>
            </a:r>
            <a:b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</a:b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그런 재난적 상황을 단 돈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2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만원 수준으로 준비를 할 수 있는 플랜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비급여 통합치료비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!</a:t>
            </a:r>
          </a:p>
        </p:txBody>
      </p:sp>
      <p:pic>
        <p:nvPicPr>
          <p:cNvPr id="17" name="그림 16" descr="그래픽, 다채로움, 스크린샷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CDDADAA-A38D-1AFF-0F06-CFF7535D8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586" y="3205941"/>
            <a:ext cx="762000" cy="76200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43B23E0-2E97-F5D5-2F55-C4EB862BE1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216EDB11-976B-DB1A-44E6-3DEB1217ED99}"/>
              </a:ext>
            </a:extLst>
          </p:cNvPr>
          <p:cNvSpPr txBox="1">
            <a:spLocks/>
          </p:cNvSpPr>
          <p:nvPr/>
        </p:nvSpPr>
        <p:spPr>
          <a:xfrm>
            <a:off x="8745960" y="177539"/>
            <a:ext cx="1762218" cy="433342"/>
          </a:xfrm>
          <a:prstGeom prst="rect">
            <a:avLst/>
          </a:prstGeom>
          <a:noFill/>
        </p:spPr>
        <p:txBody>
          <a:bodyPr vert="horz" lIns="0" tIns="0" rIns="0" bIns="0" rtlCol="0" anchor="ctr">
            <a:normAutofit fontScale="85000" lnSpcReduction="20000"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2400" b="1" spc="-100" dirty="0">
                <a:solidFill>
                  <a:srgbClr val="062765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비급여 암 통합치료</a:t>
            </a:r>
          </a:p>
        </p:txBody>
      </p:sp>
    </p:spTree>
    <p:extLst>
      <p:ext uri="{BB962C8B-B14F-4D97-AF65-F5344CB8AC3E}">
        <p14:creationId xmlns:p14="http://schemas.microsoft.com/office/powerpoint/2010/main" val="2904976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B4CBB-AF3F-00CA-77AB-C556B1B58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1">
            <a:extLst>
              <a:ext uri="{FF2B5EF4-FFF2-40B4-BE49-F238E27FC236}">
                <a16:creationId xmlns:a16="http://schemas.microsoft.com/office/drawing/2014/main" id="{FA1BBD7A-9619-43FE-9737-E61A8ACDC28E}"/>
              </a:ext>
            </a:extLst>
          </p:cNvPr>
          <p:cNvSpPr/>
          <p:nvPr/>
        </p:nvSpPr>
        <p:spPr>
          <a:xfrm>
            <a:off x="899726" y="1459014"/>
            <a:ext cx="8840705" cy="5415907"/>
          </a:xfrm>
          <a:prstGeom prst="roundRect">
            <a:avLst>
              <a:gd name="adj" fmla="val 2984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부제목 2">
            <a:extLst>
              <a:ext uri="{FF2B5EF4-FFF2-40B4-BE49-F238E27FC236}">
                <a16:creationId xmlns:a16="http://schemas.microsoft.com/office/drawing/2014/main" id="{D4A232C3-9141-6958-7095-39A0498BF8D5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타사 비교표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_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흥국화재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– 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든든한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3N5 </a:t>
            </a:r>
            <a:r>
              <a:rPr lang="ko-KR" altLang="en-US" sz="2400" b="1" spc="-150" dirty="0" err="1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초경증</a:t>
            </a:r>
            <a:endParaRPr lang="ko-KR" altLang="en-US" sz="2400" b="1" spc="-150" dirty="0">
              <a:solidFill>
                <a:schemeClr val="bg1"/>
              </a:solidFill>
              <a:latin typeface="NanumSquareOTF ExtraBold" panose="020B0600000101010101" pitchFamily="34" charset="-127"/>
              <a:ea typeface="NanumSquareOTF ExtraBold" panose="020B0600000101010101" pitchFamily="34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903C386-05C7-C1B4-045D-228A046FA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BBD5E1E-8B52-F130-D132-428DDAC2CB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169038"/>
              </p:ext>
            </p:extLst>
          </p:nvPr>
        </p:nvGraphicFramePr>
        <p:xfrm>
          <a:off x="528153" y="1093133"/>
          <a:ext cx="9635506" cy="5935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76">
                  <a:extLst>
                    <a:ext uri="{9D8B030D-6E8A-4147-A177-3AD203B41FA5}">
                      <a16:colId xmlns:a16="http://schemas.microsoft.com/office/drawing/2014/main" val="44608511"/>
                    </a:ext>
                  </a:extLst>
                </a:gridCol>
                <a:gridCol w="1175658">
                  <a:extLst>
                    <a:ext uri="{9D8B030D-6E8A-4147-A177-3AD203B41FA5}">
                      <a16:colId xmlns:a16="http://schemas.microsoft.com/office/drawing/2014/main" val="3458329664"/>
                    </a:ext>
                  </a:extLst>
                </a:gridCol>
                <a:gridCol w="1289962">
                  <a:extLst>
                    <a:ext uri="{9D8B030D-6E8A-4147-A177-3AD203B41FA5}">
                      <a16:colId xmlns:a16="http://schemas.microsoft.com/office/drawing/2014/main" val="3129994776"/>
                    </a:ext>
                  </a:extLst>
                </a:gridCol>
                <a:gridCol w="1289962">
                  <a:extLst>
                    <a:ext uri="{9D8B030D-6E8A-4147-A177-3AD203B41FA5}">
                      <a16:colId xmlns:a16="http://schemas.microsoft.com/office/drawing/2014/main" val="1995870215"/>
                    </a:ext>
                  </a:extLst>
                </a:gridCol>
                <a:gridCol w="1289962">
                  <a:extLst>
                    <a:ext uri="{9D8B030D-6E8A-4147-A177-3AD203B41FA5}">
                      <a16:colId xmlns:a16="http://schemas.microsoft.com/office/drawing/2014/main" val="4103007133"/>
                    </a:ext>
                  </a:extLst>
                </a:gridCol>
                <a:gridCol w="1289962">
                  <a:extLst>
                    <a:ext uri="{9D8B030D-6E8A-4147-A177-3AD203B41FA5}">
                      <a16:colId xmlns:a16="http://schemas.microsoft.com/office/drawing/2014/main" val="2056450981"/>
                    </a:ext>
                  </a:extLst>
                </a:gridCol>
                <a:gridCol w="1289962">
                  <a:extLst>
                    <a:ext uri="{9D8B030D-6E8A-4147-A177-3AD203B41FA5}">
                      <a16:colId xmlns:a16="http://schemas.microsoft.com/office/drawing/2014/main" val="5786400"/>
                    </a:ext>
                  </a:extLst>
                </a:gridCol>
                <a:gridCol w="1289962">
                  <a:extLst>
                    <a:ext uri="{9D8B030D-6E8A-4147-A177-3AD203B41FA5}">
                      <a16:colId xmlns:a16="http://schemas.microsoft.com/office/drawing/2014/main" val="2796676157"/>
                    </a:ext>
                  </a:extLst>
                </a:gridCol>
              </a:tblGrid>
              <a:tr h="2577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흥국화재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현대해상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DB</a:t>
                      </a:r>
                      <a:r>
                        <a:rPr lang="ko-KR" altLang="en-US" sz="17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손해보험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8BD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281874"/>
                  </a:ext>
                </a:extLst>
              </a:tr>
              <a:tr h="22411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상품명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든든한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3N5 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초경증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간편한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3.10.10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나에게 맞춘 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초경증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3.8.5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950163"/>
                  </a:ext>
                </a:extLst>
              </a:tr>
              <a:tr h="22411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최대 </a:t>
                      </a:r>
                      <a:r>
                        <a:rPr lang="ko-KR" altLang="en-US" sz="14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가입연령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75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90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80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461785"/>
                  </a:ext>
                </a:extLst>
              </a:tr>
              <a:tr h="40901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가입</a:t>
                      </a:r>
                      <a:endParaRPr lang="en-US" altLang="ko-KR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한도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요양병원 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15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  <a:endParaRPr lang="en-US" altLang="ko-KR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(2Q-Pass 20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질병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 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상해 </a:t>
                      </a: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15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787646"/>
                  </a:ext>
                </a:extLst>
              </a:tr>
              <a:tr h="2241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요양병원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6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734277"/>
                  </a:ext>
                </a:extLst>
              </a:tr>
              <a:tr h="2241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감액 기준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8</a:t>
                      </a:r>
                      <a:r>
                        <a:rPr lang="ko-KR" altLang="en-US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시간 미만 </a:t>
                      </a:r>
                      <a:r>
                        <a:rPr lang="ko-KR" altLang="en-US" sz="12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이용시</a:t>
                      </a:r>
                      <a:r>
                        <a:rPr lang="ko-KR" altLang="en-US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en-US" altLang="ko-KR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50%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6</a:t>
                      </a:r>
                      <a:r>
                        <a:rPr lang="ko-KR" altLang="en-US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시간 미만 </a:t>
                      </a:r>
                      <a:r>
                        <a:rPr lang="ko-KR" altLang="en-US" sz="12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이용시</a:t>
                      </a:r>
                      <a:r>
                        <a:rPr lang="ko-KR" altLang="en-US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en-US" altLang="ko-KR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50%</a:t>
                      </a:r>
                      <a:endParaRPr lang="en-US" altLang="ko-KR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8</a:t>
                      </a:r>
                      <a:r>
                        <a:rPr lang="ko-KR" altLang="en-US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시간 미만 </a:t>
                      </a:r>
                      <a:r>
                        <a:rPr lang="ko-KR" altLang="en-US" sz="12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이용시</a:t>
                      </a:r>
                      <a:r>
                        <a:rPr lang="ko-KR" altLang="en-US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en-US" altLang="ko-KR" sz="12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50%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917385"/>
                  </a:ext>
                </a:extLst>
              </a:tr>
              <a:tr h="224115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181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일</a:t>
                      </a:r>
                      <a:endParaRPr lang="en-US" altLang="ko-KR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이상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요양병원 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O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O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O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038712"/>
                  </a:ext>
                </a:extLst>
              </a:tr>
              <a:tr h="2241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요양병원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O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X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X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662859"/>
                  </a:ext>
                </a:extLst>
              </a:tr>
              <a:tr h="2241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kern="1200" dirty="0" err="1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간호간병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O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O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O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490452"/>
                  </a:ext>
                </a:extLst>
              </a:tr>
              <a:tr h="22411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가입</a:t>
                      </a:r>
                      <a:endParaRPr lang="en-US" altLang="ko-KR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한도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65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20/6/7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20/5/7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15/5/7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545920"/>
                  </a:ext>
                </a:extLst>
              </a:tr>
              <a:tr h="2241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70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022179"/>
                  </a:ext>
                </a:extLst>
              </a:tr>
              <a:tr h="2241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75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15/5/7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10/5/4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10/5/3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143234"/>
                  </a:ext>
                </a:extLst>
              </a:tr>
              <a:tr h="2241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80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15/3/7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634907"/>
                  </a:ext>
                </a:extLst>
              </a:tr>
              <a:tr h="22411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80</a:t>
                      </a: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세↑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98F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-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2/1/2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-</a:t>
                      </a: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565765"/>
                  </a:ext>
                </a:extLst>
              </a:tr>
              <a:tr h="289576">
                <a:tc rowSpan="2"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보험료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남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여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남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여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여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027961"/>
                  </a:ext>
                </a:extLst>
              </a:tr>
              <a:tr h="289576">
                <a:tc vMerge="1"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/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50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>
                        <a:spcBef>
                          <a:spcPts val="300"/>
                        </a:spcBef>
                      </a:pP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33,774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>
                        <a:spcBef>
                          <a:spcPts val="300"/>
                        </a:spcBef>
                      </a:pP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48,597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>
                        <a:spcBef>
                          <a:spcPts val="300"/>
                        </a:spcBef>
                      </a:pP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37,790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>
                        <a:spcBef>
                          <a:spcPts val="300"/>
                        </a:spcBef>
                      </a:pP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41,950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>
                        <a:spcBef>
                          <a:spcPts val="300"/>
                        </a:spcBef>
                      </a:pP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42,111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7943" rtl="0" eaLnBrk="1" latinLnBrk="1" hangingPunct="1">
                        <a:spcBef>
                          <a:spcPts val="300"/>
                        </a:spcBef>
                      </a:pP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  <a:cs typeface="+mn-cs"/>
                        </a:rPr>
                        <a:t>37,536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157520"/>
                  </a:ext>
                </a:extLst>
              </a:tr>
              <a:tr h="386599">
                <a:tc gridSpan="2"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주요 특징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3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간병인 상해질병 통합으로</a:t>
                      </a:r>
                      <a:endParaRPr lang="en-US" altLang="ko-KR" sz="13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보험료 경쟁력↑</a:t>
                      </a:r>
                      <a:endParaRPr lang="en-US" altLang="ko-KR" sz="13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요양병원 </a:t>
                      </a:r>
                      <a:r>
                        <a:rPr lang="en-US" altLang="ko-KR" sz="13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365</a:t>
                      </a:r>
                      <a:r>
                        <a:rPr lang="ko-KR" altLang="en-US" sz="13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일 보장</a:t>
                      </a:r>
                      <a:endParaRPr lang="en-US" altLang="ko-KR" sz="13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en-US" altLang="ko-KR" sz="13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2Q-PASS</a:t>
                      </a:r>
                      <a:r>
                        <a:rPr lang="en-US" altLang="ko-KR" sz="1300" baseline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</a:t>
                      </a:r>
                      <a:r>
                        <a:rPr lang="ko-KR" altLang="en-US" sz="1300" baseline="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적용시</a:t>
                      </a:r>
                      <a:endParaRPr lang="en-US" altLang="ko-KR" sz="1300" baseline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300" baseline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요양병원 외 </a:t>
                      </a:r>
                      <a:r>
                        <a:rPr lang="en-US" altLang="ko-KR" sz="1300" baseline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20</a:t>
                      </a:r>
                      <a:r>
                        <a:rPr lang="ko-KR" altLang="en-US" sz="1300" baseline="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만 </a:t>
                      </a:r>
                      <a:r>
                        <a:rPr lang="ko-KR" altLang="en-US" sz="1300" baseline="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가입가능</a:t>
                      </a:r>
                      <a:endParaRPr lang="en-US" altLang="ko-KR" sz="13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3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여성 </a:t>
                      </a:r>
                      <a:r>
                        <a:rPr lang="ko-KR" altLang="en-US" sz="13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간병비</a:t>
                      </a:r>
                      <a:r>
                        <a:rPr lang="ko-KR" altLang="en-US" sz="13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가성비↑</a:t>
                      </a:r>
                      <a:endParaRPr lang="en-US" altLang="ko-KR" sz="13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>
                        <a:spcBef>
                          <a:spcPts val="300"/>
                        </a:spcBef>
                      </a:pPr>
                      <a:r>
                        <a:rPr lang="ko-KR" altLang="en-US" sz="13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종합보험으로 가져가기에 적합</a:t>
                      </a:r>
                      <a:endParaRPr lang="en-US" altLang="ko-KR" sz="13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8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870843"/>
                  </a:ext>
                </a:extLst>
              </a:tr>
            </a:tbl>
          </a:graphicData>
        </a:graphic>
      </p:graphicFrame>
      <p:pic>
        <p:nvPicPr>
          <p:cNvPr id="14" name="그림 13" descr="그래픽, 원, 로고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AB524A5-371F-5E5F-D098-C3552994377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796" y="814085"/>
            <a:ext cx="624488" cy="89081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A1AA879-0BCB-4F03-E369-5D305C51D28A}"/>
              </a:ext>
            </a:extLst>
          </p:cNvPr>
          <p:cNvSpPr txBox="1"/>
          <p:nvPr/>
        </p:nvSpPr>
        <p:spPr>
          <a:xfrm>
            <a:off x="2679700" y="824523"/>
            <a:ext cx="7483959" cy="276999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r"/>
            <a:r>
              <a:rPr lang="en-US" altLang="ko-KR" sz="12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9</a:t>
            </a:r>
            <a:r>
              <a:rPr lang="ko-KR" altLang="en-US" sz="12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월 </a:t>
            </a:r>
            <a:r>
              <a:rPr lang="en-US" altLang="ko-KR" sz="12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25</a:t>
            </a:r>
            <a:r>
              <a:rPr lang="ko-KR" altLang="en-US" sz="12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일 기준 가입한도 및 보험료</a:t>
            </a:r>
            <a:r>
              <a:rPr lang="en-US" altLang="ko-KR" sz="12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2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가입한도는 요양병원 외</a:t>
            </a:r>
            <a:r>
              <a:rPr lang="en-US" altLang="ko-KR" sz="12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/</a:t>
            </a:r>
            <a:r>
              <a:rPr lang="ko-KR" altLang="en-US" sz="12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요양병원</a:t>
            </a:r>
            <a:r>
              <a:rPr lang="en-US" altLang="ko-KR" sz="12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/</a:t>
            </a:r>
            <a:r>
              <a:rPr lang="ko-KR" altLang="en-US" sz="12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간호간병통합</a:t>
            </a:r>
            <a:r>
              <a:rPr lang="en-US" altLang="ko-KR" sz="12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(</a:t>
            </a:r>
            <a:r>
              <a:rPr lang="ko-KR" altLang="en-US" sz="12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실손 가입자 기준</a:t>
            </a:r>
            <a:r>
              <a:rPr lang="en-US" altLang="ko-KR" sz="12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) </a:t>
            </a:r>
            <a:r>
              <a:rPr lang="ko-KR" altLang="en-US" sz="12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순서</a:t>
            </a:r>
          </a:p>
        </p:txBody>
      </p:sp>
      <p:sp>
        <p:nvSpPr>
          <p:cNvPr id="18" name="부제목 2">
            <a:extLst>
              <a:ext uri="{FF2B5EF4-FFF2-40B4-BE49-F238E27FC236}">
                <a16:creationId xmlns:a16="http://schemas.microsoft.com/office/drawing/2014/main" id="{7BD5394E-F373-5858-0BD2-E04CFB968646}"/>
              </a:ext>
            </a:extLst>
          </p:cNvPr>
          <p:cNvSpPr txBox="1">
            <a:spLocks/>
          </p:cNvSpPr>
          <p:nvPr/>
        </p:nvSpPr>
        <p:spPr>
          <a:xfrm>
            <a:off x="8745960" y="177539"/>
            <a:ext cx="1762218" cy="433342"/>
          </a:xfrm>
          <a:prstGeom prst="rect">
            <a:avLst/>
          </a:prstGeom>
          <a:noFill/>
        </p:spPr>
        <p:txBody>
          <a:bodyPr vert="horz" lIns="0" tIns="0" rIns="0" bIns="0" rtlCol="0" anchor="ctr">
            <a:normAutofit fontScale="85000" lnSpcReduction="20000"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2400" b="1" spc="-100" dirty="0">
                <a:solidFill>
                  <a:srgbClr val="062765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간병인 사용일당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C2733E-F67F-8F42-0391-57B787C87DD1}"/>
              </a:ext>
            </a:extLst>
          </p:cNvPr>
          <p:cNvSpPr txBox="1"/>
          <p:nvPr/>
        </p:nvSpPr>
        <p:spPr>
          <a:xfrm>
            <a:off x="8305801" y="7001337"/>
            <a:ext cx="1857858" cy="276999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algn="r"/>
            <a:r>
              <a:rPr lang="en-US" altLang="ko-KR" sz="12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*</a:t>
            </a:r>
            <a:r>
              <a:rPr lang="ko-KR" altLang="en-US" sz="12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보험료 </a:t>
            </a:r>
            <a:r>
              <a:rPr lang="en-US" altLang="ko-KR" sz="12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15/5/7</a:t>
            </a:r>
            <a:r>
              <a:rPr lang="ko-KR" altLang="en-US" sz="12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만 기준</a:t>
            </a:r>
          </a:p>
        </p:txBody>
      </p:sp>
    </p:spTree>
    <p:extLst>
      <p:ext uri="{BB962C8B-B14F-4D97-AF65-F5344CB8AC3E}">
        <p14:creationId xmlns:p14="http://schemas.microsoft.com/office/powerpoint/2010/main" val="719427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0D806-05D6-92A8-9CF8-C3E80AEB8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2">
            <a:extLst>
              <a:ext uri="{FF2B5EF4-FFF2-40B4-BE49-F238E27FC236}">
                <a16:creationId xmlns:a16="http://schemas.microsoft.com/office/drawing/2014/main" id="{2312C1C2-E409-6A45-37C4-781B5DD5B41F}"/>
              </a:ext>
            </a:extLst>
          </p:cNvPr>
          <p:cNvSpPr txBox="1">
            <a:spLocks/>
          </p:cNvSpPr>
          <p:nvPr/>
        </p:nvSpPr>
        <p:spPr>
          <a:xfrm>
            <a:off x="610235" y="197859"/>
            <a:ext cx="7268182" cy="4333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  <a:cs typeface="+mn-cs"/>
              </a:rPr>
              <a:t>선정 이유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_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흥국화재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– </a:t>
            </a:r>
            <a:r>
              <a:rPr lang="ko-KR" altLang="en-US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든든한 </a:t>
            </a:r>
            <a:r>
              <a:rPr lang="en-US" altLang="ko-KR" sz="2400" b="1" spc="-15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3N5 </a:t>
            </a:r>
            <a:r>
              <a:rPr lang="ko-KR" altLang="en-US" sz="2400" b="1" spc="-150" dirty="0" err="1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초경증</a:t>
            </a:r>
            <a:endParaRPr lang="en" altLang="ko-KR" sz="2400" b="1" spc="-150" dirty="0">
              <a:solidFill>
                <a:schemeClr val="bg1"/>
              </a:solidFill>
              <a:latin typeface="NanumSquareOTF ExtraBold" panose="020B0600000101010101" pitchFamily="34" charset="-127"/>
              <a:ea typeface="NanumSquareOTF ExtraBold" panose="020B0600000101010101" pitchFamily="34" charset="-127"/>
            </a:endParaRP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1F002DBB-2E33-2FFC-51E6-2CA2A13037F6}"/>
              </a:ext>
            </a:extLst>
          </p:cNvPr>
          <p:cNvSpPr/>
          <p:nvPr/>
        </p:nvSpPr>
        <p:spPr>
          <a:xfrm>
            <a:off x="701676" y="1087814"/>
            <a:ext cx="1251816" cy="1613823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상품 특징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1FBE5A9D-2BC8-5864-66B6-B80F2BF10197}"/>
              </a:ext>
            </a:extLst>
          </p:cNvPr>
          <p:cNvSpPr/>
          <p:nvPr/>
        </p:nvSpPr>
        <p:spPr>
          <a:xfrm>
            <a:off x="1953491" y="1087813"/>
            <a:ext cx="8036645" cy="1613823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가입연령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: 15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세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- 90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세</a:t>
            </a:r>
            <a:endParaRPr lang="en-US" altLang="ko-KR" sz="1600" dirty="0">
              <a:solidFill>
                <a:schemeClr val="tx1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  <a:p>
            <a:pPr marL="182563" indent="-182563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요양병원 외 담보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20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만 및 요양병원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365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일 보장</a:t>
            </a:r>
            <a:endParaRPr lang="en-US" altLang="ko-KR" sz="1600" dirty="0">
              <a:solidFill>
                <a:schemeClr val="tx1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8AC7478-437E-5152-06CA-94C819064320}"/>
              </a:ext>
            </a:extLst>
          </p:cNvPr>
          <p:cNvSpPr/>
          <p:nvPr/>
        </p:nvSpPr>
        <p:spPr>
          <a:xfrm>
            <a:off x="701675" y="2984057"/>
            <a:ext cx="1251816" cy="1205769"/>
          </a:xfrm>
          <a:prstGeom prst="roundRect">
            <a:avLst>
              <a:gd name="adj" fmla="val 12683"/>
            </a:avLst>
          </a:prstGeom>
          <a:solidFill>
            <a:srgbClr val="598F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ko-KR" altLang="en-US" sz="17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선정 이유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D5B21EC5-805D-165A-C078-3C414F6B5B98}"/>
              </a:ext>
            </a:extLst>
          </p:cNvPr>
          <p:cNvSpPr/>
          <p:nvPr/>
        </p:nvSpPr>
        <p:spPr>
          <a:xfrm>
            <a:off x="1953490" y="2984056"/>
            <a:ext cx="8036645" cy="1205769"/>
          </a:xfrm>
          <a:prstGeom prst="roundRect">
            <a:avLst>
              <a:gd name="adj" fmla="val 7686"/>
            </a:avLst>
          </a:prstGeom>
          <a:solidFill>
            <a:srgbClr val="FFFBE7"/>
          </a:solidFill>
          <a:ln>
            <a:solidFill>
              <a:srgbClr val="598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요양병원 가입금액 </a:t>
            </a:r>
            <a:r>
              <a:rPr lang="en-US" altLang="ko-KR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6</a:t>
            </a: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만 및 </a:t>
            </a:r>
            <a:r>
              <a:rPr lang="en-US" altLang="ko-KR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365</a:t>
            </a: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일 보장으로 업계 경쟁력 </a:t>
            </a:r>
            <a:r>
              <a:rPr lang="en-US" altLang="ko-KR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TOP </a:t>
            </a: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수준</a:t>
            </a:r>
            <a:endParaRPr lang="en-US" altLang="ko-KR" sz="1600" b="1" dirty="0">
              <a:solidFill>
                <a:srgbClr val="FF00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182563" indent="-182563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간병인일당 질병상해 통합운영으로 보험료 경쟁력↑</a:t>
            </a:r>
            <a:endParaRPr lang="en-US" altLang="ko-KR" sz="1600" b="1" dirty="0">
              <a:solidFill>
                <a:srgbClr val="FF00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182563" indent="-182563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경쟁사 </a:t>
            </a:r>
            <a:r>
              <a:rPr lang="ko-KR" altLang="en-US" sz="1600" b="1" dirty="0" err="1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실손가입</a:t>
            </a: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5</a:t>
            </a:r>
            <a:r>
              <a:rPr lang="ko-KR" altLang="en-US" sz="1600" b="1" dirty="0" err="1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년시</a:t>
            </a: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가능한 </a:t>
            </a:r>
            <a:r>
              <a:rPr lang="en-US" altLang="ko-KR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2Q-Pass</a:t>
            </a: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와 같은 조건 없이</a:t>
            </a:r>
            <a:r>
              <a:rPr lang="en-US" altLang="ko-KR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사용일당 </a:t>
            </a:r>
            <a:r>
              <a:rPr lang="en-US" altLang="ko-KR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20</a:t>
            </a:r>
            <a:r>
              <a:rPr lang="ko-KR" altLang="en-US" sz="1600" b="1" dirty="0">
                <a:solidFill>
                  <a:srgbClr val="FF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만 가입 가능</a:t>
            </a:r>
            <a:endParaRPr lang="en-US" altLang="ko-KR" sz="1600" b="1" dirty="0">
              <a:solidFill>
                <a:srgbClr val="FF00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45CD26F0-8A69-9892-7654-016AE33C31B6}"/>
              </a:ext>
            </a:extLst>
          </p:cNvPr>
          <p:cNvSpPr/>
          <p:nvPr/>
        </p:nvSpPr>
        <p:spPr>
          <a:xfrm>
            <a:off x="701674" y="4472248"/>
            <a:ext cx="1251816" cy="2369127"/>
          </a:xfrm>
          <a:prstGeom prst="roundRect">
            <a:avLst>
              <a:gd name="adj" fmla="val 12683"/>
            </a:avLst>
          </a:prstGeom>
          <a:solidFill>
            <a:srgbClr val="EEECEE"/>
          </a:solidFill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세일즈</a:t>
            </a:r>
            <a:endParaRPr lang="en-US" altLang="ko-KR" sz="17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algn="ctr" latinLnBrk="1">
              <a:spcBef>
                <a:spcPts val="600"/>
              </a:spcBef>
            </a:pPr>
            <a:r>
              <a:rPr lang="ko-KR" altLang="en-US" sz="1700" b="1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포인트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C5958D15-0B51-D720-DBB0-868869BDCD06}"/>
              </a:ext>
            </a:extLst>
          </p:cNvPr>
          <p:cNvSpPr/>
          <p:nvPr/>
        </p:nvSpPr>
        <p:spPr>
          <a:xfrm>
            <a:off x="1953489" y="4472247"/>
            <a:ext cx="8036645" cy="2369127"/>
          </a:xfrm>
          <a:prstGeom prst="roundRect">
            <a:avLst>
              <a:gd name="adj" fmla="val 7686"/>
            </a:avLst>
          </a:prstGeom>
          <a:noFill/>
          <a:ln>
            <a:solidFill>
              <a:srgbClr val="BE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물가보다 가파르게 급증하는 간병인 비용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하루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12~14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만원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한달이면 약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300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만원</a:t>
            </a:r>
            <a:endParaRPr lang="en-US" altLang="ko-KR" sz="1600" dirty="0">
              <a:solidFill>
                <a:schemeClr val="tx1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입원환자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10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명 중 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6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명은 간병인을 사용하거나 가족이 직접 돌보는 형태로 간병비가 없다면 가족이 </a:t>
            </a:r>
            <a:r>
              <a:rPr lang="ko-KR" altLang="en-US" sz="1600" dirty="0" err="1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하루종일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 간병을 </a:t>
            </a:r>
            <a:r>
              <a:rPr lang="ko-KR" altLang="en-US" sz="1600" dirty="0" err="1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해야하는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 상황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.</a:t>
            </a:r>
          </a:p>
          <a:p>
            <a:pPr marL="182563" indent="-182563" algn="l" latinLnBrk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1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인가구가 늘어나고 독거노인이 급증하는 지금 당장 </a:t>
            </a:r>
            <a:r>
              <a:rPr lang="ko-KR" altLang="en-US" sz="1600" dirty="0" err="1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필요한건</a:t>
            </a:r>
            <a:r>
              <a:rPr lang="ko-KR" altLang="en-US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 간병인 사용일당</a:t>
            </a:r>
            <a:r>
              <a:rPr lang="en-US" altLang="ko-KR" sz="1600" dirty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</a:rPr>
              <a:t>!</a:t>
            </a:r>
          </a:p>
        </p:txBody>
      </p:sp>
      <p:pic>
        <p:nvPicPr>
          <p:cNvPr id="17" name="그림 16" descr="그래픽, 다채로움, 스크린샷, 클립아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ECA0AD4-D3F3-2D07-4503-246B41061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7544" y="2824941"/>
            <a:ext cx="762000" cy="76200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3BB9C0A-C249-BD98-B306-E46A241F51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6CF2415-8700-42C2-90DE-5515E2AF2CA2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67EDB5D2-040C-2ABC-1285-AE3504130D75}"/>
              </a:ext>
            </a:extLst>
          </p:cNvPr>
          <p:cNvSpPr txBox="1">
            <a:spLocks/>
          </p:cNvSpPr>
          <p:nvPr/>
        </p:nvSpPr>
        <p:spPr>
          <a:xfrm>
            <a:off x="8745960" y="177539"/>
            <a:ext cx="1762218" cy="433342"/>
          </a:xfrm>
          <a:prstGeom prst="rect">
            <a:avLst/>
          </a:prstGeom>
          <a:noFill/>
        </p:spPr>
        <p:txBody>
          <a:bodyPr vert="horz" lIns="0" tIns="0" rIns="0" bIns="0" rtlCol="0" anchor="ctr">
            <a:normAutofit fontScale="85000" lnSpcReduction="20000"/>
          </a:bodyPr>
          <a:lstStyle>
            <a:lvl1pPr marL="0" indent="0" algn="ctr" defTabSz="1007943" rtl="0" eaLnBrk="1" latinLnBrk="1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1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2400" b="1" spc="-100" dirty="0">
                <a:solidFill>
                  <a:srgbClr val="062765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간병인 사용일당</a:t>
            </a:r>
          </a:p>
        </p:txBody>
      </p:sp>
    </p:spTree>
    <p:extLst>
      <p:ext uri="{BB962C8B-B14F-4D97-AF65-F5344CB8AC3E}">
        <p14:creationId xmlns:p14="http://schemas.microsoft.com/office/powerpoint/2010/main" val="2605534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dirty="0" smtClean="0">
            <a:latin typeface="나눔스퀘어OTF" panose="020B0600000101010101" pitchFamily="34" charset="-127"/>
            <a:ea typeface="나눔스퀘어OTF" panose="020B0600000101010101" pitchFamily="34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23466</TotalTime>
  <Words>2300</Words>
  <Application>Microsoft Office PowerPoint</Application>
  <PresentationFormat>사용자 지정</PresentationFormat>
  <Paragraphs>713</Paragraphs>
  <Slides>18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31" baseType="lpstr">
      <vt:lpstr>NanumSquareOTF</vt:lpstr>
      <vt:lpstr>NanumSquareOTF Bold</vt:lpstr>
      <vt:lpstr>NanumSquareOTF ExtraBold</vt:lpstr>
      <vt:lpstr>NanumSquareOTF Light</vt:lpstr>
      <vt:lpstr>나눔스퀘어OTF</vt:lpstr>
      <vt:lpstr>나눔스퀘어OTF Bold</vt:lpstr>
      <vt:lpstr>나눔스퀘어OTF ExtraBold</vt:lpstr>
      <vt:lpstr>맑은 고딕</vt:lpstr>
      <vt:lpstr>Aptos</vt:lpstr>
      <vt:lpstr>Aptos Display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shin</dc:creator>
  <cp:lastModifiedBy>두식 윤</cp:lastModifiedBy>
  <cp:revision>3246</cp:revision>
  <cp:lastPrinted>2024-09-02T05:28:03Z</cp:lastPrinted>
  <dcterms:created xsi:type="dcterms:W3CDTF">2024-08-27T05:40:52Z</dcterms:created>
  <dcterms:modified xsi:type="dcterms:W3CDTF">2026-09-28T02:28:26Z</dcterms:modified>
</cp:coreProperties>
</file>