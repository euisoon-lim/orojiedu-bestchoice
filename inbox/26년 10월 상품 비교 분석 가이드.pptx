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0696575" cy="7562850"/>
  <p:notesSz cx="7562850" cy="10696575"/>
  <p:embeddedFontLst>
    <p:embeddedFont>
      <p:font typeface="Paperlogy 7 Bold" pitchFamily="2" charset="-127"/>
      <p:bold r:id="rId5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15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5954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4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svg"/><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12" r="12"/>
          <a:stretch/>
        </p:blipFill>
        <p:spPr>
          <a:xfrm>
            <a:off x="0" y="0"/>
            <a:ext cx="10696517" cy="756277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609581"/>
            <a:ext cx="711866" cy="497201"/>
          </a:xfrm>
          <a:prstGeom prst="rect">
            <a:avLst/>
          </a:prstGeom>
          <a:noFill/>
          <a:ln/>
        </p:spPr>
        <p:txBody>
          <a:bodyPr wrap="square" lIns="25400" tIns="25400" rIns="25400" bIns="25400" rtlCol="0" anchor="t">
            <a:normAutofit lnSpcReduction="10000"/>
          </a:bodyPr>
          <a:lstStyle/>
          <a:p>
            <a:pPr marL="0" indent="0" algn="l">
              <a:buNone/>
            </a:pPr>
            <a:r>
              <a:rPr lang="en-US" sz="3000" b="1" kern="0" spc="-90" dirty="0">
                <a:solidFill>
                  <a:srgbClr val="3A2C24"/>
                </a:solidFill>
                <a:latin typeface="Paperlogy 7 Bold" pitchFamily="2" charset="-127"/>
                <a:ea typeface="Paperlogy 7 Bold" pitchFamily="2" charset="-127"/>
                <a:cs typeface="Arial" pitchFamily="34" charset="-120"/>
              </a:rPr>
              <a:t>목차</a:t>
            </a:r>
            <a:endParaRPr lang="en-US" sz="3000" dirty="0"/>
          </a:p>
        </p:txBody>
      </p:sp>
      <p:sp>
        <p:nvSpPr>
          <p:cNvPr id="3" name="Shape 1"/>
          <p:cNvSpPr/>
          <p:nvPr/>
        </p:nvSpPr>
        <p:spPr>
          <a:xfrm>
            <a:off x="1321383" y="870069"/>
            <a:ext cx="8841771" cy="9525"/>
          </a:xfrm>
          <a:prstGeom prst="rect">
            <a:avLst/>
          </a:prstGeom>
          <a:solidFill>
            <a:srgbClr val="EADFD3"/>
          </a:solidFill>
          <a:ln/>
        </p:spPr>
        <p:txBody>
          <a:bodyPr/>
          <a:lstStyle/>
          <a:p>
            <a:endParaRPr lang="ko-KR" altLang="en-US"/>
          </a:p>
        </p:txBody>
      </p:sp>
      <p:sp>
        <p:nvSpPr>
          <p:cNvPr id="4" name="Shape 2"/>
          <p:cNvSpPr/>
          <p:nvPr/>
        </p:nvSpPr>
        <p:spPr>
          <a:xfrm>
            <a:off x="533363" y="1428740"/>
            <a:ext cx="4719644" cy="2911037"/>
          </a:xfrm>
          <a:prstGeom prst="roundRect">
            <a:avLst>
              <a:gd name="adj" fmla="val 5890"/>
            </a:avLst>
          </a:prstGeom>
          <a:solidFill>
            <a:srgbClr val="FFFFFF"/>
          </a:solidFill>
          <a:ln w="5217">
            <a:solidFill>
              <a:srgbClr val="EADFD3"/>
            </a:solidFill>
            <a:prstDash val="solid"/>
          </a:ln>
        </p:spPr>
        <p:txBody>
          <a:bodyPr/>
          <a:lstStyle/>
          <a:p>
            <a:endParaRPr lang="ko-KR" altLang="en-US"/>
          </a:p>
        </p:txBody>
      </p:sp>
      <p:sp>
        <p:nvSpPr>
          <p:cNvPr id="5" name="Shape 3"/>
          <p:cNvSpPr/>
          <p:nvPr/>
        </p:nvSpPr>
        <p:spPr>
          <a:xfrm>
            <a:off x="824295" y="1681604"/>
            <a:ext cx="1318937" cy="430407"/>
          </a:xfrm>
          <a:prstGeom prst="roundRect">
            <a:avLst>
              <a:gd name="adj" fmla="val 22130"/>
            </a:avLst>
          </a:prstGeom>
          <a:solidFill>
            <a:srgbClr val="CF7446"/>
          </a:solidFill>
          <a:ln/>
        </p:spPr>
        <p:txBody>
          <a:bodyPr/>
          <a:lstStyle/>
          <a:p>
            <a:endParaRPr lang="ko-KR" altLang="en-US"/>
          </a:p>
        </p:txBody>
      </p:sp>
      <p:sp>
        <p:nvSpPr>
          <p:cNvPr id="6" name="Text 4"/>
          <p:cNvSpPr/>
          <p:nvPr/>
        </p:nvSpPr>
        <p:spPr>
          <a:xfrm>
            <a:off x="1033845" y="1776854"/>
            <a:ext cx="976037" cy="278007"/>
          </a:xfrm>
          <a:prstGeom prst="rect">
            <a:avLst/>
          </a:prstGeom>
          <a:noFill/>
          <a:ln/>
        </p:spPr>
        <p:txBody>
          <a:bodyPr wrap="none" lIns="25400" tIns="25400" rIns="25400" bIns="25400" rtlCol="0" anchor="t">
            <a:normAutofit lnSpcReduction="10000"/>
          </a:bodyPr>
          <a:lstStyle/>
          <a:p>
            <a:pPr marL="0" indent="0" algn="l">
              <a:buNone/>
            </a:pPr>
            <a:r>
              <a:rPr lang="en-US" sz="1575" b="1" kern="0" spc="-16" dirty="0">
                <a:solidFill>
                  <a:srgbClr val="FFFFFF"/>
                </a:solidFill>
                <a:latin typeface="Paperlogy 7 Bold" pitchFamily="2" charset="-127"/>
                <a:ea typeface="Paperlogy 7 Bold" pitchFamily="2" charset="-127"/>
                <a:cs typeface="Arial" pitchFamily="34" charset="-120"/>
              </a:rPr>
              <a:t>1. 생명보험</a:t>
            </a:r>
            <a:endParaRPr lang="en-US" sz="1575" dirty="0"/>
          </a:p>
        </p:txBody>
      </p:sp>
      <p:sp>
        <p:nvSpPr>
          <p:cNvPr id="7" name="Shape 5"/>
          <p:cNvSpPr/>
          <p:nvPr/>
        </p:nvSpPr>
        <p:spPr>
          <a:xfrm>
            <a:off x="824295" y="2402944"/>
            <a:ext cx="47606" cy="47606"/>
          </a:xfrm>
          <a:prstGeom prst="ellipse">
            <a:avLst/>
          </a:prstGeom>
          <a:solidFill>
            <a:srgbClr val="CF7446"/>
          </a:solidFill>
          <a:ln/>
        </p:spPr>
        <p:txBody>
          <a:bodyPr/>
          <a:lstStyle/>
          <a:p>
            <a:endParaRPr lang="ko-KR" altLang="en-US"/>
          </a:p>
        </p:txBody>
      </p:sp>
      <p:sp>
        <p:nvSpPr>
          <p:cNvPr id="8" name="Text 6"/>
          <p:cNvSpPr/>
          <p:nvPr/>
        </p:nvSpPr>
        <p:spPr>
          <a:xfrm>
            <a:off x="967112" y="2283441"/>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삼성생명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인생대표 / 가족대표</a:t>
            </a:r>
            <a:endParaRPr lang="en-US" sz="1500" dirty="0"/>
          </a:p>
        </p:txBody>
      </p:sp>
      <p:sp>
        <p:nvSpPr>
          <p:cNvPr id="9" name="Shape 7"/>
          <p:cNvSpPr/>
          <p:nvPr/>
        </p:nvSpPr>
        <p:spPr>
          <a:xfrm>
            <a:off x="824295" y="2822836"/>
            <a:ext cx="47606" cy="47606"/>
          </a:xfrm>
          <a:prstGeom prst="ellipse">
            <a:avLst/>
          </a:prstGeom>
          <a:solidFill>
            <a:srgbClr val="CF7446"/>
          </a:solidFill>
          <a:ln/>
        </p:spPr>
        <p:txBody>
          <a:bodyPr/>
          <a:lstStyle/>
          <a:p>
            <a:endParaRPr lang="ko-KR" altLang="en-US"/>
          </a:p>
        </p:txBody>
      </p:sp>
      <p:sp>
        <p:nvSpPr>
          <p:cNvPr id="10" name="Text 8"/>
          <p:cNvSpPr/>
          <p:nvPr/>
        </p:nvSpPr>
        <p:spPr>
          <a:xfrm>
            <a:off x="967112" y="2703332"/>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흥국생명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다사랑 통합보험</a:t>
            </a:r>
            <a:endParaRPr lang="en-US" sz="1500" dirty="0"/>
          </a:p>
        </p:txBody>
      </p:sp>
      <p:sp>
        <p:nvSpPr>
          <p:cNvPr id="11" name="Shape 9"/>
          <p:cNvSpPr/>
          <p:nvPr/>
        </p:nvSpPr>
        <p:spPr>
          <a:xfrm>
            <a:off x="824295" y="3242727"/>
            <a:ext cx="47606" cy="47606"/>
          </a:xfrm>
          <a:prstGeom prst="ellipse">
            <a:avLst/>
          </a:prstGeom>
          <a:solidFill>
            <a:srgbClr val="CF7446"/>
          </a:solidFill>
          <a:ln/>
        </p:spPr>
        <p:txBody>
          <a:bodyPr/>
          <a:lstStyle/>
          <a:p>
            <a:endParaRPr lang="ko-KR" altLang="en-US"/>
          </a:p>
        </p:txBody>
      </p:sp>
      <p:sp>
        <p:nvSpPr>
          <p:cNvPr id="12" name="Text 10"/>
          <p:cNvSpPr/>
          <p:nvPr/>
        </p:nvSpPr>
        <p:spPr>
          <a:xfrm>
            <a:off x="967112" y="3123224"/>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미래에셋생명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M-케어 건강보험</a:t>
            </a:r>
            <a:endParaRPr lang="en-US" sz="1500" dirty="0"/>
          </a:p>
        </p:txBody>
      </p:sp>
      <p:sp>
        <p:nvSpPr>
          <p:cNvPr id="13" name="Shape 11"/>
          <p:cNvSpPr/>
          <p:nvPr/>
        </p:nvSpPr>
        <p:spPr>
          <a:xfrm>
            <a:off x="824295" y="3662619"/>
            <a:ext cx="47606" cy="47606"/>
          </a:xfrm>
          <a:prstGeom prst="ellipse">
            <a:avLst/>
          </a:prstGeom>
          <a:solidFill>
            <a:srgbClr val="CF7446"/>
          </a:solidFill>
          <a:ln/>
        </p:spPr>
        <p:txBody>
          <a:bodyPr/>
          <a:lstStyle/>
          <a:p>
            <a:endParaRPr lang="ko-KR" altLang="en-US"/>
          </a:p>
        </p:txBody>
      </p:sp>
      <p:sp>
        <p:nvSpPr>
          <p:cNvPr id="14" name="Text 12"/>
          <p:cNvSpPr/>
          <p:nvPr/>
        </p:nvSpPr>
        <p:spPr>
          <a:xfrm>
            <a:off x="967112" y="3543116"/>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iM라이프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iM마스터 PRO 변액연금</a:t>
            </a:r>
            <a:endParaRPr lang="en-US" sz="1500" dirty="0"/>
          </a:p>
        </p:txBody>
      </p:sp>
      <p:sp>
        <p:nvSpPr>
          <p:cNvPr id="15" name="Shape 13"/>
          <p:cNvSpPr/>
          <p:nvPr/>
        </p:nvSpPr>
        <p:spPr>
          <a:xfrm>
            <a:off x="5443429" y="1428740"/>
            <a:ext cx="4719725" cy="2911037"/>
          </a:xfrm>
          <a:prstGeom prst="roundRect">
            <a:avLst>
              <a:gd name="adj" fmla="val 5890"/>
            </a:avLst>
          </a:prstGeom>
          <a:solidFill>
            <a:srgbClr val="FFFFFF"/>
          </a:solidFill>
          <a:ln w="5217">
            <a:solidFill>
              <a:srgbClr val="EADFD3"/>
            </a:solidFill>
            <a:prstDash val="solid"/>
          </a:ln>
        </p:spPr>
        <p:txBody>
          <a:bodyPr/>
          <a:lstStyle/>
          <a:p>
            <a:endParaRPr lang="ko-KR" altLang="en-US"/>
          </a:p>
        </p:txBody>
      </p:sp>
      <p:sp>
        <p:nvSpPr>
          <p:cNvPr id="16" name="Shape 14"/>
          <p:cNvSpPr/>
          <p:nvPr/>
        </p:nvSpPr>
        <p:spPr>
          <a:xfrm>
            <a:off x="5734362" y="1681604"/>
            <a:ext cx="1318937" cy="430407"/>
          </a:xfrm>
          <a:prstGeom prst="roundRect">
            <a:avLst>
              <a:gd name="adj" fmla="val 22130"/>
            </a:avLst>
          </a:prstGeom>
          <a:solidFill>
            <a:srgbClr val="CF7446"/>
          </a:solidFill>
          <a:ln/>
        </p:spPr>
        <p:txBody>
          <a:bodyPr/>
          <a:lstStyle/>
          <a:p>
            <a:endParaRPr lang="ko-KR" altLang="en-US"/>
          </a:p>
        </p:txBody>
      </p:sp>
      <p:sp>
        <p:nvSpPr>
          <p:cNvPr id="17" name="Text 15"/>
          <p:cNvSpPr/>
          <p:nvPr/>
        </p:nvSpPr>
        <p:spPr>
          <a:xfrm>
            <a:off x="5943912" y="1776854"/>
            <a:ext cx="976037" cy="278007"/>
          </a:xfrm>
          <a:prstGeom prst="rect">
            <a:avLst/>
          </a:prstGeom>
          <a:noFill/>
          <a:ln/>
        </p:spPr>
        <p:txBody>
          <a:bodyPr wrap="none" lIns="25400" tIns="25400" rIns="25400" bIns="25400" rtlCol="0" anchor="t">
            <a:normAutofit lnSpcReduction="10000"/>
          </a:bodyPr>
          <a:lstStyle/>
          <a:p>
            <a:pPr marL="0" indent="0" algn="l">
              <a:buNone/>
            </a:pPr>
            <a:r>
              <a:rPr lang="en-US" sz="1575" b="1" kern="0" spc="-16" dirty="0">
                <a:solidFill>
                  <a:srgbClr val="FFFFFF"/>
                </a:solidFill>
                <a:latin typeface="Paperlogy 7 Bold" pitchFamily="2" charset="-127"/>
                <a:ea typeface="Paperlogy 7 Bold" pitchFamily="2" charset="-127"/>
                <a:cs typeface="Arial" pitchFamily="34" charset="-120"/>
              </a:rPr>
              <a:t>2. 손해보험</a:t>
            </a:r>
            <a:endParaRPr lang="en-US" sz="1575" dirty="0"/>
          </a:p>
        </p:txBody>
      </p:sp>
      <p:sp>
        <p:nvSpPr>
          <p:cNvPr id="18" name="Shape 16"/>
          <p:cNvSpPr/>
          <p:nvPr/>
        </p:nvSpPr>
        <p:spPr>
          <a:xfrm>
            <a:off x="5734362" y="2402944"/>
            <a:ext cx="47606" cy="47606"/>
          </a:xfrm>
          <a:prstGeom prst="ellipse">
            <a:avLst/>
          </a:prstGeom>
          <a:solidFill>
            <a:srgbClr val="CF7446"/>
          </a:solidFill>
          <a:ln/>
        </p:spPr>
        <p:txBody>
          <a:bodyPr/>
          <a:lstStyle/>
          <a:p>
            <a:endParaRPr lang="ko-KR" altLang="en-US"/>
          </a:p>
        </p:txBody>
      </p:sp>
      <p:sp>
        <p:nvSpPr>
          <p:cNvPr id="19" name="Text 17"/>
          <p:cNvSpPr/>
          <p:nvPr/>
        </p:nvSpPr>
        <p:spPr>
          <a:xfrm>
            <a:off x="5877178" y="2283441"/>
            <a:ext cx="439454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KB손해보험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5.10.10 Young 플러스건강</a:t>
            </a:r>
            <a:endParaRPr lang="en-US" sz="1500" dirty="0"/>
          </a:p>
        </p:txBody>
      </p:sp>
      <p:sp>
        <p:nvSpPr>
          <p:cNvPr id="20" name="Shape 18"/>
          <p:cNvSpPr/>
          <p:nvPr/>
        </p:nvSpPr>
        <p:spPr>
          <a:xfrm>
            <a:off x="5734362" y="2822836"/>
            <a:ext cx="47606" cy="47606"/>
          </a:xfrm>
          <a:prstGeom prst="ellipse">
            <a:avLst/>
          </a:prstGeom>
          <a:solidFill>
            <a:srgbClr val="CF7446"/>
          </a:solidFill>
          <a:ln/>
        </p:spPr>
        <p:txBody>
          <a:bodyPr/>
          <a:lstStyle/>
          <a:p>
            <a:endParaRPr lang="ko-KR" altLang="en-US"/>
          </a:p>
        </p:txBody>
      </p:sp>
      <p:sp>
        <p:nvSpPr>
          <p:cNvPr id="21" name="Text 19"/>
          <p:cNvSpPr/>
          <p:nvPr/>
        </p:nvSpPr>
        <p:spPr>
          <a:xfrm>
            <a:off x="5877178" y="2703332"/>
            <a:ext cx="439454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삼성화재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New내돈내삼</a:t>
            </a:r>
            <a:endParaRPr lang="en-US" sz="1500" dirty="0"/>
          </a:p>
        </p:txBody>
      </p:sp>
      <p:sp>
        <p:nvSpPr>
          <p:cNvPr id="22" name="Shape 20"/>
          <p:cNvSpPr/>
          <p:nvPr/>
        </p:nvSpPr>
        <p:spPr>
          <a:xfrm>
            <a:off x="5734362" y="3242727"/>
            <a:ext cx="47606" cy="47606"/>
          </a:xfrm>
          <a:prstGeom prst="ellipse">
            <a:avLst/>
          </a:prstGeom>
          <a:solidFill>
            <a:srgbClr val="CF7446"/>
          </a:solidFill>
          <a:ln/>
        </p:spPr>
        <p:txBody>
          <a:bodyPr/>
          <a:lstStyle/>
          <a:p>
            <a:endParaRPr lang="ko-KR" altLang="en-US"/>
          </a:p>
        </p:txBody>
      </p:sp>
      <p:sp>
        <p:nvSpPr>
          <p:cNvPr id="23" name="Text 21"/>
          <p:cNvSpPr/>
          <p:nvPr/>
        </p:nvSpPr>
        <p:spPr>
          <a:xfrm>
            <a:off x="5877178" y="3123224"/>
            <a:ext cx="439454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9A4A27"/>
                </a:solidFill>
                <a:latin typeface="Paperlogy 7 Bold" pitchFamily="2" charset="-127"/>
                <a:ea typeface="Paperlogy 7 Bold" pitchFamily="2" charset="-127"/>
                <a:cs typeface="Arial" pitchFamily="34" charset="-120"/>
              </a:rPr>
              <a:t>흥국화재 </a:t>
            </a:r>
            <a:r>
              <a:rPr lang="en-US" sz="1500" b="1" dirty="0">
                <a:solidFill>
                  <a:srgbClr val="A69687"/>
                </a:solidFill>
                <a:latin typeface="Paperlogy 7 Bold" pitchFamily="2" charset="-127"/>
                <a:ea typeface="Paperlogy 7 Bold" pitchFamily="2" charset="-127"/>
                <a:cs typeface="Arial" pitchFamily="34" charset="-120"/>
              </a:rPr>
              <a:t>– </a:t>
            </a:r>
            <a:r>
              <a:rPr lang="en-US" sz="1500" b="1" dirty="0">
                <a:solidFill>
                  <a:srgbClr val="3A2C24"/>
                </a:solidFill>
                <a:latin typeface="Paperlogy 7 Bold" pitchFamily="2" charset="-127"/>
                <a:ea typeface="Paperlogy 7 Bold" pitchFamily="2" charset="-127"/>
                <a:cs typeface="Arial" pitchFamily="34" charset="-120"/>
              </a:rPr>
              <a:t>든든한 3N5 초경증</a:t>
            </a:r>
            <a:endParaRPr lang="en-US" sz="1500" dirty="0"/>
          </a:p>
        </p:txBody>
      </p:sp>
      <p:sp>
        <p:nvSpPr>
          <p:cNvPr id="24" name="Shape 22"/>
          <p:cNvSpPr/>
          <p:nvPr/>
        </p:nvSpPr>
        <p:spPr>
          <a:xfrm>
            <a:off x="533363" y="4530199"/>
            <a:ext cx="4719644" cy="2156357"/>
          </a:xfrm>
          <a:prstGeom prst="roundRect">
            <a:avLst>
              <a:gd name="adj" fmla="val 7951"/>
            </a:avLst>
          </a:prstGeom>
          <a:solidFill>
            <a:srgbClr val="FFFFFF"/>
          </a:solidFill>
          <a:ln w="5217">
            <a:solidFill>
              <a:srgbClr val="EADFD3"/>
            </a:solidFill>
            <a:prstDash val="solid"/>
          </a:ln>
        </p:spPr>
        <p:txBody>
          <a:bodyPr/>
          <a:lstStyle/>
          <a:p>
            <a:endParaRPr lang="ko-KR" altLang="en-US"/>
          </a:p>
        </p:txBody>
      </p:sp>
      <p:sp>
        <p:nvSpPr>
          <p:cNvPr id="25" name="Shape 23"/>
          <p:cNvSpPr/>
          <p:nvPr/>
        </p:nvSpPr>
        <p:spPr>
          <a:xfrm>
            <a:off x="824295" y="4783064"/>
            <a:ext cx="2454218" cy="430407"/>
          </a:xfrm>
          <a:prstGeom prst="roundRect">
            <a:avLst>
              <a:gd name="adj" fmla="val 22130"/>
            </a:avLst>
          </a:prstGeom>
          <a:solidFill>
            <a:srgbClr val="7E8D4A"/>
          </a:solidFill>
          <a:ln/>
        </p:spPr>
        <p:txBody>
          <a:bodyPr/>
          <a:lstStyle/>
          <a:p>
            <a:endParaRPr lang="ko-KR" altLang="en-US"/>
          </a:p>
        </p:txBody>
      </p:sp>
      <p:sp>
        <p:nvSpPr>
          <p:cNvPr id="26" name="Text 24"/>
          <p:cNvSpPr/>
          <p:nvPr/>
        </p:nvSpPr>
        <p:spPr>
          <a:xfrm>
            <a:off x="1033845" y="4878314"/>
            <a:ext cx="2111318" cy="278007"/>
          </a:xfrm>
          <a:prstGeom prst="rect">
            <a:avLst/>
          </a:prstGeom>
          <a:noFill/>
          <a:ln/>
        </p:spPr>
        <p:txBody>
          <a:bodyPr wrap="none" lIns="25400" tIns="25400" rIns="25400" bIns="25400" rtlCol="0" anchor="t">
            <a:normAutofit lnSpcReduction="10000"/>
          </a:bodyPr>
          <a:lstStyle/>
          <a:p>
            <a:pPr marL="0" indent="0" algn="l">
              <a:buNone/>
            </a:pPr>
            <a:r>
              <a:rPr lang="en-US" sz="1575" b="1" kern="0" spc="-16" dirty="0">
                <a:solidFill>
                  <a:srgbClr val="FFFFFF"/>
                </a:solidFill>
                <a:latin typeface="Paperlogy 7 Bold" pitchFamily="2" charset="-127"/>
                <a:ea typeface="Paperlogy 7 Bold" pitchFamily="2" charset="-127"/>
                <a:cs typeface="Arial" pitchFamily="34" charset="-120"/>
              </a:rPr>
              <a:t>1-2. 생명보험 가성비 상품</a:t>
            </a:r>
            <a:endParaRPr lang="en-US" sz="1575" dirty="0"/>
          </a:p>
        </p:txBody>
      </p:sp>
      <p:sp>
        <p:nvSpPr>
          <p:cNvPr id="27" name="Shape 25"/>
          <p:cNvSpPr/>
          <p:nvPr/>
        </p:nvSpPr>
        <p:spPr>
          <a:xfrm>
            <a:off x="824295" y="5504404"/>
            <a:ext cx="47606" cy="47606"/>
          </a:xfrm>
          <a:prstGeom prst="ellipse">
            <a:avLst/>
          </a:prstGeom>
          <a:solidFill>
            <a:srgbClr val="7E8D4A"/>
          </a:solidFill>
          <a:ln/>
        </p:spPr>
        <p:txBody>
          <a:bodyPr/>
          <a:lstStyle/>
          <a:p>
            <a:endParaRPr lang="ko-KR" altLang="en-US"/>
          </a:p>
        </p:txBody>
      </p:sp>
      <p:sp>
        <p:nvSpPr>
          <p:cNvPr id="28" name="Text 26"/>
          <p:cNvSpPr/>
          <p:nvPr/>
        </p:nvSpPr>
        <p:spPr>
          <a:xfrm>
            <a:off x="967112" y="5384900"/>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3A2C24"/>
                </a:solidFill>
                <a:latin typeface="Paperlogy 7 Bold" pitchFamily="2" charset="-127"/>
                <a:ea typeface="Paperlogy 7 Bold" pitchFamily="2" charset="-127"/>
                <a:cs typeface="Arial" pitchFamily="34" charset="-120"/>
              </a:rPr>
              <a:t>3사 건강체 가성비 상품</a:t>
            </a:r>
            <a:endParaRPr lang="en-US" sz="1500" dirty="0"/>
          </a:p>
        </p:txBody>
      </p:sp>
      <p:sp>
        <p:nvSpPr>
          <p:cNvPr id="29" name="Shape 27"/>
          <p:cNvSpPr/>
          <p:nvPr/>
        </p:nvSpPr>
        <p:spPr>
          <a:xfrm>
            <a:off x="824295" y="5924295"/>
            <a:ext cx="47606" cy="47606"/>
          </a:xfrm>
          <a:prstGeom prst="ellipse">
            <a:avLst/>
          </a:prstGeom>
          <a:solidFill>
            <a:srgbClr val="7E8D4A"/>
          </a:solidFill>
          <a:ln/>
        </p:spPr>
        <p:txBody>
          <a:bodyPr/>
          <a:lstStyle/>
          <a:p>
            <a:endParaRPr lang="ko-KR" altLang="en-US"/>
          </a:p>
        </p:txBody>
      </p:sp>
      <p:sp>
        <p:nvSpPr>
          <p:cNvPr id="30" name="Text 28"/>
          <p:cNvSpPr/>
          <p:nvPr/>
        </p:nvSpPr>
        <p:spPr>
          <a:xfrm>
            <a:off x="967112" y="5804792"/>
            <a:ext cx="439445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3A2C24"/>
                </a:solidFill>
                <a:latin typeface="Paperlogy 7 Bold" pitchFamily="2" charset="-127"/>
                <a:ea typeface="Paperlogy 7 Bold" pitchFamily="2" charset="-127"/>
                <a:cs typeface="Arial" pitchFamily="34" charset="-120"/>
              </a:rPr>
              <a:t>3사 초경증 가성비 상품</a:t>
            </a:r>
            <a:endParaRPr lang="en-US" sz="1500" dirty="0"/>
          </a:p>
        </p:txBody>
      </p:sp>
      <p:sp>
        <p:nvSpPr>
          <p:cNvPr id="31" name="Shape 29"/>
          <p:cNvSpPr/>
          <p:nvPr/>
        </p:nvSpPr>
        <p:spPr>
          <a:xfrm>
            <a:off x="5443429" y="4530199"/>
            <a:ext cx="4719725" cy="2156357"/>
          </a:xfrm>
          <a:prstGeom prst="roundRect">
            <a:avLst>
              <a:gd name="adj" fmla="val 7951"/>
            </a:avLst>
          </a:prstGeom>
          <a:solidFill>
            <a:srgbClr val="FFFFFF"/>
          </a:solidFill>
          <a:ln w="5217">
            <a:solidFill>
              <a:srgbClr val="EADFD3"/>
            </a:solidFill>
            <a:prstDash val="solid"/>
          </a:ln>
        </p:spPr>
        <p:txBody>
          <a:bodyPr/>
          <a:lstStyle/>
          <a:p>
            <a:endParaRPr lang="ko-KR" altLang="en-US"/>
          </a:p>
        </p:txBody>
      </p:sp>
      <p:sp>
        <p:nvSpPr>
          <p:cNvPr id="32" name="Shape 30"/>
          <p:cNvSpPr/>
          <p:nvPr/>
        </p:nvSpPr>
        <p:spPr>
          <a:xfrm>
            <a:off x="5734362" y="4783064"/>
            <a:ext cx="2454218" cy="430407"/>
          </a:xfrm>
          <a:prstGeom prst="roundRect">
            <a:avLst>
              <a:gd name="adj" fmla="val 22130"/>
            </a:avLst>
          </a:prstGeom>
          <a:solidFill>
            <a:srgbClr val="7E8D4A"/>
          </a:solidFill>
          <a:ln/>
        </p:spPr>
        <p:txBody>
          <a:bodyPr/>
          <a:lstStyle/>
          <a:p>
            <a:endParaRPr lang="ko-KR" altLang="en-US"/>
          </a:p>
        </p:txBody>
      </p:sp>
      <p:sp>
        <p:nvSpPr>
          <p:cNvPr id="33" name="Text 31"/>
          <p:cNvSpPr/>
          <p:nvPr/>
        </p:nvSpPr>
        <p:spPr>
          <a:xfrm>
            <a:off x="5943912" y="4878314"/>
            <a:ext cx="2111318" cy="278007"/>
          </a:xfrm>
          <a:prstGeom prst="rect">
            <a:avLst/>
          </a:prstGeom>
          <a:noFill/>
          <a:ln/>
        </p:spPr>
        <p:txBody>
          <a:bodyPr wrap="none" lIns="25400" tIns="25400" rIns="25400" bIns="25400" rtlCol="0" anchor="t">
            <a:normAutofit lnSpcReduction="10000"/>
          </a:bodyPr>
          <a:lstStyle/>
          <a:p>
            <a:pPr marL="0" indent="0" algn="l">
              <a:buNone/>
            </a:pPr>
            <a:r>
              <a:rPr lang="en-US" sz="1575" b="1" kern="0" spc="-16" dirty="0">
                <a:solidFill>
                  <a:srgbClr val="FFFFFF"/>
                </a:solidFill>
                <a:latin typeface="Paperlogy 7 Bold" pitchFamily="2" charset="-127"/>
                <a:ea typeface="Paperlogy 7 Bold" pitchFamily="2" charset="-127"/>
                <a:cs typeface="Arial" pitchFamily="34" charset="-120"/>
              </a:rPr>
              <a:t>2-2. 손해보험 가성비 상품</a:t>
            </a:r>
            <a:endParaRPr lang="en-US" sz="1575" dirty="0"/>
          </a:p>
        </p:txBody>
      </p:sp>
      <p:sp>
        <p:nvSpPr>
          <p:cNvPr id="34" name="Shape 32"/>
          <p:cNvSpPr/>
          <p:nvPr/>
        </p:nvSpPr>
        <p:spPr>
          <a:xfrm>
            <a:off x="5734362" y="5504404"/>
            <a:ext cx="47606" cy="47606"/>
          </a:xfrm>
          <a:prstGeom prst="ellipse">
            <a:avLst/>
          </a:prstGeom>
          <a:solidFill>
            <a:srgbClr val="7E8D4A"/>
          </a:solidFill>
          <a:ln/>
        </p:spPr>
        <p:txBody>
          <a:bodyPr/>
          <a:lstStyle/>
          <a:p>
            <a:endParaRPr lang="ko-KR" altLang="en-US"/>
          </a:p>
        </p:txBody>
      </p:sp>
      <p:sp>
        <p:nvSpPr>
          <p:cNvPr id="35" name="Text 33"/>
          <p:cNvSpPr/>
          <p:nvPr/>
        </p:nvSpPr>
        <p:spPr>
          <a:xfrm>
            <a:off x="5877178" y="5384900"/>
            <a:ext cx="439454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3A2C24"/>
                </a:solidFill>
                <a:latin typeface="Paperlogy 7 Bold" pitchFamily="2" charset="-127"/>
                <a:ea typeface="Paperlogy 7 Bold" pitchFamily="2" charset="-127"/>
                <a:cs typeface="Arial" pitchFamily="34" charset="-120"/>
              </a:rPr>
              <a:t>3사 건강체 가성비 상품</a:t>
            </a:r>
            <a:endParaRPr lang="en-US" sz="1500" dirty="0"/>
          </a:p>
        </p:txBody>
      </p:sp>
      <p:sp>
        <p:nvSpPr>
          <p:cNvPr id="36" name="Shape 34"/>
          <p:cNvSpPr/>
          <p:nvPr/>
        </p:nvSpPr>
        <p:spPr>
          <a:xfrm>
            <a:off x="5734362" y="5924295"/>
            <a:ext cx="47606" cy="47606"/>
          </a:xfrm>
          <a:prstGeom prst="ellipse">
            <a:avLst/>
          </a:prstGeom>
          <a:solidFill>
            <a:srgbClr val="7E8D4A"/>
          </a:solidFill>
          <a:ln/>
        </p:spPr>
        <p:txBody>
          <a:bodyPr/>
          <a:lstStyle/>
          <a:p>
            <a:endParaRPr lang="ko-KR" altLang="en-US"/>
          </a:p>
        </p:txBody>
      </p:sp>
      <p:sp>
        <p:nvSpPr>
          <p:cNvPr id="37" name="Text 35"/>
          <p:cNvSpPr/>
          <p:nvPr/>
        </p:nvSpPr>
        <p:spPr>
          <a:xfrm>
            <a:off x="5877178" y="5804792"/>
            <a:ext cx="4394548" cy="324712"/>
          </a:xfrm>
          <a:prstGeom prst="rect">
            <a:avLst/>
          </a:prstGeom>
          <a:noFill/>
          <a:ln/>
        </p:spPr>
        <p:txBody>
          <a:bodyPr wrap="square" lIns="25400" tIns="25400" rIns="25400" bIns="25400" rtlCol="0" anchor="t">
            <a:normAutofit/>
          </a:bodyPr>
          <a:lstStyle/>
          <a:p>
            <a:pPr marL="0" indent="0" algn="l">
              <a:lnSpc>
                <a:spcPct val="126063"/>
              </a:lnSpc>
              <a:buNone/>
            </a:pPr>
            <a:r>
              <a:rPr lang="en-US" sz="1500" b="1" dirty="0">
                <a:solidFill>
                  <a:srgbClr val="3A2C24"/>
                </a:solidFill>
                <a:latin typeface="Paperlogy 7 Bold" pitchFamily="2" charset="-127"/>
                <a:ea typeface="Paperlogy 7 Bold" pitchFamily="2" charset="-127"/>
                <a:cs typeface="Arial" pitchFamily="34" charset="-120"/>
              </a:rPr>
              <a:t>3사 초경증 가성비 상품</a:t>
            </a:r>
            <a:endParaRPr lang="en-US" sz="1500" dirty="0"/>
          </a:p>
        </p:txBody>
      </p:sp>
      <p:sp>
        <p:nvSpPr>
          <p:cNvPr id="38" name="Text 36"/>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2D3"/>
        </a:solidFill>
        <a:effectLst/>
      </p:bgPr>
    </p:bg>
    <p:spTree>
      <p:nvGrpSpPr>
        <p:cNvPr id="1" name=""/>
        <p:cNvGrpSpPr/>
        <p:nvPr/>
      </p:nvGrpSpPr>
      <p:grpSpPr>
        <a:xfrm>
          <a:off x="0" y="0"/>
          <a:ext cx="0" cy="0"/>
          <a:chOff x="0" y="0"/>
          <a:chExt cx="0" cy="0"/>
        </a:xfrm>
      </p:grpSpPr>
      <p:sp>
        <p:nvSpPr>
          <p:cNvPr id="2" name="Shape 0"/>
          <p:cNvSpPr/>
          <p:nvPr/>
        </p:nvSpPr>
        <p:spPr>
          <a:xfrm>
            <a:off x="6886516" y="-1523951"/>
            <a:ext cx="4952944" cy="4952944"/>
          </a:xfrm>
          <a:prstGeom prst="ellipse">
            <a:avLst/>
          </a:prstGeom>
          <a:solidFill>
            <a:srgbClr val="CF7446">
              <a:alpha val="10000"/>
            </a:srgbClr>
          </a:solidFill>
          <a:ln/>
        </p:spPr>
        <p:txBody>
          <a:bodyPr/>
          <a:lstStyle/>
          <a:p>
            <a:endParaRPr lang="ko-KR" altLang="en-US"/>
          </a:p>
        </p:txBody>
      </p:sp>
      <p:sp>
        <p:nvSpPr>
          <p:cNvPr id="3" name="Text 1"/>
          <p:cNvSpPr/>
          <p:nvPr/>
        </p:nvSpPr>
        <p:spPr>
          <a:xfrm>
            <a:off x="914371" y="1333447"/>
            <a:ext cx="2446417" cy="603906"/>
          </a:xfrm>
          <a:prstGeom prst="rect">
            <a:avLst/>
          </a:prstGeom>
          <a:noFill/>
          <a:ln/>
        </p:spPr>
        <p:txBody>
          <a:bodyPr wrap="square" lIns="25400" tIns="25400" rIns="25400" bIns="25400" rtlCol="0" anchor="t">
            <a:normAutofit lnSpcReduction="10000"/>
          </a:bodyPr>
          <a:lstStyle/>
          <a:p>
            <a:pPr marL="0" indent="0" algn="l">
              <a:lnSpc>
                <a:spcPct val="95973"/>
              </a:lnSpc>
              <a:buNone/>
            </a:pPr>
            <a:r>
              <a:rPr lang="en-US" sz="4050" b="1" kern="0" spc="-142" dirty="0">
                <a:solidFill>
                  <a:srgbClr val="9A4A27"/>
                </a:solidFill>
                <a:latin typeface="Paperlogy 7 Bold" pitchFamily="2" charset="-127"/>
                <a:ea typeface="Paperlogy 7 Bold" pitchFamily="2" charset="-127"/>
                <a:cs typeface="Arial" pitchFamily="34" charset="-120"/>
              </a:rPr>
              <a:t>1. 생명보험</a:t>
            </a:r>
            <a:endParaRPr lang="en-US" sz="4050" dirty="0"/>
          </a:p>
        </p:txBody>
      </p:sp>
      <p:sp>
        <p:nvSpPr>
          <p:cNvPr id="4" name="Shape 2"/>
          <p:cNvSpPr/>
          <p:nvPr/>
        </p:nvSpPr>
        <p:spPr>
          <a:xfrm>
            <a:off x="914371" y="2590758"/>
            <a:ext cx="8867775" cy="4019580"/>
          </a:xfrm>
          <a:prstGeom prst="roundRect">
            <a:avLst>
              <a:gd name="adj" fmla="val 5687"/>
            </a:avLst>
          </a:prstGeom>
          <a:solidFill>
            <a:srgbClr val="FFFFFF"/>
          </a:solidFill>
          <a:ln/>
        </p:spPr>
        <p:txBody>
          <a:bodyPr/>
          <a:lstStyle/>
          <a:p>
            <a:endParaRPr lang="ko-KR" altLang="en-US"/>
          </a:p>
        </p:txBody>
      </p:sp>
      <p:sp>
        <p:nvSpPr>
          <p:cNvPr id="5" name="Text 3"/>
          <p:cNvSpPr/>
          <p:nvPr/>
        </p:nvSpPr>
        <p:spPr>
          <a:xfrm>
            <a:off x="1447733" y="3209876"/>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01</a:t>
            </a:r>
            <a:endParaRPr lang="en-US" sz="1500" dirty="0"/>
          </a:p>
        </p:txBody>
      </p:sp>
      <p:sp>
        <p:nvSpPr>
          <p:cNvPr id="6" name="Text 4"/>
          <p:cNvSpPr/>
          <p:nvPr/>
        </p:nvSpPr>
        <p:spPr>
          <a:xfrm>
            <a:off x="2076307" y="3047414"/>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뇌졸중, 살리는 치료로 끝나지 않는다 … 치료비 준비는?</a:t>
            </a:r>
            <a:endParaRPr lang="en-US" sz="1500" dirty="0"/>
          </a:p>
        </p:txBody>
      </p:sp>
      <p:sp>
        <p:nvSpPr>
          <p:cNvPr id="7" name="Text 5"/>
          <p:cNvSpPr/>
          <p:nvPr/>
        </p:nvSpPr>
        <p:spPr>
          <a:xfrm>
            <a:off x="2076307" y="3309815"/>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삼성생명 – 인생대표 / 가족대표 건강보험</a:t>
            </a:r>
            <a:endParaRPr lang="en-US" sz="1875" dirty="0"/>
          </a:p>
        </p:txBody>
      </p:sp>
      <p:sp>
        <p:nvSpPr>
          <p:cNvPr id="8" name="Shape 6"/>
          <p:cNvSpPr/>
          <p:nvPr/>
        </p:nvSpPr>
        <p:spPr>
          <a:xfrm>
            <a:off x="1447733" y="3743891"/>
            <a:ext cx="7801050" cy="9525"/>
          </a:xfrm>
          <a:prstGeom prst="rect">
            <a:avLst/>
          </a:prstGeom>
          <a:solidFill>
            <a:srgbClr val="EADFD3"/>
          </a:solidFill>
          <a:ln/>
        </p:spPr>
        <p:txBody>
          <a:bodyPr/>
          <a:lstStyle/>
          <a:p>
            <a:endParaRPr lang="ko-KR" altLang="en-US"/>
          </a:p>
        </p:txBody>
      </p:sp>
      <p:sp>
        <p:nvSpPr>
          <p:cNvPr id="9" name="Text 7"/>
          <p:cNvSpPr/>
          <p:nvPr/>
        </p:nvSpPr>
        <p:spPr>
          <a:xfrm>
            <a:off x="1447733" y="4063925"/>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02</a:t>
            </a:r>
            <a:endParaRPr lang="en-US" sz="1500" dirty="0"/>
          </a:p>
        </p:txBody>
      </p:sp>
      <p:sp>
        <p:nvSpPr>
          <p:cNvPr id="10" name="Text 8"/>
          <p:cNvSpPr/>
          <p:nvPr/>
        </p:nvSpPr>
        <p:spPr>
          <a:xfrm>
            <a:off x="2076307" y="3901462"/>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수술만 하던 시대는 끝, ‘병행 치료’가 표준</a:t>
            </a:r>
            <a:endParaRPr lang="en-US" sz="1500" dirty="0"/>
          </a:p>
        </p:txBody>
      </p:sp>
      <p:sp>
        <p:nvSpPr>
          <p:cNvPr id="11" name="Text 9"/>
          <p:cNvSpPr/>
          <p:nvPr/>
        </p:nvSpPr>
        <p:spPr>
          <a:xfrm>
            <a:off x="2076307" y="4163864"/>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흥국생명 – 다사랑 통합보험</a:t>
            </a:r>
            <a:endParaRPr lang="en-US" sz="1875" dirty="0"/>
          </a:p>
        </p:txBody>
      </p:sp>
      <p:sp>
        <p:nvSpPr>
          <p:cNvPr id="12" name="Shape 10"/>
          <p:cNvSpPr/>
          <p:nvPr/>
        </p:nvSpPr>
        <p:spPr>
          <a:xfrm>
            <a:off x="1447733" y="4597940"/>
            <a:ext cx="7801050" cy="9525"/>
          </a:xfrm>
          <a:prstGeom prst="rect">
            <a:avLst/>
          </a:prstGeom>
          <a:solidFill>
            <a:srgbClr val="EADFD3"/>
          </a:solidFill>
          <a:ln/>
        </p:spPr>
        <p:txBody>
          <a:bodyPr/>
          <a:lstStyle/>
          <a:p>
            <a:endParaRPr lang="ko-KR" altLang="en-US"/>
          </a:p>
        </p:txBody>
      </p:sp>
      <p:sp>
        <p:nvSpPr>
          <p:cNvPr id="13" name="Text 11"/>
          <p:cNvSpPr/>
          <p:nvPr/>
        </p:nvSpPr>
        <p:spPr>
          <a:xfrm>
            <a:off x="1447733" y="4917974"/>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03</a:t>
            </a:r>
            <a:endParaRPr lang="en-US" sz="1500" dirty="0"/>
          </a:p>
        </p:txBody>
      </p:sp>
      <p:sp>
        <p:nvSpPr>
          <p:cNvPr id="14" name="Text 12"/>
          <p:cNvSpPr/>
          <p:nvPr/>
        </p:nvSpPr>
        <p:spPr>
          <a:xfrm>
            <a:off x="2076307" y="4755511"/>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입원 원인 1위는 '손상'… 그 절반이 낙상</a:t>
            </a:r>
            <a:endParaRPr lang="en-US" sz="1500" dirty="0"/>
          </a:p>
        </p:txBody>
      </p:sp>
      <p:sp>
        <p:nvSpPr>
          <p:cNvPr id="15" name="Text 13"/>
          <p:cNvSpPr/>
          <p:nvPr/>
        </p:nvSpPr>
        <p:spPr>
          <a:xfrm>
            <a:off x="2076307" y="5017913"/>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미래에셋생명 – M-케어 건강보험</a:t>
            </a:r>
            <a:endParaRPr lang="en-US" sz="1875" dirty="0"/>
          </a:p>
        </p:txBody>
      </p:sp>
      <p:sp>
        <p:nvSpPr>
          <p:cNvPr id="16" name="Shape 14"/>
          <p:cNvSpPr/>
          <p:nvPr/>
        </p:nvSpPr>
        <p:spPr>
          <a:xfrm>
            <a:off x="1447733" y="5451988"/>
            <a:ext cx="7801050" cy="9525"/>
          </a:xfrm>
          <a:prstGeom prst="rect">
            <a:avLst/>
          </a:prstGeom>
          <a:solidFill>
            <a:srgbClr val="EADFD3"/>
          </a:solidFill>
          <a:ln/>
        </p:spPr>
        <p:txBody>
          <a:bodyPr/>
          <a:lstStyle/>
          <a:p>
            <a:endParaRPr lang="ko-KR" altLang="en-US"/>
          </a:p>
        </p:txBody>
      </p:sp>
      <p:sp>
        <p:nvSpPr>
          <p:cNvPr id="17" name="Text 15"/>
          <p:cNvSpPr/>
          <p:nvPr/>
        </p:nvSpPr>
        <p:spPr>
          <a:xfrm>
            <a:off x="1447733" y="5772022"/>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04</a:t>
            </a:r>
            <a:endParaRPr lang="en-US" sz="1500" dirty="0"/>
          </a:p>
        </p:txBody>
      </p:sp>
      <p:sp>
        <p:nvSpPr>
          <p:cNvPr id="18" name="Text 16"/>
          <p:cNvSpPr/>
          <p:nvPr/>
        </p:nvSpPr>
        <p:spPr>
          <a:xfrm>
            <a:off x="2076307" y="5609559"/>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한 달 남짓에 -40%… 노후자금을 롤러코스터에?</a:t>
            </a:r>
            <a:endParaRPr lang="en-US" sz="1500" dirty="0"/>
          </a:p>
        </p:txBody>
      </p:sp>
      <p:sp>
        <p:nvSpPr>
          <p:cNvPr id="19" name="Text 17"/>
          <p:cNvSpPr/>
          <p:nvPr/>
        </p:nvSpPr>
        <p:spPr>
          <a:xfrm>
            <a:off x="2076307" y="5871961"/>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iM라이프 – iM 마스터 PRO 변액연금</a:t>
            </a:r>
            <a:endParaRPr lang="en-US" sz="1875" dirty="0"/>
          </a:p>
        </p:txBody>
      </p:sp>
      <p:sp>
        <p:nvSpPr>
          <p:cNvPr id="20" name="Text 1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490065"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생명보험 BEST CHOICE</a:t>
            </a:r>
            <a:endParaRPr lang="en-US" sz="2475" dirty="0"/>
          </a:p>
        </p:txBody>
      </p:sp>
      <p:sp>
        <p:nvSpPr>
          <p:cNvPr id="3" name="Shape 1"/>
          <p:cNvSpPr/>
          <p:nvPr/>
        </p:nvSpPr>
        <p:spPr>
          <a:xfrm>
            <a:off x="9402768" y="340821"/>
            <a:ext cx="760386"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555168" y="407496"/>
            <a:ext cx="531786"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생명보험</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1047732" cy="5695967"/>
          </a:xfrm>
          <a:prstGeom prst="roundRect">
            <a:avLst>
              <a:gd name="adj" fmla="val 14546"/>
            </a:avLst>
          </a:prstGeom>
          <a:solidFill>
            <a:srgbClr val="FCF4EE"/>
          </a:solidFill>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790547" y="1304835"/>
            <a:ext cx="533363" cy="1307525"/>
          </a:xfrm>
          <a:prstGeom prst="rect">
            <a:avLst/>
          </a:prstGeom>
        </p:spPr>
      </p:pic>
      <p:sp>
        <p:nvSpPr>
          <p:cNvPr id="8" name="Text 5"/>
          <p:cNvSpPr/>
          <p:nvPr/>
        </p:nvSpPr>
        <p:spPr>
          <a:xfrm>
            <a:off x="942413" y="2783789"/>
            <a:ext cx="305751" cy="2006480"/>
          </a:xfrm>
          <a:prstGeom prst="rect">
            <a:avLst/>
          </a:prstGeom>
          <a:noFill/>
          <a:ln/>
        </p:spPr>
        <p:txBody>
          <a:bodyPr vert="eaVert" wrap="square" lIns="25400" tIns="25400" rIns="25400" bIns="25400" rtlCol="0" anchor="t">
            <a:normAutofit fontScale="92500"/>
          </a:bodyPr>
          <a:lstStyle/>
          <a:p>
            <a:pPr marL="0" indent="0" algn="l">
              <a:buNone/>
            </a:pPr>
            <a:r>
              <a:rPr lang="en-US" sz="1575" b="1" kern="0" spc="441" dirty="0">
                <a:solidFill>
                  <a:srgbClr val="CF7446"/>
                </a:solidFill>
                <a:latin typeface="Paperlogy 7 Bold" pitchFamily="2" charset="-127"/>
                <a:ea typeface="Paperlogy 7 Bold" pitchFamily="2" charset="-127"/>
                <a:cs typeface="Arial" pitchFamily="34" charset="-120"/>
              </a:rPr>
              <a:t>BEST CHOICE</a:t>
            </a:r>
            <a:endParaRPr lang="en-US" sz="1575" dirty="0"/>
          </a:p>
        </p:txBody>
      </p:sp>
      <p:sp>
        <p:nvSpPr>
          <p:cNvPr id="9" name="Shape 6"/>
          <p:cNvSpPr/>
          <p:nvPr/>
        </p:nvSpPr>
        <p:spPr>
          <a:xfrm>
            <a:off x="1733530" y="1095338"/>
            <a:ext cx="1428740" cy="1022054"/>
          </a:xfrm>
          <a:prstGeom prst="roundRect">
            <a:avLst>
              <a:gd name="adj" fmla="val 13047"/>
            </a:avLst>
          </a:prstGeom>
          <a:solidFill>
            <a:srgbClr val="CF7446"/>
          </a:solidFill>
          <a:ln/>
        </p:spPr>
        <p:txBody>
          <a:bodyPr/>
          <a:lstStyle/>
          <a:p>
            <a:endParaRPr lang="ko-KR" altLang="en-US"/>
          </a:p>
        </p:txBody>
      </p:sp>
      <p:sp>
        <p:nvSpPr>
          <p:cNvPr id="10" name="Text 7"/>
          <p:cNvSpPr/>
          <p:nvPr/>
        </p:nvSpPr>
        <p:spPr>
          <a:xfrm>
            <a:off x="2176165" y="1344371"/>
            <a:ext cx="619508"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순환계</a:t>
            </a:r>
            <a:endParaRPr lang="en-US" sz="1650" dirty="0"/>
          </a:p>
        </p:txBody>
      </p:sp>
      <p:sp>
        <p:nvSpPr>
          <p:cNvPr id="11" name="Text 8"/>
          <p:cNvSpPr/>
          <p:nvPr/>
        </p:nvSpPr>
        <p:spPr>
          <a:xfrm>
            <a:off x="2085682" y="1627233"/>
            <a:ext cx="800556"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통합치료</a:t>
            </a:r>
            <a:endParaRPr lang="en-US" sz="1650" dirty="0"/>
          </a:p>
        </p:txBody>
      </p:sp>
      <p:sp>
        <p:nvSpPr>
          <p:cNvPr id="12" name="Shape 9"/>
          <p:cNvSpPr/>
          <p:nvPr/>
        </p:nvSpPr>
        <p:spPr>
          <a:xfrm>
            <a:off x="3257482" y="1095338"/>
            <a:ext cx="6905672" cy="1022054"/>
          </a:xfrm>
          <a:prstGeom prst="roundRect">
            <a:avLst>
              <a:gd name="adj" fmla="val 13047"/>
            </a:avLst>
          </a:prstGeom>
          <a:solidFill>
            <a:srgbClr val="FFFFFF"/>
          </a:solidFill>
          <a:ln w="5217">
            <a:solidFill>
              <a:srgbClr val="EADFD3"/>
            </a:solidFill>
            <a:prstDash val="solid"/>
          </a:ln>
        </p:spPr>
        <p:txBody>
          <a:bodyPr/>
          <a:lstStyle/>
          <a:p>
            <a:endParaRPr lang="ko-KR" altLang="en-US"/>
          </a:p>
        </p:txBody>
      </p:sp>
      <p:sp>
        <p:nvSpPr>
          <p:cNvPr id="13" name="Shape 10"/>
          <p:cNvSpPr/>
          <p:nvPr/>
        </p:nvSpPr>
        <p:spPr>
          <a:xfrm>
            <a:off x="3529340" y="1299292"/>
            <a:ext cx="47606" cy="47606"/>
          </a:xfrm>
          <a:prstGeom prst="ellipse">
            <a:avLst/>
          </a:prstGeom>
          <a:solidFill>
            <a:srgbClr val="CF7446"/>
          </a:solidFill>
          <a:ln/>
        </p:spPr>
        <p:txBody>
          <a:bodyPr/>
          <a:lstStyle/>
          <a:p>
            <a:endParaRPr lang="ko-KR" altLang="en-US"/>
          </a:p>
        </p:txBody>
      </p:sp>
      <p:sp>
        <p:nvSpPr>
          <p:cNvPr id="14" name="Text 11"/>
          <p:cNvSpPr/>
          <p:nvPr/>
        </p:nvSpPr>
        <p:spPr>
          <a:xfrm>
            <a:off x="3672156" y="1200494"/>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삼성생명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인생대표 / 가족대표</a:t>
            </a:r>
            <a:endParaRPr lang="en-US" sz="1350" dirty="0"/>
          </a:p>
        </p:txBody>
      </p:sp>
      <p:sp>
        <p:nvSpPr>
          <p:cNvPr id="15" name="Shape 12"/>
          <p:cNvSpPr/>
          <p:nvPr/>
        </p:nvSpPr>
        <p:spPr>
          <a:xfrm>
            <a:off x="3529340" y="1582562"/>
            <a:ext cx="47606" cy="47606"/>
          </a:xfrm>
          <a:prstGeom prst="ellipse">
            <a:avLst/>
          </a:prstGeom>
          <a:solidFill>
            <a:srgbClr val="CF7446"/>
          </a:solidFill>
          <a:ln/>
        </p:spPr>
        <p:txBody>
          <a:bodyPr/>
          <a:lstStyle/>
          <a:p>
            <a:endParaRPr lang="ko-KR" altLang="en-US"/>
          </a:p>
        </p:txBody>
      </p:sp>
      <p:sp>
        <p:nvSpPr>
          <p:cNvPr id="16" name="Text 13"/>
          <p:cNvSpPr/>
          <p:nvPr/>
        </p:nvSpPr>
        <p:spPr>
          <a:xfrm>
            <a:off x="3672156" y="1483764"/>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한화생명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시그니처H통합건강</a:t>
            </a:r>
            <a:endParaRPr lang="en-US" sz="1350" dirty="0"/>
          </a:p>
        </p:txBody>
      </p:sp>
      <p:sp>
        <p:nvSpPr>
          <p:cNvPr id="17" name="Shape 14"/>
          <p:cNvSpPr/>
          <p:nvPr/>
        </p:nvSpPr>
        <p:spPr>
          <a:xfrm>
            <a:off x="3529340" y="1865832"/>
            <a:ext cx="47606" cy="47606"/>
          </a:xfrm>
          <a:prstGeom prst="ellipse">
            <a:avLst/>
          </a:prstGeom>
          <a:solidFill>
            <a:srgbClr val="CF7446"/>
          </a:solidFill>
          <a:ln/>
        </p:spPr>
        <p:txBody>
          <a:bodyPr/>
          <a:lstStyle/>
          <a:p>
            <a:endParaRPr lang="ko-KR" altLang="en-US"/>
          </a:p>
        </p:txBody>
      </p:sp>
      <p:sp>
        <p:nvSpPr>
          <p:cNvPr id="18" name="Text 15"/>
          <p:cNvSpPr/>
          <p:nvPr/>
        </p:nvSpPr>
        <p:spPr>
          <a:xfrm>
            <a:off x="3672156" y="1767034"/>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동양생명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우리WON하는 보장보험</a:t>
            </a:r>
            <a:endParaRPr lang="en-US" sz="1350" dirty="0"/>
          </a:p>
        </p:txBody>
      </p:sp>
      <p:pic>
        <p:nvPicPr>
          <p:cNvPr id="19" name="Image 1" descr="preencoded.png"/>
          <p:cNvPicPr>
            <a:picLocks noChangeAspect="1"/>
          </p:cNvPicPr>
          <p:nvPr/>
        </p:nvPicPr>
        <p:blipFill>
          <a:blip r:embed="rId4"/>
          <a:srcRect t="-7167" b="-7167"/>
          <a:stretch/>
        </p:blipFill>
        <p:spPr>
          <a:xfrm>
            <a:off x="9396002" y="1358717"/>
            <a:ext cx="495294" cy="495294"/>
          </a:xfrm>
          <a:prstGeom prst="rect">
            <a:avLst/>
          </a:prstGeom>
        </p:spPr>
      </p:pic>
      <p:sp>
        <p:nvSpPr>
          <p:cNvPr id="20" name="Shape 16"/>
          <p:cNvSpPr/>
          <p:nvPr/>
        </p:nvSpPr>
        <p:spPr>
          <a:xfrm>
            <a:off x="1733530" y="2212603"/>
            <a:ext cx="1428740" cy="1022136"/>
          </a:xfrm>
          <a:prstGeom prst="roundRect">
            <a:avLst>
              <a:gd name="adj" fmla="val 13046"/>
            </a:avLst>
          </a:prstGeom>
          <a:solidFill>
            <a:srgbClr val="CF7446"/>
          </a:solidFill>
          <a:ln/>
        </p:spPr>
        <p:txBody>
          <a:bodyPr/>
          <a:lstStyle/>
          <a:p>
            <a:endParaRPr lang="ko-KR" altLang="en-US"/>
          </a:p>
        </p:txBody>
      </p:sp>
      <p:sp>
        <p:nvSpPr>
          <p:cNvPr id="21" name="Text 17"/>
          <p:cNvSpPr/>
          <p:nvPr/>
        </p:nvSpPr>
        <p:spPr>
          <a:xfrm>
            <a:off x="1695430" y="2212603"/>
            <a:ext cx="1504940" cy="1060236"/>
          </a:xfrm>
          <a:prstGeom prst="rect">
            <a:avLst/>
          </a:prstGeom>
          <a:noFill/>
          <a:ln/>
        </p:spPr>
        <p:txBody>
          <a:bodyPr wrap="square" lIns="25400" tIns="25400" rIns="25400" bIns="25400" rtlCol="0" anchor="ctr">
            <a:normAutofit/>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암 복합치료</a:t>
            </a:r>
            <a:endParaRPr lang="en-US" sz="1650" dirty="0"/>
          </a:p>
        </p:txBody>
      </p:sp>
      <p:sp>
        <p:nvSpPr>
          <p:cNvPr id="22" name="Shape 18"/>
          <p:cNvSpPr/>
          <p:nvPr/>
        </p:nvSpPr>
        <p:spPr>
          <a:xfrm>
            <a:off x="3257482" y="2212603"/>
            <a:ext cx="6905672" cy="1022136"/>
          </a:xfrm>
          <a:prstGeom prst="roundRect">
            <a:avLst>
              <a:gd name="adj" fmla="val 13046"/>
            </a:avLst>
          </a:prstGeom>
          <a:solidFill>
            <a:srgbClr val="FFFFFF"/>
          </a:solidFill>
          <a:ln w="5217">
            <a:solidFill>
              <a:srgbClr val="EADFD3"/>
            </a:solidFill>
            <a:prstDash val="solid"/>
          </a:ln>
        </p:spPr>
        <p:txBody>
          <a:bodyPr/>
          <a:lstStyle/>
          <a:p>
            <a:endParaRPr lang="ko-KR" altLang="en-US"/>
          </a:p>
        </p:txBody>
      </p:sp>
      <p:sp>
        <p:nvSpPr>
          <p:cNvPr id="23" name="Shape 19"/>
          <p:cNvSpPr/>
          <p:nvPr/>
        </p:nvSpPr>
        <p:spPr>
          <a:xfrm>
            <a:off x="3529340" y="2416557"/>
            <a:ext cx="47606" cy="47606"/>
          </a:xfrm>
          <a:prstGeom prst="ellipse">
            <a:avLst/>
          </a:prstGeom>
          <a:solidFill>
            <a:srgbClr val="CF7446"/>
          </a:solidFill>
          <a:ln/>
        </p:spPr>
        <p:txBody>
          <a:bodyPr/>
          <a:lstStyle/>
          <a:p>
            <a:endParaRPr lang="ko-KR" altLang="en-US"/>
          </a:p>
        </p:txBody>
      </p:sp>
      <p:sp>
        <p:nvSpPr>
          <p:cNvPr id="24" name="Text 20"/>
          <p:cNvSpPr/>
          <p:nvPr/>
        </p:nvSpPr>
        <p:spPr>
          <a:xfrm>
            <a:off x="3672156" y="2317759"/>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흥국생명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다사랑 통합보험</a:t>
            </a:r>
            <a:endParaRPr lang="en-US" sz="1350" dirty="0"/>
          </a:p>
        </p:txBody>
      </p:sp>
      <p:sp>
        <p:nvSpPr>
          <p:cNvPr id="25" name="Shape 21"/>
          <p:cNvSpPr/>
          <p:nvPr/>
        </p:nvSpPr>
        <p:spPr>
          <a:xfrm>
            <a:off x="3529340" y="2699827"/>
            <a:ext cx="47606" cy="47606"/>
          </a:xfrm>
          <a:prstGeom prst="ellipse">
            <a:avLst/>
          </a:prstGeom>
          <a:solidFill>
            <a:srgbClr val="CF7446"/>
          </a:solidFill>
          <a:ln/>
        </p:spPr>
        <p:txBody>
          <a:bodyPr/>
          <a:lstStyle/>
          <a:p>
            <a:endParaRPr lang="ko-KR" altLang="en-US"/>
          </a:p>
        </p:txBody>
      </p:sp>
      <p:sp>
        <p:nvSpPr>
          <p:cNvPr id="26" name="Text 22"/>
          <p:cNvSpPr/>
          <p:nvPr/>
        </p:nvSpPr>
        <p:spPr>
          <a:xfrm>
            <a:off x="3672156" y="2601029"/>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동양생명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우리WON하는 보장보험</a:t>
            </a:r>
            <a:endParaRPr lang="en-US" sz="1350" dirty="0"/>
          </a:p>
        </p:txBody>
      </p:sp>
      <p:sp>
        <p:nvSpPr>
          <p:cNvPr id="27" name="Shape 23"/>
          <p:cNvSpPr/>
          <p:nvPr/>
        </p:nvSpPr>
        <p:spPr>
          <a:xfrm>
            <a:off x="3529340" y="2983097"/>
            <a:ext cx="47606" cy="47606"/>
          </a:xfrm>
          <a:prstGeom prst="ellipse">
            <a:avLst/>
          </a:prstGeom>
          <a:solidFill>
            <a:srgbClr val="CF7446"/>
          </a:solidFill>
          <a:ln/>
        </p:spPr>
        <p:txBody>
          <a:bodyPr/>
          <a:lstStyle/>
          <a:p>
            <a:endParaRPr lang="ko-KR" altLang="en-US"/>
          </a:p>
        </p:txBody>
      </p:sp>
      <p:sp>
        <p:nvSpPr>
          <p:cNvPr id="28" name="Text 24"/>
          <p:cNvSpPr/>
          <p:nvPr/>
        </p:nvSpPr>
        <p:spPr>
          <a:xfrm>
            <a:off x="3672156" y="2884299"/>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신한라이프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통합건강보험 원</a:t>
            </a:r>
            <a:endParaRPr lang="en-US" sz="1350" dirty="0"/>
          </a:p>
        </p:txBody>
      </p:sp>
      <p:pic>
        <p:nvPicPr>
          <p:cNvPr id="29" name="Image 2" descr="preencoded.png"/>
          <p:cNvPicPr>
            <a:picLocks noChangeAspect="1"/>
          </p:cNvPicPr>
          <p:nvPr/>
        </p:nvPicPr>
        <p:blipFill>
          <a:blip r:embed="rId5"/>
          <a:srcRect l="-5283" r="-5283"/>
          <a:stretch/>
        </p:blipFill>
        <p:spPr>
          <a:xfrm>
            <a:off x="9396002" y="2475983"/>
            <a:ext cx="495294" cy="495294"/>
          </a:xfrm>
          <a:prstGeom prst="rect">
            <a:avLst/>
          </a:prstGeom>
        </p:spPr>
      </p:pic>
      <p:sp>
        <p:nvSpPr>
          <p:cNvPr id="30" name="Shape 25"/>
          <p:cNvSpPr/>
          <p:nvPr/>
        </p:nvSpPr>
        <p:spPr>
          <a:xfrm>
            <a:off x="1733530" y="3329950"/>
            <a:ext cx="1428740" cy="1022136"/>
          </a:xfrm>
          <a:prstGeom prst="roundRect">
            <a:avLst>
              <a:gd name="adj" fmla="val 13046"/>
            </a:avLst>
          </a:prstGeom>
          <a:solidFill>
            <a:srgbClr val="CF7446"/>
          </a:solidFill>
          <a:ln/>
        </p:spPr>
        <p:txBody>
          <a:bodyPr/>
          <a:lstStyle/>
          <a:p>
            <a:endParaRPr lang="ko-KR" altLang="en-US"/>
          </a:p>
        </p:txBody>
      </p:sp>
      <p:sp>
        <p:nvSpPr>
          <p:cNvPr id="31" name="Text 26"/>
          <p:cNvSpPr/>
          <p:nvPr/>
        </p:nvSpPr>
        <p:spPr>
          <a:xfrm>
            <a:off x="1695430" y="3329950"/>
            <a:ext cx="1504940" cy="1060236"/>
          </a:xfrm>
          <a:prstGeom prst="rect">
            <a:avLst/>
          </a:prstGeom>
          <a:noFill/>
          <a:ln/>
        </p:spPr>
        <p:txBody>
          <a:bodyPr wrap="square" lIns="25400" tIns="25400" rIns="25400" bIns="25400" rtlCol="0" anchor="ctr">
            <a:normAutofit/>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관절 및 재해</a:t>
            </a:r>
            <a:endParaRPr lang="en-US" sz="1650" dirty="0"/>
          </a:p>
        </p:txBody>
      </p:sp>
      <p:sp>
        <p:nvSpPr>
          <p:cNvPr id="32" name="Shape 27"/>
          <p:cNvSpPr/>
          <p:nvPr/>
        </p:nvSpPr>
        <p:spPr>
          <a:xfrm>
            <a:off x="3257482" y="3329950"/>
            <a:ext cx="6905672" cy="1022136"/>
          </a:xfrm>
          <a:prstGeom prst="roundRect">
            <a:avLst>
              <a:gd name="adj" fmla="val 13046"/>
            </a:avLst>
          </a:prstGeom>
          <a:solidFill>
            <a:srgbClr val="FFFFFF"/>
          </a:solidFill>
          <a:ln w="5217">
            <a:solidFill>
              <a:srgbClr val="EADFD3"/>
            </a:solidFill>
            <a:prstDash val="solid"/>
          </a:ln>
        </p:spPr>
        <p:txBody>
          <a:bodyPr/>
          <a:lstStyle/>
          <a:p>
            <a:endParaRPr lang="ko-KR" altLang="en-US"/>
          </a:p>
        </p:txBody>
      </p:sp>
      <p:sp>
        <p:nvSpPr>
          <p:cNvPr id="33" name="Shape 28"/>
          <p:cNvSpPr/>
          <p:nvPr/>
        </p:nvSpPr>
        <p:spPr>
          <a:xfrm>
            <a:off x="3529340" y="3533904"/>
            <a:ext cx="47606" cy="47606"/>
          </a:xfrm>
          <a:prstGeom prst="ellipse">
            <a:avLst/>
          </a:prstGeom>
          <a:solidFill>
            <a:srgbClr val="CF7446"/>
          </a:solidFill>
          <a:ln/>
        </p:spPr>
        <p:txBody>
          <a:bodyPr/>
          <a:lstStyle/>
          <a:p>
            <a:endParaRPr lang="ko-KR" altLang="en-US"/>
          </a:p>
        </p:txBody>
      </p:sp>
      <p:sp>
        <p:nvSpPr>
          <p:cNvPr id="34" name="Text 29"/>
          <p:cNvSpPr/>
          <p:nvPr/>
        </p:nvSpPr>
        <p:spPr>
          <a:xfrm>
            <a:off x="3672156" y="3435106"/>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미래에셋생명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M-케어 건강보험</a:t>
            </a:r>
            <a:endParaRPr lang="en-US" sz="1350" dirty="0"/>
          </a:p>
        </p:txBody>
      </p:sp>
      <p:sp>
        <p:nvSpPr>
          <p:cNvPr id="35" name="Shape 30"/>
          <p:cNvSpPr/>
          <p:nvPr/>
        </p:nvSpPr>
        <p:spPr>
          <a:xfrm>
            <a:off x="3529340" y="3817174"/>
            <a:ext cx="47606" cy="47606"/>
          </a:xfrm>
          <a:prstGeom prst="ellipse">
            <a:avLst/>
          </a:prstGeom>
          <a:solidFill>
            <a:srgbClr val="CF7446"/>
          </a:solidFill>
          <a:ln/>
        </p:spPr>
        <p:txBody>
          <a:bodyPr/>
          <a:lstStyle/>
          <a:p>
            <a:endParaRPr lang="ko-KR" altLang="en-US"/>
          </a:p>
        </p:txBody>
      </p:sp>
      <p:sp>
        <p:nvSpPr>
          <p:cNvPr id="36" name="Text 31"/>
          <p:cNvSpPr/>
          <p:nvPr/>
        </p:nvSpPr>
        <p:spPr>
          <a:xfrm>
            <a:off x="3672156" y="3718376"/>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라이나생명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새로담는 간편건강보험</a:t>
            </a:r>
            <a:endParaRPr lang="en-US" sz="1350" dirty="0"/>
          </a:p>
        </p:txBody>
      </p:sp>
      <p:sp>
        <p:nvSpPr>
          <p:cNvPr id="37" name="Shape 32"/>
          <p:cNvSpPr/>
          <p:nvPr/>
        </p:nvSpPr>
        <p:spPr>
          <a:xfrm>
            <a:off x="3529340" y="4100444"/>
            <a:ext cx="47606" cy="47606"/>
          </a:xfrm>
          <a:prstGeom prst="ellipse">
            <a:avLst/>
          </a:prstGeom>
          <a:solidFill>
            <a:srgbClr val="CF7446"/>
          </a:solidFill>
          <a:ln/>
        </p:spPr>
        <p:txBody>
          <a:bodyPr/>
          <a:lstStyle/>
          <a:p>
            <a:endParaRPr lang="ko-KR" altLang="en-US"/>
          </a:p>
        </p:txBody>
      </p:sp>
      <p:sp>
        <p:nvSpPr>
          <p:cNvPr id="38" name="Text 33"/>
          <p:cNvSpPr/>
          <p:nvPr/>
        </p:nvSpPr>
        <p:spPr>
          <a:xfrm>
            <a:off x="3672156" y="4001646"/>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흥국생명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다사랑 간편 통합 상해보험</a:t>
            </a:r>
            <a:endParaRPr lang="en-US" sz="1350" dirty="0"/>
          </a:p>
        </p:txBody>
      </p:sp>
      <p:pic>
        <p:nvPicPr>
          <p:cNvPr id="39" name="Image 3" descr="preencoded.png"/>
          <p:cNvPicPr>
            <a:picLocks noChangeAspect="1"/>
          </p:cNvPicPr>
          <p:nvPr/>
        </p:nvPicPr>
        <p:blipFill>
          <a:blip r:embed="rId6"/>
          <a:srcRect l="-9057" r="-9057"/>
          <a:stretch/>
        </p:blipFill>
        <p:spPr>
          <a:xfrm>
            <a:off x="9396002" y="3593330"/>
            <a:ext cx="495294" cy="495294"/>
          </a:xfrm>
          <a:prstGeom prst="rect">
            <a:avLst/>
          </a:prstGeom>
        </p:spPr>
      </p:pic>
      <p:sp>
        <p:nvSpPr>
          <p:cNvPr id="40" name="Shape 34"/>
          <p:cNvSpPr/>
          <p:nvPr/>
        </p:nvSpPr>
        <p:spPr>
          <a:xfrm>
            <a:off x="1733530" y="4447297"/>
            <a:ext cx="1428740" cy="1022136"/>
          </a:xfrm>
          <a:prstGeom prst="roundRect">
            <a:avLst>
              <a:gd name="adj" fmla="val 13046"/>
            </a:avLst>
          </a:prstGeom>
          <a:solidFill>
            <a:srgbClr val="CF7446"/>
          </a:solidFill>
          <a:ln/>
        </p:spPr>
        <p:txBody>
          <a:bodyPr/>
          <a:lstStyle/>
          <a:p>
            <a:endParaRPr lang="ko-KR" altLang="en-US"/>
          </a:p>
        </p:txBody>
      </p:sp>
      <p:sp>
        <p:nvSpPr>
          <p:cNvPr id="41" name="Text 35"/>
          <p:cNvSpPr/>
          <p:nvPr/>
        </p:nvSpPr>
        <p:spPr>
          <a:xfrm>
            <a:off x="2176165" y="4696330"/>
            <a:ext cx="619508"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보증형</a:t>
            </a:r>
            <a:endParaRPr lang="en-US" sz="1650" dirty="0"/>
          </a:p>
        </p:txBody>
      </p:sp>
      <p:sp>
        <p:nvSpPr>
          <p:cNvPr id="42" name="Text 36"/>
          <p:cNvSpPr/>
          <p:nvPr/>
        </p:nvSpPr>
        <p:spPr>
          <a:xfrm>
            <a:off x="2085682" y="4979193"/>
            <a:ext cx="800556" cy="272867"/>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변액연금</a:t>
            </a:r>
            <a:endParaRPr lang="en-US" sz="1650" dirty="0"/>
          </a:p>
        </p:txBody>
      </p:sp>
      <p:sp>
        <p:nvSpPr>
          <p:cNvPr id="43" name="Shape 37"/>
          <p:cNvSpPr/>
          <p:nvPr/>
        </p:nvSpPr>
        <p:spPr>
          <a:xfrm>
            <a:off x="3257482" y="4447297"/>
            <a:ext cx="6905672" cy="1022136"/>
          </a:xfrm>
          <a:prstGeom prst="roundRect">
            <a:avLst>
              <a:gd name="adj" fmla="val 13046"/>
            </a:avLst>
          </a:prstGeom>
          <a:solidFill>
            <a:srgbClr val="FFFFFF"/>
          </a:solidFill>
          <a:ln w="5217">
            <a:solidFill>
              <a:srgbClr val="EADFD3"/>
            </a:solidFill>
            <a:prstDash val="solid"/>
          </a:ln>
        </p:spPr>
        <p:txBody>
          <a:bodyPr/>
          <a:lstStyle/>
          <a:p>
            <a:endParaRPr lang="ko-KR" altLang="en-US"/>
          </a:p>
        </p:txBody>
      </p:sp>
      <p:sp>
        <p:nvSpPr>
          <p:cNvPr id="44" name="Shape 38"/>
          <p:cNvSpPr/>
          <p:nvPr/>
        </p:nvSpPr>
        <p:spPr>
          <a:xfrm>
            <a:off x="3529340" y="4651251"/>
            <a:ext cx="47606" cy="47606"/>
          </a:xfrm>
          <a:prstGeom prst="ellipse">
            <a:avLst/>
          </a:prstGeom>
          <a:solidFill>
            <a:srgbClr val="CF7446"/>
          </a:solidFill>
          <a:ln/>
        </p:spPr>
        <p:txBody>
          <a:bodyPr/>
          <a:lstStyle/>
          <a:p>
            <a:endParaRPr lang="ko-KR" altLang="en-US"/>
          </a:p>
        </p:txBody>
      </p:sp>
      <p:sp>
        <p:nvSpPr>
          <p:cNvPr id="45" name="Text 39"/>
          <p:cNvSpPr/>
          <p:nvPr/>
        </p:nvSpPr>
        <p:spPr>
          <a:xfrm>
            <a:off x="3672156" y="4552453"/>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iM라이프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iM마스터 PRO 변액연금</a:t>
            </a:r>
            <a:endParaRPr lang="en-US" sz="1350" dirty="0"/>
          </a:p>
        </p:txBody>
      </p:sp>
      <p:sp>
        <p:nvSpPr>
          <p:cNvPr id="46" name="Shape 40"/>
          <p:cNvSpPr/>
          <p:nvPr/>
        </p:nvSpPr>
        <p:spPr>
          <a:xfrm>
            <a:off x="3529340" y="4934521"/>
            <a:ext cx="47606" cy="47606"/>
          </a:xfrm>
          <a:prstGeom prst="ellipse">
            <a:avLst/>
          </a:prstGeom>
          <a:solidFill>
            <a:srgbClr val="CF7446"/>
          </a:solidFill>
          <a:ln/>
        </p:spPr>
        <p:txBody>
          <a:bodyPr/>
          <a:lstStyle/>
          <a:p>
            <a:endParaRPr lang="ko-KR" altLang="en-US"/>
          </a:p>
        </p:txBody>
      </p:sp>
      <p:sp>
        <p:nvSpPr>
          <p:cNvPr id="47" name="Text 41"/>
          <p:cNvSpPr/>
          <p:nvPr/>
        </p:nvSpPr>
        <p:spPr>
          <a:xfrm>
            <a:off x="3672156" y="4835723"/>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KDB생명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더!행복드림 변액연금보험</a:t>
            </a:r>
            <a:endParaRPr lang="en-US" sz="1350" dirty="0"/>
          </a:p>
        </p:txBody>
      </p:sp>
      <p:sp>
        <p:nvSpPr>
          <p:cNvPr id="48" name="Shape 42"/>
          <p:cNvSpPr/>
          <p:nvPr/>
        </p:nvSpPr>
        <p:spPr>
          <a:xfrm>
            <a:off x="3529340" y="5217791"/>
            <a:ext cx="47606" cy="47606"/>
          </a:xfrm>
          <a:prstGeom prst="ellipse">
            <a:avLst/>
          </a:prstGeom>
          <a:solidFill>
            <a:srgbClr val="CF7446"/>
          </a:solidFill>
          <a:ln/>
        </p:spPr>
        <p:txBody>
          <a:bodyPr/>
          <a:lstStyle/>
          <a:p>
            <a:endParaRPr lang="ko-KR" altLang="en-US"/>
          </a:p>
        </p:txBody>
      </p:sp>
      <p:sp>
        <p:nvSpPr>
          <p:cNvPr id="49" name="Text 43"/>
          <p:cNvSpPr/>
          <p:nvPr/>
        </p:nvSpPr>
        <p:spPr>
          <a:xfrm>
            <a:off x="3672156" y="5118993"/>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IBK연금보험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연금액 평생보증받는 변액연금보험</a:t>
            </a:r>
            <a:endParaRPr lang="en-US" sz="1350" dirty="0"/>
          </a:p>
        </p:txBody>
      </p:sp>
      <p:pic>
        <p:nvPicPr>
          <p:cNvPr id="50" name="Image 4" descr="preencoded.png"/>
          <p:cNvPicPr>
            <a:picLocks noChangeAspect="1"/>
          </p:cNvPicPr>
          <p:nvPr/>
        </p:nvPicPr>
        <p:blipFill>
          <a:blip r:embed="rId7"/>
          <a:srcRect l="-18640" r="-18640"/>
          <a:stretch/>
        </p:blipFill>
        <p:spPr>
          <a:xfrm>
            <a:off x="9396002" y="4710677"/>
            <a:ext cx="495294" cy="495294"/>
          </a:xfrm>
          <a:prstGeom prst="rect">
            <a:avLst/>
          </a:prstGeom>
        </p:spPr>
      </p:pic>
      <p:sp>
        <p:nvSpPr>
          <p:cNvPr id="51" name="Shape 44"/>
          <p:cNvSpPr/>
          <p:nvPr/>
        </p:nvSpPr>
        <p:spPr>
          <a:xfrm>
            <a:off x="1733530" y="5564644"/>
            <a:ext cx="8429624" cy="1226661"/>
          </a:xfrm>
          <a:prstGeom prst="roundRect">
            <a:avLst>
              <a:gd name="adj" fmla="val 10871"/>
            </a:avLst>
          </a:prstGeom>
          <a:solidFill>
            <a:srgbClr val="FFFFFF"/>
          </a:solidFill>
          <a:ln w="5217">
            <a:solidFill>
              <a:srgbClr val="EADFD3"/>
            </a:solidFill>
            <a:prstDash val="solid"/>
          </a:ln>
        </p:spPr>
        <p:txBody>
          <a:bodyPr/>
          <a:lstStyle/>
          <a:p>
            <a:endParaRPr lang="ko-KR" altLang="en-US"/>
          </a:p>
        </p:txBody>
      </p:sp>
      <p:sp>
        <p:nvSpPr>
          <p:cNvPr id="52" name="Shape 45"/>
          <p:cNvSpPr/>
          <p:nvPr/>
        </p:nvSpPr>
        <p:spPr>
          <a:xfrm>
            <a:off x="1738748" y="5569861"/>
            <a:ext cx="8419190" cy="315795"/>
          </a:xfrm>
          <a:prstGeom prst="rect">
            <a:avLst/>
          </a:prstGeom>
          <a:solidFill>
            <a:srgbClr val="7E8D4A"/>
          </a:solidFill>
          <a:ln/>
        </p:spPr>
        <p:txBody>
          <a:bodyPr/>
          <a:lstStyle/>
          <a:p>
            <a:endParaRPr lang="ko-KR" altLang="en-US"/>
          </a:p>
        </p:txBody>
      </p:sp>
      <p:sp>
        <p:nvSpPr>
          <p:cNvPr id="53" name="Text 46"/>
          <p:cNvSpPr/>
          <p:nvPr/>
        </p:nvSpPr>
        <p:spPr>
          <a:xfrm>
            <a:off x="1929248" y="5636536"/>
            <a:ext cx="8290765" cy="220545"/>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FFFFFF"/>
                </a:solidFill>
                <a:latin typeface="Paperlogy 7 Bold" pitchFamily="2" charset="-127"/>
                <a:ea typeface="Paperlogy 7 Bold" pitchFamily="2" charset="-127"/>
                <a:cs typeface="Arial" pitchFamily="34" charset="-120"/>
              </a:rPr>
              <a:t>가성비 상품</a:t>
            </a:r>
            <a:endParaRPr lang="en-US" sz="1200" dirty="0"/>
          </a:p>
        </p:txBody>
      </p:sp>
      <p:sp>
        <p:nvSpPr>
          <p:cNvPr id="54" name="Shape 47"/>
          <p:cNvSpPr/>
          <p:nvPr/>
        </p:nvSpPr>
        <p:spPr>
          <a:xfrm>
            <a:off x="1929170" y="5980867"/>
            <a:ext cx="323784" cy="710009"/>
          </a:xfrm>
          <a:prstGeom prst="roundRect">
            <a:avLst>
              <a:gd name="adj" fmla="val 23534"/>
            </a:avLst>
          </a:prstGeom>
          <a:solidFill>
            <a:srgbClr val="E7EBD4"/>
          </a:solidFill>
          <a:ln/>
        </p:spPr>
        <p:txBody>
          <a:bodyPr/>
          <a:lstStyle/>
          <a:p>
            <a:endParaRPr lang="ko-KR" altLang="en-US"/>
          </a:p>
        </p:txBody>
      </p:sp>
      <p:sp>
        <p:nvSpPr>
          <p:cNvPr id="55" name="Text 48"/>
          <p:cNvSpPr/>
          <p:nvPr/>
        </p:nvSpPr>
        <p:spPr>
          <a:xfrm>
            <a:off x="1891070" y="5980867"/>
            <a:ext cx="399984" cy="748109"/>
          </a:xfrm>
          <a:prstGeom prst="rect">
            <a:avLst/>
          </a:prstGeom>
          <a:noFill/>
          <a:ln/>
        </p:spPr>
        <p:txBody>
          <a:bodyPr vert="eaVert" wrap="square" lIns="25400" tIns="25400" rIns="25400" bIns="25400" rtlCol="0" anchor="ctr">
            <a:normAutofit/>
          </a:bodyPr>
          <a:lstStyle/>
          <a:p>
            <a:pPr marL="0" indent="0" algn="ctr">
              <a:buNone/>
            </a:pPr>
            <a:r>
              <a:rPr lang="en-US" sz="1125" b="1" kern="0" spc="225" dirty="0">
                <a:solidFill>
                  <a:srgbClr val="55612C"/>
                </a:solidFill>
                <a:latin typeface="Paperlogy 7 Bold" pitchFamily="2" charset="-127"/>
                <a:ea typeface="Paperlogy 7 Bold" pitchFamily="2" charset="-127"/>
                <a:cs typeface="Arial" pitchFamily="34" charset="-120"/>
              </a:rPr>
              <a:t>건강체</a:t>
            </a:r>
            <a:endParaRPr lang="en-US" sz="1125" dirty="0"/>
          </a:p>
        </p:txBody>
      </p:sp>
      <p:sp>
        <p:nvSpPr>
          <p:cNvPr id="56" name="Shape 49"/>
          <p:cNvSpPr/>
          <p:nvPr/>
        </p:nvSpPr>
        <p:spPr>
          <a:xfrm>
            <a:off x="2386233" y="6056352"/>
            <a:ext cx="47606" cy="47606"/>
          </a:xfrm>
          <a:prstGeom prst="ellipse">
            <a:avLst/>
          </a:prstGeom>
          <a:solidFill>
            <a:srgbClr val="7E8D4A"/>
          </a:solidFill>
          <a:ln/>
        </p:spPr>
        <p:txBody>
          <a:bodyPr/>
          <a:lstStyle/>
          <a:p>
            <a:endParaRPr lang="ko-KR" altLang="en-US"/>
          </a:p>
        </p:txBody>
      </p:sp>
      <p:sp>
        <p:nvSpPr>
          <p:cNvPr id="57" name="Text 50"/>
          <p:cNvSpPr/>
          <p:nvPr/>
        </p:nvSpPr>
        <p:spPr>
          <a:xfrm>
            <a:off x="2529050" y="5980867"/>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흥국생명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다사랑 오튼튼 건강보험</a:t>
            </a:r>
            <a:endParaRPr lang="en-US" sz="1050" dirty="0"/>
          </a:p>
        </p:txBody>
      </p:sp>
      <p:sp>
        <p:nvSpPr>
          <p:cNvPr id="58" name="Shape 51"/>
          <p:cNvSpPr/>
          <p:nvPr/>
        </p:nvSpPr>
        <p:spPr>
          <a:xfrm>
            <a:off x="2386233" y="6312069"/>
            <a:ext cx="47606" cy="47606"/>
          </a:xfrm>
          <a:prstGeom prst="ellipse">
            <a:avLst/>
          </a:prstGeom>
          <a:solidFill>
            <a:srgbClr val="7E8D4A"/>
          </a:solidFill>
          <a:ln/>
        </p:spPr>
        <p:txBody>
          <a:bodyPr/>
          <a:lstStyle/>
          <a:p>
            <a:endParaRPr lang="ko-KR" altLang="en-US"/>
          </a:p>
        </p:txBody>
      </p:sp>
      <p:sp>
        <p:nvSpPr>
          <p:cNvPr id="59" name="Text 52"/>
          <p:cNvSpPr/>
          <p:nvPr/>
        </p:nvSpPr>
        <p:spPr>
          <a:xfrm>
            <a:off x="2529050" y="6236584"/>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삼성생명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가족대표 건강보험</a:t>
            </a:r>
            <a:endParaRPr lang="en-US" sz="1050" dirty="0"/>
          </a:p>
        </p:txBody>
      </p:sp>
      <p:sp>
        <p:nvSpPr>
          <p:cNvPr id="60" name="Shape 53"/>
          <p:cNvSpPr/>
          <p:nvPr/>
        </p:nvSpPr>
        <p:spPr>
          <a:xfrm>
            <a:off x="2386233" y="6567786"/>
            <a:ext cx="47606" cy="47606"/>
          </a:xfrm>
          <a:prstGeom prst="ellipse">
            <a:avLst/>
          </a:prstGeom>
          <a:solidFill>
            <a:srgbClr val="7E8D4A"/>
          </a:solidFill>
          <a:ln/>
        </p:spPr>
        <p:txBody>
          <a:bodyPr/>
          <a:lstStyle/>
          <a:p>
            <a:endParaRPr lang="ko-KR" altLang="en-US"/>
          </a:p>
        </p:txBody>
      </p:sp>
      <p:sp>
        <p:nvSpPr>
          <p:cNvPr id="61" name="Text 54"/>
          <p:cNvSpPr/>
          <p:nvPr/>
        </p:nvSpPr>
        <p:spPr>
          <a:xfrm>
            <a:off x="2529050" y="6492302"/>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KB라이프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5.10.5 딱좋은 플러스 건강보험</a:t>
            </a:r>
            <a:endParaRPr lang="en-US" sz="1050" dirty="0"/>
          </a:p>
        </p:txBody>
      </p:sp>
      <p:sp>
        <p:nvSpPr>
          <p:cNvPr id="62" name="Shape 55"/>
          <p:cNvSpPr/>
          <p:nvPr/>
        </p:nvSpPr>
        <p:spPr>
          <a:xfrm>
            <a:off x="6062628" y="5980867"/>
            <a:ext cx="323784" cy="710009"/>
          </a:xfrm>
          <a:prstGeom prst="roundRect">
            <a:avLst>
              <a:gd name="adj" fmla="val 23534"/>
            </a:avLst>
          </a:prstGeom>
          <a:solidFill>
            <a:srgbClr val="E7EBD4"/>
          </a:solidFill>
          <a:ln/>
        </p:spPr>
        <p:txBody>
          <a:bodyPr/>
          <a:lstStyle/>
          <a:p>
            <a:endParaRPr lang="ko-KR" altLang="en-US"/>
          </a:p>
        </p:txBody>
      </p:sp>
      <p:sp>
        <p:nvSpPr>
          <p:cNvPr id="63" name="Text 56"/>
          <p:cNvSpPr/>
          <p:nvPr/>
        </p:nvSpPr>
        <p:spPr>
          <a:xfrm>
            <a:off x="6024528" y="5980867"/>
            <a:ext cx="399984" cy="748109"/>
          </a:xfrm>
          <a:prstGeom prst="rect">
            <a:avLst/>
          </a:prstGeom>
          <a:noFill/>
          <a:ln/>
        </p:spPr>
        <p:txBody>
          <a:bodyPr vert="eaVert" wrap="square" lIns="25400" tIns="25400" rIns="25400" bIns="25400" rtlCol="0" anchor="ctr">
            <a:normAutofit/>
          </a:bodyPr>
          <a:lstStyle/>
          <a:p>
            <a:pPr marL="0" indent="0" algn="ctr">
              <a:buNone/>
            </a:pPr>
            <a:r>
              <a:rPr lang="en-US" sz="1125" b="1" kern="0" spc="225" dirty="0">
                <a:solidFill>
                  <a:srgbClr val="55612C"/>
                </a:solidFill>
                <a:latin typeface="Paperlogy 7 Bold" pitchFamily="2" charset="-127"/>
                <a:ea typeface="Paperlogy 7 Bold" pitchFamily="2" charset="-127"/>
                <a:cs typeface="Arial" pitchFamily="34" charset="-120"/>
              </a:rPr>
              <a:t>초경증</a:t>
            </a:r>
            <a:endParaRPr lang="en-US" sz="1125" dirty="0"/>
          </a:p>
        </p:txBody>
      </p:sp>
      <p:sp>
        <p:nvSpPr>
          <p:cNvPr id="64" name="Shape 57"/>
          <p:cNvSpPr/>
          <p:nvPr/>
        </p:nvSpPr>
        <p:spPr>
          <a:xfrm>
            <a:off x="6519692" y="6056352"/>
            <a:ext cx="47606" cy="47606"/>
          </a:xfrm>
          <a:prstGeom prst="ellipse">
            <a:avLst/>
          </a:prstGeom>
          <a:solidFill>
            <a:srgbClr val="7E8D4A"/>
          </a:solidFill>
          <a:ln/>
        </p:spPr>
        <p:txBody>
          <a:bodyPr/>
          <a:lstStyle/>
          <a:p>
            <a:endParaRPr lang="ko-KR" altLang="en-US"/>
          </a:p>
        </p:txBody>
      </p:sp>
      <p:sp>
        <p:nvSpPr>
          <p:cNvPr id="65" name="Text 58"/>
          <p:cNvSpPr/>
          <p:nvPr/>
        </p:nvSpPr>
        <p:spPr>
          <a:xfrm>
            <a:off x="6662508" y="5980867"/>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미래에셋생명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M-케어 건강보험 3.10.5</a:t>
            </a:r>
            <a:endParaRPr lang="en-US" sz="1050" dirty="0"/>
          </a:p>
        </p:txBody>
      </p:sp>
      <p:sp>
        <p:nvSpPr>
          <p:cNvPr id="66" name="Shape 59"/>
          <p:cNvSpPr/>
          <p:nvPr/>
        </p:nvSpPr>
        <p:spPr>
          <a:xfrm>
            <a:off x="6519692" y="6312069"/>
            <a:ext cx="47606" cy="47606"/>
          </a:xfrm>
          <a:prstGeom prst="ellipse">
            <a:avLst/>
          </a:prstGeom>
          <a:solidFill>
            <a:srgbClr val="7E8D4A"/>
          </a:solidFill>
          <a:ln/>
        </p:spPr>
        <p:txBody>
          <a:bodyPr/>
          <a:lstStyle/>
          <a:p>
            <a:endParaRPr lang="ko-KR" altLang="en-US"/>
          </a:p>
        </p:txBody>
      </p:sp>
      <p:sp>
        <p:nvSpPr>
          <p:cNvPr id="67" name="Text 60"/>
          <p:cNvSpPr/>
          <p:nvPr/>
        </p:nvSpPr>
        <p:spPr>
          <a:xfrm>
            <a:off x="6662508" y="6236584"/>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KB라이프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딱좋은 초경증 건강보험</a:t>
            </a:r>
            <a:endParaRPr lang="en-US" sz="1050" dirty="0"/>
          </a:p>
        </p:txBody>
      </p:sp>
      <p:sp>
        <p:nvSpPr>
          <p:cNvPr id="68" name="Shape 61"/>
          <p:cNvSpPr/>
          <p:nvPr/>
        </p:nvSpPr>
        <p:spPr>
          <a:xfrm>
            <a:off x="6519692" y="6567786"/>
            <a:ext cx="47606" cy="47606"/>
          </a:xfrm>
          <a:prstGeom prst="ellipse">
            <a:avLst/>
          </a:prstGeom>
          <a:solidFill>
            <a:srgbClr val="7E8D4A"/>
          </a:solidFill>
          <a:ln/>
        </p:spPr>
        <p:txBody>
          <a:bodyPr/>
          <a:lstStyle/>
          <a:p>
            <a:endParaRPr lang="ko-KR" altLang="en-US"/>
          </a:p>
        </p:txBody>
      </p:sp>
      <p:sp>
        <p:nvSpPr>
          <p:cNvPr id="69" name="Text 62"/>
          <p:cNvSpPr/>
          <p:nvPr/>
        </p:nvSpPr>
        <p:spPr>
          <a:xfrm>
            <a:off x="6662508" y="6492302"/>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흥국생명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다사랑 3.10.5 간편건강</a:t>
            </a:r>
            <a:endParaRPr lang="en-US" sz="1050" dirty="0"/>
          </a:p>
        </p:txBody>
      </p:sp>
      <p:sp>
        <p:nvSpPr>
          <p:cNvPr id="70" name="Text 63"/>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1" name="Text 64"/>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72" name="Text 65"/>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225372"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뇌졸중, 살리는 치료로 끝나지 않는다… 치료비 준비는?</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순환계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898149" cy="247647"/>
          </a:xfrm>
          <a:prstGeom prst="rect">
            <a:avLst/>
          </a:prstGeom>
        </p:spPr>
      </p:pic>
      <p:sp>
        <p:nvSpPr>
          <p:cNvPr id="8" name="Shape 5"/>
          <p:cNvSpPr/>
          <p:nvPr/>
        </p:nvSpPr>
        <p:spPr>
          <a:xfrm>
            <a:off x="1893873"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1989123"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노상우 기자 입력: 2026.09.16 12:00</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뇌졸중 살린 뒤에도 끝 아니다…7~9년 후 기능 저하, 장기 돌봄 필요</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1117786"/>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뇌졸중 치료는 생명을 구하는 것을 포함해 생존 이후의 장애와 삶의 질을 관리하는 방향으로 더욱 확대돼야 한다는 의견이 제시됐다. 뇌졸중 급성기 치료 이후에도 회복한 기능을 유지할 수 있도록 재활과 지역사회 돌봄을 연결해야 한다는 것이다.</a:t>
            </a:r>
            <a:endParaRPr lang="en-US" sz="1013" dirty="0"/>
          </a:p>
        </p:txBody>
      </p:sp>
      <p:sp>
        <p:nvSpPr>
          <p:cNvPr id="14" name="Text 11"/>
          <p:cNvSpPr/>
          <p:nvPr/>
        </p:nvSpPr>
        <p:spPr>
          <a:xfrm>
            <a:off x="881438" y="3572625"/>
            <a:ext cx="2870997" cy="1549661"/>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장원혁 삼성서울병원 재활의학과 교수는 14일 ‘데이터, 뇌를 읽고 삶을 잇다’ 주제로 한국과학기자협회와 질병관리청 국립보건연구원이 공동 주최한 미디어세미나에서 국내 뇌졸중 환자의 장기 생존과 장애 추적 결과를 소개했다. 국내 환자를 장기간 추적한 결과 일상생활 수행능력은 발병 후 2년까지 회복되지만, 7~9년이 지나면서 다시 저하하는 경향이 확인됐다.</a:t>
            </a:r>
            <a:endParaRPr lang="en-US" sz="1013" dirty="0"/>
          </a:p>
        </p:txBody>
      </p:sp>
      <p:sp>
        <p:nvSpPr>
          <p:cNvPr id="15" name="Text 12"/>
          <p:cNvSpPr/>
          <p:nvPr/>
        </p:nvSpPr>
        <p:spPr>
          <a:xfrm>
            <a:off x="881438" y="5161300"/>
            <a:ext cx="2870997" cy="1333724"/>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이번 발표는 2012년 시작된 ‘뇌졸중 환자의 재활 분야 장기 추적조사’의 1차 코호트를 토대로 이뤄졌다. 2012~2015년 전국 9개 대학병원에 입원한 성인 초발 뇌졸중 환자 1만686명을 대상으로 사망 자료를 분석하고, 연구 참여에 동의한 7858명의 기능과 장애 등을 추적했다.</a:t>
            </a:r>
            <a:endParaRPr lang="en-US" sz="1013" dirty="0"/>
          </a:p>
        </p:txBody>
      </p:sp>
      <p:sp>
        <p:nvSpPr>
          <p:cNvPr id="16" name="Text 13"/>
          <p:cNvSpPr/>
          <p:nvPr/>
        </p:nvSpPr>
        <p:spPr>
          <a:xfrm>
            <a:off x="3954611" y="2415824"/>
            <a:ext cx="2870997" cy="1117786"/>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 교수는 “급성기 치료 이후 환자의 삶에 관한 정보가 부족하다는 문제의식에서 연구가 시작됐다”며 “응급치료로 생명을 구한 뒤 환자가 얼마나 회복하는지, 장애가 얼마나 남는지, 가족의 돌봄 부담은 어떻게 달라지는지 확인할 장기 자료가 필요했다”고 설명했다.</a:t>
            </a:r>
            <a:endParaRPr lang="en-US" sz="1013" dirty="0"/>
          </a:p>
        </p:txBody>
      </p:sp>
      <p:sp>
        <p:nvSpPr>
          <p:cNvPr id="17" name="Text 14"/>
          <p:cNvSpPr/>
          <p:nvPr/>
        </p:nvSpPr>
        <p:spPr>
          <a:xfrm>
            <a:off x="3954611" y="3564504"/>
            <a:ext cx="2870997" cy="1333724"/>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장기 추적에서 눈에 띄는 결과는 회복 이후에도 기능이 다시 저하할 수 있다는 점이다. 연구진이 10년 시점 평가에 참여한 생존자 3045명의 한국판 수정바델지수(K-MBI)를 분석한 결과 일상생활 수행능력은 발병 2년까지 호전됐다. 이후 대체로 유지되다가 8년부터 악화하는 양상이 나타났다.</a:t>
            </a:r>
            <a:endParaRPr lang="en-US" sz="1013" dirty="0"/>
          </a:p>
        </p:txBody>
      </p:sp>
      <p:sp>
        <p:nvSpPr>
          <p:cNvPr id="18" name="Text 15"/>
          <p:cNvSpPr/>
          <p:nvPr/>
        </p:nvSpPr>
        <p:spPr>
          <a:xfrm>
            <a:off x="3954611" y="4998314"/>
            <a:ext cx="2870997" cy="685912"/>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 교수는 “과거에는 뇌졸중 회복 기간을 6개월 정도로 설명했지만 실제 우리나라 데이터를 보니 2년까지도 좋아지는 것을 확인했다”고 말했다.</a:t>
            </a:r>
            <a:endParaRPr lang="en-US" sz="1013" dirty="0"/>
          </a:p>
        </p:txBody>
      </p:sp>
      <p:sp>
        <p:nvSpPr>
          <p:cNvPr id="19" name="Text 16"/>
          <p:cNvSpPr/>
          <p:nvPr/>
        </p:nvSpPr>
        <p:spPr>
          <a:xfrm>
            <a:off x="7058882" y="2401465"/>
            <a:ext cx="2870997" cy="813121"/>
          </a:xfrm>
          <a:prstGeom prst="rect">
            <a:avLst/>
          </a:prstGeom>
          <a:noFill/>
          <a:ln/>
        </p:spPr>
        <p:txBody>
          <a:bodyPr wrap="square" lIns="25400" tIns="25400" rIns="25400" bIns="25400" rtlCol="0" anchor="t">
            <a:noAutofit/>
          </a:bodyPr>
          <a:lstStyle/>
          <a:p>
            <a:pPr marL="0" indent="0" algn="just">
              <a:lnSpc>
                <a:spcPct val="147885"/>
              </a:lnSpc>
              <a:buNone/>
            </a:pPr>
            <a:r>
              <a:rPr lang="en-US" sz="1010" b="1" kern="0" spc="-10" dirty="0" err="1">
                <a:solidFill>
                  <a:srgbClr val="4A3B31"/>
                </a:solidFill>
                <a:latin typeface="Paperlogy 7 Bold" pitchFamily="2" charset="-127"/>
                <a:ea typeface="Paperlogy 7 Bold" pitchFamily="2" charset="-127"/>
                <a:cs typeface="Arial" pitchFamily="34" charset="-120"/>
              </a:rPr>
              <a:t>초기</a:t>
            </a:r>
            <a:r>
              <a:rPr lang="en-US" sz="1010" b="1" kern="0" spc="-10" dirty="0">
                <a:solidFill>
                  <a:srgbClr val="4A3B31"/>
                </a:solidFill>
                <a:latin typeface="Paperlogy 7 Bold" pitchFamily="2" charset="-127"/>
                <a:ea typeface="Paperlogy 7 Bold" pitchFamily="2" charset="-127"/>
                <a:cs typeface="Arial" pitchFamily="34" charset="-120"/>
              </a:rPr>
              <a:t> 뇌졸중이 경증인 환자에게서도 발병 8년부터 기능 저하가 관찰됐다. 젊거나 초기 증상이 가벼웠다는 이유만으로 장기 관리를 소홀히 해서는 안 된다는 것을 의미했다.</a:t>
            </a:r>
            <a:endParaRPr lang="en-US" sz="1010" dirty="0"/>
          </a:p>
        </p:txBody>
      </p:sp>
      <p:sp>
        <p:nvSpPr>
          <p:cNvPr id="20" name="Text 17"/>
          <p:cNvSpPr/>
          <p:nvPr/>
        </p:nvSpPr>
        <p:spPr>
          <a:xfrm>
            <a:off x="7027702" y="3257409"/>
            <a:ext cx="2870997" cy="685912"/>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 교수는 “초기에 얼마나 빨리 좋아지는지도 중요하지만 이후 기능을 유지하기 위한 노력도 </a:t>
            </a:r>
            <a:r>
              <a:rPr lang="en-US" sz="1013" b="1" kern="0" spc="-10" dirty="0" err="1">
                <a:solidFill>
                  <a:srgbClr val="4A3B31"/>
                </a:solidFill>
                <a:latin typeface="Paperlogy 7 Bold" pitchFamily="2" charset="-127"/>
                <a:ea typeface="Paperlogy 7 Bold" pitchFamily="2" charset="-127"/>
                <a:cs typeface="Arial" pitchFamily="34" charset="-120"/>
              </a:rPr>
              <a:t>필요하다”고</a:t>
            </a:r>
            <a:r>
              <a:rPr lang="en-US" sz="1013" b="1" kern="0" spc="-10" dirty="0">
                <a:solidFill>
                  <a:srgbClr val="4A3B31"/>
                </a:solidFill>
                <a:latin typeface="Paperlogy 7 Bold" pitchFamily="2" charset="-127"/>
                <a:ea typeface="Paperlogy 7 Bold" pitchFamily="2" charset="-127"/>
                <a:cs typeface="Arial" pitchFamily="34" charset="-120"/>
              </a:rPr>
              <a:t> </a:t>
            </a:r>
            <a:r>
              <a:rPr lang="en-US" sz="1013" b="1" kern="0" spc="-10" dirty="0" err="1">
                <a:solidFill>
                  <a:srgbClr val="4A3B31"/>
                </a:solidFill>
                <a:latin typeface="Paperlogy 7 Bold" pitchFamily="2" charset="-127"/>
                <a:ea typeface="Paperlogy 7 Bold" pitchFamily="2" charset="-127"/>
                <a:cs typeface="Arial" pitchFamily="34" charset="-120"/>
              </a:rPr>
              <a:t>강조했다</a:t>
            </a:r>
            <a:r>
              <a:rPr lang="en-US" sz="1013" b="1" kern="0" spc="-10" dirty="0">
                <a:solidFill>
                  <a:srgbClr val="4A3B31"/>
                </a:solidFill>
                <a:latin typeface="Paperlogy 7 Bold" pitchFamily="2" charset="-127"/>
                <a:ea typeface="Paperlogy 7 Bold" pitchFamily="2" charset="-127"/>
                <a:cs typeface="Arial" pitchFamily="34" charset="-120"/>
              </a:rPr>
              <a:t>.</a:t>
            </a:r>
            <a:endParaRPr lang="en-US" sz="1013" dirty="0"/>
          </a:p>
        </p:txBody>
      </p:sp>
      <p:sp>
        <p:nvSpPr>
          <p:cNvPr id="21" name="Text 18"/>
          <p:cNvSpPr/>
          <p:nvPr/>
        </p:nvSpPr>
        <p:spPr>
          <a:xfrm>
            <a:off x="7027702" y="3977764"/>
            <a:ext cx="2870997" cy="1333724"/>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사망과 장애에 연관된 요인을 분석한 결과에서는 폐렴 예방과 집중 재활치료의 중요성이 확인됐다. 초기 치료 중 폐렴 발생 여부는 단기뿐만 아니라 장기 사망 위험과도 연관됐다. 나이와 병전 기능 수준 등과 함께 발병 7일 시점의 운동·이동 기능, 집중 재활치료 여부도 장기 장애와 관련된 요인으로 제시됐다.</a:t>
            </a:r>
            <a:endParaRPr lang="en-US" sz="1013" dirty="0"/>
          </a:p>
        </p:txBody>
      </p:sp>
      <p:sp>
        <p:nvSpPr>
          <p:cNvPr id="22" name="Text 19"/>
          <p:cNvSpPr/>
          <p:nvPr/>
        </p:nvSpPr>
        <p:spPr>
          <a:xfrm>
            <a:off x="7027702" y="5454352"/>
            <a:ext cx="2870997" cy="901849"/>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장 교수는 “뇌졸중 이후 장애는 2년까지 회복될 수 있지만 7~9년 차에 접어들면 다시 심해지는 양상이 나타난다”며 “이제는 급성기 치료를 넘어 만성기 관리와 지역사회 통합돌봄 정책이 필요하다”고 말했다.</a:t>
            </a:r>
            <a:endParaRPr lang="en-US" sz="1013" dirty="0"/>
          </a:p>
        </p:txBody>
      </p:sp>
      <p:sp>
        <p:nvSpPr>
          <p:cNvPr id="23" name="Text 2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4" name="Text 2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5" name="Text 2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05</a:t>
            </a:r>
            <a:endParaRPr lang="en-US" sz="900" dirty="0"/>
          </a:p>
        </p:txBody>
      </p:sp>
      <p:sp>
        <p:nvSpPr>
          <p:cNvPr id="26" name="Text 16">
            <a:extLst>
              <a:ext uri="{FF2B5EF4-FFF2-40B4-BE49-F238E27FC236}">
                <a16:creationId xmlns:a16="http://schemas.microsoft.com/office/drawing/2014/main" id="{6AFB4873-AD09-AC4B-B1D3-0E6A85FDBB32}"/>
              </a:ext>
            </a:extLst>
          </p:cNvPr>
          <p:cNvSpPr/>
          <p:nvPr/>
        </p:nvSpPr>
        <p:spPr>
          <a:xfrm>
            <a:off x="3954611" y="5677781"/>
            <a:ext cx="2870997" cy="985377"/>
          </a:xfrm>
          <a:prstGeom prst="rect">
            <a:avLst/>
          </a:prstGeom>
          <a:noFill/>
          <a:ln/>
        </p:spPr>
        <p:txBody>
          <a:bodyPr wrap="square" lIns="25400" tIns="25400" rIns="25400" bIns="25400" rtlCol="0" anchor="t">
            <a:noAutofit/>
          </a:bodyPr>
          <a:lstStyle/>
          <a:p>
            <a:pPr marL="0" indent="0" algn="just">
              <a:lnSpc>
                <a:spcPct val="147885"/>
              </a:lnSpc>
              <a:buNone/>
            </a:pPr>
            <a:r>
              <a:rPr lang="en-US" sz="1010" b="1" kern="0" spc="-10" dirty="0">
                <a:solidFill>
                  <a:srgbClr val="4A3B31"/>
                </a:solidFill>
                <a:latin typeface="Paperlogy 7 Bold" pitchFamily="2" charset="-127"/>
                <a:ea typeface="Paperlogy 7 Bold" pitchFamily="2" charset="-127"/>
                <a:cs typeface="Arial" pitchFamily="34" charset="-120"/>
              </a:rPr>
              <a:t>연령에 따라 회복과 악화 시점은 달랐다. 65세 미만에서는 발병 2년까지 기능이 호전되고 9년부터 악화한 반면, 65세 이상에서는 18개월까지 호전되고 7년부터 악화했다. </a:t>
            </a:r>
            <a:endParaRPr lang="en-US" sz="10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225372"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뇌졸중, 살리는 치료로 끝나지 않는다… 치료비 준비는?</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순환계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1645574" y="1149220"/>
            <a:ext cx="4135496" cy="330255"/>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3A2C24"/>
                </a:solidFill>
                <a:latin typeface="Paperlogy 7 Bold" pitchFamily="2" charset="-127"/>
                <a:ea typeface="Paperlogy 7 Bold" pitchFamily="2" charset="-127"/>
                <a:cs typeface="Arial" pitchFamily="34" charset="-120"/>
              </a:rPr>
              <a:t>뇌·심장은 ‘살린 뒤’가 더 오래, 더 비싸다!</a:t>
            </a:r>
            <a:endParaRPr lang="en-US" sz="1950" dirty="0"/>
          </a:p>
        </p:txBody>
      </p:sp>
      <p:sp>
        <p:nvSpPr>
          <p:cNvPr id="7" name="Shape 5"/>
          <p:cNvSpPr/>
          <p:nvPr/>
        </p:nvSpPr>
        <p:spPr>
          <a:xfrm>
            <a:off x="5576546" y="1200086"/>
            <a:ext cx="9525" cy="190423"/>
          </a:xfrm>
          <a:prstGeom prst="rect">
            <a:avLst/>
          </a:prstGeom>
          <a:solidFill>
            <a:srgbClr val="EADFD3"/>
          </a:solidFill>
          <a:ln/>
        </p:spPr>
        <p:txBody>
          <a:bodyPr/>
          <a:lstStyle/>
          <a:p>
            <a:endParaRPr lang="ko-KR" altLang="en-US"/>
          </a:p>
        </p:txBody>
      </p:sp>
      <p:sp>
        <p:nvSpPr>
          <p:cNvPr id="8" name="Text 6"/>
          <p:cNvSpPr/>
          <p:nvPr/>
        </p:nvSpPr>
        <p:spPr>
          <a:xfrm>
            <a:off x="5757431" y="1201391"/>
            <a:ext cx="3622774" cy="225914"/>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7B6B60"/>
                </a:solidFill>
                <a:latin typeface="Paperlogy 7 Bold" pitchFamily="2" charset="-127"/>
                <a:ea typeface="Paperlogy 7 Bold" pitchFamily="2" charset="-127"/>
                <a:cs typeface="Arial" pitchFamily="34" charset="-120"/>
              </a:rPr>
              <a:t>뇌졸중 4건 중 1건은 </a:t>
            </a:r>
            <a:r>
              <a:rPr lang="en-US" sz="1200" b="1" dirty="0">
                <a:solidFill>
                  <a:srgbClr val="CF7446"/>
                </a:solidFill>
                <a:latin typeface="Paperlogy 7 Bold" pitchFamily="2" charset="-127"/>
                <a:ea typeface="Paperlogy 7 Bold" pitchFamily="2" charset="-127"/>
                <a:cs typeface="Arial" pitchFamily="34" charset="-120"/>
              </a:rPr>
              <a:t>재발</a:t>
            </a:r>
            <a:r>
              <a:rPr lang="en-US" sz="1200" b="1" dirty="0">
                <a:solidFill>
                  <a:srgbClr val="7B6B60"/>
                </a:solidFill>
                <a:latin typeface="Paperlogy 7 Bold" pitchFamily="2" charset="-127"/>
                <a:ea typeface="Paperlogy 7 Bold" pitchFamily="2" charset="-127"/>
                <a:cs typeface="Arial" pitchFamily="34" charset="-120"/>
              </a:rPr>
              <a:t>, 심장수술 한 번에 </a:t>
            </a:r>
            <a:r>
              <a:rPr lang="en-US" sz="1200" b="1" dirty="0">
                <a:solidFill>
                  <a:srgbClr val="CF7446"/>
                </a:solidFill>
                <a:latin typeface="Paperlogy 7 Bold" pitchFamily="2" charset="-127"/>
                <a:ea typeface="Paperlogy 7 Bold" pitchFamily="2" charset="-127"/>
                <a:cs typeface="Arial" pitchFamily="34" charset="-120"/>
              </a:rPr>
              <a:t>4,808만원</a:t>
            </a:r>
            <a:endParaRPr lang="en-US" sz="1200" dirty="0"/>
          </a:p>
        </p:txBody>
      </p:sp>
      <p:sp>
        <p:nvSpPr>
          <p:cNvPr id="9" name="Shape 7"/>
          <p:cNvSpPr/>
          <p:nvPr/>
        </p:nvSpPr>
        <p:spPr>
          <a:xfrm>
            <a:off x="533363" y="1704918"/>
            <a:ext cx="4719644" cy="3080591"/>
          </a:xfrm>
          <a:prstGeom prst="roundRect">
            <a:avLst>
              <a:gd name="adj" fmla="val 4947"/>
            </a:avLst>
          </a:prstGeom>
          <a:solidFill>
            <a:srgbClr val="FFFFFF"/>
          </a:solidFill>
          <a:ln w="5217">
            <a:solidFill>
              <a:srgbClr val="EADFD3"/>
            </a:solidFill>
            <a:prstDash val="solid"/>
          </a:ln>
        </p:spPr>
        <p:txBody>
          <a:bodyPr/>
          <a:lstStyle/>
          <a:p>
            <a:endParaRPr lang="ko-KR" altLang="en-US"/>
          </a:p>
        </p:txBody>
      </p:sp>
      <p:sp>
        <p:nvSpPr>
          <p:cNvPr id="10" name="Text 8"/>
          <p:cNvSpPr/>
          <p:nvPr/>
        </p:nvSpPr>
        <p:spPr>
          <a:xfrm>
            <a:off x="767152" y="1881564"/>
            <a:ext cx="4677271" cy="267651"/>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발병 1년 뒤, 10명 중 8명은 치료를 이어간다</a:t>
            </a:r>
            <a:endParaRPr lang="en-US" sz="1500" dirty="0"/>
          </a:p>
        </p:txBody>
      </p:sp>
      <p:sp>
        <p:nvSpPr>
          <p:cNvPr id="11" name="Shape 9"/>
          <p:cNvSpPr/>
          <p:nvPr/>
        </p:nvSpPr>
        <p:spPr>
          <a:xfrm>
            <a:off x="829023" y="2652303"/>
            <a:ext cx="257103" cy="257103"/>
          </a:xfrm>
          <a:prstGeom prst="ellipse">
            <a:avLst/>
          </a:prstGeom>
          <a:solidFill>
            <a:srgbClr val="CF7446"/>
          </a:solidFill>
          <a:ln/>
        </p:spPr>
        <p:txBody>
          <a:bodyPr/>
          <a:lstStyle/>
          <a:p>
            <a:endParaRPr lang="ko-KR" altLang="en-US"/>
          </a:p>
        </p:txBody>
      </p:sp>
      <p:sp>
        <p:nvSpPr>
          <p:cNvPr id="12" name="Shape 10"/>
          <p:cNvSpPr/>
          <p:nvPr/>
        </p:nvSpPr>
        <p:spPr>
          <a:xfrm>
            <a:off x="78614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3" name="Shape 11"/>
          <p:cNvSpPr/>
          <p:nvPr/>
        </p:nvSpPr>
        <p:spPr>
          <a:xfrm>
            <a:off x="1259186" y="2652303"/>
            <a:ext cx="257103" cy="257103"/>
          </a:xfrm>
          <a:prstGeom prst="ellipse">
            <a:avLst/>
          </a:prstGeom>
          <a:solidFill>
            <a:srgbClr val="CF7446"/>
          </a:solidFill>
          <a:ln/>
        </p:spPr>
        <p:txBody>
          <a:bodyPr/>
          <a:lstStyle/>
          <a:p>
            <a:endParaRPr lang="ko-KR" altLang="en-US"/>
          </a:p>
        </p:txBody>
      </p:sp>
      <p:sp>
        <p:nvSpPr>
          <p:cNvPr id="14" name="Shape 12"/>
          <p:cNvSpPr/>
          <p:nvPr/>
        </p:nvSpPr>
        <p:spPr>
          <a:xfrm>
            <a:off x="1216308"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5" name="Shape 13"/>
          <p:cNvSpPr/>
          <p:nvPr/>
        </p:nvSpPr>
        <p:spPr>
          <a:xfrm>
            <a:off x="1689267" y="2652303"/>
            <a:ext cx="257103" cy="257103"/>
          </a:xfrm>
          <a:prstGeom prst="ellipse">
            <a:avLst/>
          </a:prstGeom>
          <a:solidFill>
            <a:srgbClr val="CF7446"/>
          </a:solidFill>
          <a:ln/>
        </p:spPr>
        <p:txBody>
          <a:bodyPr/>
          <a:lstStyle/>
          <a:p>
            <a:endParaRPr lang="ko-KR" altLang="en-US"/>
          </a:p>
        </p:txBody>
      </p:sp>
      <p:sp>
        <p:nvSpPr>
          <p:cNvPr id="16" name="Shape 14"/>
          <p:cNvSpPr/>
          <p:nvPr/>
        </p:nvSpPr>
        <p:spPr>
          <a:xfrm>
            <a:off x="1646389"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7" name="Shape 15"/>
          <p:cNvSpPr/>
          <p:nvPr/>
        </p:nvSpPr>
        <p:spPr>
          <a:xfrm>
            <a:off x="2119430" y="2652303"/>
            <a:ext cx="257103" cy="257103"/>
          </a:xfrm>
          <a:prstGeom prst="ellipse">
            <a:avLst/>
          </a:prstGeom>
          <a:solidFill>
            <a:srgbClr val="CF7446"/>
          </a:solidFill>
          <a:ln/>
        </p:spPr>
        <p:txBody>
          <a:bodyPr/>
          <a:lstStyle/>
          <a:p>
            <a:endParaRPr lang="ko-KR" altLang="en-US"/>
          </a:p>
        </p:txBody>
      </p:sp>
      <p:sp>
        <p:nvSpPr>
          <p:cNvPr id="18" name="Shape 16"/>
          <p:cNvSpPr/>
          <p:nvPr/>
        </p:nvSpPr>
        <p:spPr>
          <a:xfrm>
            <a:off x="2076552"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9" name="Shape 17"/>
          <p:cNvSpPr/>
          <p:nvPr/>
        </p:nvSpPr>
        <p:spPr>
          <a:xfrm>
            <a:off x="2549592" y="2652303"/>
            <a:ext cx="257103" cy="257103"/>
          </a:xfrm>
          <a:prstGeom prst="ellipse">
            <a:avLst/>
          </a:prstGeom>
          <a:solidFill>
            <a:srgbClr val="CF7446"/>
          </a:solidFill>
          <a:ln/>
        </p:spPr>
        <p:txBody>
          <a:bodyPr/>
          <a:lstStyle/>
          <a:p>
            <a:endParaRPr lang="ko-KR" altLang="en-US"/>
          </a:p>
        </p:txBody>
      </p:sp>
      <p:sp>
        <p:nvSpPr>
          <p:cNvPr id="20" name="Shape 18"/>
          <p:cNvSpPr/>
          <p:nvPr/>
        </p:nvSpPr>
        <p:spPr>
          <a:xfrm>
            <a:off x="250671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1" name="Shape 19"/>
          <p:cNvSpPr/>
          <p:nvPr/>
        </p:nvSpPr>
        <p:spPr>
          <a:xfrm>
            <a:off x="2979674" y="2652303"/>
            <a:ext cx="257103" cy="257103"/>
          </a:xfrm>
          <a:prstGeom prst="ellipse">
            <a:avLst/>
          </a:prstGeom>
          <a:solidFill>
            <a:srgbClr val="CF7446"/>
          </a:solidFill>
          <a:ln/>
        </p:spPr>
        <p:txBody>
          <a:bodyPr/>
          <a:lstStyle/>
          <a:p>
            <a:endParaRPr lang="ko-KR" altLang="en-US"/>
          </a:p>
        </p:txBody>
      </p:sp>
      <p:sp>
        <p:nvSpPr>
          <p:cNvPr id="22" name="Shape 20"/>
          <p:cNvSpPr/>
          <p:nvPr/>
        </p:nvSpPr>
        <p:spPr>
          <a:xfrm>
            <a:off x="2936796"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3" name="Shape 21"/>
          <p:cNvSpPr/>
          <p:nvPr/>
        </p:nvSpPr>
        <p:spPr>
          <a:xfrm>
            <a:off x="3409836" y="2652303"/>
            <a:ext cx="257103" cy="257103"/>
          </a:xfrm>
          <a:prstGeom prst="ellipse">
            <a:avLst/>
          </a:prstGeom>
          <a:solidFill>
            <a:srgbClr val="CF7446"/>
          </a:solidFill>
          <a:ln/>
        </p:spPr>
        <p:txBody>
          <a:bodyPr/>
          <a:lstStyle/>
          <a:p>
            <a:endParaRPr lang="ko-KR" altLang="en-US"/>
          </a:p>
        </p:txBody>
      </p:sp>
      <p:sp>
        <p:nvSpPr>
          <p:cNvPr id="24" name="Shape 22"/>
          <p:cNvSpPr/>
          <p:nvPr/>
        </p:nvSpPr>
        <p:spPr>
          <a:xfrm>
            <a:off x="3366958"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5" name="Shape 23"/>
          <p:cNvSpPr/>
          <p:nvPr/>
        </p:nvSpPr>
        <p:spPr>
          <a:xfrm>
            <a:off x="3839999" y="2652303"/>
            <a:ext cx="257103" cy="257103"/>
          </a:xfrm>
          <a:prstGeom prst="ellipse">
            <a:avLst/>
          </a:prstGeom>
          <a:solidFill>
            <a:srgbClr val="CF7446"/>
          </a:solidFill>
          <a:ln/>
        </p:spPr>
        <p:txBody>
          <a:bodyPr/>
          <a:lstStyle/>
          <a:p>
            <a:endParaRPr lang="ko-KR" altLang="en-US"/>
          </a:p>
        </p:txBody>
      </p:sp>
      <p:sp>
        <p:nvSpPr>
          <p:cNvPr id="26" name="Shape 24"/>
          <p:cNvSpPr/>
          <p:nvPr/>
        </p:nvSpPr>
        <p:spPr>
          <a:xfrm>
            <a:off x="3797121"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7" name="Shape 25"/>
          <p:cNvSpPr/>
          <p:nvPr/>
        </p:nvSpPr>
        <p:spPr>
          <a:xfrm>
            <a:off x="4270080" y="2652303"/>
            <a:ext cx="257103" cy="257103"/>
          </a:xfrm>
          <a:prstGeom prst="ellipse">
            <a:avLst/>
          </a:prstGeom>
          <a:solidFill>
            <a:srgbClr val="E6DCD2"/>
          </a:solidFill>
          <a:ln/>
        </p:spPr>
        <p:txBody>
          <a:bodyPr/>
          <a:lstStyle/>
          <a:p>
            <a:endParaRPr lang="ko-KR" altLang="en-US"/>
          </a:p>
        </p:txBody>
      </p:sp>
      <p:sp>
        <p:nvSpPr>
          <p:cNvPr id="28" name="Shape 26"/>
          <p:cNvSpPr/>
          <p:nvPr/>
        </p:nvSpPr>
        <p:spPr>
          <a:xfrm>
            <a:off x="4227202"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9" name="Shape 27"/>
          <p:cNvSpPr/>
          <p:nvPr/>
        </p:nvSpPr>
        <p:spPr>
          <a:xfrm>
            <a:off x="4700243" y="2652303"/>
            <a:ext cx="257103" cy="257103"/>
          </a:xfrm>
          <a:prstGeom prst="ellipse">
            <a:avLst/>
          </a:prstGeom>
          <a:solidFill>
            <a:srgbClr val="E6DCD2"/>
          </a:solidFill>
          <a:ln/>
        </p:spPr>
        <p:txBody>
          <a:bodyPr/>
          <a:lstStyle/>
          <a:p>
            <a:endParaRPr lang="ko-KR" altLang="en-US"/>
          </a:p>
        </p:txBody>
      </p:sp>
      <p:sp>
        <p:nvSpPr>
          <p:cNvPr id="30" name="Shape 28"/>
          <p:cNvSpPr/>
          <p:nvPr/>
        </p:nvSpPr>
        <p:spPr>
          <a:xfrm>
            <a:off x="465736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31" name="Shape 29"/>
          <p:cNvSpPr/>
          <p:nvPr/>
        </p:nvSpPr>
        <p:spPr>
          <a:xfrm>
            <a:off x="767152" y="4067512"/>
            <a:ext cx="114286" cy="114286"/>
          </a:xfrm>
          <a:prstGeom prst="roundRect">
            <a:avLst>
              <a:gd name="adj" fmla="val 25003"/>
            </a:avLst>
          </a:prstGeom>
          <a:solidFill>
            <a:srgbClr val="CF7446"/>
          </a:solidFill>
          <a:ln/>
        </p:spPr>
        <p:txBody>
          <a:bodyPr/>
          <a:lstStyle/>
          <a:p>
            <a:endParaRPr lang="ko-KR" altLang="en-US"/>
          </a:p>
        </p:txBody>
      </p:sp>
      <p:sp>
        <p:nvSpPr>
          <p:cNvPr id="32" name="Text 30"/>
          <p:cNvSpPr/>
          <p:nvPr/>
        </p:nvSpPr>
        <p:spPr>
          <a:xfrm>
            <a:off x="938581" y="4041182"/>
            <a:ext cx="1373535"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생존 · 치료와 재활 지속</a:t>
            </a:r>
            <a:endParaRPr lang="en-US" sz="1125" dirty="0"/>
          </a:p>
        </p:txBody>
      </p:sp>
      <p:sp>
        <p:nvSpPr>
          <p:cNvPr id="33" name="Shape 31"/>
          <p:cNvSpPr/>
          <p:nvPr/>
        </p:nvSpPr>
        <p:spPr>
          <a:xfrm>
            <a:off x="2426339" y="4067512"/>
            <a:ext cx="114286" cy="114286"/>
          </a:xfrm>
          <a:prstGeom prst="roundRect">
            <a:avLst>
              <a:gd name="adj" fmla="val 25003"/>
            </a:avLst>
          </a:prstGeom>
          <a:solidFill>
            <a:srgbClr val="E6DCD2"/>
          </a:solidFill>
          <a:ln/>
        </p:spPr>
        <p:txBody>
          <a:bodyPr/>
          <a:lstStyle/>
          <a:p>
            <a:endParaRPr lang="ko-KR" altLang="en-US"/>
          </a:p>
        </p:txBody>
      </p:sp>
      <p:sp>
        <p:nvSpPr>
          <p:cNvPr id="34" name="Text 32"/>
          <p:cNvSpPr/>
          <p:nvPr/>
        </p:nvSpPr>
        <p:spPr>
          <a:xfrm>
            <a:off x="2597768" y="4041182"/>
            <a:ext cx="737136"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1년 내 사망</a:t>
            </a:r>
            <a:endParaRPr lang="en-US" sz="1125" dirty="0"/>
          </a:p>
        </p:txBody>
      </p:sp>
      <p:sp>
        <p:nvSpPr>
          <p:cNvPr id="35" name="Shape 33"/>
          <p:cNvSpPr/>
          <p:nvPr/>
        </p:nvSpPr>
        <p:spPr>
          <a:xfrm>
            <a:off x="767152" y="4322414"/>
            <a:ext cx="4252065" cy="9525"/>
          </a:xfrm>
          <a:prstGeom prst="rect">
            <a:avLst/>
          </a:prstGeom>
          <a:solidFill>
            <a:srgbClr val="EADFD3"/>
          </a:solidFill>
          <a:ln/>
        </p:spPr>
        <p:txBody>
          <a:bodyPr/>
          <a:lstStyle/>
          <a:p>
            <a:endParaRPr lang="ko-KR" altLang="en-US"/>
          </a:p>
        </p:txBody>
      </p:sp>
      <p:sp>
        <p:nvSpPr>
          <p:cNvPr id="36" name="Text 34"/>
          <p:cNvSpPr/>
          <p:nvPr/>
        </p:nvSpPr>
        <p:spPr>
          <a:xfrm>
            <a:off x="767152" y="4441931"/>
            <a:ext cx="4379627" cy="205032"/>
          </a:xfrm>
          <a:prstGeom prst="rect">
            <a:avLst/>
          </a:prstGeom>
          <a:noFill/>
          <a:ln/>
        </p:spPr>
        <p:txBody>
          <a:bodyPr wrap="square" lIns="25400" tIns="25400" rIns="25400" bIns="25400" rtlCol="0" anchor="t">
            <a:normAutofit fontScale="92500"/>
          </a:bodyPr>
          <a:lstStyle/>
          <a:p>
            <a:pPr marL="0" indent="0" algn="l">
              <a:buNone/>
            </a:pPr>
            <a:r>
              <a:rPr lang="en-US" sz="1125" b="1" dirty="0">
                <a:solidFill>
                  <a:srgbClr val="7B6B60"/>
                </a:solidFill>
                <a:latin typeface="Paperlogy 7 Bold" pitchFamily="2" charset="-127"/>
                <a:ea typeface="Paperlogy 7 Bold" pitchFamily="2" charset="-127"/>
                <a:cs typeface="Arial" pitchFamily="34" charset="-120"/>
              </a:rPr>
              <a:t>1년 내 치명률 뇌졸중 19.8%, 심근경색증 16.1%</a:t>
            </a:r>
            <a:endParaRPr lang="en-US" sz="1125" dirty="0"/>
          </a:p>
        </p:txBody>
      </p:sp>
      <p:sp>
        <p:nvSpPr>
          <p:cNvPr id="37" name="Shape 35"/>
          <p:cNvSpPr/>
          <p:nvPr/>
        </p:nvSpPr>
        <p:spPr>
          <a:xfrm>
            <a:off x="5443429" y="1704918"/>
            <a:ext cx="4719725" cy="3080591"/>
          </a:xfrm>
          <a:prstGeom prst="roundRect">
            <a:avLst>
              <a:gd name="adj" fmla="val 4947"/>
            </a:avLst>
          </a:prstGeom>
          <a:solidFill>
            <a:srgbClr val="FFFFFF"/>
          </a:solidFill>
          <a:ln w="5217">
            <a:solidFill>
              <a:srgbClr val="EADFD3"/>
            </a:solidFill>
            <a:prstDash val="solid"/>
          </a:ln>
        </p:spPr>
        <p:txBody>
          <a:bodyPr/>
          <a:lstStyle/>
          <a:p>
            <a:endParaRPr lang="ko-KR" altLang="en-US"/>
          </a:p>
        </p:txBody>
      </p:sp>
      <p:sp>
        <p:nvSpPr>
          <p:cNvPr id="38" name="Text 36"/>
          <p:cNvSpPr/>
          <p:nvPr/>
        </p:nvSpPr>
        <p:spPr>
          <a:xfrm>
            <a:off x="5677219" y="1881564"/>
            <a:ext cx="1500597" cy="267651"/>
          </a:xfrm>
          <a:prstGeom prst="rect">
            <a:avLst/>
          </a:prstGeom>
          <a:noFill/>
          <a:ln/>
        </p:spPr>
        <p:txBody>
          <a:bodyPr wrap="non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수술 1건당 진료비</a:t>
            </a:r>
            <a:endParaRPr lang="en-US" sz="1500" dirty="0"/>
          </a:p>
        </p:txBody>
      </p:sp>
      <p:sp>
        <p:nvSpPr>
          <p:cNvPr id="39" name="Text 37"/>
          <p:cNvSpPr/>
          <p:nvPr/>
        </p:nvSpPr>
        <p:spPr>
          <a:xfrm>
            <a:off x="7136609" y="1923301"/>
            <a:ext cx="582825"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A69687"/>
                </a:solidFill>
                <a:latin typeface="Paperlogy 7 Bold" pitchFamily="2" charset="-127"/>
                <a:ea typeface="Paperlogy 7 Bold" pitchFamily="2" charset="-127"/>
                <a:cs typeface="Arial" pitchFamily="34" charset="-120"/>
              </a:rPr>
              <a:t>2025년</a:t>
            </a:r>
            <a:endParaRPr lang="en-US" sz="1125" dirty="0"/>
          </a:p>
        </p:txBody>
      </p:sp>
      <p:sp>
        <p:nvSpPr>
          <p:cNvPr id="40" name="Shape 38"/>
          <p:cNvSpPr/>
          <p:nvPr/>
        </p:nvSpPr>
        <p:spPr>
          <a:xfrm>
            <a:off x="5677219" y="4334641"/>
            <a:ext cx="4252147" cy="9525"/>
          </a:xfrm>
          <a:prstGeom prst="rect">
            <a:avLst/>
          </a:prstGeom>
          <a:solidFill>
            <a:srgbClr val="EADFD3"/>
          </a:solidFill>
          <a:ln/>
        </p:spPr>
        <p:txBody>
          <a:bodyPr/>
          <a:lstStyle/>
          <a:p>
            <a:endParaRPr lang="ko-KR" altLang="en-US"/>
          </a:p>
        </p:txBody>
      </p:sp>
      <p:sp>
        <p:nvSpPr>
          <p:cNvPr id="41" name="Text 39"/>
          <p:cNvSpPr/>
          <p:nvPr/>
        </p:nvSpPr>
        <p:spPr>
          <a:xfrm>
            <a:off x="6015838" y="2187251"/>
            <a:ext cx="841722"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9A4A27"/>
                </a:solidFill>
                <a:latin typeface="Paperlogy 7 Bold" pitchFamily="2" charset="-127"/>
                <a:ea typeface="Paperlogy 7 Bold" pitchFamily="2" charset="-127"/>
                <a:cs typeface="Arial" pitchFamily="34" charset="-120"/>
              </a:rPr>
              <a:t>4,808만원</a:t>
            </a:r>
            <a:endParaRPr lang="en-US" sz="1425" dirty="0"/>
          </a:p>
        </p:txBody>
      </p:sp>
      <p:sp>
        <p:nvSpPr>
          <p:cNvPr id="42" name="Shape 40"/>
          <p:cNvSpPr/>
          <p:nvPr/>
        </p:nvSpPr>
        <p:spPr>
          <a:xfrm>
            <a:off x="6055700" y="2477287"/>
            <a:ext cx="685799" cy="1857354"/>
          </a:xfrm>
          <a:custGeom>
            <a:avLst/>
            <a:gdLst/>
            <a:ahLst/>
            <a:cxnLst/>
            <a:rect l="l" t="t" r="r" b="b"/>
            <a:pathLst>
              <a:path w="685799" h="1857354">
                <a:moveTo>
                  <a:pt x="76200" y="0"/>
                </a:moveTo>
                <a:lnTo>
                  <a:pt x="609599" y="0"/>
                </a:lnTo>
                <a:arcTo wR="76200" hR="76200" stAng="16200000" swAng="5400000"/>
                <a:lnTo>
                  <a:pt x="685799" y="1857354"/>
                </a:lnTo>
                <a:lnTo>
                  <a:pt x="0" y="1857354"/>
                </a:lnTo>
                <a:lnTo>
                  <a:pt x="0" y="76200"/>
                </a:lnTo>
                <a:arcTo wR="76200" hR="76200" stAng="10800000" swAng="5400000"/>
                <a:close/>
              </a:path>
            </a:pathLst>
          </a:custGeom>
          <a:solidFill>
            <a:srgbClr val="CF7446"/>
          </a:solidFill>
          <a:ln/>
        </p:spPr>
        <p:txBody>
          <a:bodyPr/>
          <a:lstStyle/>
          <a:p>
            <a:endParaRPr lang="ko-KR" altLang="en-US"/>
          </a:p>
        </p:txBody>
      </p:sp>
      <p:sp>
        <p:nvSpPr>
          <p:cNvPr id="43" name="Text 41"/>
          <p:cNvSpPr/>
          <p:nvPr/>
        </p:nvSpPr>
        <p:spPr>
          <a:xfrm>
            <a:off x="7420531" y="2368218"/>
            <a:ext cx="841722"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9A4A27"/>
                </a:solidFill>
                <a:latin typeface="Paperlogy 7 Bold" pitchFamily="2" charset="-127"/>
                <a:ea typeface="Paperlogy 7 Bold" pitchFamily="2" charset="-127"/>
                <a:cs typeface="Arial" pitchFamily="34" charset="-120"/>
              </a:rPr>
              <a:t>4,329만원</a:t>
            </a:r>
            <a:endParaRPr lang="en-US" sz="1425" dirty="0"/>
          </a:p>
        </p:txBody>
      </p:sp>
      <p:sp>
        <p:nvSpPr>
          <p:cNvPr id="44" name="Shape 42"/>
          <p:cNvSpPr/>
          <p:nvPr/>
        </p:nvSpPr>
        <p:spPr>
          <a:xfrm>
            <a:off x="7460392" y="2658254"/>
            <a:ext cx="685799" cy="1676387"/>
          </a:xfrm>
          <a:custGeom>
            <a:avLst/>
            <a:gdLst/>
            <a:ahLst/>
            <a:cxnLst/>
            <a:rect l="l" t="t" r="r" b="b"/>
            <a:pathLst>
              <a:path w="685799" h="1676387">
                <a:moveTo>
                  <a:pt x="76200" y="0"/>
                </a:moveTo>
                <a:lnTo>
                  <a:pt x="609599" y="0"/>
                </a:lnTo>
                <a:arcTo wR="76200" hR="76200" stAng="16200000" swAng="5400000"/>
                <a:lnTo>
                  <a:pt x="685799" y="1676387"/>
                </a:lnTo>
                <a:lnTo>
                  <a:pt x="0" y="1676387"/>
                </a:lnTo>
                <a:lnTo>
                  <a:pt x="0" y="76200"/>
                </a:lnTo>
                <a:arcTo wR="76200" hR="76200" stAng="10800000" swAng="5400000"/>
                <a:close/>
              </a:path>
            </a:pathLst>
          </a:custGeom>
          <a:solidFill>
            <a:srgbClr val="CF7446"/>
          </a:solidFill>
          <a:ln/>
        </p:spPr>
        <p:txBody>
          <a:bodyPr/>
          <a:lstStyle/>
          <a:p>
            <a:endParaRPr lang="ko-KR" altLang="en-US"/>
          </a:p>
        </p:txBody>
      </p:sp>
      <p:sp>
        <p:nvSpPr>
          <p:cNvPr id="45" name="Text 43"/>
          <p:cNvSpPr/>
          <p:nvPr/>
        </p:nvSpPr>
        <p:spPr>
          <a:xfrm>
            <a:off x="8900626" y="3854183"/>
            <a:ext cx="690835"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7B6B60"/>
                </a:solidFill>
                <a:latin typeface="Paperlogy 7 Bold" pitchFamily="2" charset="-127"/>
                <a:ea typeface="Paperlogy 7 Bold" pitchFamily="2" charset="-127"/>
                <a:cs typeface="Arial" pitchFamily="34" charset="-120"/>
              </a:rPr>
              <a:t>496만원</a:t>
            </a:r>
            <a:endParaRPr lang="en-US" sz="1425" dirty="0"/>
          </a:p>
        </p:txBody>
      </p:sp>
      <p:sp>
        <p:nvSpPr>
          <p:cNvPr id="46" name="Shape 44"/>
          <p:cNvSpPr/>
          <p:nvPr/>
        </p:nvSpPr>
        <p:spPr>
          <a:xfrm>
            <a:off x="8865085" y="4144219"/>
            <a:ext cx="685799" cy="190423"/>
          </a:xfrm>
          <a:custGeom>
            <a:avLst/>
            <a:gdLst/>
            <a:ahLst/>
            <a:cxnLst/>
            <a:rect l="l" t="t" r="r" b="b"/>
            <a:pathLst>
              <a:path w="685799" h="190423">
                <a:moveTo>
                  <a:pt x="76200" y="0"/>
                </a:moveTo>
                <a:lnTo>
                  <a:pt x="609599" y="0"/>
                </a:lnTo>
                <a:arcTo wR="76200" hR="76200" stAng="16200000" swAng="5400000"/>
                <a:lnTo>
                  <a:pt x="685799" y="190423"/>
                </a:lnTo>
                <a:lnTo>
                  <a:pt x="0" y="190423"/>
                </a:lnTo>
                <a:lnTo>
                  <a:pt x="0" y="76200"/>
                </a:lnTo>
                <a:arcTo wR="76200" hR="76200" stAng="10800000" swAng="5400000"/>
                <a:close/>
              </a:path>
            </a:pathLst>
          </a:custGeom>
          <a:solidFill>
            <a:srgbClr val="DDD2C7"/>
          </a:solidFill>
          <a:ln/>
        </p:spPr>
        <p:txBody>
          <a:bodyPr/>
          <a:lstStyle/>
          <a:p>
            <a:endParaRPr lang="ko-KR" altLang="en-US"/>
          </a:p>
        </p:txBody>
      </p:sp>
      <p:sp>
        <p:nvSpPr>
          <p:cNvPr id="47" name="Text 45"/>
          <p:cNvSpPr/>
          <p:nvPr/>
        </p:nvSpPr>
        <p:spPr>
          <a:xfrm>
            <a:off x="5709813"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심장수술</a:t>
            </a:r>
            <a:endParaRPr lang="en-US" sz="1125" dirty="0"/>
          </a:p>
        </p:txBody>
      </p:sp>
      <p:sp>
        <p:nvSpPr>
          <p:cNvPr id="48" name="Text 46"/>
          <p:cNvSpPr/>
          <p:nvPr/>
        </p:nvSpPr>
        <p:spPr>
          <a:xfrm>
            <a:off x="7114505"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관상동맥우회수술</a:t>
            </a:r>
            <a:endParaRPr lang="en-US" sz="1125" dirty="0"/>
          </a:p>
        </p:txBody>
      </p:sp>
      <p:sp>
        <p:nvSpPr>
          <p:cNvPr id="49" name="Text 47"/>
          <p:cNvSpPr/>
          <p:nvPr/>
        </p:nvSpPr>
        <p:spPr>
          <a:xfrm>
            <a:off x="8519198"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35개 주요수술 평균</a:t>
            </a:r>
            <a:endParaRPr lang="en-US" sz="1125" dirty="0"/>
          </a:p>
        </p:txBody>
      </p:sp>
      <p:sp>
        <p:nvSpPr>
          <p:cNvPr id="50" name="Shape 48"/>
          <p:cNvSpPr/>
          <p:nvPr/>
        </p:nvSpPr>
        <p:spPr>
          <a:xfrm>
            <a:off x="533363"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1" name="Shape 49"/>
          <p:cNvSpPr/>
          <p:nvPr/>
        </p:nvSpPr>
        <p:spPr>
          <a:xfrm>
            <a:off x="538580" y="4996311"/>
            <a:ext cx="2297054" cy="286449"/>
          </a:xfrm>
          <a:prstGeom prst="rect">
            <a:avLst/>
          </a:prstGeom>
          <a:solidFill>
            <a:srgbClr val="A08E80"/>
          </a:solidFill>
          <a:ln/>
        </p:spPr>
        <p:txBody>
          <a:bodyPr/>
          <a:lstStyle/>
          <a:p>
            <a:endParaRPr lang="ko-KR" altLang="en-US"/>
          </a:p>
        </p:txBody>
      </p:sp>
      <p:sp>
        <p:nvSpPr>
          <p:cNvPr id="52" name="Text 50"/>
          <p:cNvSpPr/>
          <p:nvPr/>
        </p:nvSpPr>
        <p:spPr>
          <a:xfrm>
            <a:off x="576680"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뇌졸중 재발 비중</a:t>
            </a:r>
            <a:endParaRPr lang="en-US" sz="1125" dirty="0"/>
          </a:p>
        </p:txBody>
      </p:sp>
      <p:sp>
        <p:nvSpPr>
          <p:cNvPr id="53" name="Text 51"/>
          <p:cNvSpPr/>
          <p:nvPr/>
        </p:nvSpPr>
        <p:spPr>
          <a:xfrm>
            <a:off x="1337849"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25.3</a:t>
            </a:r>
            <a:endParaRPr lang="en-US" sz="2250" dirty="0"/>
          </a:p>
        </p:txBody>
      </p:sp>
      <p:sp>
        <p:nvSpPr>
          <p:cNvPr id="54" name="Text 52"/>
          <p:cNvSpPr/>
          <p:nvPr/>
        </p:nvSpPr>
        <p:spPr>
          <a:xfrm>
            <a:off x="1909199"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55" name="Shape 53"/>
          <p:cNvSpPr/>
          <p:nvPr/>
        </p:nvSpPr>
        <p:spPr>
          <a:xfrm>
            <a:off x="2974130"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6" name="Shape 54"/>
          <p:cNvSpPr/>
          <p:nvPr/>
        </p:nvSpPr>
        <p:spPr>
          <a:xfrm>
            <a:off x="2979348" y="4996311"/>
            <a:ext cx="2297054" cy="286449"/>
          </a:xfrm>
          <a:prstGeom prst="rect">
            <a:avLst/>
          </a:prstGeom>
          <a:solidFill>
            <a:srgbClr val="A08E80"/>
          </a:solidFill>
          <a:ln/>
        </p:spPr>
        <p:txBody>
          <a:bodyPr/>
          <a:lstStyle/>
          <a:p>
            <a:endParaRPr lang="ko-KR" altLang="en-US"/>
          </a:p>
        </p:txBody>
      </p:sp>
      <p:sp>
        <p:nvSpPr>
          <p:cNvPr id="57" name="Text 55"/>
          <p:cNvSpPr/>
          <p:nvPr/>
        </p:nvSpPr>
        <p:spPr>
          <a:xfrm>
            <a:off x="3017448"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심근경색증 재발 비중</a:t>
            </a:r>
            <a:endParaRPr lang="en-US" sz="1125" dirty="0"/>
          </a:p>
        </p:txBody>
      </p:sp>
      <p:sp>
        <p:nvSpPr>
          <p:cNvPr id="58" name="Text 56"/>
          <p:cNvSpPr/>
          <p:nvPr/>
        </p:nvSpPr>
        <p:spPr>
          <a:xfrm>
            <a:off x="3855243" y="5386449"/>
            <a:ext cx="456312"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9.6</a:t>
            </a:r>
            <a:endParaRPr lang="en-US" sz="2250" dirty="0"/>
          </a:p>
        </p:txBody>
      </p:sp>
      <p:sp>
        <p:nvSpPr>
          <p:cNvPr id="59" name="Text 57"/>
          <p:cNvSpPr/>
          <p:nvPr/>
        </p:nvSpPr>
        <p:spPr>
          <a:xfrm>
            <a:off x="4273422"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60" name="Shape 58"/>
          <p:cNvSpPr/>
          <p:nvPr/>
        </p:nvSpPr>
        <p:spPr>
          <a:xfrm>
            <a:off x="5414898"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61" name="Shape 59"/>
          <p:cNvSpPr/>
          <p:nvPr/>
        </p:nvSpPr>
        <p:spPr>
          <a:xfrm>
            <a:off x="5420115" y="4996311"/>
            <a:ext cx="2297054" cy="286449"/>
          </a:xfrm>
          <a:prstGeom prst="rect">
            <a:avLst/>
          </a:prstGeom>
          <a:solidFill>
            <a:srgbClr val="CF9C3C"/>
          </a:solidFill>
          <a:ln/>
        </p:spPr>
        <p:txBody>
          <a:bodyPr/>
          <a:lstStyle/>
          <a:p>
            <a:endParaRPr lang="ko-KR" altLang="en-US"/>
          </a:p>
        </p:txBody>
      </p:sp>
      <p:sp>
        <p:nvSpPr>
          <p:cNvPr id="62" name="Text 60"/>
          <p:cNvSpPr/>
          <p:nvPr/>
        </p:nvSpPr>
        <p:spPr>
          <a:xfrm>
            <a:off x="5458215"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뇌졸중 기능 재악화 시점</a:t>
            </a:r>
            <a:endParaRPr lang="en-US" sz="1125" dirty="0"/>
          </a:p>
        </p:txBody>
      </p:sp>
      <p:sp>
        <p:nvSpPr>
          <p:cNvPr id="63" name="Text 61"/>
          <p:cNvSpPr/>
          <p:nvPr/>
        </p:nvSpPr>
        <p:spPr>
          <a:xfrm>
            <a:off x="6267887" y="5386449"/>
            <a:ext cx="22945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8</a:t>
            </a:r>
            <a:endParaRPr lang="en-US" sz="2250" dirty="0"/>
          </a:p>
        </p:txBody>
      </p:sp>
      <p:sp>
        <p:nvSpPr>
          <p:cNvPr id="64" name="Text 62"/>
          <p:cNvSpPr/>
          <p:nvPr/>
        </p:nvSpPr>
        <p:spPr>
          <a:xfrm>
            <a:off x="6459206" y="5516875"/>
            <a:ext cx="486310"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년 이후</a:t>
            </a:r>
            <a:endParaRPr lang="en-US" sz="1125" dirty="0"/>
          </a:p>
        </p:txBody>
      </p:sp>
      <p:sp>
        <p:nvSpPr>
          <p:cNvPr id="65" name="Shape 63"/>
          <p:cNvSpPr/>
          <p:nvPr/>
        </p:nvSpPr>
        <p:spPr>
          <a:xfrm>
            <a:off x="7855666"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66" name="Shape 64"/>
          <p:cNvSpPr/>
          <p:nvPr/>
        </p:nvSpPr>
        <p:spPr>
          <a:xfrm>
            <a:off x="7860883" y="4996311"/>
            <a:ext cx="2297054" cy="286449"/>
          </a:xfrm>
          <a:prstGeom prst="rect">
            <a:avLst/>
          </a:prstGeom>
          <a:solidFill>
            <a:srgbClr val="CF9C3C"/>
          </a:solidFill>
          <a:ln/>
        </p:spPr>
        <p:txBody>
          <a:bodyPr/>
          <a:lstStyle/>
          <a:p>
            <a:endParaRPr lang="ko-KR" altLang="en-US"/>
          </a:p>
        </p:txBody>
      </p:sp>
      <p:sp>
        <p:nvSpPr>
          <p:cNvPr id="67" name="Text 65"/>
          <p:cNvSpPr/>
          <p:nvPr/>
        </p:nvSpPr>
        <p:spPr>
          <a:xfrm>
            <a:off x="7898983"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65세 이상 뇌졸중 1년 치명률</a:t>
            </a:r>
            <a:endParaRPr lang="en-US" sz="1125" dirty="0"/>
          </a:p>
        </p:txBody>
      </p:sp>
      <p:sp>
        <p:nvSpPr>
          <p:cNvPr id="68" name="Text 66"/>
          <p:cNvSpPr/>
          <p:nvPr/>
        </p:nvSpPr>
        <p:spPr>
          <a:xfrm>
            <a:off x="8660153"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31.2</a:t>
            </a:r>
            <a:endParaRPr lang="en-US" sz="2250" dirty="0"/>
          </a:p>
        </p:txBody>
      </p:sp>
      <p:sp>
        <p:nvSpPr>
          <p:cNvPr id="69" name="Text 67"/>
          <p:cNvSpPr/>
          <p:nvPr/>
        </p:nvSpPr>
        <p:spPr>
          <a:xfrm>
            <a:off x="9231502"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a:t>
            </a:r>
            <a:endParaRPr lang="en-US" sz="1125" dirty="0"/>
          </a:p>
        </p:txBody>
      </p:sp>
      <p:sp>
        <p:nvSpPr>
          <p:cNvPr id="70" name="Shape 68"/>
          <p:cNvSpPr/>
          <p:nvPr/>
        </p:nvSpPr>
        <p:spPr>
          <a:xfrm>
            <a:off x="533363" y="6038826"/>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71" name="Text 69"/>
          <p:cNvSpPr/>
          <p:nvPr/>
        </p:nvSpPr>
        <p:spPr>
          <a:xfrm>
            <a:off x="2782730" y="6201125"/>
            <a:ext cx="2463656"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진단비는 한 번, 치료는 여러 번.</a:t>
            </a:r>
            <a:endParaRPr lang="en-US" sz="1575" dirty="0"/>
          </a:p>
        </p:txBody>
      </p:sp>
      <p:sp>
        <p:nvSpPr>
          <p:cNvPr id="72" name="Text 70"/>
          <p:cNvSpPr/>
          <p:nvPr/>
        </p:nvSpPr>
        <p:spPr>
          <a:xfrm>
            <a:off x="5170186" y="6190691"/>
            <a:ext cx="1357038"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반복되는 치료비</a:t>
            </a:r>
            <a:endParaRPr lang="en-US" sz="1575" dirty="0"/>
          </a:p>
        </p:txBody>
      </p:sp>
      <p:sp>
        <p:nvSpPr>
          <p:cNvPr id="73" name="Text 71"/>
          <p:cNvSpPr/>
          <p:nvPr/>
        </p:nvSpPr>
        <p:spPr>
          <a:xfrm>
            <a:off x="6403857" y="6201125"/>
            <a:ext cx="1586049"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까지 점검하셨나요?</a:t>
            </a:r>
            <a:endParaRPr lang="en-US" sz="1575" dirty="0"/>
          </a:p>
        </p:txBody>
      </p:sp>
      <p:sp>
        <p:nvSpPr>
          <p:cNvPr id="74" name="Text 72"/>
          <p:cNvSpPr/>
          <p:nvPr/>
        </p:nvSpPr>
        <p:spPr>
          <a:xfrm>
            <a:off x="51873" y="6648406"/>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질병관리청 「2023 심뇌혈관질환 발생통계」(2025.12.30) · 국민건강보험공단 「2025년 주요수술 통계연보」(2026.8.31) · 삼성서울병원 10년 추적 연구(이투데이 2026.9.16)</a:t>
            </a:r>
            <a:endParaRPr lang="en-US" sz="788" dirty="0"/>
          </a:p>
        </p:txBody>
      </p:sp>
      <p:sp>
        <p:nvSpPr>
          <p:cNvPr id="75" name="Text 73"/>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6" name="Text 74"/>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77" name="Text 75"/>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10231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삼성생명 – 인생대표 / 가족대표</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순환계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1485313" y="1310052"/>
            <a:ext cx="3732071" cy="5266538"/>
          </a:xfrm>
          <a:prstGeom prst="roundRect">
            <a:avLst>
              <a:gd name="adj" fmla="val 2042"/>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t="-1" b="-1"/>
          <a:stretch/>
        </p:blipFill>
        <p:spPr>
          <a:xfrm>
            <a:off x="1485313" y="1310052"/>
            <a:ext cx="3732071" cy="5266538"/>
          </a:xfrm>
          <a:prstGeom prst="rect">
            <a:avLst/>
          </a:prstGeom>
        </p:spPr>
      </p:pic>
      <p:sp>
        <p:nvSpPr>
          <p:cNvPr id="9" name="Shape 6"/>
          <p:cNvSpPr/>
          <p:nvPr/>
        </p:nvSpPr>
        <p:spPr>
          <a:xfrm>
            <a:off x="5465031" y="1310052"/>
            <a:ext cx="3746092" cy="5266538"/>
          </a:xfrm>
          <a:prstGeom prst="roundRect">
            <a:avLst>
              <a:gd name="adj" fmla="val 2034"/>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0" name="Image 1" descr="preencoded.png"/>
          <p:cNvPicPr>
            <a:picLocks noChangeAspect="1"/>
          </p:cNvPicPr>
          <p:nvPr/>
        </p:nvPicPr>
        <p:blipFill>
          <a:blip r:embed="rId4"/>
          <a:srcRect/>
          <a:stretch/>
        </p:blipFill>
        <p:spPr>
          <a:xfrm>
            <a:off x="5465031" y="1310052"/>
            <a:ext cx="3746092" cy="5266538"/>
          </a:xfrm>
          <a:prstGeom prst="rect">
            <a:avLst/>
          </a:prstGeom>
        </p:spPr>
      </p:pic>
      <p:sp>
        <p:nvSpPr>
          <p:cNvPr id="11" name="Text 7"/>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2" name="Text 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3" name="Text 9"/>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91137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삼성생명 – 인생대표 / 가족대표</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순환계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2007"/>
            </a:avLst>
          </a:prstGeom>
          <a:solidFill>
            <a:srgbClr val="FFFFFF"/>
          </a:solidFill>
          <a:ln w="5217">
            <a:solidFill>
              <a:srgbClr val="D3B9A5"/>
            </a:solidFill>
            <a:prstDash val="solid"/>
          </a:ln>
        </p:spPr>
        <p:txBody>
          <a:bodyPr/>
          <a:lstStyle/>
          <a:p>
            <a:endParaRPr lang="ko-KR" altLang="en-US"/>
          </a:p>
        </p:txBody>
      </p:sp>
      <p:sp>
        <p:nvSpPr>
          <p:cNvPr id="7" name="Shape 5"/>
          <p:cNvSpPr/>
          <p:nvPr/>
        </p:nvSpPr>
        <p:spPr>
          <a:xfrm>
            <a:off x="538580" y="1100555"/>
            <a:ext cx="1374124" cy="404893"/>
          </a:xfrm>
          <a:prstGeom prst="rect">
            <a:avLst/>
          </a:prstGeom>
          <a:solidFill>
            <a:srgbClr val="CF7446"/>
          </a:solidFill>
          <a:ln/>
        </p:spPr>
        <p:txBody>
          <a:bodyPr/>
          <a:lstStyle/>
          <a:p>
            <a:endParaRPr lang="ko-KR" altLang="en-US"/>
          </a:p>
        </p:txBody>
      </p:sp>
      <p:sp>
        <p:nvSpPr>
          <p:cNvPr id="8" name="Text 6"/>
          <p:cNvSpPr/>
          <p:nvPr/>
        </p:nvSpPr>
        <p:spPr>
          <a:xfrm>
            <a:off x="557630" y="1138655"/>
            <a:ext cx="1336024" cy="36679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9" name="Shape 7"/>
          <p:cNvSpPr/>
          <p:nvPr/>
        </p:nvSpPr>
        <p:spPr>
          <a:xfrm>
            <a:off x="1912704" y="1100555"/>
            <a:ext cx="2748248" cy="404893"/>
          </a:xfrm>
          <a:prstGeom prst="rect">
            <a:avLst/>
          </a:prstGeom>
          <a:solidFill>
            <a:srgbClr val="9A4A27"/>
          </a:solidFill>
          <a:ln/>
        </p:spPr>
        <p:txBody>
          <a:bodyPr/>
          <a:lstStyle/>
          <a:p>
            <a:endParaRPr lang="ko-KR" altLang="en-US"/>
          </a:p>
        </p:txBody>
      </p:sp>
      <p:sp>
        <p:nvSpPr>
          <p:cNvPr id="10" name="Shape 8"/>
          <p:cNvSpPr/>
          <p:nvPr/>
        </p:nvSpPr>
        <p:spPr>
          <a:xfrm>
            <a:off x="1912704" y="1100555"/>
            <a:ext cx="9525" cy="404893"/>
          </a:xfrm>
          <a:prstGeom prst="rect">
            <a:avLst/>
          </a:prstGeom>
          <a:solidFill>
            <a:srgbClr val="FFFFFF">
              <a:alpha val="25000"/>
            </a:srgbClr>
          </a:solidFill>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2788436" y="1131531"/>
            <a:ext cx="239496" cy="342859"/>
          </a:xfrm>
          <a:prstGeom prst="rect">
            <a:avLst/>
          </a:prstGeom>
        </p:spPr>
      </p:pic>
      <p:sp>
        <p:nvSpPr>
          <p:cNvPr id="12" name="Text 9"/>
          <p:cNvSpPr/>
          <p:nvPr/>
        </p:nvSpPr>
        <p:spPr>
          <a:xfrm>
            <a:off x="3065968" y="1182968"/>
            <a:ext cx="762569"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삼성생명</a:t>
            </a:r>
            <a:endParaRPr lang="en-US" sz="1575" dirty="0"/>
          </a:p>
        </p:txBody>
      </p:sp>
      <p:sp>
        <p:nvSpPr>
          <p:cNvPr id="13" name="Shape 10"/>
          <p:cNvSpPr/>
          <p:nvPr/>
        </p:nvSpPr>
        <p:spPr>
          <a:xfrm>
            <a:off x="4660952" y="1100555"/>
            <a:ext cx="2748248" cy="404893"/>
          </a:xfrm>
          <a:prstGeom prst="rect">
            <a:avLst/>
          </a:prstGeom>
          <a:solidFill>
            <a:srgbClr val="CF7446"/>
          </a:solidFill>
          <a:ln/>
        </p:spPr>
        <p:txBody>
          <a:bodyPr/>
          <a:lstStyle/>
          <a:p>
            <a:endParaRPr lang="ko-KR" altLang="en-US"/>
          </a:p>
        </p:txBody>
      </p:sp>
      <p:sp>
        <p:nvSpPr>
          <p:cNvPr id="14" name="Shape 11"/>
          <p:cNvSpPr/>
          <p:nvPr/>
        </p:nvSpPr>
        <p:spPr>
          <a:xfrm>
            <a:off x="4660952" y="1100555"/>
            <a:ext cx="9525" cy="404893"/>
          </a:xfrm>
          <a:prstGeom prst="rect">
            <a:avLst/>
          </a:prstGeom>
          <a:solidFill>
            <a:srgbClr val="FFFFFF">
              <a:alpha val="25000"/>
            </a:srgbClr>
          </a:solidFill>
          <a:ln/>
        </p:spPr>
        <p:txBody>
          <a:bodyPr/>
          <a:lstStyle/>
          <a:p>
            <a:endParaRPr lang="ko-KR" altLang="en-US"/>
          </a:p>
        </p:txBody>
      </p:sp>
      <p:sp>
        <p:nvSpPr>
          <p:cNvPr id="15" name="Text 12"/>
          <p:cNvSpPr/>
          <p:nvPr/>
        </p:nvSpPr>
        <p:spPr>
          <a:xfrm>
            <a:off x="4682095" y="1138655"/>
            <a:ext cx="2711179" cy="36679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한화생명</a:t>
            </a:r>
            <a:endParaRPr lang="en-US" sz="1575" dirty="0"/>
          </a:p>
        </p:txBody>
      </p:sp>
      <p:sp>
        <p:nvSpPr>
          <p:cNvPr id="16" name="Shape 13"/>
          <p:cNvSpPr/>
          <p:nvPr/>
        </p:nvSpPr>
        <p:spPr>
          <a:xfrm>
            <a:off x="7409200" y="1100555"/>
            <a:ext cx="2748737" cy="404893"/>
          </a:xfrm>
          <a:prstGeom prst="rect">
            <a:avLst/>
          </a:prstGeom>
          <a:solidFill>
            <a:srgbClr val="CF7446"/>
          </a:solidFill>
          <a:ln/>
        </p:spPr>
        <p:txBody>
          <a:bodyPr/>
          <a:lstStyle/>
          <a:p>
            <a:endParaRPr lang="ko-KR" altLang="en-US"/>
          </a:p>
        </p:txBody>
      </p:sp>
      <p:sp>
        <p:nvSpPr>
          <p:cNvPr id="17" name="Shape 14"/>
          <p:cNvSpPr/>
          <p:nvPr/>
        </p:nvSpPr>
        <p:spPr>
          <a:xfrm>
            <a:off x="7409200" y="1100555"/>
            <a:ext cx="9525" cy="404893"/>
          </a:xfrm>
          <a:prstGeom prst="rect">
            <a:avLst/>
          </a:prstGeom>
          <a:solidFill>
            <a:srgbClr val="FFFFFF">
              <a:alpha val="25000"/>
            </a:srgbClr>
          </a:solidFill>
          <a:ln/>
        </p:spPr>
        <p:txBody>
          <a:bodyPr/>
          <a:lstStyle/>
          <a:p>
            <a:endParaRPr lang="ko-KR" altLang="en-US"/>
          </a:p>
        </p:txBody>
      </p:sp>
      <p:sp>
        <p:nvSpPr>
          <p:cNvPr id="18" name="Text 15"/>
          <p:cNvSpPr/>
          <p:nvPr/>
        </p:nvSpPr>
        <p:spPr>
          <a:xfrm>
            <a:off x="7430336" y="1138655"/>
            <a:ext cx="2711682" cy="36679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동양생명</a:t>
            </a:r>
            <a:endParaRPr lang="en-US" sz="1575" dirty="0"/>
          </a:p>
        </p:txBody>
      </p:sp>
      <p:sp>
        <p:nvSpPr>
          <p:cNvPr id="19" name="Shape 16"/>
          <p:cNvSpPr/>
          <p:nvPr/>
        </p:nvSpPr>
        <p:spPr>
          <a:xfrm>
            <a:off x="538580" y="1505447"/>
            <a:ext cx="1374124" cy="297046"/>
          </a:xfrm>
          <a:prstGeom prst="rect">
            <a:avLst/>
          </a:prstGeom>
          <a:solidFill>
            <a:srgbClr val="FCF4EE"/>
          </a:solidFill>
          <a:ln/>
        </p:spPr>
        <p:txBody>
          <a:bodyPr/>
          <a:lstStyle/>
          <a:p>
            <a:endParaRPr lang="ko-KR" altLang="en-US"/>
          </a:p>
        </p:txBody>
      </p:sp>
      <p:sp>
        <p:nvSpPr>
          <p:cNvPr id="20" name="Shape 17"/>
          <p:cNvSpPr/>
          <p:nvPr/>
        </p:nvSpPr>
        <p:spPr>
          <a:xfrm>
            <a:off x="538580" y="1505447"/>
            <a:ext cx="1374124" cy="9525"/>
          </a:xfrm>
          <a:prstGeom prst="rect">
            <a:avLst/>
          </a:prstGeom>
          <a:solidFill>
            <a:srgbClr val="D3B9A5"/>
          </a:solidFill>
          <a:ln/>
        </p:spPr>
        <p:txBody>
          <a:bodyPr/>
          <a:lstStyle/>
          <a:p>
            <a:endParaRPr lang="ko-KR" altLang="en-US"/>
          </a:p>
        </p:txBody>
      </p:sp>
      <p:sp>
        <p:nvSpPr>
          <p:cNvPr id="21" name="Text 18"/>
          <p:cNvSpPr/>
          <p:nvPr/>
        </p:nvSpPr>
        <p:spPr>
          <a:xfrm>
            <a:off x="557630" y="1539239"/>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상품명</a:t>
            </a:r>
            <a:endParaRPr lang="en-US" sz="1013" dirty="0"/>
          </a:p>
        </p:txBody>
      </p:sp>
      <p:sp>
        <p:nvSpPr>
          <p:cNvPr id="22" name="Shape 19"/>
          <p:cNvSpPr/>
          <p:nvPr/>
        </p:nvSpPr>
        <p:spPr>
          <a:xfrm>
            <a:off x="1912704" y="1505447"/>
            <a:ext cx="2748248" cy="297046"/>
          </a:xfrm>
          <a:prstGeom prst="rect">
            <a:avLst/>
          </a:prstGeom>
          <a:solidFill>
            <a:srgbClr val="F8E1D0"/>
          </a:solidFill>
          <a:ln/>
        </p:spPr>
        <p:txBody>
          <a:bodyPr/>
          <a:lstStyle/>
          <a:p>
            <a:endParaRPr lang="ko-KR" altLang="en-US"/>
          </a:p>
        </p:txBody>
      </p:sp>
      <p:sp>
        <p:nvSpPr>
          <p:cNvPr id="23" name="Shape 20"/>
          <p:cNvSpPr/>
          <p:nvPr/>
        </p:nvSpPr>
        <p:spPr>
          <a:xfrm>
            <a:off x="1912704" y="1505447"/>
            <a:ext cx="2748248" cy="9525"/>
          </a:xfrm>
          <a:prstGeom prst="rect">
            <a:avLst/>
          </a:prstGeom>
          <a:solidFill>
            <a:srgbClr val="D3B9A5"/>
          </a:solidFill>
          <a:ln/>
        </p:spPr>
        <p:txBody>
          <a:bodyPr/>
          <a:lstStyle/>
          <a:p>
            <a:endParaRPr lang="ko-KR" altLang="en-US"/>
          </a:p>
        </p:txBody>
      </p:sp>
      <p:sp>
        <p:nvSpPr>
          <p:cNvPr id="24" name="Shape 21"/>
          <p:cNvSpPr/>
          <p:nvPr/>
        </p:nvSpPr>
        <p:spPr>
          <a:xfrm>
            <a:off x="1912704" y="1505447"/>
            <a:ext cx="9525" cy="297046"/>
          </a:xfrm>
          <a:prstGeom prst="rect">
            <a:avLst/>
          </a:prstGeom>
          <a:solidFill>
            <a:srgbClr val="D3B9A5"/>
          </a:solidFill>
          <a:ln/>
        </p:spPr>
        <p:txBody>
          <a:bodyPr/>
          <a:lstStyle/>
          <a:p>
            <a:endParaRPr lang="ko-KR" altLang="en-US"/>
          </a:p>
        </p:txBody>
      </p:sp>
      <p:sp>
        <p:nvSpPr>
          <p:cNvPr id="25" name="Text 22"/>
          <p:cNvSpPr/>
          <p:nvPr/>
        </p:nvSpPr>
        <p:spPr>
          <a:xfrm>
            <a:off x="1933847" y="1539239"/>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인생대표/가족대표 건강보험</a:t>
            </a:r>
            <a:endParaRPr lang="en-US" sz="1013" dirty="0"/>
          </a:p>
        </p:txBody>
      </p:sp>
      <p:sp>
        <p:nvSpPr>
          <p:cNvPr id="26" name="Shape 23"/>
          <p:cNvSpPr/>
          <p:nvPr/>
        </p:nvSpPr>
        <p:spPr>
          <a:xfrm>
            <a:off x="4660952" y="1505447"/>
            <a:ext cx="2748248" cy="297046"/>
          </a:xfrm>
          <a:prstGeom prst="rect">
            <a:avLst/>
          </a:prstGeom>
          <a:solidFill>
            <a:srgbClr val="FFFFFF"/>
          </a:solidFill>
          <a:ln/>
        </p:spPr>
        <p:txBody>
          <a:bodyPr/>
          <a:lstStyle/>
          <a:p>
            <a:endParaRPr lang="ko-KR" altLang="en-US"/>
          </a:p>
        </p:txBody>
      </p:sp>
      <p:sp>
        <p:nvSpPr>
          <p:cNvPr id="27" name="Shape 24"/>
          <p:cNvSpPr/>
          <p:nvPr/>
        </p:nvSpPr>
        <p:spPr>
          <a:xfrm>
            <a:off x="4660952" y="1505447"/>
            <a:ext cx="2748248" cy="9525"/>
          </a:xfrm>
          <a:prstGeom prst="rect">
            <a:avLst/>
          </a:prstGeom>
          <a:solidFill>
            <a:srgbClr val="D3B9A5"/>
          </a:solidFill>
          <a:ln/>
        </p:spPr>
        <p:txBody>
          <a:bodyPr/>
          <a:lstStyle/>
          <a:p>
            <a:endParaRPr lang="ko-KR" altLang="en-US"/>
          </a:p>
        </p:txBody>
      </p:sp>
      <p:sp>
        <p:nvSpPr>
          <p:cNvPr id="28" name="Shape 25"/>
          <p:cNvSpPr/>
          <p:nvPr/>
        </p:nvSpPr>
        <p:spPr>
          <a:xfrm>
            <a:off x="4660952" y="1505447"/>
            <a:ext cx="9525" cy="297046"/>
          </a:xfrm>
          <a:prstGeom prst="rect">
            <a:avLst/>
          </a:prstGeom>
          <a:solidFill>
            <a:srgbClr val="D3B9A5"/>
          </a:solidFill>
          <a:ln/>
        </p:spPr>
        <p:txBody>
          <a:bodyPr/>
          <a:lstStyle/>
          <a:p>
            <a:endParaRPr lang="ko-KR" altLang="en-US"/>
          </a:p>
        </p:txBody>
      </p:sp>
      <p:sp>
        <p:nvSpPr>
          <p:cNvPr id="29" name="Text 26"/>
          <p:cNvSpPr/>
          <p:nvPr/>
        </p:nvSpPr>
        <p:spPr>
          <a:xfrm>
            <a:off x="4682095" y="1539239"/>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시그니처H통합건강보험</a:t>
            </a:r>
            <a:endParaRPr lang="en-US" sz="1013" dirty="0"/>
          </a:p>
        </p:txBody>
      </p:sp>
      <p:sp>
        <p:nvSpPr>
          <p:cNvPr id="30" name="Shape 27"/>
          <p:cNvSpPr/>
          <p:nvPr/>
        </p:nvSpPr>
        <p:spPr>
          <a:xfrm>
            <a:off x="7409200" y="1505447"/>
            <a:ext cx="2748737" cy="297046"/>
          </a:xfrm>
          <a:prstGeom prst="rect">
            <a:avLst/>
          </a:prstGeom>
          <a:solidFill>
            <a:srgbClr val="FFFFFF"/>
          </a:solidFill>
          <a:ln/>
        </p:spPr>
        <p:txBody>
          <a:bodyPr/>
          <a:lstStyle/>
          <a:p>
            <a:endParaRPr lang="ko-KR" altLang="en-US"/>
          </a:p>
        </p:txBody>
      </p:sp>
      <p:sp>
        <p:nvSpPr>
          <p:cNvPr id="31" name="Shape 28"/>
          <p:cNvSpPr/>
          <p:nvPr/>
        </p:nvSpPr>
        <p:spPr>
          <a:xfrm>
            <a:off x="7409200" y="1505447"/>
            <a:ext cx="2748737" cy="9525"/>
          </a:xfrm>
          <a:prstGeom prst="rect">
            <a:avLst/>
          </a:prstGeom>
          <a:solidFill>
            <a:srgbClr val="D3B9A5"/>
          </a:solidFill>
          <a:ln/>
        </p:spPr>
        <p:txBody>
          <a:bodyPr/>
          <a:lstStyle/>
          <a:p>
            <a:endParaRPr lang="ko-KR" altLang="en-US"/>
          </a:p>
        </p:txBody>
      </p:sp>
      <p:sp>
        <p:nvSpPr>
          <p:cNvPr id="32" name="Shape 29"/>
          <p:cNvSpPr/>
          <p:nvPr/>
        </p:nvSpPr>
        <p:spPr>
          <a:xfrm>
            <a:off x="7409200" y="1505447"/>
            <a:ext cx="9525" cy="297046"/>
          </a:xfrm>
          <a:prstGeom prst="rect">
            <a:avLst/>
          </a:prstGeom>
          <a:solidFill>
            <a:srgbClr val="D3B9A5"/>
          </a:solidFill>
          <a:ln/>
        </p:spPr>
        <p:txBody>
          <a:bodyPr/>
          <a:lstStyle/>
          <a:p>
            <a:endParaRPr lang="ko-KR" altLang="en-US"/>
          </a:p>
        </p:txBody>
      </p:sp>
      <p:sp>
        <p:nvSpPr>
          <p:cNvPr id="33" name="Text 30"/>
          <p:cNvSpPr/>
          <p:nvPr/>
        </p:nvSpPr>
        <p:spPr>
          <a:xfrm>
            <a:off x="7430336" y="1539239"/>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우리WON하는 보장보험</a:t>
            </a:r>
            <a:endParaRPr lang="en-US" sz="1013" dirty="0"/>
          </a:p>
        </p:txBody>
      </p:sp>
      <p:sp>
        <p:nvSpPr>
          <p:cNvPr id="34" name="Shape 31"/>
          <p:cNvSpPr/>
          <p:nvPr/>
        </p:nvSpPr>
        <p:spPr>
          <a:xfrm>
            <a:off x="538580" y="1802493"/>
            <a:ext cx="1374124" cy="303731"/>
          </a:xfrm>
          <a:prstGeom prst="rect">
            <a:avLst/>
          </a:prstGeom>
          <a:solidFill>
            <a:srgbClr val="FCF4EE"/>
          </a:solidFill>
          <a:ln/>
        </p:spPr>
        <p:txBody>
          <a:bodyPr/>
          <a:lstStyle/>
          <a:p>
            <a:endParaRPr lang="ko-KR" altLang="en-US"/>
          </a:p>
        </p:txBody>
      </p:sp>
      <p:sp>
        <p:nvSpPr>
          <p:cNvPr id="35" name="Shape 32"/>
          <p:cNvSpPr/>
          <p:nvPr/>
        </p:nvSpPr>
        <p:spPr>
          <a:xfrm>
            <a:off x="538580" y="1802493"/>
            <a:ext cx="1374124" cy="9525"/>
          </a:xfrm>
          <a:prstGeom prst="rect">
            <a:avLst/>
          </a:prstGeom>
          <a:solidFill>
            <a:srgbClr val="D3B9A5"/>
          </a:solidFill>
          <a:ln/>
        </p:spPr>
        <p:txBody>
          <a:bodyPr/>
          <a:lstStyle/>
          <a:p>
            <a:endParaRPr lang="ko-KR" altLang="en-US"/>
          </a:p>
        </p:txBody>
      </p:sp>
      <p:sp>
        <p:nvSpPr>
          <p:cNvPr id="36" name="Text 33"/>
          <p:cNvSpPr/>
          <p:nvPr/>
        </p:nvSpPr>
        <p:spPr>
          <a:xfrm>
            <a:off x="557630" y="1836285"/>
            <a:ext cx="1336024"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심사유형</a:t>
            </a:r>
            <a:endParaRPr lang="en-US" sz="1013" dirty="0"/>
          </a:p>
        </p:txBody>
      </p:sp>
      <p:sp>
        <p:nvSpPr>
          <p:cNvPr id="37" name="Shape 34"/>
          <p:cNvSpPr/>
          <p:nvPr/>
        </p:nvSpPr>
        <p:spPr>
          <a:xfrm>
            <a:off x="1912704" y="1802493"/>
            <a:ext cx="2748248" cy="303731"/>
          </a:xfrm>
          <a:prstGeom prst="rect">
            <a:avLst/>
          </a:prstGeom>
          <a:solidFill>
            <a:srgbClr val="F8E1D0"/>
          </a:solidFill>
          <a:ln/>
        </p:spPr>
        <p:txBody>
          <a:bodyPr/>
          <a:lstStyle/>
          <a:p>
            <a:endParaRPr lang="ko-KR" altLang="en-US"/>
          </a:p>
        </p:txBody>
      </p:sp>
      <p:sp>
        <p:nvSpPr>
          <p:cNvPr id="38" name="Shape 35"/>
          <p:cNvSpPr/>
          <p:nvPr/>
        </p:nvSpPr>
        <p:spPr>
          <a:xfrm>
            <a:off x="1912704" y="1802493"/>
            <a:ext cx="2748248" cy="9525"/>
          </a:xfrm>
          <a:prstGeom prst="rect">
            <a:avLst/>
          </a:prstGeom>
          <a:solidFill>
            <a:srgbClr val="D3B9A5"/>
          </a:solidFill>
          <a:ln/>
        </p:spPr>
        <p:txBody>
          <a:bodyPr/>
          <a:lstStyle/>
          <a:p>
            <a:endParaRPr lang="ko-KR" altLang="en-US"/>
          </a:p>
        </p:txBody>
      </p:sp>
      <p:sp>
        <p:nvSpPr>
          <p:cNvPr id="39" name="Shape 36"/>
          <p:cNvSpPr/>
          <p:nvPr/>
        </p:nvSpPr>
        <p:spPr>
          <a:xfrm>
            <a:off x="1912704" y="1802493"/>
            <a:ext cx="9525" cy="303731"/>
          </a:xfrm>
          <a:prstGeom prst="rect">
            <a:avLst/>
          </a:prstGeom>
          <a:solidFill>
            <a:srgbClr val="D3B9A5"/>
          </a:solidFill>
          <a:ln/>
        </p:spPr>
        <p:txBody>
          <a:bodyPr/>
          <a:lstStyle/>
          <a:p>
            <a:endParaRPr lang="ko-KR" altLang="en-US"/>
          </a:p>
        </p:txBody>
      </p:sp>
      <p:sp>
        <p:nvSpPr>
          <p:cNvPr id="40" name="Text 37"/>
          <p:cNvSpPr/>
          <p:nvPr/>
        </p:nvSpPr>
        <p:spPr>
          <a:xfrm>
            <a:off x="1933847" y="1836285"/>
            <a:ext cx="2711179"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간편 ~ 건강체</a:t>
            </a:r>
            <a:endParaRPr lang="en-US" sz="1013" dirty="0"/>
          </a:p>
        </p:txBody>
      </p:sp>
      <p:sp>
        <p:nvSpPr>
          <p:cNvPr id="41" name="Shape 38"/>
          <p:cNvSpPr/>
          <p:nvPr/>
        </p:nvSpPr>
        <p:spPr>
          <a:xfrm>
            <a:off x="4660952" y="1802493"/>
            <a:ext cx="2748248" cy="303731"/>
          </a:xfrm>
          <a:prstGeom prst="rect">
            <a:avLst/>
          </a:prstGeom>
          <a:solidFill>
            <a:srgbClr val="FFFFFF"/>
          </a:solidFill>
          <a:ln/>
        </p:spPr>
        <p:txBody>
          <a:bodyPr/>
          <a:lstStyle/>
          <a:p>
            <a:endParaRPr lang="ko-KR" altLang="en-US"/>
          </a:p>
        </p:txBody>
      </p:sp>
      <p:sp>
        <p:nvSpPr>
          <p:cNvPr id="42" name="Shape 39"/>
          <p:cNvSpPr/>
          <p:nvPr/>
        </p:nvSpPr>
        <p:spPr>
          <a:xfrm>
            <a:off x="4660952" y="1802493"/>
            <a:ext cx="2748248" cy="9525"/>
          </a:xfrm>
          <a:prstGeom prst="rect">
            <a:avLst/>
          </a:prstGeom>
          <a:solidFill>
            <a:srgbClr val="D3B9A5"/>
          </a:solidFill>
          <a:ln/>
        </p:spPr>
        <p:txBody>
          <a:bodyPr/>
          <a:lstStyle/>
          <a:p>
            <a:endParaRPr lang="ko-KR" altLang="en-US"/>
          </a:p>
        </p:txBody>
      </p:sp>
      <p:sp>
        <p:nvSpPr>
          <p:cNvPr id="43" name="Shape 40"/>
          <p:cNvSpPr/>
          <p:nvPr/>
        </p:nvSpPr>
        <p:spPr>
          <a:xfrm>
            <a:off x="4660952" y="1802493"/>
            <a:ext cx="9525" cy="303731"/>
          </a:xfrm>
          <a:prstGeom prst="rect">
            <a:avLst/>
          </a:prstGeom>
          <a:solidFill>
            <a:srgbClr val="D3B9A5"/>
          </a:solidFill>
          <a:ln/>
        </p:spPr>
        <p:txBody>
          <a:bodyPr/>
          <a:lstStyle/>
          <a:p>
            <a:endParaRPr lang="ko-KR" altLang="en-US"/>
          </a:p>
        </p:txBody>
      </p:sp>
      <p:sp>
        <p:nvSpPr>
          <p:cNvPr id="44" name="Text 41"/>
          <p:cNvSpPr/>
          <p:nvPr/>
        </p:nvSpPr>
        <p:spPr>
          <a:xfrm>
            <a:off x="4682095" y="1836285"/>
            <a:ext cx="2711179"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간편 ~ 건강체</a:t>
            </a:r>
            <a:endParaRPr lang="en-US" sz="1013" dirty="0"/>
          </a:p>
        </p:txBody>
      </p:sp>
      <p:sp>
        <p:nvSpPr>
          <p:cNvPr id="45" name="Shape 42"/>
          <p:cNvSpPr/>
          <p:nvPr/>
        </p:nvSpPr>
        <p:spPr>
          <a:xfrm>
            <a:off x="7409200" y="1802493"/>
            <a:ext cx="2748737" cy="303731"/>
          </a:xfrm>
          <a:prstGeom prst="rect">
            <a:avLst/>
          </a:prstGeom>
          <a:solidFill>
            <a:srgbClr val="FFFFFF"/>
          </a:solidFill>
          <a:ln/>
        </p:spPr>
        <p:txBody>
          <a:bodyPr/>
          <a:lstStyle/>
          <a:p>
            <a:endParaRPr lang="ko-KR" altLang="en-US"/>
          </a:p>
        </p:txBody>
      </p:sp>
      <p:sp>
        <p:nvSpPr>
          <p:cNvPr id="46" name="Shape 43"/>
          <p:cNvSpPr/>
          <p:nvPr/>
        </p:nvSpPr>
        <p:spPr>
          <a:xfrm>
            <a:off x="7409200" y="1802493"/>
            <a:ext cx="2748737" cy="9525"/>
          </a:xfrm>
          <a:prstGeom prst="rect">
            <a:avLst/>
          </a:prstGeom>
          <a:solidFill>
            <a:srgbClr val="D3B9A5"/>
          </a:solidFill>
          <a:ln/>
        </p:spPr>
        <p:txBody>
          <a:bodyPr/>
          <a:lstStyle/>
          <a:p>
            <a:endParaRPr lang="ko-KR" altLang="en-US"/>
          </a:p>
        </p:txBody>
      </p:sp>
      <p:sp>
        <p:nvSpPr>
          <p:cNvPr id="47" name="Shape 44"/>
          <p:cNvSpPr/>
          <p:nvPr/>
        </p:nvSpPr>
        <p:spPr>
          <a:xfrm>
            <a:off x="7409200" y="1802493"/>
            <a:ext cx="9525" cy="303731"/>
          </a:xfrm>
          <a:prstGeom prst="rect">
            <a:avLst/>
          </a:prstGeom>
          <a:solidFill>
            <a:srgbClr val="D3B9A5"/>
          </a:solidFill>
          <a:ln/>
        </p:spPr>
        <p:txBody>
          <a:bodyPr/>
          <a:lstStyle/>
          <a:p>
            <a:endParaRPr lang="ko-KR" altLang="en-US"/>
          </a:p>
        </p:txBody>
      </p:sp>
      <p:sp>
        <p:nvSpPr>
          <p:cNvPr id="48" name="Text 45"/>
          <p:cNvSpPr/>
          <p:nvPr/>
        </p:nvSpPr>
        <p:spPr>
          <a:xfrm>
            <a:off x="7430336" y="1836285"/>
            <a:ext cx="2711682"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간편 ~ 건강체</a:t>
            </a:r>
            <a:endParaRPr lang="en-US" sz="1013" dirty="0"/>
          </a:p>
        </p:txBody>
      </p:sp>
      <p:sp>
        <p:nvSpPr>
          <p:cNvPr id="49" name="Shape 46"/>
          <p:cNvSpPr/>
          <p:nvPr/>
        </p:nvSpPr>
        <p:spPr>
          <a:xfrm>
            <a:off x="538580" y="2106224"/>
            <a:ext cx="1374124" cy="297046"/>
          </a:xfrm>
          <a:prstGeom prst="rect">
            <a:avLst/>
          </a:prstGeom>
          <a:solidFill>
            <a:srgbClr val="FCF4EE"/>
          </a:solidFill>
          <a:ln/>
        </p:spPr>
        <p:txBody>
          <a:bodyPr/>
          <a:lstStyle/>
          <a:p>
            <a:endParaRPr lang="ko-KR" altLang="en-US"/>
          </a:p>
        </p:txBody>
      </p:sp>
      <p:sp>
        <p:nvSpPr>
          <p:cNvPr id="50" name="Shape 47"/>
          <p:cNvSpPr/>
          <p:nvPr/>
        </p:nvSpPr>
        <p:spPr>
          <a:xfrm>
            <a:off x="538580" y="2106224"/>
            <a:ext cx="1374124" cy="9525"/>
          </a:xfrm>
          <a:prstGeom prst="rect">
            <a:avLst/>
          </a:prstGeom>
          <a:solidFill>
            <a:srgbClr val="D3B9A5"/>
          </a:solidFill>
          <a:ln/>
        </p:spPr>
        <p:txBody>
          <a:bodyPr/>
          <a:lstStyle/>
          <a:p>
            <a:endParaRPr lang="ko-KR" altLang="en-US"/>
          </a:p>
        </p:txBody>
      </p:sp>
      <p:sp>
        <p:nvSpPr>
          <p:cNvPr id="51" name="Text 48"/>
          <p:cNvSpPr/>
          <p:nvPr/>
        </p:nvSpPr>
        <p:spPr>
          <a:xfrm>
            <a:off x="557630" y="2140016"/>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가입한도</a:t>
            </a:r>
            <a:endParaRPr lang="en-US" sz="1013" dirty="0"/>
          </a:p>
        </p:txBody>
      </p:sp>
      <p:sp>
        <p:nvSpPr>
          <p:cNvPr id="52" name="Shape 49"/>
          <p:cNvSpPr/>
          <p:nvPr/>
        </p:nvSpPr>
        <p:spPr>
          <a:xfrm>
            <a:off x="1912704" y="2106224"/>
            <a:ext cx="2748248" cy="297046"/>
          </a:xfrm>
          <a:prstGeom prst="rect">
            <a:avLst/>
          </a:prstGeom>
          <a:solidFill>
            <a:srgbClr val="F8E1D0"/>
          </a:solidFill>
          <a:ln/>
        </p:spPr>
        <p:txBody>
          <a:bodyPr/>
          <a:lstStyle/>
          <a:p>
            <a:endParaRPr lang="ko-KR" altLang="en-US"/>
          </a:p>
        </p:txBody>
      </p:sp>
      <p:sp>
        <p:nvSpPr>
          <p:cNvPr id="53" name="Shape 50"/>
          <p:cNvSpPr/>
          <p:nvPr/>
        </p:nvSpPr>
        <p:spPr>
          <a:xfrm>
            <a:off x="1912704" y="2106224"/>
            <a:ext cx="2748248" cy="9525"/>
          </a:xfrm>
          <a:prstGeom prst="rect">
            <a:avLst/>
          </a:prstGeom>
          <a:solidFill>
            <a:srgbClr val="D3B9A5"/>
          </a:solidFill>
          <a:ln/>
        </p:spPr>
        <p:txBody>
          <a:bodyPr/>
          <a:lstStyle/>
          <a:p>
            <a:endParaRPr lang="ko-KR" altLang="en-US"/>
          </a:p>
        </p:txBody>
      </p:sp>
      <p:sp>
        <p:nvSpPr>
          <p:cNvPr id="54" name="Shape 51"/>
          <p:cNvSpPr/>
          <p:nvPr/>
        </p:nvSpPr>
        <p:spPr>
          <a:xfrm>
            <a:off x="1912704" y="2106224"/>
            <a:ext cx="9525" cy="297046"/>
          </a:xfrm>
          <a:prstGeom prst="rect">
            <a:avLst/>
          </a:prstGeom>
          <a:solidFill>
            <a:srgbClr val="D3B9A5"/>
          </a:solidFill>
          <a:ln/>
        </p:spPr>
        <p:txBody>
          <a:bodyPr/>
          <a:lstStyle/>
          <a:p>
            <a:endParaRPr lang="ko-KR" altLang="en-US"/>
          </a:p>
        </p:txBody>
      </p:sp>
      <p:sp>
        <p:nvSpPr>
          <p:cNvPr id="55" name="Text 52"/>
          <p:cNvSpPr/>
          <p:nvPr/>
        </p:nvSpPr>
        <p:spPr>
          <a:xfrm>
            <a:off x="1933847" y="2140016"/>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연 1억</a:t>
            </a:r>
            <a:endParaRPr lang="en-US" sz="1013" dirty="0"/>
          </a:p>
        </p:txBody>
      </p:sp>
      <p:sp>
        <p:nvSpPr>
          <p:cNvPr id="56" name="Shape 53"/>
          <p:cNvSpPr/>
          <p:nvPr/>
        </p:nvSpPr>
        <p:spPr>
          <a:xfrm>
            <a:off x="4660952" y="2106224"/>
            <a:ext cx="2748248" cy="297046"/>
          </a:xfrm>
          <a:prstGeom prst="rect">
            <a:avLst/>
          </a:prstGeom>
          <a:solidFill>
            <a:srgbClr val="FFFFFF"/>
          </a:solidFill>
          <a:ln/>
        </p:spPr>
        <p:txBody>
          <a:bodyPr/>
          <a:lstStyle/>
          <a:p>
            <a:endParaRPr lang="ko-KR" altLang="en-US"/>
          </a:p>
        </p:txBody>
      </p:sp>
      <p:sp>
        <p:nvSpPr>
          <p:cNvPr id="57" name="Shape 54"/>
          <p:cNvSpPr/>
          <p:nvPr/>
        </p:nvSpPr>
        <p:spPr>
          <a:xfrm>
            <a:off x="4660952" y="2106224"/>
            <a:ext cx="2748248" cy="9525"/>
          </a:xfrm>
          <a:prstGeom prst="rect">
            <a:avLst/>
          </a:prstGeom>
          <a:solidFill>
            <a:srgbClr val="D3B9A5"/>
          </a:solidFill>
          <a:ln/>
        </p:spPr>
        <p:txBody>
          <a:bodyPr/>
          <a:lstStyle/>
          <a:p>
            <a:endParaRPr lang="ko-KR" altLang="en-US"/>
          </a:p>
        </p:txBody>
      </p:sp>
      <p:sp>
        <p:nvSpPr>
          <p:cNvPr id="58" name="Shape 55"/>
          <p:cNvSpPr/>
          <p:nvPr/>
        </p:nvSpPr>
        <p:spPr>
          <a:xfrm>
            <a:off x="4660952" y="2106224"/>
            <a:ext cx="9525" cy="297046"/>
          </a:xfrm>
          <a:prstGeom prst="rect">
            <a:avLst/>
          </a:prstGeom>
          <a:solidFill>
            <a:srgbClr val="D3B9A5"/>
          </a:solidFill>
          <a:ln/>
        </p:spPr>
        <p:txBody>
          <a:bodyPr/>
          <a:lstStyle/>
          <a:p>
            <a:endParaRPr lang="ko-KR" altLang="en-US"/>
          </a:p>
        </p:txBody>
      </p:sp>
      <p:sp>
        <p:nvSpPr>
          <p:cNvPr id="59" name="Text 56"/>
          <p:cNvSpPr/>
          <p:nvPr/>
        </p:nvSpPr>
        <p:spPr>
          <a:xfrm>
            <a:off x="4682095" y="2140016"/>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연 1억</a:t>
            </a:r>
            <a:endParaRPr lang="en-US" sz="1013" dirty="0"/>
          </a:p>
        </p:txBody>
      </p:sp>
      <p:sp>
        <p:nvSpPr>
          <p:cNvPr id="60" name="Shape 57"/>
          <p:cNvSpPr/>
          <p:nvPr/>
        </p:nvSpPr>
        <p:spPr>
          <a:xfrm>
            <a:off x="7409200" y="2106224"/>
            <a:ext cx="2748737" cy="297046"/>
          </a:xfrm>
          <a:prstGeom prst="rect">
            <a:avLst/>
          </a:prstGeom>
          <a:solidFill>
            <a:srgbClr val="FFFFFF"/>
          </a:solidFill>
          <a:ln/>
        </p:spPr>
        <p:txBody>
          <a:bodyPr/>
          <a:lstStyle/>
          <a:p>
            <a:endParaRPr lang="ko-KR" altLang="en-US"/>
          </a:p>
        </p:txBody>
      </p:sp>
      <p:sp>
        <p:nvSpPr>
          <p:cNvPr id="61" name="Shape 58"/>
          <p:cNvSpPr/>
          <p:nvPr/>
        </p:nvSpPr>
        <p:spPr>
          <a:xfrm>
            <a:off x="7409200" y="2106224"/>
            <a:ext cx="2748737" cy="9525"/>
          </a:xfrm>
          <a:prstGeom prst="rect">
            <a:avLst/>
          </a:prstGeom>
          <a:solidFill>
            <a:srgbClr val="D3B9A5"/>
          </a:solidFill>
          <a:ln/>
        </p:spPr>
        <p:txBody>
          <a:bodyPr/>
          <a:lstStyle/>
          <a:p>
            <a:endParaRPr lang="ko-KR" altLang="en-US"/>
          </a:p>
        </p:txBody>
      </p:sp>
      <p:sp>
        <p:nvSpPr>
          <p:cNvPr id="62" name="Shape 59"/>
          <p:cNvSpPr/>
          <p:nvPr/>
        </p:nvSpPr>
        <p:spPr>
          <a:xfrm>
            <a:off x="7409200" y="2106224"/>
            <a:ext cx="9525" cy="297046"/>
          </a:xfrm>
          <a:prstGeom prst="rect">
            <a:avLst/>
          </a:prstGeom>
          <a:solidFill>
            <a:srgbClr val="D3B9A5"/>
          </a:solidFill>
          <a:ln/>
        </p:spPr>
        <p:txBody>
          <a:bodyPr/>
          <a:lstStyle/>
          <a:p>
            <a:endParaRPr lang="ko-KR" altLang="en-US"/>
          </a:p>
        </p:txBody>
      </p:sp>
      <p:sp>
        <p:nvSpPr>
          <p:cNvPr id="63" name="Text 60"/>
          <p:cNvSpPr/>
          <p:nvPr/>
        </p:nvSpPr>
        <p:spPr>
          <a:xfrm>
            <a:off x="7430336" y="2140016"/>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연 1억</a:t>
            </a:r>
            <a:endParaRPr lang="en-US" sz="1013" dirty="0"/>
          </a:p>
        </p:txBody>
      </p:sp>
      <p:sp>
        <p:nvSpPr>
          <p:cNvPr id="64" name="Shape 61"/>
          <p:cNvSpPr/>
          <p:nvPr/>
        </p:nvSpPr>
        <p:spPr>
          <a:xfrm>
            <a:off x="538580" y="2403270"/>
            <a:ext cx="1374124" cy="297046"/>
          </a:xfrm>
          <a:prstGeom prst="rect">
            <a:avLst/>
          </a:prstGeom>
          <a:solidFill>
            <a:srgbClr val="FCF4EE"/>
          </a:solidFill>
          <a:ln/>
        </p:spPr>
        <p:txBody>
          <a:bodyPr/>
          <a:lstStyle/>
          <a:p>
            <a:endParaRPr lang="ko-KR" altLang="en-US"/>
          </a:p>
        </p:txBody>
      </p:sp>
      <p:sp>
        <p:nvSpPr>
          <p:cNvPr id="65" name="Shape 62"/>
          <p:cNvSpPr/>
          <p:nvPr/>
        </p:nvSpPr>
        <p:spPr>
          <a:xfrm>
            <a:off x="538580" y="2403270"/>
            <a:ext cx="1374124" cy="9525"/>
          </a:xfrm>
          <a:prstGeom prst="rect">
            <a:avLst/>
          </a:prstGeom>
          <a:solidFill>
            <a:srgbClr val="D3B9A5"/>
          </a:solidFill>
          <a:ln/>
        </p:spPr>
        <p:txBody>
          <a:bodyPr/>
          <a:lstStyle/>
          <a:p>
            <a:endParaRPr lang="ko-KR" altLang="en-US"/>
          </a:p>
        </p:txBody>
      </p:sp>
      <p:sp>
        <p:nvSpPr>
          <p:cNvPr id="66" name="Text 63"/>
          <p:cNvSpPr/>
          <p:nvPr/>
        </p:nvSpPr>
        <p:spPr>
          <a:xfrm>
            <a:off x="557630" y="2437062"/>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검사(MRI/PET/CT)</a:t>
            </a:r>
            <a:endParaRPr lang="en-US" sz="1013" dirty="0"/>
          </a:p>
        </p:txBody>
      </p:sp>
      <p:sp>
        <p:nvSpPr>
          <p:cNvPr id="67" name="Shape 64"/>
          <p:cNvSpPr/>
          <p:nvPr/>
        </p:nvSpPr>
        <p:spPr>
          <a:xfrm>
            <a:off x="1912704" y="2403270"/>
            <a:ext cx="2748248" cy="297046"/>
          </a:xfrm>
          <a:prstGeom prst="rect">
            <a:avLst/>
          </a:prstGeom>
          <a:solidFill>
            <a:srgbClr val="F8E1D0"/>
          </a:solidFill>
          <a:ln/>
        </p:spPr>
        <p:txBody>
          <a:bodyPr/>
          <a:lstStyle/>
          <a:p>
            <a:endParaRPr lang="ko-KR" altLang="en-US"/>
          </a:p>
        </p:txBody>
      </p:sp>
      <p:sp>
        <p:nvSpPr>
          <p:cNvPr id="68" name="Shape 65"/>
          <p:cNvSpPr/>
          <p:nvPr/>
        </p:nvSpPr>
        <p:spPr>
          <a:xfrm>
            <a:off x="1912704" y="2403270"/>
            <a:ext cx="2748248" cy="9525"/>
          </a:xfrm>
          <a:prstGeom prst="rect">
            <a:avLst/>
          </a:prstGeom>
          <a:solidFill>
            <a:srgbClr val="D3B9A5"/>
          </a:solidFill>
          <a:ln/>
        </p:spPr>
        <p:txBody>
          <a:bodyPr/>
          <a:lstStyle/>
          <a:p>
            <a:endParaRPr lang="ko-KR" altLang="en-US"/>
          </a:p>
        </p:txBody>
      </p:sp>
      <p:sp>
        <p:nvSpPr>
          <p:cNvPr id="69" name="Shape 66"/>
          <p:cNvSpPr/>
          <p:nvPr/>
        </p:nvSpPr>
        <p:spPr>
          <a:xfrm>
            <a:off x="1912704" y="2403270"/>
            <a:ext cx="9525" cy="297046"/>
          </a:xfrm>
          <a:prstGeom prst="rect">
            <a:avLst/>
          </a:prstGeom>
          <a:solidFill>
            <a:srgbClr val="D3B9A5"/>
          </a:solidFill>
          <a:ln/>
        </p:spPr>
        <p:txBody>
          <a:bodyPr/>
          <a:lstStyle/>
          <a:p>
            <a:endParaRPr lang="ko-KR" altLang="en-US"/>
          </a:p>
        </p:txBody>
      </p:sp>
      <p:sp>
        <p:nvSpPr>
          <p:cNvPr id="70" name="Text 67"/>
          <p:cNvSpPr/>
          <p:nvPr/>
        </p:nvSpPr>
        <p:spPr>
          <a:xfrm>
            <a:off x="1933847" y="2437062"/>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5만 / 5만 / 10만</a:t>
            </a:r>
            <a:endParaRPr lang="en-US" sz="1013" dirty="0"/>
          </a:p>
        </p:txBody>
      </p:sp>
      <p:sp>
        <p:nvSpPr>
          <p:cNvPr id="71" name="Shape 68"/>
          <p:cNvSpPr/>
          <p:nvPr/>
        </p:nvSpPr>
        <p:spPr>
          <a:xfrm>
            <a:off x="4660952" y="2403270"/>
            <a:ext cx="2748248" cy="297046"/>
          </a:xfrm>
          <a:prstGeom prst="rect">
            <a:avLst/>
          </a:prstGeom>
          <a:solidFill>
            <a:srgbClr val="FFFFFF"/>
          </a:solidFill>
          <a:ln/>
        </p:spPr>
        <p:txBody>
          <a:bodyPr/>
          <a:lstStyle/>
          <a:p>
            <a:endParaRPr lang="ko-KR" altLang="en-US"/>
          </a:p>
        </p:txBody>
      </p:sp>
      <p:sp>
        <p:nvSpPr>
          <p:cNvPr id="72" name="Shape 69"/>
          <p:cNvSpPr/>
          <p:nvPr/>
        </p:nvSpPr>
        <p:spPr>
          <a:xfrm>
            <a:off x="4660952" y="2403270"/>
            <a:ext cx="2748248" cy="9525"/>
          </a:xfrm>
          <a:prstGeom prst="rect">
            <a:avLst/>
          </a:prstGeom>
          <a:solidFill>
            <a:srgbClr val="D3B9A5"/>
          </a:solidFill>
          <a:ln/>
        </p:spPr>
        <p:txBody>
          <a:bodyPr/>
          <a:lstStyle/>
          <a:p>
            <a:endParaRPr lang="ko-KR" altLang="en-US"/>
          </a:p>
        </p:txBody>
      </p:sp>
      <p:sp>
        <p:nvSpPr>
          <p:cNvPr id="73" name="Shape 70"/>
          <p:cNvSpPr/>
          <p:nvPr/>
        </p:nvSpPr>
        <p:spPr>
          <a:xfrm>
            <a:off x="4660952" y="2403270"/>
            <a:ext cx="9525" cy="297046"/>
          </a:xfrm>
          <a:prstGeom prst="rect">
            <a:avLst/>
          </a:prstGeom>
          <a:solidFill>
            <a:srgbClr val="D3B9A5"/>
          </a:solidFill>
          <a:ln/>
        </p:spPr>
        <p:txBody>
          <a:bodyPr/>
          <a:lstStyle/>
          <a:p>
            <a:endParaRPr lang="ko-KR" altLang="en-US"/>
          </a:p>
        </p:txBody>
      </p:sp>
      <p:sp>
        <p:nvSpPr>
          <p:cNvPr id="74" name="Text 71"/>
          <p:cNvSpPr/>
          <p:nvPr/>
        </p:nvSpPr>
        <p:spPr>
          <a:xfrm>
            <a:off x="4682095" y="2437062"/>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20만 / 20만 / 20만</a:t>
            </a:r>
            <a:endParaRPr lang="en-US" sz="1013" dirty="0"/>
          </a:p>
        </p:txBody>
      </p:sp>
      <p:sp>
        <p:nvSpPr>
          <p:cNvPr id="75" name="Shape 72"/>
          <p:cNvSpPr/>
          <p:nvPr/>
        </p:nvSpPr>
        <p:spPr>
          <a:xfrm>
            <a:off x="7409200" y="2403270"/>
            <a:ext cx="2748737" cy="297046"/>
          </a:xfrm>
          <a:prstGeom prst="rect">
            <a:avLst/>
          </a:prstGeom>
          <a:solidFill>
            <a:srgbClr val="FFFFFF"/>
          </a:solidFill>
          <a:ln/>
        </p:spPr>
        <p:txBody>
          <a:bodyPr/>
          <a:lstStyle/>
          <a:p>
            <a:endParaRPr lang="ko-KR" altLang="en-US"/>
          </a:p>
        </p:txBody>
      </p:sp>
      <p:sp>
        <p:nvSpPr>
          <p:cNvPr id="76" name="Shape 73"/>
          <p:cNvSpPr/>
          <p:nvPr/>
        </p:nvSpPr>
        <p:spPr>
          <a:xfrm>
            <a:off x="7409200" y="2403270"/>
            <a:ext cx="2748737" cy="9525"/>
          </a:xfrm>
          <a:prstGeom prst="rect">
            <a:avLst/>
          </a:prstGeom>
          <a:solidFill>
            <a:srgbClr val="D3B9A5"/>
          </a:solidFill>
          <a:ln/>
        </p:spPr>
        <p:txBody>
          <a:bodyPr/>
          <a:lstStyle/>
          <a:p>
            <a:endParaRPr lang="ko-KR" altLang="en-US"/>
          </a:p>
        </p:txBody>
      </p:sp>
      <p:sp>
        <p:nvSpPr>
          <p:cNvPr id="77" name="Shape 74"/>
          <p:cNvSpPr/>
          <p:nvPr/>
        </p:nvSpPr>
        <p:spPr>
          <a:xfrm>
            <a:off x="7409200" y="2403270"/>
            <a:ext cx="9525" cy="297046"/>
          </a:xfrm>
          <a:prstGeom prst="rect">
            <a:avLst/>
          </a:prstGeom>
          <a:solidFill>
            <a:srgbClr val="D3B9A5"/>
          </a:solidFill>
          <a:ln/>
        </p:spPr>
        <p:txBody>
          <a:bodyPr/>
          <a:lstStyle/>
          <a:p>
            <a:endParaRPr lang="ko-KR" altLang="en-US"/>
          </a:p>
        </p:txBody>
      </p:sp>
      <p:sp>
        <p:nvSpPr>
          <p:cNvPr id="78" name="Text 75"/>
          <p:cNvSpPr/>
          <p:nvPr/>
        </p:nvSpPr>
        <p:spPr>
          <a:xfrm>
            <a:off x="7430336" y="2437062"/>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20만 / 20만 / 20만</a:t>
            </a:r>
            <a:endParaRPr lang="en-US" sz="1013" dirty="0"/>
          </a:p>
        </p:txBody>
      </p:sp>
      <p:sp>
        <p:nvSpPr>
          <p:cNvPr id="79" name="Shape 76"/>
          <p:cNvSpPr/>
          <p:nvPr/>
        </p:nvSpPr>
        <p:spPr>
          <a:xfrm>
            <a:off x="538580" y="2700316"/>
            <a:ext cx="1374124" cy="297046"/>
          </a:xfrm>
          <a:prstGeom prst="rect">
            <a:avLst/>
          </a:prstGeom>
          <a:solidFill>
            <a:srgbClr val="FCF4EE"/>
          </a:solidFill>
          <a:ln/>
        </p:spPr>
        <p:txBody>
          <a:bodyPr/>
          <a:lstStyle/>
          <a:p>
            <a:endParaRPr lang="ko-KR" altLang="en-US"/>
          </a:p>
        </p:txBody>
      </p:sp>
      <p:sp>
        <p:nvSpPr>
          <p:cNvPr id="80" name="Shape 77"/>
          <p:cNvSpPr/>
          <p:nvPr/>
        </p:nvSpPr>
        <p:spPr>
          <a:xfrm>
            <a:off x="538580" y="2700316"/>
            <a:ext cx="1374124" cy="9525"/>
          </a:xfrm>
          <a:prstGeom prst="rect">
            <a:avLst/>
          </a:prstGeom>
          <a:solidFill>
            <a:srgbClr val="D3B9A5"/>
          </a:solidFill>
          <a:ln/>
        </p:spPr>
        <p:txBody>
          <a:bodyPr/>
          <a:lstStyle/>
          <a:p>
            <a:endParaRPr lang="ko-KR" altLang="en-US"/>
          </a:p>
        </p:txBody>
      </p:sp>
      <p:sp>
        <p:nvSpPr>
          <p:cNvPr id="81" name="Text 78"/>
          <p:cNvSpPr/>
          <p:nvPr/>
        </p:nvSpPr>
        <p:spPr>
          <a:xfrm>
            <a:off x="557630" y="2734108"/>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수술</a:t>
            </a:r>
            <a:endParaRPr lang="en-US" sz="1013" dirty="0"/>
          </a:p>
        </p:txBody>
      </p:sp>
      <p:sp>
        <p:nvSpPr>
          <p:cNvPr id="82" name="Shape 79"/>
          <p:cNvSpPr/>
          <p:nvPr/>
        </p:nvSpPr>
        <p:spPr>
          <a:xfrm>
            <a:off x="1912704" y="2700316"/>
            <a:ext cx="2748248" cy="297046"/>
          </a:xfrm>
          <a:prstGeom prst="rect">
            <a:avLst/>
          </a:prstGeom>
          <a:solidFill>
            <a:srgbClr val="F8E1D0"/>
          </a:solidFill>
          <a:ln/>
        </p:spPr>
        <p:txBody>
          <a:bodyPr/>
          <a:lstStyle/>
          <a:p>
            <a:endParaRPr lang="ko-KR" altLang="en-US"/>
          </a:p>
        </p:txBody>
      </p:sp>
      <p:sp>
        <p:nvSpPr>
          <p:cNvPr id="83" name="Shape 80"/>
          <p:cNvSpPr/>
          <p:nvPr/>
        </p:nvSpPr>
        <p:spPr>
          <a:xfrm>
            <a:off x="1912704" y="2700316"/>
            <a:ext cx="2748248" cy="9525"/>
          </a:xfrm>
          <a:prstGeom prst="rect">
            <a:avLst/>
          </a:prstGeom>
          <a:solidFill>
            <a:srgbClr val="D3B9A5"/>
          </a:solidFill>
          <a:ln/>
        </p:spPr>
        <p:txBody>
          <a:bodyPr/>
          <a:lstStyle/>
          <a:p>
            <a:endParaRPr lang="ko-KR" altLang="en-US"/>
          </a:p>
        </p:txBody>
      </p:sp>
      <p:sp>
        <p:nvSpPr>
          <p:cNvPr id="84" name="Shape 81"/>
          <p:cNvSpPr/>
          <p:nvPr/>
        </p:nvSpPr>
        <p:spPr>
          <a:xfrm>
            <a:off x="1912704" y="2700316"/>
            <a:ext cx="9525" cy="297046"/>
          </a:xfrm>
          <a:prstGeom prst="rect">
            <a:avLst/>
          </a:prstGeom>
          <a:solidFill>
            <a:srgbClr val="D3B9A5"/>
          </a:solidFill>
          <a:ln/>
        </p:spPr>
        <p:txBody>
          <a:bodyPr/>
          <a:lstStyle/>
          <a:p>
            <a:endParaRPr lang="ko-KR" altLang="en-US"/>
          </a:p>
        </p:txBody>
      </p:sp>
      <p:sp>
        <p:nvSpPr>
          <p:cNvPr id="85" name="Text 82"/>
          <p:cNvSpPr/>
          <p:nvPr/>
        </p:nvSpPr>
        <p:spPr>
          <a:xfrm>
            <a:off x="1933847" y="2734108"/>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2,500만</a:t>
            </a:r>
            <a:endParaRPr lang="en-US" sz="1013" dirty="0"/>
          </a:p>
        </p:txBody>
      </p:sp>
      <p:sp>
        <p:nvSpPr>
          <p:cNvPr id="86" name="Shape 83"/>
          <p:cNvSpPr/>
          <p:nvPr/>
        </p:nvSpPr>
        <p:spPr>
          <a:xfrm>
            <a:off x="4660952" y="2700316"/>
            <a:ext cx="2748248" cy="297046"/>
          </a:xfrm>
          <a:prstGeom prst="rect">
            <a:avLst/>
          </a:prstGeom>
          <a:solidFill>
            <a:srgbClr val="FFFFFF"/>
          </a:solidFill>
          <a:ln/>
        </p:spPr>
        <p:txBody>
          <a:bodyPr/>
          <a:lstStyle/>
          <a:p>
            <a:endParaRPr lang="ko-KR" altLang="en-US"/>
          </a:p>
        </p:txBody>
      </p:sp>
      <p:sp>
        <p:nvSpPr>
          <p:cNvPr id="87" name="Shape 84"/>
          <p:cNvSpPr/>
          <p:nvPr/>
        </p:nvSpPr>
        <p:spPr>
          <a:xfrm>
            <a:off x="4660952" y="2700316"/>
            <a:ext cx="2748248" cy="9525"/>
          </a:xfrm>
          <a:prstGeom prst="rect">
            <a:avLst/>
          </a:prstGeom>
          <a:solidFill>
            <a:srgbClr val="D3B9A5"/>
          </a:solidFill>
          <a:ln/>
        </p:spPr>
        <p:txBody>
          <a:bodyPr/>
          <a:lstStyle/>
          <a:p>
            <a:endParaRPr lang="ko-KR" altLang="en-US"/>
          </a:p>
        </p:txBody>
      </p:sp>
      <p:sp>
        <p:nvSpPr>
          <p:cNvPr id="88" name="Shape 85"/>
          <p:cNvSpPr/>
          <p:nvPr/>
        </p:nvSpPr>
        <p:spPr>
          <a:xfrm>
            <a:off x="4660952" y="2700316"/>
            <a:ext cx="9525" cy="297046"/>
          </a:xfrm>
          <a:prstGeom prst="rect">
            <a:avLst/>
          </a:prstGeom>
          <a:solidFill>
            <a:srgbClr val="D3B9A5"/>
          </a:solidFill>
          <a:ln/>
        </p:spPr>
        <p:txBody>
          <a:bodyPr/>
          <a:lstStyle/>
          <a:p>
            <a:endParaRPr lang="ko-KR" altLang="en-US"/>
          </a:p>
        </p:txBody>
      </p:sp>
      <p:sp>
        <p:nvSpPr>
          <p:cNvPr id="89" name="Text 86"/>
          <p:cNvSpPr/>
          <p:nvPr/>
        </p:nvSpPr>
        <p:spPr>
          <a:xfrm>
            <a:off x="4682095" y="2734108"/>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2,000만</a:t>
            </a:r>
            <a:endParaRPr lang="en-US" sz="1013" dirty="0"/>
          </a:p>
        </p:txBody>
      </p:sp>
      <p:sp>
        <p:nvSpPr>
          <p:cNvPr id="90" name="Shape 87"/>
          <p:cNvSpPr/>
          <p:nvPr/>
        </p:nvSpPr>
        <p:spPr>
          <a:xfrm>
            <a:off x="7409200" y="2700316"/>
            <a:ext cx="2748737" cy="297046"/>
          </a:xfrm>
          <a:prstGeom prst="rect">
            <a:avLst/>
          </a:prstGeom>
          <a:solidFill>
            <a:srgbClr val="FFFFFF"/>
          </a:solidFill>
          <a:ln/>
        </p:spPr>
        <p:txBody>
          <a:bodyPr/>
          <a:lstStyle/>
          <a:p>
            <a:endParaRPr lang="ko-KR" altLang="en-US"/>
          </a:p>
        </p:txBody>
      </p:sp>
      <p:sp>
        <p:nvSpPr>
          <p:cNvPr id="91" name="Shape 88"/>
          <p:cNvSpPr/>
          <p:nvPr/>
        </p:nvSpPr>
        <p:spPr>
          <a:xfrm>
            <a:off x="7409200" y="2700316"/>
            <a:ext cx="2748737" cy="9525"/>
          </a:xfrm>
          <a:prstGeom prst="rect">
            <a:avLst/>
          </a:prstGeom>
          <a:solidFill>
            <a:srgbClr val="D3B9A5"/>
          </a:solidFill>
          <a:ln/>
        </p:spPr>
        <p:txBody>
          <a:bodyPr/>
          <a:lstStyle/>
          <a:p>
            <a:endParaRPr lang="ko-KR" altLang="en-US"/>
          </a:p>
        </p:txBody>
      </p:sp>
      <p:sp>
        <p:nvSpPr>
          <p:cNvPr id="92" name="Shape 89"/>
          <p:cNvSpPr/>
          <p:nvPr/>
        </p:nvSpPr>
        <p:spPr>
          <a:xfrm>
            <a:off x="7409200" y="2700316"/>
            <a:ext cx="9525" cy="297046"/>
          </a:xfrm>
          <a:prstGeom prst="rect">
            <a:avLst/>
          </a:prstGeom>
          <a:solidFill>
            <a:srgbClr val="D3B9A5"/>
          </a:solidFill>
          <a:ln/>
        </p:spPr>
        <p:txBody>
          <a:bodyPr/>
          <a:lstStyle/>
          <a:p>
            <a:endParaRPr lang="ko-KR" altLang="en-US"/>
          </a:p>
        </p:txBody>
      </p:sp>
      <p:sp>
        <p:nvSpPr>
          <p:cNvPr id="93" name="Text 90"/>
          <p:cNvSpPr/>
          <p:nvPr/>
        </p:nvSpPr>
        <p:spPr>
          <a:xfrm>
            <a:off x="7430336" y="2734108"/>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2,000만</a:t>
            </a:r>
            <a:endParaRPr lang="en-US" sz="1013" dirty="0"/>
          </a:p>
        </p:txBody>
      </p:sp>
      <p:sp>
        <p:nvSpPr>
          <p:cNvPr id="94" name="Shape 91"/>
          <p:cNvSpPr/>
          <p:nvPr/>
        </p:nvSpPr>
        <p:spPr>
          <a:xfrm>
            <a:off x="538580" y="2997363"/>
            <a:ext cx="1374124" cy="297046"/>
          </a:xfrm>
          <a:prstGeom prst="rect">
            <a:avLst/>
          </a:prstGeom>
          <a:solidFill>
            <a:srgbClr val="FCF4EE"/>
          </a:solidFill>
          <a:ln/>
        </p:spPr>
        <p:txBody>
          <a:bodyPr/>
          <a:lstStyle/>
          <a:p>
            <a:endParaRPr lang="ko-KR" altLang="en-US"/>
          </a:p>
        </p:txBody>
      </p:sp>
      <p:sp>
        <p:nvSpPr>
          <p:cNvPr id="95" name="Shape 92"/>
          <p:cNvSpPr/>
          <p:nvPr/>
        </p:nvSpPr>
        <p:spPr>
          <a:xfrm>
            <a:off x="538580" y="2997363"/>
            <a:ext cx="1374124" cy="9525"/>
          </a:xfrm>
          <a:prstGeom prst="rect">
            <a:avLst/>
          </a:prstGeom>
          <a:solidFill>
            <a:srgbClr val="D3B9A5"/>
          </a:solidFill>
          <a:ln/>
        </p:spPr>
        <p:txBody>
          <a:bodyPr/>
          <a:lstStyle/>
          <a:p>
            <a:endParaRPr lang="ko-KR" altLang="en-US"/>
          </a:p>
        </p:txBody>
      </p:sp>
      <p:sp>
        <p:nvSpPr>
          <p:cNvPr id="96" name="Text 93"/>
          <p:cNvSpPr/>
          <p:nvPr/>
        </p:nvSpPr>
        <p:spPr>
          <a:xfrm>
            <a:off x="557630" y="3031155"/>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혈전용해술</a:t>
            </a:r>
            <a:endParaRPr lang="en-US" sz="1013" dirty="0"/>
          </a:p>
        </p:txBody>
      </p:sp>
      <p:sp>
        <p:nvSpPr>
          <p:cNvPr id="97" name="Shape 94"/>
          <p:cNvSpPr/>
          <p:nvPr/>
        </p:nvSpPr>
        <p:spPr>
          <a:xfrm>
            <a:off x="1912704" y="2997363"/>
            <a:ext cx="2748248" cy="297046"/>
          </a:xfrm>
          <a:prstGeom prst="rect">
            <a:avLst/>
          </a:prstGeom>
          <a:solidFill>
            <a:srgbClr val="F8E1D0"/>
          </a:solidFill>
          <a:ln/>
        </p:spPr>
        <p:txBody>
          <a:bodyPr/>
          <a:lstStyle/>
          <a:p>
            <a:endParaRPr lang="ko-KR" altLang="en-US"/>
          </a:p>
        </p:txBody>
      </p:sp>
      <p:sp>
        <p:nvSpPr>
          <p:cNvPr id="98" name="Shape 95"/>
          <p:cNvSpPr/>
          <p:nvPr/>
        </p:nvSpPr>
        <p:spPr>
          <a:xfrm>
            <a:off x="1912704" y="2997363"/>
            <a:ext cx="2748248" cy="9525"/>
          </a:xfrm>
          <a:prstGeom prst="rect">
            <a:avLst/>
          </a:prstGeom>
          <a:solidFill>
            <a:srgbClr val="D3B9A5"/>
          </a:solidFill>
          <a:ln/>
        </p:spPr>
        <p:txBody>
          <a:bodyPr/>
          <a:lstStyle/>
          <a:p>
            <a:endParaRPr lang="ko-KR" altLang="en-US"/>
          </a:p>
        </p:txBody>
      </p:sp>
      <p:sp>
        <p:nvSpPr>
          <p:cNvPr id="99" name="Shape 96"/>
          <p:cNvSpPr/>
          <p:nvPr/>
        </p:nvSpPr>
        <p:spPr>
          <a:xfrm>
            <a:off x="1912704" y="2997363"/>
            <a:ext cx="9525" cy="297046"/>
          </a:xfrm>
          <a:prstGeom prst="rect">
            <a:avLst/>
          </a:prstGeom>
          <a:solidFill>
            <a:srgbClr val="D3B9A5"/>
          </a:solidFill>
          <a:ln/>
        </p:spPr>
        <p:txBody>
          <a:bodyPr/>
          <a:lstStyle/>
          <a:p>
            <a:endParaRPr lang="ko-KR" altLang="en-US"/>
          </a:p>
        </p:txBody>
      </p:sp>
      <p:sp>
        <p:nvSpPr>
          <p:cNvPr id="100" name="Text 97"/>
          <p:cNvSpPr/>
          <p:nvPr/>
        </p:nvSpPr>
        <p:spPr>
          <a:xfrm>
            <a:off x="1933847" y="3031155"/>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3,000만</a:t>
            </a:r>
            <a:endParaRPr lang="en-US" sz="1013" dirty="0"/>
          </a:p>
        </p:txBody>
      </p:sp>
      <p:sp>
        <p:nvSpPr>
          <p:cNvPr id="101" name="Shape 98"/>
          <p:cNvSpPr/>
          <p:nvPr/>
        </p:nvSpPr>
        <p:spPr>
          <a:xfrm>
            <a:off x="4660952" y="2997363"/>
            <a:ext cx="2748248" cy="297046"/>
          </a:xfrm>
          <a:prstGeom prst="rect">
            <a:avLst/>
          </a:prstGeom>
          <a:solidFill>
            <a:srgbClr val="FFFFFF"/>
          </a:solidFill>
          <a:ln/>
        </p:spPr>
        <p:txBody>
          <a:bodyPr/>
          <a:lstStyle/>
          <a:p>
            <a:endParaRPr lang="ko-KR" altLang="en-US"/>
          </a:p>
        </p:txBody>
      </p:sp>
      <p:sp>
        <p:nvSpPr>
          <p:cNvPr id="102" name="Shape 99"/>
          <p:cNvSpPr/>
          <p:nvPr/>
        </p:nvSpPr>
        <p:spPr>
          <a:xfrm>
            <a:off x="4660952" y="2997363"/>
            <a:ext cx="2748248" cy="9525"/>
          </a:xfrm>
          <a:prstGeom prst="rect">
            <a:avLst/>
          </a:prstGeom>
          <a:solidFill>
            <a:srgbClr val="D3B9A5"/>
          </a:solidFill>
          <a:ln/>
        </p:spPr>
        <p:txBody>
          <a:bodyPr/>
          <a:lstStyle/>
          <a:p>
            <a:endParaRPr lang="ko-KR" altLang="en-US"/>
          </a:p>
        </p:txBody>
      </p:sp>
      <p:sp>
        <p:nvSpPr>
          <p:cNvPr id="103" name="Shape 100"/>
          <p:cNvSpPr/>
          <p:nvPr/>
        </p:nvSpPr>
        <p:spPr>
          <a:xfrm>
            <a:off x="4660952" y="2997363"/>
            <a:ext cx="9525" cy="297046"/>
          </a:xfrm>
          <a:prstGeom prst="rect">
            <a:avLst/>
          </a:prstGeom>
          <a:solidFill>
            <a:srgbClr val="D3B9A5"/>
          </a:solidFill>
          <a:ln/>
        </p:spPr>
        <p:txBody>
          <a:bodyPr/>
          <a:lstStyle/>
          <a:p>
            <a:endParaRPr lang="ko-KR" altLang="en-US"/>
          </a:p>
        </p:txBody>
      </p:sp>
      <p:sp>
        <p:nvSpPr>
          <p:cNvPr id="104" name="Text 101"/>
          <p:cNvSpPr/>
          <p:nvPr/>
        </p:nvSpPr>
        <p:spPr>
          <a:xfrm>
            <a:off x="4682095" y="3031155"/>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2,500만</a:t>
            </a:r>
            <a:endParaRPr lang="en-US" sz="1013" dirty="0"/>
          </a:p>
        </p:txBody>
      </p:sp>
      <p:sp>
        <p:nvSpPr>
          <p:cNvPr id="105" name="Shape 102"/>
          <p:cNvSpPr/>
          <p:nvPr/>
        </p:nvSpPr>
        <p:spPr>
          <a:xfrm>
            <a:off x="7409200" y="2997363"/>
            <a:ext cx="2748737" cy="297046"/>
          </a:xfrm>
          <a:prstGeom prst="rect">
            <a:avLst/>
          </a:prstGeom>
          <a:solidFill>
            <a:srgbClr val="FFFFFF"/>
          </a:solidFill>
          <a:ln/>
        </p:spPr>
        <p:txBody>
          <a:bodyPr/>
          <a:lstStyle/>
          <a:p>
            <a:endParaRPr lang="ko-KR" altLang="en-US"/>
          </a:p>
        </p:txBody>
      </p:sp>
      <p:sp>
        <p:nvSpPr>
          <p:cNvPr id="106" name="Shape 103"/>
          <p:cNvSpPr/>
          <p:nvPr/>
        </p:nvSpPr>
        <p:spPr>
          <a:xfrm>
            <a:off x="7409200" y="2997363"/>
            <a:ext cx="2748737" cy="9525"/>
          </a:xfrm>
          <a:prstGeom prst="rect">
            <a:avLst/>
          </a:prstGeom>
          <a:solidFill>
            <a:srgbClr val="D3B9A5"/>
          </a:solidFill>
          <a:ln/>
        </p:spPr>
        <p:txBody>
          <a:bodyPr/>
          <a:lstStyle/>
          <a:p>
            <a:endParaRPr lang="ko-KR" altLang="en-US"/>
          </a:p>
        </p:txBody>
      </p:sp>
      <p:sp>
        <p:nvSpPr>
          <p:cNvPr id="107" name="Shape 104"/>
          <p:cNvSpPr/>
          <p:nvPr/>
        </p:nvSpPr>
        <p:spPr>
          <a:xfrm>
            <a:off x="7409200" y="2997363"/>
            <a:ext cx="9525" cy="297046"/>
          </a:xfrm>
          <a:prstGeom prst="rect">
            <a:avLst/>
          </a:prstGeom>
          <a:solidFill>
            <a:srgbClr val="D3B9A5"/>
          </a:solidFill>
          <a:ln/>
        </p:spPr>
        <p:txBody>
          <a:bodyPr/>
          <a:lstStyle/>
          <a:p>
            <a:endParaRPr lang="ko-KR" altLang="en-US"/>
          </a:p>
        </p:txBody>
      </p:sp>
      <p:sp>
        <p:nvSpPr>
          <p:cNvPr id="108" name="Text 105"/>
          <p:cNvSpPr/>
          <p:nvPr/>
        </p:nvSpPr>
        <p:spPr>
          <a:xfrm>
            <a:off x="7430336" y="3031155"/>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2,500만</a:t>
            </a:r>
            <a:endParaRPr lang="en-US" sz="1013" dirty="0"/>
          </a:p>
        </p:txBody>
      </p:sp>
      <p:sp>
        <p:nvSpPr>
          <p:cNvPr id="109" name="Shape 106"/>
          <p:cNvSpPr/>
          <p:nvPr/>
        </p:nvSpPr>
        <p:spPr>
          <a:xfrm>
            <a:off x="538580" y="3294409"/>
            <a:ext cx="1374124" cy="297046"/>
          </a:xfrm>
          <a:prstGeom prst="rect">
            <a:avLst/>
          </a:prstGeom>
          <a:solidFill>
            <a:srgbClr val="FCF4EE"/>
          </a:solidFill>
          <a:ln/>
        </p:spPr>
        <p:txBody>
          <a:bodyPr/>
          <a:lstStyle/>
          <a:p>
            <a:endParaRPr lang="ko-KR" altLang="en-US"/>
          </a:p>
        </p:txBody>
      </p:sp>
      <p:sp>
        <p:nvSpPr>
          <p:cNvPr id="110" name="Shape 107"/>
          <p:cNvSpPr/>
          <p:nvPr/>
        </p:nvSpPr>
        <p:spPr>
          <a:xfrm>
            <a:off x="538580" y="3294409"/>
            <a:ext cx="1374124" cy="9525"/>
          </a:xfrm>
          <a:prstGeom prst="rect">
            <a:avLst/>
          </a:prstGeom>
          <a:solidFill>
            <a:srgbClr val="D3B9A5"/>
          </a:solidFill>
          <a:ln/>
        </p:spPr>
        <p:txBody>
          <a:bodyPr/>
          <a:lstStyle/>
          <a:p>
            <a:endParaRPr lang="ko-KR" altLang="en-US"/>
          </a:p>
        </p:txBody>
      </p:sp>
      <p:sp>
        <p:nvSpPr>
          <p:cNvPr id="111" name="Text 108"/>
          <p:cNvSpPr/>
          <p:nvPr/>
        </p:nvSpPr>
        <p:spPr>
          <a:xfrm>
            <a:off x="557630" y="3328201"/>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혈전제거술</a:t>
            </a:r>
            <a:endParaRPr lang="en-US" sz="1013" dirty="0"/>
          </a:p>
        </p:txBody>
      </p:sp>
      <p:sp>
        <p:nvSpPr>
          <p:cNvPr id="112" name="Shape 109"/>
          <p:cNvSpPr/>
          <p:nvPr/>
        </p:nvSpPr>
        <p:spPr>
          <a:xfrm>
            <a:off x="1912704" y="3294409"/>
            <a:ext cx="2748248" cy="297046"/>
          </a:xfrm>
          <a:prstGeom prst="rect">
            <a:avLst/>
          </a:prstGeom>
          <a:solidFill>
            <a:srgbClr val="F8E1D0"/>
          </a:solidFill>
          <a:ln/>
        </p:spPr>
        <p:txBody>
          <a:bodyPr/>
          <a:lstStyle/>
          <a:p>
            <a:endParaRPr lang="ko-KR" altLang="en-US"/>
          </a:p>
        </p:txBody>
      </p:sp>
      <p:sp>
        <p:nvSpPr>
          <p:cNvPr id="113" name="Shape 110"/>
          <p:cNvSpPr/>
          <p:nvPr/>
        </p:nvSpPr>
        <p:spPr>
          <a:xfrm>
            <a:off x="1912704" y="3294409"/>
            <a:ext cx="2748248" cy="9525"/>
          </a:xfrm>
          <a:prstGeom prst="rect">
            <a:avLst/>
          </a:prstGeom>
          <a:solidFill>
            <a:srgbClr val="D3B9A5"/>
          </a:solidFill>
          <a:ln/>
        </p:spPr>
        <p:txBody>
          <a:bodyPr/>
          <a:lstStyle/>
          <a:p>
            <a:endParaRPr lang="ko-KR" altLang="en-US"/>
          </a:p>
        </p:txBody>
      </p:sp>
      <p:sp>
        <p:nvSpPr>
          <p:cNvPr id="114" name="Shape 111"/>
          <p:cNvSpPr/>
          <p:nvPr/>
        </p:nvSpPr>
        <p:spPr>
          <a:xfrm>
            <a:off x="1912704" y="3294409"/>
            <a:ext cx="9525" cy="297046"/>
          </a:xfrm>
          <a:prstGeom prst="rect">
            <a:avLst/>
          </a:prstGeom>
          <a:solidFill>
            <a:srgbClr val="D3B9A5"/>
          </a:solidFill>
          <a:ln/>
        </p:spPr>
        <p:txBody>
          <a:bodyPr/>
          <a:lstStyle/>
          <a:p>
            <a:endParaRPr lang="ko-KR" altLang="en-US"/>
          </a:p>
        </p:txBody>
      </p:sp>
      <p:sp>
        <p:nvSpPr>
          <p:cNvPr id="115" name="Text 112"/>
          <p:cNvSpPr/>
          <p:nvPr/>
        </p:nvSpPr>
        <p:spPr>
          <a:xfrm>
            <a:off x="1933847" y="3328201"/>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3,000만</a:t>
            </a:r>
            <a:endParaRPr lang="en-US" sz="1013" dirty="0"/>
          </a:p>
        </p:txBody>
      </p:sp>
      <p:sp>
        <p:nvSpPr>
          <p:cNvPr id="116" name="Shape 113"/>
          <p:cNvSpPr/>
          <p:nvPr/>
        </p:nvSpPr>
        <p:spPr>
          <a:xfrm>
            <a:off x="4660952" y="3294409"/>
            <a:ext cx="2748248" cy="297046"/>
          </a:xfrm>
          <a:prstGeom prst="rect">
            <a:avLst/>
          </a:prstGeom>
          <a:solidFill>
            <a:srgbClr val="FFFFFF"/>
          </a:solidFill>
          <a:ln/>
        </p:spPr>
        <p:txBody>
          <a:bodyPr/>
          <a:lstStyle/>
          <a:p>
            <a:endParaRPr lang="ko-KR" altLang="en-US"/>
          </a:p>
        </p:txBody>
      </p:sp>
      <p:sp>
        <p:nvSpPr>
          <p:cNvPr id="117" name="Shape 114"/>
          <p:cNvSpPr/>
          <p:nvPr/>
        </p:nvSpPr>
        <p:spPr>
          <a:xfrm>
            <a:off x="4660952" y="3294409"/>
            <a:ext cx="2748248" cy="9525"/>
          </a:xfrm>
          <a:prstGeom prst="rect">
            <a:avLst/>
          </a:prstGeom>
          <a:solidFill>
            <a:srgbClr val="D3B9A5"/>
          </a:solidFill>
          <a:ln/>
        </p:spPr>
        <p:txBody>
          <a:bodyPr/>
          <a:lstStyle/>
          <a:p>
            <a:endParaRPr lang="ko-KR" altLang="en-US"/>
          </a:p>
        </p:txBody>
      </p:sp>
      <p:sp>
        <p:nvSpPr>
          <p:cNvPr id="118" name="Shape 115"/>
          <p:cNvSpPr/>
          <p:nvPr/>
        </p:nvSpPr>
        <p:spPr>
          <a:xfrm>
            <a:off x="4660952" y="3294409"/>
            <a:ext cx="9525" cy="297046"/>
          </a:xfrm>
          <a:prstGeom prst="rect">
            <a:avLst/>
          </a:prstGeom>
          <a:solidFill>
            <a:srgbClr val="D3B9A5"/>
          </a:solidFill>
          <a:ln/>
        </p:spPr>
        <p:txBody>
          <a:bodyPr/>
          <a:lstStyle/>
          <a:p>
            <a:endParaRPr lang="ko-KR" altLang="en-US"/>
          </a:p>
        </p:txBody>
      </p:sp>
      <p:sp>
        <p:nvSpPr>
          <p:cNvPr id="119" name="Text 116"/>
          <p:cNvSpPr/>
          <p:nvPr/>
        </p:nvSpPr>
        <p:spPr>
          <a:xfrm>
            <a:off x="4682095" y="3328201"/>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20" name="Shape 117"/>
          <p:cNvSpPr/>
          <p:nvPr/>
        </p:nvSpPr>
        <p:spPr>
          <a:xfrm>
            <a:off x="7409200" y="3294409"/>
            <a:ext cx="2748737" cy="297046"/>
          </a:xfrm>
          <a:prstGeom prst="rect">
            <a:avLst/>
          </a:prstGeom>
          <a:solidFill>
            <a:srgbClr val="FFFFFF"/>
          </a:solidFill>
          <a:ln/>
        </p:spPr>
        <p:txBody>
          <a:bodyPr/>
          <a:lstStyle/>
          <a:p>
            <a:endParaRPr lang="ko-KR" altLang="en-US"/>
          </a:p>
        </p:txBody>
      </p:sp>
      <p:sp>
        <p:nvSpPr>
          <p:cNvPr id="121" name="Shape 118"/>
          <p:cNvSpPr/>
          <p:nvPr/>
        </p:nvSpPr>
        <p:spPr>
          <a:xfrm>
            <a:off x="7409200" y="3294409"/>
            <a:ext cx="2748737" cy="9525"/>
          </a:xfrm>
          <a:prstGeom prst="rect">
            <a:avLst/>
          </a:prstGeom>
          <a:solidFill>
            <a:srgbClr val="D3B9A5"/>
          </a:solidFill>
          <a:ln/>
        </p:spPr>
        <p:txBody>
          <a:bodyPr/>
          <a:lstStyle/>
          <a:p>
            <a:endParaRPr lang="ko-KR" altLang="en-US"/>
          </a:p>
        </p:txBody>
      </p:sp>
      <p:sp>
        <p:nvSpPr>
          <p:cNvPr id="122" name="Shape 119"/>
          <p:cNvSpPr/>
          <p:nvPr/>
        </p:nvSpPr>
        <p:spPr>
          <a:xfrm>
            <a:off x="7409200" y="3294409"/>
            <a:ext cx="9525" cy="297046"/>
          </a:xfrm>
          <a:prstGeom prst="rect">
            <a:avLst/>
          </a:prstGeom>
          <a:solidFill>
            <a:srgbClr val="D3B9A5"/>
          </a:solidFill>
          <a:ln/>
        </p:spPr>
        <p:txBody>
          <a:bodyPr/>
          <a:lstStyle/>
          <a:p>
            <a:endParaRPr lang="ko-KR" altLang="en-US"/>
          </a:p>
        </p:txBody>
      </p:sp>
      <p:sp>
        <p:nvSpPr>
          <p:cNvPr id="123" name="Text 120"/>
          <p:cNvSpPr/>
          <p:nvPr/>
        </p:nvSpPr>
        <p:spPr>
          <a:xfrm>
            <a:off x="7430336" y="3328201"/>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1,000만</a:t>
            </a:r>
            <a:endParaRPr lang="en-US" sz="1013" dirty="0"/>
          </a:p>
        </p:txBody>
      </p:sp>
      <p:sp>
        <p:nvSpPr>
          <p:cNvPr id="124" name="Shape 121"/>
          <p:cNvSpPr/>
          <p:nvPr/>
        </p:nvSpPr>
        <p:spPr>
          <a:xfrm>
            <a:off x="538580" y="3591455"/>
            <a:ext cx="1374124" cy="297046"/>
          </a:xfrm>
          <a:prstGeom prst="rect">
            <a:avLst/>
          </a:prstGeom>
          <a:solidFill>
            <a:srgbClr val="FCF4EE"/>
          </a:solidFill>
          <a:ln/>
        </p:spPr>
        <p:txBody>
          <a:bodyPr/>
          <a:lstStyle/>
          <a:p>
            <a:endParaRPr lang="ko-KR" altLang="en-US"/>
          </a:p>
        </p:txBody>
      </p:sp>
      <p:sp>
        <p:nvSpPr>
          <p:cNvPr id="125" name="Shape 122"/>
          <p:cNvSpPr/>
          <p:nvPr/>
        </p:nvSpPr>
        <p:spPr>
          <a:xfrm>
            <a:off x="538580" y="3591455"/>
            <a:ext cx="1374124" cy="9525"/>
          </a:xfrm>
          <a:prstGeom prst="rect">
            <a:avLst/>
          </a:prstGeom>
          <a:solidFill>
            <a:srgbClr val="D3B9A5"/>
          </a:solidFill>
          <a:ln/>
        </p:spPr>
        <p:txBody>
          <a:bodyPr/>
          <a:lstStyle/>
          <a:p>
            <a:endParaRPr lang="ko-KR" altLang="en-US"/>
          </a:p>
        </p:txBody>
      </p:sp>
      <p:sp>
        <p:nvSpPr>
          <p:cNvPr id="126" name="Text 123"/>
          <p:cNvSpPr/>
          <p:nvPr/>
        </p:nvSpPr>
        <p:spPr>
          <a:xfrm>
            <a:off x="557630" y="3625247"/>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중환자실 치료</a:t>
            </a:r>
            <a:endParaRPr lang="en-US" sz="1013" dirty="0"/>
          </a:p>
        </p:txBody>
      </p:sp>
      <p:sp>
        <p:nvSpPr>
          <p:cNvPr id="127" name="Shape 124"/>
          <p:cNvSpPr/>
          <p:nvPr/>
        </p:nvSpPr>
        <p:spPr>
          <a:xfrm>
            <a:off x="1912704" y="3591455"/>
            <a:ext cx="2748248" cy="297046"/>
          </a:xfrm>
          <a:prstGeom prst="rect">
            <a:avLst/>
          </a:prstGeom>
          <a:solidFill>
            <a:srgbClr val="F8E1D0"/>
          </a:solidFill>
          <a:ln/>
        </p:spPr>
        <p:txBody>
          <a:bodyPr/>
          <a:lstStyle/>
          <a:p>
            <a:endParaRPr lang="ko-KR" altLang="en-US"/>
          </a:p>
        </p:txBody>
      </p:sp>
      <p:sp>
        <p:nvSpPr>
          <p:cNvPr id="128" name="Shape 125"/>
          <p:cNvSpPr/>
          <p:nvPr/>
        </p:nvSpPr>
        <p:spPr>
          <a:xfrm>
            <a:off x="1912704" y="3591455"/>
            <a:ext cx="2748248" cy="9525"/>
          </a:xfrm>
          <a:prstGeom prst="rect">
            <a:avLst/>
          </a:prstGeom>
          <a:solidFill>
            <a:srgbClr val="D3B9A5"/>
          </a:solidFill>
          <a:ln/>
        </p:spPr>
        <p:txBody>
          <a:bodyPr/>
          <a:lstStyle/>
          <a:p>
            <a:endParaRPr lang="ko-KR" altLang="en-US"/>
          </a:p>
        </p:txBody>
      </p:sp>
      <p:sp>
        <p:nvSpPr>
          <p:cNvPr id="129" name="Shape 126"/>
          <p:cNvSpPr/>
          <p:nvPr/>
        </p:nvSpPr>
        <p:spPr>
          <a:xfrm>
            <a:off x="1912704" y="3591455"/>
            <a:ext cx="9525" cy="297046"/>
          </a:xfrm>
          <a:prstGeom prst="rect">
            <a:avLst/>
          </a:prstGeom>
          <a:solidFill>
            <a:srgbClr val="D3B9A5"/>
          </a:solidFill>
          <a:ln/>
        </p:spPr>
        <p:txBody>
          <a:bodyPr/>
          <a:lstStyle/>
          <a:p>
            <a:endParaRPr lang="ko-KR" altLang="en-US"/>
          </a:p>
        </p:txBody>
      </p:sp>
      <p:sp>
        <p:nvSpPr>
          <p:cNvPr id="130" name="Text 127"/>
          <p:cNvSpPr/>
          <p:nvPr/>
        </p:nvSpPr>
        <p:spPr>
          <a:xfrm>
            <a:off x="1933847" y="3625247"/>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1,000만</a:t>
            </a:r>
            <a:endParaRPr lang="en-US" sz="1013" dirty="0"/>
          </a:p>
        </p:txBody>
      </p:sp>
      <p:sp>
        <p:nvSpPr>
          <p:cNvPr id="131" name="Shape 128"/>
          <p:cNvSpPr/>
          <p:nvPr/>
        </p:nvSpPr>
        <p:spPr>
          <a:xfrm>
            <a:off x="4660952" y="3591455"/>
            <a:ext cx="2748248" cy="297046"/>
          </a:xfrm>
          <a:prstGeom prst="rect">
            <a:avLst/>
          </a:prstGeom>
          <a:solidFill>
            <a:srgbClr val="FFFFFF"/>
          </a:solidFill>
          <a:ln/>
        </p:spPr>
        <p:txBody>
          <a:bodyPr/>
          <a:lstStyle/>
          <a:p>
            <a:endParaRPr lang="ko-KR" altLang="en-US"/>
          </a:p>
        </p:txBody>
      </p:sp>
      <p:sp>
        <p:nvSpPr>
          <p:cNvPr id="132" name="Shape 129"/>
          <p:cNvSpPr/>
          <p:nvPr/>
        </p:nvSpPr>
        <p:spPr>
          <a:xfrm>
            <a:off x="4660952" y="3591455"/>
            <a:ext cx="2748248" cy="9525"/>
          </a:xfrm>
          <a:prstGeom prst="rect">
            <a:avLst/>
          </a:prstGeom>
          <a:solidFill>
            <a:srgbClr val="D3B9A5"/>
          </a:solidFill>
          <a:ln/>
        </p:spPr>
        <p:txBody>
          <a:bodyPr/>
          <a:lstStyle/>
          <a:p>
            <a:endParaRPr lang="ko-KR" altLang="en-US"/>
          </a:p>
        </p:txBody>
      </p:sp>
      <p:sp>
        <p:nvSpPr>
          <p:cNvPr id="133" name="Shape 130"/>
          <p:cNvSpPr/>
          <p:nvPr/>
        </p:nvSpPr>
        <p:spPr>
          <a:xfrm>
            <a:off x="4660952" y="3591455"/>
            <a:ext cx="9525" cy="297046"/>
          </a:xfrm>
          <a:prstGeom prst="rect">
            <a:avLst/>
          </a:prstGeom>
          <a:solidFill>
            <a:srgbClr val="D3B9A5"/>
          </a:solidFill>
          <a:ln/>
        </p:spPr>
        <p:txBody>
          <a:bodyPr/>
          <a:lstStyle/>
          <a:p>
            <a:endParaRPr lang="ko-KR" altLang="en-US"/>
          </a:p>
        </p:txBody>
      </p:sp>
      <p:sp>
        <p:nvSpPr>
          <p:cNvPr id="134" name="Text 131"/>
          <p:cNvSpPr/>
          <p:nvPr/>
        </p:nvSpPr>
        <p:spPr>
          <a:xfrm>
            <a:off x="4682095" y="3625247"/>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1,500만</a:t>
            </a:r>
            <a:endParaRPr lang="en-US" sz="1013" dirty="0"/>
          </a:p>
        </p:txBody>
      </p:sp>
      <p:sp>
        <p:nvSpPr>
          <p:cNvPr id="135" name="Shape 132"/>
          <p:cNvSpPr/>
          <p:nvPr/>
        </p:nvSpPr>
        <p:spPr>
          <a:xfrm>
            <a:off x="7409200" y="3591455"/>
            <a:ext cx="2748737" cy="297046"/>
          </a:xfrm>
          <a:prstGeom prst="rect">
            <a:avLst/>
          </a:prstGeom>
          <a:solidFill>
            <a:srgbClr val="FFFFFF"/>
          </a:solidFill>
          <a:ln/>
        </p:spPr>
        <p:txBody>
          <a:bodyPr/>
          <a:lstStyle/>
          <a:p>
            <a:endParaRPr lang="ko-KR" altLang="en-US"/>
          </a:p>
        </p:txBody>
      </p:sp>
      <p:sp>
        <p:nvSpPr>
          <p:cNvPr id="136" name="Shape 133"/>
          <p:cNvSpPr/>
          <p:nvPr/>
        </p:nvSpPr>
        <p:spPr>
          <a:xfrm>
            <a:off x="7409200" y="3591455"/>
            <a:ext cx="2748737" cy="9525"/>
          </a:xfrm>
          <a:prstGeom prst="rect">
            <a:avLst/>
          </a:prstGeom>
          <a:solidFill>
            <a:srgbClr val="D3B9A5"/>
          </a:solidFill>
          <a:ln/>
        </p:spPr>
        <p:txBody>
          <a:bodyPr/>
          <a:lstStyle/>
          <a:p>
            <a:endParaRPr lang="ko-KR" altLang="en-US"/>
          </a:p>
        </p:txBody>
      </p:sp>
      <p:sp>
        <p:nvSpPr>
          <p:cNvPr id="137" name="Shape 134"/>
          <p:cNvSpPr/>
          <p:nvPr/>
        </p:nvSpPr>
        <p:spPr>
          <a:xfrm>
            <a:off x="7409200" y="3591455"/>
            <a:ext cx="9525" cy="297046"/>
          </a:xfrm>
          <a:prstGeom prst="rect">
            <a:avLst/>
          </a:prstGeom>
          <a:solidFill>
            <a:srgbClr val="D3B9A5"/>
          </a:solidFill>
          <a:ln/>
        </p:spPr>
        <p:txBody>
          <a:bodyPr/>
          <a:lstStyle/>
          <a:p>
            <a:endParaRPr lang="ko-KR" altLang="en-US"/>
          </a:p>
        </p:txBody>
      </p:sp>
      <p:sp>
        <p:nvSpPr>
          <p:cNvPr id="138" name="Text 135"/>
          <p:cNvSpPr/>
          <p:nvPr/>
        </p:nvSpPr>
        <p:spPr>
          <a:xfrm>
            <a:off x="7430336" y="3625247"/>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1,500만</a:t>
            </a:r>
            <a:endParaRPr lang="en-US" sz="1013" dirty="0"/>
          </a:p>
        </p:txBody>
      </p:sp>
      <p:sp>
        <p:nvSpPr>
          <p:cNvPr id="139" name="Shape 136"/>
          <p:cNvSpPr/>
          <p:nvPr/>
        </p:nvSpPr>
        <p:spPr>
          <a:xfrm>
            <a:off x="538580" y="3888501"/>
            <a:ext cx="1374124" cy="297046"/>
          </a:xfrm>
          <a:prstGeom prst="rect">
            <a:avLst/>
          </a:prstGeom>
          <a:solidFill>
            <a:srgbClr val="FCF4EE"/>
          </a:solidFill>
          <a:ln/>
        </p:spPr>
        <p:txBody>
          <a:bodyPr/>
          <a:lstStyle/>
          <a:p>
            <a:endParaRPr lang="ko-KR" altLang="en-US"/>
          </a:p>
        </p:txBody>
      </p:sp>
      <p:sp>
        <p:nvSpPr>
          <p:cNvPr id="140" name="Shape 137"/>
          <p:cNvSpPr/>
          <p:nvPr/>
        </p:nvSpPr>
        <p:spPr>
          <a:xfrm>
            <a:off x="538580" y="3888501"/>
            <a:ext cx="1374124" cy="9525"/>
          </a:xfrm>
          <a:prstGeom prst="rect">
            <a:avLst/>
          </a:prstGeom>
          <a:solidFill>
            <a:srgbClr val="D3B9A5"/>
          </a:solidFill>
          <a:ln/>
        </p:spPr>
        <p:txBody>
          <a:bodyPr/>
          <a:lstStyle/>
          <a:p>
            <a:endParaRPr lang="ko-KR" altLang="en-US"/>
          </a:p>
        </p:txBody>
      </p:sp>
      <p:sp>
        <p:nvSpPr>
          <p:cNvPr id="141" name="Text 138"/>
          <p:cNvSpPr/>
          <p:nvPr/>
        </p:nvSpPr>
        <p:spPr>
          <a:xfrm>
            <a:off x="557630" y="3922293"/>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재활치료(입원/외래)</a:t>
            </a:r>
            <a:endParaRPr lang="en-US" sz="1013" dirty="0"/>
          </a:p>
        </p:txBody>
      </p:sp>
      <p:sp>
        <p:nvSpPr>
          <p:cNvPr id="142" name="Shape 139"/>
          <p:cNvSpPr/>
          <p:nvPr/>
        </p:nvSpPr>
        <p:spPr>
          <a:xfrm>
            <a:off x="1912704" y="3888501"/>
            <a:ext cx="2748248" cy="297046"/>
          </a:xfrm>
          <a:prstGeom prst="rect">
            <a:avLst/>
          </a:prstGeom>
          <a:solidFill>
            <a:srgbClr val="F8E1D0"/>
          </a:solidFill>
          <a:ln/>
        </p:spPr>
        <p:txBody>
          <a:bodyPr/>
          <a:lstStyle/>
          <a:p>
            <a:endParaRPr lang="ko-KR" altLang="en-US"/>
          </a:p>
        </p:txBody>
      </p:sp>
      <p:sp>
        <p:nvSpPr>
          <p:cNvPr id="143" name="Shape 140"/>
          <p:cNvSpPr/>
          <p:nvPr/>
        </p:nvSpPr>
        <p:spPr>
          <a:xfrm>
            <a:off x="1912704" y="3888501"/>
            <a:ext cx="2748248" cy="9525"/>
          </a:xfrm>
          <a:prstGeom prst="rect">
            <a:avLst/>
          </a:prstGeom>
          <a:solidFill>
            <a:srgbClr val="D3B9A5"/>
          </a:solidFill>
          <a:ln/>
        </p:spPr>
        <p:txBody>
          <a:bodyPr/>
          <a:lstStyle/>
          <a:p>
            <a:endParaRPr lang="ko-KR" altLang="en-US"/>
          </a:p>
        </p:txBody>
      </p:sp>
      <p:sp>
        <p:nvSpPr>
          <p:cNvPr id="144" name="Shape 141"/>
          <p:cNvSpPr/>
          <p:nvPr/>
        </p:nvSpPr>
        <p:spPr>
          <a:xfrm>
            <a:off x="1912704" y="3888501"/>
            <a:ext cx="9525" cy="297046"/>
          </a:xfrm>
          <a:prstGeom prst="rect">
            <a:avLst/>
          </a:prstGeom>
          <a:solidFill>
            <a:srgbClr val="D3B9A5"/>
          </a:solidFill>
          <a:ln/>
        </p:spPr>
        <p:txBody>
          <a:bodyPr/>
          <a:lstStyle/>
          <a:p>
            <a:endParaRPr lang="ko-KR" altLang="en-US"/>
          </a:p>
        </p:txBody>
      </p:sp>
      <p:sp>
        <p:nvSpPr>
          <p:cNvPr id="145" name="Text 142"/>
          <p:cNvSpPr/>
          <p:nvPr/>
        </p:nvSpPr>
        <p:spPr>
          <a:xfrm>
            <a:off x="1933847" y="3922293"/>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2만 (연 15회)</a:t>
            </a:r>
            <a:endParaRPr lang="en-US" sz="1013" dirty="0"/>
          </a:p>
        </p:txBody>
      </p:sp>
      <p:sp>
        <p:nvSpPr>
          <p:cNvPr id="146" name="Shape 143"/>
          <p:cNvSpPr/>
          <p:nvPr/>
        </p:nvSpPr>
        <p:spPr>
          <a:xfrm>
            <a:off x="4660952" y="3888501"/>
            <a:ext cx="2748248" cy="297046"/>
          </a:xfrm>
          <a:prstGeom prst="rect">
            <a:avLst/>
          </a:prstGeom>
          <a:solidFill>
            <a:srgbClr val="FFFFFF"/>
          </a:solidFill>
          <a:ln/>
        </p:spPr>
        <p:txBody>
          <a:bodyPr/>
          <a:lstStyle/>
          <a:p>
            <a:endParaRPr lang="ko-KR" altLang="en-US"/>
          </a:p>
        </p:txBody>
      </p:sp>
      <p:sp>
        <p:nvSpPr>
          <p:cNvPr id="147" name="Shape 144"/>
          <p:cNvSpPr/>
          <p:nvPr/>
        </p:nvSpPr>
        <p:spPr>
          <a:xfrm>
            <a:off x="4660952" y="3888501"/>
            <a:ext cx="2748248" cy="9525"/>
          </a:xfrm>
          <a:prstGeom prst="rect">
            <a:avLst/>
          </a:prstGeom>
          <a:solidFill>
            <a:srgbClr val="D3B9A5"/>
          </a:solidFill>
          <a:ln/>
        </p:spPr>
        <p:txBody>
          <a:bodyPr/>
          <a:lstStyle/>
          <a:p>
            <a:endParaRPr lang="ko-KR" altLang="en-US"/>
          </a:p>
        </p:txBody>
      </p:sp>
      <p:sp>
        <p:nvSpPr>
          <p:cNvPr id="148" name="Shape 145"/>
          <p:cNvSpPr/>
          <p:nvPr/>
        </p:nvSpPr>
        <p:spPr>
          <a:xfrm>
            <a:off x="4660952" y="3888501"/>
            <a:ext cx="9525" cy="297046"/>
          </a:xfrm>
          <a:prstGeom prst="rect">
            <a:avLst/>
          </a:prstGeom>
          <a:solidFill>
            <a:srgbClr val="D3B9A5"/>
          </a:solidFill>
          <a:ln/>
        </p:spPr>
        <p:txBody>
          <a:bodyPr/>
          <a:lstStyle/>
          <a:p>
            <a:endParaRPr lang="ko-KR" altLang="en-US"/>
          </a:p>
        </p:txBody>
      </p:sp>
      <p:sp>
        <p:nvSpPr>
          <p:cNvPr id="149" name="Text 146"/>
          <p:cNvSpPr/>
          <p:nvPr/>
        </p:nvSpPr>
        <p:spPr>
          <a:xfrm>
            <a:off x="4682095" y="3922293"/>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5만 (연 30회)</a:t>
            </a:r>
            <a:endParaRPr lang="en-US" sz="1013" dirty="0"/>
          </a:p>
        </p:txBody>
      </p:sp>
      <p:sp>
        <p:nvSpPr>
          <p:cNvPr id="150" name="Shape 147"/>
          <p:cNvSpPr/>
          <p:nvPr/>
        </p:nvSpPr>
        <p:spPr>
          <a:xfrm>
            <a:off x="7409200" y="3888501"/>
            <a:ext cx="2748737" cy="297046"/>
          </a:xfrm>
          <a:prstGeom prst="rect">
            <a:avLst/>
          </a:prstGeom>
          <a:solidFill>
            <a:srgbClr val="FFFFFF"/>
          </a:solidFill>
          <a:ln/>
        </p:spPr>
        <p:txBody>
          <a:bodyPr/>
          <a:lstStyle/>
          <a:p>
            <a:endParaRPr lang="ko-KR" altLang="en-US"/>
          </a:p>
        </p:txBody>
      </p:sp>
      <p:sp>
        <p:nvSpPr>
          <p:cNvPr id="151" name="Shape 148"/>
          <p:cNvSpPr/>
          <p:nvPr/>
        </p:nvSpPr>
        <p:spPr>
          <a:xfrm>
            <a:off x="7409200" y="3888501"/>
            <a:ext cx="2748737" cy="9525"/>
          </a:xfrm>
          <a:prstGeom prst="rect">
            <a:avLst/>
          </a:prstGeom>
          <a:solidFill>
            <a:srgbClr val="D3B9A5"/>
          </a:solidFill>
          <a:ln/>
        </p:spPr>
        <p:txBody>
          <a:bodyPr/>
          <a:lstStyle/>
          <a:p>
            <a:endParaRPr lang="ko-KR" altLang="en-US"/>
          </a:p>
        </p:txBody>
      </p:sp>
      <p:sp>
        <p:nvSpPr>
          <p:cNvPr id="152" name="Shape 149"/>
          <p:cNvSpPr/>
          <p:nvPr/>
        </p:nvSpPr>
        <p:spPr>
          <a:xfrm>
            <a:off x="7409200" y="3888501"/>
            <a:ext cx="9525" cy="297046"/>
          </a:xfrm>
          <a:prstGeom prst="rect">
            <a:avLst/>
          </a:prstGeom>
          <a:solidFill>
            <a:srgbClr val="D3B9A5"/>
          </a:solidFill>
          <a:ln/>
        </p:spPr>
        <p:txBody>
          <a:bodyPr/>
          <a:lstStyle/>
          <a:p>
            <a:endParaRPr lang="ko-KR" altLang="en-US"/>
          </a:p>
        </p:txBody>
      </p:sp>
      <p:sp>
        <p:nvSpPr>
          <p:cNvPr id="153" name="Text 150"/>
          <p:cNvSpPr/>
          <p:nvPr/>
        </p:nvSpPr>
        <p:spPr>
          <a:xfrm>
            <a:off x="7430336" y="3922293"/>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2만 (연 15회)</a:t>
            </a:r>
            <a:endParaRPr lang="en-US" sz="1013" dirty="0"/>
          </a:p>
        </p:txBody>
      </p:sp>
      <p:sp>
        <p:nvSpPr>
          <p:cNvPr id="154" name="Shape 151"/>
          <p:cNvSpPr/>
          <p:nvPr/>
        </p:nvSpPr>
        <p:spPr>
          <a:xfrm>
            <a:off x="538580" y="4185547"/>
            <a:ext cx="1374124" cy="303731"/>
          </a:xfrm>
          <a:prstGeom prst="rect">
            <a:avLst/>
          </a:prstGeom>
          <a:solidFill>
            <a:srgbClr val="FCF4EE"/>
          </a:solidFill>
          <a:ln/>
        </p:spPr>
        <p:txBody>
          <a:bodyPr/>
          <a:lstStyle/>
          <a:p>
            <a:endParaRPr lang="ko-KR" altLang="en-US"/>
          </a:p>
        </p:txBody>
      </p:sp>
      <p:sp>
        <p:nvSpPr>
          <p:cNvPr id="155" name="Shape 152"/>
          <p:cNvSpPr/>
          <p:nvPr/>
        </p:nvSpPr>
        <p:spPr>
          <a:xfrm>
            <a:off x="538580" y="4185547"/>
            <a:ext cx="1374124" cy="9525"/>
          </a:xfrm>
          <a:prstGeom prst="rect">
            <a:avLst/>
          </a:prstGeom>
          <a:solidFill>
            <a:srgbClr val="D3B9A5"/>
          </a:solidFill>
          <a:ln/>
        </p:spPr>
        <p:txBody>
          <a:bodyPr/>
          <a:lstStyle/>
          <a:p>
            <a:endParaRPr lang="ko-KR" altLang="en-US"/>
          </a:p>
        </p:txBody>
      </p:sp>
      <p:sp>
        <p:nvSpPr>
          <p:cNvPr id="156" name="Text 153"/>
          <p:cNvSpPr/>
          <p:nvPr/>
        </p:nvSpPr>
        <p:spPr>
          <a:xfrm>
            <a:off x="557630" y="4219339"/>
            <a:ext cx="1336024"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에크모</a:t>
            </a:r>
            <a:endParaRPr lang="en-US" sz="1013" dirty="0"/>
          </a:p>
        </p:txBody>
      </p:sp>
      <p:sp>
        <p:nvSpPr>
          <p:cNvPr id="157" name="Shape 154"/>
          <p:cNvSpPr/>
          <p:nvPr/>
        </p:nvSpPr>
        <p:spPr>
          <a:xfrm>
            <a:off x="1912704" y="4185547"/>
            <a:ext cx="2748248" cy="303731"/>
          </a:xfrm>
          <a:prstGeom prst="rect">
            <a:avLst/>
          </a:prstGeom>
          <a:solidFill>
            <a:srgbClr val="F8E1D0"/>
          </a:solidFill>
          <a:ln/>
        </p:spPr>
        <p:txBody>
          <a:bodyPr/>
          <a:lstStyle/>
          <a:p>
            <a:endParaRPr lang="ko-KR" altLang="en-US"/>
          </a:p>
        </p:txBody>
      </p:sp>
      <p:sp>
        <p:nvSpPr>
          <p:cNvPr id="158" name="Shape 155"/>
          <p:cNvSpPr/>
          <p:nvPr/>
        </p:nvSpPr>
        <p:spPr>
          <a:xfrm>
            <a:off x="1912704" y="4185547"/>
            <a:ext cx="2748248" cy="9525"/>
          </a:xfrm>
          <a:prstGeom prst="rect">
            <a:avLst/>
          </a:prstGeom>
          <a:solidFill>
            <a:srgbClr val="D3B9A5"/>
          </a:solidFill>
          <a:ln/>
        </p:spPr>
        <p:txBody>
          <a:bodyPr/>
          <a:lstStyle/>
          <a:p>
            <a:endParaRPr lang="ko-KR" altLang="en-US"/>
          </a:p>
        </p:txBody>
      </p:sp>
      <p:sp>
        <p:nvSpPr>
          <p:cNvPr id="159" name="Shape 156"/>
          <p:cNvSpPr/>
          <p:nvPr/>
        </p:nvSpPr>
        <p:spPr>
          <a:xfrm>
            <a:off x="1912704" y="4185547"/>
            <a:ext cx="9525" cy="303731"/>
          </a:xfrm>
          <a:prstGeom prst="rect">
            <a:avLst/>
          </a:prstGeom>
          <a:solidFill>
            <a:srgbClr val="D3B9A5"/>
          </a:solidFill>
          <a:ln/>
        </p:spPr>
        <p:txBody>
          <a:bodyPr/>
          <a:lstStyle/>
          <a:p>
            <a:endParaRPr lang="ko-KR" altLang="en-US"/>
          </a:p>
        </p:txBody>
      </p:sp>
      <p:sp>
        <p:nvSpPr>
          <p:cNvPr id="160" name="Text 157"/>
          <p:cNvSpPr/>
          <p:nvPr/>
        </p:nvSpPr>
        <p:spPr>
          <a:xfrm>
            <a:off x="1933847" y="4219339"/>
            <a:ext cx="2711179"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2,000만</a:t>
            </a:r>
            <a:endParaRPr lang="en-US" sz="1013" dirty="0"/>
          </a:p>
        </p:txBody>
      </p:sp>
      <p:sp>
        <p:nvSpPr>
          <p:cNvPr id="161" name="Shape 158"/>
          <p:cNvSpPr/>
          <p:nvPr/>
        </p:nvSpPr>
        <p:spPr>
          <a:xfrm>
            <a:off x="4660952" y="4185547"/>
            <a:ext cx="2748248" cy="303731"/>
          </a:xfrm>
          <a:prstGeom prst="rect">
            <a:avLst/>
          </a:prstGeom>
          <a:solidFill>
            <a:srgbClr val="FFFFFF"/>
          </a:solidFill>
          <a:ln/>
        </p:spPr>
        <p:txBody>
          <a:bodyPr/>
          <a:lstStyle/>
          <a:p>
            <a:endParaRPr lang="ko-KR" altLang="en-US"/>
          </a:p>
        </p:txBody>
      </p:sp>
      <p:sp>
        <p:nvSpPr>
          <p:cNvPr id="162" name="Shape 159"/>
          <p:cNvSpPr/>
          <p:nvPr/>
        </p:nvSpPr>
        <p:spPr>
          <a:xfrm>
            <a:off x="4660952" y="4185547"/>
            <a:ext cx="2748248" cy="9525"/>
          </a:xfrm>
          <a:prstGeom prst="rect">
            <a:avLst/>
          </a:prstGeom>
          <a:solidFill>
            <a:srgbClr val="D3B9A5"/>
          </a:solidFill>
          <a:ln/>
        </p:spPr>
        <p:txBody>
          <a:bodyPr/>
          <a:lstStyle/>
          <a:p>
            <a:endParaRPr lang="ko-KR" altLang="en-US"/>
          </a:p>
        </p:txBody>
      </p:sp>
      <p:sp>
        <p:nvSpPr>
          <p:cNvPr id="163" name="Shape 160"/>
          <p:cNvSpPr/>
          <p:nvPr/>
        </p:nvSpPr>
        <p:spPr>
          <a:xfrm>
            <a:off x="4660952" y="4185547"/>
            <a:ext cx="9525" cy="303731"/>
          </a:xfrm>
          <a:prstGeom prst="rect">
            <a:avLst/>
          </a:prstGeom>
          <a:solidFill>
            <a:srgbClr val="D3B9A5"/>
          </a:solidFill>
          <a:ln/>
        </p:spPr>
        <p:txBody>
          <a:bodyPr/>
          <a:lstStyle/>
          <a:p>
            <a:endParaRPr lang="ko-KR" altLang="en-US"/>
          </a:p>
        </p:txBody>
      </p:sp>
      <p:sp>
        <p:nvSpPr>
          <p:cNvPr id="164" name="Text 161"/>
          <p:cNvSpPr/>
          <p:nvPr/>
        </p:nvSpPr>
        <p:spPr>
          <a:xfrm>
            <a:off x="4682095" y="4219339"/>
            <a:ext cx="2711179"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2,000만</a:t>
            </a:r>
            <a:endParaRPr lang="en-US" sz="1013" dirty="0"/>
          </a:p>
        </p:txBody>
      </p:sp>
      <p:sp>
        <p:nvSpPr>
          <p:cNvPr id="165" name="Shape 162"/>
          <p:cNvSpPr/>
          <p:nvPr/>
        </p:nvSpPr>
        <p:spPr>
          <a:xfrm>
            <a:off x="7409200" y="4185547"/>
            <a:ext cx="2748737" cy="303731"/>
          </a:xfrm>
          <a:prstGeom prst="rect">
            <a:avLst/>
          </a:prstGeom>
          <a:solidFill>
            <a:srgbClr val="FFFFFF"/>
          </a:solidFill>
          <a:ln/>
        </p:spPr>
        <p:txBody>
          <a:bodyPr/>
          <a:lstStyle/>
          <a:p>
            <a:endParaRPr lang="ko-KR" altLang="en-US"/>
          </a:p>
        </p:txBody>
      </p:sp>
      <p:sp>
        <p:nvSpPr>
          <p:cNvPr id="166" name="Shape 163"/>
          <p:cNvSpPr/>
          <p:nvPr/>
        </p:nvSpPr>
        <p:spPr>
          <a:xfrm>
            <a:off x="7409200" y="4185547"/>
            <a:ext cx="2748737" cy="9525"/>
          </a:xfrm>
          <a:prstGeom prst="rect">
            <a:avLst/>
          </a:prstGeom>
          <a:solidFill>
            <a:srgbClr val="D3B9A5"/>
          </a:solidFill>
          <a:ln/>
        </p:spPr>
        <p:txBody>
          <a:bodyPr/>
          <a:lstStyle/>
          <a:p>
            <a:endParaRPr lang="ko-KR" altLang="en-US"/>
          </a:p>
        </p:txBody>
      </p:sp>
      <p:sp>
        <p:nvSpPr>
          <p:cNvPr id="167" name="Shape 164"/>
          <p:cNvSpPr/>
          <p:nvPr/>
        </p:nvSpPr>
        <p:spPr>
          <a:xfrm>
            <a:off x="7409200" y="4185547"/>
            <a:ext cx="9525" cy="303731"/>
          </a:xfrm>
          <a:prstGeom prst="rect">
            <a:avLst/>
          </a:prstGeom>
          <a:solidFill>
            <a:srgbClr val="D3B9A5"/>
          </a:solidFill>
          <a:ln/>
        </p:spPr>
        <p:txBody>
          <a:bodyPr/>
          <a:lstStyle/>
          <a:p>
            <a:endParaRPr lang="ko-KR" altLang="en-US"/>
          </a:p>
        </p:txBody>
      </p:sp>
      <p:sp>
        <p:nvSpPr>
          <p:cNvPr id="168" name="Text 165"/>
          <p:cNvSpPr/>
          <p:nvPr/>
        </p:nvSpPr>
        <p:spPr>
          <a:xfrm>
            <a:off x="7430336" y="4219339"/>
            <a:ext cx="2711682" cy="27946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2,000만</a:t>
            </a:r>
            <a:endParaRPr lang="en-US" sz="1013" dirty="0"/>
          </a:p>
        </p:txBody>
      </p:sp>
      <p:sp>
        <p:nvSpPr>
          <p:cNvPr id="169" name="Shape 166"/>
          <p:cNvSpPr/>
          <p:nvPr/>
        </p:nvSpPr>
        <p:spPr>
          <a:xfrm>
            <a:off x="538580" y="4489278"/>
            <a:ext cx="1374124" cy="297046"/>
          </a:xfrm>
          <a:prstGeom prst="rect">
            <a:avLst/>
          </a:prstGeom>
          <a:solidFill>
            <a:srgbClr val="FCF4EE"/>
          </a:solidFill>
          <a:ln/>
        </p:spPr>
        <p:txBody>
          <a:bodyPr/>
          <a:lstStyle/>
          <a:p>
            <a:endParaRPr lang="ko-KR" altLang="en-US"/>
          </a:p>
        </p:txBody>
      </p:sp>
      <p:sp>
        <p:nvSpPr>
          <p:cNvPr id="170" name="Shape 167"/>
          <p:cNvSpPr/>
          <p:nvPr/>
        </p:nvSpPr>
        <p:spPr>
          <a:xfrm>
            <a:off x="538580" y="4489278"/>
            <a:ext cx="1374124" cy="9525"/>
          </a:xfrm>
          <a:prstGeom prst="rect">
            <a:avLst/>
          </a:prstGeom>
          <a:solidFill>
            <a:srgbClr val="D3B9A5"/>
          </a:solidFill>
          <a:ln/>
        </p:spPr>
        <p:txBody>
          <a:bodyPr/>
          <a:lstStyle/>
          <a:p>
            <a:endParaRPr lang="ko-KR" altLang="en-US"/>
          </a:p>
        </p:txBody>
      </p:sp>
      <p:sp>
        <p:nvSpPr>
          <p:cNvPr id="171" name="Text 168"/>
          <p:cNvSpPr/>
          <p:nvPr/>
        </p:nvSpPr>
        <p:spPr>
          <a:xfrm>
            <a:off x="557630" y="4523070"/>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인공호흡기</a:t>
            </a:r>
            <a:endParaRPr lang="en-US" sz="1013" dirty="0"/>
          </a:p>
        </p:txBody>
      </p:sp>
      <p:sp>
        <p:nvSpPr>
          <p:cNvPr id="172" name="Shape 169"/>
          <p:cNvSpPr/>
          <p:nvPr/>
        </p:nvSpPr>
        <p:spPr>
          <a:xfrm>
            <a:off x="1912704" y="4489278"/>
            <a:ext cx="2748248" cy="297046"/>
          </a:xfrm>
          <a:prstGeom prst="rect">
            <a:avLst/>
          </a:prstGeom>
          <a:solidFill>
            <a:srgbClr val="F8E1D0"/>
          </a:solidFill>
          <a:ln/>
        </p:spPr>
        <p:txBody>
          <a:bodyPr/>
          <a:lstStyle/>
          <a:p>
            <a:endParaRPr lang="ko-KR" altLang="en-US"/>
          </a:p>
        </p:txBody>
      </p:sp>
      <p:sp>
        <p:nvSpPr>
          <p:cNvPr id="173" name="Shape 170"/>
          <p:cNvSpPr/>
          <p:nvPr/>
        </p:nvSpPr>
        <p:spPr>
          <a:xfrm>
            <a:off x="1912704" y="4489278"/>
            <a:ext cx="2748248" cy="9525"/>
          </a:xfrm>
          <a:prstGeom prst="rect">
            <a:avLst/>
          </a:prstGeom>
          <a:solidFill>
            <a:srgbClr val="D3B9A5"/>
          </a:solidFill>
          <a:ln/>
        </p:spPr>
        <p:txBody>
          <a:bodyPr/>
          <a:lstStyle/>
          <a:p>
            <a:endParaRPr lang="ko-KR" altLang="en-US"/>
          </a:p>
        </p:txBody>
      </p:sp>
      <p:sp>
        <p:nvSpPr>
          <p:cNvPr id="174" name="Shape 171"/>
          <p:cNvSpPr/>
          <p:nvPr/>
        </p:nvSpPr>
        <p:spPr>
          <a:xfrm>
            <a:off x="1912704" y="4489278"/>
            <a:ext cx="9525" cy="297046"/>
          </a:xfrm>
          <a:prstGeom prst="rect">
            <a:avLst/>
          </a:prstGeom>
          <a:solidFill>
            <a:srgbClr val="D3B9A5"/>
          </a:solidFill>
          <a:ln/>
        </p:spPr>
        <p:txBody>
          <a:bodyPr/>
          <a:lstStyle/>
          <a:p>
            <a:endParaRPr lang="ko-KR" altLang="en-US"/>
          </a:p>
        </p:txBody>
      </p:sp>
      <p:sp>
        <p:nvSpPr>
          <p:cNvPr id="175" name="Text 172"/>
          <p:cNvSpPr/>
          <p:nvPr/>
        </p:nvSpPr>
        <p:spPr>
          <a:xfrm>
            <a:off x="1933847" y="4523070"/>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200만</a:t>
            </a:r>
            <a:endParaRPr lang="en-US" sz="1013" dirty="0"/>
          </a:p>
        </p:txBody>
      </p:sp>
      <p:sp>
        <p:nvSpPr>
          <p:cNvPr id="176" name="Shape 173"/>
          <p:cNvSpPr/>
          <p:nvPr/>
        </p:nvSpPr>
        <p:spPr>
          <a:xfrm>
            <a:off x="4660952" y="4489278"/>
            <a:ext cx="2748248" cy="297046"/>
          </a:xfrm>
          <a:prstGeom prst="rect">
            <a:avLst/>
          </a:prstGeom>
          <a:solidFill>
            <a:srgbClr val="FFFFFF"/>
          </a:solidFill>
          <a:ln/>
        </p:spPr>
        <p:txBody>
          <a:bodyPr/>
          <a:lstStyle/>
          <a:p>
            <a:endParaRPr lang="ko-KR" altLang="en-US"/>
          </a:p>
        </p:txBody>
      </p:sp>
      <p:sp>
        <p:nvSpPr>
          <p:cNvPr id="177" name="Shape 174"/>
          <p:cNvSpPr/>
          <p:nvPr/>
        </p:nvSpPr>
        <p:spPr>
          <a:xfrm>
            <a:off x="4660952" y="4489278"/>
            <a:ext cx="2748248" cy="9525"/>
          </a:xfrm>
          <a:prstGeom prst="rect">
            <a:avLst/>
          </a:prstGeom>
          <a:solidFill>
            <a:srgbClr val="D3B9A5"/>
          </a:solidFill>
          <a:ln/>
        </p:spPr>
        <p:txBody>
          <a:bodyPr/>
          <a:lstStyle/>
          <a:p>
            <a:endParaRPr lang="ko-KR" altLang="en-US"/>
          </a:p>
        </p:txBody>
      </p:sp>
      <p:sp>
        <p:nvSpPr>
          <p:cNvPr id="178" name="Shape 175"/>
          <p:cNvSpPr/>
          <p:nvPr/>
        </p:nvSpPr>
        <p:spPr>
          <a:xfrm>
            <a:off x="4660952" y="4489278"/>
            <a:ext cx="9525" cy="297046"/>
          </a:xfrm>
          <a:prstGeom prst="rect">
            <a:avLst/>
          </a:prstGeom>
          <a:solidFill>
            <a:srgbClr val="D3B9A5"/>
          </a:solidFill>
          <a:ln/>
        </p:spPr>
        <p:txBody>
          <a:bodyPr/>
          <a:lstStyle/>
          <a:p>
            <a:endParaRPr lang="ko-KR" altLang="en-US"/>
          </a:p>
        </p:txBody>
      </p:sp>
      <p:sp>
        <p:nvSpPr>
          <p:cNvPr id="179" name="Text 176"/>
          <p:cNvSpPr/>
          <p:nvPr/>
        </p:nvSpPr>
        <p:spPr>
          <a:xfrm>
            <a:off x="4682095" y="4523070"/>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80" name="Shape 177"/>
          <p:cNvSpPr/>
          <p:nvPr/>
        </p:nvSpPr>
        <p:spPr>
          <a:xfrm>
            <a:off x="7409200" y="4489278"/>
            <a:ext cx="2748737" cy="297046"/>
          </a:xfrm>
          <a:prstGeom prst="rect">
            <a:avLst/>
          </a:prstGeom>
          <a:solidFill>
            <a:srgbClr val="FFFFFF"/>
          </a:solidFill>
          <a:ln/>
        </p:spPr>
        <p:txBody>
          <a:bodyPr/>
          <a:lstStyle/>
          <a:p>
            <a:endParaRPr lang="ko-KR" altLang="en-US"/>
          </a:p>
        </p:txBody>
      </p:sp>
      <p:sp>
        <p:nvSpPr>
          <p:cNvPr id="181" name="Shape 178"/>
          <p:cNvSpPr/>
          <p:nvPr/>
        </p:nvSpPr>
        <p:spPr>
          <a:xfrm>
            <a:off x="7409200" y="4489278"/>
            <a:ext cx="2748737" cy="9525"/>
          </a:xfrm>
          <a:prstGeom prst="rect">
            <a:avLst/>
          </a:prstGeom>
          <a:solidFill>
            <a:srgbClr val="D3B9A5"/>
          </a:solidFill>
          <a:ln/>
        </p:spPr>
        <p:txBody>
          <a:bodyPr/>
          <a:lstStyle/>
          <a:p>
            <a:endParaRPr lang="ko-KR" altLang="en-US"/>
          </a:p>
        </p:txBody>
      </p:sp>
      <p:sp>
        <p:nvSpPr>
          <p:cNvPr id="182" name="Shape 179"/>
          <p:cNvSpPr/>
          <p:nvPr/>
        </p:nvSpPr>
        <p:spPr>
          <a:xfrm>
            <a:off x="7409200" y="4489278"/>
            <a:ext cx="9525" cy="297046"/>
          </a:xfrm>
          <a:prstGeom prst="rect">
            <a:avLst/>
          </a:prstGeom>
          <a:solidFill>
            <a:srgbClr val="D3B9A5"/>
          </a:solidFill>
          <a:ln/>
        </p:spPr>
        <p:txBody>
          <a:bodyPr/>
          <a:lstStyle/>
          <a:p>
            <a:endParaRPr lang="ko-KR" altLang="en-US"/>
          </a:p>
        </p:txBody>
      </p:sp>
      <p:sp>
        <p:nvSpPr>
          <p:cNvPr id="183" name="Text 180"/>
          <p:cNvSpPr/>
          <p:nvPr/>
        </p:nvSpPr>
        <p:spPr>
          <a:xfrm>
            <a:off x="7430336" y="4523070"/>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84" name="Shape 181"/>
          <p:cNvSpPr/>
          <p:nvPr/>
        </p:nvSpPr>
        <p:spPr>
          <a:xfrm>
            <a:off x="538580" y="4786324"/>
            <a:ext cx="1374124" cy="297046"/>
          </a:xfrm>
          <a:prstGeom prst="rect">
            <a:avLst/>
          </a:prstGeom>
          <a:solidFill>
            <a:srgbClr val="FCF4EE"/>
          </a:solidFill>
          <a:ln/>
        </p:spPr>
        <p:txBody>
          <a:bodyPr/>
          <a:lstStyle/>
          <a:p>
            <a:endParaRPr lang="ko-KR" altLang="en-US"/>
          </a:p>
        </p:txBody>
      </p:sp>
      <p:sp>
        <p:nvSpPr>
          <p:cNvPr id="185" name="Shape 182"/>
          <p:cNvSpPr/>
          <p:nvPr/>
        </p:nvSpPr>
        <p:spPr>
          <a:xfrm>
            <a:off x="538580" y="4786324"/>
            <a:ext cx="1374124" cy="9525"/>
          </a:xfrm>
          <a:prstGeom prst="rect">
            <a:avLst/>
          </a:prstGeom>
          <a:solidFill>
            <a:srgbClr val="D3B9A5"/>
          </a:solidFill>
          <a:ln/>
        </p:spPr>
        <p:txBody>
          <a:bodyPr/>
          <a:lstStyle/>
          <a:p>
            <a:endParaRPr lang="ko-KR" altLang="en-US"/>
          </a:p>
        </p:txBody>
      </p:sp>
      <p:sp>
        <p:nvSpPr>
          <p:cNvPr id="186" name="Text 183"/>
          <p:cNvSpPr/>
          <p:nvPr/>
        </p:nvSpPr>
        <p:spPr>
          <a:xfrm>
            <a:off x="557630" y="4820116"/>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저체온요법</a:t>
            </a:r>
            <a:endParaRPr lang="en-US" sz="1013" dirty="0"/>
          </a:p>
        </p:txBody>
      </p:sp>
      <p:sp>
        <p:nvSpPr>
          <p:cNvPr id="187" name="Shape 184"/>
          <p:cNvSpPr/>
          <p:nvPr/>
        </p:nvSpPr>
        <p:spPr>
          <a:xfrm>
            <a:off x="1912704" y="4786324"/>
            <a:ext cx="2748248" cy="297046"/>
          </a:xfrm>
          <a:prstGeom prst="rect">
            <a:avLst/>
          </a:prstGeom>
          <a:solidFill>
            <a:srgbClr val="F8E1D0"/>
          </a:solidFill>
          <a:ln/>
        </p:spPr>
        <p:txBody>
          <a:bodyPr/>
          <a:lstStyle/>
          <a:p>
            <a:endParaRPr lang="ko-KR" altLang="en-US"/>
          </a:p>
        </p:txBody>
      </p:sp>
      <p:sp>
        <p:nvSpPr>
          <p:cNvPr id="188" name="Shape 185"/>
          <p:cNvSpPr/>
          <p:nvPr/>
        </p:nvSpPr>
        <p:spPr>
          <a:xfrm>
            <a:off x="1912704" y="4786324"/>
            <a:ext cx="2748248" cy="9525"/>
          </a:xfrm>
          <a:prstGeom prst="rect">
            <a:avLst/>
          </a:prstGeom>
          <a:solidFill>
            <a:srgbClr val="D3B9A5"/>
          </a:solidFill>
          <a:ln/>
        </p:spPr>
        <p:txBody>
          <a:bodyPr/>
          <a:lstStyle/>
          <a:p>
            <a:endParaRPr lang="ko-KR" altLang="en-US"/>
          </a:p>
        </p:txBody>
      </p:sp>
      <p:sp>
        <p:nvSpPr>
          <p:cNvPr id="189" name="Shape 186"/>
          <p:cNvSpPr/>
          <p:nvPr/>
        </p:nvSpPr>
        <p:spPr>
          <a:xfrm>
            <a:off x="1912704" y="4786324"/>
            <a:ext cx="9525" cy="297046"/>
          </a:xfrm>
          <a:prstGeom prst="rect">
            <a:avLst/>
          </a:prstGeom>
          <a:solidFill>
            <a:srgbClr val="D3B9A5"/>
          </a:solidFill>
          <a:ln/>
        </p:spPr>
        <p:txBody>
          <a:bodyPr/>
          <a:lstStyle/>
          <a:p>
            <a:endParaRPr lang="ko-KR" altLang="en-US"/>
          </a:p>
        </p:txBody>
      </p:sp>
      <p:sp>
        <p:nvSpPr>
          <p:cNvPr id="190" name="Text 187"/>
          <p:cNvSpPr/>
          <p:nvPr/>
        </p:nvSpPr>
        <p:spPr>
          <a:xfrm>
            <a:off x="1933847" y="4820116"/>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100만</a:t>
            </a:r>
            <a:endParaRPr lang="en-US" sz="1013" dirty="0"/>
          </a:p>
        </p:txBody>
      </p:sp>
      <p:sp>
        <p:nvSpPr>
          <p:cNvPr id="191" name="Shape 188"/>
          <p:cNvSpPr/>
          <p:nvPr/>
        </p:nvSpPr>
        <p:spPr>
          <a:xfrm>
            <a:off x="4660952" y="4786324"/>
            <a:ext cx="2748248" cy="297046"/>
          </a:xfrm>
          <a:prstGeom prst="rect">
            <a:avLst/>
          </a:prstGeom>
          <a:solidFill>
            <a:srgbClr val="FFFFFF"/>
          </a:solidFill>
          <a:ln/>
        </p:spPr>
        <p:txBody>
          <a:bodyPr/>
          <a:lstStyle/>
          <a:p>
            <a:endParaRPr lang="ko-KR" altLang="en-US"/>
          </a:p>
        </p:txBody>
      </p:sp>
      <p:sp>
        <p:nvSpPr>
          <p:cNvPr id="192" name="Shape 189"/>
          <p:cNvSpPr/>
          <p:nvPr/>
        </p:nvSpPr>
        <p:spPr>
          <a:xfrm>
            <a:off x="4660952" y="4786324"/>
            <a:ext cx="2748248" cy="9525"/>
          </a:xfrm>
          <a:prstGeom prst="rect">
            <a:avLst/>
          </a:prstGeom>
          <a:solidFill>
            <a:srgbClr val="D3B9A5"/>
          </a:solidFill>
          <a:ln/>
        </p:spPr>
        <p:txBody>
          <a:bodyPr/>
          <a:lstStyle/>
          <a:p>
            <a:endParaRPr lang="ko-KR" altLang="en-US"/>
          </a:p>
        </p:txBody>
      </p:sp>
      <p:sp>
        <p:nvSpPr>
          <p:cNvPr id="193" name="Shape 190"/>
          <p:cNvSpPr/>
          <p:nvPr/>
        </p:nvSpPr>
        <p:spPr>
          <a:xfrm>
            <a:off x="4660952" y="4786324"/>
            <a:ext cx="9525" cy="297046"/>
          </a:xfrm>
          <a:prstGeom prst="rect">
            <a:avLst/>
          </a:prstGeom>
          <a:solidFill>
            <a:srgbClr val="D3B9A5"/>
          </a:solidFill>
          <a:ln/>
        </p:spPr>
        <p:txBody>
          <a:bodyPr/>
          <a:lstStyle/>
          <a:p>
            <a:endParaRPr lang="ko-KR" altLang="en-US"/>
          </a:p>
        </p:txBody>
      </p:sp>
      <p:sp>
        <p:nvSpPr>
          <p:cNvPr id="194" name="Text 191"/>
          <p:cNvSpPr/>
          <p:nvPr/>
        </p:nvSpPr>
        <p:spPr>
          <a:xfrm>
            <a:off x="4682095" y="4820116"/>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95" name="Shape 192"/>
          <p:cNvSpPr/>
          <p:nvPr/>
        </p:nvSpPr>
        <p:spPr>
          <a:xfrm>
            <a:off x="7409200" y="4786324"/>
            <a:ext cx="2748737" cy="297046"/>
          </a:xfrm>
          <a:prstGeom prst="rect">
            <a:avLst/>
          </a:prstGeom>
          <a:solidFill>
            <a:srgbClr val="FFFFFF"/>
          </a:solidFill>
          <a:ln/>
        </p:spPr>
        <p:txBody>
          <a:bodyPr/>
          <a:lstStyle/>
          <a:p>
            <a:endParaRPr lang="ko-KR" altLang="en-US"/>
          </a:p>
        </p:txBody>
      </p:sp>
      <p:sp>
        <p:nvSpPr>
          <p:cNvPr id="196" name="Shape 193"/>
          <p:cNvSpPr/>
          <p:nvPr/>
        </p:nvSpPr>
        <p:spPr>
          <a:xfrm>
            <a:off x="7409200" y="4786324"/>
            <a:ext cx="2748737" cy="9525"/>
          </a:xfrm>
          <a:prstGeom prst="rect">
            <a:avLst/>
          </a:prstGeom>
          <a:solidFill>
            <a:srgbClr val="D3B9A5"/>
          </a:solidFill>
          <a:ln/>
        </p:spPr>
        <p:txBody>
          <a:bodyPr/>
          <a:lstStyle/>
          <a:p>
            <a:endParaRPr lang="ko-KR" altLang="en-US"/>
          </a:p>
        </p:txBody>
      </p:sp>
      <p:sp>
        <p:nvSpPr>
          <p:cNvPr id="197" name="Shape 194"/>
          <p:cNvSpPr/>
          <p:nvPr/>
        </p:nvSpPr>
        <p:spPr>
          <a:xfrm>
            <a:off x="7409200" y="4786324"/>
            <a:ext cx="9525" cy="297046"/>
          </a:xfrm>
          <a:prstGeom prst="rect">
            <a:avLst/>
          </a:prstGeom>
          <a:solidFill>
            <a:srgbClr val="D3B9A5"/>
          </a:solidFill>
          <a:ln/>
        </p:spPr>
        <p:txBody>
          <a:bodyPr/>
          <a:lstStyle/>
          <a:p>
            <a:endParaRPr lang="ko-KR" altLang="en-US"/>
          </a:p>
        </p:txBody>
      </p:sp>
      <p:sp>
        <p:nvSpPr>
          <p:cNvPr id="198" name="Text 195"/>
          <p:cNvSpPr/>
          <p:nvPr/>
        </p:nvSpPr>
        <p:spPr>
          <a:xfrm>
            <a:off x="7430336" y="4820116"/>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99" name="Shape 196"/>
          <p:cNvSpPr/>
          <p:nvPr/>
        </p:nvSpPr>
        <p:spPr>
          <a:xfrm>
            <a:off x="538580" y="5083371"/>
            <a:ext cx="1374124" cy="297046"/>
          </a:xfrm>
          <a:prstGeom prst="rect">
            <a:avLst/>
          </a:prstGeom>
          <a:solidFill>
            <a:srgbClr val="FCF4EE"/>
          </a:solidFill>
          <a:ln/>
        </p:spPr>
        <p:txBody>
          <a:bodyPr/>
          <a:lstStyle/>
          <a:p>
            <a:endParaRPr lang="ko-KR" altLang="en-US"/>
          </a:p>
        </p:txBody>
      </p:sp>
      <p:sp>
        <p:nvSpPr>
          <p:cNvPr id="200" name="Shape 197"/>
          <p:cNvSpPr/>
          <p:nvPr/>
        </p:nvSpPr>
        <p:spPr>
          <a:xfrm>
            <a:off x="538580" y="5083371"/>
            <a:ext cx="1374124" cy="9525"/>
          </a:xfrm>
          <a:prstGeom prst="rect">
            <a:avLst/>
          </a:prstGeom>
          <a:solidFill>
            <a:srgbClr val="D3B9A5"/>
          </a:solidFill>
          <a:ln/>
        </p:spPr>
        <p:txBody>
          <a:bodyPr/>
          <a:lstStyle/>
          <a:p>
            <a:endParaRPr lang="ko-KR" altLang="en-US"/>
          </a:p>
        </p:txBody>
      </p:sp>
      <p:sp>
        <p:nvSpPr>
          <p:cNvPr id="201" name="Text 198"/>
          <p:cNvSpPr/>
          <p:nvPr/>
        </p:nvSpPr>
        <p:spPr>
          <a:xfrm>
            <a:off x="557630" y="5117163"/>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CRRT</a:t>
            </a:r>
            <a:endParaRPr lang="en-US" sz="1013" dirty="0"/>
          </a:p>
        </p:txBody>
      </p:sp>
      <p:sp>
        <p:nvSpPr>
          <p:cNvPr id="202" name="Shape 199"/>
          <p:cNvSpPr/>
          <p:nvPr/>
        </p:nvSpPr>
        <p:spPr>
          <a:xfrm>
            <a:off x="1912704" y="5083371"/>
            <a:ext cx="2748248" cy="297046"/>
          </a:xfrm>
          <a:prstGeom prst="rect">
            <a:avLst/>
          </a:prstGeom>
          <a:solidFill>
            <a:srgbClr val="F8E1D0"/>
          </a:solidFill>
          <a:ln/>
        </p:spPr>
        <p:txBody>
          <a:bodyPr/>
          <a:lstStyle/>
          <a:p>
            <a:endParaRPr lang="ko-KR" altLang="en-US"/>
          </a:p>
        </p:txBody>
      </p:sp>
      <p:sp>
        <p:nvSpPr>
          <p:cNvPr id="203" name="Shape 200"/>
          <p:cNvSpPr/>
          <p:nvPr/>
        </p:nvSpPr>
        <p:spPr>
          <a:xfrm>
            <a:off x="1912704" y="5083371"/>
            <a:ext cx="2748248" cy="9525"/>
          </a:xfrm>
          <a:prstGeom prst="rect">
            <a:avLst/>
          </a:prstGeom>
          <a:solidFill>
            <a:srgbClr val="D3B9A5"/>
          </a:solidFill>
          <a:ln/>
        </p:spPr>
        <p:txBody>
          <a:bodyPr/>
          <a:lstStyle/>
          <a:p>
            <a:endParaRPr lang="ko-KR" altLang="en-US"/>
          </a:p>
        </p:txBody>
      </p:sp>
      <p:sp>
        <p:nvSpPr>
          <p:cNvPr id="204" name="Shape 201"/>
          <p:cNvSpPr/>
          <p:nvPr/>
        </p:nvSpPr>
        <p:spPr>
          <a:xfrm>
            <a:off x="1912704" y="5083371"/>
            <a:ext cx="9525" cy="297046"/>
          </a:xfrm>
          <a:prstGeom prst="rect">
            <a:avLst/>
          </a:prstGeom>
          <a:solidFill>
            <a:srgbClr val="D3B9A5"/>
          </a:solidFill>
          <a:ln/>
        </p:spPr>
        <p:txBody>
          <a:bodyPr/>
          <a:lstStyle/>
          <a:p>
            <a:endParaRPr lang="ko-KR" altLang="en-US"/>
          </a:p>
        </p:txBody>
      </p:sp>
      <p:sp>
        <p:nvSpPr>
          <p:cNvPr id="205" name="Text 202"/>
          <p:cNvSpPr/>
          <p:nvPr/>
        </p:nvSpPr>
        <p:spPr>
          <a:xfrm>
            <a:off x="1933847" y="5117163"/>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500만</a:t>
            </a:r>
            <a:endParaRPr lang="en-US" sz="1013" dirty="0"/>
          </a:p>
        </p:txBody>
      </p:sp>
      <p:sp>
        <p:nvSpPr>
          <p:cNvPr id="206" name="Shape 203"/>
          <p:cNvSpPr/>
          <p:nvPr/>
        </p:nvSpPr>
        <p:spPr>
          <a:xfrm>
            <a:off x="4660952" y="5083371"/>
            <a:ext cx="2748248" cy="297046"/>
          </a:xfrm>
          <a:prstGeom prst="rect">
            <a:avLst/>
          </a:prstGeom>
          <a:solidFill>
            <a:srgbClr val="FFFFFF"/>
          </a:solidFill>
          <a:ln/>
        </p:spPr>
        <p:txBody>
          <a:bodyPr/>
          <a:lstStyle/>
          <a:p>
            <a:endParaRPr lang="ko-KR" altLang="en-US"/>
          </a:p>
        </p:txBody>
      </p:sp>
      <p:sp>
        <p:nvSpPr>
          <p:cNvPr id="207" name="Shape 204"/>
          <p:cNvSpPr/>
          <p:nvPr/>
        </p:nvSpPr>
        <p:spPr>
          <a:xfrm>
            <a:off x="4660952" y="5083371"/>
            <a:ext cx="2748248" cy="9525"/>
          </a:xfrm>
          <a:prstGeom prst="rect">
            <a:avLst/>
          </a:prstGeom>
          <a:solidFill>
            <a:srgbClr val="D3B9A5"/>
          </a:solidFill>
          <a:ln/>
        </p:spPr>
        <p:txBody>
          <a:bodyPr/>
          <a:lstStyle/>
          <a:p>
            <a:endParaRPr lang="ko-KR" altLang="en-US"/>
          </a:p>
        </p:txBody>
      </p:sp>
      <p:sp>
        <p:nvSpPr>
          <p:cNvPr id="208" name="Shape 205"/>
          <p:cNvSpPr/>
          <p:nvPr/>
        </p:nvSpPr>
        <p:spPr>
          <a:xfrm>
            <a:off x="4660952" y="5083371"/>
            <a:ext cx="9525" cy="297046"/>
          </a:xfrm>
          <a:prstGeom prst="rect">
            <a:avLst/>
          </a:prstGeom>
          <a:solidFill>
            <a:srgbClr val="D3B9A5"/>
          </a:solidFill>
          <a:ln/>
        </p:spPr>
        <p:txBody>
          <a:bodyPr/>
          <a:lstStyle/>
          <a:p>
            <a:endParaRPr lang="ko-KR" altLang="en-US"/>
          </a:p>
        </p:txBody>
      </p:sp>
      <p:sp>
        <p:nvSpPr>
          <p:cNvPr id="209" name="Text 206"/>
          <p:cNvSpPr/>
          <p:nvPr/>
        </p:nvSpPr>
        <p:spPr>
          <a:xfrm>
            <a:off x="4682095" y="5117163"/>
            <a:ext cx="2711179"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210" name="Shape 207"/>
          <p:cNvSpPr/>
          <p:nvPr/>
        </p:nvSpPr>
        <p:spPr>
          <a:xfrm>
            <a:off x="7409200" y="5083371"/>
            <a:ext cx="2748737" cy="297046"/>
          </a:xfrm>
          <a:prstGeom prst="rect">
            <a:avLst/>
          </a:prstGeom>
          <a:solidFill>
            <a:srgbClr val="FFFFFF"/>
          </a:solidFill>
          <a:ln/>
        </p:spPr>
        <p:txBody>
          <a:bodyPr/>
          <a:lstStyle/>
          <a:p>
            <a:endParaRPr lang="ko-KR" altLang="en-US"/>
          </a:p>
        </p:txBody>
      </p:sp>
      <p:sp>
        <p:nvSpPr>
          <p:cNvPr id="211" name="Shape 208"/>
          <p:cNvSpPr/>
          <p:nvPr/>
        </p:nvSpPr>
        <p:spPr>
          <a:xfrm>
            <a:off x="7409200" y="5083371"/>
            <a:ext cx="2748737" cy="9525"/>
          </a:xfrm>
          <a:prstGeom prst="rect">
            <a:avLst/>
          </a:prstGeom>
          <a:solidFill>
            <a:srgbClr val="D3B9A5"/>
          </a:solidFill>
          <a:ln/>
        </p:spPr>
        <p:txBody>
          <a:bodyPr/>
          <a:lstStyle/>
          <a:p>
            <a:endParaRPr lang="ko-KR" altLang="en-US"/>
          </a:p>
        </p:txBody>
      </p:sp>
      <p:sp>
        <p:nvSpPr>
          <p:cNvPr id="212" name="Shape 209"/>
          <p:cNvSpPr/>
          <p:nvPr/>
        </p:nvSpPr>
        <p:spPr>
          <a:xfrm>
            <a:off x="7409200" y="5083371"/>
            <a:ext cx="9525" cy="297046"/>
          </a:xfrm>
          <a:prstGeom prst="rect">
            <a:avLst/>
          </a:prstGeom>
          <a:solidFill>
            <a:srgbClr val="D3B9A5"/>
          </a:solidFill>
          <a:ln/>
        </p:spPr>
        <p:txBody>
          <a:bodyPr/>
          <a:lstStyle/>
          <a:p>
            <a:endParaRPr lang="ko-KR" altLang="en-US"/>
          </a:p>
        </p:txBody>
      </p:sp>
      <p:sp>
        <p:nvSpPr>
          <p:cNvPr id="213" name="Text 210"/>
          <p:cNvSpPr/>
          <p:nvPr/>
        </p:nvSpPr>
        <p:spPr>
          <a:xfrm>
            <a:off x="7430336" y="5117163"/>
            <a:ext cx="2711682"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214" name="Shape 211"/>
          <p:cNvSpPr/>
          <p:nvPr/>
        </p:nvSpPr>
        <p:spPr>
          <a:xfrm>
            <a:off x="538580" y="5380417"/>
            <a:ext cx="1374124" cy="297046"/>
          </a:xfrm>
          <a:prstGeom prst="rect">
            <a:avLst/>
          </a:prstGeom>
          <a:solidFill>
            <a:srgbClr val="FCF4EE"/>
          </a:solidFill>
          <a:ln/>
        </p:spPr>
        <p:txBody>
          <a:bodyPr/>
          <a:lstStyle/>
          <a:p>
            <a:endParaRPr lang="ko-KR" altLang="en-US"/>
          </a:p>
        </p:txBody>
      </p:sp>
      <p:sp>
        <p:nvSpPr>
          <p:cNvPr id="215" name="Shape 212"/>
          <p:cNvSpPr/>
          <p:nvPr/>
        </p:nvSpPr>
        <p:spPr>
          <a:xfrm>
            <a:off x="538580" y="5380417"/>
            <a:ext cx="1374124" cy="9525"/>
          </a:xfrm>
          <a:prstGeom prst="rect">
            <a:avLst/>
          </a:prstGeom>
          <a:solidFill>
            <a:srgbClr val="D3B9A5"/>
          </a:solidFill>
          <a:ln/>
        </p:spPr>
        <p:txBody>
          <a:bodyPr/>
          <a:lstStyle/>
          <a:p>
            <a:endParaRPr lang="ko-KR" altLang="en-US"/>
          </a:p>
        </p:txBody>
      </p:sp>
      <p:sp>
        <p:nvSpPr>
          <p:cNvPr id="216" name="Text 213"/>
          <p:cNvSpPr/>
          <p:nvPr/>
        </p:nvSpPr>
        <p:spPr>
          <a:xfrm>
            <a:off x="557630" y="5414209"/>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보험료</a:t>
            </a:r>
            <a:endParaRPr lang="en-US" sz="1013" dirty="0"/>
          </a:p>
        </p:txBody>
      </p:sp>
      <p:sp>
        <p:nvSpPr>
          <p:cNvPr id="217" name="Shape 214"/>
          <p:cNvSpPr/>
          <p:nvPr/>
        </p:nvSpPr>
        <p:spPr>
          <a:xfrm>
            <a:off x="1912704" y="5380417"/>
            <a:ext cx="1374124" cy="297046"/>
          </a:xfrm>
          <a:prstGeom prst="rect">
            <a:avLst/>
          </a:prstGeom>
          <a:solidFill>
            <a:srgbClr val="F8E1D0"/>
          </a:solidFill>
          <a:ln/>
        </p:spPr>
        <p:txBody>
          <a:bodyPr/>
          <a:lstStyle/>
          <a:p>
            <a:endParaRPr lang="ko-KR" altLang="en-US"/>
          </a:p>
        </p:txBody>
      </p:sp>
      <p:sp>
        <p:nvSpPr>
          <p:cNvPr id="218" name="Shape 215"/>
          <p:cNvSpPr/>
          <p:nvPr/>
        </p:nvSpPr>
        <p:spPr>
          <a:xfrm>
            <a:off x="1912704" y="5380417"/>
            <a:ext cx="1374124" cy="9525"/>
          </a:xfrm>
          <a:prstGeom prst="rect">
            <a:avLst/>
          </a:prstGeom>
          <a:solidFill>
            <a:srgbClr val="D3B9A5"/>
          </a:solidFill>
          <a:ln/>
        </p:spPr>
        <p:txBody>
          <a:bodyPr/>
          <a:lstStyle/>
          <a:p>
            <a:endParaRPr lang="ko-KR" altLang="en-US"/>
          </a:p>
        </p:txBody>
      </p:sp>
      <p:sp>
        <p:nvSpPr>
          <p:cNvPr id="219" name="Shape 216"/>
          <p:cNvSpPr/>
          <p:nvPr/>
        </p:nvSpPr>
        <p:spPr>
          <a:xfrm>
            <a:off x="1912704" y="5380417"/>
            <a:ext cx="9525" cy="297046"/>
          </a:xfrm>
          <a:prstGeom prst="rect">
            <a:avLst/>
          </a:prstGeom>
          <a:solidFill>
            <a:srgbClr val="D3B9A5"/>
          </a:solidFill>
          <a:ln/>
        </p:spPr>
        <p:txBody>
          <a:bodyPr/>
          <a:lstStyle/>
          <a:p>
            <a:endParaRPr lang="ko-KR" altLang="en-US"/>
          </a:p>
        </p:txBody>
      </p:sp>
      <p:sp>
        <p:nvSpPr>
          <p:cNvPr id="220" name="Text 217"/>
          <p:cNvSpPr/>
          <p:nvPr/>
        </p:nvSpPr>
        <p:spPr>
          <a:xfrm>
            <a:off x="1936971" y="5414209"/>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남성</a:t>
            </a:r>
            <a:endParaRPr lang="en-US" sz="1013" dirty="0"/>
          </a:p>
        </p:txBody>
      </p:sp>
      <p:sp>
        <p:nvSpPr>
          <p:cNvPr id="221" name="Shape 218"/>
          <p:cNvSpPr/>
          <p:nvPr/>
        </p:nvSpPr>
        <p:spPr>
          <a:xfrm>
            <a:off x="3286828" y="5380417"/>
            <a:ext cx="1374124" cy="297046"/>
          </a:xfrm>
          <a:prstGeom prst="rect">
            <a:avLst/>
          </a:prstGeom>
          <a:solidFill>
            <a:srgbClr val="F8E1D0"/>
          </a:solidFill>
          <a:ln/>
        </p:spPr>
        <p:txBody>
          <a:bodyPr/>
          <a:lstStyle/>
          <a:p>
            <a:endParaRPr lang="ko-KR" altLang="en-US"/>
          </a:p>
        </p:txBody>
      </p:sp>
      <p:sp>
        <p:nvSpPr>
          <p:cNvPr id="222" name="Shape 219"/>
          <p:cNvSpPr/>
          <p:nvPr/>
        </p:nvSpPr>
        <p:spPr>
          <a:xfrm>
            <a:off x="3286828" y="5380417"/>
            <a:ext cx="1374124" cy="9525"/>
          </a:xfrm>
          <a:prstGeom prst="rect">
            <a:avLst/>
          </a:prstGeom>
          <a:solidFill>
            <a:srgbClr val="D3B9A5"/>
          </a:solidFill>
          <a:ln/>
        </p:spPr>
        <p:txBody>
          <a:bodyPr/>
          <a:lstStyle/>
          <a:p>
            <a:endParaRPr lang="ko-KR" altLang="en-US"/>
          </a:p>
        </p:txBody>
      </p:sp>
      <p:sp>
        <p:nvSpPr>
          <p:cNvPr id="223" name="Shape 220"/>
          <p:cNvSpPr/>
          <p:nvPr/>
        </p:nvSpPr>
        <p:spPr>
          <a:xfrm>
            <a:off x="3286828" y="5380417"/>
            <a:ext cx="9525" cy="297046"/>
          </a:xfrm>
          <a:prstGeom prst="rect">
            <a:avLst/>
          </a:prstGeom>
          <a:solidFill>
            <a:srgbClr val="D3B9A5"/>
          </a:solidFill>
          <a:ln/>
        </p:spPr>
        <p:txBody>
          <a:bodyPr/>
          <a:lstStyle/>
          <a:p>
            <a:endParaRPr lang="ko-KR" altLang="en-US"/>
          </a:p>
        </p:txBody>
      </p:sp>
      <p:sp>
        <p:nvSpPr>
          <p:cNvPr id="224" name="Text 221"/>
          <p:cNvSpPr/>
          <p:nvPr/>
        </p:nvSpPr>
        <p:spPr>
          <a:xfrm>
            <a:off x="3311095" y="5414209"/>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여성</a:t>
            </a:r>
            <a:endParaRPr lang="en-US" sz="1013" dirty="0"/>
          </a:p>
        </p:txBody>
      </p:sp>
      <p:sp>
        <p:nvSpPr>
          <p:cNvPr id="225" name="Shape 222"/>
          <p:cNvSpPr/>
          <p:nvPr/>
        </p:nvSpPr>
        <p:spPr>
          <a:xfrm>
            <a:off x="4660952" y="5380417"/>
            <a:ext cx="1374124" cy="297046"/>
          </a:xfrm>
          <a:prstGeom prst="rect">
            <a:avLst/>
          </a:prstGeom>
          <a:solidFill>
            <a:srgbClr val="FFFFFF"/>
          </a:solidFill>
          <a:ln/>
        </p:spPr>
        <p:txBody>
          <a:bodyPr/>
          <a:lstStyle/>
          <a:p>
            <a:endParaRPr lang="ko-KR" altLang="en-US"/>
          </a:p>
        </p:txBody>
      </p:sp>
      <p:sp>
        <p:nvSpPr>
          <p:cNvPr id="226" name="Shape 223"/>
          <p:cNvSpPr/>
          <p:nvPr/>
        </p:nvSpPr>
        <p:spPr>
          <a:xfrm>
            <a:off x="4660952" y="5380417"/>
            <a:ext cx="1374124" cy="9525"/>
          </a:xfrm>
          <a:prstGeom prst="rect">
            <a:avLst/>
          </a:prstGeom>
          <a:solidFill>
            <a:srgbClr val="D3B9A5"/>
          </a:solidFill>
          <a:ln/>
        </p:spPr>
        <p:txBody>
          <a:bodyPr/>
          <a:lstStyle/>
          <a:p>
            <a:endParaRPr lang="ko-KR" altLang="en-US"/>
          </a:p>
        </p:txBody>
      </p:sp>
      <p:sp>
        <p:nvSpPr>
          <p:cNvPr id="227" name="Shape 224"/>
          <p:cNvSpPr/>
          <p:nvPr/>
        </p:nvSpPr>
        <p:spPr>
          <a:xfrm>
            <a:off x="4660952" y="5380417"/>
            <a:ext cx="9525" cy="297046"/>
          </a:xfrm>
          <a:prstGeom prst="rect">
            <a:avLst/>
          </a:prstGeom>
          <a:solidFill>
            <a:srgbClr val="D3B9A5"/>
          </a:solidFill>
          <a:ln/>
        </p:spPr>
        <p:txBody>
          <a:bodyPr/>
          <a:lstStyle/>
          <a:p>
            <a:endParaRPr lang="ko-KR" altLang="en-US"/>
          </a:p>
        </p:txBody>
      </p:sp>
      <p:sp>
        <p:nvSpPr>
          <p:cNvPr id="228" name="Text 225"/>
          <p:cNvSpPr/>
          <p:nvPr/>
        </p:nvSpPr>
        <p:spPr>
          <a:xfrm>
            <a:off x="4685219" y="5414209"/>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남성</a:t>
            </a:r>
            <a:endParaRPr lang="en-US" sz="1013" dirty="0"/>
          </a:p>
        </p:txBody>
      </p:sp>
      <p:sp>
        <p:nvSpPr>
          <p:cNvPr id="229" name="Shape 226"/>
          <p:cNvSpPr/>
          <p:nvPr/>
        </p:nvSpPr>
        <p:spPr>
          <a:xfrm>
            <a:off x="6035076" y="5380417"/>
            <a:ext cx="1374124" cy="297046"/>
          </a:xfrm>
          <a:prstGeom prst="rect">
            <a:avLst/>
          </a:prstGeom>
          <a:solidFill>
            <a:srgbClr val="FFFFFF"/>
          </a:solidFill>
          <a:ln/>
        </p:spPr>
        <p:txBody>
          <a:bodyPr/>
          <a:lstStyle/>
          <a:p>
            <a:endParaRPr lang="ko-KR" altLang="en-US"/>
          </a:p>
        </p:txBody>
      </p:sp>
      <p:sp>
        <p:nvSpPr>
          <p:cNvPr id="230" name="Shape 227"/>
          <p:cNvSpPr/>
          <p:nvPr/>
        </p:nvSpPr>
        <p:spPr>
          <a:xfrm>
            <a:off x="6035076" y="5380417"/>
            <a:ext cx="1374124" cy="9525"/>
          </a:xfrm>
          <a:prstGeom prst="rect">
            <a:avLst/>
          </a:prstGeom>
          <a:solidFill>
            <a:srgbClr val="D3B9A5"/>
          </a:solidFill>
          <a:ln/>
        </p:spPr>
        <p:txBody>
          <a:bodyPr/>
          <a:lstStyle/>
          <a:p>
            <a:endParaRPr lang="ko-KR" altLang="en-US"/>
          </a:p>
        </p:txBody>
      </p:sp>
      <p:sp>
        <p:nvSpPr>
          <p:cNvPr id="231" name="Shape 228"/>
          <p:cNvSpPr/>
          <p:nvPr/>
        </p:nvSpPr>
        <p:spPr>
          <a:xfrm>
            <a:off x="6035076" y="5380417"/>
            <a:ext cx="9525" cy="297046"/>
          </a:xfrm>
          <a:prstGeom prst="rect">
            <a:avLst/>
          </a:prstGeom>
          <a:solidFill>
            <a:srgbClr val="D3B9A5"/>
          </a:solidFill>
          <a:ln/>
        </p:spPr>
        <p:txBody>
          <a:bodyPr/>
          <a:lstStyle/>
          <a:p>
            <a:endParaRPr lang="ko-KR" altLang="en-US"/>
          </a:p>
        </p:txBody>
      </p:sp>
      <p:sp>
        <p:nvSpPr>
          <p:cNvPr id="232" name="Text 229"/>
          <p:cNvSpPr/>
          <p:nvPr/>
        </p:nvSpPr>
        <p:spPr>
          <a:xfrm>
            <a:off x="6059343" y="5414209"/>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여성</a:t>
            </a:r>
            <a:endParaRPr lang="en-US" sz="1013" dirty="0"/>
          </a:p>
        </p:txBody>
      </p:sp>
      <p:sp>
        <p:nvSpPr>
          <p:cNvPr id="233" name="Shape 230"/>
          <p:cNvSpPr/>
          <p:nvPr/>
        </p:nvSpPr>
        <p:spPr>
          <a:xfrm>
            <a:off x="7409200" y="5380417"/>
            <a:ext cx="1374124" cy="297046"/>
          </a:xfrm>
          <a:prstGeom prst="rect">
            <a:avLst/>
          </a:prstGeom>
          <a:solidFill>
            <a:srgbClr val="FFFFFF"/>
          </a:solidFill>
          <a:ln/>
        </p:spPr>
        <p:txBody>
          <a:bodyPr/>
          <a:lstStyle/>
          <a:p>
            <a:endParaRPr lang="ko-KR" altLang="en-US"/>
          </a:p>
        </p:txBody>
      </p:sp>
      <p:sp>
        <p:nvSpPr>
          <p:cNvPr id="234" name="Shape 231"/>
          <p:cNvSpPr/>
          <p:nvPr/>
        </p:nvSpPr>
        <p:spPr>
          <a:xfrm>
            <a:off x="7409200" y="5380417"/>
            <a:ext cx="1374124" cy="9525"/>
          </a:xfrm>
          <a:prstGeom prst="rect">
            <a:avLst/>
          </a:prstGeom>
          <a:solidFill>
            <a:srgbClr val="D3B9A5"/>
          </a:solidFill>
          <a:ln/>
        </p:spPr>
        <p:txBody>
          <a:bodyPr/>
          <a:lstStyle/>
          <a:p>
            <a:endParaRPr lang="ko-KR" altLang="en-US"/>
          </a:p>
        </p:txBody>
      </p:sp>
      <p:sp>
        <p:nvSpPr>
          <p:cNvPr id="235" name="Shape 232"/>
          <p:cNvSpPr/>
          <p:nvPr/>
        </p:nvSpPr>
        <p:spPr>
          <a:xfrm>
            <a:off x="7409200" y="5380417"/>
            <a:ext cx="9525" cy="297046"/>
          </a:xfrm>
          <a:prstGeom prst="rect">
            <a:avLst/>
          </a:prstGeom>
          <a:solidFill>
            <a:srgbClr val="D3B9A5"/>
          </a:solidFill>
          <a:ln/>
        </p:spPr>
        <p:txBody>
          <a:bodyPr/>
          <a:lstStyle/>
          <a:p>
            <a:endParaRPr lang="ko-KR" altLang="en-US"/>
          </a:p>
        </p:txBody>
      </p:sp>
      <p:sp>
        <p:nvSpPr>
          <p:cNvPr id="236" name="Text 233"/>
          <p:cNvSpPr/>
          <p:nvPr/>
        </p:nvSpPr>
        <p:spPr>
          <a:xfrm>
            <a:off x="7433467" y="5414209"/>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남성</a:t>
            </a:r>
            <a:endParaRPr lang="en-US" sz="1013" dirty="0"/>
          </a:p>
        </p:txBody>
      </p:sp>
      <p:sp>
        <p:nvSpPr>
          <p:cNvPr id="237" name="Shape 234"/>
          <p:cNvSpPr/>
          <p:nvPr/>
        </p:nvSpPr>
        <p:spPr>
          <a:xfrm>
            <a:off x="8783324" y="5380417"/>
            <a:ext cx="1374613" cy="297046"/>
          </a:xfrm>
          <a:prstGeom prst="rect">
            <a:avLst/>
          </a:prstGeom>
          <a:solidFill>
            <a:srgbClr val="FFFFFF"/>
          </a:solidFill>
          <a:ln/>
        </p:spPr>
        <p:txBody>
          <a:bodyPr/>
          <a:lstStyle/>
          <a:p>
            <a:endParaRPr lang="ko-KR" altLang="en-US"/>
          </a:p>
        </p:txBody>
      </p:sp>
      <p:sp>
        <p:nvSpPr>
          <p:cNvPr id="238" name="Shape 235"/>
          <p:cNvSpPr/>
          <p:nvPr/>
        </p:nvSpPr>
        <p:spPr>
          <a:xfrm>
            <a:off x="8783324" y="5380417"/>
            <a:ext cx="1374613" cy="9525"/>
          </a:xfrm>
          <a:prstGeom prst="rect">
            <a:avLst/>
          </a:prstGeom>
          <a:solidFill>
            <a:srgbClr val="D3B9A5"/>
          </a:solidFill>
          <a:ln/>
        </p:spPr>
        <p:txBody>
          <a:bodyPr/>
          <a:lstStyle/>
          <a:p>
            <a:endParaRPr lang="ko-KR" altLang="en-US"/>
          </a:p>
        </p:txBody>
      </p:sp>
      <p:sp>
        <p:nvSpPr>
          <p:cNvPr id="239" name="Shape 236"/>
          <p:cNvSpPr/>
          <p:nvPr/>
        </p:nvSpPr>
        <p:spPr>
          <a:xfrm>
            <a:off x="8783324" y="5380417"/>
            <a:ext cx="9525" cy="297046"/>
          </a:xfrm>
          <a:prstGeom prst="rect">
            <a:avLst/>
          </a:prstGeom>
          <a:solidFill>
            <a:srgbClr val="D3B9A5"/>
          </a:solidFill>
          <a:ln/>
        </p:spPr>
        <p:txBody>
          <a:bodyPr/>
          <a:lstStyle/>
          <a:p>
            <a:endParaRPr lang="ko-KR" altLang="en-US"/>
          </a:p>
        </p:txBody>
      </p:sp>
      <p:sp>
        <p:nvSpPr>
          <p:cNvPr id="240" name="Text 237"/>
          <p:cNvSpPr/>
          <p:nvPr/>
        </p:nvSpPr>
        <p:spPr>
          <a:xfrm>
            <a:off x="8807591" y="5414209"/>
            <a:ext cx="1331296"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여성</a:t>
            </a:r>
            <a:endParaRPr lang="en-US" sz="1013" dirty="0"/>
          </a:p>
        </p:txBody>
      </p:sp>
      <p:sp>
        <p:nvSpPr>
          <p:cNvPr id="241" name="Shape 238"/>
          <p:cNvSpPr/>
          <p:nvPr/>
        </p:nvSpPr>
        <p:spPr>
          <a:xfrm>
            <a:off x="538580" y="5677463"/>
            <a:ext cx="1374124" cy="297046"/>
          </a:xfrm>
          <a:prstGeom prst="rect">
            <a:avLst/>
          </a:prstGeom>
          <a:solidFill>
            <a:srgbClr val="FCF4EE"/>
          </a:solidFill>
          <a:ln/>
        </p:spPr>
        <p:txBody>
          <a:bodyPr/>
          <a:lstStyle/>
          <a:p>
            <a:endParaRPr lang="ko-KR" altLang="en-US"/>
          </a:p>
        </p:txBody>
      </p:sp>
      <p:sp>
        <p:nvSpPr>
          <p:cNvPr id="242" name="Shape 239"/>
          <p:cNvSpPr/>
          <p:nvPr/>
        </p:nvSpPr>
        <p:spPr>
          <a:xfrm>
            <a:off x="538580" y="5677463"/>
            <a:ext cx="1374124" cy="9525"/>
          </a:xfrm>
          <a:prstGeom prst="rect">
            <a:avLst/>
          </a:prstGeom>
          <a:solidFill>
            <a:srgbClr val="D3B9A5"/>
          </a:solidFill>
          <a:ln/>
        </p:spPr>
        <p:txBody>
          <a:bodyPr/>
          <a:lstStyle/>
          <a:p>
            <a:endParaRPr lang="ko-KR" altLang="en-US"/>
          </a:p>
        </p:txBody>
      </p:sp>
      <p:sp>
        <p:nvSpPr>
          <p:cNvPr id="243" name="Text 240"/>
          <p:cNvSpPr/>
          <p:nvPr/>
        </p:nvSpPr>
        <p:spPr>
          <a:xfrm>
            <a:off x="557630" y="5711255"/>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표준체</a:t>
            </a:r>
            <a:endParaRPr lang="en-US" sz="1013" dirty="0"/>
          </a:p>
        </p:txBody>
      </p:sp>
      <p:sp>
        <p:nvSpPr>
          <p:cNvPr id="244" name="Shape 241"/>
          <p:cNvSpPr/>
          <p:nvPr/>
        </p:nvSpPr>
        <p:spPr>
          <a:xfrm>
            <a:off x="1912704" y="5677463"/>
            <a:ext cx="1374124" cy="297046"/>
          </a:xfrm>
          <a:prstGeom prst="rect">
            <a:avLst/>
          </a:prstGeom>
          <a:solidFill>
            <a:srgbClr val="F8E1D0"/>
          </a:solidFill>
          <a:ln/>
        </p:spPr>
        <p:txBody>
          <a:bodyPr/>
          <a:lstStyle/>
          <a:p>
            <a:endParaRPr lang="ko-KR" altLang="en-US"/>
          </a:p>
        </p:txBody>
      </p:sp>
      <p:sp>
        <p:nvSpPr>
          <p:cNvPr id="245" name="Shape 242"/>
          <p:cNvSpPr/>
          <p:nvPr/>
        </p:nvSpPr>
        <p:spPr>
          <a:xfrm>
            <a:off x="1912704" y="5677463"/>
            <a:ext cx="1374124" cy="9525"/>
          </a:xfrm>
          <a:prstGeom prst="rect">
            <a:avLst/>
          </a:prstGeom>
          <a:solidFill>
            <a:srgbClr val="D3B9A5"/>
          </a:solidFill>
          <a:ln/>
        </p:spPr>
        <p:txBody>
          <a:bodyPr/>
          <a:lstStyle/>
          <a:p>
            <a:endParaRPr lang="ko-KR" altLang="en-US"/>
          </a:p>
        </p:txBody>
      </p:sp>
      <p:sp>
        <p:nvSpPr>
          <p:cNvPr id="246" name="Shape 243"/>
          <p:cNvSpPr/>
          <p:nvPr/>
        </p:nvSpPr>
        <p:spPr>
          <a:xfrm>
            <a:off x="1912704" y="5677463"/>
            <a:ext cx="9525" cy="297046"/>
          </a:xfrm>
          <a:prstGeom prst="rect">
            <a:avLst/>
          </a:prstGeom>
          <a:solidFill>
            <a:srgbClr val="D3B9A5"/>
          </a:solidFill>
          <a:ln/>
        </p:spPr>
        <p:txBody>
          <a:bodyPr/>
          <a:lstStyle/>
          <a:p>
            <a:endParaRPr lang="ko-KR" altLang="en-US"/>
          </a:p>
        </p:txBody>
      </p:sp>
      <p:sp>
        <p:nvSpPr>
          <p:cNvPr id="247" name="Text 244"/>
          <p:cNvSpPr/>
          <p:nvPr/>
        </p:nvSpPr>
        <p:spPr>
          <a:xfrm>
            <a:off x="1936971" y="5711255"/>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47,662</a:t>
            </a:r>
            <a:endParaRPr lang="en-US" sz="1013" dirty="0"/>
          </a:p>
        </p:txBody>
      </p:sp>
      <p:sp>
        <p:nvSpPr>
          <p:cNvPr id="248" name="Shape 245"/>
          <p:cNvSpPr/>
          <p:nvPr/>
        </p:nvSpPr>
        <p:spPr>
          <a:xfrm>
            <a:off x="3286828" y="5677463"/>
            <a:ext cx="1374124" cy="297046"/>
          </a:xfrm>
          <a:prstGeom prst="rect">
            <a:avLst/>
          </a:prstGeom>
          <a:solidFill>
            <a:srgbClr val="F8E1D0"/>
          </a:solidFill>
          <a:ln/>
        </p:spPr>
        <p:txBody>
          <a:bodyPr/>
          <a:lstStyle/>
          <a:p>
            <a:endParaRPr lang="ko-KR" altLang="en-US"/>
          </a:p>
        </p:txBody>
      </p:sp>
      <p:sp>
        <p:nvSpPr>
          <p:cNvPr id="249" name="Shape 246"/>
          <p:cNvSpPr/>
          <p:nvPr/>
        </p:nvSpPr>
        <p:spPr>
          <a:xfrm>
            <a:off x="3286828" y="5677463"/>
            <a:ext cx="1374124" cy="9525"/>
          </a:xfrm>
          <a:prstGeom prst="rect">
            <a:avLst/>
          </a:prstGeom>
          <a:solidFill>
            <a:srgbClr val="D3B9A5"/>
          </a:solidFill>
          <a:ln/>
        </p:spPr>
        <p:txBody>
          <a:bodyPr/>
          <a:lstStyle/>
          <a:p>
            <a:endParaRPr lang="ko-KR" altLang="en-US"/>
          </a:p>
        </p:txBody>
      </p:sp>
      <p:sp>
        <p:nvSpPr>
          <p:cNvPr id="250" name="Shape 247"/>
          <p:cNvSpPr/>
          <p:nvPr/>
        </p:nvSpPr>
        <p:spPr>
          <a:xfrm>
            <a:off x="3286828" y="5677463"/>
            <a:ext cx="9525" cy="297046"/>
          </a:xfrm>
          <a:prstGeom prst="rect">
            <a:avLst/>
          </a:prstGeom>
          <a:solidFill>
            <a:srgbClr val="D3B9A5"/>
          </a:solidFill>
          <a:ln/>
        </p:spPr>
        <p:txBody>
          <a:bodyPr/>
          <a:lstStyle/>
          <a:p>
            <a:endParaRPr lang="ko-KR" altLang="en-US"/>
          </a:p>
        </p:txBody>
      </p:sp>
      <p:sp>
        <p:nvSpPr>
          <p:cNvPr id="251" name="Text 248"/>
          <p:cNvSpPr/>
          <p:nvPr/>
        </p:nvSpPr>
        <p:spPr>
          <a:xfrm>
            <a:off x="3311095" y="5711255"/>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27,546</a:t>
            </a:r>
            <a:endParaRPr lang="en-US" sz="1013" dirty="0"/>
          </a:p>
        </p:txBody>
      </p:sp>
      <p:sp>
        <p:nvSpPr>
          <p:cNvPr id="252" name="Shape 249"/>
          <p:cNvSpPr/>
          <p:nvPr/>
        </p:nvSpPr>
        <p:spPr>
          <a:xfrm>
            <a:off x="4660952" y="5677463"/>
            <a:ext cx="1374124" cy="297046"/>
          </a:xfrm>
          <a:prstGeom prst="rect">
            <a:avLst/>
          </a:prstGeom>
          <a:solidFill>
            <a:srgbClr val="FFFFFF"/>
          </a:solidFill>
          <a:ln/>
        </p:spPr>
        <p:txBody>
          <a:bodyPr/>
          <a:lstStyle/>
          <a:p>
            <a:endParaRPr lang="ko-KR" altLang="en-US"/>
          </a:p>
        </p:txBody>
      </p:sp>
      <p:sp>
        <p:nvSpPr>
          <p:cNvPr id="253" name="Shape 250"/>
          <p:cNvSpPr/>
          <p:nvPr/>
        </p:nvSpPr>
        <p:spPr>
          <a:xfrm>
            <a:off x="4660952" y="5677463"/>
            <a:ext cx="1374124" cy="9525"/>
          </a:xfrm>
          <a:prstGeom prst="rect">
            <a:avLst/>
          </a:prstGeom>
          <a:solidFill>
            <a:srgbClr val="D3B9A5"/>
          </a:solidFill>
          <a:ln/>
        </p:spPr>
        <p:txBody>
          <a:bodyPr/>
          <a:lstStyle/>
          <a:p>
            <a:endParaRPr lang="ko-KR" altLang="en-US"/>
          </a:p>
        </p:txBody>
      </p:sp>
      <p:sp>
        <p:nvSpPr>
          <p:cNvPr id="254" name="Shape 251"/>
          <p:cNvSpPr/>
          <p:nvPr/>
        </p:nvSpPr>
        <p:spPr>
          <a:xfrm>
            <a:off x="4660952" y="5677463"/>
            <a:ext cx="9525" cy="297046"/>
          </a:xfrm>
          <a:prstGeom prst="rect">
            <a:avLst/>
          </a:prstGeom>
          <a:solidFill>
            <a:srgbClr val="D3B9A5"/>
          </a:solidFill>
          <a:ln/>
        </p:spPr>
        <p:txBody>
          <a:bodyPr/>
          <a:lstStyle/>
          <a:p>
            <a:endParaRPr lang="ko-KR" altLang="en-US"/>
          </a:p>
        </p:txBody>
      </p:sp>
      <p:sp>
        <p:nvSpPr>
          <p:cNvPr id="255" name="Text 252"/>
          <p:cNvSpPr/>
          <p:nvPr/>
        </p:nvSpPr>
        <p:spPr>
          <a:xfrm>
            <a:off x="4685219" y="5711255"/>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63,627</a:t>
            </a:r>
            <a:endParaRPr lang="en-US" sz="1013" dirty="0"/>
          </a:p>
        </p:txBody>
      </p:sp>
      <p:sp>
        <p:nvSpPr>
          <p:cNvPr id="256" name="Shape 253"/>
          <p:cNvSpPr/>
          <p:nvPr/>
        </p:nvSpPr>
        <p:spPr>
          <a:xfrm>
            <a:off x="6035076" y="5677463"/>
            <a:ext cx="1374124" cy="297046"/>
          </a:xfrm>
          <a:prstGeom prst="rect">
            <a:avLst/>
          </a:prstGeom>
          <a:solidFill>
            <a:srgbClr val="FFFFFF"/>
          </a:solidFill>
          <a:ln/>
        </p:spPr>
        <p:txBody>
          <a:bodyPr/>
          <a:lstStyle/>
          <a:p>
            <a:endParaRPr lang="ko-KR" altLang="en-US"/>
          </a:p>
        </p:txBody>
      </p:sp>
      <p:sp>
        <p:nvSpPr>
          <p:cNvPr id="257" name="Shape 254"/>
          <p:cNvSpPr/>
          <p:nvPr/>
        </p:nvSpPr>
        <p:spPr>
          <a:xfrm>
            <a:off x="6035076" y="5677463"/>
            <a:ext cx="1374124" cy="9525"/>
          </a:xfrm>
          <a:prstGeom prst="rect">
            <a:avLst/>
          </a:prstGeom>
          <a:solidFill>
            <a:srgbClr val="D3B9A5"/>
          </a:solidFill>
          <a:ln/>
        </p:spPr>
        <p:txBody>
          <a:bodyPr/>
          <a:lstStyle/>
          <a:p>
            <a:endParaRPr lang="ko-KR" altLang="en-US"/>
          </a:p>
        </p:txBody>
      </p:sp>
      <p:sp>
        <p:nvSpPr>
          <p:cNvPr id="258" name="Shape 255"/>
          <p:cNvSpPr/>
          <p:nvPr/>
        </p:nvSpPr>
        <p:spPr>
          <a:xfrm>
            <a:off x="6035076" y="5677463"/>
            <a:ext cx="9525" cy="297046"/>
          </a:xfrm>
          <a:prstGeom prst="rect">
            <a:avLst/>
          </a:prstGeom>
          <a:solidFill>
            <a:srgbClr val="D3B9A5"/>
          </a:solidFill>
          <a:ln/>
        </p:spPr>
        <p:txBody>
          <a:bodyPr/>
          <a:lstStyle/>
          <a:p>
            <a:endParaRPr lang="ko-KR" altLang="en-US"/>
          </a:p>
        </p:txBody>
      </p:sp>
      <p:sp>
        <p:nvSpPr>
          <p:cNvPr id="259" name="Text 256"/>
          <p:cNvSpPr/>
          <p:nvPr/>
        </p:nvSpPr>
        <p:spPr>
          <a:xfrm>
            <a:off x="6059343" y="5711255"/>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39,925</a:t>
            </a:r>
            <a:endParaRPr lang="en-US" sz="1013" dirty="0"/>
          </a:p>
        </p:txBody>
      </p:sp>
      <p:sp>
        <p:nvSpPr>
          <p:cNvPr id="260" name="Shape 257"/>
          <p:cNvSpPr/>
          <p:nvPr/>
        </p:nvSpPr>
        <p:spPr>
          <a:xfrm>
            <a:off x="7409200" y="5677463"/>
            <a:ext cx="1374124" cy="297046"/>
          </a:xfrm>
          <a:prstGeom prst="rect">
            <a:avLst/>
          </a:prstGeom>
          <a:solidFill>
            <a:srgbClr val="FFFFFF"/>
          </a:solidFill>
          <a:ln/>
        </p:spPr>
        <p:txBody>
          <a:bodyPr/>
          <a:lstStyle/>
          <a:p>
            <a:endParaRPr lang="ko-KR" altLang="en-US"/>
          </a:p>
        </p:txBody>
      </p:sp>
      <p:sp>
        <p:nvSpPr>
          <p:cNvPr id="261" name="Shape 258"/>
          <p:cNvSpPr/>
          <p:nvPr/>
        </p:nvSpPr>
        <p:spPr>
          <a:xfrm>
            <a:off x="7409200" y="5677463"/>
            <a:ext cx="1374124" cy="9525"/>
          </a:xfrm>
          <a:prstGeom prst="rect">
            <a:avLst/>
          </a:prstGeom>
          <a:solidFill>
            <a:srgbClr val="D3B9A5"/>
          </a:solidFill>
          <a:ln/>
        </p:spPr>
        <p:txBody>
          <a:bodyPr/>
          <a:lstStyle/>
          <a:p>
            <a:endParaRPr lang="ko-KR" altLang="en-US"/>
          </a:p>
        </p:txBody>
      </p:sp>
      <p:sp>
        <p:nvSpPr>
          <p:cNvPr id="262" name="Shape 259"/>
          <p:cNvSpPr/>
          <p:nvPr/>
        </p:nvSpPr>
        <p:spPr>
          <a:xfrm>
            <a:off x="7409200" y="5677463"/>
            <a:ext cx="9525" cy="297046"/>
          </a:xfrm>
          <a:prstGeom prst="rect">
            <a:avLst/>
          </a:prstGeom>
          <a:solidFill>
            <a:srgbClr val="D3B9A5"/>
          </a:solidFill>
          <a:ln/>
        </p:spPr>
        <p:txBody>
          <a:bodyPr/>
          <a:lstStyle/>
          <a:p>
            <a:endParaRPr lang="ko-KR" altLang="en-US"/>
          </a:p>
        </p:txBody>
      </p:sp>
      <p:sp>
        <p:nvSpPr>
          <p:cNvPr id="263" name="Text 260"/>
          <p:cNvSpPr/>
          <p:nvPr/>
        </p:nvSpPr>
        <p:spPr>
          <a:xfrm>
            <a:off x="7433467" y="5711255"/>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49,997</a:t>
            </a:r>
            <a:endParaRPr lang="en-US" sz="1013" dirty="0"/>
          </a:p>
        </p:txBody>
      </p:sp>
      <p:sp>
        <p:nvSpPr>
          <p:cNvPr id="264" name="Shape 261"/>
          <p:cNvSpPr/>
          <p:nvPr/>
        </p:nvSpPr>
        <p:spPr>
          <a:xfrm>
            <a:off x="8783324" y="5677463"/>
            <a:ext cx="1374613" cy="297046"/>
          </a:xfrm>
          <a:prstGeom prst="rect">
            <a:avLst/>
          </a:prstGeom>
          <a:solidFill>
            <a:srgbClr val="FFFFFF"/>
          </a:solidFill>
          <a:ln/>
        </p:spPr>
        <p:txBody>
          <a:bodyPr/>
          <a:lstStyle/>
          <a:p>
            <a:endParaRPr lang="ko-KR" altLang="en-US"/>
          </a:p>
        </p:txBody>
      </p:sp>
      <p:sp>
        <p:nvSpPr>
          <p:cNvPr id="265" name="Shape 262"/>
          <p:cNvSpPr/>
          <p:nvPr/>
        </p:nvSpPr>
        <p:spPr>
          <a:xfrm>
            <a:off x="8783324" y="5677463"/>
            <a:ext cx="1374613" cy="9525"/>
          </a:xfrm>
          <a:prstGeom prst="rect">
            <a:avLst/>
          </a:prstGeom>
          <a:solidFill>
            <a:srgbClr val="D3B9A5"/>
          </a:solidFill>
          <a:ln/>
        </p:spPr>
        <p:txBody>
          <a:bodyPr/>
          <a:lstStyle/>
          <a:p>
            <a:endParaRPr lang="ko-KR" altLang="en-US"/>
          </a:p>
        </p:txBody>
      </p:sp>
      <p:sp>
        <p:nvSpPr>
          <p:cNvPr id="266" name="Shape 263"/>
          <p:cNvSpPr/>
          <p:nvPr/>
        </p:nvSpPr>
        <p:spPr>
          <a:xfrm>
            <a:off x="8783324" y="5677463"/>
            <a:ext cx="9525" cy="297046"/>
          </a:xfrm>
          <a:prstGeom prst="rect">
            <a:avLst/>
          </a:prstGeom>
          <a:solidFill>
            <a:srgbClr val="D3B9A5"/>
          </a:solidFill>
          <a:ln/>
        </p:spPr>
        <p:txBody>
          <a:bodyPr/>
          <a:lstStyle/>
          <a:p>
            <a:endParaRPr lang="ko-KR" altLang="en-US"/>
          </a:p>
        </p:txBody>
      </p:sp>
      <p:sp>
        <p:nvSpPr>
          <p:cNvPr id="267" name="Text 264"/>
          <p:cNvSpPr/>
          <p:nvPr/>
        </p:nvSpPr>
        <p:spPr>
          <a:xfrm>
            <a:off x="8807591" y="5711255"/>
            <a:ext cx="1331296"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32,191</a:t>
            </a:r>
            <a:endParaRPr lang="en-US" sz="1013" dirty="0"/>
          </a:p>
        </p:txBody>
      </p:sp>
      <p:sp>
        <p:nvSpPr>
          <p:cNvPr id="268" name="Shape 265"/>
          <p:cNvSpPr/>
          <p:nvPr/>
        </p:nvSpPr>
        <p:spPr>
          <a:xfrm>
            <a:off x="538580" y="5974509"/>
            <a:ext cx="1374124" cy="297046"/>
          </a:xfrm>
          <a:prstGeom prst="rect">
            <a:avLst/>
          </a:prstGeom>
          <a:solidFill>
            <a:srgbClr val="FCF4EE"/>
          </a:solidFill>
          <a:ln/>
        </p:spPr>
        <p:txBody>
          <a:bodyPr/>
          <a:lstStyle/>
          <a:p>
            <a:endParaRPr lang="ko-KR" altLang="en-US"/>
          </a:p>
        </p:txBody>
      </p:sp>
      <p:sp>
        <p:nvSpPr>
          <p:cNvPr id="269" name="Shape 266"/>
          <p:cNvSpPr/>
          <p:nvPr/>
        </p:nvSpPr>
        <p:spPr>
          <a:xfrm>
            <a:off x="538580" y="5974509"/>
            <a:ext cx="1374124" cy="9525"/>
          </a:xfrm>
          <a:prstGeom prst="rect">
            <a:avLst/>
          </a:prstGeom>
          <a:solidFill>
            <a:srgbClr val="D3B9A5"/>
          </a:solidFill>
          <a:ln/>
        </p:spPr>
        <p:txBody>
          <a:bodyPr/>
          <a:lstStyle/>
          <a:p>
            <a:endParaRPr lang="ko-KR" altLang="en-US"/>
          </a:p>
        </p:txBody>
      </p:sp>
      <p:sp>
        <p:nvSpPr>
          <p:cNvPr id="270" name="Text 267"/>
          <p:cNvSpPr/>
          <p:nvPr/>
        </p:nvSpPr>
        <p:spPr>
          <a:xfrm>
            <a:off x="557630" y="6008301"/>
            <a:ext cx="1336024"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355</a:t>
            </a:r>
            <a:endParaRPr lang="en-US" sz="1013" dirty="0"/>
          </a:p>
        </p:txBody>
      </p:sp>
      <p:sp>
        <p:nvSpPr>
          <p:cNvPr id="271" name="Shape 268"/>
          <p:cNvSpPr/>
          <p:nvPr/>
        </p:nvSpPr>
        <p:spPr>
          <a:xfrm>
            <a:off x="1912704" y="5974509"/>
            <a:ext cx="1374124" cy="297046"/>
          </a:xfrm>
          <a:prstGeom prst="rect">
            <a:avLst/>
          </a:prstGeom>
          <a:solidFill>
            <a:srgbClr val="F8E1D0"/>
          </a:solidFill>
          <a:ln/>
        </p:spPr>
        <p:txBody>
          <a:bodyPr/>
          <a:lstStyle/>
          <a:p>
            <a:endParaRPr lang="ko-KR" altLang="en-US"/>
          </a:p>
        </p:txBody>
      </p:sp>
      <p:sp>
        <p:nvSpPr>
          <p:cNvPr id="272" name="Shape 269"/>
          <p:cNvSpPr/>
          <p:nvPr/>
        </p:nvSpPr>
        <p:spPr>
          <a:xfrm>
            <a:off x="1912704" y="5974509"/>
            <a:ext cx="1374124" cy="9525"/>
          </a:xfrm>
          <a:prstGeom prst="rect">
            <a:avLst/>
          </a:prstGeom>
          <a:solidFill>
            <a:srgbClr val="D3B9A5"/>
          </a:solidFill>
          <a:ln/>
        </p:spPr>
        <p:txBody>
          <a:bodyPr/>
          <a:lstStyle/>
          <a:p>
            <a:endParaRPr lang="ko-KR" altLang="en-US"/>
          </a:p>
        </p:txBody>
      </p:sp>
      <p:sp>
        <p:nvSpPr>
          <p:cNvPr id="273" name="Shape 270"/>
          <p:cNvSpPr/>
          <p:nvPr/>
        </p:nvSpPr>
        <p:spPr>
          <a:xfrm>
            <a:off x="1912704" y="5974509"/>
            <a:ext cx="9525" cy="297046"/>
          </a:xfrm>
          <a:prstGeom prst="rect">
            <a:avLst/>
          </a:prstGeom>
          <a:solidFill>
            <a:srgbClr val="D3B9A5"/>
          </a:solidFill>
          <a:ln/>
        </p:spPr>
        <p:txBody>
          <a:bodyPr/>
          <a:lstStyle/>
          <a:p>
            <a:endParaRPr lang="ko-KR" altLang="en-US"/>
          </a:p>
        </p:txBody>
      </p:sp>
      <p:sp>
        <p:nvSpPr>
          <p:cNvPr id="274" name="Text 271"/>
          <p:cNvSpPr/>
          <p:nvPr/>
        </p:nvSpPr>
        <p:spPr>
          <a:xfrm>
            <a:off x="1936971" y="6008301"/>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57,714</a:t>
            </a:r>
            <a:endParaRPr lang="en-US" sz="1013" dirty="0"/>
          </a:p>
        </p:txBody>
      </p:sp>
      <p:sp>
        <p:nvSpPr>
          <p:cNvPr id="275" name="Shape 272"/>
          <p:cNvSpPr/>
          <p:nvPr/>
        </p:nvSpPr>
        <p:spPr>
          <a:xfrm>
            <a:off x="3286828" y="5974509"/>
            <a:ext cx="1374124" cy="297046"/>
          </a:xfrm>
          <a:prstGeom prst="rect">
            <a:avLst/>
          </a:prstGeom>
          <a:solidFill>
            <a:srgbClr val="F8E1D0"/>
          </a:solidFill>
          <a:ln/>
        </p:spPr>
        <p:txBody>
          <a:bodyPr/>
          <a:lstStyle/>
          <a:p>
            <a:endParaRPr lang="ko-KR" altLang="en-US"/>
          </a:p>
        </p:txBody>
      </p:sp>
      <p:sp>
        <p:nvSpPr>
          <p:cNvPr id="276" name="Shape 273"/>
          <p:cNvSpPr/>
          <p:nvPr/>
        </p:nvSpPr>
        <p:spPr>
          <a:xfrm>
            <a:off x="3286828" y="5974509"/>
            <a:ext cx="1374124" cy="9525"/>
          </a:xfrm>
          <a:prstGeom prst="rect">
            <a:avLst/>
          </a:prstGeom>
          <a:solidFill>
            <a:srgbClr val="D3B9A5"/>
          </a:solidFill>
          <a:ln/>
        </p:spPr>
        <p:txBody>
          <a:bodyPr/>
          <a:lstStyle/>
          <a:p>
            <a:endParaRPr lang="ko-KR" altLang="en-US"/>
          </a:p>
        </p:txBody>
      </p:sp>
      <p:sp>
        <p:nvSpPr>
          <p:cNvPr id="277" name="Shape 274"/>
          <p:cNvSpPr/>
          <p:nvPr/>
        </p:nvSpPr>
        <p:spPr>
          <a:xfrm>
            <a:off x="3286828" y="5974509"/>
            <a:ext cx="9525" cy="297046"/>
          </a:xfrm>
          <a:prstGeom prst="rect">
            <a:avLst/>
          </a:prstGeom>
          <a:solidFill>
            <a:srgbClr val="D3B9A5"/>
          </a:solidFill>
          <a:ln/>
        </p:spPr>
        <p:txBody>
          <a:bodyPr/>
          <a:lstStyle/>
          <a:p>
            <a:endParaRPr lang="ko-KR" altLang="en-US"/>
          </a:p>
        </p:txBody>
      </p:sp>
      <p:sp>
        <p:nvSpPr>
          <p:cNvPr id="278" name="Text 275"/>
          <p:cNvSpPr/>
          <p:nvPr/>
        </p:nvSpPr>
        <p:spPr>
          <a:xfrm>
            <a:off x="3311095" y="6008301"/>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33,649</a:t>
            </a:r>
            <a:endParaRPr lang="en-US" sz="1013" dirty="0"/>
          </a:p>
        </p:txBody>
      </p:sp>
      <p:sp>
        <p:nvSpPr>
          <p:cNvPr id="279" name="Shape 276"/>
          <p:cNvSpPr/>
          <p:nvPr/>
        </p:nvSpPr>
        <p:spPr>
          <a:xfrm>
            <a:off x="4660952" y="5974509"/>
            <a:ext cx="1374124" cy="297046"/>
          </a:xfrm>
          <a:prstGeom prst="rect">
            <a:avLst/>
          </a:prstGeom>
          <a:solidFill>
            <a:srgbClr val="FFFFFF"/>
          </a:solidFill>
          <a:ln/>
        </p:spPr>
        <p:txBody>
          <a:bodyPr/>
          <a:lstStyle/>
          <a:p>
            <a:endParaRPr lang="ko-KR" altLang="en-US"/>
          </a:p>
        </p:txBody>
      </p:sp>
      <p:sp>
        <p:nvSpPr>
          <p:cNvPr id="280" name="Shape 277"/>
          <p:cNvSpPr/>
          <p:nvPr/>
        </p:nvSpPr>
        <p:spPr>
          <a:xfrm>
            <a:off x="4660952" y="5974509"/>
            <a:ext cx="1374124" cy="9525"/>
          </a:xfrm>
          <a:prstGeom prst="rect">
            <a:avLst/>
          </a:prstGeom>
          <a:solidFill>
            <a:srgbClr val="D3B9A5"/>
          </a:solidFill>
          <a:ln/>
        </p:spPr>
        <p:txBody>
          <a:bodyPr/>
          <a:lstStyle/>
          <a:p>
            <a:endParaRPr lang="ko-KR" altLang="en-US"/>
          </a:p>
        </p:txBody>
      </p:sp>
      <p:sp>
        <p:nvSpPr>
          <p:cNvPr id="281" name="Shape 278"/>
          <p:cNvSpPr/>
          <p:nvPr/>
        </p:nvSpPr>
        <p:spPr>
          <a:xfrm>
            <a:off x="4660952" y="5974509"/>
            <a:ext cx="9525" cy="297046"/>
          </a:xfrm>
          <a:prstGeom prst="rect">
            <a:avLst/>
          </a:prstGeom>
          <a:solidFill>
            <a:srgbClr val="D3B9A5"/>
          </a:solidFill>
          <a:ln/>
        </p:spPr>
        <p:txBody>
          <a:bodyPr/>
          <a:lstStyle/>
          <a:p>
            <a:endParaRPr lang="ko-KR" altLang="en-US"/>
          </a:p>
        </p:txBody>
      </p:sp>
      <p:sp>
        <p:nvSpPr>
          <p:cNvPr id="282" name="Text 279"/>
          <p:cNvSpPr/>
          <p:nvPr/>
        </p:nvSpPr>
        <p:spPr>
          <a:xfrm>
            <a:off x="4685219" y="6008301"/>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75,408</a:t>
            </a:r>
            <a:endParaRPr lang="en-US" sz="1013" dirty="0"/>
          </a:p>
        </p:txBody>
      </p:sp>
      <p:sp>
        <p:nvSpPr>
          <p:cNvPr id="283" name="Shape 280"/>
          <p:cNvSpPr/>
          <p:nvPr/>
        </p:nvSpPr>
        <p:spPr>
          <a:xfrm>
            <a:off x="6035076" y="5974509"/>
            <a:ext cx="1374124" cy="297046"/>
          </a:xfrm>
          <a:prstGeom prst="rect">
            <a:avLst/>
          </a:prstGeom>
          <a:solidFill>
            <a:srgbClr val="FFFFFF"/>
          </a:solidFill>
          <a:ln/>
        </p:spPr>
        <p:txBody>
          <a:bodyPr/>
          <a:lstStyle/>
          <a:p>
            <a:endParaRPr lang="ko-KR" altLang="en-US"/>
          </a:p>
        </p:txBody>
      </p:sp>
      <p:sp>
        <p:nvSpPr>
          <p:cNvPr id="284" name="Shape 281"/>
          <p:cNvSpPr/>
          <p:nvPr/>
        </p:nvSpPr>
        <p:spPr>
          <a:xfrm>
            <a:off x="6035076" y="5974509"/>
            <a:ext cx="1374124" cy="9525"/>
          </a:xfrm>
          <a:prstGeom prst="rect">
            <a:avLst/>
          </a:prstGeom>
          <a:solidFill>
            <a:srgbClr val="D3B9A5"/>
          </a:solidFill>
          <a:ln/>
        </p:spPr>
        <p:txBody>
          <a:bodyPr/>
          <a:lstStyle/>
          <a:p>
            <a:endParaRPr lang="ko-KR" altLang="en-US"/>
          </a:p>
        </p:txBody>
      </p:sp>
      <p:sp>
        <p:nvSpPr>
          <p:cNvPr id="285" name="Shape 282"/>
          <p:cNvSpPr/>
          <p:nvPr/>
        </p:nvSpPr>
        <p:spPr>
          <a:xfrm>
            <a:off x="6035076" y="5974509"/>
            <a:ext cx="9525" cy="297046"/>
          </a:xfrm>
          <a:prstGeom prst="rect">
            <a:avLst/>
          </a:prstGeom>
          <a:solidFill>
            <a:srgbClr val="D3B9A5"/>
          </a:solidFill>
          <a:ln/>
        </p:spPr>
        <p:txBody>
          <a:bodyPr/>
          <a:lstStyle/>
          <a:p>
            <a:endParaRPr lang="ko-KR" altLang="en-US"/>
          </a:p>
        </p:txBody>
      </p:sp>
      <p:sp>
        <p:nvSpPr>
          <p:cNvPr id="286" name="Text 283"/>
          <p:cNvSpPr/>
          <p:nvPr/>
        </p:nvSpPr>
        <p:spPr>
          <a:xfrm>
            <a:off x="6059343" y="6008301"/>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43,529</a:t>
            </a:r>
            <a:endParaRPr lang="en-US" sz="1013" dirty="0"/>
          </a:p>
        </p:txBody>
      </p:sp>
      <p:sp>
        <p:nvSpPr>
          <p:cNvPr id="287" name="Shape 284"/>
          <p:cNvSpPr/>
          <p:nvPr/>
        </p:nvSpPr>
        <p:spPr>
          <a:xfrm>
            <a:off x="7409200" y="5974509"/>
            <a:ext cx="1374124" cy="297046"/>
          </a:xfrm>
          <a:prstGeom prst="rect">
            <a:avLst/>
          </a:prstGeom>
          <a:solidFill>
            <a:srgbClr val="FFFFFF"/>
          </a:solidFill>
          <a:ln/>
        </p:spPr>
        <p:txBody>
          <a:bodyPr/>
          <a:lstStyle/>
          <a:p>
            <a:endParaRPr lang="ko-KR" altLang="en-US"/>
          </a:p>
        </p:txBody>
      </p:sp>
      <p:sp>
        <p:nvSpPr>
          <p:cNvPr id="288" name="Shape 285"/>
          <p:cNvSpPr/>
          <p:nvPr/>
        </p:nvSpPr>
        <p:spPr>
          <a:xfrm>
            <a:off x="7409200" y="5974509"/>
            <a:ext cx="1374124" cy="9525"/>
          </a:xfrm>
          <a:prstGeom prst="rect">
            <a:avLst/>
          </a:prstGeom>
          <a:solidFill>
            <a:srgbClr val="D3B9A5"/>
          </a:solidFill>
          <a:ln/>
        </p:spPr>
        <p:txBody>
          <a:bodyPr/>
          <a:lstStyle/>
          <a:p>
            <a:endParaRPr lang="ko-KR" altLang="en-US"/>
          </a:p>
        </p:txBody>
      </p:sp>
      <p:sp>
        <p:nvSpPr>
          <p:cNvPr id="289" name="Shape 286"/>
          <p:cNvSpPr/>
          <p:nvPr/>
        </p:nvSpPr>
        <p:spPr>
          <a:xfrm>
            <a:off x="7409200" y="5974509"/>
            <a:ext cx="9525" cy="297046"/>
          </a:xfrm>
          <a:prstGeom prst="rect">
            <a:avLst/>
          </a:prstGeom>
          <a:solidFill>
            <a:srgbClr val="D3B9A5"/>
          </a:solidFill>
          <a:ln/>
        </p:spPr>
        <p:txBody>
          <a:bodyPr/>
          <a:lstStyle/>
          <a:p>
            <a:endParaRPr lang="ko-KR" altLang="en-US"/>
          </a:p>
        </p:txBody>
      </p:sp>
      <p:sp>
        <p:nvSpPr>
          <p:cNvPr id="290" name="Text 287"/>
          <p:cNvSpPr/>
          <p:nvPr/>
        </p:nvSpPr>
        <p:spPr>
          <a:xfrm>
            <a:off x="7433467" y="6008301"/>
            <a:ext cx="1330807"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56,267</a:t>
            </a:r>
            <a:endParaRPr lang="en-US" sz="1013" dirty="0"/>
          </a:p>
        </p:txBody>
      </p:sp>
      <p:sp>
        <p:nvSpPr>
          <p:cNvPr id="291" name="Shape 288"/>
          <p:cNvSpPr/>
          <p:nvPr/>
        </p:nvSpPr>
        <p:spPr>
          <a:xfrm>
            <a:off x="8783324" y="5974509"/>
            <a:ext cx="1374613" cy="297046"/>
          </a:xfrm>
          <a:prstGeom prst="rect">
            <a:avLst/>
          </a:prstGeom>
          <a:solidFill>
            <a:srgbClr val="FFFFFF"/>
          </a:solidFill>
          <a:ln/>
        </p:spPr>
        <p:txBody>
          <a:bodyPr/>
          <a:lstStyle/>
          <a:p>
            <a:endParaRPr lang="ko-KR" altLang="en-US"/>
          </a:p>
        </p:txBody>
      </p:sp>
      <p:sp>
        <p:nvSpPr>
          <p:cNvPr id="292" name="Shape 289"/>
          <p:cNvSpPr/>
          <p:nvPr/>
        </p:nvSpPr>
        <p:spPr>
          <a:xfrm>
            <a:off x="8783324" y="5974509"/>
            <a:ext cx="1374613" cy="9525"/>
          </a:xfrm>
          <a:prstGeom prst="rect">
            <a:avLst/>
          </a:prstGeom>
          <a:solidFill>
            <a:srgbClr val="D3B9A5"/>
          </a:solidFill>
          <a:ln/>
        </p:spPr>
        <p:txBody>
          <a:bodyPr/>
          <a:lstStyle/>
          <a:p>
            <a:endParaRPr lang="ko-KR" altLang="en-US"/>
          </a:p>
        </p:txBody>
      </p:sp>
      <p:sp>
        <p:nvSpPr>
          <p:cNvPr id="293" name="Shape 290"/>
          <p:cNvSpPr/>
          <p:nvPr/>
        </p:nvSpPr>
        <p:spPr>
          <a:xfrm>
            <a:off x="8783324" y="5974509"/>
            <a:ext cx="9525" cy="297046"/>
          </a:xfrm>
          <a:prstGeom prst="rect">
            <a:avLst/>
          </a:prstGeom>
          <a:solidFill>
            <a:srgbClr val="D3B9A5"/>
          </a:solidFill>
          <a:ln/>
        </p:spPr>
        <p:txBody>
          <a:bodyPr/>
          <a:lstStyle/>
          <a:p>
            <a:endParaRPr lang="ko-KR" altLang="en-US"/>
          </a:p>
        </p:txBody>
      </p:sp>
      <p:sp>
        <p:nvSpPr>
          <p:cNvPr id="294" name="Text 291"/>
          <p:cNvSpPr/>
          <p:nvPr/>
        </p:nvSpPr>
        <p:spPr>
          <a:xfrm>
            <a:off x="8807591" y="6008301"/>
            <a:ext cx="1331296" cy="272779"/>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36,753</a:t>
            </a:r>
            <a:endParaRPr lang="en-US" sz="1013" dirty="0"/>
          </a:p>
        </p:txBody>
      </p:sp>
      <p:sp>
        <p:nvSpPr>
          <p:cNvPr id="295" name="Shape 292"/>
          <p:cNvSpPr/>
          <p:nvPr/>
        </p:nvSpPr>
        <p:spPr>
          <a:xfrm>
            <a:off x="538580" y="6271556"/>
            <a:ext cx="1374124" cy="514532"/>
          </a:xfrm>
          <a:prstGeom prst="rect">
            <a:avLst/>
          </a:prstGeom>
          <a:solidFill>
            <a:srgbClr val="FCF4EE"/>
          </a:solidFill>
          <a:ln/>
        </p:spPr>
        <p:txBody>
          <a:bodyPr/>
          <a:lstStyle/>
          <a:p>
            <a:endParaRPr lang="ko-KR" altLang="en-US"/>
          </a:p>
        </p:txBody>
      </p:sp>
      <p:sp>
        <p:nvSpPr>
          <p:cNvPr id="296" name="Shape 293"/>
          <p:cNvSpPr/>
          <p:nvPr/>
        </p:nvSpPr>
        <p:spPr>
          <a:xfrm>
            <a:off x="538580" y="6271556"/>
            <a:ext cx="1374124" cy="9525"/>
          </a:xfrm>
          <a:prstGeom prst="rect">
            <a:avLst/>
          </a:prstGeom>
          <a:solidFill>
            <a:srgbClr val="D3B9A5"/>
          </a:solidFill>
          <a:ln/>
        </p:spPr>
        <p:txBody>
          <a:bodyPr/>
          <a:lstStyle/>
          <a:p>
            <a:endParaRPr lang="ko-KR" altLang="en-US"/>
          </a:p>
        </p:txBody>
      </p:sp>
      <p:sp>
        <p:nvSpPr>
          <p:cNvPr id="297" name="Text 294"/>
          <p:cNvSpPr/>
          <p:nvPr/>
        </p:nvSpPr>
        <p:spPr>
          <a:xfrm>
            <a:off x="557630" y="6305348"/>
            <a:ext cx="1336024" cy="49026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주요 특징</a:t>
            </a:r>
            <a:endParaRPr lang="en-US" sz="1013" dirty="0"/>
          </a:p>
        </p:txBody>
      </p:sp>
      <p:sp>
        <p:nvSpPr>
          <p:cNvPr id="298" name="Shape 295"/>
          <p:cNvSpPr/>
          <p:nvPr/>
        </p:nvSpPr>
        <p:spPr>
          <a:xfrm>
            <a:off x="1912704" y="6271556"/>
            <a:ext cx="2748248" cy="514532"/>
          </a:xfrm>
          <a:prstGeom prst="rect">
            <a:avLst/>
          </a:prstGeom>
          <a:solidFill>
            <a:srgbClr val="F8E1D0"/>
          </a:solidFill>
          <a:ln/>
        </p:spPr>
        <p:txBody>
          <a:bodyPr/>
          <a:lstStyle/>
          <a:p>
            <a:endParaRPr lang="ko-KR" altLang="en-US"/>
          </a:p>
        </p:txBody>
      </p:sp>
      <p:sp>
        <p:nvSpPr>
          <p:cNvPr id="299" name="Shape 296"/>
          <p:cNvSpPr/>
          <p:nvPr/>
        </p:nvSpPr>
        <p:spPr>
          <a:xfrm>
            <a:off x="1912704" y="6271556"/>
            <a:ext cx="2748248" cy="9525"/>
          </a:xfrm>
          <a:prstGeom prst="rect">
            <a:avLst/>
          </a:prstGeom>
          <a:solidFill>
            <a:srgbClr val="D3B9A5"/>
          </a:solidFill>
          <a:ln/>
        </p:spPr>
        <p:txBody>
          <a:bodyPr/>
          <a:lstStyle/>
          <a:p>
            <a:endParaRPr lang="ko-KR" altLang="en-US"/>
          </a:p>
        </p:txBody>
      </p:sp>
      <p:sp>
        <p:nvSpPr>
          <p:cNvPr id="300" name="Shape 297"/>
          <p:cNvSpPr/>
          <p:nvPr/>
        </p:nvSpPr>
        <p:spPr>
          <a:xfrm>
            <a:off x="1912704" y="6271556"/>
            <a:ext cx="9525" cy="514532"/>
          </a:xfrm>
          <a:prstGeom prst="rect">
            <a:avLst/>
          </a:prstGeom>
          <a:solidFill>
            <a:srgbClr val="D3B9A5"/>
          </a:solidFill>
          <a:ln/>
        </p:spPr>
        <p:txBody>
          <a:bodyPr/>
          <a:lstStyle/>
          <a:p>
            <a:endParaRPr lang="ko-KR" altLang="en-US"/>
          </a:p>
        </p:txBody>
      </p:sp>
      <p:sp>
        <p:nvSpPr>
          <p:cNvPr id="301" name="Text 298"/>
          <p:cNvSpPr/>
          <p:nvPr/>
        </p:nvSpPr>
        <p:spPr>
          <a:xfrm>
            <a:off x="1933847" y="6305348"/>
            <a:ext cx="2711179" cy="49026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수술, 혈전용해, 제거 등 압도적 보장금액 &amp; 가성비</a:t>
            </a:r>
            <a:endParaRPr lang="en-US" sz="1013" dirty="0"/>
          </a:p>
        </p:txBody>
      </p:sp>
      <p:sp>
        <p:nvSpPr>
          <p:cNvPr id="302" name="Shape 299"/>
          <p:cNvSpPr/>
          <p:nvPr/>
        </p:nvSpPr>
        <p:spPr>
          <a:xfrm>
            <a:off x="4660952" y="6271556"/>
            <a:ext cx="2748248" cy="514532"/>
          </a:xfrm>
          <a:prstGeom prst="rect">
            <a:avLst/>
          </a:prstGeom>
          <a:solidFill>
            <a:srgbClr val="FFFFFF"/>
          </a:solidFill>
          <a:ln/>
        </p:spPr>
        <p:txBody>
          <a:bodyPr/>
          <a:lstStyle/>
          <a:p>
            <a:endParaRPr lang="ko-KR" altLang="en-US"/>
          </a:p>
        </p:txBody>
      </p:sp>
      <p:sp>
        <p:nvSpPr>
          <p:cNvPr id="303" name="Shape 300"/>
          <p:cNvSpPr/>
          <p:nvPr/>
        </p:nvSpPr>
        <p:spPr>
          <a:xfrm>
            <a:off x="4660952" y="6271556"/>
            <a:ext cx="2748248" cy="9525"/>
          </a:xfrm>
          <a:prstGeom prst="rect">
            <a:avLst/>
          </a:prstGeom>
          <a:solidFill>
            <a:srgbClr val="D3B9A5"/>
          </a:solidFill>
          <a:ln/>
        </p:spPr>
        <p:txBody>
          <a:bodyPr/>
          <a:lstStyle/>
          <a:p>
            <a:endParaRPr lang="ko-KR" altLang="en-US"/>
          </a:p>
        </p:txBody>
      </p:sp>
      <p:sp>
        <p:nvSpPr>
          <p:cNvPr id="304" name="Shape 301"/>
          <p:cNvSpPr/>
          <p:nvPr/>
        </p:nvSpPr>
        <p:spPr>
          <a:xfrm>
            <a:off x="4660952" y="6271556"/>
            <a:ext cx="9525" cy="514532"/>
          </a:xfrm>
          <a:prstGeom prst="rect">
            <a:avLst/>
          </a:prstGeom>
          <a:solidFill>
            <a:srgbClr val="D3B9A5"/>
          </a:solidFill>
          <a:ln/>
        </p:spPr>
        <p:txBody>
          <a:bodyPr/>
          <a:lstStyle/>
          <a:p>
            <a:endParaRPr lang="ko-KR" altLang="en-US"/>
          </a:p>
        </p:txBody>
      </p:sp>
      <p:sp>
        <p:nvSpPr>
          <p:cNvPr id="305" name="Text 302"/>
          <p:cNvSpPr/>
          <p:nvPr/>
        </p:nvSpPr>
        <p:spPr>
          <a:xfrm>
            <a:off x="4682095" y="6305348"/>
            <a:ext cx="2711179" cy="49026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검사비 및 재활치료 특화</a:t>
            </a:r>
            <a:endParaRPr lang="en-US" sz="1013" dirty="0"/>
          </a:p>
        </p:txBody>
      </p:sp>
      <p:sp>
        <p:nvSpPr>
          <p:cNvPr id="306" name="Shape 303"/>
          <p:cNvSpPr/>
          <p:nvPr/>
        </p:nvSpPr>
        <p:spPr>
          <a:xfrm>
            <a:off x="7409200" y="6271556"/>
            <a:ext cx="2748737" cy="514532"/>
          </a:xfrm>
          <a:prstGeom prst="rect">
            <a:avLst/>
          </a:prstGeom>
          <a:solidFill>
            <a:srgbClr val="FFFFFF"/>
          </a:solidFill>
          <a:ln/>
        </p:spPr>
        <p:txBody>
          <a:bodyPr/>
          <a:lstStyle/>
          <a:p>
            <a:endParaRPr lang="ko-KR" altLang="en-US"/>
          </a:p>
        </p:txBody>
      </p:sp>
      <p:sp>
        <p:nvSpPr>
          <p:cNvPr id="307" name="Shape 304"/>
          <p:cNvSpPr/>
          <p:nvPr/>
        </p:nvSpPr>
        <p:spPr>
          <a:xfrm>
            <a:off x="7409200" y="6271556"/>
            <a:ext cx="2748737" cy="9525"/>
          </a:xfrm>
          <a:prstGeom prst="rect">
            <a:avLst/>
          </a:prstGeom>
          <a:solidFill>
            <a:srgbClr val="D3B9A5"/>
          </a:solidFill>
          <a:ln/>
        </p:spPr>
        <p:txBody>
          <a:bodyPr/>
          <a:lstStyle/>
          <a:p>
            <a:endParaRPr lang="ko-KR" altLang="en-US"/>
          </a:p>
        </p:txBody>
      </p:sp>
      <p:sp>
        <p:nvSpPr>
          <p:cNvPr id="308" name="Shape 305"/>
          <p:cNvSpPr/>
          <p:nvPr/>
        </p:nvSpPr>
        <p:spPr>
          <a:xfrm>
            <a:off x="7409200" y="6271556"/>
            <a:ext cx="9525" cy="514532"/>
          </a:xfrm>
          <a:prstGeom prst="rect">
            <a:avLst/>
          </a:prstGeom>
          <a:solidFill>
            <a:srgbClr val="D3B9A5"/>
          </a:solidFill>
          <a:ln/>
        </p:spPr>
        <p:txBody>
          <a:bodyPr/>
          <a:lstStyle/>
          <a:p>
            <a:endParaRPr lang="ko-KR" altLang="en-US"/>
          </a:p>
        </p:txBody>
      </p:sp>
      <p:sp>
        <p:nvSpPr>
          <p:cNvPr id="309" name="Text 306"/>
          <p:cNvSpPr/>
          <p:nvPr/>
        </p:nvSpPr>
        <p:spPr>
          <a:xfrm>
            <a:off x="8040464" y="6367011"/>
            <a:ext cx="1472252" cy="189394"/>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질병후유장해 보험료 가성비</a:t>
            </a:r>
            <a:endParaRPr lang="en-US" sz="1013" dirty="0"/>
          </a:p>
        </p:txBody>
      </p:sp>
      <p:pic>
        <p:nvPicPr>
          <p:cNvPr id="3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49314" y="6384211"/>
            <a:ext cx="82576" cy="115672"/>
          </a:xfrm>
          <a:prstGeom prst="rect">
            <a:avLst/>
          </a:prstGeom>
        </p:spPr>
      </p:pic>
      <p:sp>
        <p:nvSpPr>
          <p:cNvPr id="311" name="Text 307"/>
          <p:cNvSpPr/>
          <p:nvPr/>
        </p:nvSpPr>
        <p:spPr>
          <a:xfrm>
            <a:off x="8088151" y="6536647"/>
            <a:ext cx="1472252" cy="189395"/>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순환계통합치료와 조합 추천</a:t>
            </a:r>
            <a:endParaRPr lang="en-US" sz="1013" dirty="0"/>
          </a:p>
        </p:txBody>
      </p:sp>
      <p:sp>
        <p:nvSpPr>
          <p:cNvPr id="312" name="Text 30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313" name="Text 30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314" name="Text 31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621208"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삼성생명 – 인생대표 / 가족대표</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순환계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644107"/>
            <a:ext cx="1428740" cy="1263180"/>
          </a:xfrm>
          <a:prstGeom prst="roundRect">
            <a:avLst>
              <a:gd name="adj" fmla="val 12065"/>
            </a:avLst>
          </a:prstGeom>
          <a:solidFill>
            <a:srgbClr val="F6E2D3"/>
          </a:solidFill>
          <a:ln/>
        </p:spPr>
        <p:txBody>
          <a:bodyPr/>
          <a:lstStyle/>
          <a:p>
            <a:endParaRPr lang="ko-KR" altLang="en-US"/>
          </a:p>
        </p:txBody>
      </p:sp>
      <p:sp>
        <p:nvSpPr>
          <p:cNvPr id="7" name="Text 5"/>
          <p:cNvSpPr/>
          <p:nvPr/>
        </p:nvSpPr>
        <p:spPr>
          <a:xfrm>
            <a:off x="495263" y="1644107"/>
            <a:ext cx="1504940" cy="1301280"/>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644107"/>
            <a:ext cx="8086765" cy="1263180"/>
          </a:xfrm>
          <a:prstGeom prst="roundRect">
            <a:avLst>
              <a:gd name="adj" fmla="val 12065"/>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2088409"/>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935039"/>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만 15 ~ 75세</a:t>
            </a:r>
            <a:endParaRPr lang="en-US" sz="1538" dirty="0"/>
          </a:p>
        </p:txBody>
      </p:sp>
      <p:sp>
        <p:nvSpPr>
          <p:cNvPr id="11" name="Shape 9"/>
          <p:cNvSpPr/>
          <p:nvPr/>
        </p:nvSpPr>
        <p:spPr>
          <a:xfrm>
            <a:off x="2424465" y="2467135"/>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2313765"/>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간편부터 건강체까지 무사고 사고전환 가능</a:t>
            </a:r>
            <a:endParaRPr lang="en-US" sz="1538" dirty="0"/>
          </a:p>
        </p:txBody>
      </p:sp>
      <p:sp>
        <p:nvSpPr>
          <p:cNvPr id="13" name="Shape 11"/>
          <p:cNvSpPr/>
          <p:nvPr/>
        </p:nvSpPr>
        <p:spPr>
          <a:xfrm>
            <a:off x="533363" y="3059641"/>
            <a:ext cx="1428740" cy="1335893"/>
          </a:xfrm>
          <a:prstGeom prst="roundRect">
            <a:avLst>
              <a:gd name="adj" fmla="val 11408"/>
            </a:avLst>
          </a:prstGeom>
          <a:solidFill>
            <a:srgbClr val="CF7446"/>
          </a:solidFill>
          <a:ln/>
        </p:spPr>
        <p:txBody>
          <a:bodyPr/>
          <a:lstStyle/>
          <a:p>
            <a:endParaRPr lang="ko-KR" altLang="en-US"/>
          </a:p>
        </p:txBody>
      </p:sp>
      <p:sp>
        <p:nvSpPr>
          <p:cNvPr id="14" name="Text 12"/>
          <p:cNvSpPr/>
          <p:nvPr/>
        </p:nvSpPr>
        <p:spPr>
          <a:xfrm>
            <a:off x="495263" y="3059641"/>
            <a:ext cx="1504940" cy="1373993"/>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5" name="Shape 13"/>
          <p:cNvSpPr/>
          <p:nvPr/>
        </p:nvSpPr>
        <p:spPr>
          <a:xfrm>
            <a:off x="2076389" y="3059641"/>
            <a:ext cx="8086765" cy="1335893"/>
          </a:xfrm>
          <a:prstGeom prst="roundRect">
            <a:avLst>
              <a:gd name="adj" fmla="val 11408"/>
            </a:avLst>
          </a:prstGeom>
          <a:solidFill>
            <a:srgbClr val="FCF4EE"/>
          </a:solidFill>
          <a:ln w="5217">
            <a:solidFill>
              <a:srgbClr val="F6E2D3"/>
            </a:solidFill>
            <a:prstDash val="solid"/>
          </a:ln>
        </p:spPr>
        <p:txBody>
          <a:bodyPr/>
          <a:lstStyle/>
          <a:p>
            <a:endParaRPr lang="ko-KR" altLang="en-US"/>
          </a:p>
        </p:txBody>
      </p:sp>
      <p:sp>
        <p:nvSpPr>
          <p:cNvPr id="16" name="Shape 14"/>
          <p:cNvSpPr/>
          <p:nvPr/>
        </p:nvSpPr>
        <p:spPr>
          <a:xfrm>
            <a:off x="2424465" y="3519595"/>
            <a:ext cx="47606" cy="47606"/>
          </a:xfrm>
          <a:prstGeom prst="ellipse">
            <a:avLst/>
          </a:prstGeom>
          <a:solidFill>
            <a:srgbClr val="CF7446"/>
          </a:solidFill>
          <a:ln/>
        </p:spPr>
        <p:txBody>
          <a:bodyPr/>
          <a:lstStyle/>
          <a:p>
            <a:endParaRPr lang="ko-KR" altLang="en-US"/>
          </a:p>
        </p:txBody>
      </p:sp>
      <p:sp>
        <p:nvSpPr>
          <p:cNvPr id="17" name="Text 15"/>
          <p:cNvSpPr/>
          <p:nvPr/>
        </p:nvSpPr>
        <p:spPr>
          <a:xfrm>
            <a:off x="2567281" y="3350574"/>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순환계치료시 업계 최대 보장금액 + 사성비는 TOP</a:t>
            </a:r>
            <a:endParaRPr lang="en-US" sz="1725" dirty="0"/>
          </a:p>
        </p:txBody>
      </p:sp>
      <p:sp>
        <p:nvSpPr>
          <p:cNvPr id="18" name="Shape 16"/>
          <p:cNvSpPr/>
          <p:nvPr/>
        </p:nvSpPr>
        <p:spPr>
          <a:xfrm>
            <a:off x="2424465" y="3934677"/>
            <a:ext cx="47606" cy="47606"/>
          </a:xfrm>
          <a:prstGeom prst="ellipse">
            <a:avLst/>
          </a:prstGeom>
          <a:solidFill>
            <a:srgbClr val="CF7446"/>
          </a:solidFill>
          <a:ln/>
        </p:spPr>
        <p:txBody>
          <a:bodyPr/>
          <a:lstStyle/>
          <a:p>
            <a:endParaRPr lang="ko-KR" altLang="en-US"/>
          </a:p>
        </p:txBody>
      </p:sp>
      <p:sp>
        <p:nvSpPr>
          <p:cNvPr id="19" name="Text 17"/>
          <p:cNvSpPr/>
          <p:nvPr/>
        </p:nvSpPr>
        <p:spPr>
          <a:xfrm>
            <a:off x="2567281" y="3765656"/>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업계 최대 예외인수로 입원일수 및 수술 횟수 등 관계없이 완치 후 인수</a:t>
            </a:r>
            <a:endParaRPr lang="en-US" sz="1725" dirty="0"/>
          </a:p>
        </p:txBody>
      </p:sp>
      <p:pic>
        <p:nvPicPr>
          <p:cNvPr id="20" name="Image 0" descr="preencoded.png"/>
          <p:cNvPicPr>
            <a:picLocks noChangeAspect="1"/>
          </p:cNvPicPr>
          <p:nvPr/>
        </p:nvPicPr>
        <p:blipFill>
          <a:blip r:embed="rId3"/>
          <a:stretch>
            <a:fillRect/>
          </a:stretch>
        </p:blipFill>
        <p:spPr>
          <a:xfrm>
            <a:off x="9205498" y="3422797"/>
            <a:ext cx="609581" cy="609581"/>
          </a:xfrm>
          <a:prstGeom prst="rect">
            <a:avLst/>
          </a:prstGeom>
        </p:spPr>
      </p:pic>
      <p:sp>
        <p:nvSpPr>
          <p:cNvPr id="21" name="Shape 18"/>
          <p:cNvSpPr/>
          <p:nvPr/>
        </p:nvSpPr>
        <p:spPr>
          <a:xfrm>
            <a:off x="533363" y="4547888"/>
            <a:ext cx="1428740" cy="1694565"/>
          </a:xfrm>
          <a:prstGeom prst="roundRect">
            <a:avLst>
              <a:gd name="adj" fmla="val 10667"/>
            </a:avLst>
          </a:prstGeom>
          <a:solidFill>
            <a:srgbClr val="F6E2D3"/>
          </a:solidFill>
          <a:ln/>
        </p:spPr>
        <p:txBody>
          <a:bodyPr/>
          <a:lstStyle/>
          <a:p>
            <a:endParaRPr lang="ko-KR" altLang="en-US"/>
          </a:p>
        </p:txBody>
      </p:sp>
      <p:sp>
        <p:nvSpPr>
          <p:cNvPr id="22" name="Text 19"/>
          <p:cNvSpPr/>
          <p:nvPr/>
        </p:nvSpPr>
        <p:spPr>
          <a:xfrm>
            <a:off x="963688" y="5120379"/>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3" name="Text 20"/>
          <p:cNvSpPr/>
          <p:nvPr/>
        </p:nvSpPr>
        <p:spPr>
          <a:xfrm>
            <a:off x="963688" y="5416039"/>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4" name="Shape 21"/>
          <p:cNvSpPr/>
          <p:nvPr/>
        </p:nvSpPr>
        <p:spPr>
          <a:xfrm>
            <a:off x="2076389" y="4547888"/>
            <a:ext cx="8086765" cy="1694565"/>
          </a:xfrm>
          <a:prstGeom prst="roundRect">
            <a:avLst>
              <a:gd name="adj" fmla="val 8993"/>
            </a:avLst>
          </a:prstGeom>
          <a:solidFill>
            <a:srgbClr val="FFFFFF"/>
          </a:solidFill>
          <a:ln w="5217">
            <a:solidFill>
              <a:srgbClr val="EADFD3"/>
            </a:solidFill>
            <a:prstDash val="solid"/>
          </a:ln>
        </p:spPr>
        <p:txBody>
          <a:bodyPr/>
          <a:lstStyle/>
          <a:p>
            <a:endParaRPr lang="ko-KR" altLang="en-US"/>
          </a:p>
        </p:txBody>
      </p:sp>
      <p:sp>
        <p:nvSpPr>
          <p:cNvPr id="25" name="Shape 22"/>
          <p:cNvSpPr/>
          <p:nvPr/>
        </p:nvSpPr>
        <p:spPr>
          <a:xfrm>
            <a:off x="2424465" y="5023493"/>
            <a:ext cx="47606" cy="47606"/>
          </a:xfrm>
          <a:prstGeom prst="ellipse">
            <a:avLst/>
          </a:prstGeom>
          <a:solidFill>
            <a:srgbClr val="A69687"/>
          </a:solidFill>
          <a:ln/>
        </p:spPr>
        <p:txBody>
          <a:bodyPr/>
          <a:lstStyle/>
          <a:p>
            <a:endParaRPr lang="ko-KR" altLang="en-US"/>
          </a:p>
        </p:txBody>
      </p:sp>
      <p:sp>
        <p:nvSpPr>
          <p:cNvPr id="26" name="Text 23"/>
          <p:cNvSpPr/>
          <p:nvPr/>
        </p:nvSpPr>
        <p:spPr>
          <a:xfrm>
            <a:off x="2567281" y="4838821"/>
            <a:ext cx="7465231" cy="1150801"/>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수술하고 바로 일상생활 복귀가 아닌, 반복되는 수술과 치료, 통원하면서 쌓여가는 검사비와 재활치료비 등 부담이 큰 순환계질환에 대해 한 가지 특약으로 한 번에 해결할 수 있는 상품</a:t>
            </a:r>
            <a:endParaRPr lang="en-US" sz="1538" dirty="0"/>
          </a:p>
        </p:txBody>
      </p:sp>
      <p:sp>
        <p:nvSpPr>
          <p:cNvPr id="27" name="Text 2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8" name="Text 2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 name="Text 2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39031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수술만 하던 시대는 끝, ‘병행 치료’가 표준</a:t>
            </a:r>
            <a:endParaRPr lang="en-US" sz="2475" dirty="0"/>
          </a:p>
        </p:txBody>
      </p:sp>
      <p:sp>
        <p:nvSpPr>
          <p:cNvPr id="3" name="Shape 1"/>
          <p:cNvSpPr/>
          <p:nvPr/>
        </p:nvSpPr>
        <p:spPr>
          <a:xfrm>
            <a:off x="9253104" y="340821"/>
            <a:ext cx="910050"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405504" y="407496"/>
            <a:ext cx="681450"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암 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756636" cy="247647"/>
          </a:xfrm>
          <a:prstGeom prst="rect">
            <a:avLst/>
          </a:prstGeom>
        </p:spPr>
      </p:pic>
      <p:sp>
        <p:nvSpPr>
          <p:cNvPr id="8" name="Shape 5"/>
          <p:cNvSpPr/>
          <p:nvPr/>
        </p:nvSpPr>
        <p:spPr>
          <a:xfrm>
            <a:off x="1752361"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1847611"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노진섭 기자 입력: 2026.06.21 16:01</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수술 먼저? 항암 우선?…폐암 치료 성패 가르는 ‘치료 순서’</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1093576"/>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폐암을 진단받은 사람은 가능한 한 빨리 수술받기를 원한다. 수술이 가능한 병기라면 완치를 기대할 수 있는 가장 중요한 치료 수단이기 때문이다. 그러나 최근 폐암 치료의 패러다임은 단순히 수술, 항암치료, 방사선치료 중 어떤 치료를 선택할 것인가에서 벗어나고 있다. 이제는 어떤 순서로 치료할 것인가가 더욱 중요한 문제가 되고 있다.</a:t>
            </a:r>
            <a:endParaRPr lang="en-US" sz="825" dirty="0"/>
          </a:p>
        </p:txBody>
      </p:sp>
      <p:sp>
        <p:nvSpPr>
          <p:cNvPr id="14" name="Text 11"/>
          <p:cNvSpPr/>
          <p:nvPr/>
        </p:nvSpPr>
        <p:spPr>
          <a:xfrm>
            <a:off x="881438" y="3534149"/>
            <a:ext cx="2870997" cy="2149052"/>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특히 전체 폐암의 80~85%를 차지하는 비소세포폐암은 어떤 치료를 선택할지뿐 아니라 어떤 순서로 치료를 시행할지가 치료 성패를 좌우한다. 반면 폐암 가운데 소세포폐암은 성장과 전이가 빠른 특성 때문에 진단 당시 이미 상당히 진행된 경우가 많아 항암치료가 주된 치료법으로 사용된다. 한국남 중앙대광명병원 폐식도외과 교수는 "폐암 1기에는 수술이 가장 우수한 치료 성적을 보인다. 2~3기 폐암은 치료 전략이 가장 복잡한 구간이다. 종양을 먼저 줄인 뒤 수술할지, 수술을 우선 시행할지 환자 상태에 맞춰 결정해야 한다. 반면 소세포폐암은 진단 시 이미 광범위하게 전이된 경우가 많아 항암치료 위주로 치료가 진행된다. 다만 종양이 국소적으로 국한돼 수술이 가능한 경우에는 수술 후 항암치료를 시행하기도 한다"고 설명했다.</a:t>
            </a:r>
            <a:endParaRPr lang="en-US" sz="825" dirty="0"/>
          </a:p>
        </p:txBody>
      </p:sp>
      <p:sp>
        <p:nvSpPr>
          <p:cNvPr id="15" name="Text 12"/>
          <p:cNvSpPr/>
          <p:nvPr/>
        </p:nvSpPr>
        <p:spPr>
          <a:xfrm>
            <a:off x="881438" y="5707950"/>
            <a:ext cx="2870997" cy="741751"/>
          </a:xfrm>
          <a:prstGeom prst="rect">
            <a:avLst/>
          </a:prstGeom>
          <a:noFill/>
          <a:ln/>
        </p:spPr>
        <p:txBody>
          <a:bodyPr wrap="square" lIns="25400" tIns="25400" rIns="25400" bIns="25400" rtlCol="0" anchor="t">
            <a:normAutofit lnSpcReduction="10000"/>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최근 3기 비소세포폐암 환자 A씨의 치료 과정은 변화된 폐암 치료 패러다임을 보여주는 사례다. 영상검사 결과 종양이 림프절까지 전이된 것으로 확인돼 곧바로 수술을 결정하기 어려운 상태였다. 하지만 수술 시기를 놓치면 치료가 어렵다는 점도 고려해야 했다.</a:t>
            </a:r>
            <a:endParaRPr lang="en-US" sz="825" dirty="0"/>
          </a:p>
        </p:txBody>
      </p:sp>
      <p:sp>
        <p:nvSpPr>
          <p:cNvPr id="16" name="Text 13"/>
          <p:cNvSpPr/>
          <p:nvPr/>
        </p:nvSpPr>
        <p:spPr>
          <a:xfrm>
            <a:off x="3954611" y="2415824"/>
            <a:ext cx="2870997" cy="1797227"/>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이런 경우 과거에는 수술부터 시행하는 것이 일반적이었다. 2000년대까지만 해도 절제 가능한 폐암의 표준 치료는 수술이었다. 비소세포폐암 1기는 수술만으로 치료를 마치는 경우가 많았고, 2~3기는 재발 위험을 낮추기 위해 수술 후 보조항암치료를 시행하는 것이 오랫동안 표준치료로 여겨졌다. 그러나 2~3기 비소세포폐암 환자는 수술과 보조항암치료를 받더라도 절반 이상에서 재발하거나 원격 전이가 발생하고, 5년 생존율도 30~60% 수준에 머물러 예후가 좋지 않았다. 특히 A씨처럼 가슴 중앙부 림프절까지 암이 전이된 3기 비소세포폐암에서는 수술만으로 완치를 기대하기 어려운 경우가 많았다.</a:t>
            </a:r>
            <a:endParaRPr lang="en-US" sz="825" dirty="0"/>
          </a:p>
        </p:txBody>
      </p:sp>
      <p:sp>
        <p:nvSpPr>
          <p:cNvPr id="17" name="Text 14"/>
          <p:cNvSpPr/>
          <p:nvPr/>
        </p:nvSpPr>
        <p:spPr>
          <a:xfrm>
            <a:off x="3954611" y="4237799"/>
            <a:ext cx="2870997" cy="1621314"/>
          </a:xfrm>
          <a:prstGeom prst="rect">
            <a:avLst/>
          </a:prstGeom>
          <a:noFill/>
          <a:ln/>
        </p:spPr>
        <p:txBody>
          <a:bodyPr wrap="square" lIns="25400" tIns="25400" rIns="25400" bIns="25400" rtlCol="0" anchor="t">
            <a:normAutofit lnSpcReduction="10000"/>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이러한 한계를 극복하기 위해 의학계는 수술 전에 항암치료를 시행해 종양을 먼저 줄인 뒤 수술하면 치료 성적을 높일 수 있을 것이라는 가능성에 주목했다. 이에 따라 2010년대 이후에는 수술 후 시행하던 세포독성항암제를 수술 전에 투여하는 선행항암치료가 도입됐다. 이 방법은 종양 크기를 줄여 수술 가능성을 높이고, 림프절 전이 범위를 줄이며, 영상검사로 확인되지 않는 미세전이를 조기에 치료할 수 있다는 장점이 있었다. 그러나 세포독성항암제만을 이용한 선행항암치료는 재발 감소와 생존율 향상 측면에서 기대했던 만큼의 효과를 보여주지 못했다.</a:t>
            </a:r>
            <a:endParaRPr lang="en-US" sz="825" dirty="0"/>
          </a:p>
        </p:txBody>
      </p:sp>
      <p:sp>
        <p:nvSpPr>
          <p:cNvPr id="18" name="Text 15"/>
          <p:cNvSpPr/>
          <p:nvPr/>
        </p:nvSpPr>
        <p:spPr>
          <a:xfrm>
            <a:off x="7027051" y="2407426"/>
            <a:ext cx="2870997" cy="1346976"/>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err="1">
                <a:solidFill>
                  <a:srgbClr val="4A3B31"/>
                </a:solidFill>
                <a:latin typeface="Paperlogy 7 Bold" pitchFamily="2" charset="-127"/>
                <a:ea typeface="Paperlogy 7 Bold" pitchFamily="2" charset="-127"/>
                <a:cs typeface="Arial" pitchFamily="34" charset="-120"/>
              </a:rPr>
              <a:t>연구진은</a:t>
            </a:r>
            <a:r>
              <a:rPr lang="en-US" sz="825" b="1" kern="0" spc="-8" dirty="0">
                <a:solidFill>
                  <a:srgbClr val="4A3B31"/>
                </a:solidFill>
                <a:latin typeface="Paperlogy 7 Bold" pitchFamily="2" charset="-127"/>
                <a:ea typeface="Paperlogy 7 Bold" pitchFamily="2" charset="-127"/>
                <a:cs typeface="Arial" pitchFamily="34" charset="-120"/>
              </a:rPr>
              <a:t> 절제 가능한 2~3기 비소세포폐암 환자를 대상으로 수술 전 세포독성항암제만 투여한 그룹(단독군)과 세포독성항암제에 면역항암제를 병행 투여한 그룹(병용군)을 비교했다. 그 결과 병리학적 완전관해율(암세포가 사라짐)은 병용군이 24%, 단독군이 2.2%로 큰 차이를 보였다. 이어 2025년 발표된 5년 추적 결과에서도 병용군은 단독군보다 사망 위험이 28% 낮았으며, 5년 전체생존율도 65.4%로 단독군의 55%를 크게 웃돌았다.</a:t>
            </a:r>
            <a:endParaRPr lang="en-US" sz="825" dirty="0"/>
          </a:p>
        </p:txBody>
      </p:sp>
      <p:sp>
        <p:nvSpPr>
          <p:cNvPr id="19" name="Text 16"/>
          <p:cNvSpPr/>
          <p:nvPr/>
        </p:nvSpPr>
        <p:spPr>
          <a:xfrm>
            <a:off x="7027702" y="3885974"/>
            <a:ext cx="2870997" cy="1445401"/>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당시에는 면역항암제를 수술 전에 투여할 경우 염증 반응과 조직 유착이 증가해 수술이 어려워질 수 있다는 우려가 있었다. 특히 흉부외과 의사들은 수술 난도가 높아지거나 수술 기회를 놓칠 가능성을 걱정했다. 그러나 이 연구와 후속 연구들을 통해 수술 시행률이나 완전 절제율이 저하되지 않는 것으로 확인되면서 이러한 우려는 상당 부분 해소됐다. 즉, 수술 전 면역항암치료가 수술 가능성을 해치지 않으면서도 치료 성적을 높일 수 있음이 확인된 것이다.</a:t>
            </a:r>
            <a:endParaRPr lang="en-US" sz="825" dirty="0"/>
          </a:p>
        </p:txBody>
      </p:sp>
      <p:sp>
        <p:nvSpPr>
          <p:cNvPr id="20" name="Text 17"/>
          <p:cNvSpPr/>
          <p:nvPr/>
        </p:nvSpPr>
        <p:spPr>
          <a:xfrm>
            <a:off x="7027702" y="5356125"/>
            <a:ext cx="2870997" cy="741751"/>
          </a:xfrm>
          <a:prstGeom prst="rect">
            <a:avLst/>
          </a:prstGeom>
          <a:noFill/>
          <a:ln/>
        </p:spPr>
        <p:txBody>
          <a:bodyPr wrap="square" lIns="25400" tIns="25400" rIns="25400" bIns="25400" rtlCol="0" anchor="t">
            <a:normAutofit lnSpcReduction="10000"/>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이러한 연구 결과를 바탕으로 수술 후 항암치료를 중심으로 하던 기존 치료 전략은 수술 전 면역항암제를 포함한 선행치료 중심으로 변화했으며, 현재는 절제 가능한 2~3기 비소세포폐암의 표준치료로 자리 잡았다.</a:t>
            </a:r>
            <a:endParaRPr lang="en-US" sz="825" dirty="0"/>
          </a:p>
        </p:txBody>
      </p:sp>
      <p:sp>
        <p:nvSpPr>
          <p:cNvPr id="21" name="Text 1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2" name="Text 1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3" name="Text 2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10</a:t>
            </a:r>
            <a:endParaRPr lang="en-US" sz="900" dirty="0"/>
          </a:p>
        </p:txBody>
      </p:sp>
      <p:sp>
        <p:nvSpPr>
          <p:cNvPr id="24" name="Text 15">
            <a:extLst>
              <a:ext uri="{FF2B5EF4-FFF2-40B4-BE49-F238E27FC236}">
                <a16:creationId xmlns:a16="http://schemas.microsoft.com/office/drawing/2014/main" id="{92B74C8B-1415-F1AD-98CC-78680ED07AB9}"/>
              </a:ext>
            </a:extLst>
          </p:cNvPr>
          <p:cNvSpPr/>
          <p:nvPr/>
        </p:nvSpPr>
        <p:spPr>
          <a:xfrm>
            <a:off x="3954529" y="5859113"/>
            <a:ext cx="2870997" cy="819210"/>
          </a:xfrm>
          <a:prstGeom prst="rect">
            <a:avLst/>
          </a:prstGeom>
          <a:noFill/>
          <a:ln/>
        </p:spPr>
        <p:txBody>
          <a:bodyPr wrap="square" lIns="25400" tIns="25400" rIns="25400" bIns="25400" rtlCol="0" anchor="t">
            <a:normAutofit/>
          </a:bodyPr>
          <a:lstStyle/>
          <a:p>
            <a:pPr marL="0" indent="0" algn="just">
              <a:lnSpc>
                <a:spcPct val="146694"/>
              </a:lnSpc>
              <a:buNone/>
            </a:pPr>
            <a:r>
              <a:rPr lang="en-US" sz="825" b="1" kern="0" spc="-8" dirty="0">
                <a:solidFill>
                  <a:srgbClr val="4A3B31"/>
                </a:solidFill>
                <a:latin typeface="Paperlogy 7 Bold" pitchFamily="2" charset="-127"/>
                <a:ea typeface="Paperlogy 7 Bold" pitchFamily="2" charset="-127"/>
                <a:cs typeface="Arial" pitchFamily="34" charset="-120"/>
              </a:rPr>
              <a:t>그러던 중 전이성(4기) 비소세포폐암 치료에 사용되던 면역항암제가 새로운 대안으로 주목받기 시작했다. 이를 뒷받침한 대표적인 근거가 북미·유럽·아시아 의료기관이 참여한 국제 다기관 임상시험(CheckMate-816)이다. </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39031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수술만 하던 시대는 끝, ‘병행 치료’가 표준</a:t>
            </a:r>
            <a:endParaRPr lang="en-US" sz="2475" dirty="0"/>
          </a:p>
        </p:txBody>
      </p:sp>
      <p:sp>
        <p:nvSpPr>
          <p:cNvPr id="3" name="Shape 1"/>
          <p:cNvSpPr/>
          <p:nvPr/>
        </p:nvSpPr>
        <p:spPr>
          <a:xfrm>
            <a:off x="9253104" y="340821"/>
            <a:ext cx="910050"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405504" y="407496"/>
            <a:ext cx="681450"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암 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792178" y="1149220"/>
            <a:ext cx="4175488" cy="330255"/>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3A2C24"/>
                </a:solidFill>
                <a:latin typeface="Paperlogy 7 Bold" pitchFamily="2" charset="-127"/>
                <a:ea typeface="Paperlogy 7 Bold" pitchFamily="2" charset="-127"/>
                <a:cs typeface="Arial" pitchFamily="34" charset="-120"/>
              </a:rPr>
              <a:t>오래 사는 만큼, 치료는 길고 많이 받는다!</a:t>
            </a:r>
            <a:endParaRPr lang="en-US" sz="1950" dirty="0"/>
          </a:p>
        </p:txBody>
      </p:sp>
      <p:sp>
        <p:nvSpPr>
          <p:cNvPr id="7" name="Shape 5"/>
          <p:cNvSpPr/>
          <p:nvPr/>
        </p:nvSpPr>
        <p:spPr>
          <a:xfrm>
            <a:off x="4759505" y="1200086"/>
            <a:ext cx="9525" cy="190423"/>
          </a:xfrm>
          <a:prstGeom prst="rect">
            <a:avLst/>
          </a:prstGeom>
          <a:solidFill>
            <a:srgbClr val="EADFD3"/>
          </a:solidFill>
          <a:ln/>
        </p:spPr>
        <p:txBody>
          <a:bodyPr/>
          <a:lstStyle/>
          <a:p>
            <a:endParaRPr lang="ko-KR" altLang="en-US"/>
          </a:p>
        </p:txBody>
      </p:sp>
      <p:sp>
        <p:nvSpPr>
          <p:cNvPr id="8" name="Text 6"/>
          <p:cNvSpPr/>
          <p:nvPr/>
        </p:nvSpPr>
        <p:spPr>
          <a:xfrm>
            <a:off x="4940390" y="1201391"/>
            <a:ext cx="5460254" cy="225914"/>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7B6B60"/>
                </a:solidFill>
                <a:latin typeface="Paperlogy 7 Bold" pitchFamily="2" charset="-127"/>
                <a:ea typeface="Paperlogy 7 Bold" pitchFamily="2" charset="-127"/>
                <a:cs typeface="Arial" pitchFamily="34" charset="-120"/>
              </a:rPr>
              <a:t>암환자 10명 중 7명은 </a:t>
            </a:r>
            <a:r>
              <a:rPr lang="en-US" sz="1200" b="1" dirty="0">
                <a:solidFill>
                  <a:srgbClr val="CF7446"/>
                </a:solidFill>
                <a:latin typeface="Paperlogy 7 Bold" pitchFamily="2" charset="-127"/>
                <a:ea typeface="Paperlogy 7 Bold" pitchFamily="2" charset="-127"/>
                <a:cs typeface="Arial" pitchFamily="34" charset="-120"/>
              </a:rPr>
              <a:t>5년 이상 생존</a:t>
            </a:r>
            <a:r>
              <a:rPr lang="en-US" sz="1200" b="1" dirty="0">
                <a:solidFill>
                  <a:srgbClr val="7B6B60"/>
                </a:solidFill>
                <a:latin typeface="Paperlogy 7 Bold" pitchFamily="2" charset="-127"/>
                <a:ea typeface="Paperlogy 7 Bold" pitchFamily="2" charset="-127"/>
                <a:cs typeface="Arial" pitchFamily="34" charset="-120"/>
              </a:rPr>
              <a:t>, 비급여 항암제 환자 </a:t>
            </a:r>
            <a:r>
              <a:rPr lang="en-US" sz="1200" b="1" dirty="0">
                <a:solidFill>
                  <a:srgbClr val="CF7446"/>
                </a:solidFill>
                <a:latin typeface="Paperlogy 7 Bold" pitchFamily="2" charset="-127"/>
                <a:ea typeface="Paperlogy 7 Bold" pitchFamily="2" charset="-127"/>
                <a:cs typeface="Arial" pitchFamily="34" charset="-120"/>
              </a:rPr>
              <a:t>81%</a:t>
            </a:r>
            <a:r>
              <a:rPr lang="en-US" sz="1200" b="1" dirty="0">
                <a:solidFill>
                  <a:srgbClr val="7B6B60"/>
                </a:solidFill>
                <a:latin typeface="Paperlogy 7 Bold" pitchFamily="2" charset="-127"/>
                <a:ea typeface="Paperlogy 7 Bold" pitchFamily="2" charset="-127"/>
                <a:cs typeface="Arial" pitchFamily="34" charset="-120"/>
              </a:rPr>
              <a:t>는 월 300만원 이상</a:t>
            </a:r>
            <a:endParaRPr lang="en-US" sz="1200" dirty="0"/>
          </a:p>
        </p:txBody>
      </p:sp>
      <p:sp>
        <p:nvSpPr>
          <p:cNvPr id="9" name="Shape 7"/>
          <p:cNvSpPr/>
          <p:nvPr/>
        </p:nvSpPr>
        <p:spPr>
          <a:xfrm>
            <a:off x="533363" y="1704918"/>
            <a:ext cx="4719644" cy="3076515"/>
          </a:xfrm>
          <a:prstGeom prst="roundRect">
            <a:avLst>
              <a:gd name="adj" fmla="val 4954"/>
            </a:avLst>
          </a:prstGeom>
          <a:solidFill>
            <a:srgbClr val="FFFFFF"/>
          </a:solidFill>
          <a:ln w="5217">
            <a:solidFill>
              <a:srgbClr val="EADFD3"/>
            </a:solidFill>
            <a:prstDash val="solid"/>
          </a:ln>
        </p:spPr>
        <p:txBody>
          <a:bodyPr/>
          <a:lstStyle/>
          <a:p>
            <a:endParaRPr lang="ko-KR" altLang="en-US"/>
          </a:p>
        </p:txBody>
      </p:sp>
      <p:sp>
        <p:nvSpPr>
          <p:cNvPr id="10" name="Text 8"/>
          <p:cNvSpPr/>
          <p:nvPr/>
        </p:nvSpPr>
        <p:spPr>
          <a:xfrm>
            <a:off x="786227" y="1919633"/>
            <a:ext cx="4635307" cy="267651"/>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암환자 10명 중 7명은 5년 이상 산다</a:t>
            </a:r>
            <a:endParaRPr lang="en-US" sz="1500" dirty="0"/>
          </a:p>
        </p:txBody>
      </p:sp>
      <p:sp>
        <p:nvSpPr>
          <p:cNvPr id="11" name="Shape 9"/>
          <p:cNvSpPr/>
          <p:nvPr/>
        </p:nvSpPr>
        <p:spPr>
          <a:xfrm>
            <a:off x="848098" y="2631272"/>
            <a:ext cx="257103" cy="257103"/>
          </a:xfrm>
          <a:prstGeom prst="ellipse">
            <a:avLst/>
          </a:prstGeom>
          <a:solidFill>
            <a:srgbClr val="CF7446"/>
          </a:solidFill>
          <a:ln/>
        </p:spPr>
        <p:txBody>
          <a:bodyPr/>
          <a:lstStyle/>
          <a:p>
            <a:endParaRPr lang="ko-KR" altLang="en-US"/>
          </a:p>
        </p:txBody>
      </p:sp>
      <p:sp>
        <p:nvSpPr>
          <p:cNvPr id="12" name="Shape 10"/>
          <p:cNvSpPr/>
          <p:nvPr/>
        </p:nvSpPr>
        <p:spPr>
          <a:xfrm>
            <a:off x="805220"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3" name="Shape 11"/>
          <p:cNvSpPr/>
          <p:nvPr/>
        </p:nvSpPr>
        <p:spPr>
          <a:xfrm>
            <a:off x="1274022" y="2631272"/>
            <a:ext cx="257103" cy="257103"/>
          </a:xfrm>
          <a:prstGeom prst="ellipse">
            <a:avLst/>
          </a:prstGeom>
          <a:solidFill>
            <a:srgbClr val="CF7446"/>
          </a:solidFill>
          <a:ln/>
        </p:spPr>
        <p:txBody>
          <a:bodyPr/>
          <a:lstStyle/>
          <a:p>
            <a:endParaRPr lang="ko-KR" altLang="en-US"/>
          </a:p>
        </p:txBody>
      </p:sp>
      <p:sp>
        <p:nvSpPr>
          <p:cNvPr id="14" name="Shape 12"/>
          <p:cNvSpPr/>
          <p:nvPr/>
        </p:nvSpPr>
        <p:spPr>
          <a:xfrm>
            <a:off x="1231144"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5" name="Shape 13"/>
          <p:cNvSpPr/>
          <p:nvPr/>
        </p:nvSpPr>
        <p:spPr>
          <a:xfrm>
            <a:off x="1699864" y="2631272"/>
            <a:ext cx="257103" cy="257103"/>
          </a:xfrm>
          <a:prstGeom prst="ellipse">
            <a:avLst/>
          </a:prstGeom>
          <a:solidFill>
            <a:srgbClr val="CF7446"/>
          </a:solidFill>
          <a:ln/>
        </p:spPr>
        <p:txBody>
          <a:bodyPr/>
          <a:lstStyle/>
          <a:p>
            <a:endParaRPr lang="ko-KR" altLang="en-US"/>
          </a:p>
        </p:txBody>
      </p:sp>
      <p:sp>
        <p:nvSpPr>
          <p:cNvPr id="16" name="Shape 14"/>
          <p:cNvSpPr/>
          <p:nvPr/>
        </p:nvSpPr>
        <p:spPr>
          <a:xfrm>
            <a:off x="1656986"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7" name="Shape 15"/>
          <p:cNvSpPr/>
          <p:nvPr/>
        </p:nvSpPr>
        <p:spPr>
          <a:xfrm>
            <a:off x="2125788" y="2631272"/>
            <a:ext cx="257103" cy="257103"/>
          </a:xfrm>
          <a:prstGeom prst="ellipse">
            <a:avLst/>
          </a:prstGeom>
          <a:solidFill>
            <a:srgbClr val="CF7446"/>
          </a:solidFill>
          <a:ln/>
        </p:spPr>
        <p:txBody>
          <a:bodyPr/>
          <a:lstStyle/>
          <a:p>
            <a:endParaRPr lang="ko-KR" altLang="en-US"/>
          </a:p>
        </p:txBody>
      </p:sp>
      <p:sp>
        <p:nvSpPr>
          <p:cNvPr id="18" name="Shape 16"/>
          <p:cNvSpPr/>
          <p:nvPr/>
        </p:nvSpPr>
        <p:spPr>
          <a:xfrm>
            <a:off x="2082910"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9" name="Shape 17"/>
          <p:cNvSpPr/>
          <p:nvPr/>
        </p:nvSpPr>
        <p:spPr>
          <a:xfrm>
            <a:off x="2551712" y="2631272"/>
            <a:ext cx="257103" cy="257103"/>
          </a:xfrm>
          <a:prstGeom prst="ellipse">
            <a:avLst/>
          </a:prstGeom>
          <a:solidFill>
            <a:srgbClr val="CF7446"/>
          </a:solidFill>
          <a:ln/>
        </p:spPr>
        <p:txBody>
          <a:bodyPr/>
          <a:lstStyle/>
          <a:p>
            <a:endParaRPr lang="ko-KR" altLang="en-US"/>
          </a:p>
        </p:txBody>
      </p:sp>
      <p:sp>
        <p:nvSpPr>
          <p:cNvPr id="20" name="Shape 18"/>
          <p:cNvSpPr/>
          <p:nvPr/>
        </p:nvSpPr>
        <p:spPr>
          <a:xfrm>
            <a:off x="2508834"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1" name="Shape 19"/>
          <p:cNvSpPr/>
          <p:nvPr/>
        </p:nvSpPr>
        <p:spPr>
          <a:xfrm>
            <a:off x="2977554" y="2631272"/>
            <a:ext cx="257103" cy="257103"/>
          </a:xfrm>
          <a:prstGeom prst="ellipse">
            <a:avLst/>
          </a:prstGeom>
          <a:solidFill>
            <a:srgbClr val="CF7446"/>
          </a:solidFill>
          <a:ln/>
        </p:spPr>
        <p:txBody>
          <a:bodyPr/>
          <a:lstStyle/>
          <a:p>
            <a:endParaRPr lang="ko-KR" altLang="en-US"/>
          </a:p>
        </p:txBody>
      </p:sp>
      <p:sp>
        <p:nvSpPr>
          <p:cNvPr id="22" name="Shape 20"/>
          <p:cNvSpPr/>
          <p:nvPr/>
        </p:nvSpPr>
        <p:spPr>
          <a:xfrm>
            <a:off x="2934676"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3" name="Shape 21"/>
          <p:cNvSpPr/>
          <p:nvPr/>
        </p:nvSpPr>
        <p:spPr>
          <a:xfrm>
            <a:off x="3403478" y="2631272"/>
            <a:ext cx="257103" cy="257103"/>
          </a:xfrm>
          <a:prstGeom prst="ellipse">
            <a:avLst/>
          </a:prstGeom>
          <a:solidFill>
            <a:srgbClr val="CF7446"/>
          </a:solidFill>
          <a:ln/>
        </p:spPr>
        <p:txBody>
          <a:bodyPr/>
          <a:lstStyle/>
          <a:p>
            <a:endParaRPr lang="ko-KR" altLang="en-US"/>
          </a:p>
        </p:txBody>
      </p:sp>
      <p:sp>
        <p:nvSpPr>
          <p:cNvPr id="24" name="Shape 22"/>
          <p:cNvSpPr/>
          <p:nvPr/>
        </p:nvSpPr>
        <p:spPr>
          <a:xfrm>
            <a:off x="3360600"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5" name="Shape 23"/>
          <p:cNvSpPr/>
          <p:nvPr/>
        </p:nvSpPr>
        <p:spPr>
          <a:xfrm>
            <a:off x="3829402" y="2631272"/>
            <a:ext cx="257103" cy="257103"/>
          </a:xfrm>
          <a:prstGeom prst="ellipse">
            <a:avLst/>
          </a:prstGeom>
          <a:solidFill>
            <a:srgbClr val="E6DCD2"/>
          </a:solidFill>
          <a:ln/>
        </p:spPr>
        <p:txBody>
          <a:bodyPr/>
          <a:lstStyle/>
          <a:p>
            <a:endParaRPr lang="ko-KR" altLang="en-US"/>
          </a:p>
        </p:txBody>
      </p:sp>
      <p:sp>
        <p:nvSpPr>
          <p:cNvPr id="26" name="Shape 24"/>
          <p:cNvSpPr/>
          <p:nvPr/>
        </p:nvSpPr>
        <p:spPr>
          <a:xfrm>
            <a:off x="3786524"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7" name="Shape 25"/>
          <p:cNvSpPr/>
          <p:nvPr/>
        </p:nvSpPr>
        <p:spPr>
          <a:xfrm>
            <a:off x="4255244" y="2631272"/>
            <a:ext cx="257103" cy="257103"/>
          </a:xfrm>
          <a:prstGeom prst="ellipse">
            <a:avLst/>
          </a:prstGeom>
          <a:solidFill>
            <a:srgbClr val="E6DCD2"/>
          </a:solidFill>
          <a:ln/>
        </p:spPr>
        <p:txBody>
          <a:bodyPr/>
          <a:lstStyle/>
          <a:p>
            <a:endParaRPr lang="ko-KR" altLang="en-US"/>
          </a:p>
        </p:txBody>
      </p:sp>
      <p:sp>
        <p:nvSpPr>
          <p:cNvPr id="28" name="Shape 26"/>
          <p:cNvSpPr/>
          <p:nvPr/>
        </p:nvSpPr>
        <p:spPr>
          <a:xfrm>
            <a:off x="4212366"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9" name="Shape 27"/>
          <p:cNvSpPr/>
          <p:nvPr/>
        </p:nvSpPr>
        <p:spPr>
          <a:xfrm>
            <a:off x="4681168" y="2631272"/>
            <a:ext cx="257103" cy="257103"/>
          </a:xfrm>
          <a:prstGeom prst="ellipse">
            <a:avLst/>
          </a:prstGeom>
          <a:solidFill>
            <a:srgbClr val="E6DCD2"/>
          </a:solidFill>
          <a:ln/>
        </p:spPr>
        <p:txBody>
          <a:bodyPr/>
          <a:lstStyle/>
          <a:p>
            <a:endParaRPr lang="ko-KR" altLang="en-US"/>
          </a:p>
        </p:txBody>
      </p:sp>
      <p:sp>
        <p:nvSpPr>
          <p:cNvPr id="30" name="Shape 28"/>
          <p:cNvSpPr/>
          <p:nvPr/>
        </p:nvSpPr>
        <p:spPr>
          <a:xfrm>
            <a:off x="4638290" y="2926443"/>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31" name="Shape 29"/>
          <p:cNvSpPr/>
          <p:nvPr/>
        </p:nvSpPr>
        <p:spPr>
          <a:xfrm>
            <a:off x="786227" y="3987299"/>
            <a:ext cx="114286" cy="114286"/>
          </a:xfrm>
          <a:prstGeom prst="roundRect">
            <a:avLst>
              <a:gd name="adj" fmla="val 25003"/>
            </a:avLst>
          </a:prstGeom>
          <a:solidFill>
            <a:srgbClr val="CF7446"/>
          </a:solidFill>
          <a:ln/>
        </p:spPr>
        <p:txBody>
          <a:bodyPr/>
          <a:lstStyle/>
          <a:p>
            <a:endParaRPr lang="ko-KR" altLang="en-US"/>
          </a:p>
        </p:txBody>
      </p:sp>
      <p:sp>
        <p:nvSpPr>
          <p:cNvPr id="32" name="Text 30"/>
          <p:cNvSpPr/>
          <p:nvPr/>
        </p:nvSpPr>
        <p:spPr>
          <a:xfrm>
            <a:off x="957656" y="3960970"/>
            <a:ext cx="1436874"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5년 이상 생존 (73.7%)</a:t>
            </a:r>
            <a:endParaRPr lang="en-US" sz="1125" dirty="0"/>
          </a:p>
        </p:txBody>
      </p:sp>
      <p:sp>
        <p:nvSpPr>
          <p:cNvPr id="33" name="Shape 31"/>
          <p:cNvSpPr/>
          <p:nvPr/>
        </p:nvSpPr>
        <p:spPr>
          <a:xfrm>
            <a:off x="2508753" y="3987299"/>
            <a:ext cx="114286" cy="114286"/>
          </a:xfrm>
          <a:prstGeom prst="roundRect">
            <a:avLst>
              <a:gd name="adj" fmla="val 25003"/>
            </a:avLst>
          </a:prstGeom>
          <a:solidFill>
            <a:srgbClr val="E6DCD2"/>
          </a:solidFill>
          <a:ln/>
        </p:spPr>
        <p:txBody>
          <a:bodyPr/>
          <a:lstStyle/>
          <a:p>
            <a:endParaRPr lang="ko-KR" altLang="en-US"/>
          </a:p>
        </p:txBody>
      </p:sp>
      <p:sp>
        <p:nvSpPr>
          <p:cNvPr id="34" name="Text 32"/>
          <p:cNvSpPr/>
          <p:nvPr/>
        </p:nvSpPr>
        <p:spPr>
          <a:xfrm>
            <a:off x="2680182" y="3960970"/>
            <a:ext cx="359062"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그 외</a:t>
            </a:r>
            <a:endParaRPr lang="en-US" sz="1125" dirty="0"/>
          </a:p>
        </p:txBody>
      </p:sp>
      <p:sp>
        <p:nvSpPr>
          <p:cNvPr id="35" name="Shape 33"/>
          <p:cNvSpPr/>
          <p:nvPr/>
        </p:nvSpPr>
        <p:spPr>
          <a:xfrm>
            <a:off x="786227" y="4280270"/>
            <a:ext cx="4213915" cy="9525"/>
          </a:xfrm>
          <a:prstGeom prst="rect">
            <a:avLst/>
          </a:prstGeom>
          <a:solidFill>
            <a:srgbClr val="EADFD3"/>
          </a:solidFill>
          <a:ln/>
        </p:spPr>
        <p:txBody>
          <a:bodyPr/>
          <a:lstStyle/>
          <a:p>
            <a:endParaRPr lang="ko-KR" altLang="en-US"/>
          </a:p>
        </p:txBody>
      </p:sp>
      <p:sp>
        <p:nvSpPr>
          <p:cNvPr id="36" name="Text 34"/>
          <p:cNvSpPr/>
          <p:nvPr/>
        </p:nvSpPr>
        <p:spPr>
          <a:xfrm>
            <a:off x="786227" y="4399787"/>
            <a:ext cx="4340333" cy="205032"/>
          </a:xfrm>
          <a:prstGeom prst="rect">
            <a:avLst/>
          </a:prstGeom>
          <a:noFill/>
          <a:ln/>
        </p:spPr>
        <p:txBody>
          <a:bodyPr wrap="square" lIns="25400" tIns="25400" rIns="25400" bIns="25400" rtlCol="0" anchor="t">
            <a:normAutofit fontScale="92500"/>
          </a:bodyPr>
          <a:lstStyle/>
          <a:p>
            <a:pPr marL="0" indent="0" algn="l">
              <a:buNone/>
            </a:pPr>
            <a:r>
              <a:rPr lang="en-US" sz="1125" b="1" dirty="0">
                <a:solidFill>
                  <a:srgbClr val="7B6B60"/>
                </a:solidFill>
                <a:latin typeface="Paperlogy 7 Bold" pitchFamily="2" charset="-127"/>
                <a:ea typeface="Paperlogy 7 Bold" pitchFamily="2" charset="-127"/>
                <a:cs typeface="Arial" pitchFamily="34" charset="-120"/>
              </a:rPr>
              <a:t>5년 상대생존율 2001~05년 54.2% → 2019~23년 73.7%</a:t>
            </a:r>
            <a:endParaRPr lang="en-US" sz="1125" dirty="0"/>
          </a:p>
        </p:txBody>
      </p:sp>
      <p:sp>
        <p:nvSpPr>
          <p:cNvPr id="37" name="Shape 35"/>
          <p:cNvSpPr/>
          <p:nvPr/>
        </p:nvSpPr>
        <p:spPr>
          <a:xfrm>
            <a:off x="5443429" y="1704918"/>
            <a:ext cx="4719725" cy="3076515"/>
          </a:xfrm>
          <a:prstGeom prst="roundRect">
            <a:avLst>
              <a:gd name="adj" fmla="val 4954"/>
            </a:avLst>
          </a:prstGeom>
          <a:solidFill>
            <a:srgbClr val="FFFFFF"/>
          </a:solidFill>
          <a:ln w="5217">
            <a:solidFill>
              <a:srgbClr val="EADFD3"/>
            </a:solidFill>
            <a:prstDash val="solid"/>
          </a:ln>
        </p:spPr>
        <p:txBody>
          <a:bodyPr/>
          <a:lstStyle/>
          <a:p>
            <a:endParaRPr lang="ko-KR" altLang="en-US"/>
          </a:p>
        </p:txBody>
      </p:sp>
      <p:sp>
        <p:nvSpPr>
          <p:cNvPr id="38" name="Text 36"/>
          <p:cNvSpPr/>
          <p:nvPr/>
        </p:nvSpPr>
        <p:spPr>
          <a:xfrm>
            <a:off x="5696293" y="1919633"/>
            <a:ext cx="1384028" cy="267651"/>
          </a:xfrm>
          <a:prstGeom prst="rect">
            <a:avLst/>
          </a:prstGeom>
          <a:noFill/>
          <a:ln/>
        </p:spPr>
        <p:txBody>
          <a:bodyPr wrap="non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병행 치료의 효과</a:t>
            </a:r>
            <a:endParaRPr lang="en-US" sz="1500" dirty="0"/>
          </a:p>
        </p:txBody>
      </p:sp>
      <p:sp>
        <p:nvSpPr>
          <p:cNvPr id="39" name="Text 37"/>
          <p:cNvSpPr/>
          <p:nvPr/>
        </p:nvSpPr>
        <p:spPr>
          <a:xfrm>
            <a:off x="7049712" y="1961369"/>
            <a:ext cx="1314715"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A69687"/>
                </a:solidFill>
                <a:latin typeface="Paperlogy 7 Bold" pitchFamily="2" charset="-127"/>
                <a:ea typeface="Paperlogy 7 Bold" pitchFamily="2" charset="-127"/>
                <a:cs typeface="Arial" pitchFamily="34" charset="-120"/>
              </a:rPr>
              <a:t>폐암 임상 5년 생존율</a:t>
            </a:r>
            <a:endParaRPr lang="en-US" sz="1125" dirty="0"/>
          </a:p>
        </p:txBody>
      </p:sp>
      <p:sp>
        <p:nvSpPr>
          <p:cNvPr id="40" name="Shape 38"/>
          <p:cNvSpPr/>
          <p:nvPr/>
        </p:nvSpPr>
        <p:spPr>
          <a:xfrm>
            <a:off x="5696293" y="4273422"/>
            <a:ext cx="4213997" cy="9525"/>
          </a:xfrm>
          <a:prstGeom prst="rect">
            <a:avLst/>
          </a:prstGeom>
          <a:solidFill>
            <a:srgbClr val="EADFD3"/>
          </a:solidFill>
          <a:ln/>
        </p:spPr>
        <p:txBody>
          <a:bodyPr/>
          <a:lstStyle/>
          <a:p>
            <a:endParaRPr lang="ko-KR" altLang="en-US"/>
          </a:p>
        </p:txBody>
      </p:sp>
      <p:sp>
        <p:nvSpPr>
          <p:cNvPr id="41" name="Text 39"/>
          <p:cNvSpPr/>
          <p:nvPr/>
        </p:nvSpPr>
        <p:spPr>
          <a:xfrm>
            <a:off x="6502736" y="2260290"/>
            <a:ext cx="589265" cy="241565"/>
          </a:xfrm>
          <a:prstGeom prst="rect">
            <a:avLst/>
          </a:prstGeom>
          <a:noFill/>
          <a:ln/>
        </p:spPr>
        <p:txBody>
          <a:bodyPr wrap="none" lIns="25400" tIns="25400" rIns="25400" bIns="25400" rtlCol="0" anchor="t">
            <a:normAutofit fontScale="92500" lnSpcReduction="10000"/>
          </a:bodyPr>
          <a:lstStyle/>
          <a:p>
            <a:pPr marL="0" indent="0" algn="l">
              <a:buNone/>
            </a:pPr>
            <a:r>
              <a:rPr lang="en-US" sz="1425" b="1" dirty="0">
                <a:solidFill>
                  <a:srgbClr val="9A4A27"/>
                </a:solidFill>
                <a:latin typeface="Paperlogy 7 Bold" pitchFamily="2" charset="-127"/>
                <a:ea typeface="Paperlogy 7 Bold" pitchFamily="2" charset="-127"/>
                <a:cs typeface="Arial" pitchFamily="34" charset="-120"/>
              </a:rPr>
              <a:t>65.4%</a:t>
            </a:r>
            <a:endParaRPr lang="en-US" sz="1425" dirty="0"/>
          </a:p>
        </p:txBody>
      </p:sp>
      <p:sp>
        <p:nvSpPr>
          <p:cNvPr id="42" name="Shape 40"/>
          <p:cNvSpPr/>
          <p:nvPr/>
        </p:nvSpPr>
        <p:spPr>
          <a:xfrm>
            <a:off x="6416410" y="2539892"/>
            <a:ext cx="685799" cy="1733530"/>
          </a:xfrm>
          <a:custGeom>
            <a:avLst/>
            <a:gdLst/>
            <a:ahLst/>
            <a:cxnLst/>
            <a:rect l="l" t="t" r="r" b="b"/>
            <a:pathLst>
              <a:path w="685799" h="1733530">
                <a:moveTo>
                  <a:pt x="76200" y="0"/>
                </a:moveTo>
                <a:lnTo>
                  <a:pt x="609599" y="0"/>
                </a:lnTo>
                <a:arcTo wR="76200" hR="76200" stAng="16200000" swAng="5400000"/>
                <a:lnTo>
                  <a:pt x="685799" y="1733530"/>
                </a:lnTo>
                <a:lnTo>
                  <a:pt x="0" y="1733530"/>
                </a:lnTo>
                <a:lnTo>
                  <a:pt x="0" y="76200"/>
                </a:lnTo>
                <a:arcTo wR="76200" hR="76200" stAng="10800000" swAng="5400000"/>
                <a:close/>
              </a:path>
            </a:pathLst>
          </a:custGeom>
          <a:solidFill>
            <a:srgbClr val="CF7446"/>
          </a:solidFill>
          <a:ln/>
        </p:spPr>
        <p:txBody>
          <a:bodyPr/>
          <a:lstStyle/>
          <a:p>
            <a:endParaRPr lang="ko-KR" altLang="en-US"/>
          </a:p>
        </p:txBody>
      </p:sp>
      <p:sp>
        <p:nvSpPr>
          <p:cNvPr id="43" name="Text 41"/>
          <p:cNvSpPr/>
          <p:nvPr/>
        </p:nvSpPr>
        <p:spPr>
          <a:xfrm>
            <a:off x="8666185" y="2536550"/>
            <a:ext cx="438378" cy="241565"/>
          </a:xfrm>
          <a:prstGeom prst="rect">
            <a:avLst/>
          </a:prstGeom>
          <a:noFill/>
          <a:ln/>
        </p:spPr>
        <p:txBody>
          <a:bodyPr wrap="none" lIns="25400" tIns="25400" rIns="25400" bIns="25400" rtlCol="0" anchor="t">
            <a:normAutofit fontScale="92500" lnSpcReduction="10000"/>
          </a:bodyPr>
          <a:lstStyle/>
          <a:p>
            <a:pPr marL="0" indent="0" algn="l">
              <a:buNone/>
            </a:pPr>
            <a:r>
              <a:rPr lang="en-US" sz="1425" b="1" dirty="0">
                <a:solidFill>
                  <a:srgbClr val="7B6B60"/>
                </a:solidFill>
                <a:latin typeface="Paperlogy 7 Bold" pitchFamily="2" charset="-127"/>
                <a:ea typeface="Paperlogy 7 Bold" pitchFamily="2" charset="-127"/>
                <a:cs typeface="Arial" pitchFamily="34" charset="-120"/>
              </a:rPr>
              <a:t>55%</a:t>
            </a:r>
            <a:endParaRPr lang="en-US" sz="1425" dirty="0"/>
          </a:p>
        </p:txBody>
      </p:sp>
      <p:sp>
        <p:nvSpPr>
          <p:cNvPr id="44" name="Shape 42"/>
          <p:cNvSpPr/>
          <p:nvPr/>
        </p:nvSpPr>
        <p:spPr>
          <a:xfrm>
            <a:off x="8504375" y="2816151"/>
            <a:ext cx="685799" cy="1457271"/>
          </a:xfrm>
          <a:custGeom>
            <a:avLst/>
            <a:gdLst/>
            <a:ahLst/>
            <a:cxnLst/>
            <a:rect l="l" t="t" r="r" b="b"/>
            <a:pathLst>
              <a:path w="685799" h="1457271">
                <a:moveTo>
                  <a:pt x="76200" y="0"/>
                </a:moveTo>
                <a:lnTo>
                  <a:pt x="609599" y="0"/>
                </a:lnTo>
                <a:arcTo wR="76200" hR="76200" stAng="16200000" swAng="5400000"/>
                <a:lnTo>
                  <a:pt x="685799" y="1457271"/>
                </a:lnTo>
                <a:lnTo>
                  <a:pt x="0" y="1457271"/>
                </a:lnTo>
                <a:lnTo>
                  <a:pt x="0" y="76200"/>
                </a:lnTo>
                <a:arcTo wR="76200" hR="76200" stAng="10800000" swAng="5400000"/>
                <a:close/>
              </a:path>
            </a:pathLst>
          </a:custGeom>
          <a:solidFill>
            <a:srgbClr val="DDD2C7"/>
          </a:solidFill>
          <a:ln/>
        </p:spPr>
        <p:txBody>
          <a:bodyPr/>
          <a:lstStyle/>
          <a:p>
            <a:endParaRPr lang="ko-KR" altLang="en-US"/>
          </a:p>
        </p:txBody>
      </p:sp>
      <p:sp>
        <p:nvSpPr>
          <p:cNvPr id="45" name="Text 43"/>
          <p:cNvSpPr/>
          <p:nvPr/>
        </p:nvSpPr>
        <p:spPr>
          <a:xfrm>
            <a:off x="5694724" y="4373851"/>
            <a:ext cx="2129171"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수술 전 면역항암 병행</a:t>
            </a:r>
            <a:endParaRPr lang="en-US" sz="1125" dirty="0"/>
          </a:p>
        </p:txBody>
      </p:sp>
      <p:sp>
        <p:nvSpPr>
          <p:cNvPr id="46" name="Text 44"/>
          <p:cNvSpPr/>
          <p:nvPr/>
        </p:nvSpPr>
        <p:spPr>
          <a:xfrm>
            <a:off x="7782689" y="4373851"/>
            <a:ext cx="2129171"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항암 단독</a:t>
            </a:r>
            <a:endParaRPr lang="en-US" sz="1125" dirty="0"/>
          </a:p>
        </p:txBody>
      </p:sp>
      <p:sp>
        <p:nvSpPr>
          <p:cNvPr id="47" name="Shape 45"/>
          <p:cNvSpPr/>
          <p:nvPr/>
        </p:nvSpPr>
        <p:spPr>
          <a:xfrm>
            <a:off x="533363"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48" name="Shape 46"/>
          <p:cNvSpPr/>
          <p:nvPr/>
        </p:nvSpPr>
        <p:spPr>
          <a:xfrm>
            <a:off x="538580" y="4996311"/>
            <a:ext cx="2297054" cy="286449"/>
          </a:xfrm>
          <a:prstGeom prst="rect">
            <a:avLst/>
          </a:prstGeom>
          <a:solidFill>
            <a:srgbClr val="A08E80"/>
          </a:solidFill>
          <a:ln/>
        </p:spPr>
        <p:txBody>
          <a:bodyPr/>
          <a:lstStyle/>
          <a:p>
            <a:endParaRPr lang="ko-KR" altLang="en-US"/>
          </a:p>
        </p:txBody>
      </p:sp>
      <p:sp>
        <p:nvSpPr>
          <p:cNvPr id="49" name="Text 47"/>
          <p:cNvSpPr/>
          <p:nvPr/>
        </p:nvSpPr>
        <p:spPr>
          <a:xfrm>
            <a:off x="576680"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암 유병자</a:t>
            </a:r>
            <a:endParaRPr lang="en-US" sz="1125" dirty="0"/>
          </a:p>
        </p:txBody>
      </p:sp>
      <p:sp>
        <p:nvSpPr>
          <p:cNvPr id="50" name="Text 48"/>
          <p:cNvSpPr/>
          <p:nvPr/>
        </p:nvSpPr>
        <p:spPr>
          <a:xfrm>
            <a:off x="1314780" y="5386449"/>
            <a:ext cx="535872"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273</a:t>
            </a:r>
            <a:endParaRPr lang="en-US" sz="2250" dirty="0"/>
          </a:p>
        </p:txBody>
      </p:sp>
      <p:sp>
        <p:nvSpPr>
          <p:cNvPr id="51" name="Text 49"/>
          <p:cNvSpPr/>
          <p:nvPr/>
        </p:nvSpPr>
        <p:spPr>
          <a:xfrm>
            <a:off x="1812520" y="5516875"/>
            <a:ext cx="323114"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만명</a:t>
            </a:r>
            <a:endParaRPr lang="en-US" sz="1125" dirty="0"/>
          </a:p>
        </p:txBody>
      </p:sp>
      <p:sp>
        <p:nvSpPr>
          <p:cNvPr id="52" name="Shape 50"/>
          <p:cNvSpPr/>
          <p:nvPr/>
        </p:nvSpPr>
        <p:spPr>
          <a:xfrm>
            <a:off x="2974130"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3" name="Shape 51"/>
          <p:cNvSpPr/>
          <p:nvPr/>
        </p:nvSpPr>
        <p:spPr>
          <a:xfrm>
            <a:off x="2979348" y="4996311"/>
            <a:ext cx="2297054" cy="286449"/>
          </a:xfrm>
          <a:prstGeom prst="rect">
            <a:avLst/>
          </a:prstGeom>
          <a:solidFill>
            <a:srgbClr val="A08E80"/>
          </a:solidFill>
          <a:ln/>
        </p:spPr>
        <p:txBody>
          <a:bodyPr/>
          <a:lstStyle/>
          <a:p>
            <a:endParaRPr lang="ko-KR" altLang="en-US"/>
          </a:p>
        </p:txBody>
      </p:sp>
      <p:sp>
        <p:nvSpPr>
          <p:cNvPr id="54" name="Text 52"/>
          <p:cNvSpPr/>
          <p:nvPr/>
        </p:nvSpPr>
        <p:spPr>
          <a:xfrm>
            <a:off x="3017448"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평생 암 발생 확률(남)</a:t>
            </a:r>
            <a:endParaRPr lang="en-US" sz="1125" dirty="0"/>
          </a:p>
        </p:txBody>
      </p:sp>
      <p:sp>
        <p:nvSpPr>
          <p:cNvPr id="55" name="Text 53"/>
          <p:cNvSpPr/>
          <p:nvPr/>
        </p:nvSpPr>
        <p:spPr>
          <a:xfrm>
            <a:off x="3778617"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44.6</a:t>
            </a:r>
            <a:endParaRPr lang="en-US" sz="2250" dirty="0"/>
          </a:p>
        </p:txBody>
      </p:sp>
      <p:sp>
        <p:nvSpPr>
          <p:cNvPr id="56" name="Text 54"/>
          <p:cNvSpPr/>
          <p:nvPr/>
        </p:nvSpPr>
        <p:spPr>
          <a:xfrm>
            <a:off x="4349966"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57" name="Shape 55"/>
          <p:cNvSpPr/>
          <p:nvPr/>
        </p:nvSpPr>
        <p:spPr>
          <a:xfrm>
            <a:off x="5414898"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8" name="Shape 56"/>
          <p:cNvSpPr/>
          <p:nvPr/>
        </p:nvSpPr>
        <p:spPr>
          <a:xfrm>
            <a:off x="5420115" y="4996311"/>
            <a:ext cx="2297054" cy="286449"/>
          </a:xfrm>
          <a:prstGeom prst="rect">
            <a:avLst/>
          </a:prstGeom>
          <a:solidFill>
            <a:srgbClr val="CF9C3C"/>
          </a:solidFill>
          <a:ln/>
        </p:spPr>
        <p:txBody>
          <a:bodyPr/>
          <a:lstStyle/>
          <a:p>
            <a:endParaRPr lang="ko-KR" altLang="en-US"/>
          </a:p>
        </p:txBody>
      </p:sp>
      <p:sp>
        <p:nvSpPr>
          <p:cNvPr id="59" name="Text 57"/>
          <p:cNvSpPr/>
          <p:nvPr/>
        </p:nvSpPr>
        <p:spPr>
          <a:xfrm>
            <a:off x="5746100" y="5058671"/>
            <a:ext cx="1615232" cy="199829"/>
          </a:xfrm>
          <a:prstGeom prst="rect">
            <a:avLst/>
          </a:prstGeom>
          <a:noFill/>
          <a:ln/>
        </p:spPr>
        <p:txBody>
          <a:bodyPr wrap="none" lIns="0" tIns="0" rIns="0" bIns="0" rtlCol="0" anchor="t">
            <a:normAutofit/>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비급여 항암제 월 1,000만원</a:t>
            </a:r>
            <a:endParaRPr lang="en-US" sz="1125" dirty="0"/>
          </a:p>
        </p:txBody>
      </p:sp>
      <p:pic>
        <p:nvPicPr>
          <p:cNvPr id="6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9397" y="5069105"/>
            <a:ext cx="91788" cy="128552"/>
          </a:xfrm>
          <a:prstGeom prst="rect">
            <a:avLst/>
          </a:prstGeom>
        </p:spPr>
      </p:pic>
      <p:sp>
        <p:nvSpPr>
          <p:cNvPr id="61" name="Text 58"/>
          <p:cNvSpPr/>
          <p:nvPr/>
        </p:nvSpPr>
        <p:spPr>
          <a:xfrm>
            <a:off x="6332856" y="5386449"/>
            <a:ext cx="38262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27</a:t>
            </a:r>
            <a:endParaRPr lang="en-US" sz="2250" dirty="0"/>
          </a:p>
        </p:txBody>
      </p:sp>
      <p:sp>
        <p:nvSpPr>
          <p:cNvPr id="62" name="Text 59"/>
          <p:cNvSpPr/>
          <p:nvPr/>
        </p:nvSpPr>
        <p:spPr>
          <a:xfrm>
            <a:off x="6677345"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a:t>
            </a:r>
            <a:endParaRPr lang="en-US" sz="1125" dirty="0"/>
          </a:p>
        </p:txBody>
      </p:sp>
      <p:sp>
        <p:nvSpPr>
          <p:cNvPr id="63" name="Shape 60"/>
          <p:cNvSpPr/>
          <p:nvPr/>
        </p:nvSpPr>
        <p:spPr>
          <a:xfrm>
            <a:off x="7855666"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64" name="Shape 61"/>
          <p:cNvSpPr/>
          <p:nvPr/>
        </p:nvSpPr>
        <p:spPr>
          <a:xfrm>
            <a:off x="7860883" y="4996311"/>
            <a:ext cx="2297054" cy="286449"/>
          </a:xfrm>
          <a:prstGeom prst="rect">
            <a:avLst/>
          </a:prstGeom>
          <a:solidFill>
            <a:srgbClr val="CF9C3C"/>
          </a:solidFill>
          <a:ln/>
        </p:spPr>
        <p:txBody>
          <a:bodyPr/>
          <a:lstStyle/>
          <a:p>
            <a:endParaRPr lang="ko-KR" altLang="en-US"/>
          </a:p>
        </p:txBody>
      </p:sp>
      <p:sp>
        <p:nvSpPr>
          <p:cNvPr id="65" name="Text 62"/>
          <p:cNvSpPr/>
          <p:nvPr/>
        </p:nvSpPr>
        <p:spPr>
          <a:xfrm>
            <a:off x="7898983"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진단 후 일자리 변화</a:t>
            </a:r>
            <a:endParaRPr lang="en-US" sz="1125" dirty="0"/>
          </a:p>
        </p:txBody>
      </p:sp>
      <p:sp>
        <p:nvSpPr>
          <p:cNvPr id="66" name="Text 63"/>
          <p:cNvSpPr/>
          <p:nvPr/>
        </p:nvSpPr>
        <p:spPr>
          <a:xfrm>
            <a:off x="8660153"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33.8</a:t>
            </a:r>
            <a:endParaRPr lang="en-US" sz="2250" dirty="0"/>
          </a:p>
        </p:txBody>
      </p:sp>
      <p:sp>
        <p:nvSpPr>
          <p:cNvPr id="67" name="Text 64"/>
          <p:cNvSpPr/>
          <p:nvPr/>
        </p:nvSpPr>
        <p:spPr>
          <a:xfrm>
            <a:off x="9231502"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a:t>
            </a:r>
            <a:endParaRPr lang="en-US" sz="1125" dirty="0"/>
          </a:p>
        </p:txBody>
      </p:sp>
      <p:sp>
        <p:nvSpPr>
          <p:cNvPr id="68" name="Shape 65"/>
          <p:cNvSpPr/>
          <p:nvPr/>
        </p:nvSpPr>
        <p:spPr>
          <a:xfrm>
            <a:off x="533363" y="6038826"/>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69" name="Text 66"/>
          <p:cNvSpPr/>
          <p:nvPr/>
        </p:nvSpPr>
        <p:spPr>
          <a:xfrm>
            <a:off x="2265100" y="6201125"/>
            <a:ext cx="3820188"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수술·항암·방사선치료가 병행되는 기간, 쌓여가는</a:t>
            </a:r>
            <a:endParaRPr lang="en-US" sz="1575" dirty="0"/>
          </a:p>
        </p:txBody>
      </p:sp>
      <p:sp>
        <p:nvSpPr>
          <p:cNvPr id="70" name="Text 67"/>
          <p:cNvSpPr/>
          <p:nvPr/>
        </p:nvSpPr>
        <p:spPr>
          <a:xfrm>
            <a:off x="5974020" y="6190691"/>
            <a:ext cx="1357038"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치료비와 생활비</a:t>
            </a:r>
            <a:endParaRPr lang="en-US" sz="1575" dirty="0"/>
          </a:p>
        </p:txBody>
      </p:sp>
      <p:sp>
        <p:nvSpPr>
          <p:cNvPr id="71" name="Text 68"/>
          <p:cNvSpPr/>
          <p:nvPr/>
        </p:nvSpPr>
        <p:spPr>
          <a:xfrm>
            <a:off x="7207691" y="6201125"/>
            <a:ext cx="1299844"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는 어떻게 준비?</a:t>
            </a:r>
            <a:endParaRPr lang="en-US" sz="1575" dirty="0"/>
          </a:p>
        </p:txBody>
      </p:sp>
      <p:sp>
        <p:nvSpPr>
          <p:cNvPr id="72" name="Text 69"/>
          <p:cNvSpPr/>
          <p:nvPr/>
        </p:nvSpPr>
        <p:spPr>
          <a:xfrm>
            <a:off x="51873" y="6648406"/>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시사저널(2026.6.21, CheckMate-816 임상) · 보건복지부·중앙암등록본부 「2023년 국가암등록통계」(2026.1.20) · 대한종양내과학회 설문(암환자 270명, 연합뉴스 2026.5.19) · Cancers 2026;18(2):219</a:t>
            </a:r>
            <a:endParaRPr lang="en-US" sz="788" dirty="0"/>
          </a:p>
        </p:txBody>
      </p:sp>
      <p:sp>
        <p:nvSpPr>
          <p:cNvPr id="73" name="Text 7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4" name="Text 7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75" name="Text 72"/>
          <p:cNvSpPr/>
          <p:nvPr/>
        </p:nvSpPr>
        <p:spPr>
          <a:xfrm>
            <a:off x="10044547" y="7236711"/>
            <a:ext cx="194807"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637300"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흥국생명 – 다사랑 통합보험</a:t>
            </a:r>
            <a:endParaRPr lang="en-US" sz="2475" dirty="0"/>
          </a:p>
        </p:txBody>
      </p:sp>
      <p:sp>
        <p:nvSpPr>
          <p:cNvPr id="3" name="Shape 1"/>
          <p:cNvSpPr/>
          <p:nvPr/>
        </p:nvSpPr>
        <p:spPr>
          <a:xfrm>
            <a:off x="9253104" y="340821"/>
            <a:ext cx="910050"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405504" y="407496"/>
            <a:ext cx="681450"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암 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1322769" y="1310052"/>
            <a:ext cx="3902359" cy="5266538"/>
          </a:xfrm>
          <a:prstGeom prst="roundRect">
            <a:avLst>
              <a:gd name="adj" fmla="val 1953"/>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t="-1" b="-1"/>
          <a:stretch/>
        </p:blipFill>
        <p:spPr>
          <a:xfrm>
            <a:off x="1322769" y="1310052"/>
            <a:ext cx="3902359" cy="5266538"/>
          </a:xfrm>
          <a:prstGeom prst="rect">
            <a:avLst/>
          </a:prstGeom>
        </p:spPr>
      </p:pic>
      <p:sp>
        <p:nvSpPr>
          <p:cNvPr id="9" name="Shape 6"/>
          <p:cNvSpPr/>
          <p:nvPr/>
        </p:nvSpPr>
        <p:spPr>
          <a:xfrm>
            <a:off x="5472775" y="1310052"/>
            <a:ext cx="3900892" cy="5266538"/>
          </a:xfrm>
          <a:prstGeom prst="roundRect">
            <a:avLst>
              <a:gd name="adj" fmla="val 1953"/>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0" name="Image 1" descr="preencoded.png"/>
          <p:cNvPicPr>
            <a:picLocks noChangeAspect="1"/>
          </p:cNvPicPr>
          <p:nvPr/>
        </p:nvPicPr>
        <p:blipFill>
          <a:blip r:embed="rId4"/>
          <a:srcRect/>
          <a:stretch/>
        </p:blipFill>
        <p:spPr>
          <a:xfrm>
            <a:off x="5472775" y="1310052"/>
            <a:ext cx="3900892" cy="5266538"/>
          </a:xfrm>
          <a:prstGeom prst="rect">
            <a:avLst/>
          </a:prstGeom>
        </p:spPr>
      </p:pic>
      <p:sp>
        <p:nvSpPr>
          <p:cNvPr id="11" name="Text 7"/>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2" name="Text 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3" name="Text 9"/>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446445"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흥국생명 – 다사랑 통합보험</a:t>
            </a:r>
            <a:endParaRPr lang="en-US" sz="2475" dirty="0"/>
          </a:p>
        </p:txBody>
      </p:sp>
      <p:sp>
        <p:nvSpPr>
          <p:cNvPr id="3" name="Shape 1"/>
          <p:cNvSpPr/>
          <p:nvPr/>
        </p:nvSpPr>
        <p:spPr>
          <a:xfrm>
            <a:off x="9253104" y="340821"/>
            <a:ext cx="910050"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405504" y="407496"/>
            <a:ext cx="681450"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암 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2007"/>
            </a:avLst>
          </a:prstGeom>
          <a:solidFill>
            <a:srgbClr val="FFFFFF"/>
          </a:solidFill>
          <a:ln w="5217">
            <a:solidFill>
              <a:srgbClr val="D3B9A5"/>
            </a:solidFill>
            <a:prstDash val="solid"/>
          </a:ln>
        </p:spPr>
        <p:txBody>
          <a:bodyPr/>
          <a:lstStyle/>
          <a:p>
            <a:endParaRPr lang="ko-KR" altLang="en-US"/>
          </a:p>
        </p:txBody>
      </p:sp>
      <p:sp>
        <p:nvSpPr>
          <p:cNvPr id="7" name="Shape 5"/>
          <p:cNvSpPr/>
          <p:nvPr/>
        </p:nvSpPr>
        <p:spPr>
          <a:xfrm>
            <a:off x="538580" y="1100555"/>
            <a:ext cx="2404738" cy="487958"/>
          </a:xfrm>
          <a:prstGeom prst="rect">
            <a:avLst/>
          </a:prstGeom>
          <a:solidFill>
            <a:srgbClr val="CF7446"/>
          </a:solidFill>
          <a:ln/>
        </p:spPr>
        <p:txBody>
          <a:bodyPr/>
          <a:lstStyle/>
          <a:p>
            <a:endParaRPr lang="ko-KR" altLang="en-US"/>
          </a:p>
        </p:txBody>
      </p:sp>
      <p:sp>
        <p:nvSpPr>
          <p:cNvPr id="8" name="Text 6"/>
          <p:cNvSpPr/>
          <p:nvPr/>
        </p:nvSpPr>
        <p:spPr>
          <a:xfrm>
            <a:off x="557630" y="1138655"/>
            <a:ext cx="2366638"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9" name="Shape 7"/>
          <p:cNvSpPr/>
          <p:nvPr/>
        </p:nvSpPr>
        <p:spPr>
          <a:xfrm>
            <a:off x="2943317" y="1100555"/>
            <a:ext cx="2404738" cy="487958"/>
          </a:xfrm>
          <a:prstGeom prst="rect">
            <a:avLst/>
          </a:prstGeom>
          <a:solidFill>
            <a:srgbClr val="9A4A27"/>
          </a:solidFill>
          <a:ln/>
        </p:spPr>
        <p:txBody>
          <a:bodyPr/>
          <a:lstStyle/>
          <a:p>
            <a:endParaRPr lang="ko-KR" altLang="en-US"/>
          </a:p>
        </p:txBody>
      </p:sp>
      <p:sp>
        <p:nvSpPr>
          <p:cNvPr id="10" name="Shape 8"/>
          <p:cNvSpPr/>
          <p:nvPr/>
        </p:nvSpPr>
        <p:spPr>
          <a:xfrm>
            <a:off x="2943317" y="1100555"/>
            <a:ext cx="9525" cy="487958"/>
          </a:xfrm>
          <a:prstGeom prst="rect">
            <a:avLst/>
          </a:prstGeom>
          <a:solidFill>
            <a:srgbClr val="FFFFFF">
              <a:alpha val="25000"/>
            </a:srgbClr>
          </a:solidFill>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3647457" y="1173104"/>
            <a:ext cx="239496" cy="342859"/>
          </a:xfrm>
          <a:prstGeom prst="rect">
            <a:avLst/>
          </a:prstGeom>
        </p:spPr>
      </p:pic>
      <p:sp>
        <p:nvSpPr>
          <p:cNvPr id="12" name="Text 9"/>
          <p:cNvSpPr/>
          <p:nvPr/>
        </p:nvSpPr>
        <p:spPr>
          <a:xfrm>
            <a:off x="3924989" y="1224541"/>
            <a:ext cx="762162"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흥국생명</a:t>
            </a:r>
            <a:endParaRPr lang="en-US" sz="1575" dirty="0"/>
          </a:p>
        </p:txBody>
      </p:sp>
      <p:sp>
        <p:nvSpPr>
          <p:cNvPr id="13" name="Shape 10"/>
          <p:cNvSpPr/>
          <p:nvPr/>
        </p:nvSpPr>
        <p:spPr>
          <a:xfrm>
            <a:off x="5348054" y="1100555"/>
            <a:ext cx="2404738" cy="487958"/>
          </a:xfrm>
          <a:prstGeom prst="rect">
            <a:avLst/>
          </a:prstGeom>
          <a:solidFill>
            <a:srgbClr val="CF7446"/>
          </a:solidFill>
          <a:ln/>
        </p:spPr>
        <p:txBody>
          <a:bodyPr/>
          <a:lstStyle/>
          <a:p>
            <a:endParaRPr lang="ko-KR" altLang="en-US"/>
          </a:p>
        </p:txBody>
      </p:sp>
      <p:sp>
        <p:nvSpPr>
          <p:cNvPr id="14" name="Shape 11"/>
          <p:cNvSpPr/>
          <p:nvPr/>
        </p:nvSpPr>
        <p:spPr>
          <a:xfrm>
            <a:off x="5348054" y="1100555"/>
            <a:ext cx="9525" cy="487958"/>
          </a:xfrm>
          <a:prstGeom prst="rect">
            <a:avLst/>
          </a:prstGeom>
          <a:solidFill>
            <a:srgbClr val="FFFFFF">
              <a:alpha val="25000"/>
            </a:srgbClr>
          </a:solidFill>
          <a:ln/>
        </p:spPr>
        <p:txBody>
          <a:bodyPr/>
          <a:lstStyle/>
          <a:p>
            <a:endParaRPr lang="ko-KR" altLang="en-US"/>
          </a:p>
        </p:txBody>
      </p:sp>
      <p:sp>
        <p:nvSpPr>
          <p:cNvPr id="15" name="Text 12"/>
          <p:cNvSpPr/>
          <p:nvPr/>
        </p:nvSpPr>
        <p:spPr>
          <a:xfrm>
            <a:off x="5372321" y="1138655"/>
            <a:ext cx="2361420"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동양생명</a:t>
            </a:r>
            <a:endParaRPr lang="en-US" sz="1575" dirty="0"/>
          </a:p>
        </p:txBody>
      </p:sp>
      <p:sp>
        <p:nvSpPr>
          <p:cNvPr id="16" name="Shape 13"/>
          <p:cNvSpPr/>
          <p:nvPr/>
        </p:nvSpPr>
        <p:spPr>
          <a:xfrm>
            <a:off x="7752792" y="1100555"/>
            <a:ext cx="2405145" cy="487958"/>
          </a:xfrm>
          <a:prstGeom prst="rect">
            <a:avLst/>
          </a:prstGeom>
          <a:solidFill>
            <a:srgbClr val="CF7446"/>
          </a:solidFill>
          <a:ln/>
        </p:spPr>
        <p:txBody>
          <a:bodyPr/>
          <a:lstStyle/>
          <a:p>
            <a:endParaRPr lang="ko-KR" altLang="en-US"/>
          </a:p>
        </p:txBody>
      </p:sp>
      <p:sp>
        <p:nvSpPr>
          <p:cNvPr id="17" name="Shape 14"/>
          <p:cNvSpPr/>
          <p:nvPr/>
        </p:nvSpPr>
        <p:spPr>
          <a:xfrm>
            <a:off x="7752792" y="1100555"/>
            <a:ext cx="9525" cy="487958"/>
          </a:xfrm>
          <a:prstGeom prst="rect">
            <a:avLst/>
          </a:prstGeom>
          <a:solidFill>
            <a:srgbClr val="FFFFFF">
              <a:alpha val="25000"/>
            </a:srgbClr>
          </a:solidFill>
          <a:ln/>
        </p:spPr>
        <p:txBody>
          <a:bodyPr/>
          <a:lstStyle/>
          <a:p>
            <a:endParaRPr lang="ko-KR" altLang="en-US"/>
          </a:p>
        </p:txBody>
      </p:sp>
      <p:sp>
        <p:nvSpPr>
          <p:cNvPr id="18" name="Text 15"/>
          <p:cNvSpPr/>
          <p:nvPr/>
        </p:nvSpPr>
        <p:spPr>
          <a:xfrm>
            <a:off x="7777059" y="1138655"/>
            <a:ext cx="2361828"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신한라이프</a:t>
            </a:r>
            <a:endParaRPr lang="en-US" sz="1575" dirty="0"/>
          </a:p>
        </p:txBody>
      </p:sp>
      <p:sp>
        <p:nvSpPr>
          <p:cNvPr id="19" name="Shape 16"/>
          <p:cNvSpPr/>
          <p:nvPr/>
        </p:nvSpPr>
        <p:spPr>
          <a:xfrm>
            <a:off x="538580" y="1588512"/>
            <a:ext cx="2404738" cy="377503"/>
          </a:xfrm>
          <a:prstGeom prst="rect">
            <a:avLst/>
          </a:prstGeom>
          <a:solidFill>
            <a:srgbClr val="FCF4EE"/>
          </a:solidFill>
          <a:ln/>
        </p:spPr>
        <p:txBody>
          <a:bodyPr/>
          <a:lstStyle/>
          <a:p>
            <a:endParaRPr lang="ko-KR" altLang="en-US"/>
          </a:p>
        </p:txBody>
      </p:sp>
      <p:sp>
        <p:nvSpPr>
          <p:cNvPr id="20" name="Shape 17"/>
          <p:cNvSpPr/>
          <p:nvPr/>
        </p:nvSpPr>
        <p:spPr>
          <a:xfrm>
            <a:off x="538580" y="1588512"/>
            <a:ext cx="2404738" cy="9525"/>
          </a:xfrm>
          <a:prstGeom prst="rect">
            <a:avLst/>
          </a:prstGeom>
          <a:solidFill>
            <a:srgbClr val="D3B9A5"/>
          </a:solidFill>
          <a:ln/>
        </p:spPr>
        <p:txBody>
          <a:bodyPr/>
          <a:lstStyle/>
          <a:p>
            <a:endParaRPr lang="ko-KR" altLang="en-US"/>
          </a:p>
        </p:txBody>
      </p:sp>
      <p:sp>
        <p:nvSpPr>
          <p:cNvPr id="21" name="Text 18"/>
          <p:cNvSpPr/>
          <p:nvPr/>
        </p:nvSpPr>
        <p:spPr>
          <a:xfrm>
            <a:off x="557630" y="1622305"/>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상품명</a:t>
            </a:r>
            <a:endParaRPr lang="en-US" sz="1088" dirty="0"/>
          </a:p>
        </p:txBody>
      </p:sp>
      <p:sp>
        <p:nvSpPr>
          <p:cNvPr id="22" name="Shape 19"/>
          <p:cNvSpPr/>
          <p:nvPr/>
        </p:nvSpPr>
        <p:spPr>
          <a:xfrm>
            <a:off x="2943317" y="1588512"/>
            <a:ext cx="2404738" cy="377503"/>
          </a:xfrm>
          <a:prstGeom prst="rect">
            <a:avLst/>
          </a:prstGeom>
          <a:solidFill>
            <a:srgbClr val="F8E1D0"/>
          </a:solidFill>
          <a:ln/>
        </p:spPr>
        <p:txBody>
          <a:bodyPr/>
          <a:lstStyle/>
          <a:p>
            <a:endParaRPr lang="ko-KR" altLang="en-US"/>
          </a:p>
        </p:txBody>
      </p:sp>
      <p:sp>
        <p:nvSpPr>
          <p:cNvPr id="23" name="Shape 20"/>
          <p:cNvSpPr/>
          <p:nvPr/>
        </p:nvSpPr>
        <p:spPr>
          <a:xfrm>
            <a:off x="2943317" y="1588512"/>
            <a:ext cx="2404738" cy="9525"/>
          </a:xfrm>
          <a:prstGeom prst="rect">
            <a:avLst/>
          </a:prstGeom>
          <a:solidFill>
            <a:srgbClr val="D3B9A5"/>
          </a:solidFill>
          <a:ln/>
        </p:spPr>
        <p:txBody>
          <a:bodyPr/>
          <a:lstStyle/>
          <a:p>
            <a:endParaRPr lang="ko-KR" altLang="en-US"/>
          </a:p>
        </p:txBody>
      </p:sp>
      <p:sp>
        <p:nvSpPr>
          <p:cNvPr id="24" name="Shape 21"/>
          <p:cNvSpPr/>
          <p:nvPr/>
        </p:nvSpPr>
        <p:spPr>
          <a:xfrm>
            <a:off x="2943317" y="1588512"/>
            <a:ext cx="9525" cy="377503"/>
          </a:xfrm>
          <a:prstGeom prst="rect">
            <a:avLst/>
          </a:prstGeom>
          <a:solidFill>
            <a:srgbClr val="D3B9A5"/>
          </a:solidFill>
          <a:ln/>
        </p:spPr>
        <p:txBody>
          <a:bodyPr/>
          <a:lstStyle/>
          <a:p>
            <a:endParaRPr lang="ko-KR" altLang="en-US"/>
          </a:p>
        </p:txBody>
      </p:sp>
      <p:sp>
        <p:nvSpPr>
          <p:cNvPr id="25" name="Text 22"/>
          <p:cNvSpPr/>
          <p:nvPr/>
        </p:nvSpPr>
        <p:spPr>
          <a:xfrm>
            <a:off x="2967584" y="1622305"/>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다사랑 통합보험</a:t>
            </a:r>
            <a:endParaRPr lang="en-US" sz="1088" dirty="0"/>
          </a:p>
        </p:txBody>
      </p:sp>
      <p:sp>
        <p:nvSpPr>
          <p:cNvPr id="26" name="Shape 23"/>
          <p:cNvSpPr/>
          <p:nvPr/>
        </p:nvSpPr>
        <p:spPr>
          <a:xfrm>
            <a:off x="5348054" y="1588512"/>
            <a:ext cx="2404738" cy="377503"/>
          </a:xfrm>
          <a:prstGeom prst="rect">
            <a:avLst/>
          </a:prstGeom>
          <a:solidFill>
            <a:srgbClr val="FFFFFF"/>
          </a:solidFill>
          <a:ln/>
        </p:spPr>
        <p:txBody>
          <a:bodyPr/>
          <a:lstStyle/>
          <a:p>
            <a:endParaRPr lang="ko-KR" altLang="en-US"/>
          </a:p>
        </p:txBody>
      </p:sp>
      <p:sp>
        <p:nvSpPr>
          <p:cNvPr id="27" name="Shape 24"/>
          <p:cNvSpPr/>
          <p:nvPr/>
        </p:nvSpPr>
        <p:spPr>
          <a:xfrm>
            <a:off x="5348054" y="1588512"/>
            <a:ext cx="2404738" cy="9525"/>
          </a:xfrm>
          <a:prstGeom prst="rect">
            <a:avLst/>
          </a:prstGeom>
          <a:solidFill>
            <a:srgbClr val="D3B9A5"/>
          </a:solidFill>
          <a:ln/>
        </p:spPr>
        <p:txBody>
          <a:bodyPr/>
          <a:lstStyle/>
          <a:p>
            <a:endParaRPr lang="ko-KR" altLang="en-US"/>
          </a:p>
        </p:txBody>
      </p:sp>
      <p:sp>
        <p:nvSpPr>
          <p:cNvPr id="28" name="Shape 25"/>
          <p:cNvSpPr/>
          <p:nvPr/>
        </p:nvSpPr>
        <p:spPr>
          <a:xfrm>
            <a:off x="5348054" y="1588512"/>
            <a:ext cx="9525" cy="377503"/>
          </a:xfrm>
          <a:prstGeom prst="rect">
            <a:avLst/>
          </a:prstGeom>
          <a:solidFill>
            <a:srgbClr val="D3B9A5"/>
          </a:solidFill>
          <a:ln/>
        </p:spPr>
        <p:txBody>
          <a:bodyPr/>
          <a:lstStyle/>
          <a:p>
            <a:endParaRPr lang="ko-KR" altLang="en-US"/>
          </a:p>
        </p:txBody>
      </p:sp>
      <p:sp>
        <p:nvSpPr>
          <p:cNvPr id="29" name="Text 26"/>
          <p:cNvSpPr/>
          <p:nvPr/>
        </p:nvSpPr>
        <p:spPr>
          <a:xfrm>
            <a:off x="5372321" y="1622305"/>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우리WON하는 보장보험</a:t>
            </a:r>
            <a:endParaRPr lang="en-US" sz="1088" dirty="0"/>
          </a:p>
        </p:txBody>
      </p:sp>
      <p:sp>
        <p:nvSpPr>
          <p:cNvPr id="30" name="Shape 27"/>
          <p:cNvSpPr/>
          <p:nvPr/>
        </p:nvSpPr>
        <p:spPr>
          <a:xfrm>
            <a:off x="7752792" y="1588512"/>
            <a:ext cx="2405145" cy="377503"/>
          </a:xfrm>
          <a:prstGeom prst="rect">
            <a:avLst/>
          </a:prstGeom>
          <a:solidFill>
            <a:srgbClr val="FFFFFF"/>
          </a:solidFill>
          <a:ln/>
        </p:spPr>
        <p:txBody>
          <a:bodyPr/>
          <a:lstStyle/>
          <a:p>
            <a:endParaRPr lang="ko-KR" altLang="en-US"/>
          </a:p>
        </p:txBody>
      </p:sp>
      <p:sp>
        <p:nvSpPr>
          <p:cNvPr id="31" name="Shape 28"/>
          <p:cNvSpPr/>
          <p:nvPr/>
        </p:nvSpPr>
        <p:spPr>
          <a:xfrm>
            <a:off x="7752792" y="1588512"/>
            <a:ext cx="2405145" cy="9525"/>
          </a:xfrm>
          <a:prstGeom prst="rect">
            <a:avLst/>
          </a:prstGeom>
          <a:solidFill>
            <a:srgbClr val="D3B9A5"/>
          </a:solidFill>
          <a:ln/>
        </p:spPr>
        <p:txBody>
          <a:bodyPr/>
          <a:lstStyle/>
          <a:p>
            <a:endParaRPr lang="ko-KR" altLang="en-US"/>
          </a:p>
        </p:txBody>
      </p:sp>
      <p:sp>
        <p:nvSpPr>
          <p:cNvPr id="32" name="Shape 29"/>
          <p:cNvSpPr/>
          <p:nvPr/>
        </p:nvSpPr>
        <p:spPr>
          <a:xfrm>
            <a:off x="7752792" y="1588512"/>
            <a:ext cx="9525" cy="377503"/>
          </a:xfrm>
          <a:prstGeom prst="rect">
            <a:avLst/>
          </a:prstGeom>
          <a:solidFill>
            <a:srgbClr val="D3B9A5"/>
          </a:solidFill>
          <a:ln/>
        </p:spPr>
        <p:txBody>
          <a:bodyPr/>
          <a:lstStyle/>
          <a:p>
            <a:endParaRPr lang="ko-KR" altLang="en-US"/>
          </a:p>
        </p:txBody>
      </p:sp>
      <p:sp>
        <p:nvSpPr>
          <p:cNvPr id="33" name="Text 30"/>
          <p:cNvSpPr/>
          <p:nvPr/>
        </p:nvSpPr>
        <p:spPr>
          <a:xfrm>
            <a:off x="7777059" y="1622305"/>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통합건강보험 원</a:t>
            </a:r>
            <a:endParaRPr lang="en-US" sz="1088" dirty="0"/>
          </a:p>
        </p:txBody>
      </p:sp>
      <p:sp>
        <p:nvSpPr>
          <p:cNvPr id="34" name="Shape 31"/>
          <p:cNvSpPr/>
          <p:nvPr/>
        </p:nvSpPr>
        <p:spPr>
          <a:xfrm>
            <a:off x="538580" y="1966015"/>
            <a:ext cx="2404738" cy="377503"/>
          </a:xfrm>
          <a:prstGeom prst="rect">
            <a:avLst/>
          </a:prstGeom>
          <a:solidFill>
            <a:srgbClr val="FCF4EE"/>
          </a:solidFill>
          <a:ln/>
        </p:spPr>
        <p:txBody>
          <a:bodyPr/>
          <a:lstStyle/>
          <a:p>
            <a:endParaRPr lang="ko-KR" altLang="en-US"/>
          </a:p>
        </p:txBody>
      </p:sp>
      <p:sp>
        <p:nvSpPr>
          <p:cNvPr id="35" name="Shape 32"/>
          <p:cNvSpPr/>
          <p:nvPr/>
        </p:nvSpPr>
        <p:spPr>
          <a:xfrm>
            <a:off x="538580" y="1966015"/>
            <a:ext cx="2404738" cy="9525"/>
          </a:xfrm>
          <a:prstGeom prst="rect">
            <a:avLst/>
          </a:prstGeom>
          <a:solidFill>
            <a:srgbClr val="D3B9A5"/>
          </a:solidFill>
          <a:ln/>
        </p:spPr>
        <p:txBody>
          <a:bodyPr/>
          <a:lstStyle/>
          <a:p>
            <a:endParaRPr lang="ko-KR" altLang="en-US"/>
          </a:p>
        </p:txBody>
      </p:sp>
      <p:sp>
        <p:nvSpPr>
          <p:cNvPr id="36" name="Text 33"/>
          <p:cNvSpPr/>
          <p:nvPr/>
        </p:nvSpPr>
        <p:spPr>
          <a:xfrm>
            <a:off x="557630" y="1999808"/>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가입연령</a:t>
            </a:r>
            <a:endParaRPr lang="en-US" sz="1088" dirty="0"/>
          </a:p>
        </p:txBody>
      </p:sp>
      <p:sp>
        <p:nvSpPr>
          <p:cNvPr id="37" name="Shape 34"/>
          <p:cNvSpPr/>
          <p:nvPr/>
        </p:nvSpPr>
        <p:spPr>
          <a:xfrm>
            <a:off x="2943317" y="1966015"/>
            <a:ext cx="2404738" cy="377503"/>
          </a:xfrm>
          <a:prstGeom prst="rect">
            <a:avLst/>
          </a:prstGeom>
          <a:solidFill>
            <a:srgbClr val="F8E1D0"/>
          </a:solidFill>
          <a:ln/>
        </p:spPr>
        <p:txBody>
          <a:bodyPr/>
          <a:lstStyle/>
          <a:p>
            <a:endParaRPr lang="ko-KR" altLang="en-US"/>
          </a:p>
        </p:txBody>
      </p:sp>
      <p:sp>
        <p:nvSpPr>
          <p:cNvPr id="38" name="Shape 35"/>
          <p:cNvSpPr/>
          <p:nvPr/>
        </p:nvSpPr>
        <p:spPr>
          <a:xfrm>
            <a:off x="2943317" y="1966015"/>
            <a:ext cx="2404738" cy="9525"/>
          </a:xfrm>
          <a:prstGeom prst="rect">
            <a:avLst/>
          </a:prstGeom>
          <a:solidFill>
            <a:srgbClr val="D3B9A5"/>
          </a:solidFill>
          <a:ln/>
        </p:spPr>
        <p:txBody>
          <a:bodyPr/>
          <a:lstStyle/>
          <a:p>
            <a:endParaRPr lang="ko-KR" altLang="en-US"/>
          </a:p>
        </p:txBody>
      </p:sp>
      <p:sp>
        <p:nvSpPr>
          <p:cNvPr id="39" name="Shape 36"/>
          <p:cNvSpPr/>
          <p:nvPr/>
        </p:nvSpPr>
        <p:spPr>
          <a:xfrm>
            <a:off x="2943317" y="1966015"/>
            <a:ext cx="9525" cy="377503"/>
          </a:xfrm>
          <a:prstGeom prst="rect">
            <a:avLst/>
          </a:prstGeom>
          <a:solidFill>
            <a:srgbClr val="D3B9A5"/>
          </a:solidFill>
          <a:ln/>
        </p:spPr>
        <p:txBody>
          <a:bodyPr/>
          <a:lstStyle/>
          <a:p>
            <a:endParaRPr lang="ko-KR" altLang="en-US"/>
          </a:p>
        </p:txBody>
      </p:sp>
      <p:sp>
        <p:nvSpPr>
          <p:cNvPr id="40" name="Text 37"/>
          <p:cNvSpPr/>
          <p:nvPr/>
        </p:nvSpPr>
        <p:spPr>
          <a:xfrm>
            <a:off x="2967584" y="1999808"/>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15세 - 80세</a:t>
            </a:r>
            <a:endParaRPr lang="en-US" sz="1088" dirty="0"/>
          </a:p>
        </p:txBody>
      </p:sp>
      <p:sp>
        <p:nvSpPr>
          <p:cNvPr id="41" name="Shape 38"/>
          <p:cNvSpPr/>
          <p:nvPr/>
        </p:nvSpPr>
        <p:spPr>
          <a:xfrm>
            <a:off x="5348054" y="1966015"/>
            <a:ext cx="2404738" cy="377503"/>
          </a:xfrm>
          <a:prstGeom prst="rect">
            <a:avLst/>
          </a:prstGeom>
          <a:solidFill>
            <a:srgbClr val="FFFFFF"/>
          </a:solidFill>
          <a:ln/>
        </p:spPr>
        <p:txBody>
          <a:bodyPr/>
          <a:lstStyle/>
          <a:p>
            <a:endParaRPr lang="ko-KR" altLang="en-US"/>
          </a:p>
        </p:txBody>
      </p:sp>
      <p:sp>
        <p:nvSpPr>
          <p:cNvPr id="42" name="Shape 39"/>
          <p:cNvSpPr/>
          <p:nvPr/>
        </p:nvSpPr>
        <p:spPr>
          <a:xfrm>
            <a:off x="5348054" y="1966015"/>
            <a:ext cx="2404738" cy="9525"/>
          </a:xfrm>
          <a:prstGeom prst="rect">
            <a:avLst/>
          </a:prstGeom>
          <a:solidFill>
            <a:srgbClr val="D3B9A5"/>
          </a:solidFill>
          <a:ln/>
        </p:spPr>
        <p:txBody>
          <a:bodyPr/>
          <a:lstStyle/>
          <a:p>
            <a:endParaRPr lang="ko-KR" altLang="en-US"/>
          </a:p>
        </p:txBody>
      </p:sp>
      <p:sp>
        <p:nvSpPr>
          <p:cNvPr id="43" name="Shape 40"/>
          <p:cNvSpPr/>
          <p:nvPr/>
        </p:nvSpPr>
        <p:spPr>
          <a:xfrm>
            <a:off x="5348054" y="1966015"/>
            <a:ext cx="9525" cy="377503"/>
          </a:xfrm>
          <a:prstGeom prst="rect">
            <a:avLst/>
          </a:prstGeom>
          <a:solidFill>
            <a:srgbClr val="D3B9A5"/>
          </a:solidFill>
          <a:ln/>
        </p:spPr>
        <p:txBody>
          <a:bodyPr/>
          <a:lstStyle/>
          <a:p>
            <a:endParaRPr lang="ko-KR" altLang="en-US"/>
          </a:p>
        </p:txBody>
      </p:sp>
      <p:sp>
        <p:nvSpPr>
          <p:cNvPr id="44" name="Text 41"/>
          <p:cNvSpPr/>
          <p:nvPr/>
        </p:nvSpPr>
        <p:spPr>
          <a:xfrm>
            <a:off x="5372321" y="1999808"/>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15세 - 80세</a:t>
            </a:r>
            <a:endParaRPr lang="en-US" sz="1088" dirty="0"/>
          </a:p>
        </p:txBody>
      </p:sp>
      <p:sp>
        <p:nvSpPr>
          <p:cNvPr id="45" name="Shape 42"/>
          <p:cNvSpPr/>
          <p:nvPr/>
        </p:nvSpPr>
        <p:spPr>
          <a:xfrm>
            <a:off x="7752792" y="1966015"/>
            <a:ext cx="2405145" cy="377503"/>
          </a:xfrm>
          <a:prstGeom prst="rect">
            <a:avLst/>
          </a:prstGeom>
          <a:solidFill>
            <a:srgbClr val="FFFFFF"/>
          </a:solidFill>
          <a:ln/>
        </p:spPr>
        <p:txBody>
          <a:bodyPr/>
          <a:lstStyle/>
          <a:p>
            <a:endParaRPr lang="ko-KR" altLang="en-US"/>
          </a:p>
        </p:txBody>
      </p:sp>
      <p:sp>
        <p:nvSpPr>
          <p:cNvPr id="46" name="Shape 43"/>
          <p:cNvSpPr/>
          <p:nvPr/>
        </p:nvSpPr>
        <p:spPr>
          <a:xfrm>
            <a:off x="7752792" y="1966015"/>
            <a:ext cx="2405145" cy="9525"/>
          </a:xfrm>
          <a:prstGeom prst="rect">
            <a:avLst/>
          </a:prstGeom>
          <a:solidFill>
            <a:srgbClr val="D3B9A5"/>
          </a:solidFill>
          <a:ln/>
        </p:spPr>
        <p:txBody>
          <a:bodyPr/>
          <a:lstStyle/>
          <a:p>
            <a:endParaRPr lang="ko-KR" altLang="en-US"/>
          </a:p>
        </p:txBody>
      </p:sp>
      <p:sp>
        <p:nvSpPr>
          <p:cNvPr id="47" name="Shape 44"/>
          <p:cNvSpPr/>
          <p:nvPr/>
        </p:nvSpPr>
        <p:spPr>
          <a:xfrm>
            <a:off x="7752792" y="1966015"/>
            <a:ext cx="9525" cy="377503"/>
          </a:xfrm>
          <a:prstGeom prst="rect">
            <a:avLst/>
          </a:prstGeom>
          <a:solidFill>
            <a:srgbClr val="D3B9A5"/>
          </a:solidFill>
          <a:ln/>
        </p:spPr>
        <p:txBody>
          <a:bodyPr/>
          <a:lstStyle/>
          <a:p>
            <a:endParaRPr lang="ko-KR" altLang="en-US"/>
          </a:p>
        </p:txBody>
      </p:sp>
      <p:sp>
        <p:nvSpPr>
          <p:cNvPr id="48" name="Text 45"/>
          <p:cNvSpPr/>
          <p:nvPr/>
        </p:nvSpPr>
        <p:spPr>
          <a:xfrm>
            <a:off x="7777059" y="1999808"/>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15세 – 70세</a:t>
            </a:r>
            <a:endParaRPr lang="en-US" sz="1088" dirty="0"/>
          </a:p>
        </p:txBody>
      </p:sp>
      <p:sp>
        <p:nvSpPr>
          <p:cNvPr id="49" name="Shape 46"/>
          <p:cNvSpPr/>
          <p:nvPr/>
        </p:nvSpPr>
        <p:spPr>
          <a:xfrm>
            <a:off x="538580" y="2343519"/>
            <a:ext cx="1202369" cy="1510012"/>
          </a:xfrm>
          <a:prstGeom prst="rect">
            <a:avLst/>
          </a:prstGeom>
          <a:solidFill>
            <a:srgbClr val="FCF4EE"/>
          </a:solidFill>
          <a:ln/>
        </p:spPr>
        <p:txBody>
          <a:bodyPr/>
          <a:lstStyle/>
          <a:p>
            <a:endParaRPr lang="ko-KR" altLang="en-US"/>
          </a:p>
        </p:txBody>
      </p:sp>
      <p:sp>
        <p:nvSpPr>
          <p:cNvPr id="50" name="Shape 47"/>
          <p:cNvSpPr/>
          <p:nvPr/>
        </p:nvSpPr>
        <p:spPr>
          <a:xfrm>
            <a:off x="538580" y="2343519"/>
            <a:ext cx="1202369" cy="9525"/>
          </a:xfrm>
          <a:prstGeom prst="rect">
            <a:avLst/>
          </a:prstGeom>
          <a:solidFill>
            <a:srgbClr val="D3B9A5"/>
          </a:solidFill>
          <a:ln/>
        </p:spPr>
        <p:txBody>
          <a:bodyPr/>
          <a:lstStyle/>
          <a:p>
            <a:endParaRPr lang="ko-KR" altLang="en-US"/>
          </a:p>
        </p:txBody>
      </p:sp>
      <p:sp>
        <p:nvSpPr>
          <p:cNvPr id="51" name="Text 48"/>
          <p:cNvSpPr/>
          <p:nvPr/>
        </p:nvSpPr>
        <p:spPr>
          <a:xfrm>
            <a:off x="557630" y="2377311"/>
            <a:ext cx="1164269" cy="1485745"/>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highlight>
                  <a:srgbClr val="FCF4EE"/>
                </a:highlight>
                <a:latin typeface="Paperlogy 7 Bold" pitchFamily="2" charset="-127"/>
                <a:ea typeface="Paperlogy 7 Bold" pitchFamily="2" charset="-127"/>
                <a:cs typeface="Arial" pitchFamily="34" charset="-120"/>
              </a:rPr>
              <a:t>보장 항목</a:t>
            </a:r>
            <a:endParaRPr lang="en-US" sz="1088" dirty="0"/>
          </a:p>
        </p:txBody>
      </p:sp>
      <p:sp>
        <p:nvSpPr>
          <p:cNvPr id="52" name="Shape 49"/>
          <p:cNvSpPr/>
          <p:nvPr/>
        </p:nvSpPr>
        <p:spPr>
          <a:xfrm>
            <a:off x="1740948" y="2343519"/>
            <a:ext cx="1202369" cy="377503"/>
          </a:xfrm>
          <a:prstGeom prst="rect">
            <a:avLst/>
          </a:prstGeom>
          <a:solidFill>
            <a:srgbClr val="FCF4EE"/>
          </a:solidFill>
          <a:ln/>
        </p:spPr>
        <p:txBody>
          <a:bodyPr/>
          <a:lstStyle/>
          <a:p>
            <a:endParaRPr lang="ko-KR" altLang="en-US"/>
          </a:p>
        </p:txBody>
      </p:sp>
      <p:sp>
        <p:nvSpPr>
          <p:cNvPr id="53" name="Shape 50"/>
          <p:cNvSpPr/>
          <p:nvPr/>
        </p:nvSpPr>
        <p:spPr>
          <a:xfrm>
            <a:off x="1740948" y="2343519"/>
            <a:ext cx="1202369" cy="9525"/>
          </a:xfrm>
          <a:prstGeom prst="rect">
            <a:avLst/>
          </a:prstGeom>
          <a:solidFill>
            <a:srgbClr val="D3B9A5"/>
          </a:solidFill>
          <a:ln/>
        </p:spPr>
        <p:txBody>
          <a:bodyPr/>
          <a:lstStyle/>
          <a:p>
            <a:endParaRPr lang="ko-KR" altLang="en-US"/>
          </a:p>
        </p:txBody>
      </p:sp>
      <p:sp>
        <p:nvSpPr>
          <p:cNvPr id="54" name="Shape 51"/>
          <p:cNvSpPr/>
          <p:nvPr/>
        </p:nvSpPr>
        <p:spPr>
          <a:xfrm>
            <a:off x="1740948" y="2343519"/>
            <a:ext cx="9525" cy="377503"/>
          </a:xfrm>
          <a:prstGeom prst="rect">
            <a:avLst/>
          </a:prstGeom>
          <a:solidFill>
            <a:srgbClr val="D3B9A5"/>
          </a:solidFill>
          <a:ln/>
        </p:spPr>
        <p:txBody>
          <a:bodyPr/>
          <a:lstStyle/>
          <a:p>
            <a:endParaRPr lang="ko-KR" altLang="en-US"/>
          </a:p>
        </p:txBody>
      </p:sp>
      <p:sp>
        <p:nvSpPr>
          <p:cNvPr id="55" name="Text 52"/>
          <p:cNvSpPr/>
          <p:nvPr/>
        </p:nvSpPr>
        <p:spPr>
          <a:xfrm>
            <a:off x="1765215" y="2377311"/>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수술</a:t>
            </a:r>
            <a:endParaRPr lang="en-US" sz="1088" dirty="0"/>
          </a:p>
        </p:txBody>
      </p:sp>
      <p:sp>
        <p:nvSpPr>
          <p:cNvPr id="56" name="Shape 53"/>
          <p:cNvSpPr/>
          <p:nvPr/>
        </p:nvSpPr>
        <p:spPr>
          <a:xfrm>
            <a:off x="2943317" y="2343519"/>
            <a:ext cx="2404738" cy="377503"/>
          </a:xfrm>
          <a:prstGeom prst="rect">
            <a:avLst/>
          </a:prstGeom>
          <a:solidFill>
            <a:srgbClr val="F8E1D0"/>
          </a:solidFill>
          <a:ln/>
        </p:spPr>
        <p:txBody>
          <a:bodyPr/>
          <a:lstStyle/>
          <a:p>
            <a:endParaRPr lang="ko-KR" altLang="en-US"/>
          </a:p>
        </p:txBody>
      </p:sp>
      <p:sp>
        <p:nvSpPr>
          <p:cNvPr id="57" name="Shape 54"/>
          <p:cNvSpPr/>
          <p:nvPr/>
        </p:nvSpPr>
        <p:spPr>
          <a:xfrm>
            <a:off x="2943317" y="2343519"/>
            <a:ext cx="2404738" cy="9525"/>
          </a:xfrm>
          <a:prstGeom prst="rect">
            <a:avLst/>
          </a:prstGeom>
          <a:solidFill>
            <a:srgbClr val="D3B9A5"/>
          </a:solidFill>
          <a:ln/>
        </p:spPr>
        <p:txBody>
          <a:bodyPr/>
          <a:lstStyle/>
          <a:p>
            <a:endParaRPr lang="ko-KR" altLang="en-US"/>
          </a:p>
        </p:txBody>
      </p:sp>
      <p:sp>
        <p:nvSpPr>
          <p:cNvPr id="58" name="Shape 55"/>
          <p:cNvSpPr/>
          <p:nvPr/>
        </p:nvSpPr>
        <p:spPr>
          <a:xfrm>
            <a:off x="2943317" y="2343519"/>
            <a:ext cx="9525" cy="377503"/>
          </a:xfrm>
          <a:prstGeom prst="rect">
            <a:avLst/>
          </a:prstGeom>
          <a:solidFill>
            <a:srgbClr val="D3B9A5"/>
          </a:solidFill>
          <a:ln/>
        </p:spPr>
        <p:txBody>
          <a:bodyPr/>
          <a:lstStyle/>
          <a:p>
            <a:endParaRPr lang="ko-KR" altLang="en-US"/>
          </a:p>
        </p:txBody>
      </p:sp>
      <p:sp>
        <p:nvSpPr>
          <p:cNvPr id="59" name="Text 56"/>
          <p:cNvSpPr/>
          <p:nvPr/>
        </p:nvSpPr>
        <p:spPr>
          <a:xfrm>
            <a:off x="2967584" y="2377311"/>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O</a:t>
            </a:r>
            <a:endParaRPr lang="en-US" sz="1088" dirty="0"/>
          </a:p>
        </p:txBody>
      </p:sp>
      <p:sp>
        <p:nvSpPr>
          <p:cNvPr id="60" name="Shape 57"/>
          <p:cNvSpPr/>
          <p:nvPr/>
        </p:nvSpPr>
        <p:spPr>
          <a:xfrm>
            <a:off x="5348054" y="2343519"/>
            <a:ext cx="2404738" cy="377503"/>
          </a:xfrm>
          <a:prstGeom prst="rect">
            <a:avLst/>
          </a:prstGeom>
          <a:solidFill>
            <a:srgbClr val="FFFFFF"/>
          </a:solidFill>
          <a:ln/>
        </p:spPr>
        <p:txBody>
          <a:bodyPr/>
          <a:lstStyle/>
          <a:p>
            <a:endParaRPr lang="ko-KR" altLang="en-US"/>
          </a:p>
        </p:txBody>
      </p:sp>
      <p:sp>
        <p:nvSpPr>
          <p:cNvPr id="61" name="Shape 58"/>
          <p:cNvSpPr/>
          <p:nvPr/>
        </p:nvSpPr>
        <p:spPr>
          <a:xfrm>
            <a:off x="5348054" y="2343519"/>
            <a:ext cx="2404738" cy="9525"/>
          </a:xfrm>
          <a:prstGeom prst="rect">
            <a:avLst/>
          </a:prstGeom>
          <a:solidFill>
            <a:srgbClr val="D3B9A5"/>
          </a:solidFill>
          <a:ln/>
        </p:spPr>
        <p:txBody>
          <a:bodyPr/>
          <a:lstStyle/>
          <a:p>
            <a:endParaRPr lang="ko-KR" altLang="en-US"/>
          </a:p>
        </p:txBody>
      </p:sp>
      <p:sp>
        <p:nvSpPr>
          <p:cNvPr id="62" name="Shape 59"/>
          <p:cNvSpPr/>
          <p:nvPr/>
        </p:nvSpPr>
        <p:spPr>
          <a:xfrm>
            <a:off x="5348054" y="2343519"/>
            <a:ext cx="9525" cy="377503"/>
          </a:xfrm>
          <a:prstGeom prst="rect">
            <a:avLst/>
          </a:prstGeom>
          <a:solidFill>
            <a:srgbClr val="D3B9A5"/>
          </a:solidFill>
          <a:ln/>
        </p:spPr>
        <p:txBody>
          <a:bodyPr/>
          <a:lstStyle/>
          <a:p>
            <a:endParaRPr lang="ko-KR" altLang="en-US"/>
          </a:p>
        </p:txBody>
      </p:sp>
      <p:sp>
        <p:nvSpPr>
          <p:cNvPr id="63" name="Text 60"/>
          <p:cNvSpPr/>
          <p:nvPr/>
        </p:nvSpPr>
        <p:spPr>
          <a:xfrm>
            <a:off x="5372321" y="2377311"/>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64" name="Shape 61"/>
          <p:cNvSpPr/>
          <p:nvPr/>
        </p:nvSpPr>
        <p:spPr>
          <a:xfrm>
            <a:off x="7752792" y="2343519"/>
            <a:ext cx="2405145" cy="377503"/>
          </a:xfrm>
          <a:prstGeom prst="rect">
            <a:avLst/>
          </a:prstGeom>
          <a:solidFill>
            <a:srgbClr val="FFFFFF"/>
          </a:solidFill>
          <a:ln/>
        </p:spPr>
        <p:txBody>
          <a:bodyPr/>
          <a:lstStyle/>
          <a:p>
            <a:endParaRPr lang="ko-KR" altLang="en-US"/>
          </a:p>
        </p:txBody>
      </p:sp>
      <p:sp>
        <p:nvSpPr>
          <p:cNvPr id="65" name="Shape 62"/>
          <p:cNvSpPr/>
          <p:nvPr/>
        </p:nvSpPr>
        <p:spPr>
          <a:xfrm>
            <a:off x="7752792" y="2343519"/>
            <a:ext cx="2405145" cy="9525"/>
          </a:xfrm>
          <a:prstGeom prst="rect">
            <a:avLst/>
          </a:prstGeom>
          <a:solidFill>
            <a:srgbClr val="D3B9A5"/>
          </a:solidFill>
          <a:ln/>
        </p:spPr>
        <p:txBody>
          <a:bodyPr/>
          <a:lstStyle/>
          <a:p>
            <a:endParaRPr lang="ko-KR" altLang="en-US"/>
          </a:p>
        </p:txBody>
      </p:sp>
      <p:sp>
        <p:nvSpPr>
          <p:cNvPr id="66" name="Shape 63"/>
          <p:cNvSpPr/>
          <p:nvPr/>
        </p:nvSpPr>
        <p:spPr>
          <a:xfrm>
            <a:off x="7752792" y="2343519"/>
            <a:ext cx="9525" cy="377503"/>
          </a:xfrm>
          <a:prstGeom prst="rect">
            <a:avLst/>
          </a:prstGeom>
          <a:solidFill>
            <a:srgbClr val="D3B9A5"/>
          </a:solidFill>
          <a:ln/>
        </p:spPr>
        <p:txBody>
          <a:bodyPr/>
          <a:lstStyle/>
          <a:p>
            <a:endParaRPr lang="ko-KR" altLang="en-US"/>
          </a:p>
        </p:txBody>
      </p:sp>
      <p:sp>
        <p:nvSpPr>
          <p:cNvPr id="67" name="Text 64"/>
          <p:cNvSpPr/>
          <p:nvPr/>
        </p:nvSpPr>
        <p:spPr>
          <a:xfrm>
            <a:off x="7777059" y="2377311"/>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68" name="Shape 65"/>
          <p:cNvSpPr/>
          <p:nvPr/>
        </p:nvSpPr>
        <p:spPr>
          <a:xfrm>
            <a:off x="1740948" y="2721022"/>
            <a:ext cx="1202369" cy="377503"/>
          </a:xfrm>
          <a:prstGeom prst="rect">
            <a:avLst/>
          </a:prstGeom>
          <a:solidFill>
            <a:srgbClr val="FCF4EE"/>
          </a:solidFill>
          <a:ln/>
        </p:spPr>
        <p:txBody>
          <a:bodyPr/>
          <a:lstStyle/>
          <a:p>
            <a:endParaRPr lang="ko-KR" altLang="en-US"/>
          </a:p>
        </p:txBody>
      </p:sp>
      <p:sp>
        <p:nvSpPr>
          <p:cNvPr id="69" name="Shape 66"/>
          <p:cNvSpPr/>
          <p:nvPr/>
        </p:nvSpPr>
        <p:spPr>
          <a:xfrm>
            <a:off x="1740948" y="2721022"/>
            <a:ext cx="1202369" cy="9525"/>
          </a:xfrm>
          <a:prstGeom prst="rect">
            <a:avLst/>
          </a:prstGeom>
          <a:solidFill>
            <a:srgbClr val="D3B9A5"/>
          </a:solidFill>
          <a:ln/>
        </p:spPr>
        <p:txBody>
          <a:bodyPr/>
          <a:lstStyle/>
          <a:p>
            <a:endParaRPr lang="ko-KR" altLang="en-US"/>
          </a:p>
        </p:txBody>
      </p:sp>
      <p:sp>
        <p:nvSpPr>
          <p:cNvPr id="70" name="Shape 67"/>
          <p:cNvSpPr/>
          <p:nvPr/>
        </p:nvSpPr>
        <p:spPr>
          <a:xfrm>
            <a:off x="1740948" y="2721022"/>
            <a:ext cx="9525" cy="377503"/>
          </a:xfrm>
          <a:prstGeom prst="rect">
            <a:avLst/>
          </a:prstGeom>
          <a:solidFill>
            <a:srgbClr val="D3B9A5"/>
          </a:solidFill>
          <a:ln/>
        </p:spPr>
        <p:txBody>
          <a:bodyPr/>
          <a:lstStyle/>
          <a:p>
            <a:endParaRPr lang="ko-KR" altLang="en-US"/>
          </a:p>
        </p:txBody>
      </p:sp>
      <p:sp>
        <p:nvSpPr>
          <p:cNvPr id="71" name="Text 68"/>
          <p:cNvSpPr/>
          <p:nvPr/>
        </p:nvSpPr>
        <p:spPr>
          <a:xfrm>
            <a:off x="1765215" y="2754814"/>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약물</a:t>
            </a:r>
            <a:endParaRPr lang="en-US" sz="1088" dirty="0"/>
          </a:p>
        </p:txBody>
      </p:sp>
      <p:sp>
        <p:nvSpPr>
          <p:cNvPr id="72" name="Shape 69"/>
          <p:cNvSpPr/>
          <p:nvPr/>
        </p:nvSpPr>
        <p:spPr>
          <a:xfrm>
            <a:off x="2943317" y="2721022"/>
            <a:ext cx="2404738" cy="377503"/>
          </a:xfrm>
          <a:prstGeom prst="rect">
            <a:avLst/>
          </a:prstGeom>
          <a:solidFill>
            <a:srgbClr val="F8E1D0"/>
          </a:solidFill>
          <a:ln/>
        </p:spPr>
        <p:txBody>
          <a:bodyPr/>
          <a:lstStyle/>
          <a:p>
            <a:endParaRPr lang="ko-KR" altLang="en-US"/>
          </a:p>
        </p:txBody>
      </p:sp>
      <p:sp>
        <p:nvSpPr>
          <p:cNvPr id="73" name="Shape 70"/>
          <p:cNvSpPr/>
          <p:nvPr/>
        </p:nvSpPr>
        <p:spPr>
          <a:xfrm>
            <a:off x="2943317" y="2721022"/>
            <a:ext cx="2404738" cy="9525"/>
          </a:xfrm>
          <a:prstGeom prst="rect">
            <a:avLst/>
          </a:prstGeom>
          <a:solidFill>
            <a:srgbClr val="D3B9A5"/>
          </a:solidFill>
          <a:ln/>
        </p:spPr>
        <p:txBody>
          <a:bodyPr/>
          <a:lstStyle/>
          <a:p>
            <a:endParaRPr lang="ko-KR" altLang="en-US"/>
          </a:p>
        </p:txBody>
      </p:sp>
      <p:sp>
        <p:nvSpPr>
          <p:cNvPr id="74" name="Shape 71"/>
          <p:cNvSpPr/>
          <p:nvPr/>
        </p:nvSpPr>
        <p:spPr>
          <a:xfrm>
            <a:off x="2943317" y="2721022"/>
            <a:ext cx="9525" cy="377503"/>
          </a:xfrm>
          <a:prstGeom prst="rect">
            <a:avLst/>
          </a:prstGeom>
          <a:solidFill>
            <a:srgbClr val="D3B9A5"/>
          </a:solidFill>
          <a:ln/>
        </p:spPr>
        <p:txBody>
          <a:bodyPr/>
          <a:lstStyle/>
          <a:p>
            <a:endParaRPr lang="ko-KR" altLang="en-US"/>
          </a:p>
        </p:txBody>
      </p:sp>
      <p:sp>
        <p:nvSpPr>
          <p:cNvPr id="75" name="Text 72"/>
          <p:cNvSpPr/>
          <p:nvPr/>
        </p:nvSpPr>
        <p:spPr>
          <a:xfrm>
            <a:off x="2967584" y="2754814"/>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O</a:t>
            </a:r>
            <a:endParaRPr lang="en-US" sz="1088" dirty="0"/>
          </a:p>
        </p:txBody>
      </p:sp>
      <p:sp>
        <p:nvSpPr>
          <p:cNvPr id="76" name="Shape 73"/>
          <p:cNvSpPr/>
          <p:nvPr/>
        </p:nvSpPr>
        <p:spPr>
          <a:xfrm>
            <a:off x="5348054" y="2721022"/>
            <a:ext cx="2404738" cy="377503"/>
          </a:xfrm>
          <a:prstGeom prst="rect">
            <a:avLst/>
          </a:prstGeom>
          <a:solidFill>
            <a:srgbClr val="FFFFFF"/>
          </a:solidFill>
          <a:ln/>
        </p:spPr>
        <p:txBody>
          <a:bodyPr/>
          <a:lstStyle/>
          <a:p>
            <a:endParaRPr lang="ko-KR" altLang="en-US"/>
          </a:p>
        </p:txBody>
      </p:sp>
      <p:sp>
        <p:nvSpPr>
          <p:cNvPr id="77" name="Shape 74"/>
          <p:cNvSpPr/>
          <p:nvPr/>
        </p:nvSpPr>
        <p:spPr>
          <a:xfrm>
            <a:off x="5348054" y="2721022"/>
            <a:ext cx="2404738" cy="9525"/>
          </a:xfrm>
          <a:prstGeom prst="rect">
            <a:avLst/>
          </a:prstGeom>
          <a:solidFill>
            <a:srgbClr val="D3B9A5"/>
          </a:solidFill>
          <a:ln/>
        </p:spPr>
        <p:txBody>
          <a:bodyPr/>
          <a:lstStyle/>
          <a:p>
            <a:endParaRPr lang="ko-KR" altLang="en-US"/>
          </a:p>
        </p:txBody>
      </p:sp>
      <p:sp>
        <p:nvSpPr>
          <p:cNvPr id="78" name="Shape 75"/>
          <p:cNvSpPr/>
          <p:nvPr/>
        </p:nvSpPr>
        <p:spPr>
          <a:xfrm>
            <a:off x="5348054" y="2721022"/>
            <a:ext cx="9525" cy="377503"/>
          </a:xfrm>
          <a:prstGeom prst="rect">
            <a:avLst/>
          </a:prstGeom>
          <a:solidFill>
            <a:srgbClr val="D3B9A5"/>
          </a:solidFill>
          <a:ln/>
        </p:spPr>
        <p:txBody>
          <a:bodyPr/>
          <a:lstStyle/>
          <a:p>
            <a:endParaRPr lang="ko-KR" altLang="en-US"/>
          </a:p>
        </p:txBody>
      </p:sp>
      <p:sp>
        <p:nvSpPr>
          <p:cNvPr id="79" name="Text 76"/>
          <p:cNvSpPr/>
          <p:nvPr/>
        </p:nvSpPr>
        <p:spPr>
          <a:xfrm>
            <a:off x="5372321" y="2754814"/>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80" name="Shape 77"/>
          <p:cNvSpPr/>
          <p:nvPr/>
        </p:nvSpPr>
        <p:spPr>
          <a:xfrm>
            <a:off x="7752792" y="2721022"/>
            <a:ext cx="2405145" cy="377503"/>
          </a:xfrm>
          <a:prstGeom prst="rect">
            <a:avLst/>
          </a:prstGeom>
          <a:solidFill>
            <a:srgbClr val="FFFFFF"/>
          </a:solidFill>
          <a:ln/>
        </p:spPr>
        <p:txBody>
          <a:bodyPr/>
          <a:lstStyle/>
          <a:p>
            <a:endParaRPr lang="ko-KR" altLang="en-US"/>
          </a:p>
        </p:txBody>
      </p:sp>
      <p:sp>
        <p:nvSpPr>
          <p:cNvPr id="81" name="Shape 78"/>
          <p:cNvSpPr/>
          <p:nvPr/>
        </p:nvSpPr>
        <p:spPr>
          <a:xfrm>
            <a:off x="7752792" y="2721022"/>
            <a:ext cx="2405145" cy="9525"/>
          </a:xfrm>
          <a:prstGeom prst="rect">
            <a:avLst/>
          </a:prstGeom>
          <a:solidFill>
            <a:srgbClr val="D3B9A5"/>
          </a:solidFill>
          <a:ln/>
        </p:spPr>
        <p:txBody>
          <a:bodyPr/>
          <a:lstStyle/>
          <a:p>
            <a:endParaRPr lang="ko-KR" altLang="en-US"/>
          </a:p>
        </p:txBody>
      </p:sp>
      <p:sp>
        <p:nvSpPr>
          <p:cNvPr id="82" name="Shape 79"/>
          <p:cNvSpPr/>
          <p:nvPr/>
        </p:nvSpPr>
        <p:spPr>
          <a:xfrm>
            <a:off x="7752792" y="2721022"/>
            <a:ext cx="9525" cy="377503"/>
          </a:xfrm>
          <a:prstGeom prst="rect">
            <a:avLst/>
          </a:prstGeom>
          <a:solidFill>
            <a:srgbClr val="D3B9A5"/>
          </a:solidFill>
          <a:ln/>
        </p:spPr>
        <p:txBody>
          <a:bodyPr/>
          <a:lstStyle/>
          <a:p>
            <a:endParaRPr lang="ko-KR" altLang="en-US"/>
          </a:p>
        </p:txBody>
      </p:sp>
      <p:sp>
        <p:nvSpPr>
          <p:cNvPr id="83" name="Text 80"/>
          <p:cNvSpPr/>
          <p:nvPr/>
        </p:nvSpPr>
        <p:spPr>
          <a:xfrm>
            <a:off x="7777059" y="2754814"/>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84" name="Shape 81"/>
          <p:cNvSpPr/>
          <p:nvPr/>
        </p:nvSpPr>
        <p:spPr>
          <a:xfrm>
            <a:off x="1740948" y="3098525"/>
            <a:ext cx="1202369" cy="377503"/>
          </a:xfrm>
          <a:prstGeom prst="rect">
            <a:avLst/>
          </a:prstGeom>
          <a:solidFill>
            <a:srgbClr val="FCF4EE"/>
          </a:solidFill>
          <a:ln/>
        </p:spPr>
        <p:txBody>
          <a:bodyPr/>
          <a:lstStyle/>
          <a:p>
            <a:endParaRPr lang="ko-KR" altLang="en-US"/>
          </a:p>
        </p:txBody>
      </p:sp>
      <p:sp>
        <p:nvSpPr>
          <p:cNvPr id="85" name="Shape 82"/>
          <p:cNvSpPr/>
          <p:nvPr/>
        </p:nvSpPr>
        <p:spPr>
          <a:xfrm>
            <a:off x="1740948" y="3098525"/>
            <a:ext cx="1202369" cy="9525"/>
          </a:xfrm>
          <a:prstGeom prst="rect">
            <a:avLst/>
          </a:prstGeom>
          <a:solidFill>
            <a:srgbClr val="D3B9A5"/>
          </a:solidFill>
          <a:ln/>
        </p:spPr>
        <p:txBody>
          <a:bodyPr/>
          <a:lstStyle/>
          <a:p>
            <a:endParaRPr lang="ko-KR" altLang="en-US"/>
          </a:p>
        </p:txBody>
      </p:sp>
      <p:sp>
        <p:nvSpPr>
          <p:cNvPr id="86" name="Shape 83"/>
          <p:cNvSpPr/>
          <p:nvPr/>
        </p:nvSpPr>
        <p:spPr>
          <a:xfrm>
            <a:off x="1740948" y="3098525"/>
            <a:ext cx="9525" cy="377503"/>
          </a:xfrm>
          <a:prstGeom prst="rect">
            <a:avLst/>
          </a:prstGeom>
          <a:solidFill>
            <a:srgbClr val="D3B9A5"/>
          </a:solidFill>
          <a:ln/>
        </p:spPr>
        <p:txBody>
          <a:bodyPr/>
          <a:lstStyle/>
          <a:p>
            <a:endParaRPr lang="ko-KR" altLang="en-US"/>
          </a:p>
        </p:txBody>
      </p:sp>
      <p:sp>
        <p:nvSpPr>
          <p:cNvPr id="87" name="Text 84"/>
          <p:cNvSpPr/>
          <p:nvPr/>
        </p:nvSpPr>
        <p:spPr>
          <a:xfrm>
            <a:off x="1765215" y="3132317"/>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방사선</a:t>
            </a:r>
            <a:endParaRPr lang="en-US" sz="1088" dirty="0"/>
          </a:p>
        </p:txBody>
      </p:sp>
      <p:sp>
        <p:nvSpPr>
          <p:cNvPr id="88" name="Shape 85"/>
          <p:cNvSpPr/>
          <p:nvPr/>
        </p:nvSpPr>
        <p:spPr>
          <a:xfrm>
            <a:off x="2943317" y="3098525"/>
            <a:ext cx="2404738" cy="377503"/>
          </a:xfrm>
          <a:prstGeom prst="rect">
            <a:avLst/>
          </a:prstGeom>
          <a:solidFill>
            <a:srgbClr val="F8E1D0"/>
          </a:solidFill>
          <a:ln/>
        </p:spPr>
        <p:txBody>
          <a:bodyPr/>
          <a:lstStyle/>
          <a:p>
            <a:endParaRPr lang="ko-KR" altLang="en-US"/>
          </a:p>
        </p:txBody>
      </p:sp>
      <p:sp>
        <p:nvSpPr>
          <p:cNvPr id="89" name="Shape 86"/>
          <p:cNvSpPr/>
          <p:nvPr/>
        </p:nvSpPr>
        <p:spPr>
          <a:xfrm>
            <a:off x="2943317" y="3098525"/>
            <a:ext cx="2404738" cy="9525"/>
          </a:xfrm>
          <a:prstGeom prst="rect">
            <a:avLst/>
          </a:prstGeom>
          <a:solidFill>
            <a:srgbClr val="D3B9A5"/>
          </a:solidFill>
          <a:ln/>
        </p:spPr>
        <p:txBody>
          <a:bodyPr/>
          <a:lstStyle/>
          <a:p>
            <a:endParaRPr lang="ko-KR" altLang="en-US"/>
          </a:p>
        </p:txBody>
      </p:sp>
      <p:sp>
        <p:nvSpPr>
          <p:cNvPr id="90" name="Shape 87"/>
          <p:cNvSpPr/>
          <p:nvPr/>
        </p:nvSpPr>
        <p:spPr>
          <a:xfrm>
            <a:off x="2943317" y="3098525"/>
            <a:ext cx="9525" cy="377503"/>
          </a:xfrm>
          <a:prstGeom prst="rect">
            <a:avLst/>
          </a:prstGeom>
          <a:solidFill>
            <a:srgbClr val="D3B9A5"/>
          </a:solidFill>
          <a:ln/>
        </p:spPr>
        <p:txBody>
          <a:bodyPr/>
          <a:lstStyle/>
          <a:p>
            <a:endParaRPr lang="ko-KR" altLang="en-US"/>
          </a:p>
        </p:txBody>
      </p:sp>
      <p:sp>
        <p:nvSpPr>
          <p:cNvPr id="91" name="Text 88"/>
          <p:cNvSpPr/>
          <p:nvPr/>
        </p:nvSpPr>
        <p:spPr>
          <a:xfrm>
            <a:off x="2967584" y="3132317"/>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O</a:t>
            </a:r>
            <a:endParaRPr lang="en-US" sz="1088" dirty="0"/>
          </a:p>
        </p:txBody>
      </p:sp>
      <p:sp>
        <p:nvSpPr>
          <p:cNvPr id="92" name="Shape 89"/>
          <p:cNvSpPr/>
          <p:nvPr/>
        </p:nvSpPr>
        <p:spPr>
          <a:xfrm>
            <a:off x="5348054" y="3098525"/>
            <a:ext cx="2404738" cy="377503"/>
          </a:xfrm>
          <a:prstGeom prst="rect">
            <a:avLst/>
          </a:prstGeom>
          <a:solidFill>
            <a:srgbClr val="FFFFFF"/>
          </a:solidFill>
          <a:ln/>
        </p:spPr>
        <p:txBody>
          <a:bodyPr/>
          <a:lstStyle/>
          <a:p>
            <a:endParaRPr lang="ko-KR" altLang="en-US"/>
          </a:p>
        </p:txBody>
      </p:sp>
      <p:sp>
        <p:nvSpPr>
          <p:cNvPr id="93" name="Shape 90"/>
          <p:cNvSpPr/>
          <p:nvPr/>
        </p:nvSpPr>
        <p:spPr>
          <a:xfrm>
            <a:off x="5348054" y="3098525"/>
            <a:ext cx="2404738" cy="9525"/>
          </a:xfrm>
          <a:prstGeom prst="rect">
            <a:avLst/>
          </a:prstGeom>
          <a:solidFill>
            <a:srgbClr val="D3B9A5"/>
          </a:solidFill>
          <a:ln/>
        </p:spPr>
        <p:txBody>
          <a:bodyPr/>
          <a:lstStyle/>
          <a:p>
            <a:endParaRPr lang="ko-KR" altLang="en-US"/>
          </a:p>
        </p:txBody>
      </p:sp>
      <p:sp>
        <p:nvSpPr>
          <p:cNvPr id="94" name="Shape 91"/>
          <p:cNvSpPr/>
          <p:nvPr/>
        </p:nvSpPr>
        <p:spPr>
          <a:xfrm>
            <a:off x="5348054" y="3098525"/>
            <a:ext cx="9525" cy="377503"/>
          </a:xfrm>
          <a:prstGeom prst="rect">
            <a:avLst/>
          </a:prstGeom>
          <a:solidFill>
            <a:srgbClr val="D3B9A5"/>
          </a:solidFill>
          <a:ln/>
        </p:spPr>
        <p:txBody>
          <a:bodyPr/>
          <a:lstStyle/>
          <a:p>
            <a:endParaRPr lang="ko-KR" altLang="en-US"/>
          </a:p>
        </p:txBody>
      </p:sp>
      <p:sp>
        <p:nvSpPr>
          <p:cNvPr id="95" name="Text 92"/>
          <p:cNvSpPr/>
          <p:nvPr/>
        </p:nvSpPr>
        <p:spPr>
          <a:xfrm>
            <a:off x="5372321" y="3132317"/>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96" name="Shape 93"/>
          <p:cNvSpPr/>
          <p:nvPr/>
        </p:nvSpPr>
        <p:spPr>
          <a:xfrm>
            <a:off x="7752792" y="3098525"/>
            <a:ext cx="2405145" cy="377503"/>
          </a:xfrm>
          <a:prstGeom prst="rect">
            <a:avLst/>
          </a:prstGeom>
          <a:solidFill>
            <a:srgbClr val="FFFFFF"/>
          </a:solidFill>
          <a:ln/>
        </p:spPr>
        <p:txBody>
          <a:bodyPr/>
          <a:lstStyle/>
          <a:p>
            <a:endParaRPr lang="ko-KR" altLang="en-US"/>
          </a:p>
        </p:txBody>
      </p:sp>
      <p:sp>
        <p:nvSpPr>
          <p:cNvPr id="97" name="Shape 94"/>
          <p:cNvSpPr/>
          <p:nvPr/>
        </p:nvSpPr>
        <p:spPr>
          <a:xfrm>
            <a:off x="7752792" y="3098525"/>
            <a:ext cx="2405145" cy="9525"/>
          </a:xfrm>
          <a:prstGeom prst="rect">
            <a:avLst/>
          </a:prstGeom>
          <a:solidFill>
            <a:srgbClr val="D3B9A5"/>
          </a:solidFill>
          <a:ln/>
        </p:spPr>
        <p:txBody>
          <a:bodyPr/>
          <a:lstStyle/>
          <a:p>
            <a:endParaRPr lang="ko-KR" altLang="en-US"/>
          </a:p>
        </p:txBody>
      </p:sp>
      <p:sp>
        <p:nvSpPr>
          <p:cNvPr id="98" name="Shape 95"/>
          <p:cNvSpPr/>
          <p:nvPr/>
        </p:nvSpPr>
        <p:spPr>
          <a:xfrm>
            <a:off x="7752792" y="3098525"/>
            <a:ext cx="9525" cy="377503"/>
          </a:xfrm>
          <a:prstGeom prst="rect">
            <a:avLst/>
          </a:prstGeom>
          <a:solidFill>
            <a:srgbClr val="D3B9A5"/>
          </a:solidFill>
          <a:ln/>
        </p:spPr>
        <p:txBody>
          <a:bodyPr/>
          <a:lstStyle/>
          <a:p>
            <a:endParaRPr lang="ko-KR" altLang="en-US"/>
          </a:p>
        </p:txBody>
      </p:sp>
      <p:sp>
        <p:nvSpPr>
          <p:cNvPr id="99" name="Text 96"/>
          <p:cNvSpPr/>
          <p:nvPr/>
        </p:nvSpPr>
        <p:spPr>
          <a:xfrm>
            <a:off x="7777059" y="3132317"/>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100" name="Shape 97"/>
          <p:cNvSpPr/>
          <p:nvPr/>
        </p:nvSpPr>
        <p:spPr>
          <a:xfrm>
            <a:off x="1740948" y="3476028"/>
            <a:ext cx="1202369" cy="377503"/>
          </a:xfrm>
          <a:prstGeom prst="rect">
            <a:avLst/>
          </a:prstGeom>
          <a:solidFill>
            <a:srgbClr val="FCF4EE"/>
          </a:solidFill>
          <a:ln/>
        </p:spPr>
        <p:txBody>
          <a:bodyPr/>
          <a:lstStyle/>
          <a:p>
            <a:endParaRPr lang="ko-KR" altLang="en-US"/>
          </a:p>
        </p:txBody>
      </p:sp>
      <p:sp>
        <p:nvSpPr>
          <p:cNvPr id="101" name="Shape 98"/>
          <p:cNvSpPr/>
          <p:nvPr/>
        </p:nvSpPr>
        <p:spPr>
          <a:xfrm>
            <a:off x="1740948" y="3476028"/>
            <a:ext cx="1202369" cy="9525"/>
          </a:xfrm>
          <a:prstGeom prst="rect">
            <a:avLst/>
          </a:prstGeom>
          <a:solidFill>
            <a:srgbClr val="D3B9A5"/>
          </a:solidFill>
          <a:ln/>
        </p:spPr>
        <p:txBody>
          <a:bodyPr/>
          <a:lstStyle/>
          <a:p>
            <a:endParaRPr lang="ko-KR" altLang="en-US"/>
          </a:p>
        </p:txBody>
      </p:sp>
      <p:sp>
        <p:nvSpPr>
          <p:cNvPr id="102" name="Shape 99"/>
          <p:cNvSpPr/>
          <p:nvPr/>
        </p:nvSpPr>
        <p:spPr>
          <a:xfrm>
            <a:off x="1740948" y="3476028"/>
            <a:ext cx="9525" cy="377503"/>
          </a:xfrm>
          <a:prstGeom prst="rect">
            <a:avLst/>
          </a:prstGeom>
          <a:solidFill>
            <a:srgbClr val="D3B9A5"/>
          </a:solidFill>
          <a:ln/>
        </p:spPr>
        <p:txBody>
          <a:bodyPr/>
          <a:lstStyle/>
          <a:p>
            <a:endParaRPr lang="ko-KR" altLang="en-US"/>
          </a:p>
        </p:txBody>
      </p:sp>
      <p:sp>
        <p:nvSpPr>
          <p:cNvPr id="103" name="Text 100"/>
          <p:cNvSpPr/>
          <p:nvPr/>
        </p:nvSpPr>
        <p:spPr>
          <a:xfrm>
            <a:off x="1765215" y="3509820"/>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중환자실</a:t>
            </a:r>
            <a:endParaRPr lang="en-US" sz="1088" dirty="0"/>
          </a:p>
        </p:txBody>
      </p:sp>
      <p:sp>
        <p:nvSpPr>
          <p:cNvPr id="104" name="Shape 101"/>
          <p:cNvSpPr/>
          <p:nvPr/>
        </p:nvSpPr>
        <p:spPr>
          <a:xfrm>
            <a:off x="2943317" y="3476028"/>
            <a:ext cx="2404738" cy="377503"/>
          </a:xfrm>
          <a:prstGeom prst="rect">
            <a:avLst/>
          </a:prstGeom>
          <a:solidFill>
            <a:srgbClr val="F8E1D0"/>
          </a:solidFill>
          <a:ln/>
        </p:spPr>
        <p:txBody>
          <a:bodyPr/>
          <a:lstStyle/>
          <a:p>
            <a:endParaRPr lang="ko-KR" altLang="en-US"/>
          </a:p>
        </p:txBody>
      </p:sp>
      <p:sp>
        <p:nvSpPr>
          <p:cNvPr id="105" name="Shape 102"/>
          <p:cNvSpPr/>
          <p:nvPr/>
        </p:nvSpPr>
        <p:spPr>
          <a:xfrm>
            <a:off x="2943317" y="3476028"/>
            <a:ext cx="2404738" cy="9525"/>
          </a:xfrm>
          <a:prstGeom prst="rect">
            <a:avLst/>
          </a:prstGeom>
          <a:solidFill>
            <a:srgbClr val="D3B9A5"/>
          </a:solidFill>
          <a:ln/>
        </p:spPr>
        <p:txBody>
          <a:bodyPr/>
          <a:lstStyle/>
          <a:p>
            <a:endParaRPr lang="ko-KR" altLang="en-US"/>
          </a:p>
        </p:txBody>
      </p:sp>
      <p:sp>
        <p:nvSpPr>
          <p:cNvPr id="106" name="Shape 103"/>
          <p:cNvSpPr/>
          <p:nvPr/>
        </p:nvSpPr>
        <p:spPr>
          <a:xfrm>
            <a:off x="2943317" y="3476028"/>
            <a:ext cx="9525" cy="377503"/>
          </a:xfrm>
          <a:prstGeom prst="rect">
            <a:avLst/>
          </a:prstGeom>
          <a:solidFill>
            <a:srgbClr val="D3B9A5"/>
          </a:solidFill>
          <a:ln/>
        </p:spPr>
        <p:txBody>
          <a:bodyPr/>
          <a:lstStyle/>
          <a:p>
            <a:endParaRPr lang="ko-KR" altLang="en-US"/>
          </a:p>
        </p:txBody>
      </p:sp>
      <p:sp>
        <p:nvSpPr>
          <p:cNvPr id="107" name="Text 104"/>
          <p:cNvSpPr/>
          <p:nvPr/>
        </p:nvSpPr>
        <p:spPr>
          <a:xfrm>
            <a:off x="2967584" y="3509820"/>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O</a:t>
            </a:r>
            <a:endParaRPr lang="en-US" sz="1088" dirty="0"/>
          </a:p>
        </p:txBody>
      </p:sp>
      <p:sp>
        <p:nvSpPr>
          <p:cNvPr id="108" name="Shape 105"/>
          <p:cNvSpPr/>
          <p:nvPr/>
        </p:nvSpPr>
        <p:spPr>
          <a:xfrm>
            <a:off x="5348054" y="3476028"/>
            <a:ext cx="2404738" cy="377503"/>
          </a:xfrm>
          <a:prstGeom prst="rect">
            <a:avLst/>
          </a:prstGeom>
          <a:solidFill>
            <a:srgbClr val="FFFFFF"/>
          </a:solidFill>
          <a:ln/>
        </p:spPr>
        <p:txBody>
          <a:bodyPr/>
          <a:lstStyle/>
          <a:p>
            <a:endParaRPr lang="ko-KR" altLang="en-US"/>
          </a:p>
        </p:txBody>
      </p:sp>
      <p:sp>
        <p:nvSpPr>
          <p:cNvPr id="109" name="Shape 106"/>
          <p:cNvSpPr/>
          <p:nvPr/>
        </p:nvSpPr>
        <p:spPr>
          <a:xfrm>
            <a:off x="5348054" y="3476028"/>
            <a:ext cx="2404738" cy="9525"/>
          </a:xfrm>
          <a:prstGeom prst="rect">
            <a:avLst/>
          </a:prstGeom>
          <a:solidFill>
            <a:srgbClr val="D3B9A5"/>
          </a:solidFill>
          <a:ln/>
        </p:spPr>
        <p:txBody>
          <a:bodyPr/>
          <a:lstStyle/>
          <a:p>
            <a:endParaRPr lang="ko-KR" altLang="en-US"/>
          </a:p>
        </p:txBody>
      </p:sp>
      <p:sp>
        <p:nvSpPr>
          <p:cNvPr id="110" name="Shape 107"/>
          <p:cNvSpPr/>
          <p:nvPr/>
        </p:nvSpPr>
        <p:spPr>
          <a:xfrm>
            <a:off x="5348054" y="3476028"/>
            <a:ext cx="9525" cy="377503"/>
          </a:xfrm>
          <a:prstGeom prst="rect">
            <a:avLst/>
          </a:prstGeom>
          <a:solidFill>
            <a:srgbClr val="D3B9A5"/>
          </a:solidFill>
          <a:ln/>
        </p:spPr>
        <p:txBody>
          <a:bodyPr/>
          <a:lstStyle/>
          <a:p>
            <a:endParaRPr lang="ko-KR" altLang="en-US"/>
          </a:p>
        </p:txBody>
      </p:sp>
      <p:sp>
        <p:nvSpPr>
          <p:cNvPr id="111" name="Text 108"/>
          <p:cNvSpPr/>
          <p:nvPr/>
        </p:nvSpPr>
        <p:spPr>
          <a:xfrm>
            <a:off x="5372321" y="3509820"/>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112" name="Shape 109"/>
          <p:cNvSpPr/>
          <p:nvPr/>
        </p:nvSpPr>
        <p:spPr>
          <a:xfrm>
            <a:off x="7752792" y="3476028"/>
            <a:ext cx="2405145" cy="377503"/>
          </a:xfrm>
          <a:prstGeom prst="rect">
            <a:avLst/>
          </a:prstGeom>
          <a:solidFill>
            <a:srgbClr val="FFFFFF"/>
          </a:solidFill>
          <a:ln/>
        </p:spPr>
        <p:txBody>
          <a:bodyPr/>
          <a:lstStyle/>
          <a:p>
            <a:endParaRPr lang="ko-KR" altLang="en-US"/>
          </a:p>
        </p:txBody>
      </p:sp>
      <p:sp>
        <p:nvSpPr>
          <p:cNvPr id="113" name="Shape 110"/>
          <p:cNvSpPr/>
          <p:nvPr/>
        </p:nvSpPr>
        <p:spPr>
          <a:xfrm>
            <a:off x="7752792" y="3476028"/>
            <a:ext cx="2405145" cy="9525"/>
          </a:xfrm>
          <a:prstGeom prst="rect">
            <a:avLst/>
          </a:prstGeom>
          <a:solidFill>
            <a:srgbClr val="D3B9A5"/>
          </a:solidFill>
          <a:ln/>
        </p:spPr>
        <p:txBody>
          <a:bodyPr/>
          <a:lstStyle/>
          <a:p>
            <a:endParaRPr lang="ko-KR" altLang="en-US"/>
          </a:p>
        </p:txBody>
      </p:sp>
      <p:sp>
        <p:nvSpPr>
          <p:cNvPr id="114" name="Shape 111"/>
          <p:cNvSpPr/>
          <p:nvPr/>
        </p:nvSpPr>
        <p:spPr>
          <a:xfrm>
            <a:off x="7752792" y="3476028"/>
            <a:ext cx="9525" cy="377503"/>
          </a:xfrm>
          <a:prstGeom prst="rect">
            <a:avLst/>
          </a:prstGeom>
          <a:solidFill>
            <a:srgbClr val="D3B9A5"/>
          </a:solidFill>
          <a:ln/>
        </p:spPr>
        <p:txBody>
          <a:bodyPr/>
          <a:lstStyle/>
          <a:p>
            <a:endParaRPr lang="ko-KR" altLang="en-US"/>
          </a:p>
        </p:txBody>
      </p:sp>
      <p:sp>
        <p:nvSpPr>
          <p:cNvPr id="115" name="Text 112"/>
          <p:cNvSpPr/>
          <p:nvPr/>
        </p:nvSpPr>
        <p:spPr>
          <a:xfrm>
            <a:off x="7777059" y="3509820"/>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O</a:t>
            </a:r>
            <a:endParaRPr lang="en-US" sz="1088" dirty="0"/>
          </a:p>
        </p:txBody>
      </p:sp>
      <p:sp>
        <p:nvSpPr>
          <p:cNvPr id="116" name="Shape 113"/>
          <p:cNvSpPr/>
          <p:nvPr/>
        </p:nvSpPr>
        <p:spPr>
          <a:xfrm>
            <a:off x="538580" y="3853531"/>
            <a:ext cx="2404738" cy="385573"/>
          </a:xfrm>
          <a:prstGeom prst="rect">
            <a:avLst/>
          </a:prstGeom>
          <a:solidFill>
            <a:srgbClr val="FCF4EE"/>
          </a:solidFill>
          <a:ln/>
        </p:spPr>
        <p:txBody>
          <a:bodyPr/>
          <a:lstStyle/>
          <a:p>
            <a:endParaRPr lang="ko-KR" altLang="en-US"/>
          </a:p>
        </p:txBody>
      </p:sp>
      <p:sp>
        <p:nvSpPr>
          <p:cNvPr id="117" name="Shape 114"/>
          <p:cNvSpPr/>
          <p:nvPr/>
        </p:nvSpPr>
        <p:spPr>
          <a:xfrm>
            <a:off x="538580" y="3853531"/>
            <a:ext cx="2404738" cy="9525"/>
          </a:xfrm>
          <a:prstGeom prst="rect">
            <a:avLst/>
          </a:prstGeom>
          <a:solidFill>
            <a:srgbClr val="D3B9A5"/>
          </a:solidFill>
          <a:ln/>
        </p:spPr>
        <p:txBody>
          <a:bodyPr/>
          <a:lstStyle/>
          <a:p>
            <a:endParaRPr lang="ko-KR" altLang="en-US"/>
          </a:p>
        </p:txBody>
      </p:sp>
      <p:sp>
        <p:nvSpPr>
          <p:cNvPr id="118" name="Text 115"/>
          <p:cNvSpPr/>
          <p:nvPr/>
        </p:nvSpPr>
        <p:spPr>
          <a:xfrm>
            <a:off x="557630" y="3887323"/>
            <a:ext cx="2366638"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치료횟수 조건</a:t>
            </a:r>
            <a:endParaRPr lang="en-US" sz="1088" dirty="0"/>
          </a:p>
        </p:txBody>
      </p:sp>
      <p:sp>
        <p:nvSpPr>
          <p:cNvPr id="119" name="Shape 116"/>
          <p:cNvSpPr/>
          <p:nvPr/>
        </p:nvSpPr>
        <p:spPr>
          <a:xfrm>
            <a:off x="2943317" y="3853531"/>
            <a:ext cx="2404738" cy="385573"/>
          </a:xfrm>
          <a:prstGeom prst="rect">
            <a:avLst/>
          </a:prstGeom>
          <a:solidFill>
            <a:srgbClr val="F8E1D0"/>
          </a:solidFill>
          <a:ln/>
        </p:spPr>
        <p:txBody>
          <a:bodyPr/>
          <a:lstStyle/>
          <a:p>
            <a:endParaRPr lang="ko-KR" altLang="en-US"/>
          </a:p>
        </p:txBody>
      </p:sp>
      <p:sp>
        <p:nvSpPr>
          <p:cNvPr id="120" name="Shape 117"/>
          <p:cNvSpPr/>
          <p:nvPr/>
        </p:nvSpPr>
        <p:spPr>
          <a:xfrm>
            <a:off x="2943317" y="3853531"/>
            <a:ext cx="2404738" cy="9525"/>
          </a:xfrm>
          <a:prstGeom prst="rect">
            <a:avLst/>
          </a:prstGeom>
          <a:solidFill>
            <a:srgbClr val="D3B9A5"/>
          </a:solidFill>
          <a:ln/>
        </p:spPr>
        <p:txBody>
          <a:bodyPr/>
          <a:lstStyle/>
          <a:p>
            <a:endParaRPr lang="ko-KR" altLang="en-US"/>
          </a:p>
        </p:txBody>
      </p:sp>
      <p:sp>
        <p:nvSpPr>
          <p:cNvPr id="121" name="Shape 118"/>
          <p:cNvSpPr/>
          <p:nvPr/>
        </p:nvSpPr>
        <p:spPr>
          <a:xfrm>
            <a:off x="2943317" y="3853531"/>
            <a:ext cx="9525" cy="385573"/>
          </a:xfrm>
          <a:prstGeom prst="rect">
            <a:avLst/>
          </a:prstGeom>
          <a:solidFill>
            <a:srgbClr val="D3B9A5"/>
          </a:solidFill>
          <a:ln/>
        </p:spPr>
        <p:txBody>
          <a:bodyPr/>
          <a:lstStyle/>
          <a:p>
            <a:endParaRPr lang="ko-KR" altLang="en-US"/>
          </a:p>
        </p:txBody>
      </p:sp>
      <p:sp>
        <p:nvSpPr>
          <p:cNvPr id="122" name="Text 119"/>
          <p:cNvSpPr/>
          <p:nvPr/>
        </p:nvSpPr>
        <p:spPr>
          <a:xfrm>
            <a:off x="2967584" y="3887323"/>
            <a:ext cx="2361420"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연간 2회 이상시</a:t>
            </a:r>
            <a:endParaRPr lang="en-US" sz="1088" dirty="0"/>
          </a:p>
        </p:txBody>
      </p:sp>
      <p:sp>
        <p:nvSpPr>
          <p:cNvPr id="123" name="Shape 120"/>
          <p:cNvSpPr/>
          <p:nvPr/>
        </p:nvSpPr>
        <p:spPr>
          <a:xfrm>
            <a:off x="5348054" y="3853531"/>
            <a:ext cx="2404738" cy="385573"/>
          </a:xfrm>
          <a:prstGeom prst="rect">
            <a:avLst/>
          </a:prstGeom>
          <a:solidFill>
            <a:srgbClr val="FFFFFF"/>
          </a:solidFill>
          <a:ln/>
        </p:spPr>
        <p:txBody>
          <a:bodyPr/>
          <a:lstStyle/>
          <a:p>
            <a:endParaRPr lang="ko-KR" altLang="en-US"/>
          </a:p>
        </p:txBody>
      </p:sp>
      <p:sp>
        <p:nvSpPr>
          <p:cNvPr id="124" name="Shape 121"/>
          <p:cNvSpPr/>
          <p:nvPr/>
        </p:nvSpPr>
        <p:spPr>
          <a:xfrm>
            <a:off x="5348054" y="3853531"/>
            <a:ext cx="2404738" cy="9525"/>
          </a:xfrm>
          <a:prstGeom prst="rect">
            <a:avLst/>
          </a:prstGeom>
          <a:solidFill>
            <a:srgbClr val="D3B9A5"/>
          </a:solidFill>
          <a:ln/>
        </p:spPr>
        <p:txBody>
          <a:bodyPr/>
          <a:lstStyle/>
          <a:p>
            <a:endParaRPr lang="ko-KR" altLang="en-US"/>
          </a:p>
        </p:txBody>
      </p:sp>
      <p:sp>
        <p:nvSpPr>
          <p:cNvPr id="125" name="Shape 122"/>
          <p:cNvSpPr/>
          <p:nvPr/>
        </p:nvSpPr>
        <p:spPr>
          <a:xfrm>
            <a:off x="5348054" y="3853531"/>
            <a:ext cx="9525" cy="385573"/>
          </a:xfrm>
          <a:prstGeom prst="rect">
            <a:avLst/>
          </a:prstGeom>
          <a:solidFill>
            <a:srgbClr val="D3B9A5"/>
          </a:solidFill>
          <a:ln/>
        </p:spPr>
        <p:txBody>
          <a:bodyPr/>
          <a:lstStyle/>
          <a:p>
            <a:endParaRPr lang="ko-KR" altLang="en-US"/>
          </a:p>
        </p:txBody>
      </p:sp>
      <p:sp>
        <p:nvSpPr>
          <p:cNvPr id="126" name="Text 123"/>
          <p:cNvSpPr/>
          <p:nvPr/>
        </p:nvSpPr>
        <p:spPr>
          <a:xfrm>
            <a:off x="5372321" y="3887323"/>
            <a:ext cx="2361420"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연간 2회 이상시</a:t>
            </a:r>
            <a:endParaRPr lang="en-US" sz="1088" dirty="0"/>
          </a:p>
        </p:txBody>
      </p:sp>
      <p:sp>
        <p:nvSpPr>
          <p:cNvPr id="127" name="Shape 124"/>
          <p:cNvSpPr/>
          <p:nvPr/>
        </p:nvSpPr>
        <p:spPr>
          <a:xfrm>
            <a:off x="7752792" y="3853531"/>
            <a:ext cx="2405145" cy="385573"/>
          </a:xfrm>
          <a:prstGeom prst="rect">
            <a:avLst/>
          </a:prstGeom>
          <a:solidFill>
            <a:srgbClr val="FFFFFF"/>
          </a:solidFill>
          <a:ln/>
        </p:spPr>
        <p:txBody>
          <a:bodyPr/>
          <a:lstStyle/>
          <a:p>
            <a:endParaRPr lang="ko-KR" altLang="en-US"/>
          </a:p>
        </p:txBody>
      </p:sp>
      <p:sp>
        <p:nvSpPr>
          <p:cNvPr id="128" name="Shape 125"/>
          <p:cNvSpPr/>
          <p:nvPr/>
        </p:nvSpPr>
        <p:spPr>
          <a:xfrm>
            <a:off x="7752792" y="3853531"/>
            <a:ext cx="2405145" cy="9525"/>
          </a:xfrm>
          <a:prstGeom prst="rect">
            <a:avLst/>
          </a:prstGeom>
          <a:solidFill>
            <a:srgbClr val="D3B9A5"/>
          </a:solidFill>
          <a:ln/>
        </p:spPr>
        <p:txBody>
          <a:bodyPr/>
          <a:lstStyle/>
          <a:p>
            <a:endParaRPr lang="ko-KR" altLang="en-US"/>
          </a:p>
        </p:txBody>
      </p:sp>
      <p:sp>
        <p:nvSpPr>
          <p:cNvPr id="129" name="Shape 126"/>
          <p:cNvSpPr/>
          <p:nvPr/>
        </p:nvSpPr>
        <p:spPr>
          <a:xfrm>
            <a:off x="7752792" y="3853531"/>
            <a:ext cx="9525" cy="385573"/>
          </a:xfrm>
          <a:prstGeom prst="rect">
            <a:avLst/>
          </a:prstGeom>
          <a:solidFill>
            <a:srgbClr val="D3B9A5"/>
          </a:solidFill>
          <a:ln/>
        </p:spPr>
        <p:txBody>
          <a:bodyPr/>
          <a:lstStyle/>
          <a:p>
            <a:endParaRPr lang="ko-KR" altLang="en-US"/>
          </a:p>
        </p:txBody>
      </p:sp>
      <p:sp>
        <p:nvSpPr>
          <p:cNvPr id="130" name="Text 127"/>
          <p:cNvSpPr/>
          <p:nvPr/>
        </p:nvSpPr>
        <p:spPr>
          <a:xfrm>
            <a:off x="7777059" y="3887323"/>
            <a:ext cx="2361828"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연간 2회 이상시</a:t>
            </a:r>
            <a:endParaRPr lang="en-US" sz="1088" dirty="0"/>
          </a:p>
        </p:txBody>
      </p:sp>
      <p:sp>
        <p:nvSpPr>
          <p:cNvPr id="131" name="Shape 128"/>
          <p:cNvSpPr/>
          <p:nvPr/>
        </p:nvSpPr>
        <p:spPr>
          <a:xfrm>
            <a:off x="538580" y="4239104"/>
            <a:ext cx="1202369" cy="1132509"/>
          </a:xfrm>
          <a:prstGeom prst="rect">
            <a:avLst/>
          </a:prstGeom>
          <a:solidFill>
            <a:srgbClr val="FCF4EE"/>
          </a:solidFill>
          <a:ln/>
        </p:spPr>
        <p:txBody>
          <a:bodyPr/>
          <a:lstStyle/>
          <a:p>
            <a:endParaRPr lang="ko-KR" altLang="en-US"/>
          </a:p>
        </p:txBody>
      </p:sp>
      <p:sp>
        <p:nvSpPr>
          <p:cNvPr id="132" name="Shape 129"/>
          <p:cNvSpPr/>
          <p:nvPr/>
        </p:nvSpPr>
        <p:spPr>
          <a:xfrm>
            <a:off x="538580" y="4239104"/>
            <a:ext cx="1202369" cy="9525"/>
          </a:xfrm>
          <a:prstGeom prst="rect">
            <a:avLst/>
          </a:prstGeom>
          <a:solidFill>
            <a:srgbClr val="D3B9A5"/>
          </a:solidFill>
          <a:ln/>
        </p:spPr>
        <p:txBody>
          <a:bodyPr/>
          <a:lstStyle/>
          <a:p>
            <a:endParaRPr lang="ko-KR" altLang="en-US"/>
          </a:p>
        </p:txBody>
      </p:sp>
      <p:sp>
        <p:nvSpPr>
          <p:cNvPr id="133" name="Text 130"/>
          <p:cNvSpPr/>
          <p:nvPr/>
        </p:nvSpPr>
        <p:spPr>
          <a:xfrm>
            <a:off x="557630" y="4272896"/>
            <a:ext cx="1164269" cy="110824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highlight>
                  <a:srgbClr val="FCF4EE"/>
                </a:highlight>
                <a:latin typeface="Paperlogy 7 Bold" pitchFamily="2" charset="-127"/>
                <a:ea typeface="Paperlogy 7 Bold" pitchFamily="2" charset="-127"/>
                <a:cs typeface="Arial" pitchFamily="34" charset="-120"/>
              </a:rPr>
              <a:t>최대 보장 금액</a:t>
            </a:r>
            <a:endParaRPr lang="en-US" sz="1088" dirty="0"/>
          </a:p>
        </p:txBody>
      </p:sp>
      <p:sp>
        <p:nvSpPr>
          <p:cNvPr id="134" name="Shape 131"/>
          <p:cNvSpPr/>
          <p:nvPr/>
        </p:nvSpPr>
        <p:spPr>
          <a:xfrm>
            <a:off x="1740948" y="4239104"/>
            <a:ext cx="1202369" cy="377503"/>
          </a:xfrm>
          <a:prstGeom prst="rect">
            <a:avLst/>
          </a:prstGeom>
          <a:solidFill>
            <a:srgbClr val="FCF4EE"/>
          </a:solidFill>
          <a:ln/>
        </p:spPr>
        <p:txBody>
          <a:bodyPr/>
          <a:lstStyle/>
          <a:p>
            <a:endParaRPr lang="ko-KR" altLang="en-US"/>
          </a:p>
        </p:txBody>
      </p:sp>
      <p:sp>
        <p:nvSpPr>
          <p:cNvPr id="135" name="Shape 132"/>
          <p:cNvSpPr/>
          <p:nvPr/>
        </p:nvSpPr>
        <p:spPr>
          <a:xfrm>
            <a:off x="1740948" y="4239104"/>
            <a:ext cx="1202369" cy="9525"/>
          </a:xfrm>
          <a:prstGeom prst="rect">
            <a:avLst/>
          </a:prstGeom>
          <a:solidFill>
            <a:srgbClr val="D3B9A5"/>
          </a:solidFill>
          <a:ln/>
        </p:spPr>
        <p:txBody>
          <a:bodyPr/>
          <a:lstStyle/>
          <a:p>
            <a:endParaRPr lang="ko-KR" altLang="en-US"/>
          </a:p>
        </p:txBody>
      </p:sp>
      <p:sp>
        <p:nvSpPr>
          <p:cNvPr id="136" name="Shape 133"/>
          <p:cNvSpPr/>
          <p:nvPr/>
        </p:nvSpPr>
        <p:spPr>
          <a:xfrm>
            <a:off x="1740948" y="4239104"/>
            <a:ext cx="9525" cy="377503"/>
          </a:xfrm>
          <a:prstGeom prst="rect">
            <a:avLst/>
          </a:prstGeom>
          <a:solidFill>
            <a:srgbClr val="D3B9A5"/>
          </a:solidFill>
          <a:ln/>
        </p:spPr>
        <p:txBody>
          <a:bodyPr/>
          <a:lstStyle/>
          <a:p>
            <a:endParaRPr lang="ko-KR" altLang="en-US"/>
          </a:p>
        </p:txBody>
      </p:sp>
      <p:sp>
        <p:nvSpPr>
          <p:cNvPr id="137" name="Text 134"/>
          <p:cNvSpPr/>
          <p:nvPr/>
        </p:nvSpPr>
        <p:spPr>
          <a:xfrm>
            <a:off x="1765215" y="4272896"/>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2회</a:t>
            </a:r>
            <a:endParaRPr lang="en-US" sz="1088" dirty="0"/>
          </a:p>
        </p:txBody>
      </p:sp>
      <p:sp>
        <p:nvSpPr>
          <p:cNvPr id="138" name="Shape 135"/>
          <p:cNvSpPr/>
          <p:nvPr/>
        </p:nvSpPr>
        <p:spPr>
          <a:xfrm>
            <a:off x="2943317" y="4239104"/>
            <a:ext cx="2404738" cy="377503"/>
          </a:xfrm>
          <a:prstGeom prst="rect">
            <a:avLst/>
          </a:prstGeom>
          <a:solidFill>
            <a:srgbClr val="F8E1D0"/>
          </a:solidFill>
          <a:ln/>
        </p:spPr>
        <p:txBody>
          <a:bodyPr/>
          <a:lstStyle/>
          <a:p>
            <a:endParaRPr lang="ko-KR" altLang="en-US"/>
          </a:p>
        </p:txBody>
      </p:sp>
      <p:sp>
        <p:nvSpPr>
          <p:cNvPr id="139" name="Shape 136"/>
          <p:cNvSpPr/>
          <p:nvPr/>
        </p:nvSpPr>
        <p:spPr>
          <a:xfrm>
            <a:off x="2943317" y="4239104"/>
            <a:ext cx="2404738" cy="9525"/>
          </a:xfrm>
          <a:prstGeom prst="rect">
            <a:avLst/>
          </a:prstGeom>
          <a:solidFill>
            <a:srgbClr val="D3B9A5"/>
          </a:solidFill>
          <a:ln/>
        </p:spPr>
        <p:txBody>
          <a:bodyPr/>
          <a:lstStyle/>
          <a:p>
            <a:endParaRPr lang="ko-KR" altLang="en-US"/>
          </a:p>
        </p:txBody>
      </p:sp>
      <p:sp>
        <p:nvSpPr>
          <p:cNvPr id="140" name="Shape 137"/>
          <p:cNvSpPr/>
          <p:nvPr/>
        </p:nvSpPr>
        <p:spPr>
          <a:xfrm>
            <a:off x="2943317" y="4239104"/>
            <a:ext cx="9525" cy="377503"/>
          </a:xfrm>
          <a:prstGeom prst="rect">
            <a:avLst/>
          </a:prstGeom>
          <a:solidFill>
            <a:srgbClr val="D3B9A5"/>
          </a:solidFill>
          <a:ln/>
        </p:spPr>
        <p:txBody>
          <a:bodyPr/>
          <a:lstStyle/>
          <a:p>
            <a:endParaRPr lang="ko-KR" altLang="en-US"/>
          </a:p>
        </p:txBody>
      </p:sp>
      <p:sp>
        <p:nvSpPr>
          <p:cNvPr id="141" name="Text 138"/>
          <p:cNvSpPr/>
          <p:nvPr/>
        </p:nvSpPr>
        <p:spPr>
          <a:xfrm>
            <a:off x="2967584" y="4272896"/>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2,000만</a:t>
            </a:r>
            <a:endParaRPr lang="en-US" sz="1088" dirty="0"/>
          </a:p>
        </p:txBody>
      </p:sp>
      <p:sp>
        <p:nvSpPr>
          <p:cNvPr id="142" name="Shape 139"/>
          <p:cNvSpPr/>
          <p:nvPr/>
        </p:nvSpPr>
        <p:spPr>
          <a:xfrm>
            <a:off x="5348054" y="4239104"/>
            <a:ext cx="2404738" cy="377503"/>
          </a:xfrm>
          <a:prstGeom prst="rect">
            <a:avLst/>
          </a:prstGeom>
          <a:solidFill>
            <a:srgbClr val="FFFFFF"/>
          </a:solidFill>
          <a:ln/>
        </p:spPr>
        <p:txBody>
          <a:bodyPr/>
          <a:lstStyle/>
          <a:p>
            <a:endParaRPr lang="ko-KR" altLang="en-US"/>
          </a:p>
        </p:txBody>
      </p:sp>
      <p:sp>
        <p:nvSpPr>
          <p:cNvPr id="143" name="Shape 140"/>
          <p:cNvSpPr/>
          <p:nvPr/>
        </p:nvSpPr>
        <p:spPr>
          <a:xfrm>
            <a:off x="5348054" y="4239104"/>
            <a:ext cx="2404738" cy="9525"/>
          </a:xfrm>
          <a:prstGeom prst="rect">
            <a:avLst/>
          </a:prstGeom>
          <a:solidFill>
            <a:srgbClr val="D3B9A5"/>
          </a:solidFill>
          <a:ln/>
        </p:spPr>
        <p:txBody>
          <a:bodyPr/>
          <a:lstStyle/>
          <a:p>
            <a:endParaRPr lang="ko-KR" altLang="en-US"/>
          </a:p>
        </p:txBody>
      </p:sp>
      <p:sp>
        <p:nvSpPr>
          <p:cNvPr id="144" name="Shape 141"/>
          <p:cNvSpPr/>
          <p:nvPr/>
        </p:nvSpPr>
        <p:spPr>
          <a:xfrm>
            <a:off x="5348054" y="4239104"/>
            <a:ext cx="9525" cy="377503"/>
          </a:xfrm>
          <a:prstGeom prst="rect">
            <a:avLst/>
          </a:prstGeom>
          <a:solidFill>
            <a:srgbClr val="D3B9A5"/>
          </a:solidFill>
          <a:ln/>
        </p:spPr>
        <p:txBody>
          <a:bodyPr/>
          <a:lstStyle/>
          <a:p>
            <a:endParaRPr lang="ko-KR" altLang="en-US"/>
          </a:p>
        </p:txBody>
      </p:sp>
      <p:sp>
        <p:nvSpPr>
          <p:cNvPr id="145" name="Text 142"/>
          <p:cNvSpPr/>
          <p:nvPr/>
        </p:nvSpPr>
        <p:spPr>
          <a:xfrm>
            <a:off x="5372321" y="4272896"/>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2,000만</a:t>
            </a:r>
            <a:endParaRPr lang="en-US" sz="1088" dirty="0"/>
          </a:p>
        </p:txBody>
      </p:sp>
      <p:sp>
        <p:nvSpPr>
          <p:cNvPr id="146" name="Shape 143"/>
          <p:cNvSpPr/>
          <p:nvPr/>
        </p:nvSpPr>
        <p:spPr>
          <a:xfrm>
            <a:off x="7752792" y="4239104"/>
            <a:ext cx="2405145" cy="377503"/>
          </a:xfrm>
          <a:prstGeom prst="rect">
            <a:avLst/>
          </a:prstGeom>
          <a:solidFill>
            <a:srgbClr val="FFFFFF"/>
          </a:solidFill>
          <a:ln/>
        </p:spPr>
        <p:txBody>
          <a:bodyPr/>
          <a:lstStyle/>
          <a:p>
            <a:endParaRPr lang="ko-KR" altLang="en-US"/>
          </a:p>
        </p:txBody>
      </p:sp>
      <p:sp>
        <p:nvSpPr>
          <p:cNvPr id="147" name="Shape 144"/>
          <p:cNvSpPr/>
          <p:nvPr/>
        </p:nvSpPr>
        <p:spPr>
          <a:xfrm>
            <a:off x="7752792" y="4239104"/>
            <a:ext cx="2405145" cy="9525"/>
          </a:xfrm>
          <a:prstGeom prst="rect">
            <a:avLst/>
          </a:prstGeom>
          <a:solidFill>
            <a:srgbClr val="D3B9A5"/>
          </a:solidFill>
          <a:ln/>
        </p:spPr>
        <p:txBody>
          <a:bodyPr/>
          <a:lstStyle/>
          <a:p>
            <a:endParaRPr lang="ko-KR" altLang="en-US"/>
          </a:p>
        </p:txBody>
      </p:sp>
      <p:sp>
        <p:nvSpPr>
          <p:cNvPr id="148" name="Shape 145"/>
          <p:cNvSpPr/>
          <p:nvPr/>
        </p:nvSpPr>
        <p:spPr>
          <a:xfrm>
            <a:off x="7752792" y="4239104"/>
            <a:ext cx="9525" cy="377503"/>
          </a:xfrm>
          <a:prstGeom prst="rect">
            <a:avLst/>
          </a:prstGeom>
          <a:solidFill>
            <a:srgbClr val="D3B9A5"/>
          </a:solidFill>
          <a:ln/>
        </p:spPr>
        <p:txBody>
          <a:bodyPr/>
          <a:lstStyle/>
          <a:p>
            <a:endParaRPr lang="ko-KR" altLang="en-US"/>
          </a:p>
        </p:txBody>
      </p:sp>
      <p:sp>
        <p:nvSpPr>
          <p:cNvPr id="149" name="Text 146"/>
          <p:cNvSpPr/>
          <p:nvPr/>
        </p:nvSpPr>
        <p:spPr>
          <a:xfrm>
            <a:off x="7777059" y="4272896"/>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50" name="Shape 147"/>
          <p:cNvSpPr/>
          <p:nvPr/>
        </p:nvSpPr>
        <p:spPr>
          <a:xfrm>
            <a:off x="1740948" y="4616607"/>
            <a:ext cx="1202369" cy="377503"/>
          </a:xfrm>
          <a:prstGeom prst="rect">
            <a:avLst/>
          </a:prstGeom>
          <a:solidFill>
            <a:srgbClr val="FCF4EE"/>
          </a:solidFill>
          <a:ln/>
        </p:spPr>
        <p:txBody>
          <a:bodyPr/>
          <a:lstStyle/>
          <a:p>
            <a:endParaRPr lang="ko-KR" altLang="en-US"/>
          </a:p>
        </p:txBody>
      </p:sp>
      <p:sp>
        <p:nvSpPr>
          <p:cNvPr id="151" name="Shape 148"/>
          <p:cNvSpPr/>
          <p:nvPr/>
        </p:nvSpPr>
        <p:spPr>
          <a:xfrm>
            <a:off x="1740948" y="4616607"/>
            <a:ext cx="1202369" cy="9525"/>
          </a:xfrm>
          <a:prstGeom prst="rect">
            <a:avLst/>
          </a:prstGeom>
          <a:solidFill>
            <a:srgbClr val="D3B9A5"/>
          </a:solidFill>
          <a:ln/>
        </p:spPr>
        <p:txBody>
          <a:bodyPr/>
          <a:lstStyle/>
          <a:p>
            <a:endParaRPr lang="ko-KR" altLang="en-US"/>
          </a:p>
        </p:txBody>
      </p:sp>
      <p:sp>
        <p:nvSpPr>
          <p:cNvPr id="152" name="Shape 149"/>
          <p:cNvSpPr/>
          <p:nvPr/>
        </p:nvSpPr>
        <p:spPr>
          <a:xfrm>
            <a:off x="1740948" y="4616607"/>
            <a:ext cx="9525" cy="377503"/>
          </a:xfrm>
          <a:prstGeom prst="rect">
            <a:avLst/>
          </a:prstGeom>
          <a:solidFill>
            <a:srgbClr val="D3B9A5"/>
          </a:solidFill>
          <a:ln/>
        </p:spPr>
        <p:txBody>
          <a:bodyPr/>
          <a:lstStyle/>
          <a:p>
            <a:endParaRPr lang="ko-KR" altLang="en-US"/>
          </a:p>
        </p:txBody>
      </p:sp>
      <p:sp>
        <p:nvSpPr>
          <p:cNvPr id="153" name="Text 150"/>
          <p:cNvSpPr/>
          <p:nvPr/>
        </p:nvSpPr>
        <p:spPr>
          <a:xfrm>
            <a:off x="1765215" y="4650399"/>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3회</a:t>
            </a:r>
            <a:endParaRPr lang="en-US" sz="1088" dirty="0"/>
          </a:p>
        </p:txBody>
      </p:sp>
      <p:sp>
        <p:nvSpPr>
          <p:cNvPr id="154" name="Shape 151"/>
          <p:cNvSpPr/>
          <p:nvPr/>
        </p:nvSpPr>
        <p:spPr>
          <a:xfrm>
            <a:off x="2943317" y="4616607"/>
            <a:ext cx="2404738" cy="377503"/>
          </a:xfrm>
          <a:prstGeom prst="rect">
            <a:avLst/>
          </a:prstGeom>
          <a:solidFill>
            <a:srgbClr val="F8E1D0"/>
          </a:solidFill>
          <a:ln/>
        </p:spPr>
        <p:txBody>
          <a:bodyPr/>
          <a:lstStyle/>
          <a:p>
            <a:endParaRPr lang="ko-KR" altLang="en-US"/>
          </a:p>
        </p:txBody>
      </p:sp>
      <p:sp>
        <p:nvSpPr>
          <p:cNvPr id="155" name="Shape 152"/>
          <p:cNvSpPr/>
          <p:nvPr/>
        </p:nvSpPr>
        <p:spPr>
          <a:xfrm>
            <a:off x="2943317" y="4616607"/>
            <a:ext cx="2404738" cy="9525"/>
          </a:xfrm>
          <a:prstGeom prst="rect">
            <a:avLst/>
          </a:prstGeom>
          <a:solidFill>
            <a:srgbClr val="D3B9A5"/>
          </a:solidFill>
          <a:ln/>
        </p:spPr>
        <p:txBody>
          <a:bodyPr/>
          <a:lstStyle/>
          <a:p>
            <a:endParaRPr lang="ko-KR" altLang="en-US"/>
          </a:p>
        </p:txBody>
      </p:sp>
      <p:sp>
        <p:nvSpPr>
          <p:cNvPr id="156" name="Shape 153"/>
          <p:cNvSpPr/>
          <p:nvPr/>
        </p:nvSpPr>
        <p:spPr>
          <a:xfrm>
            <a:off x="2943317" y="4616607"/>
            <a:ext cx="9525" cy="377503"/>
          </a:xfrm>
          <a:prstGeom prst="rect">
            <a:avLst/>
          </a:prstGeom>
          <a:solidFill>
            <a:srgbClr val="D3B9A5"/>
          </a:solidFill>
          <a:ln/>
        </p:spPr>
        <p:txBody>
          <a:bodyPr/>
          <a:lstStyle/>
          <a:p>
            <a:endParaRPr lang="ko-KR" altLang="en-US"/>
          </a:p>
        </p:txBody>
      </p:sp>
      <p:sp>
        <p:nvSpPr>
          <p:cNvPr id="157" name="Text 154"/>
          <p:cNvSpPr/>
          <p:nvPr/>
        </p:nvSpPr>
        <p:spPr>
          <a:xfrm>
            <a:off x="2967584" y="4650399"/>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1,000만</a:t>
            </a:r>
            <a:endParaRPr lang="en-US" sz="1088" dirty="0"/>
          </a:p>
        </p:txBody>
      </p:sp>
      <p:sp>
        <p:nvSpPr>
          <p:cNvPr id="158" name="Shape 155"/>
          <p:cNvSpPr/>
          <p:nvPr/>
        </p:nvSpPr>
        <p:spPr>
          <a:xfrm>
            <a:off x="5348054" y="4616607"/>
            <a:ext cx="2404738" cy="377503"/>
          </a:xfrm>
          <a:prstGeom prst="rect">
            <a:avLst/>
          </a:prstGeom>
          <a:solidFill>
            <a:srgbClr val="FFFFFF"/>
          </a:solidFill>
          <a:ln/>
        </p:spPr>
        <p:txBody>
          <a:bodyPr/>
          <a:lstStyle/>
          <a:p>
            <a:endParaRPr lang="ko-KR" altLang="en-US"/>
          </a:p>
        </p:txBody>
      </p:sp>
      <p:sp>
        <p:nvSpPr>
          <p:cNvPr id="159" name="Shape 156"/>
          <p:cNvSpPr/>
          <p:nvPr/>
        </p:nvSpPr>
        <p:spPr>
          <a:xfrm>
            <a:off x="5348054" y="4616607"/>
            <a:ext cx="2404738" cy="9525"/>
          </a:xfrm>
          <a:prstGeom prst="rect">
            <a:avLst/>
          </a:prstGeom>
          <a:solidFill>
            <a:srgbClr val="D3B9A5"/>
          </a:solidFill>
          <a:ln/>
        </p:spPr>
        <p:txBody>
          <a:bodyPr/>
          <a:lstStyle/>
          <a:p>
            <a:endParaRPr lang="ko-KR" altLang="en-US"/>
          </a:p>
        </p:txBody>
      </p:sp>
      <p:sp>
        <p:nvSpPr>
          <p:cNvPr id="160" name="Shape 157"/>
          <p:cNvSpPr/>
          <p:nvPr/>
        </p:nvSpPr>
        <p:spPr>
          <a:xfrm>
            <a:off x="5348054" y="4616607"/>
            <a:ext cx="9525" cy="377503"/>
          </a:xfrm>
          <a:prstGeom prst="rect">
            <a:avLst/>
          </a:prstGeom>
          <a:solidFill>
            <a:srgbClr val="D3B9A5"/>
          </a:solidFill>
          <a:ln/>
        </p:spPr>
        <p:txBody>
          <a:bodyPr/>
          <a:lstStyle/>
          <a:p>
            <a:endParaRPr lang="ko-KR" altLang="en-US"/>
          </a:p>
        </p:txBody>
      </p:sp>
      <p:sp>
        <p:nvSpPr>
          <p:cNvPr id="161" name="Text 158"/>
          <p:cNvSpPr/>
          <p:nvPr/>
        </p:nvSpPr>
        <p:spPr>
          <a:xfrm>
            <a:off x="5372321" y="4650399"/>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62" name="Shape 159"/>
          <p:cNvSpPr/>
          <p:nvPr/>
        </p:nvSpPr>
        <p:spPr>
          <a:xfrm>
            <a:off x="7752792" y="4616607"/>
            <a:ext cx="2405145" cy="377503"/>
          </a:xfrm>
          <a:prstGeom prst="rect">
            <a:avLst/>
          </a:prstGeom>
          <a:solidFill>
            <a:srgbClr val="FFFFFF"/>
          </a:solidFill>
          <a:ln/>
        </p:spPr>
        <p:txBody>
          <a:bodyPr/>
          <a:lstStyle/>
          <a:p>
            <a:endParaRPr lang="ko-KR" altLang="en-US"/>
          </a:p>
        </p:txBody>
      </p:sp>
      <p:sp>
        <p:nvSpPr>
          <p:cNvPr id="163" name="Shape 160"/>
          <p:cNvSpPr/>
          <p:nvPr/>
        </p:nvSpPr>
        <p:spPr>
          <a:xfrm>
            <a:off x="7752792" y="4616607"/>
            <a:ext cx="2405145" cy="9525"/>
          </a:xfrm>
          <a:prstGeom prst="rect">
            <a:avLst/>
          </a:prstGeom>
          <a:solidFill>
            <a:srgbClr val="D3B9A5"/>
          </a:solidFill>
          <a:ln/>
        </p:spPr>
        <p:txBody>
          <a:bodyPr/>
          <a:lstStyle/>
          <a:p>
            <a:endParaRPr lang="ko-KR" altLang="en-US"/>
          </a:p>
        </p:txBody>
      </p:sp>
      <p:sp>
        <p:nvSpPr>
          <p:cNvPr id="164" name="Shape 161"/>
          <p:cNvSpPr/>
          <p:nvPr/>
        </p:nvSpPr>
        <p:spPr>
          <a:xfrm>
            <a:off x="7752792" y="4616607"/>
            <a:ext cx="9525" cy="377503"/>
          </a:xfrm>
          <a:prstGeom prst="rect">
            <a:avLst/>
          </a:prstGeom>
          <a:solidFill>
            <a:srgbClr val="D3B9A5"/>
          </a:solidFill>
          <a:ln/>
        </p:spPr>
        <p:txBody>
          <a:bodyPr/>
          <a:lstStyle/>
          <a:p>
            <a:endParaRPr lang="ko-KR" altLang="en-US"/>
          </a:p>
        </p:txBody>
      </p:sp>
      <p:sp>
        <p:nvSpPr>
          <p:cNvPr id="165" name="Text 162"/>
          <p:cNvSpPr/>
          <p:nvPr/>
        </p:nvSpPr>
        <p:spPr>
          <a:xfrm>
            <a:off x="7777059" y="4650399"/>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66" name="Shape 163"/>
          <p:cNvSpPr/>
          <p:nvPr/>
        </p:nvSpPr>
        <p:spPr>
          <a:xfrm>
            <a:off x="1740948" y="4994110"/>
            <a:ext cx="1202369" cy="377503"/>
          </a:xfrm>
          <a:prstGeom prst="rect">
            <a:avLst/>
          </a:prstGeom>
          <a:solidFill>
            <a:srgbClr val="FCF4EE"/>
          </a:solidFill>
          <a:ln/>
        </p:spPr>
        <p:txBody>
          <a:bodyPr/>
          <a:lstStyle/>
          <a:p>
            <a:endParaRPr lang="ko-KR" altLang="en-US"/>
          </a:p>
        </p:txBody>
      </p:sp>
      <p:sp>
        <p:nvSpPr>
          <p:cNvPr id="167" name="Shape 164"/>
          <p:cNvSpPr/>
          <p:nvPr/>
        </p:nvSpPr>
        <p:spPr>
          <a:xfrm>
            <a:off x="1740948" y="4994110"/>
            <a:ext cx="1202369" cy="9525"/>
          </a:xfrm>
          <a:prstGeom prst="rect">
            <a:avLst/>
          </a:prstGeom>
          <a:solidFill>
            <a:srgbClr val="D3B9A5"/>
          </a:solidFill>
          <a:ln/>
        </p:spPr>
        <p:txBody>
          <a:bodyPr/>
          <a:lstStyle/>
          <a:p>
            <a:endParaRPr lang="ko-KR" altLang="en-US"/>
          </a:p>
        </p:txBody>
      </p:sp>
      <p:sp>
        <p:nvSpPr>
          <p:cNvPr id="168" name="Shape 165"/>
          <p:cNvSpPr/>
          <p:nvPr/>
        </p:nvSpPr>
        <p:spPr>
          <a:xfrm>
            <a:off x="1740948" y="4994110"/>
            <a:ext cx="9525" cy="377503"/>
          </a:xfrm>
          <a:prstGeom prst="rect">
            <a:avLst/>
          </a:prstGeom>
          <a:solidFill>
            <a:srgbClr val="D3B9A5"/>
          </a:solidFill>
          <a:ln/>
        </p:spPr>
        <p:txBody>
          <a:bodyPr/>
          <a:lstStyle/>
          <a:p>
            <a:endParaRPr lang="ko-KR" altLang="en-US"/>
          </a:p>
        </p:txBody>
      </p:sp>
      <p:sp>
        <p:nvSpPr>
          <p:cNvPr id="169" name="Text 166"/>
          <p:cNvSpPr/>
          <p:nvPr/>
        </p:nvSpPr>
        <p:spPr>
          <a:xfrm>
            <a:off x="1765215" y="5027902"/>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4회</a:t>
            </a:r>
            <a:endParaRPr lang="en-US" sz="1088" dirty="0"/>
          </a:p>
        </p:txBody>
      </p:sp>
      <p:sp>
        <p:nvSpPr>
          <p:cNvPr id="170" name="Shape 167"/>
          <p:cNvSpPr/>
          <p:nvPr/>
        </p:nvSpPr>
        <p:spPr>
          <a:xfrm>
            <a:off x="2943317" y="4994110"/>
            <a:ext cx="2404738" cy="377503"/>
          </a:xfrm>
          <a:prstGeom prst="rect">
            <a:avLst/>
          </a:prstGeom>
          <a:solidFill>
            <a:srgbClr val="F8E1D0"/>
          </a:solidFill>
          <a:ln/>
        </p:spPr>
        <p:txBody>
          <a:bodyPr/>
          <a:lstStyle/>
          <a:p>
            <a:endParaRPr lang="ko-KR" altLang="en-US"/>
          </a:p>
        </p:txBody>
      </p:sp>
      <p:sp>
        <p:nvSpPr>
          <p:cNvPr id="171" name="Shape 168"/>
          <p:cNvSpPr/>
          <p:nvPr/>
        </p:nvSpPr>
        <p:spPr>
          <a:xfrm>
            <a:off x="2943317" y="4994110"/>
            <a:ext cx="2404738" cy="9525"/>
          </a:xfrm>
          <a:prstGeom prst="rect">
            <a:avLst/>
          </a:prstGeom>
          <a:solidFill>
            <a:srgbClr val="D3B9A5"/>
          </a:solidFill>
          <a:ln/>
        </p:spPr>
        <p:txBody>
          <a:bodyPr/>
          <a:lstStyle/>
          <a:p>
            <a:endParaRPr lang="ko-KR" altLang="en-US"/>
          </a:p>
        </p:txBody>
      </p:sp>
      <p:sp>
        <p:nvSpPr>
          <p:cNvPr id="172" name="Shape 169"/>
          <p:cNvSpPr/>
          <p:nvPr/>
        </p:nvSpPr>
        <p:spPr>
          <a:xfrm>
            <a:off x="2943317" y="4994110"/>
            <a:ext cx="9525" cy="377503"/>
          </a:xfrm>
          <a:prstGeom prst="rect">
            <a:avLst/>
          </a:prstGeom>
          <a:solidFill>
            <a:srgbClr val="D3B9A5"/>
          </a:solidFill>
          <a:ln/>
        </p:spPr>
        <p:txBody>
          <a:bodyPr/>
          <a:lstStyle/>
          <a:p>
            <a:endParaRPr lang="ko-KR" altLang="en-US"/>
          </a:p>
        </p:txBody>
      </p:sp>
      <p:sp>
        <p:nvSpPr>
          <p:cNvPr id="173" name="Text 170"/>
          <p:cNvSpPr/>
          <p:nvPr/>
        </p:nvSpPr>
        <p:spPr>
          <a:xfrm>
            <a:off x="2967584" y="5027902"/>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a:t>
            </a:r>
            <a:endParaRPr lang="en-US" sz="1088" dirty="0"/>
          </a:p>
        </p:txBody>
      </p:sp>
      <p:sp>
        <p:nvSpPr>
          <p:cNvPr id="174" name="Shape 171"/>
          <p:cNvSpPr/>
          <p:nvPr/>
        </p:nvSpPr>
        <p:spPr>
          <a:xfrm>
            <a:off x="5348054" y="4994110"/>
            <a:ext cx="2404738" cy="377503"/>
          </a:xfrm>
          <a:prstGeom prst="rect">
            <a:avLst/>
          </a:prstGeom>
          <a:solidFill>
            <a:srgbClr val="FFFFFF"/>
          </a:solidFill>
          <a:ln/>
        </p:spPr>
        <p:txBody>
          <a:bodyPr/>
          <a:lstStyle/>
          <a:p>
            <a:endParaRPr lang="ko-KR" altLang="en-US"/>
          </a:p>
        </p:txBody>
      </p:sp>
      <p:sp>
        <p:nvSpPr>
          <p:cNvPr id="175" name="Shape 172"/>
          <p:cNvSpPr/>
          <p:nvPr/>
        </p:nvSpPr>
        <p:spPr>
          <a:xfrm>
            <a:off x="5348054" y="4994110"/>
            <a:ext cx="2404738" cy="9525"/>
          </a:xfrm>
          <a:prstGeom prst="rect">
            <a:avLst/>
          </a:prstGeom>
          <a:solidFill>
            <a:srgbClr val="D3B9A5"/>
          </a:solidFill>
          <a:ln/>
        </p:spPr>
        <p:txBody>
          <a:bodyPr/>
          <a:lstStyle/>
          <a:p>
            <a:endParaRPr lang="ko-KR" altLang="en-US"/>
          </a:p>
        </p:txBody>
      </p:sp>
      <p:sp>
        <p:nvSpPr>
          <p:cNvPr id="176" name="Shape 173"/>
          <p:cNvSpPr/>
          <p:nvPr/>
        </p:nvSpPr>
        <p:spPr>
          <a:xfrm>
            <a:off x="5348054" y="4994110"/>
            <a:ext cx="9525" cy="377503"/>
          </a:xfrm>
          <a:prstGeom prst="rect">
            <a:avLst/>
          </a:prstGeom>
          <a:solidFill>
            <a:srgbClr val="D3B9A5"/>
          </a:solidFill>
          <a:ln/>
        </p:spPr>
        <p:txBody>
          <a:bodyPr/>
          <a:lstStyle/>
          <a:p>
            <a:endParaRPr lang="ko-KR" altLang="en-US"/>
          </a:p>
        </p:txBody>
      </p:sp>
      <p:sp>
        <p:nvSpPr>
          <p:cNvPr id="177" name="Text 174"/>
          <p:cNvSpPr/>
          <p:nvPr/>
        </p:nvSpPr>
        <p:spPr>
          <a:xfrm>
            <a:off x="5372321" y="5027902"/>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78" name="Shape 175"/>
          <p:cNvSpPr/>
          <p:nvPr/>
        </p:nvSpPr>
        <p:spPr>
          <a:xfrm>
            <a:off x="7752792" y="4994110"/>
            <a:ext cx="2405145" cy="377503"/>
          </a:xfrm>
          <a:prstGeom prst="rect">
            <a:avLst/>
          </a:prstGeom>
          <a:solidFill>
            <a:srgbClr val="FFFFFF"/>
          </a:solidFill>
          <a:ln/>
        </p:spPr>
        <p:txBody>
          <a:bodyPr/>
          <a:lstStyle/>
          <a:p>
            <a:endParaRPr lang="ko-KR" altLang="en-US"/>
          </a:p>
        </p:txBody>
      </p:sp>
      <p:sp>
        <p:nvSpPr>
          <p:cNvPr id="179" name="Shape 176"/>
          <p:cNvSpPr/>
          <p:nvPr/>
        </p:nvSpPr>
        <p:spPr>
          <a:xfrm>
            <a:off x="7752792" y="4994110"/>
            <a:ext cx="2405145" cy="9525"/>
          </a:xfrm>
          <a:prstGeom prst="rect">
            <a:avLst/>
          </a:prstGeom>
          <a:solidFill>
            <a:srgbClr val="D3B9A5"/>
          </a:solidFill>
          <a:ln/>
        </p:spPr>
        <p:txBody>
          <a:bodyPr/>
          <a:lstStyle/>
          <a:p>
            <a:endParaRPr lang="ko-KR" altLang="en-US"/>
          </a:p>
        </p:txBody>
      </p:sp>
      <p:sp>
        <p:nvSpPr>
          <p:cNvPr id="180" name="Shape 177"/>
          <p:cNvSpPr/>
          <p:nvPr/>
        </p:nvSpPr>
        <p:spPr>
          <a:xfrm>
            <a:off x="7752792" y="4994110"/>
            <a:ext cx="9525" cy="377503"/>
          </a:xfrm>
          <a:prstGeom prst="rect">
            <a:avLst/>
          </a:prstGeom>
          <a:solidFill>
            <a:srgbClr val="D3B9A5"/>
          </a:solidFill>
          <a:ln/>
        </p:spPr>
        <p:txBody>
          <a:bodyPr/>
          <a:lstStyle/>
          <a:p>
            <a:endParaRPr lang="ko-KR" altLang="en-US"/>
          </a:p>
        </p:txBody>
      </p:sp>
      <p:sp>
        <p:nvSpPr>
          <p:cNvPr id="181" name="Text 178"/>
          <p:cNvSpPr/>
          <p:nvPr/>
        </p:nvSpPr>
        <p:spPr>
          <a:xfrm>
            <a:off x="7777059" y="5027902"/>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2,000만</a:t>
            </a:r>
            <a:endParaRPr lang="en-US" sz="1088" dirty="0"/>
          </a:p>
        </p:txBody>
      </p:sp>
      <p:sp>
        <p:nvSpPr>
          <p:cNvPr id="182" name="Shape 179"/>
          <p:cNvSpPr/>
          <p:nvPr/>
        </p:nvSpPr>
        <p:spPr>
          <a:xfrm>
            <a:off x="538580" y="5371613"/>
            <a:ext cx="2404738" cy="377503"/>
          </a:xfrm>
          <a:prstGeom prst="rect">
            <a:avLst/>
          </a:prstGeom>
          <a:solidFill>
            <a:srgbClr val="FCF4EE"/>
          </a:solidFill>
          <a:ln/>
        </p:spPr>
        <p:txBody>
          <a:bodyPr/>
          <a:lstStyle/>
          <a:p>
            <a:endParaRPr lang="ko-KR" altLang="en-US"/>
          </a:p>
        </p:txBody>
      </p:sp>
      <p:sp>
        <p:nvSpPr>
          <p:cNvPr id="183" name="Shape 180"/>
          <p:cNvSpPr/>
          <p:nvPr/>
        </p:nvSpPr>
        <p:spPr>
          <a:xfrm>
            <a:off x="538580" y="5371613"/>
            <a:ext cx="2404738" cy="9525"/>
          </a:xfrm>
          <a:prstGeom prst="rect">
            <a:avLst/>
          </a:prstGeom>
          <a:solidFill>
            <a:srgbClr val="D3B9A5"/>
          </a:solidFill>
          <a:ln/>
        </p:spPr>
        <p:txBody>
          <a:bodyPr/>
          <a:lstStyle/>
          <a:p>
            <a:endParaRPr lang="ko-KR" altLang="en-US"/>
          </a:p>
        </p:txBody>
      </p:sp>
      <p:sp>
        <p:nvSpPr>
          <p:cNvPr id="184" name="Text 181"/>
          <p:cNvSpPr/>
          <p:nvPr/>
        </p:nvSpPr>
        <p:spPr>
          <a:xfrm>
            <a:off x="557630" y="5405405"/>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보험료</a:t>
            </a:r>
            <a:endParaRPr lang="en-US" sz="1088" dirty="0"/>
          </a:p>
        </p:txBody>
      </p:sp>
      <p:sp>
        <p:nvSpPr>
          <p:cNvPr id="185" name="Shape 182"/>
          <p:cNvSpPr/>
          <p:nvPr/>
        </p:nvSpPr>
        <p:spPr>
          <a:xfrm>
            <a:off x="2943317" y="5371613"/>
            <a:ext cx="1202369" cy="377503"/>
          </a:xfrm>
          <a:prstGeom prst="rect">
            <a:avLst/>
          </a:prstGeom>
          <a:solidFill>
            <a:srgbClr val="F8E1D0"/>
          </a:solidFill>
          <a:ln/>
        </p:spPr>
        <p:txBody>
          <a:bodyPr/>
          <a:lstStyle/>
          <a:p>
            <a:endParaRPr lang="ko-KR" altLang="en-US"/>
          </a:p>
        </p:txBody>
      </p:sp>
      <p:sp>
        <p:nvSpPr>
          <p:cNvPr id="186" name="Shape 183"/>
          <p:cNvSpPr/>
          <p:nvPr/>
        </p:nvSpPr>
        <p:spPr>
          <a:xfrm>
            <a:off x="2943317" y="5371613"/>
            <a:ext cx="1202369" cy="9525"/>
          </a:xfrm>
          <a:prstGeom prst="rect">
            <a:avLst/>
          </a:prstGeom>
          <a:solidFill>
            <a:srgbClr val="D3B9A5"/>
          </a:solidFill>
          <a:ln/>
        </p:spPr>
        <p:txBody>
          <a:bodyPr/>
          <a:lstStyle/>
          <a:p>
            <a:endParaRPr lang="ko-KR" altLang="en-US"/>
          </a:p>
        </p:txBody>
      </p:sp>
      <p:sp>
        <p:nvSpPr>
          <p:cNvPr id="187" name="Shape 184"/>
          <p:cNvSpPr/>
          <p:nvPr/>
        </p:nvSpPr>
        <p:spPr>
          <a:xfrm>
            <a:off x="2943317" y="5371613"/>
            <a:ext cx="9525" cy="377503"/>
          </a:xfrm>
          <a:prstGeom prst="rect">
            <a:avLst/>
          </a:prstGeom>
          <a:solidFill>
            <a:srgbClr val="D3B9A5"/>
          </a:solidFill>
          <a:ln/>
        </p:spPr>
        <p:txBody>
          <a:bodyPr/>
          <a:lstStyle/>
          <a:p>
            <a:endParaRPr lang="ko-KR" altLang="en-US"/>
          </a:p>
        </p:txBody>
      </p:sp>
      <p:sp>
        <p:nvSpPr>
          <p:cNvPr id="188" name="Text 185"/>
          <p:cNvSpPr/>
          <p:nvPr/>
        </p:nvSpPr>
        <p:spPr>
          <a:xfrm>
            <a:off x="2967584"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남성</a:t>
            </a:r>
            <a:endParaRPr lang="en-US" sz="1088" dirty="0"/>
          </a:p>
        </p:txBody>
      </p:sp>
      <p:sp>
        <p:nvSpPr>
          <p:cNvPr id="189" name="Shape 186"/>
          <p:cNvSpPr/>
          <p:nvPr/>
        </p:nvSpPr>
        <p:spPr>
          <a:xfrm>
            <a:off x="4145686" y="5371613"/>
            <a:ext cx="1202369" cy="377503"/>
          </a:xfrm>
          <a:prstGeom prst="rect">
            <a:avLst/>
          </a:prstGeom>
          <a:solidFill>
            <a:srgbClr val="F8E1D0"/>
          </a:solidFill>
          <a:ln/>
        </p:spPr>
        <p:txBody>
          <a:bodyPr/>
          <a:lstStyle/>
          <a:p>
            <a:endParaRPr lang="ko-KR" altLang="en-US"/>
          </a:p>
        </p:txBody>
      </p:sp>
      <p:sp>
        <p:nvSpPr>
          <p:cNvPr id="190" name="Shape 187"/>
          <p:cNvSpPr/>
          <p:nvPr/>
        </p:nvSpPr>
        <p:spPr>
          <a:xfrm>
            <a:off x="4145686" y="5371613"/>
            <a:ext cx="1202369" cy="9525"/>
          </a:xfrm>
          <a:prstGeom prst="rect">
            <a:avLst/>
          </a:prstGeom>
          <a:solidFill>
            <a:srgbClr val="D3B9A5"/>
          </a:solidFill>
          <a:ln/>
        </p:spPr>
        <p:txBody>
          <a:bodyPr/>
          <a:lstStyle/>
          <a:p>
            <a:endParaRPr lang="ko-KR" altLang="en-US"/>
          </a:p>
        </p:txBody>
      </p:sp>
      <p:sp>
        <p:nvSpPr>
          <p:cNvPr id="191" name="Shape 188"/>
          <p:cNvSpPr/>
          <p:nvPr/>
        </p:nvSpPr>
        <p:spPr>
          <a:xfrm>
            <a:off x="4145686" y="5371613"/>
            <a:ext cx="9525" cy="377503"/>
          </a:xfrm>
          <a:prstGeom prst="rect">
            <a:avLst/>
          </a:prstGeom>
          <a:solidFill>
            <a:srgbClr val="D3B9A5"/>
          </a:solidFill>
          <a:ln/>
        </p:spPr>
        <p:txBody>
          <a:bodyPr/>
          <a:lstStyle/>
          <a:p>
            <a:endParaRPr lang="ko-KR" altLang="en-US"/>
          </a:p>
        </p:txBody>
      </p:sp>
      <p:sp>
        <p:nvSpPr>
          <p:cNvPr id="192" name="Text 189"/>
          <p:cNvSpPr/>
          <p:nvPr/>
        </p:nvSpPr>
        <p:spPr>
          <a:xfrm>
            <a:off x="4169953"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여성</a:t>
            </a:r>
            <a:endParaRPr lang="en-US" sz="1088" dirty="0"/>
          </a:p>
        </p:txBody>
      </p:sp>
      <p:sp>
        <p:nvSpPr>
          <p:cNvPr id="193" name="Shape 190"/>
          <p:cNvSpPr/>
          <p:nvPr/>
        </p:nvSpPr>
        <p:spPr>
          <a:xfrm>
            <a:off x="5348054" y="5371613"/>
            <a:ext cx="1202369" cy="377503"/>
          </a:xfrm>
          <a:prstGeom prst="rect">
            <a:avLst/>
          </a:prstGeom>
          <a:solidFill>
            <a:srgbClr val="FFFFFF"/>
          </a:solidFill>
          <a:ln/>
        </p:spPr>
        <p:txBody>
          <a:bodyPr/>
          <a:lstStyle/>
          <a:p>
            <a:endParaRPr lang="ko-KR" altLang="en-US"/>
          </a:p>
        </p:txBody>
      </p:sp>
      <p:sp>
        <p:nvSpPr>
          <p:cNvPr id="194" name="Shape 191"/>
          <p:cNvSpPr/>
          <p:nvPr/>
        </p:nvSpPr>
        <p:spPr>
          <a:xfrm>
            <a:off x="5348054" y="5371613"/>
            <a:ext cx="1202369" cy="9525"/>
          </a:xfrm>
          <a:prstGeom prst="rect">
            <a:avLst/>
          </a:prstGeom>
          <a:solidFill>
            <a:srgbClr val="D3B9A5"/>
          </a:solidFill>
          <a:ln/>
        </p:spPr>
        <p:txBody>
          <a:bodyPr/>
          <a:lstStyle/>
          <a:p>
            <a:endParaRPr lang="ko-KR" altLang="en-US"/>
          </a:p>
        </p:txBody>
      </p:sp>
      <p:sp>
        <p:nvSpPr>
          <p:cNvPr id="195" name="Shape 192"/>
          <p:cNvSpPr/>
          <p:nvPr/>
        </p:nvSpPr>
        <p:spPr>
          <a:xfrm>
            <a:off x="5348054" y="5371613"/>
            <a:ext cx="9525" cy="377503"/>
          </a:xfrm>
          <a:prstGeom prst="rect">
            <a:avLst/>
          </a:prstGeom>
          <a:solidFill>
            <a:srgbClr val="D3B9A5"/>
          </a:solidFill>
          <a:ln/>
        </p:spPr>
        <p:txBody>
          <a:bodyPr/>
          <a:lstStyle/>
          <a:p>
            <a:endParaRPr lang="ko-KR" altLang="en-US"/>
          </a:p>
        </p:txBody>
      </p:sp>
      <p:sp>
        <p:nvSpPr>
          <p:cNvPr id="196" name="Text 193"/>
          <p:cNvSpPr/>
          <p:nvPr/>
        </p:nvSpPr>
        <p:spPr>
          <a:xfrm>
            <a:off x="5372321"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남성</a:t>
            </a:r>
            <a:endParaRPr lang="en-US" sz="1088" dirty="0"/>
          </a:p>
        </p:txBody>
      </p:sp>
      <p:sp>
        <p:nvSpPr>
          <p:cNvPr id="197" name="Shape 194"/>
          <p:cNvSpPr/>
          <p:nvPr/>
        </p:nvSpPr>
        <p:spPr>
          <a:xfrm>
            <a:off x="6550423" y="5371613"/>
            <a:ext cx="1202369" cy="377503"/>
          </a:xfrm>
          <a:prstGeom prst="rect">
            <a:avLst/>
          </a:prstGeom>
          <a:solidFill>
            <a:srgbClr val="FFFFFF"/>
          </a:solidFill>
          <a:ln/>
        </p:spPr>
        <p:txBody>
          <a:bodyPr/>
          <a:lstStyle/>
          <a:p>
            <a:endParaRPr lang="ko-KR" altLang="en-US"/>
          </a:p>
        </p:txBody>
      </p:sp>
      <p:sp>
        <p:nvSpPr>
          <p:cNvPr id="198" name="Shape 195"/>
          <p:cNvSpPr/>
          <p:nvPr/>
        </p:nvSpPr>
        <p:spPr>
          <a:xfrm>
            <a:off x="6550423" y="5371613"/>
            <a:ext cx="1202369" cy="9525"/>
          </a:xfrm>
          <a:prstGeom prst="rect">
            <a:avLst/>
          </a:prstGeom>
          <a:solidFill>
            <a:srgbClr val="D3B9A5"/>
          </a:solidFill>
          <a:ln/>
        </p:spPr>
        <p:txBody>
          <a:bodyPr/>
          <a:lstStyle/>
          <a:p>
            <a:endParaRPr lang="ko-KR" altLang="en-US"/>
          </a:p>
        </p:txBody>
      </p:sp>
      <p:sp>
        <p:nvSpPr>
          <p:cNvPr id="199" name="Shape 196"/>
          <p:cNvSpPr/>
          <p:nvPr/>
        </p:nvSpPr>
        <p:spPr>
          <a:xfrm>
            <a:off x="6550423" y="5371613"/>
            <a:ext cx="9525" cy="377503"/>
          </a:xfrm>
          <a:prstGeom prst="rect">
            <a:avLst/>
          </a:prstGeom>
          <a:solidFill>
            <a:srgbClr val="D3B9A5"/>
          </a:solidFill>
          <a:ln/>
        </p:spPr>
        <p:txBody>
          <a:bodyPr/>
          <a:lstStyle/>
          <a:p>
            <a:endParaRPr lang="ko-KR" altLang="en-US"/>
          </a:p>
        </p:txBody>
      </p:sp>
      <p:sp>
        <p:nvSpPr>
          <p:cNvPr id="200" name="Text 197"/>
          <p:cNvSpPr/>
          <p:nvPr/>
        </p:nvSpPr>
        <p:spPr>
          <a:xfrm>
            <a:off x="6574690"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여성</a:t>
            </a:r>
            <a:endParaRPr lang="en-US" sz="1088" dirty="0"/>
          </a:p>
        </p:txBody>
      </p:sp>
      <p:sp>
        <p:nvSpPr>
          <p:cNvPr id="201" name="Shape 198"/>
          <p:cNvSpPr/>
          <p:nvPr/>
        </p:nvSpPr>
        <p:spPr>
          <a:xfrm>
            <a:off x="7752792" y="5371613"/>
            <a:ext cx="1202369" cy="377503"/>
          </a:xfrm>
          <a:prstGeom prst="rect">
            <a:avLst/>
          </a:prstGeom>
          <a:solidFill>
            <a:srgbClr val="FFFFFF"/>
          </a:solidFill>
          <a:ln/>
        </p:spPr>
        <p:txBody>
          <a:bodyPr/>
          <a:lstStyle/>
          <a:p>
            <a:endParaRPr lang="ko-KR" altLang="en-US"/>
          </a:p>
        </p:txBody>
      </p:sp>
      <p:sp>
        <p:nvSpPr>
          <p:cNvPr id="202" name="Shape 199"/>
          <p:cNvSpPr/>
          <p:nvPr/>
        </p:nvSpPr>
        <p:spPr>
          <a:xfrm>
            <a:off x="7752792" y="5371613"/>
            <a:ext cx="1202369" cy="9525"/>
          </a:xfrm>
          <a:prstGeom prst="rect">
            <a:avLst/>
          </a:prstGeom>
          <a:solidFill>
            <a:srgbClr val="D3B9A5"/>
          </a:solidFill>
          <a:ln/>
        </p:spPr>
        <p:txBody>
          <a:bodyPr/>
          <a:lstStyle/>
          <a:p>
            <a:endParaRPr lang="ko-KR" altLang="en-US"/>
          </a:p>
        </p:txBody>
      </p:sp>
      <p:sp>
        <p:nvSpPr>
          <p:cNvPr id="203" name="Shape 200"/>
          <p:cNvSpPr/>
          <p:nvPr/>
        </p:nvSpPr>
        <p:spPr>
          <a:xfrm>
            <a:off x="7752792" y="5371613"/>
            <a:ext cx="9525" cy="377503"/>
          </a:xfrm>
          <a:prstGeom prst="rect">
            <a:avLst/>
          </a:prstGeom>
          <a:solidFill>
            <a:srgbClr val="D3B9A5"/>
          </a:solidFill>
          <a:ln/>
        </p:spPr>
        <p:txBody>
          <a:bodyPr/>
          <a:lstStyle/>
          <a:p>
            <a:endParaRPr lang="ko-KR" altLang="en-US"/>
          </a:p>
        </p:txBody>
      </p:sp>
      <p:sp>
        <p:nvSpPr>
          <p:cNvPr id="204" name="Text 201"/>
          <p:cNvSpPr/>
          <p:nvPr/>
        </p:nvSpPr>
        <p:spPr>
          <a:xfrm>
            <a:off x="7777059"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남성</a:t>
            </a:r>
            <a:endParaRPr lang="en-US" sz="1088" dirty="0"/>
          </a:p>
        </p:txBody>
      </p:sp>
      <p:sp>
        <p:nvSpPr>
          <p:cNvPr id="205" name="Shape 202"/>
          <p:cNvSpPr/>
          <p:nvPr/>
        </p:nvSpPr>
        <p:spPr>
          <a:xfrm>
            <a:off x="8955161" y="5371613"/>
            <a:ext cx="1202776" cy="377503"/>
          </a:xfrm>
          <a:prstGeom prst="rect">
            <a:avLst/>
          </a:prstGeom>
          <a:solidFill>
            <a:srgbClr val="FFFFFF"/>
          </a:solidFill>
          <a:ln/>
        </p:spPr>
        <p:txBody>
          <a:bodyPr/>
          <a:lstStyle/>
          <a:p>
            <a:endParaRPr lang="ko-KR" altLang="en-US"/>
          </a:p>
        </p:txBody>
      </p:sp>
      <p:sp>
        <p:nvSpPr>
          <p:cNvPr id="206" name="Shape 203"/>
          <p:cNvSpPr/>
          <p:nvPr/>
        </p:nvSpPr>
        <p:spPr>
          <a:xfrm>
            <a:off x="8955161" y="5371613"/>
            <a:ext cx="1202776" cy="9525"/>
          </a:xfrm>
          <a:prstGeom prst="rect">
            <a:avLst/>
          </a:prstGeom>
          <a:solidFill>
            <a:srgbClr val="D3B9A5"/>
          </a:solidFill>
          <a:ln/>
        </p:spPr>
        <p:txBody>
          <a:bodyPr/>
          <a:lstStyle/>
          <a:p>
            <a:endParaRPr lang="ko-KR" altLang="en-US"/>
          </a:p>
        </p:txBody>
      </p:sp>
      <p:sp>
        <p:nvSpPr>
          <p:cNvPr id="207" name="Shape 204"/>
          <p:cNvSpPr/>
          <p:nvPr/>
        </p:nvSpPr>
        <p:spPr>
          <a:xfrm>
            <a:off x="8955161" y="5371613"/>
            <a:ext cx="9525" cy="377503"/>
          </a:xfrm>
          <a:prstGeom prst="rect">
            <a:avLst/>
          </a:prstGeom>
          <a:solidFill>
            <a:srgbClr val="D3B9A5"/>
          </a:solidFill>
          <a:ln/>
        </p:spPr>
        <p:txBody>
          <a:bodyPr/>
          <a:lstStyle/>
          <a:p>
            <a:endParaRPr lang="ko-KR" altLang="en-US"/>
          </a:p>
        </p:txBody>
      </p:sp>
      <p:sp>
        <p:nvSpPr>
          <p:cNvPr id="208" name="Text 205"/>
          <p:cNvSpPr/>
          <p:nvPr/>
        </p:nvSpPr>
        <p:spPr>
          <a:xfrm>
            <a:off x="8979428" y="5405405"/>
            <a:ext cx="1159459"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여성</a:t>
            </a:r>
            <a:endParaRPr lang="en-US" sz="1088" dirty="0"/>
          </a:p>
        </p:txBody>
      </p:sp>
      <p:sp>
        <p:nvSpPr>
          <p:cNvPr id="209" name="Shape 206"/>
          <p:cNvSpPr/>
          <p:nvPr/>
        </p:nvSpPr>
        <p:spPr>
          <a:xfrm>
            <a:off x="538580" y="5749116"/>
            <a:ext cx="2404738" cy="377503"/>
          </a:xfrm>
          <a:prstGeom prst="rect">
            <a:avLst/>
          </a:prstGeom>
          <a:solidFill>
            <a:srgbClr val="FCF4EE"/>
          </a:solidFill>
          <a:ln/>
        </p:spPr>
        <p:txBody>
          <a:bodyPr/>
          <a:lstStyle/>
          <a:p>
            <a:endParaRPr lang="ko-KR" altLang="en-US"/>
          </a:p>
        </p:txBody>
      </p:sp>
      <p:sp>
        <p:nvSpPr>
          <p:cNvPr id="210" name="Shape 207"/>
          <p:cNvSpPr/>
          <p:nvPr/>
        </p:nvSpPr>
        <p:spPr>
          <a:xfrm>
            <a:off x="538580" y="5749116"/>
            <a:ext cx="2404738" cy="9525"/>
          </a:xfrm>
          <a:prstGeom prst="rect">
            <a:avLst/>
          </a:prstGeom>
          <a:solidFill>
            <a:srgbClr val="D3B9A5"/>
          </a:solidFill>
          <a:ln/>
        </p:spPr>
        <p:txBody>
          <a:bodyPr/>
          <a:lstStyle/>
          <a:p>
            <a:endParaRPr lang="ko-KR" altLang="en-US"/>
          </a:p>
        </p:txBody>
      </p:sp>
      <p:sp>
        <p:nvSpPr>
          <p:cNvPr id="211" name="Text 208"/>
          <p:cNvSpPr/>
          <p:nvPr/>
        </p:nvSpPr>
        <p:spPr>
          <a:xfrm>
            <a:off x="557630" y="5782908"/>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50세</a:t>
            </a:r>
            <a:endParaRPr lang="en-US" sz="1088" dirty="0"/>
          </a:p>
        </p:txBody>
      </p:sp>
      <p:sp>
        <p:nvSpPr>
          <p:cNvPr id="212" name="Shape 209"/>
          <p:cNvSpPr/>
          <p:nvPr/>
        </p:nvSpPr>
        <p:spPr>
          <a:xfrm>
            <a:off x="2943317" y="5749116"/>
            <a:ext cx="1202369" cy="377503"/>
          </a:xfrm>
          <a:prstGeom prst="rect">
            <a:avLst/>
          </a:prstGeom>
          <a:solidFill>
            <a:srgbClr val="F8E1D0"/>
          </a:solidFill>
          <a:ln/>
        </p:spPr>
        <p:txBody>
          <a:bodyPr/>
          <a:lstStyle/>
          <a:p>
            <a:endParaRPr lang="ko-KR" altLang="en-US"/>
          </a:p>
        </p:txBody>
      </p:sp>
      <p:sp>
        <p:nvSpPr>
          <p:cNvPr id="213" name="Shape 210"/>
          <p:cNvSpPr/>
          <p:nvPr/>
        </p:nvSpPr>
        <p:spPr>
          <a:xfrm>
            <a:off x="2943317" y="5749116"/>
            <a:ext cx="1202369" cy="9525"/>
          </a:xfrm>
          <a:prstGeom prst="rect">
            <a:avLst/>
          </a:prstGeom>
          <a:solidFill>
            <a:srgbClr val="D3B9A5"/>
          </a:solidFill>
          <a:ln/>
        </p:spPr>
        <p:txBody>
          <a:bodyPr/>
          <a:lstStyle/>
          <a:p>
            <a:endParaRPr lang="ko-KR" altLang="en-US"/>
          </a:p>
        </p:txBody>
      </p:sp>
      <p:sp>
        <p:nvSpPr>
          <p:cNvPr id="214" name="Shape 211"/>
          <p:cNvSpPr/>
          <p:nvPr/>
        </p:nvSpPr>
        <p:spPr>
          <a:xfrm>
            <a:off x="2943317" y="5749116"/>
            <a:ext cx="9525" cy="377503"/>
          </a:xfrm>
          <a:prstGeom prst="rect">
            <a:avLst/>
          </a:prstGeom>
          <a:solidFill>
            <a:srgbClr val="D3B9A5"/>
          </a:solidFill>
          <a:ln/>
        </p:spPr>
        <p:txBody>
          <a:bodyPr/>
          <a:lstStyle/>
          <a:p>
            <a:endParaRPr lang="ko-KR" altLang="en-US"/>
          </a:p>
        </p:txBody>
      </p:sp>
      <p:sp>
        <p:nvSpPr>
          <p:cNvPr id="215" name="Text 212"/>
          <p:cNvSpPr/>
          <p:nvPr/>
        </p:nvSpPr>
        <p:spPr>
          <a:xfrm>
            <a:off x="2967584"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55,952</a:t>
            </a:r>
            <a:endParaRPr lang="en-US" sz="1088" dirty="0"/>
          </a:p>
        </p:txBody>
      </p:sp>
      <p:sp>
        <p:nvSpPr>
          <p:cNvPr id="216" name="Shape 213"/>
          <p:cNvSpPr/>
          <p:nvPr/>
        </p:nvSpPr>
        <p:spPr>
          <a:xfrm>
            <a:off x="4145686" y="5749116"/>
            <a:ext cx="1202369" cy="377503"/>
          </a:xfrm>
          <a:prstGeom prst="rect">
            <a:avLst/>
          </a:prstGeom>
          <a:solidFill>
            <a:srgbClr val="F8E1D0"/>
          </a:solidFill>
          <a:ln/>
        </p:spPr>
        <p:txBody>
          <a:bodyPr/>
          <a:lstStyle/>
          <a:p>
            <a:endParaRPr lang="ko-KR" altLang="en-US"/>
          </a:p>
        </p:txBody>
      </p:sp>
      <p:sp>
        <p:nvSpPr>
          <p:cNvPr id="217" name="Shape 214"/>
          <p:cNvSpPr/>
          <p:nvPr/>
        </p:nvSpPr>
        <p:spPr>
          <a:xfrm>
            <a:off x="4145686" y="5749116"/>
            <a:ext cx="1202369" cy="9525"/>
          </a:xfrm>
          <a:prstGeom prst="rect">
            <a:avLst/>
          </a:prstGeom>
          <a:solidFill>
            <a:srgbClr val="D3B9A5"/>
          </a:solidFill>
          <a:ln/>
        </p:spPr>
        <p:txBody>
          <a:bodyPr/>
          <a:lstStyle/>
          <a:p>
            <a:endParaRPr lang="ko-KR" altLang="en-US"/>
          </a:p>
        </p:txBody>
      </p:sp>
      <p:sp>
        <p:nvSpPr>
          <p:cNvPr id="218" name="Shape 215"/>
          <p:cNvSpPr/>
          <p:nvPr/>
        </p:nvSpPr>
        <p:spPr>
          <a:xfrm>
            <a:off x="4145686" y="5749116"/>
            <a:ext cx="9525" cy="377503"/>
          </a:xfrm>
          <a:prstGeom prst="rect">
            <a:avLst/>
          </a:prstGeom>
          <a:solidFill>
            <a:srgbClr val="D3B9A5"/>
          </a:solidFill>
          <a:ln/>
        </p:spPr>
        <p:txBody>
          <a:bodyPr/>
          <a:lstStyle/>
          <a:p>
            <a:endParaRPr lang="ko-KR" altLang="en-US"/>
          </a:p>
        </p:txBody>
      </p:sp>
      <p:sp>
        <p:nvSpPr>
          <p:cNvPr id="219" name="Text 216"/>
          <p:cNvSpPr/>
          <p:nvPr/>
        </p:nvSpPr>
        <p:spPr>
          <a:xfrm>
            <a:off x="4169953"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41,436</a:t>
            </a:r>
            <a:endParaRPr lang="en-US" sz="1088" dirty="0"/>
          </a:p>
        </p:txBody>
      </p:sp>
      <p:sp>
        <p:nvSpPr>
          <p:cNvPr id="220" name="Shape 217"/>
          <p:cNvSpPr/>
          <p:nvPr/>
        </p:nvSpPr>
        <p:spPr>
          <a:xfrm>
            <a:off x="5348054" y="5749116"/>
            <a:ext cx="1202369" cy="377503"/>
          </a:xfrm>
          <a:prstGeom prst="rect">
            <a:avLst/>
          </a:prstGeom>
          <a:solidFill>
            <a:srgbClr val="FFFFFF"/>
          </a:solidFill>
          <a:ln/>
        </p:spPr>
        <p:txBody>
          <a:bodyPr/>
          <a:lstStyle/>
          <a:p>
            <a:endParaRPr lang="ko-KR" altLang="en-US"/>
          </a:p>
        </p:txBody>
      </p:sp>
      <p:sp>
        <p:nvSpPr>
          <p:cNvPr id="221" name="Shape 218"/>
          <p:cNvSpPr/>
          <p:nvPr/>
        </p:nvSpPr>
        <p:spPr>
          <a:xfrm>
            <a:off x="5348054" y="5749116"/>
            <a:ext cx="1202369" cy="9525"/>
          </a:xfrm>
          <a:prstGeom prst="rect">
            <a:avLst/>
          </a:prstGeom>
          <a:solidFill>
            <a:srgbClr val="D3B9A5"/>
          </a:solidFill>
          <a:ln/>
        </p:spPr>
        <p:txBody>
          <a:bodyPr/>
          <a:lstStyle/>
          <a:p>
            <a:endParaRPr lang="ko-KR" altLang="en-US"/>
          </a:p>
        </p:txBody>
      </p:sp>
      <p:sp>
        <p:nvSpPr>
          <p:cNvPr id="222" name="Shape 219"/>
          <p:cNvSpPr/>
          <p:nvPr/>
        </p:nvSpPr>
        <p:spPr>
          <a:xfrm>
            <a:off x="5348054" y="5749116"/>
            <a:ext cx="9525" cy="377503"/>
          </a:xfrm>
          <a:prstGeom prst="rect">
            <a:avLst/>
          </a:prstGeom>
          <a:solidFill>
            <a:srgbClr val="D3B9A5"/>
          </a:solidFill>
          <a:ln/>
        </p:spPr>
        <p:txBody>
          <a:bodyPr/>
          <a:lstStyle/>
          <a:p>
            <a:endParaRPr lang="ko-KR" altLang="en-US"/>
          </a:p>
        </p:txBody>
      </p:sp>
      <p:sp>
        <p:nvSpPr>
          <p:cNvPr id="223" name="Text 220"/>
          <p:cNvSpPr/>
          <p:nvPr/>
        </p:nvSpPr>
        <p:spPr>
          <a:xfrm>
            <a:off x="5372321"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58,267</a:t>
            </a:r>
            <a:endParaRPr lang="en-US" sz="1088" dirty="0"/>
          </a:p>
        </p:txBody>
      </p:sp>
      <p:sp>
        <p:nvSpPr>
          <p:cNvPr id="224" name="Shape 221"/>
          <p:cNvSpPr/>
          <p:nvPr/>
        </p:nvSpPr>
        <p:spPr>
          <a:xfrm>
            <a:off x="6550423" y="5749116"/>
            <a:ext cx="1202369" cy="377503"/>
          </a:xfrm>
          <a:prstGeom prst="rect">
            <a:avLst/>
          </a:prstGeom>
          <a:solidFill>
            <a:srgbClr val="FFFFFF"/>
          </a:solidFill>
          <a:ln/>
        </p:spPr>
        <p:txBody>
          <a:bodyPr/>
          <a:lstStyle/>
          <a:p>
            <a:endParaRPr lang="ko-KR" altLang="en-US"/>
          </a:p>
        </p:txBody>
      </p:sp>
      <p:sp>
        <p:nvSpPr>
          <p:cNvPr id="225" name="Shape 222"/>
          <p:cNvSpPr/>
          <p:nvPr/>
        </p:nvSpPr>
        <p:spPr>
          <a:xfrm>
            <a:off x="6550423" y="5749116"/>
            <a:ext cx="1202369" cy="9525"/>
          </a:xfrm>
          <a:prstGeom prst="rect">
            <a:avLst/>
          </a:prstGeom>
          <a:solidFill>
            <a:srgbClr val="D3B9A5"/>
          </a:solidFill>
          <a:ln/>
        </p:spPr>
        <p:txBody>
          <a:bodyPr/>
          <a:lstStyle/>
          <a:p>
            <a:endParaRPr lang="ko-KR" altLang="en-US"/>
          </a:p>
        </p:txBody>
      </p:sp>
      <p:sp>
        <p:nvSpPr>
          <p:cNvPr id="226" name="Shape 223"/>
          <p:cNvSpPr/>
          <p:nvPr/>
        </p:nvSpPr>
        <p:spPr>
          <a:xfrm>
            <a:off x="6550423" y="5749116"/>
            <a:ext cx="9525" cy="377503"/>
          </a:xfrm>
          <a:prstGeom prst="rect">
            <a:avLst/>
          </a:prstGeom>
          <a:solidFill>
            <a:srgbClr val="D3B9A5"/>
          </a:solidFill>
          <a:ln/>
        </p:spPr>
        <p:txBody>
          <a:bodyPr/>
          <a:lstStyle/>
          <a:p>
            <a:endParaRPr lang="ko-KR" altLang="en-US"/>
          </a:p>
        </p:txBody>
      </p:sp>
      <p:sp>
        <p:nvSpPr>
          <p:cNvPr id="227" name="Text 224"/>
          <p:cNvSpPr/>
          <p:nvPr/>
        </p:nvSpPr>
        <p:spPr>
          <a:xfrm>
            <a:off x="6574690"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41,428</a:t>
            </a:r>
            <a:endParaRPr lang="en-US" sz="1088" dirty="0"/>
          </a:p>
        </p:txBody>
      </p:sp>
      <p:sp>
        <p:nvSpPr>
          <p:cNvPr id="228" name="Shape 225"/>
          <p:cNvSpPr/>
          <p:nvPr/>
        </p:nvSpPr>
        <p:spPr>
          <a:xfrm>
            <a:off x="7752792" y="5749116"/>
            <a:ext cx="1202369" cy="377503"/>
          </a:xfrm>
          <a:prstGeom prst="rect">
            <a:avLst/>
          </a:prstGeom>
          <a:solidFill>
            <a:srgbClr val="FFFFFF"/>
          </a:solidFill>
          <a:ln/>
        </p:spPr>
        <p:txBody>
          <a:bodyPr/>
          <a:lstStyle/>
          <a:p>
            <a:endParaRPr lang="ko-KR" altLang="en-US"/>
          </a:p>
        </p:txBody>
      </p:sp>
      <p:sp>
        <p:nvSpPr>
          <p:cNvPr id="229" name="Shape 226"/>
          <p:cNvSpPr/>
          <p:nvPr/>
        </p:nvSpPr>
        <p:spPr>
          <a:xfrm>
            <a:off x="7752792" y="5749116"/>
            <a:ext cx="1202369" cy="9525"/>
          </a:xfrm>
          <a:prstGeom prst="rect">
            <a:avLst/>
          </a:prstGeom>
          <a:solidFill>
            <a:srgbClr val="D3B9A5"/>
          </a:solidFill>
          <a:ln/>
        </p:spPr>
        <p:txBody>
          <a:bodyPr/>
          <a:lstStyle/>
          <a:p>
            <a:endParaRPr lang="ko-KR" altLang="en-US"/>
          </a:p>
        </p:txBody>
      </p:sp>
      <p:sp>
        <p:nvSpPr>
          <p:cNvPr id="230" name="Shape 227"/>
          <p:cNvSpPr/>
          <p:nvPr/>
        </p:nvSpPr>
        <p:spPr>
          <a:xfrm>
            <a:off x="7752792" y="5749116"/>
            <a:ext cx="9525" cy="377503"/>
          </a:xfrm>
          <a:prstGeom prst="rect">
            <a:avLst/>
          </a:prstGeom>
          <a:solidFill>
            <a:srgbClr val="D3B9A5"/>
          </a:solidFill>
          <a:ln/>
        </p:spPr>
        <p:txBody>
          <a:bodyPr/>
          <a:lstStyle/>
          <a:p>
            <a:endParaRPr lang="ko-KR" altLang="en-US"/>
          </a:p>
        </p:txBody>
      </p:sp>
      <p:sp>
        <p:nvSpPr>
          <p:cNvPr id="231" name="Text 228"/>
          <p:cNvSpPr/>
          <p:nvPr/>
        </p:nvSpPr>
        <p:spPr>
          <a:xfrm>
            <a:off x="7777059"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50,649</a:t>
            </a:r>
            <a:endParaRPr lang="en-US" sz="1088" dirty="0"/>
          </a:p>
        </p:txBody>
      </p:sp>
      <p:sp>
        <p:nvSpPr>
          <p:cNvPr id="232" name="Shape 229"/>
          <p:cNvSpPr/>
          <p:nvPr/>
        </p:nvSpPr>
        <p:spPr>
          <a:xfrm>
            <a:off x="8955161" y="5749116"/>
            <a:ext cx="1202776" cy="377503"/>
          </a:xfrm>
          <a:prstGeom prst="rect">
            <a:avLst/>
          </a:prstGeom>
          <a:solidFill>
            <a:srgbClr val="FFFFFF"/>
          </a:solidFill>
          <a:ln/>
        </p:spPr>
        <p:txBody>
          <a:bodyPr/>
          <a:lstStyle/>
          <a:p>
            <a:endParaRPr lang="ko-KR" altLang="en-US"/>
          </a:p>
        </p:txBody>
      </p:sp>
      <p:sp>
        <p:nvSpPr>
          <p:cNvPr id="233" name="Shape 230"/>
          <p:cNvSpPr/>
          <p:nvPr/>
        </p:nvSpPr>
        <p:spPr>
          <a:xfrm>
            <a:off x="8955161" y="5749116"/>
            <a:ext cx="1202776" cy="9525"/>
          </a:xfrm>
          <a:prstGeom prst="rect">
            <a:avLst/>
          </a:prstGeom>
          <a:solidFill>
            <a:srgbClr val="D3B9A5"/>
          </a:solidFill>
          <a:ln/>
        </p:spPr>
        <p:txBody>
          <a:bodyPr/>
          <a:lstStyle/>
          <a:p>
            <a:endParaRPr lang="ko-KR" altLang="en-US"/>
          </a:p>
        </p:txBody>
      </p:sp>
      <p:sp>
        <p:nvSpPr>
          <p:cNvPr id="234" name="Shape 231"/>
          <p:cNvSpPr/>
          <p:nvPr/>
        </p:nvSpPr>
        <p:spPr>
          <a:xfrm>
            <a:off x="8955161" y="5749116"/>
            <a:ext cx="9525" cy="377503"/>
          </a:xfrm>
          <a:prstGeom prst="rect">
            <a:avLst/>
          </a:prstGeom>
          <a:solidFill>
            <a:srgbClr val="D3B9A5"/>
          </a:solidFill>
          <a:ln/>
        </p:spPr>
        <p:txBody>
          <a:bodyPr/>
          <a:lstStyle/>
          <a:p>
            <a:endParaRPr lang="ko-KR" altLang="en-US"/>
          </a:p>
        </p:txBody>
      </p:sp>
      <p:sp>
        <p:nvSpPr>
          <p:cNvPr id="235" name="Text 232"/>
          <p:cNvSpPr/>
          <p:nvPr/>
        </p:nvSpPr>
        <p:spPr>
          <a:xfrm>
            <a:off x="8979428" y="5782908"/>
            <a:ext cx="1159459"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44,104</a:t>
            </a:r>
            <a:endParaRPr lang="en-US" sz="1088" dirty="0"/>
          </a:p>
        </p:txBody>
      </p:sp>
      <p:sp>
        <p:nvSpPr>
          <p:cNvPr id="236" name="Shape 233"/>
          <p:cNvSpPr/>
          <p:nvPr/>
        </p:nvSpPr>
        <p:spPr>
          <a:xfrm>
            <a:off x="538580" y="6126619"/>
            <a:ext cx="2404738" cy="659469"/>
          </a:xfrm>
          <a:prstGeom prst="rect">
            <a:avLst/>
          </a:prstGeom>
          <a:solidFill>
            <a:srgbClr val="FCF4EE"/>
          </a:solidFill>
          <a:ln/>
        </p:spPr>
        <p:txBody>
          <a:bodyPr/>
          <a:lstStyle/>
          <a:p>
            <a:endParaRPr lang="ko-KR" altLang="en-US"/>
          </a:p>
        </p:txBody>
      </p:sp>
      <p:sp>
        <p:nvSpPr>
          <p:cNvPr id="237" name="Shape 234"/>
          <p:cNvSpPr/>
          <p:nvPr/>
        </p:nvSpPr>
        <p:spPr>
          <a:xfrm>
            <a:off x="538580" y="6126619"/>
            <a:ext cx="2404738" cy="9525"/>
          </a:xfrm>
          <a:prstGeom prst="rect">
            <a:avLst/>
          </a:prstGeom>
          <a:solidFill>
            <a:srgbClr val="D3B9A5"/>
          </a:solidFill>
          <a:ln/>
        </p:spPr>
        <p:txBody>
          <a:bodyPr/>
          <a:lstStyle/>
          <a:p>
            <a:endParaRPr lang="ko-KR" altLang="en-US"/>
          </a:p>
        </p:txBody>
      </p:sp>
      <p:sp>
        <p:nvSpPr>
          <p:cNvPr id="238" name="Text 235"/>
          <p:cNvSpPr/>
          <p:nvPr/>
        </p:nvSpPr>
        <p:spPr>
          <a:xfrm>
            <a:off x="557630" y="6160411"/>
            <a:ext cx="2366638"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주요 특징</a:t>
            </a:r>
            <a:endParaRPr lang="en-US" sz="1088" dirty="0"/>
          </a:p>
        </p:txBody>
      </p:sp>
      <p:sp>
        <p:nvSpPr>
          <p:cNvPr id="239" name="Shape 236"/>
          <p:cNvSpPr/>
          <p:nvPr/>
        </p:nvSpPr>
        <p:spPr>
          <a:xfrm>
            <a:off x="2943317" y="6126619"/>
            <a:ext cx="2404738" cy="659469"/>
          </a:xfrm>
          <a:prstGeom prst="rect">
            <a:avLst/>
          </a:prstGeom>
          <a:solidFill>
            <a:srgbClr val="F8E1D0"/>
          </a:solidFill>
          <a:ln/>
        </p:spPr>
        <p:txBody>
          <a:bodyPr/>
          <a:lstStyle/>
          <a:p>
            <a:endParaRPr lang="ko-KR" altLang="en-US"/>
          </a:p>
        </p:txBody>
      </p:sp>
      <p:sp>
        <p:nvSpPr>
          <p:cNvPr id="240" name="Shape 237"/>
          <p:cNvSpPr/>
          <p:nvPr/>
        </p:nvSpPr>
        <p:spPr>
          <a:xfrm>
            <a:off x="2943317" y="6126619"/>
            <a:ext cx="2404738" cy="9525"/>
          </a:xfrm>
          <a:prstGeom prst="rect">
            <a:avLst/>
          </a:prstGeom>
          <a:solidFill>
            <a:srgbClr val="D3B9A5"/>
          </a:solidFill>
          <a:ln/>
        </p:spPr>
        <p:txBody>
          <a:bodyPr/>
          <a:lstStyle/>
          <a:p>
            <a:endParaRPr lang="ko-KR" altLang="en-US"/>
          </a:p>
        </p:txBody>
      </p:sp>
      <p:sp>
        <p:nvSpPr>
          <p:cNvPr id="241" name="Shape 238"/>
          <p:cNvSpPr/>
          <p:nvPr/>
        </p:nvSpPr>
        <p:spPr>
          <a:xfrm>
            <a:off x="2943317" y="6126619"/>
            <a:ext cx="9525" cy="659469"/>
          </a:xfrm>
          <a:prstGeom prst="rect">
            <a:avLst/>
          </a:prstGeom>
          <a:solidFill>
            <a:srgbClr val="D3B9A5"/>
          </a:solidFill>
          <a:ln/>
        </p:spPr>
        <p:txBody>
          <a:bodyPr/>
          <a:lstStyle/>
          <a:p>
            <a:endParaRPr lang="ko-KR" altLang="en-US"/>
          </a:p>
        </p:txBody>
      </p:sp>
      <p:sp>
        <p:nvSpPr>
          <p:cNvPr id="242" name="Text 239"/>
          <p:cNvSpPr/>
          <p:nvPr/>
        </p:nvSpPr>
        <p:spPr>
          <a:xfrm>
            <a:off x="2967584" y="6160411"/>
            <a:ext cx="2361420"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2회,3회 보장을 가성비있게 준비 가능, </a:t>
            </a:r>
          </a:p>
          <a:p>
            <a:pPr marL="0" indent="0" algn="ctr">
              <a:lnSpc>
                <a:spcPct val="112725"/>
              </a:lnSpc>
              <a:buNone/>
            </a:pPr>
            <a:r>
              <a:rPr lang="en-US" sz="1088" b="1" kern="0" spc="-11" dirty="0" err="1">
                <a:solidFill>
                  <a:srgbClr val="7E3B1D"/>
                </a:solidFill>
                <a:latin typeface="Paperlogy 7 Bold" pitchFamily="2" charset="-127"/>
                <a:ea typeface="Paperlogy 7 Bold" pitchFamily="2" charset="-127"/>
                <a:cs typeface="Arial" pitchFamily="34" charset="-120"/>
              </a:rPr>
              <a:t>타사와</a:t>
            </a:r>
            <a:r>
              <a:rPr lang="en-US" sz="1088" b="1" kern="0" spc="-11" dirty="0">
                <a:solidFill>
                  <a:srgbClr val="7E3B1D"/>
                </a:solidFill>
                <a:latin typeface="Paperlogy 7 Bold" pitchFamily="2" charset="-127"/>
                <a:ea typeface="Paperlogy 7 Bold" pitchFamily="2" charset="-127"/>
                <a:cs typeface="Arial" pitchFamily="34" charset="-120"/>
              </a:rPr>
              <a:t> 달리 일반병원부터 보장</a:t>
            </a:r>
            <a:endParaRPr lang="en-US" sz="1088" dirty="0"/>
          </a:p>
        </p:txBody>
      </p:sp>
      <p:sp>
        <p:nvSpPr>
          <p:cNvPr id="243" name="Shape 240"/>
          <p:cNvSpPr/>
          <p:nvPr/>
        </p:nvSpPr>
        <p:spPr>
          <a:xfrm>
            <a:off x="5348054" y="6126619"/>
            <a:ext cx="2404738" cy="659469"/>
          </a:xfrm>
          <a:prstGeom prst="rect">
            <a:avLst/>
          </a:prstGeom>
          <a:solidFill>
            <a:srgbClr val="FFFFFF"/>
          </a:solidFill>
          <a:ln/>
        </p:spPr>
        <p:txBody>
          <a:bodyPr/>
          <a:lstStyle/>
          <a:p>
            <a:endParaRPr lang="ko-KR" altLang="en-US"/>
          </a:p>
        </p:txBody>
      </p:sp>
      <p:sp>
        <p:nvSpPr>
          <p:cNvPr id="244" name="Shape 241"/>
          <p:cNvSpPr/>
          <p:nvPr/>
        </p:nvSpPr>
        <p:spPr>
          <a:xfrm>
            <a:off x="5348054" y="6126619"/>
            <a:ext cx="2404738" cy="9525"/>
          </a:xfrm>
          <a:prstGeom prst="rect">
            <a:avLst/>
          </a:prstGeom>
          <a:solidFill>
            <a:srgbClr val="D3B9A5"/>
          </a:solidFill>
          <a:ln/>
        </p:spPr>
        <p:txBody>
          <a:bodyPr/>
          <a:lstStyle/>
          <a:p>
            <a:endParaRPr lang="ko-KR" altLang="en-US"/>
          </a:p>
        </p:txBody>
      </p:sp>
      <p:sp>
        <p:nvSpPr>
          <p:cNvPr id="245" name="Shape 242"/>
          <p:cNvSpPr/>
          <p:nvPr/>
        </p:nvSpPr>
        <p:spPr>
          <a:xfrm>
            <a:off x="5348054" y="6126619"/>
            <a:ext cx="9525" cy="659469"/>
          </a:xfrm>
          <a:prstGeom prst="rect">
            <a:avLst/>
          </a:prstGeom>
          <a:solidFill>
            <a:srgbClr val="D3B9A5"/>
          </a:solidFill>
          <a:ln/>
        </p:spPr>
        <p:txBody>
          <a:bodyPr/>
          <a:lstStyle/>
          <a:p>
            <a:endParaRPr lang="ko-KR" altLang="en-US"/>
          </a:p>
        </p:txBody>
      </p:sp>
      <p:sp>
        <p:nvSpPr>
          <p:cNvPr id="246" name="Text 243"/>
          <p:cNvSpPr/>
          <p:nvPr/>
        </p:nvSpPr>
        <p:spPr>
          <a:xfrm>
            <a:off x="5372321" y="6160411"/>
            <a:ext cx="2361420"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여성 보험료 경쟁력</a:t>
            </a:r>
            <a:endParaRPr lang="en-US" sz="1088" dirty="0"/>
          </a:p>
        </p:txBody>
      </p:sp>
      <p:sp>
        <p:nvSpPr>
          <p:cNvPr id="247" name="Shape 244"/>
          <p:cNvSpPr/>
          <p:nvPr/>
        </p:nvSpPr>
        <p:spPr>
          <a:xfrm>
            <a:off x="7752792" y="6126619"/>
            <a:ext cx="2405145" cy="659469"/>
          </a:xfrm>
          <a:prstGeom prst="rect">
            <a:avLst/>
          </a:prstGeom>
          <a:solidFill>
            <a:srgbClr val="FFFFFF"/>
          </a:solidFill>
          <a:ln/>
        </p:spPr>
        <p:txBody>
          <a:bodyPr/>
          <a:lstStyle/>
          <a:p>
            <a:endParaRPr lang="ko-KR" altLang="en-US"/>
          </a:p>
        </p:txBody>
      </p:sp>
      <p:sp>
        <p:nvSpPr>
          <p:cNvPr id="248" name="Shape 245"/>
          <p:cNvSpPr/>
          <p:nvPr/>
        </p:nvSpPr>
        <p:spPr>
          <a:xfrm>
            <a:off x="7752792" y="6126619"/>
            <a:ext cx="2405145" cy="9525"/>
          </a:xfrm>
          <a:prstGeom prst="rect">
            <a:avLst/>
          </a:prstGeom>
          <a:solidFill>
            <a:srgbClr val="D3B9A5"/>
          </a:solidFill>
          <a:ln/>
        </p:spPr>
        <p:txBody>
          <a:bodyPr/>
          <a:lstStyle/>
          <a:p>
            <a:endParaRPr lang="ko-KR" altLang="en-US"/>
          </a:p>
        </p:txBody>
      </p:sp>
      <p:sp>
        <p:nvSpPr>
          <p:cNvPr id="249" name="Shape 246"/>
          <p:cNvSpPr/>
          <p:nvPr/>
        </p:nvSpPr>
        <p:spPr>
          <a:xfrm>
            <a:off x="7752792" y="6126619"/>
            <a:ext cx="9525" cy="659469"/>
          </a:xfrm>
          <a:prstGeom prst="rect">
            <a:avLst/>
          </a:prstGeom>
          <a:solidFill>
            <a:srgbClr val="D3B9A5"/>
          </a:solidFill>
          <a:ln/>
        </p:spPr>
        <p:txBody>
          <a:bodyPr/>
          <a:lstStyle/>
          <a:p>
            <a:endParaRPr lang="ko-KR" altLang="en-US"/>
          </a:p>
        </p:txBody>
      </p:sp>
      <p:sp>
        <p:nvSpPr>
          <p:cNvPr id="250" name="Text 247"/>
          <p:cNvSpPr/>
          <p:nvPr/>
        </p:nvSpPr>
        <p:spPr>
          <a:xfrm>
            <a:off x="7777059" y="6160411"/>
            <a:ext cx="2361828"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highlight>
                  <a:srgbClr val="FFFFFF"/>
                </a:highlight>
                <a:latin typeface="Paperlogy 7 Bold" pitchFamily="2" charset="-127"/>
                <a:ea typeface="Paperlogy 7 Bold" pitchFamily="2" charset="-127"/>
                <a:cs typeface="Arial" pitchFamily="34" charset="-120"/>
              </a:rPr>
              <a:t>최대 4회까지 보상하고, 중대질환 분리심사 및 경증 예외질환 강점</a:t>
            </a:r>
            <a:endParaRPr lang="en-US" sz="1088" dirty="0"/>
          </a:p>
        </p:txBody>
      </p:sp>
      <p:sp>
        <p:nvSpPr>
          <p:cNvPr id="251" name="Text 24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52" name="Text 24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53" name="Text 25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15627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흥국생명 – 다사랑 통합보험</a:t>
            </a:r>
            <a:endParaRPr lang="en-US" sz="2475" dirty="0"/>
          </a:p>
        </p:txBody>
      </p:sp>
      <p:sp>
        <p:nvSpPr>
          <p:cNvPr id="3" name="Shape 1"/>
          <p:cNvSpPr/>
          <p:nvPr/>
        </p:nvSpPr>
        <p:spPr>
          <a:xfrm>
            <a:off x="9253104" y="340821"/>
            <a:ext cx="910050"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405504" y="407496"/>
            <a:ext cx="681450"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암 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305161"/>
            <a:ext cx="1428740" cy="1263180"/>
          </a:xfrm>
          <a:prstGeom prst="roundRect">
            <a:avLst>
              <a:gd name="adj" fmla="val 12065"/>
            </a:avLst>
          </a:prstGeom>
          <a:solidFill>
            <a:srgbClr val="F6E2D3"/>
          </a:solidFill>
          <a:ln/>
        </p:spPr>
        <p:txBody>
          <a:bodyPr/>
          <a:lstStyle/>
          <a:p>
            <a:endParaRPr lang="ko-KR" altLang="en-US"/>
          </a:p>
        </p:txBody>
      </p:sp>
      <p:sp>
        <p:nvSpPr>
          <p:cNvPr id="7" name="Text 5"/>
          <p:cNvSpPr/>
          <p:nvPr/>
        </p:nvSpPr>
        <p:spPr>
          <a:xfrm>
            <a:off x="495263" y="1305161"/>
            <a:ext cx="1504940" cy="1301280"/>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305161"/>
            <a:ext cx="8086765" cy="1263180"/>
          </a:xfrm>
          <a:prstGeom prst="roundRect">
            <a:avLst>
              <a:gd name="adj" fmla="val 12065"/>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1749463"/>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596094"/>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15세 - 80세</a:t>
            </a:r>
            <a:endParaRPr lang="en-US" sz="1538" dirty="0"/>
          </a:p>
        </p:txBody>
      </p:sp>
      <p:sp>
        <p:nvSpPr>
          <p:cNvPr id="11" name="Shape 9"/>
          <p:cNvSpPr/>
          <p:nvPr/>
        </p:nvSpPr>
        <p:spPr>
          <a:xfrm>
            <a:off x="2424465" y="2128189"/>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2011339"/>
            <a:ext cx="4382230" cy="267651"/>
          </a:xfrm>
          <a:prstGeom prst="rect">
            <a:avLst/>
          </a:prstGeom>
          <a:noFill/>
          <a:ln/>
        </p:spPr>
        <p:txBody>
          <a:bodyPr wrap="square" lIns="0" tIns="0" rIns="0" bIns="0" rtlCol="0" anchor="t">
            <a:normAutofit fontScale="92500"/>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주계약을 70세만기로 설정시 타사대비 보험료 절감효과</a:t>
            </a:r>
            <a:endParaRPr lang="en-US" sz="1538"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53569" y="2040358"/>
            <a:ext cx="170419" cy="238631"/>
          </a:xfrm>
          <a:prstGeom prst="rect">
            <a:avLst/>
          </a:prstGeom>
        </p:spPr>
      </p:pic>
      <p:sp>
        <p:nvSpPr>
          <p:cNvPr id="14" name="Shape 11"/>
          <p:cNvSpPr/>
          <p:nvPr/>
        </p:nvSpPr>
        <p:spPr>
          <a:xfrm>
            <a:off x="533363" y="2720696"/>
            <a:ext cx="1428740" cy="2013784"/>
          </a:xfrm>
          <a:prstGeom prst="roundRect">
            <a:avLst>
              <a:gd name="adj" fmla="val 10667"/>
            </a:avLst>
          </a:prstGeom>
          <a:solidFill>
            <a:srgbClr val="CF7446"/>
          </a:solidFill>
          <a:ln/>
        </p:spPr>
        <p:txBody>
          <a:bodyPr/>
          <a:lstStyle/>
          <a:p>
            <a:endParaRPr lang="ko-KR" altLang="en-US"/>
          </a:p>
        </p:txBody>
      </p:sp>
      <p:sp>
        <p:nvSpPr>
          <p:cNvPr id="15" name="Text 12"/>
          <p:cNvSpPr/>
          <p:nvPr/>
        </p:nvSpPr>
        <p:spPr>
          <a:xfrm>
            <a:off x="495263" y="2720696"/>
            <a:ext cx="1504940" cy="2051884"/>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6" name="Shape 13"/>
          <p:cNvSpPr/>
          <p:nvPr/>
        </p:nvSpPr>
        <p:spPr>
          <a:xfrm>
            <a:off x="2076389" y="2720696"/>
            <a:ext cx="8086765" cy="2013784"/>
          </a:xfrm>
          <a:prstGeom prst="roundRect">
            <a:avLst>
              <a:gd name="adj" fmla="val 7568"/>
            </a:avLst>
          </a:prstGeom>
          <a:solidFill>
            <a:srgbClr val="FCF4EE"/>
          </a:solidFill>
          <a:ln w="5217">
            <a:solidFill>
              <a:srgbClr val="F6E2D3"/>
            </a:solidFill>
            <a:prstDash val="solid"/>
          </a:ln>
        </p:spPr>
        <p:txBody>
          <a:bodyPr/>
          <a:lstStyle/>
          <a:p>
            <a:endParaRPr lang="ko-KR" altLang="en-US"/>
          </a:p>
        </p:txBody>
      </p:sp>
      <p:sp>
        <p:nvSpPr>
          <p:cNvPr id="17" name="Shape 14"/>
          <p:cNvSpPr/>
          <p:nvPr/>
        </p:nvSpPr>
        <p:spPr>
          <a:xfrm>
            <a:off x="2424465" y="3180649"/>
            <a:ext cx="47606" cy="47606"/>
          </a:xfrm>
          <a:prstGeom prst="ellipse">
            <a:avLst/>
          </a:prstGeom>
          <a:solidFill>
            <a:srgbClr val="CF7446"/>
          </a:solidFill>
          <a:ln/>
        </p:spPr>
        <p:txBody>
          <a:bodyPr/>
          <a:lstStyle/>
          <a:p>
            <a:endParaRPr lang="ko-KR" altLang="en-US"/>
          </a:p>
        </p:txBody>
      </p:sp>
      <p:sp>
        <p:nvSpPr>
          <p:cNvPr id="18" name="Text 15"/>
          <p:cNvSpPr/>
          <p:nvPr/>
        </p:nvSpPr>
        <p:spPr>
          <a:xfrm>
            <a:off x="2567281" y="3011628"/>
            <a:ext cx="6601934" cy="715991"/>
          </a:xfrm>
          <a:prstGeom prst="rect">
            <a:avLst/>
          </a:prstGeom>
          <a:noFill/>
          <a:ln/>
        </p:spPr>
        <p:txBody>
          <a:bodyPr wrap="square" lIns="25400" tIns="25400" rIns="25400" bIns="25400" rtlCol="0" anchor="t">
            <a:normAutofit/>
          </a:bodyPr>
          <a:lstStyle/>
          <a:p>
            <a:pPr marL="0" indent="0" algn="l">
              <a:lnSpc>
                <a:spcPct val="131225"/>
              </a:lnSpc>
              <a:buNone/>
            </a:pPr>
            <a:r>
              <a:rPr lang="en-US" sz="1600" b="1" dirty="0">
                <a:solidFill>
                  <a:srgbClr val="9A4A27"/>
                </a:solidFill>
                <a:latin typeface="Paperlogy 7 Bold" pitchFamily="2" charset="-127"/>
                <a:ea typeface="Paperlogy 7 Bold" pitchFamily="2" charset="-127"/>
                <a:cs typeface="Arial" pitchFamily="34" charset="-120"/>
              </a:rPr>
              <a:t>비급여 항암제의 치료비는 점점 증가하는 추세, 복합치료 비중도 많이 늘어난 상황</a:t>
            </a:r>
            <a:endParaRPr lang="en-US" sz="1600" dirty="0"/>
          </a:p>
        </p:txBody>
      </p:sp>
      <p:sp>
        <p:nvSpPr>
          <p:cNvPr id="19" name="Shape 16"/>
          <p:cNvSpPr/>
          <p:nvPr/>
        </p:nvSpPr>
        <p:spPr>
          <a:xfrm>
            <a:off x="2424465" y="3934677"/>
            <a:ext cx="47606" cy="47606"/>
          </a:xfrm>
          <a:prstGeom prst="ellipse">
            <a:avLst/>
          </a:prstGeom>
          <a:solidFill>
            <a:srgbClr val="CF7446"/>
          </a:solidFill>
          <a:ln/>
        </p:spPr>
        <p:txBody>
          <a:bodyPr/>
          <a:lstStyle/>
          <a:p>
            <a:endParaRPr lang="ko-KR" altLang="en-US"/>
          </a:p>
        </p:txBody>
      </p:sp>
      <p:sp>
        <p:nvSpPr>
          <p:cNvPr id="20" name="Text 17"/>
          <p:cNvSpPr/>
          <p:nvPr/>
        </p:nvSpPr>
        <p:spPr>
          <a:xfrm>
            <a:off x="2567281" y="3765656"/>
            <a:ext cx="6601934" cy="715991"/>
          </a:xfrm>
          <a:prstGeom prst="rect">
            <a:avLst/>
          </a:prstGeom>
          <a:noFill/>
          <a:ln/>
        </p:spPr>
        <p:txBody>
          <a:bodyPr wrap="square" lIns="25400" tIns="25400" rIns="25400" bIns="25400" rtlCol="0" anchor="t">
            <a:normAutofit/>
          </a:bodyPr>
          <a:lstStyle/>
          <a:p>
            <a:pPr marL="0" indent="0" algn="l">
              <a:lnSpc>
                <a:spcPct val="131225"/>
              </a:lnSpc>
              <a:buNone/>
            </a:pPr>
            <a:r>
              <a:rPr lang="en-US" sz="1600" b="1" dirty="0">
                <a:solidFill>
                  <a:srgbClr val="9A4A27"/>
                </a:solidFill>
                <a:latin typeface="Paperlogy 7 Bold" pitchFamily="2" charset="-127"/>
                <a:ea typeface="Paperlogy 7 Bold" pitchFamily="2" charset="-127"/>
                <a:cs typeface="Arial" pitchFamily="34" charset="-120"/>
              </a:rPr>
              <a:t>가장 가성비있게 준비할 수 있는 암 치료비 플랜 = 암 복합치료 (암주요치료생활비)</a:t>
            </a:r>
            <a:endParaRPr lang="en-US" sz="1600" dirty="0"/>
          </a:p>
        </p:txBody>
      </p:sp>
      <p:pic>
        <p:nvPicPr>
          <p:cNvPr id="21" name="Image 1" descr="preencoded.png"/>
          <p:cNvPicPr>
            <a:picLocks noChangeAspect="1"/>
          </p:cNvPicPr>
          <p:nvPr/>
        </p:nvPicPr>
        <p:blipFill>
          <a:blip r:embed="rId4"/>
          <a:stretch>
            <a:fillRect/>
          </a:stretch>
        </p:blipFill>
        <p:spPr>
          <a:xfrm>
            <a:off x="9205498" y="3422797"/>
            <a:ext cx="609581" cy="609581"/>
          </a:xfrm>
          <a:prstGeom prst="rect">
            <a:avLst/>
          </a:prstGeom>
        </p:spPr>
      </p:pic>
      <p:sp>
        <p:nvSpPr>
          <p:cNvPr id="22" name="Shape 18"/>
          <p:cNvSpPr/>
          <p:nvPr/>
        </p:nvSpPr>
        <p:spPr>
          <a:xfrm>
            <a:off x="533363" y="4886834"/>
            <a:ext cx="1428740" cy="1694565"/>
          </a:xfrm>
          <a:prstGeom prst="roundRect">
            <a:avLst>
              <a:gd name="adj" fmla="val 10667"/>
            </a:avLst>
          </a:prstGeom>
          <a:solidFill>
            <a:srgbClr val="F6E2D3"/>
          </a:solidFill>
          <a:ln/>
        </p:spPr>
        <p:txBody>
          <a:bodyPr/>
          <a:lstStyle/>
          <a:p>
            <a:endParaRPr lang="ko-KR" altLang="en-US"/>
          </a:p>
        </p:txBody>
      </p:sp>
      <p:sp>
        <p:nvSpPr>
          <p:cNvPr id="23" name="Text 19"/>
          <p:cNvSpPr/>
          <p:nvPr/>
        </p:nvSpPr>
        <p:spPr>
          <a:xfrm>
            <a:off x="963688" y="5459325"/>
            <a:ext cx="644207" cy="283301"/>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4" name="Text 20"/>
          <p:cNvSpPr/>
          <p:nvPr/>
        </p:nvSpPr>
        <p:spPr>
          <a:xfrm>
            <a:off x="963688" y="5754985"/>
            <a:ext cx="644207" cy="283301"/>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5" name="Shape 21"/>
          <p:cNvSpPr/>
          <p:nvPr/>
        </p:nvSpPr>
        <p:spPr>
          <a:xfrm>
            <a:off x="2076389" y="4886834"/>
            <a:ext cx="8086765" cy="1694565"/>
          </a:xfrm>
          <a:prstGeom prst="roundRect">
            <a:avLst>
              <a:gd name="adj" fmla="val 8993"/>
            </a:avLst>
          </a:prstGeom>
          <a:solidFill>
            <a:srgbClr val="FFFFFF"/>
          </a:solidFill>
          <a:ln w="5217">
            <a:solidFill>
              <a:srgbClr val="EADFD3"/>
            </a:solidFill>
            <a:prstDash val="solid"/>
          </a:ln>
        </p:spPr>
        <p:txBody>
          <a:bodyPr/>
          <a:lstStyle/>
          <a:p>
            <a:endParaRPr lang="ko-KR" altLang="en-US"/>
          </a:p>
        </p:txBody>
      </p:sp>
      <p:sp>
        <p:nvSpPr>
          <p:cNvPr id="26" name="Shape 22"/>
          <p:cNvSpPr/>
          <p:nvPr/>
        </p:nvSpPr>
        <p:spPr>
          <a:xfrm>
            <a:off x="2424465" y="5362439"/>
            <a:ext cx="47606" cy="47606"/>
          </a:xfrm>
          <a:prstGeom prst="ellipse">
            <a:avLst/>
          </a:prstGeom>
          <a:solidFill>
            <a:srgbClr val="A69687"/>
          </a:solidFill>
          <a:ln/>
        </p:spPr>
        <p:txBody>
          <a:bodyPr/>
          <a:lstStyle/>
          <a:p>
            <a:endParaRPr lang="ko-KR" altLang="en-US"/>
          </a:p>
        </p:txBody>
      </p:sp>
      <p:sp>
        <p:nvSpPr>
          <p:cNvPr id="27" name="Text 23"/>
          <p:cNvSpPr/>
          <p:nvPr/>
        </p:nvSpPr>
        <p:spPr>
          <a:xfrm>
            <a:off x="2567281" y="5177767"/>
            <a:ext cx="7465231" cy="1150801"/>
          </a:xfrm>
          <a:prstGeom prst="rect">
            <a:avLst/>
          </a:prstGeom>
          <a:noFill/>
          <a:ln/>
        </p:spPr>
        <p:txBody>
          <a:bodyPr wrap="square" lIns="25400" tIns="25400" rIns="25400" bIns="25400" rtlCol="0" anchor="t">
            <a:normAutofit lnSpcReduction="10000"/>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암종별 상이하나, 대부분의 암은 수술과 항암제를 병행하여 치료중이고, 수술 시 중환자실 입원은 대부분 함께 이루어지고 있는 상황. 암 진단비와 암 주요치료비의 보험료가 많이 올라 다소 비싼 상황에서 가장 가성비 있게 암치료비를 준비할 수 있는 담보로 적극 추천!</a:t>
            </a:r>
            <a:endParaRPr lang="en-US" sz="1538" dirty="0"/>
          </a:p>
        </p:txBody>
      </p:sp>
      <p:sp>
        <p:nvSpPr>
          <p:cNvPr id="28" name="Text 2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 name="Text 2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30" name="Text 2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221737"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입원 원인 1위는 '손상'… 그 절반이 낙상</a:t>
            </a:r>
            <a:endParaRPr lang="en-US" sz="2475" dirty="0"/>
          </a:p>
        </p:txBody>
      </p:sp>
      <p:sp>
        <p:nvSpPr>
          <p:cNvPr id="3" name="Shape 1"/>
          <p:cNvSpPr/>
          <p:nvPr/>
        </p:nvSpPr>
        <p:spPr>
          <a:xfrm>
            <a:off x="9217400" y="340821"/>
            <a:ext cx="945755"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369800" y="407496"/>
            <a:ext cx="717155"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관절 및 재해</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918284" cy="247647"/>
          </a:xfrm>
          <a:prstGeom prst="rect">
            <a:avLst/>
          </a:prstGeom>
        </p:spPr>
      </p:pic>
      <p:sp>
        <p:nvSpPr>
          <p:cNvPr id="8" name="Shape 5"/>
          <p:cNvSpPr/>
          <p:nvPr/>
        </p:nvSpPr>
        <p:spPr>
          <a:xfrm>
            <a:off x="1914008"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2009258"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김찬호 기자 입력: 2026.06.29 15:36</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손상 입원 원인 절반은 추락·낙상···교통사고보다 많았다</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901849"/>
          </a:xfrm>
          <a:prstGeom prst="rect">
            <a:avLst/>
          </a:prstGeom>
          <a:noFill/>
          <a:ln/>
        </p:spPr>
        <p:txBody>
          <a:bodyPr wrap="square" lIns="25400" tIns="25400" rIns="25400" bIns="25400" rtlCol="0" anchor="t">
            <a:normAutofit/>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국내 입원환자 가운데 손상으로 입원한 환자가 가장 큰 비중을 차지한 것으로 나타났다. 손상 원인의 절반 이상이 추락·낙상으로, 교통사고 등 운수사고보다 2배 이상 많았다.</a:t>
            </a:r>
            <a:endParaRPr lang="en-US" sz="1013" dirty="0"/>
          </a:p>
        </p:txBody>
      </p:sp>
      <p:sp>
        <p:nvSpPr>
          <p:cNvPr id="14" name="Text 11"/>
          <p:cNvSpPr/>
          <p:nvPr/>
        </p:nvSpPr>
        <p:spPr>
          <a:xfrm>
            <a:off x="881438" y="3192878"/>
            <a:ext cx="2870997" cy="1981535"/>
          </a:xfrm>
          <a:prstGeom prst="rect">
            <a:avLst/>
          </a:prstGeom>
          <a:noFill/>
          <a:ln/>
        </p:spPr>
        <p:txBody>
          <a:bodyPr wrap="square" lIns="25400" tIns="25400" rIns="25400" bIns="25400" rtlCol="0" anchor="t">
            <a:normAutofit/>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질병관리청은 29일 손상으로 입원한 환자 특성을 분석한 ‘2024년 퇴원손상통계’를 발표했다. 퇴원손상심층조사는 손상예방관리정책 수립과 평가에 필요한 근거를 마련하기 위해 2005년부터 실시 중인 조사다. 조사 결과 2024년 전체 입원환자는 790만6523명이었고, 이 가운데 손상 입원환자는 122만9025명으로 전체의 15.5%를 차지했다. 이는 소화기계통 질환(11.9%), 암(11.4%)보다 높은 비중이다.</a:t>
            </a:r>
            <a:endParaRPr lang="en-US" sz="1013" dirty="0"/>
          </a:p>
        </p:txBody>
      </p:sp>
      <p:sp>
        <p:nvSpPr>
          <p:cNvPr id="15" name="Text 12"/>
          <p:cNvSpPr/>
          <p:nvPr/>
        </p:nvSpPr>
        <p:spPr>
          <a:xfrm>
            <a:off x="881438" y="5099064"/>
            <a:ext cx="2870997" cy="1040558"/>
          </a:xfrm>
          <a:prstGeom prst="rect">
            <a:avLst/>
          </a:prstGeom>
          <a:noFill/>
          <a:ln/>
        </p:spPr>
        <p:txBody>
          <a:bodyPr wrap="square" lIns="25400" tIns="25400" rIns="25400" bIns="25400" rtlCol="0" anchor="t">
            <a:noAutofit/>
          </a:bodyPr>
          <a:lstStyle/>
          <a:p>
            <a:pPr marL="0" indent="0" algn="just">
              <a:lnSpc>
                <a:spcPct val="147885"/>
              </a:lnSpc>
              <a:buNone/>
            </a:pPr>
            <a:r>
              <a:rPr lang="en-US" sz="1010" b="1" kern="0" spc="-10" dirty="0">
                <a:solidFill>
                  <a:srgbClr val="4A3B31"/>
                </a:solidFill>
                <a:latin typeface="Paperlogy 7 Bold" pitchFamily="2" charset="-127"/>
                <a:ea typeface="Paperlogy 7 Bold" pitchFamily="2" charset="-127"/>
                <a:cs typeface="Arial" pitchFamily="34" charset="-120"/>
              </a:rPr>
              <a:t>구체적인 손상 원인으로는 추락·낙상이 52.4%로 가장 많았다. 이어 운수사고 19.4%, 부딪힘 10.7% 순이었다. 10년 전과 비교하면 추락·낙상은 34.7%에서 52.4%로 17.7%포인트 증가했다. </a:t>
            </a:r>
            <a:endParaRPr lang="en-US" sz="1010" dirty="0"/>
          </a:p>
        </p:txBody>
      </p:sp>
      <p:sp>
        <p:nvSpPr>
          <p:cNvPr id="16" name="Text 13"/>
          <p:cNvSpPr/>
          <p:nvPr/>
        </p:nvSpPr>
        <p:spPr>
          <a:xfrm>
            <a:off x="3954611" y="3169801"/>
            <a:ext cx="2870997" cy="1981535"/>
          </a:xfrm>
          <a:prstGeom prst="rect">
            <a:avLst/>
          </a:prstGeom>
          <a:noFill/>
          <a:ln/>
        </p:spPr>
        <p:txBody>
          <a:bodyPr wrap="square" lIns="25400" tIns="25400" rIns="25400" bIns="25400" rtlCol="0" anchor="t">
            <a:normAutofit/>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추락·낙상으로 인한 입원율은 여성이 인구 10만명당 1366명으로 남성(932명)의 1.5배였다. 0~54세까지는 남성에서 더 많이 발생했지만, 55세 이후부터는 여성에서 더 많이 발생했다. 75세 이상 고령층의 추락·낙상 입원율은 0~14세의 15.8배였고, 특히 75세 이상 여성은 인구 10만명당 6468명으로 0~14세 여성(213명)의 30.4배에 달했다. 75세 이상 고령층의 사망자 비율도 65~74세보다 2배 이상 높았다.</a:t>
            </a:r>
            <a:endParaRPr lang="en-US" sz="1013" dirty="0"/>
          </a:p>
        </p:txBody>
      </p:sp>
      <p:sp>
        <p:nvSpPr>
          <p:cNvPr id="17" name="Text 14"/>
          <p:cNvSpPr/>
          <p:nvPr/>
        </p:nvSpPr>
        <p:spPr>
          <a:xfrm>
            <a:off x="3954611" y="5117141"/>
            <a:ext cx="2870997" cy="1333724"/>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어린이 손상에서도 추락·낙상이 가장 큰 비중을 차지했다. 0~12세 어린이 손상환자 입원율은 인구 10만명당 630명이었고, 이 가운데 추락·낙상은 294명으로 절반 가까이에 달했다. 성별로는 남아 손상 입원율이 여아보다 높았다. 추락·낙상과 부딪힘은 남아가 여아보다 각각 1.7배, 운수사고는 3배 많이 발생했다.</a:t>
            </a:r>
            <a:endParaRPr lang="en-US" sz="1013" dirty="0"/>
          </a:p>
        </p:txBody>
      </p:sp>
      <p:sp>
        <p:nvSpPr>
          <p:cNvPr id="18" name="Text 15"/>
          <p:cNvSpPr/>
          <p:nvPr/>
        </p:nvSpPr>
        <p:spPr>
          <a:xfrm>
            <a:off x="7027702" y="2415824"/>
            <a:ext cx="2870997" cy="1549661"/>
          </a:xfrm>
          <a:prstGeom prst="rect">
            <a:avLst/>
          </a:prstGeom>
          <a:noFill/>
          <a:ln/>
        </p:spPr>
        <p:txBody>
          <a:bodyPr wrap="square" lIns="25400" tIns="25400" rIns="25400" bIns="25400" rtlCol="0" anchor="t">
            <a:normAutofit/>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손상환자는 입원 기간도 길었다. 손상환자 평균 입원일수는 13.1일로 비손상 환자(6.9일)의 1.9배였다. 연령이 높아질수록 입원 기간도 늘어 0~14세는 5.9일이었지만 75세 이상은 17.1일이었다. 손상 원인별로는 추락·낙상이 14.7일로 가장 길었고, 운수사고 12.3일, 불·화염·열 11.6일 순이었다.</a:t>
            </a:r>
            <a:endParaRPr lang="en-US" sz="1013" dirty="0"/>
          </a:p>
        </p:txBody>
      </p:sp>
      <p:sp>
        <p:nvSpPr>
          <p:cNvPr id="19" name="Text 16"/>
          <p:cNvSpPr/>
          <p:nvPr/>
        </p:nvSpPr>
        <p:spPr>
          <a:xfrm>
            <a:off x="7027702" y="4004499"/>
            <a:ext cx="2870997" cy="1549661"/>
          </a:xfrm>
          <a:prstGeom prst="rect">
            <a:avLst/>
          </a:prstGeom>
          <a:noFill/>
          <a:ln/>
        </p:spPr>
        <p:txBody>
          <a:bodyPr wrap="square" lIns="25400" tIns="25400" rIns="25400" bIns="25400" rtlCol="0" anchor="t">
            <a:normAutofit/>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한편 청소년에서는 의도성 자해가 주요 위험 신호로 나타났다. 13~18세 청소년의 의도성 자해 입원율은 인구 10만명당 70명으로 청장년기(35명), 노년기(41명)보다 높았다. 2014년 28명에서 2024년 70명으로 10년 새 150% 증가했다. 특히 여성 청소년의 의도성 자해 입원율은 128명으로 남성 청소년(15명)의 8.5배였다.</a:t>
            </a:r>
            <a:endParaRPr lang="en-US" sz="1013" dirty="0"/>
          </a:p>
        </p:txBody>
      </p:sp>
      <p:sp>
        <p:nvSpPr>
          <p:cNvPr id="20" name="Text 17"/>
          <p:cNvSpPr/>
          <p:nvPr/>
        </p:nvSpPr>
        <p:spPr>
          <a:xfrm>
            <a:off x="7027702" y="5593175"/>
            <a:ext cx="2870997" cy="901849"/>
          </a:xfrm>
          <a:prstGeom prst="rect">
            <a:avLst/>
          </a:prstGeom>
          <a:noFill/>
          <a:ln/>
        </p:spPr>
        <p:txBody>
          <a:bodyPr wrap="square" lIns="25400" tIns="25400" rIns="25400" bIns="25400" rtlCol="0" anchor="t">
            <a:normAutofit lnSpcReduction="10000"/>
          </a:bodyPr>
          <a:lstStyle/>
          <a:p>
            <a:pPr marL="0" indent="0" algn="just">
              <a:lnSpc>
                <a:spcPct val="147885"/>
              </a:lnSpc>
              <a:buNone/>
            </a:pPr>
            <a:r>
              <a:rPr lang="en-US" sz="1013" b="1" kern="0" spc="-10" dirty="0">
                <a:solidFill>
                  <a:srgbClr val="4A3B31"/>
                </a:solidFill>
                <a:latin typeface="Paperlogy 7 Bold" pitchFamily="2" charset="-127"/>
                <a:ea typeface="Paperlogy 7 Bold" pitchFamily="2" charset="-127"/>
                <a:cs typeface="Arial" pitchFamily="34" charset="-120"/>
              </a:rPr>
              <a:t>임승관 질병관리청장은 “손상예방관리 정책의 과학적 근거를 바탕으로, 생애주기별 손상 특성과 취약군을 고려한 실효성 있는 예방관리 정책을 적극 추진하겠다”고 밝혔다.</a:t>
            </a:r>
            <a:endParaRPr lang="en-US" sz="1013" dirty="0"/>
          </a:p>
        </p:txBody>
      </p:sp>
      <p:sp>
        <p:nvSpPr>
          <p:cNvPr id="21" name="Text 1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2" name="Text 1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3" name="Text 2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15</a:t>
            </a:r>
            <a:endParaRPr lang="en-US" sz="900" dirty="0"/>
          </a:p>
        </p:txBody>
      </p:sp>
      <p:sp>
        <p:nvSpPr>
          <p:cNvPr id="24" name="Text 12">
            <a:extLst>
              <a:ext uri="{FF2B5EF4-FFF2-40B4-BE49-F238E27FC236}">
                <a16:creationId xmlns:a16="http://schemas.microsoft.com/office/drawing/2014/main" id="{1BE90EC8-0206-501E-D9D1-DC05F0014D1C}"/>
              </a:ext>
            </a:extLst>
          </p:cNvPr>
          <p:cNvSpPr/>
          <p:nvPr/>
        </p:nvSpPr>
        <p:spPr>
          <a:xfrm>
            <a:off x="3954529" y="2415284"/>
            <a:ext cx="2870997" cy="754517"/>
          </a:xfrm>
          <a:prstGeom prst="rect">
            <a:avLst/>
          </a:prstGeom>
          <a:noFill/>
          <a:ln/>
        </p:spPr>
        <p:txBody>
          <a:bodyPr wrap="square" lIns="25400" tIns="25400" rIns="25400" bIns="25400" rtlCol="0" anchor="t">
            <a:noAutofit/>
          </a:bodyPr>
          <a:lstStyle/>
          <a:p>
            <a:pPr marL="0" indent="0" algn="just">
              <a:lnSpc>
                <a:spcPct val="147885"/>
              </a:lnSpc>
              <a:buNone/>
            </a:pPr>
            <a:r>
              <a:rPr lang="en-US" sz="1010" b="1" kern="0" spc="-10" dirty="0" err="1">
                <a:solidFill>
                  <a:srgbClr val="4A3B31"/>
                </a:solidFill>
                <a:latin typeface="Paperlogy 7 Bold" pitchFamily="2" charset="-127"/>
                <a:ea typeface="Paperlogy 7 Bold" pitchFamily="2" charset="-127"/>
                <a:cs typeface="Arial" pitchFamily="34" charset="-120"/>
              </a:rPr>
              <a:t>반면</a:t>
            </a:r>
            <a:r>
              <a:rPr lang="en-US" sz="1010" b="1" kern="0" spc="-10" dirty="0">
                <a:solidFill>
                  <a:srgbClr val="4A3B31"/>
                </a:solidFill>
                <a:latin typeface="Paperlogy 7 Bold" pitchFamily="2" charset="-127"/>
                <a:ea typeface="Paperlogy 7 Bold" pitchFamily="2" charset="-127"/>
                <a:cs typeface="Arial" pitchFamily="34" charset="-120"/>
              </a:rPr>
              <a:t> 운수사고는 34.5%에서 19.4%로 15.1%포인트 줄었다. 손상 문제의 중심이 교통사고에서 낙상으로 옮겨가고 있는 셈이다.</a:t>
            </a:r>
            <a:endParaRPr lang="en-US" sz="10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221737"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입원 원인 1위는 '손상'… 그 절반이 낙상</a:t>
            </a:r>
            <a:endParaRPr lang="en-US" sz="2475" dirty="0"/>
          </a:p>
        </p:txBody>
      </p:sp>
      <p:sp>
        <p:nvSpPr>
          <p:cNvPr id="3" name="Shape 1"/>
          <p:cNvSpPr/>
          <p:nvPr/>
        </p:nvSpPr>
        <p:spPr>
          <a:xfrm>
            <a:off x="9217400" y="340821"/>
            <a:ext cx="945755"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369800" y="407496"/>
            <a:ext cx="717155"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관절 및 재해</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3185340" y="1189897"/>
            <a:ext cx="2489996" cy="325038"/>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3A2C24"/>
                </a:solidFill>
                <a:latin typeface="Paperlogy 7 Bold" pitchFamily="2" charset="-127"/>
                <a:ea typeface="Paperlogy 7 Bold" pitchFamily="2" charset="-127"/>
                <a:cs typeface="Arial" pitchFamily="34" charset="-120"/>
              </a:rPr>
              <a:t>70·80대에게 더 무서운</a:t>
            </a:r>
            <a:endParaRPr lang="en-US" sz="1950" dirty="0"/>
          </a:p>
        </p:txBody>
      </p:sp>
      <p:sp>
        <p:nvSpPr>
          <p:cNvPr id="7" name="Text 5"/>
          <p:cNvSpPr/>
          <p:nvPr/>
        </p:nvSpPr>
        <p:spPr>
          <a:xfrm>
            <a:off x="5544183" y="1187288"/>
            <a:ext cx="2163603" cy="330255"/>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CF7446"/>
                </a:solidFill>
                <a:latin typeface="Paperlogy 7 Bold" pitchFamily="2" charset="-127"/>
                <a:ea typeface="Paperlogy 7 Bold" pitchFamily="2" charset="-127"/>
                <a:cs typeface="Arial" pitchFamily="34" charset="-120"/>
              </a:rPr>
              <a:t>낙상 이후 3가지 현실</a:t>
            </a:r>
            <a:endParaRPr lang="en-US" sz="1950" dirty="0"/>
          </a:p>
        </p:txBody>
      </p:sp>
      <p:sp>
        <p:nvSpPr>
          <p:cNvPr id="8" name="Shape 6"/>
          <p:cNvSpPr/>
          <p:nvPr/>
        </p:nvSpPr>
        <p:spPr>
          <a:xfrm>
            <a:off x="533363" y="1647775"/>
            <a:ext cx="3095590" cy="4182531"/>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538580" y="1652992"/>
            <a:ext cx="3085156" cy="647486"/>
          </a:xfrm>
          <a:prstGeom prst="rect">
            <a:avLst/>
          </a:prstGeom>
          <a:solidFill>
            <a:srgbClr val="F6EBCF"/>
          </a:solidFill>
          <a:ln/>
        </p:spPr>
        <p:txBody>
          <a:bodyPr/>
          <a:lstStyle/>
          <a:p>
            <a:endParaRPr lang="ko-KR" altLang="en-US"/>
          </a:p>
        </p:txBody>
      </p:sp>
      <p:sp>
        <p:nvSpPr>
          <p:cNvPr id="10" name="Shape 8"/>
          <p:cNvSpPr/>
          <p:nvPr/>
        </p:nvSpPr>
        <p:spPr>
          <a:xfrm>
            <a:off x="710009" y="1786272"/>
            <a:ext cx="380927" cy="380927"/>
          </a:xfrm>
          <a:prstGeom prst="roundRect">
            <a:avLst>
              <a:gd name="adj" fmla="val 27505"/>
            </a:avLst>
          </a:prstGeom>
          <a:solidFill>
            <a:srgbClr val="FFFFFF"/>
          </a:solidFill>
          <a:ln/>
        </p:spPr>
        <p:txBody>
          <a:bodyPr/>
          <a:lstStyle/>
          <a:p>
            <a:endParaRPr lang="ko-KR" altLang="en-US"/>
          </a:p>
        </p:txBody>
      </p:sp>
      <p:sp>
        <p:nvSpPr>
          <p:cNvPr id="11" name="Text 9"/>
          <p:cNvSpPr/>
          <p:nvPr/>
        </p:nvSpPr>
        <p:spPr>
          <a:xfrm>
            <a:off x="671909" y="1786272"/>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C99634"/>
                </a:solidFill>
                <a:latin typeface="Paperlogy 7 Bold" pitchFamily="2" charset="-127"/>
                <a:ea typeface="Paperlogy 7 Bold" pitchFamily="2" charset="-127"/>
                <a:cs typeface="Arial" pitchFamily="34" charset="-120"/>
              </a:rPr>
              <a:t>01</a:t>
            </a:r>
            <a:endParaRPr lang="en-US" sz="1350" dirty="0"/>
          </a:p>
        </p:txBody>
      </p:sp>
      <p:sp>
        <p:nvSpPr>
          <p:cNvPr id="12" name="Text 10"/>
          <p:cNvSpPr/>
          <p:nvPr/>
        </p:nvSpPr>
        <p:spPr>
          <a:xfrm>
            <a:off x="1205222" y="1838442"/>
            <a:ext cx="1373627"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자주 넘어지고</a:t>
            </a:r>
            <a:endParaRPr lang="en-US" sz="1800" dirty="0"/>
          </a:p>
        </p:txBody>
      </p:sp>
      <p:sp>
        <p:nvSpPr>
          <p:cNvPr id="13" name="Text 11"/>
          <p:cNvSpPr/>
          <p:nvPr/>
        </p:nvSpPr>
        <p:spPr>
          <a:xfrm>
            <a:off x="1005547" y="2529050"/>
            <a:ext cx="2151139"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손상 입원 중 추락·낙상 (2024년)</a:t>
            </a:r>
            <a:endParaRPr lang="en-US" sz="1200" dirty="0"/>
          </a:p>
        </p:txBody>
      </p:sp>
      <p:sp>
        <p:nvSpPr>
          <p:cNvPr id="14" name="Shape 12"/>
          <p:cNvSpPr/>
          <p:nvPr/>
        </p:nvSpPr>
        <p:spPr>
          <a:xfrm>
            <a:off x="1081072" y="2787784"/>
            <a:ext cx="2000171" cy="516978"/>
          </a:xfrm>
          <a:prstGeom prst="roundRect">
            <a:avLst>
              <a:gd name="adj" fmla="val 25794"/>
            </a:avLst>
          </a:prstGeom>
          <a:ln w="15651">
            <a:solidFill>
              <a:srgbClr val="C99634"/>
            </a:solidFill>
            <a:prstDash val="solid"/>
          </a:ln>
        </p:spPr>
        <p:txBody>
          <a:bodyPr/>
          <a:lstStyle/>
          <a:p>
            <a:endParaRPr lang="ko-KR" altLang="en-US"/>
          </a:p>
        </p:txBody>
      </p:sp>
      <p:sp>
        <p:nvSpPr>
          <p:cNvPr id="15" name="Text 13"/>
          <p:cNvSpPr/>
          <p:nvPr/>
        </p:nvSpPr>
        <p:spPr>
          <a:xfrm>
            <a:off x="996715" y="2832010"/>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C99634"/>
                </a:solidFill>
                <a:latin typeface="Paperlogy 7 Bold" pitchFamily="2" charset="-127"/>
                <a:ea typeface="Paperlogy 7 Bold" pitchFamily="2" charset="-127"/>
                <a:cs typeface="Arial" pitchFamily="34" charset="-120"/>
              </a:rPr>
              <a:t>52.4%</a:t>
            </a:r>
            <a:endParaRPr lang="en-US" sz="2700" dirty="0"/>
          </a:p>
        </p:txBody>
      </p:sp>
      <p:sp>
        <p:nvSpPr>
          <p:cNvPr id="16" name="Text 14"/>
          <p:cNvSpPr/>
          <p:nvPr/>
        </p:nvSpPr>
        <p:spPr>
          <a:xfrm>
            <a:off x="1287064" y="3438041"/>
            <a:ext cx="1747005" cy="27808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A69687"/>
                </a:solidFill>
                <a:latin typeface="Paperlogy 7 Bold" pitchFamily="2" charset="-127"/>
                <a:ea typeface="Paperlogy 7 Bold" pitchFamily="2" charset="-127"/>
                <a:cs typeface="Arial" pitchFamily="34" charset="-120"/>
              </a:rPr>
              <a:t>34.7% → </a:t>
            </a:r>
            <a:r>
              <a:rPr lang="en-US" sz="1650" b="1" dirty="0">
                <a:solidFill>
                  <a:srgbClr val="C99634"/>
                </a:solidFill>
                <a:latin typeface="Paperlogy 7 Bold" pitchFamily="2" charset="-127"/>
                <a:ea typeface="Paperlogy 7 Bold" pitchFamily="2" charset="-127"/>
                <a:cs typeface="Arial" pitchFamily="34" charset="-120"/>
              </a:rPr>
              <a:t>52.4%</a:t>
            </a:r>
            <a:endParaRPr lang="en-US" sz="1650" dirty="0"/>
          </a:p>
        </p:txBody>
      </p:sp>
      <p:sp>
        <p:nvSpPr>
          <p:cNvPr id="17" name="Text 15"/>
          <p:cNvSpPr/>
          <p:nvPr/>
        </p:nvSpPr>
        <p:spPr>
          <a:xfrm>
            <a:off x="1476020" y="3716094"/>
            <a:ext cx="1331303" cy="215480"/>
          </a:xfrm>
          <a:prstGeom prst="rect">
            <a:avLst/>
          </a:prstGeom>
          <a:noFill/>
          <a:ln/>
        </p:spPr>
        <p:txBody>
          <a:bodyPr wrap="none" lIns="25400" tIns="25400" rIns="25400" bIns="25400" rtlCol="0" anchor="t">
            <a:normAutofit lnSpcReduction="10000"/>
          </a:bodyPr>
          <a:lstStyle/>
          <a:p>
            <a:pPr marL="0" indent="0" algn="l">
              <a:buNone/>
            </a:pPr>
            <a:r>
              <a:rPr lang="en-US" sz="1163" b="1" dirty="0">
                <a:solidFill>
                  <a:srgbClr val="A69687"/>
                </a:solidFill>
                <a:latin typeface="Paperlogy 7 Bold" pitchFamily="2" charset="-127"/>
                <a:ea typeface="Paperlogy 7 Bold" pitchFamily="2" charset="-127"/>
                <a:cs typeface="Arial" pitchFamily="34" charset="-120"/>
              </a:rPr>
              <a:t>2014년 → 2024년</a:t>
            </a:r>
            <a:endParaRPr lang="en-US" sz="1163" dirty="0"/>
          </a:p>
        </p:txBody>
      </p:sp>
      <p:sp>
        <p:nvSpPr>
          <p:cNvPr id="18" name="Shape 16"/>
          <p:cNvSpPr/>
          <p:nvPr/>
        </p:nvSpPr>
        <p:spPr>
          <a:xfrm>
            <a:off x="748077" y="4026753"/>
            <a:ext cx="2666161" cy="9525"/>
          </a:xfrm>
          <a:prstGeom prst="rect">
            <a:avLst/>
          </a:prstGeom>
          <a:solidFill>
            <a:srgbClr val="EADFD3"/>
          </a:solidFill>
          <a:ln/>
        </p:spPr>
        <p:txBody>
          <a:bodyPr/>
          <a:lstStyle/>
          <a:p>
            <a:endParaRPr lang="ko-KR" altLang="en-US"/>
          </a:p>
        </p:txBody>
      </p:sp>
      <p:sp>
        <p:nvSpPr>
          <p:cNvPr id="19" name="Shape 17"/>
          <p:cNvSpPr/>
          <p:nvPr/>
        </p:nvSpPr>
        <p:spPr>
          <a:xfrm>
            <a:off x="748077" y="4257890"/>
            <a:ext cx="47606" cy="47606"/>
          </a:xfrm>
          <a:prstGeom prst="ellipse">
            <a:avLst/>
          </a:prstGeom>
          <a:solidFill>
            <a:srgbClr val="C99634"/>
          </a:solidFill>
          <a:ln/>
        </p:spPr>
        <p:txBody>
          <a:bodyPr/>
          <a:lstStyle/>
          <a:p>
            <a:endParaRPr lang="ko-KR" altLang="en-US"/>
          </a:p>
        </p:txBody>
      </p:sp>
      <p:sp>
        <p:nvSpPr>
          <p:cNvPr id="20" name="Text 18"/>
          <p:cNvSpPr/>
          <p:nvPr/>
        </p:nvSpPr>
        <p:spPr>
          <a:xfrm>
            <a:off x="890894" y="4146257"/>
            <a:ext cx="2775678" cy="289008"/>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손상은 입원 원인 1위(전체의 15.5%)</a:t>
            </a:r>
            <a:endParaRPr lang="en-US" sz="1275" dirty="0"/>
          </a:p>
        </p:txBody>
      </p:sp>
      <p:sp>
        <p:nvSpPr>
          <p:cNvPr id="21" name="Shape 19"/>
          <p:cNvSpPr/>
          <p:nvPr/>
        </p:nvSpPr>
        <p:spPr>
          <a:xfrm>
            <a:off x="748077" y="4565941"/>
            <a:ext cx="47606" cy="47606"/>
          </a:xfrm>
          <a:prstGeom prst="ellipse">
            <a:avLst/>
          </a:prstGeom>
          <a:solidFill>
            <a:srgbClr val="C99634"/>
          </a:solidFill>
          <a:ln/>
        </p:spPr>
        <p:txBody>
          <a:bodyPr/>
          <a:lstStyle/>
          <a:p>
            <a:endParaRPr lang="ko-KR" altLang="en-US"/>
          </a:p>
        </p:txBody>
      </p:sp>
      <p:sp>
        <p:nvSpPr>
          <p:cNvPr id="22" name="Text 20"/>
          <p:cNvSpPr/>
          <p:nvPr/>
        </p:nvSpPr>
        <p:spPr>
          <a:xfrm>
            <a:off x="890894" y="4454307"/>
            <a:ext cx="2599544"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65세 이상 손상 입원의 </a:t>
            </a:r>
            <a:r>
              <a:rPr lang="en-US" sz="1275" b="1" dirty="0">
                <a:solidFill>
                  <a:srgbClr val="C99634"/>
                </a:solidFill>
                <a:latin typeface="Paperlogy 7 Bold" pitchFamily="2" charset="-127"/>
                <a:ea typeface="Paperlogy 7 Bold" pitchFamily="2" charset="-127"/>
                <a:cs typeface="Arial" pitchFamily="34" charset="-120"/>
              </a:rPr>
              <a:t>66.4%</a:t>
            </a:r>
            <a:r>
              <a:rPr lang="en-US" sz="1275" b="1" dirty="0">
                <a:solidFill>
                  <a:srgbClr val="4A3B31"/>
                </a:solidFill>
                <a:latin typeface="Paperlogy 7 Bold" pitchFamily="2" charset="-127"/>
                <a:ea typeface="Paperlogy 7 Bold" pitchFamily="2" charset="-127"/>
                <a:cs typeface="Arial" pitchFamily="34" charset="-120"/>
              </a:rPr>
              <a:t>가 낙상</a:t>
            </a:r>
            <a:endParaRPr lang="en-US" sz="1275" dirty="0"/>
          </a:p>
        </p:txBody>
      </p:sp>
      <p:sp>
        <p:nvSpPr>
          <p:cNvPr id="23" name="Shape 21"/>
          <p:cNvSpPr/>
          <p:nvPr/>
        </p:nvSpPr>
        <p:spPr>
          <a:xfrm>
            <a:off x="748077" y="5226921"/>
            <a:ext cx="2666161" cy="369596"/>
          </a:xfrm>
          <a:prstGeom prst="roundRect">
            <a:avLst>
              <a:gd name="adj" fmla="val 25771"/>
            </a:avLst>
          </a:prstGeom>
          <a:solidFill>
            <a:srgbClr val="F6EBCF"/>
          </a:solidFill>
          <a:ln/>
        </p:spPr>
        <p:txBody>
          <a:bodyPr/>
          <a:lstStyle/>
          <a:p>
            <a:endParaRPr lang="ko-KR" altLang="en-US"/>
          </a:p>
        </p:txBody>
      </p:sp>
      <p:sp>
        <p:nvSpPr>
          <p:cNvPr id="24" name="Text 22"/>
          <p:cNvSpPr/>
          <p:nvPr/>
        </p:nvSpPr>
        <p:spPr>
          <a:xfrm>
            <a:off x="822385" y="5312646"/>
            <a:ext cx="2517546"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낙상·골절 진단과 수술 보장 점검</a:t>
            </a:r>
            <a:endParaRPr lang="en-US" sz="1313" dirty="0"/>
          </a:p>
        </p:txBody>
      </p:sp>
      <p:sp>
        <p:nvSpPr>
          <p:cNvPr id="25" name="Shape 23"/>
          <p:cNvSpPr/>
          <p:nvPr/>
        </p:nvSpPr>
        <p:spPr>
          <a:xfrm>
            <a:off x="3800382" y="1647775"/>
            <a:ext cx="3095672" cy="4182531"/>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26" name="Shape 24"/>
          <p:cNvSpPr/>
          <p:nvPr/>
        </p:nvSpPr>
        <p:spPr>
          <a:xfrm>
            <a:off x="3805599" y="1652992"/>
            <a:ext cx="3085238" cy="647486"/>
          </a:xfrm>
          <a:prstGeom prst="rect">
            <a:avLst/>
          </a:prstGeom>
          <a:solidFill>
            <a:srgbClr val="F8E3D7"/>
          </a:solidFill>
          <a:ln/>
        </p:spPr>
        <p:txBody>
          <a:bodyPr/>
          <a:lstStyle/>
          <a:p>
            <a:endParaRPr lang="ko-KR" altLang="en-US"/>
          </a:p>
        </p:txBody>
      </p:sp>
      <p:sp>
        <p:nvSpPr>
          <p:cNvPr id="27" name="Shape 25"/>
          <p:cNvSpPr/>
          <p:nvPr/>
        </p:nvSpPr>
        <p:spPr>
          <a:xfrm>
            <a:off x="3977028" y="1786272"/>
            <a:ext cx="380927" cy="380927"/>
          </a:xfrm>
          <a:prstGeom prst="roundRect">
            <a:avLst>
              <a:gd name="adj" fmla="val 27505"/>
            </a:avLst>
          </a:prstGeom>
          <a:solidFill>
            <a:srgbClr val="FFFFFF"/>
          </a:solidFill>
          <a:ln/>
        </p:spPr>
        <p:txBody>
          <a:bodyPr/>
          <a:lstStyle/>
          <a:p>
            <a:endParaRPr lang="ko-KR" altLang="en-US"/>
          </a:p>
        </p:txBody>
      </p:sp>
      <p:sp>
        <p:nvSpPr>
          <p:cNvPr id="28" name="Text 26"/>
          <p:cNvSpPr/>
          <p:nvPr/>
        </p:nvSpPr>
        <p:spPr>
          <a:xfrm>
            <a:off x="3938928" y="1786272"/>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D7774C"/>
                </a:solidFill>
                <a:latin typeface="Paperlogy 7 Bold" pitchFamily="2" charset="-127"/>
                <a:ea typeface="Paperlogy 7 Bold" pitchFamily="2" charset="-127"/>
                <a:cs typeface="Arial" pitchFamily="34" charset="-120"/>
              </a:rPr>
              <a:t>02</a:t>
            </a:r>
            <a:endParaRPr lang="en-US" sz="1350" dirty="0"/>
          </a:p>
        </p:txBody>
      </p:sp>
      <p:sp>
        <p:nvSpPr>
          <p:cNvPr id="29" name="Text 27"/>
          <p:cNvSpPr/>
          <p:nvPr/>
        </p:nvSpPr>
        <p:spPr>
          <a:xfrm>
            <a:off x="4472241" y="1838442"/>
            <a:ext cx="1373627"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오래 입원하고</a:t>
            </a:r>
            <a:endParaRPr lang="en-US" sz="1800" dirty="0"/>
          </a:p>
        </p:txBody>
      </p:sp>
      <p:sp>
        <p:nvSpPr>
          <p:cNvPr id="30" name="Text 28"/>
          <p:cNvSpPr/>
          <p:nvPr/>
        </p:nvSpPr>
        <p:spPr>
          <a:xfrm>
            <a:off x="4363038" y="2529050"/>
            <a:ext cx="1970279"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75세 이상 손상 환자 평균 입원</a:t>
            </a:r>
            <a:endParaRPr lang="en-US" sz="1200" dirty="0"/>
          </a:p>
        </p:txBody>
      </p:sp>
      <p:sp>
        <p:nvSpPr>
          <p:cNvPr id="31" name="Shape 29"/>
          <p:cNvSpPr/>
          <p:nvPr/>
        </p:nvSpPr>
        <p:spPr>
          <a:xfrm>
            <a:off x="4348091" y="2787784"/>
            <a:ext cx="2000171" cy="516978"/>
          </a:xfrm>
          <a:prstGeom prst="roundRect">
            <a:avLst>
              <a:gd name="adj" fmla="val 25794"/>
            </a:avLst>
          </a:prstGeom>
          <a:ln w="15651">
            <a:solidFill>
              <a:srgbClr val="D7774C"/>
            </a:solidFill>
            <a:prstDash val="solid"/>
          </a:ln>
        </p:spPr>
        <p:txBody>
          <a:bodyPr/>
          <a:lstStyle/>
          <a:p>
            <a:endParaRPr lang="ko-KR" altLang="en-US"/>
          </a:p>
        </p:txBody>
      </p:sp>
      <p:sp>
        <p:nvSpPr>
          <p:cNvPr id="32" name="Text 30"/>
          <p:cNvSpPr/>
          <p:nvPr/>
        </p:nvSpPr>
        <p:spPr>
          <a:xfrm>
            <a:off x="4263734" y="2832010"/>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D7774C"/>
                </a:solidFill>
                <a:latin typeface="Paperlogy 7 Bold" pitchFamily="2" charset="-127"/>
                <a:ea typeface="Paperlogy 7 Bold" pitchFamily="2" charset="-127"/>
                <a:cs typeface="Arial" pitchFamily="34" charset="-120"/>
              </a:rPr>
              <a:t>17.1일</a:t>
            </a:r>
            <a:endParaRPr lang="en-US" sz="2700" dirty="0"/>
          </a:p>
        </p:txBody>
      </p:sp>
      <p:sp>
        <p:nvSpPr>
          <p:cNvPr id="33" name="Text 31"/>
          <p:cNvSpPr/>
          <p:nvPr/>
        </p:nvSpPr>
        <p:spPr>
          <a:xfrm>
            <a:off x="4015096" y="3438041"/>
            <a:ext cx="102863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무릎 인공관절</a:t>
            </a:r>
            <a:endParaRPr lang="en-US" sz="1200" dirty="0"/>
          </a:p>
        </p:txBody>
      </p:sp>
      <p:sp>
        <p:nvSpPr>
          <p:cNvPr id="34" name="Shape 32"/>
          <p:cNvSpPr/>
          <p:nvPr/>
        </p:nvSpPr>
        <p:spPr>
          <a:xfrm>
            <a:off x="5062747" y="3472196"/>
            <a:ext cx="1133080" cy="114286"/>
          </a:xfrm>
          <a:prstGeom prst="roundRect">
            <a:avLst>
              <a:gd name="adj" fmla="val 50000"/>
            </a:avLst>
          </a:prstGeom>
          <a:solidFill>
            <a:srgbClr val="D7774C"/>
          </a:solidFill>
          <a:ln/>
        </p:spPr>
        <p:txBody>
          <a:bodyPr/>
          <a:lstStyle/>
          <a:p>
            <a:endParaRPr lang="ko-KR" altLang="en-US"/>
          </a:p>
        </p:txBody>
      </p:sp>
      <p:sp>
        <p:nvSpPr>
          <p:cNvPr id="35" name="Text 33"/>
          <p:cNvSpPr/>
          <p:nvPr/>
        </p:nvSpPr>
        <p:spPr>
          <a:xfrm>
            <a:off x="6252969" y="3438041"/>
            <a:ext cx="504569" cy="220697"/>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20.1일</a:t>
            </a:r>
            <a:endParaRPr lang="en-US" sz="1200" dirty="0"/>
          </a:p>
        </p:txBody>
      </p:sp>
      <p:sp>
        <p:nvSpPr>
          <p:cNvPr id="36" name="Text 34"/>
          <p:cNvSpPr/>
          <p:nvPr/>
        </p:nvSpPr>
        <p:spPr>
          <a:xfrm>
            <a:off x="4015096" y="3715849"/>
            <a:ext cx="102863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주요수술 평균</a:t>
            </a:r>
            <a:endParaRPr lang="en-US" sz="1200" dirty="0"/>
          </a:p>
        </p:txBody>
      </p:sp>
      <p:sp>
        <p:nvSpPr>
          <p:cNvPr id="37" name="Shape 35"/>
          <p:cNvSpPr/>
          <p:nvPr/>
        </p:nvSpPr>
        <p:spPr>
          <a:xfrm>
            <a:off x="5062747" y="3750005"/>
            <a:ext cx="323702" cy="114286"/>
          </a:xfrm>
          <a:prstGeom prst="roundRect">
            <a:avLst>
              <a:gd name="adj" fmla="val 50000"/>
            </a:avLst>
          </a:prstGeom>
          <a:solidFill>
            <a:srgbClr val="DDD2C7"/>
          </a:solidFill>
          <a:ln/>
        </p:spPr>
        <p:txBody>
          <a:bodyPr/>
          <a:lstStyle/>
          <a:p>
            <a:endParaRPr lang="ko-KR" altLang="en-US"/>
          </a:p>
        </p:txBody>
      </p:sp>
      <p:sp>
        <p:nvSpPr>
          <p:cNvPr id="38" name="Text 36"/>
          <p:cNvSpPr/>
          <p:nvPr/>
        </p:nvSpPr>
        <p:spPr>
          <a:xfrm>
            <a:off x="5443592" y="3715849"/>
            <a:ext cx="419792" cy="220697"/>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5.6일</a:t>
            </a:r>
            <a:endParaRPr lang="en-US" sz="1200" dirty="0"/>
          </a:p>
        </p:txBody>
      </p:sp>
      <p:sp>
        <p:nvSpPr>
          <p:cNvPr id="39" name="Shape 37"/>
          <p:cNvSpPr/>
          <p:nvPr/>
        </p:nvSpPr>
        <p:spPr>
          <a:xfrm>
            <a:off x="4015096" y="4031726"/>
            <a:ext cx="2666242" cy="9525"/>
          </a:xfrm>
          <a:prstGeom prst="rect">
            <a:avLst/>
          </a:prstGeom>
          <a:solidFill>
            <a:srgbClr val="EADFD3"/>
          </a:solidFill>
          <a:ln/>
        </p:spPr>
        <p:txBody>
          <a:bodyPr/>
          <a:lstStyle/>
          <a:p>
            <a:endParaRPr lang="ko-KR" altLang="en-US"/>
          </a:p>
        </p:txBody>
      </p:sp>
      <p:sp>
        <p:nvSpPr>
          <p:cNvPr id="40" name="Shape 38"/>
          <p:cNvSpPr/>
          <p:nvPr/>
        </p:nvSpPr>
        <p:spPr>
          <a:xfrm>
            <a:off x="4015096" y="4262862"/>
            <a:ext cx="47606" cy="47606"/>
          </a:xfrm>
          <a:prstGeom prst="ellipse">
            <a:avLst/>
          </a:prstGeom>
          <a:solidFill>
            <a:srgbClr val="D7774C"/>
          </a:solidFill>
          <a:ln/>
        </p:spPr>
        <p:txBody>
          <a:bodyPr/>
          <a:lstStyle/>
          <a:p>
            <a:endParaRPr lang="ko-KR" altLang="en-US"/>
          </a:p>
        </p:txBody>
      </p:sp>
      <p:sp>
        <p:nvSpPr>
          <p:cNvPr id="41" name="Text 39"/>
          <p:cNvSpPr/>
          <p:nvPr/>
        </p:nvSpPr>
        <p:spPr>
          <a:xfrm>
            <a:off x="4157913" y="4151229"/>
            <a:ext cx="2599626"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슬관절치환술은 평균 </a:t>
            </a:r>
            <a:r>
              <a:rPr lang="en-US" sz="1275" b="1" dirty="0">
                <a:solidFill>
                  <a:srgbClr val="D7774C"/>
                </a:solidFill>
                <a:latin typeface="Paperlogy 7 Bold" pitchFamily="2" charset="-127"/>
                <a:ea typeface="Paperlogy 7 Bold" pitchFamily="2" charset="-127"/>
                <a:cs typeface="Arial" pitchFamily="34" charset="-120"/>
              </a:rPr>
              <a:t>20.1일 </a:t>
            </a:r>
            <a:r>
              <a:rPr lang="en-US" sz="1275" b="1" dirty="0">
                <a:solidFill>
                  <a:srgbClr val="4A3B31"/>
                </a:solidFill>
                <a:latin typeface="Paperlogy 7 Bold" pitchFamily="2" charset="-127"/>
                <a:ea typeface="Paperlogy 7 Bold" pitchFamily="2" charset="-127"/>
                <a:cs typeface="Arial" pitchFamily="34" charset="-120"/>
              </a:rPr>
              <a:t>입원</a:t>
            </a:r>
            <a:endParaRPr lang="en-US" sz="1275" dirty="0"/>
          </a:p>
        </p:txBody>
      </p:sp>
      <p:sp>
        <p:nvSpPr>
          <p:cNvPr id="42" name="Shape 40"/>
          <p:cNvSpPr/>
          <p:nvPr/>
        </p:nvSpPr>
        <p:spPr>
          <a:xfrm>
            <a:off x="4015096" y="4581347"/>
            <a:ext cx="47606" cy="47606"/>
          </a:xfrm>
          <a:prstGeom prst="ellipse">
            <a:avLst/>
          </a:prstGeom>
          <a:solidFill>
            <a:srgbClr val="D7774C"/>
          </a:solidFill>
          <a:ln/>
        </p:spPr>
        <p:txBody>
          <a:bodyPr/>
          <a:lstStyle/>
          <a:p>
            <a:endParaRPr lang="ko-KR" altLang="en-US"/>
          </a:p>
        </p:txBody>
      </p:sp>
      <p:sp>
        <p:nvSpPr>
          <p:cNvPr id="43" name="Text 41"/>
          <p:cNvSpPr/>
          <p:nvPr/>
        </p:nvSpPr>
        <p:spPr>
          <a:xfrm>
            <a:off x="4157913" y="4501017"/>
            <a:ext cx="434547" cy="225914"/>
          </a:xfrm>
          <a:prstGeom prst="rect">
            <a:avLst/>
          </a:prstGeom>
          <a:noFill/>
          <a:ln/>
        </p:spPr>
        <p:txBody>
          <a:bodyPr wrap="square" lIns="0" tIns="0" rIns="0" bIns="0" rtlCol="0" anchor="t">
            <a:normAutofit lnSpcReduction="10000"/>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75세</a:t>
            </a:r>
            <a:endParaRPr lang="en-US" sz="1275" dirty="0"/>
          </a:p>
        </p:txBody>
      </p:sp>
      <p:pic>
        <p:nvPicPr>
          <p:cNvPr id="4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32400" y="4521559"/>
            <a:ext cx="104015" cy="145670"/>
          </a:xfrm>
          <a:prstGeom prst="rect">
            <a:avLst/>
          </a:prstGeom>
        </p:spPr>
      </p:pic>
      <p:sp>
        <p:nvSpPr>
          <p:cNvPr id="45" name="Text 42"/>
          <p:cNvSpPr/>
          <p:nvPr/>
        </p:nvSpPr>
        <p:spPr>
          <a:xfrm>
            <a:off x="4157913" y="4501017"/>
            <a:ext cx="1658762" cy="476822"/>
          </a:xfrm>
          <a:prstGeom prst="rect">
            <a:avLst/>
          </a:prstGeom>
          <a:noFill/>
          <a:ln/>
        </p:spPr>
        <p:txBody>
          <a:bodyPr wrap="square" lIns="0" tIns="0" rIns="0" bIns="0" rtlCol="0" anchor="t">
            <a:normAutofit lnSpcReduction="10000"/>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여성 낙상 입원율 10만명당 6,468명</a:t>
            </a:r>
            <a:endParaRPr lang="en-US" sz="1275" dirty="0"/>
          </a:p>
        </p:txBody>
      </p:sp>
      <p:sp>
        <p:nvSpPr>
          <p:cNvPr id="46" name="Shape 43"/>
          <p:cNvSpPr/>
          <p:nvPr/>
        </p:nvSpPr>
        <p:spPr>
          <a:xfrm>
            <a:off x="4015096" y="5226921"/>
            <a:ext cx="2666242" cy="369596"/>
          </a:xfrm>
          <a:prstGeom prst="roundRect">
            <a:avLst>
              <a:gd name="adj" fmla="val 25771"/>
            </a:avLst>
          </a:prstGeom>
          <a:solidFill>
            <a:srgbClr val="F8E3D7"/>
          </a:solidFill>
          <a:ln/>
        </p:spPr>
        <p:txBody>
          <a:bodyPr/>
          <a:lstStyle/>
          <a:p>
            <a:endParaRPr lang="ko-KR" altLang="en-US"/>
          </a:p>
        </p:txBody>
      </p:sp>
      <p:sp>
        <p:nvSpPr>
          <p:cNvPr id="47" name="Text 44"/>
          <p:cNvSpPr/>
          <p:nvPr/>
        </p:nvSpPr>
        <p:spPr>
          <a:xfrm>
            <a:off x="4089403" y="5312646"/>
            <a:ext cx="2517630"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입원·수술·재활 비용 대비</a:t>
            </a:r>
            <a:endParaRPr lang="en-US" sz="1313" dirty="0"/>
          </a:p>
        </p:txBody>
      </p:sp>
      <p:sp>
        <p:nvSpPr>
          <p:cNvPr id="48" name="Shape 45"/>
          <p:cNvSpPr/>
          <p:nvPr/>
        </p:nvSpPr>
        <p:spPr>
          <a:xfrm>
            <a:off x="7067483" y="1647775"/>
            <a:ext cx="3095672" cy="4182531"/>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49" name="Shape 46"/>
          <p:cNvSpPr/>
          <p:nvPr/>
        </p:nvSpPr>
        <p:spPr>
          <a:xfrm>
            <a:off x="7072700" y="1652992"/>
            <a:ext cx="3085238" cy="647486"/>
          </a:xfrm>
          <a:prstGeom prst="rect">
            <a:avLst/>
          </a:prstGeom>
          <a:solidFill>
            <a:srgbClr val="EEDFD5"/>
          </a:solidFill>
          <a:ln/>
        </p:spPr>
        <p:txBody>
          <a:bodyPr/>
          <a:lstStyle/>
          <a:p>
            <a:endParaRPr lang="ko-KR" altLang="en-US"/>
          </a:p>
        </p:txBody>
      </p:sp>
      <p:sp>
        <p:nvSpPr>
          <p:cNvPr id="50" name="Shape 47"/>
          <p:cNvSpPr/>
          <p:nvPr/>
        </p:nvSpPr>
        <p:spPr>
          <a:xfrm>
            <a:off x="7244129" y="1786272"/>
            <a:ext cx="380927" cy="380927"/>
          </a:xfrm>
          <a:prstGeom prst="roundRect">
            <a:avLst>
              <a:gd name="adj" fmla="val 27505"/>
            </a:avLst>
          </a:prstGeom>
          <a:solidFill>
            <a:srgbClr val="FFFFFF"/>
          </a:solidFill>
          <a:ln/>
        </p:spPr>
        <p:txBody>
          <a:bodyPr/>
          <a:lstStyle/>
          <a:p>
            <a:endParaRPr lang="ko-KR" altLang="en-US"/>
          </a:p>
        </p:txBody>
      </p:sp>
      <p:sp>
        <p:nvSpPr>
          <p:cNvPr id="51" name="Text 48"/>
          <p:cNvSpPr/>
          <p:nvPr/>
        </p:nvSpPr>
        <p:spPr>
          <a:xfrm>
            <a:off x="7206029" y="1786272"/>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9B5D3D"/>
                </a:solidFill>
                <a:latin typeface="Paperlogy 7 Bold" pitchFamily="2" charset="-127"/>
                <a:ea typeface="Paperlogy 7 Bold" pitchFamily="2" charset="-127"/>
                <a:cs typeface="Arial" pitchFamily="34" charset="-120"/>
              </a:rPr>
              <a:t>03</a:t>
            </a:r>
            <a:endParaRPr lang="en-US" sz="1350" dirty="0"/>
          </a:p>
        </p:txBody>
      </p:sp>
      <p:sp>
        <p:nvSpPr>
          <p:cNvPr id="52" name="Text 49"/>
          <p:cNvSpPr/>
          <p:nvPr/>
        </p:nvSpPr>
        <p:spPr>
          <a:xfrm>
            <a:off x="7739342" y="1838442"/>
            <a:ext cx="1590893"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생명을 위협하는</a:t>
            </a:r>
            <a:endParaRPr lang="en-US" sz="1800" dirty="0"/>
          </a:p>
        </p:txBody>
      </p:sp>
      <p:sp>
        <p:nvSpPr>
          <p:cNvPr id="53" name="Text 50"/>
          <p:cNvSpPr/>
          <p:nvPr/>
        </p:nvSpPr>
        <p:spPr>
          <a:xfrm>
            <a:off x="7612294" y="2529050"/>
            <a:ext cx="2005967"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고관절 골절 후 5년 누적 사망률</a:t>
            </a:r>
            <a:endParaRPr lang="en-US" sz="1200" dirty="0"/>
          </a:p>
        </p:txBody>
      </p:sp>
      <p:sp>
        <p:nvSpPr>
          <p:cNvPr id="54" name="Shape 51"/>
          <p:cNvSpPr/>
          <p:nvPr/>
        </p:nvSpPr>
        <p:spPr>
          <a:xfrm>
            <a:off x="7615192" y="2787784"/>
            <a:ext cx="2000171" cy="516978"/>
          </a:xfrm>
          <a:prstGeom prst="roundRect">
            <a:avLst>
              <a:gd name="adj" fmla="val 25794"/>
            </a:avLst>
          </a:prstGeom>
          <a:ln w="15651">
            <a:solidFill>
              <a:srgbClr val="9B5D3D"/>
            </a:solidFill>
            <a:prstDash val="solid"/>
          </a:ln>
        </p:spPr>
        <p:txBody>
          <a:bodyPr/>
          <a:lstStyle/>
          <a:p>
            <a:endParaRPr lang="ko-KR" altLang="en-US"/>
          </a:p>
        </p:txBody>
      </p:sp>
      <p:sp>
        <p:nvSpPr>
          <p:cNvPr id="55" name="Text 52"/>
          <p:cNvSpPr/>
          <p:nvPr/>
        </p:nvSpPr>
        <p:spPr>
          <a:xfrm>
            <a:off x="7530835" y="2832010"/>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9B5D3D"/>
                </a:solidFill>
                <a:latin typeface="Paperlogy 7 Bold" pitchFamily="2" charset="-127"/>
                <a:ea typeface="Paperlogy 7 Bold" pitchFamily="2" charset="-127"/>
                <a:cs typeface="Arial" pitchFamily="34" charset="-120"/>
              </a:rPr>
              <a:t>46.7%</a:t>
            </a:r>
            <a:endParaRPr lang="en-US" sz="2700" dirty="0"/>
          </a:p>
        </p:txBody>
      </p:sp>
      <p:sp>
        <p:nvSpPr>
          <p:cNvPr id="56" name="Text 53"/>
          <p:cNvSpPr/>
          <p:nvPr/>
        </p:nvSpPr>
        <p:spPr>
          <a:xfrm>
            <a:off x="7282197" y="3438041"/>
            <a:ext cx="457127"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1년</a:t>
            </a:r>
            <a:endParaRPr lang="en-US" sz="1200" dirty="0"/>
          </a:p>
        </p:txBody>
      </p:sp>
      <p:sp>
        <p:nvSpPr>
          <p:cNvPr id="57" name="Shape 54"/>
          <p:cNvSpPr/>
          <p:nvPr/>
        </p:nvSpPr>
        <p:spPr>
          <a:xfrm>
            <a:off x="7758335" y="3472196"/>
            <a:ext cx="372286" cy="114286"/>
          </a:xfrm>
          <a:prstGeom prst="roundRect">
            <a:avLst>
              <a:gd name="adj" fmla="val 50000"/>
            </a:avLst>
          </a:prstGeom>
          <a:solidFill>
            <a:srgbClr val="9B5D3D"/>
          </a:solidFill>
          <a:ln/>
        </p:spPr>
        <p:txBody>
          <a:bodyPr/>
          <a:lstStyle/>
          <a:p>
            <a:endParaRPr lang="ko-KR" altLang="en-US"/>
          </a:p>
        </p:txBody>
      </p:sp>
      <p:sp>
        <p:nvSpPr>
          <p:cNvPr id="58" name="Text 55"/>
          <p:cNvSpPr/>
          <p:nvPr/>
        </p:nvSpPr>
        <p:spPr>
          <a:xfrm>
            <a:off x="8187764" y="3443258"/>
            <a:ext cx="508319"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17.1%</a:t>
            </a:r>
            <a:endParaRPr lang="en-US" sz="1200" dirty="0"/>
          </a:p>
        </p:txBody>
      </p:sp>
      <p:sp>
        <p:nvSpPr>
          <p:cNvPr id="59" name="Text 56"/>
          <p:cNvSpPr/>
          <p:nvPr/>
        </p:nvSpPr>
        <p:spPr>
          <a:xfrm>
            <a:off x="7282197" y="3715849"/>
            <a:ext cx="457127"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5년</a:t>
            </a:r>
            <a:endParaRPr lang="en-US" sz="1200" dirty="0"/>
          </a:p>
        </p:txBody>
      </p:sp>
      <p:sp>
        <p:nvSpPr>
          <p:cNvPr id="60" name="Shape 57"/>
          <p:cNvSpPr/>
          <p:nvPr/>
        </p:nvSpPr>
        <p:spPr>
          <a:xfrm>
            <a:off x="7758335" y="3750005"/>
            <a:ext cx="1029309" cy="114286"/>
          </a:xfrm>
          <a:prstGeom prst="roundRect">
            <a:avLst>
              <a:gd name="adj" fmla="val 50000"/>
            </a:avLst>
          </a:prstGeom>
          <a:solidFill>
            <a:srgbClr val="9B5D3D"/>
          </a:solidFill>
          <a:ln/>
        </p:spPr>
        <p:txBody>
          <a:bodyPr/>
          <a:lstStyle/>
          <a:p>
            <a:endParaRPr lang="ko-KR" altLang="en-US"/>
          </a:p>
        </p:txBody>
      </p:sp>
      <p:sp>
        <p:nvSpPr>
          <p:cNvPr id="61" name="Text 58"/>
          <p:cNvSpPr/>
          <p:nvPr/>
        </p:nvSpPr>
        <p:spPr>
          <a:xfrm>
            <a:off x="8844787" y="3721066"/>
            <a:ext cx="508319"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46.7%</a:t>
            </a:r>
            <a:endParaRPr lang="en-US" sz="1200" dirty="0"/>
          </a:p>
        </p:txBody>
      </p:sp>
      <p:sp>
        <p:nvSpPr>
          <p:cNvPr id="62" name="Text 59"/>
          <p:cNvSpPr/>
          <p:nvPr/>
        </p:nvSpPr>
        <p:spPr>
          <a:xfrm>
            <a:off x="7282197" y="3993658"/>
            <a:ext cx="457127"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10년</a:t>
            </a:r>
            <a:endParaRPr lang="en-US" sz="1200" dirty="0"/>
          </a:p>
        </p:txBody>
      </p:sp>
      <p:sp>
        <p:nvSpPr>
          <p:cNvPr id="63" name="Shape 60"/>
          <p:cNvSpPr/>
          <p:nvPr/>
        </p:nvSpPr>
        <p:spPr>
          <a:xfrm>
            <a:off x="7758335" y="4027813"/>
            <a:ext cx="1576856" cy="114286"/>
          </a:xfrm>
          <a:prstGeom prst="roundRect">
            <a:avLst>
              <a:gd name="adj" fmla="val 50000"/>
            </a:avLst>
          </a:prstGeom>
          <a:solidFill>
            <a:srgbClr val="9B5D3D"/>
          </a:solidFill>
          <a:ln/>
        </p:spPr>
        <p:txBody>
          <a:bodyPr/>
          <a:lstStyle/>
          <a:p>
            <a:endParaRPr lang="ko-KR" altLang="en-US"/>
          </a:p>
        </p:txBody>
      </p:sp>
      <p:sp>
        <p:nvSpPr>
          <p:cNvPr id="64" name="Text 61"/>
          <p:cNvSpPr/>
          <p:nvPr/>
        </p:nvSpPr>
        <p:spPr>
          <a:xfrm>
            <a:off x="9392334" y="3998875"/>
            <a:ext cx="508319"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71.4%</a:t>
            </a:r>
            <a:endParaRPr lang="en-US" sz="1200" dirty="0"/>
          </a:p>
        </p:txBody>
      </p:sp>
      <p:sp>
        <p:nvSpPr>
          <p:cNvPr id="65" name="Shape 62"/>
          <p:cNvSpPr/>
          <p:nvPr/>
        </p:nvSpPr>
        <p:spPr>
          <a:xfrm>
            <a:off x="7282197" y="4309534"/>
            <a:ext cx="2666242" cy="9525"/>
          </a:xfrm>
          <a:prstGeom prst="rect">
            <a:avLst/>
          </a:prstGeom>
          <a:solidFill>
            <a:srgbClr val="EADFD3"/>
          </a:solidFill>
          <a:ln/>
        </p:spPr>
        <p:txBody>
          <a:bodyPr/>
          <a:lstStyle/>
          <a:p>
            <a:endParaRPr lang="ko-KR" altLang="en-US"/>
          </a:p>
        </p:txBody>
      </p:sp>
      <p:sp>
        <p:nvSpPr>
          <p:cNvPr id="66" name="Shape 63"/>
          <p:cNvSpPr/>
          <p:nvPr/>
        </p:nvSpPr>
        <p:spPr>
          <a:xfrm>
            <a:off x="7282197" y="4540671"/>
            <a:ext cx="47606" cy="47606"/>
          </a:xfrm>
          <a:prstGeom prst="ellipse">
            <a:avLst/>
          </a:prstGeom>
          <a:solidFill>
            <a:srgbClr val="9B5D3D"/>
          </a:solidFill>
          <a:ln/>
        </p:spPr>
        <p:txBody>
          <a:bodyPr/>
          <a:lstStyle/>
          <a:p>
            <a:endParaRPr lang="ko-KR" altLang="en-US"/>
          </a:p>
        </p:txBody>
      </p:sp>
      <p:sp>
        <p:nvSpPr>
          <p:cNvPr id="67" name="Text 64"/>
          <p:cNvSpPr/>
          <p:nvPr/>
        </p:nvSpPr>
        <p:spPr>
          <a:xfrm>
            <a:off x="7425014" y="4429037"/>
            <a:ext cx="2599626"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1년 사망 위험은 일반인의 </a:t>
            </a:r>
            <a:r>
              <a:rPr lang="en-US" sz="1275" b="1" dirty="0">
                <a:solidFill>
                  <a:srgbClr val="9B5D3D"/>
                </a:solidFill>
                <a:latin typeface="Paperlogy 7 Bold" pitchFamily="2" charset="-127"/>
                <a:ea typeface="Paperlogy 7 Bold" pitchFamily="2" charset="-127"/>
                <a:cs typeface="Arial" pitchFamily="34" charset="-120"/>
              </a:rPr>
              <a:t>9.41배</a:t>
            </a:r>
            <a:endParaRPr lang="en-US" sz="1275" dirty="0"/>
          </a:p>
        </p:txBody>
      </p:sp>
      <p:sp>
        <p:nvSpPr>
          <p:cNvPr id="68" name="Shape 65"/>
          <p:cNvSpPr/>
          <p:nvPr/>
        </p:nvSpPr>
        <p:spPr>
          <a:xfrm>
            <a:off x="7282197" y="4859156"/>
            <a:ext cx="47606" cy="47606"/>
          </a:xfrm>
          <a:prstGeom prst="ellipse">
            <a:avLst/>
          </a:prstGeom>
          <a:solidFill>
            <a:srgbClr val="9B5D3D"/>
          </a:solidFill>
          <a:ln/>
        </p:spPr>
        <p:txBody>
          <a:bodyPr/>
          <a:lstStyle/>
          <a:p>
            <a:endParaRPr lang="ko-KR" altLang="en-US"/>
          </a:p>
        </p:txBody>
      </p:sp>
      <p:sp>
        <p:nvSpPr>
          <p:cNvPr id="69" name="Text 66"/>
          <p:cNvSpPr/>
          <p:nvPr/>
        </p:nvSpPr>
        <p:spPr>
          <a:xfrm>
            <a:off x="7425014" y="4747522"/>
            <a:ext cx="2775768" cy="289008"/>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보존 치료는 수술보다 1.44배 위험</a:t>
            </a:r>
            <a:endParaRPr lang="en-US" sz="1275" dirty="0"/>
          </a:p>
        </p:txBody>
      </p:sp>
      <p:sp>
        <p:nvSpPr>
          <p:cNvPr id="70" name="Shape 67"/>
          <p:cNvSpPr/>
          <p:nvPr/>
        </p:nvSpPr>
        <p:spPr>
          <a:xfrm>
            <a:off x="7282197" y="5226921"/>
            <a:ext cx="2666242" cy="369596"/>
          </a:xfrm>
          <a:prstGeom prst="roundRect">
            <a:avLst>
              <a:gd name="adj" fmla="val 25771"/>
            </a:avLst>
          </a:prstGeom>
          <a:solidFill>
            <a:srgbClr val="EEDFD5"/>
          </a:solidFill>
          <a:ln/>
        </p:spPr>
        <p:txBody>
          <a:bodyPr/>
          <a:lstStyle/>
          <a:p>
            <a:endParaRPr lang="ko-KR" altLang="en-US"/>
          </a:p>
        </p:txBody>
      </p:sp>
      <p:sp>
        <p:nvSpPr>
          <p:cNvPr id="71" name="Text 68"/>
          <p:cNvSpPr/>
          <p:nvPr/>
        </p:nvSpPr>
        <p:spPr>
          <a:xfrm>
            <a:off x="7356504" y="5312646"/>
            <a:ext cx="2517630"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70·80대 가입 가능 한도 확인</a:t>
            </a:r>
            <a:endParaRPr lang="en-US" sz="1313" dirty="0"/>
          </a:p>
        </p:txBody>
      </p:sp>
      <p:sp>
        <p:nvSpPr>
          <p:cNvPr id="72" name="Shape 69"/>
          <p:cNvSpPr/>
          <p:nvPr/>
        </p:nvSpPr>
        <p:spPr>
          <a:xfrm>
            <a:off x="533363" y="6019751"/>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73" name="Text 70"/>
          <p:cNvSpPr/>
          <p:nvPr/>
        </p:nvSpPr>
        <p:spPr>
          <a:xfrm>
            <a:off x="2698360" y="6182050"/>
            <a:ext cx="3207937"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수술, 입원, 재활까지 길어지는 고령 골절.</a:t>
            </a:r>
            <a:endParaRPr lang="en-US" sz="1575" dirty="0"/>
          </a:p>
        </p:txBody>
      </p:sp>
      <p:sp>
        <p:nvSpPr>
          <p:cNvPr id="74" name="Text 71"/>
          <p:cNvSpPr/>
          <p:nvPr/>
        </p:nvSpPr>
        <p:spPr>
          <a:xfrm>
            <a:off x="5812862" y="6171616"/>
            <a:ext cx="1357038"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보장은 준비되어</a:t>
            </a:r>
            <a:endParaRPr lang="en-US" sz="1575" dirty="0"/>
          </a:p>
        </p:txBody>
      </p:sp>
      <p:sp>
        <p:nvSpPr>
          <p:cNvPr id="75" name="Text 72"/>
          <p:cNvSpPr/>
          <p:nvPr/>
        </p:nvSpPr>
        <p:spPr>
          <a:xfrm>
            <a:off x="7046533" y="6182050"/>
            <a:ext cx="1027824"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있으신가요?</a:t>
            </a:r>
            <a:endParaRPr lang="en-US" sz="1575" dirty="0"/>
          </a:p>
        </p:txBody>
      </p:sp>
      <p:sp>
        <p:nvSpPr>
          <p:cNvPr id="76" name="Text 73"/>
          <p:cNvSpPr/>
          <p:nvPr/>
        </p:nvSpPr>
        <p:spPr>
          <a:xfrm>
            <a:off x="51873" y="6610338"/>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질병관리청 「2024년 퇴원손상통계」(2026.6.29, 경향신문·이데일리) · 국민건강보험공단 「2025년 주요수술 통계연보」 · 서울부민병원·제주대 의대 연구(JKMS, 코메디닷컴 2026.9.17)</a:t>
            </a:r>
            <a:endParaRPr lang="en-US" sz="788" dirty="0"/>
          </a:p>
        </p:txBody>
      </p:sp>
      <p:sp>
        <p:nvSpPr>
          <p:cNvPr id="77" name="Text 7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8" name="Text 7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79" name="Text 7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313308"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미래에셋생명 – M-케어 건강보험</a:t>
            </a:r>
            <a:endParaRPr lang="en-US" sz="2475" dirty="0"/>
          </a:p>
        </p:txBody>
      </p:sp>
      <p:sp>
        <p:nvSpPr>
          <p:cNvPr id="3" name="Shape 1"/>
          <p:cNvSpPr/>
          <p:nvPr/>
        </p:nvSpPr>
        <p:spPr>
          <a:xfrm>
            <a:off x="9217400" y="340821"/>
            <a:ext cx="945755"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369800" y="407496"/>
            <a:ext cx="717155"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관절 및 재해</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1106913" y="1310052"/>
            <a:ext cx="4476724" cy="5266538"/>
          </a:xfrm>
          <a:prstGeom prst="roundRect">
            <a:avLst>
              <a:gd name="adj" fmla="val 1702"/>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t="-1480" b="-1480"/>
          <a:stretch/>
        </p:blipFill>
        <p:spPr>
          <a:xfrm>
            <a:off x="1106913" y="1310052"/>
            <a:ext cx="4476724" cy="5266538"/>
          </a:xfrm>
          <a:prstGeom prst="rect">
            <a:avLst/>
          </a:prstGeom>
        </p:spPr>
      </p:pic>
      <p:sp>
        <p:nvSpPr>
          <p:cNvPr id="9" name="Shape 6"/>
          <p:cNvSpPr/>
          <p:nvPr/>
        </p:nvSpPr>
        <p:spPr>
          <a:xfrm>
            <a:off x="5831285" y="1310052"/>
            <a:ext cx="3758319" cy="5266538"/>
          </a:xfrm>
          <a:prstGeom prst="roundRect">
            <a:avLst>
              <a:gd name="adj" fmla="val 2028"/>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0" name="Image 1" descr="preencoded.png"/>
          <p:cNvPicPr>
            <a:picLocks noChangeAspect="1"/>
          </p:cNvPicPr>
          <p:nvPr/>
        </p:nvPicPr>
        <p:blipFill>
          <a:blip r:embed="rId4"/>
          <a:srcRect t="-1" b="-1"/>
          <a:stretch/>
        </p:blipFill>
        <p:spPr>
          <a:xfrm>
            <a:off x="5831285" y="1310052"/>
            <a:ext cx="3758319" cy="5266538"/>
          </a:xfrm>
          <a:prstGeom prst="rect">
            <a:avLst/>
          </a:prstGeom>
        </p:spPr>
      </p:pic>
      <p:sp>
        <p:nvSpPr>
          <p:cNvPr id="11" name="Text 7"/>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2" name="Text 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3" name="Text 9"/>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12236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미래에셋생명 – M-케어 건강보험</a:t>
            </a:r>
            <a:endParaRPr lang="en-US" sz="2475" dirty="0"/>
          </a:p>
        </p:txBody>
      </p:sp>
      <p:sp>
        <p:nvSpPr>
          <p:cNvPr id="3" name="Shape 1"/>
          <p:cNvSpPr/>
          <p:nvPr/>
        </p:nvSpPr>
        <p:spPr>
          <a:xfrm>
            <a:off x="9217400" y="340821"/>
            <a:ext cx="945755"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369800" y="407496"/>
            <a:ext cx="717155"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관절 및 재해</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2007"/>
            </a:avLst>
          </a:prstGeom>
          <a:solidFill>
            <a:srgbClr val="FFFFFF"/>
          </a:solidFill>
          <a:ln w="5217">
            <a:solidFill>
              <a:srgbClr val="D3B9A5"/>
            </a:solidFill>
            <a:prstDash val="solid"/>
          </a:ln>
        </p:spPr>
        <p:txBody>
          <a:bodyPr/>
          <a:lstStyle/>
          <a:p>
            <a:endParaRPr lang="ko-KR" altLang="en-US"/>
          </a:p>
        </p:txBody>
      </p:sp>
      <p:sp>
        <p:nvSpPr>
          <p:cNvPr id="7" name="Shape 5"/>
          <p:cNvSpPr/>
          <p:nvPr/>
        </p:nvSpPr>
        <p:spPr>
          <a:xfrm>
            <a:off x="538580" y="1100555"/>
            <a:ext cx="1374124" cy="458204"/>
          </a:xfrm>
          <a:prstGeom prst="rect">
            <a:avLst/>
          </a:prstGeom>
          <a:solidFill>
            <a:srgbClr val="CF7446"/>
          </a:solidFill>
          <a:ln/>
        </p:spPr>
        <p:txBody>
          <a:bodyPr/>
          <a:lstStyle/>
          <a:p>
            <a:endParaRPr lang="ko-KR" altLang="en-US"/>
          </a:p>
        </p:txBody>
      </p:sp>
      <p:sp>
        <p:nvSpPr>
          <p:cNvPr id="8" name="Text 6"/>
          <p:cNvSpPr/>
          <p:nvPr/>
        </p:nvSpPr>
        <p:spPr>
          <a:xfrm>
            <a:off x="557630" y="1138655"/>
            <a:ext cx="1336024" cy="420104"/>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9" name="Shape 7"/>
          <p:cNvSpPr/>
          <p:nvPr/>
        </p:nvSpPr>
        <p:spPr>
          <a:xfrm>
            <a:off x="1912704" y="1100555"/>
            <a:ext cx="2748248" cy="458204"/>
          </a:xfrm>
          <a:prstGeom prst="rect">
            <a:avLst/>
          </a:prstGeom>
          <a:solidFill>
            <a:srgbClr val="9A4A27"/>
          </a:solidFill>
          <a:ln/>
        </p:spPr>
        <p:txBody>
          <a:bodyPr/>
          <a:lstStyle/>
          <a:p>
            <a:endParaRPr lang="ko-KR" altLang="en-US"/>
          </a:p>
        </p:txBody>
      </p:sp>
      <p:sp>
        <p:nvSpPr>
          <p:cNvPr id="10" name="Shape 8"/>
          <p:cNvSpPr/>
          <p:nvPr/>
        </p:nvSpPr>
        <p:spPr>
          <a:xfrm>
            <a:off x="1912704" y="1100555"/>
            <a:ext cx="9525" cy="458204"/>
          </a:xfrm>
          <a:prstGeom prst="rect">
            <a:avLst/>
          </a:prstGeom>
          <a:solidFill>
            <a:srgbClr val="FFFFFF">
              <a:alpha val="25000"/>
            </a:srgbClr>
          </a:solidFill>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2617088" y="1158187"/>
            <a:ext cx="239496" cy="342859"/>
          </a:xfrm>
          <a:prstGeom prst="rect">
            <a:avLst/>
          </a:prstGeom>
        </p:spPr>
      </p:pic>
      <p:sp>
        <p:nvSpPr>
          <p:cNvPr id="12" name="Text 9"/>
          <p:cNvSpPr/>
          <p:nvPr/>
        </p:nvSpPr>
        <p:spPr>
          <a:xfrm>
            <a:off x="2894620" y="1209624"/>
            <a:ext cx="1105183"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미래에셋생명</a:t>
            </a:r>
            <a:endParaRPr lang="en-US" sz="1575" dirty="0"/>
          </a:p>
        </p:txBody>
      </p:sp>
      <p:sp>
        <p:nvSpPr>
          <p:cNvPr id="13" name="Shape 10"/>
          <p:cNvSpPr/>
          <p:nvPr/>
        </p:nvSpPr>
        <p:spPr>
          <a:xfrm>
            <a:off x="4660952" y="1100555"/>
            <a:ext cx="2748248" cy="458204"/>
          </a:xfrm>
          <a:prstGeom prst="rect">
            <a:avLst/>
          </a:prstGeom>
          <a:solidFill>
            <a:srgbClr val="CF7446"/>
          </a:solidFill>
          <a:ln/>
        </p:spPr>
        <p:txBody>
          <a:bodyPr/>
          <a:lstStyle/>
          <a:p>
            <a:endParaRPr lang="ko-KR" altLang="en-US"/>
          </a:p>
        </p:txBody>
      </p:sp>
      <p:sp>
        <p:nvSpPr>
          <p:cNvPr id="14" name="Shape 11"/>
          <p:cNvSpPr/>
          <p:nvPr/>
        </p:nvSpPr>
        <p:spPr>
          <a:xfrm>
            <a:off x="4660952" y="1100555"/>
            <a:ext cx="9525" cy="458204"/>
          </a:xfrm>
          <a:prstGeom prst="rect">
            <a:avLst/>
          </a:prstGeom>
          <a:solidFill>
            <a:srgbClr val="FFFFFF">
              <a:alpha val="25000"/>
            </a:srgbClr>
          </a:solidFill>
          <a:ln/>
        </p:spPr>
        <p:txBody>
          <a:bodyPr/>
          <a:lstStyle/>
          <a:p>
            <a:endParaRPr lang="ko-KR" altLang="en-US"/>
          </a:p>
        </p:txBody>
      </p:sp>
      <p:sp>
        <p:nvSpPr>
          <p:cNvPr id="15" name="Text 12"/>
          <p:cNvSpPr/>
          <p:nvPr/>
        </p:nvSpPr>
        <p:spPr>
          <a:xfrm>
            <a:off x="4682095" y="1138655"/>
            <a:ext cx="2711179" cy="420104"/>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라이나생명</a:t>
            </a:r>
            <a:endParaRPr lang="en-US" sz="1575" dirty="0"/>
          </a:p>
        </p:txBody>
      </p:sp>
      <p:sp>
        <p:nvSpPr>
          <p:cNvPr id="16" name="Shape 13"/>
          <p:cNvSpPr/>
          <p:nvPr/>
        </p:nvSpPr>
        <p:spPr>
          <a:xfrm>
            <a:off x="7409200" y="1100555"/>
            <a:ext cx="2748737" cy="458204"/>
          </a:xfrm>
          <a:prstGeom prst="rect">
            <a:avLst/>
          </a:prstGeom>
          <a:solidFill>
            <a:srgbClr val="CF7446"/>
          </a:solidFill>
          <a:ln/>
        </p:spPr>
        <p:txBody>
          <a:bodyPr/>
          <a:lstStyle/>
          <a:p>
            <a:endParaRPr lang="ko-KR" altLang="en-US"/>
          </a:p>
        </p:txBody>
      </p:sp>
      <p:sp>
        <p:nvSpPr>
          <p:cNvPr id="17" name="Shape 14"/>
          <p:cNvSpPr/>
          <p:nvPr/>
        </p:nvSpPr>
        <p:spPr>
          <a:xfrm>
            <a:off x="7409200" y="1100555"/>
            <a:ext cx="9525" cy="458204"/>
          </a:xfrm>
          <a:prstGeom prst="rect">
            <a:avLst/>
          </a:prstGeom>
          <a:solidFill>
            <a:srgbClr val="FFFFFF">
              <a:alpha val="25000"/>
            </a:srgbClr>
          </a:solidFill>
          <a:ln/>
        </p:spPr>
        <p:txBody>
          <a:bodyPr/>
          <a:lstStyle/>
          <a:p>
            <a:endParaRPr lang="ko-KR" altLang="en-US"/>
          </a:p>
        </p:txBody>
      </p:sp>
      <p:sp>
        <p:nvSpPr>
          <p:cNvPr id="18" name="Text 15"/>
          <p:cNvSpPr/>
          <p:nvPr/>
        </p:nvSpPr>
        <p:spPr>
          <a:xfrm>
            <a:off x="7430336" y="1138655"/>
            <a:ext cx="2711682" cy="420104"/>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흥국생명</a:t>
            </a:r>
            <a:endParaRPr lang="en-US" sz="1575" dirty="0"/>
          </a:p>
        </p:txBody>
      </p:sp>
      <p:sp>
        <p:nvSpPr>
          <p:cNvPr id="19" name="Shape 16"/>
          <p:cNvSpPr/>
          <p:nvPr/>
        </p:nvSpPr>
        <p:spPr>
          <a:xfrm>
            <a:off x="538580" y="1558759"/>
            <a:ext cx="1374124" cy="354434"/>
          </a:xfrm>
          <a:prstGeom prst="rect">
            <a:avLst/>
          </a:prstGeom>
          <a:solidFill>
            <a:srgbClr val="FCF4EE"/>
          </a:solidFill>
          <a:ln/>
        </p:spPr>
        <p:txBody>
          <a:bodyPr/>
          <a:lstStyle/>
          <a:p>
            <a:endParaRPr lang="ko-KR" altLang="en-US"/>
          </a:p>
        </p:txBody>
      </p:sp>
      <p:sp>
        <p:nvSpPr>
          <p:cNvPr id="20" name="Shape 17"/>
          <p:cNvSpPr/>
          <p:nvPr/>
        </p:nvSpPr>
        <p:spPr>
          <a:xfrm>
            <a:off x="538580" y="1558759"/>
            <a:ext cx="1374124" cy="9525"/>
          </a:xfrm>
          <a:prstGeom prst="rect">
            <a:avLst/>
          </a:prstGeom>
          <a:solidFill>
            <a:srgbClr val="D3B9A5"/>
          </a:solidFill>
          <a:ln/>
        </p:spPr>
        <p:txBody>
          <a:bodyPr/>
          <a:lstStyle/>
          <a:p>
            <a:endParaRPr lang="ko-KR" altLang="en-US"/>
          </a:p>
        </p:txBody>
      </p:sp>
      <p:sp>
        <p:nvSpPr>
          <p:cNvPr id="21" name="Text 18"/>
          <p:cNvSpPr/>
          <p:nvPr/>
        </p:nvSpPr>
        <p:spPr>
          <a:xfrm>
            <a:off x="557630" y="1592551"/>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상품명</a:t>
            </a:r>
            <a:endParaRPr lang="en-US" sz="1088" dirty="0"/>
          </a:p>
        </p:txBody>
      </p:sp>
      <p:sp>
        <p:nvSpPr>
          <p:cNvPr id="22" name="Shape 19"/>
          <p:cNvSpPr/>
          <p:nvPr/>
        </p:nvSpPr>
        <p:spPr>
          <a:xfrm>
            <a:off x="1912704" y="1558759"/>
            <a:ext cx="2748248" cy="354434"/>
          </a:xfrm>
          <a:prstGeom prst="rect">
            <a:avLst/>
          </a:prstGeom>
          <a:solidFill>
            <a:srgbClr val="F8E1D0"/>
          </a:solidFill>
          <a:ln/>
        </p:spPr>
        <p:txBody>
          <a:bodyPr/>
          <a:lstStyle/>
          <a:p>
            <a:endParaRPr lang="ko-KR" altLang="en-US"/>
          </a:p>
        </p:txBody>
      </p:sp>
      <p:sp>
        <p:nvSpPr>
          <p:cNvPr id="23" name="Shape 20"/>
          <p:cNvSpPr/>
          <p:nvPr/>
        </p:nvSpPr>
        <p:spPr>
          <a:xfrm>
            <a:off x="1912704" y="1558759"/>
            <a:ext cx="2748248" cy="9525"/>
          </a:xfrm>
          <a:prstGeom prst="rect">
            <a:avLst/>
          </a:prstGeom>
          <a:solidFill>
            <a:srgbClr val="D3B9A5"/>
          </a:solidFill>
          <a:ln/>
        </p:spPr>
        <p:txBody>
          <a:bodyPr/>
          <a:lstStyle/>
          <a:p>
            <a:endParaRPr lang="ko-KR" altLang="en-US"/>
          </a:p>
        </p:txBody>
      </p:sp>
      <p:sp>
        <p:nvSpPr>
          <p:cNvPr id="24" name="Shape 21"/>
          <p:cNvSpPr/>
          <p:nvPr/>
        </p:nvSpPr>
        <p:spPr>
          <a:xfrm>
            <a:off x="1912704" y="1558759"/>
            <a:ext cx="9525" cy="354434"/>
          </a:xfrm>
          <a:prstGeom prst="rect">
            <a:avLst/>
          </a:prstGeom>
          <a:solidFill>
            <a:srgbClr val="D3B9A5"/>
          </a:solidFill>
          <a:ln/>
        </p:spPr>
        <p:txBody>
          <a:bodyPr/>
          <a:lstStyle/>
          <a:p>
            <a:endParaRPr lang="ko-KR" altLang="en-US"/>
          </a:p>
        </p:txBody>
      </p:sp>
      <p:sp>
        <p:nvSpPr>
          <p:cNvPr id="25" name="Text 22"/>
          <p:cNvSpPr/>
          <p:nvPr/>
        </p:nvSpPr>
        <p:spPr>
          <a:xfrm>
            <a:off x="1933847" y="1592551"/>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M-케어 건강보험</a:t>
            </a:r>
            <a:endParaRPr lang="en-US" sz="1088" dirty="0"/>
          </a:p>
        </p:txBody>
      </p:sp>
      <p:sp>
        <p:nvSpPr>
          <p:cNvPr id="26" name="Shape 23"/>
          <p:cNvSpPr/>
          <p:nvPr/>
        </p:nvSpPr>
        <p:spPr>
          <a:xfrm>
            <a:off x="4660952" y="1558759"/>
            <a:ext cx="2748248" cy="354434"/>
          </a:xfrm>
          <a:prstGeom prst="rect">
            <a:avLst/>
          </a:prstGeom>
          <a:solidFill>
            <a:srgbClr val="FFFFFF"/>
          </a:solidFill>
          <a:ln/>
        </p:spPr>
        <p:txBody>
          <a:bodyPr/>
          <a:lstStyle/>
          <a:p>
            <a:endParaRPr lang="ko-KR" altLang="en-US"/>
          </a:p>
        </p:txBody>
      </p:sp>
      <p:sp>
        <p:nvSpPr>
          <p:cNvPr id="27" name="Shape 24"/>
          <p:cNvSpPr/>
          <p:nvPr/>
        </p:nvSpPr>
        <p:spPr>
          <a:xfrm>
            <a:off x="4660952" y="1558759"/>
            <a:ext cx="2748248" cy="9525"/>
          </a:xfrm>
          <a:prstGeom prst="rect">
            <a:avLst/>
          </a:prstGeom>
          <a:solidFill>
            <a:srgbClr val="D3B9A5"/>
          </a:solidFill>
          <a:ln/>
        </p:spPr>
        <p:txBody>
          <a:bodyPr/>
          <a:lstStyle/>
          <a:p>
            <a:endParaRPr lang="ko-KR" altLang="en-US"/>
          </a:p>
        </p:txBody>
      </p:sp>
      <p:sp>
        <p:nvSpPr>
          <p:cNvPr id="28" name="Shape 25"/>
          <p:cNvSpPr/>
          <p:nvPr/>
        </p:nvSpPr>
        <p:spPr>
          <a:xfrm>
            <a:off x="4660952" y="1558759"/>
            <a:ext cx="9525" cy="354434"/>
          </a:xfrm>
          <a:prstGeom prst="rect">
            <a:avLst/>
          </a:prstGeom>
          <a:solidFill>
            <a:srgbClr val="D3B9A5"/>
          </a:solidFill>
          <a:ln/>
        </p:spPr>
        <p:txBody>
          <a:bodyPr/>
          <a:lstStyle/>
          <a:p>
            <a:endParaRPr lang="ko-KR" altLang="en-US"/>
          </a:p>
        </p:txBody>
      </p:sp>
      <p:sp>
        <p:nvSpPr>
          <p:cNvPr id="29" name="Text 26"/>
          <p:cNvSpPr/>
          <p:nvPr/>
        </p:nvSpPr>
        <p:spPr>
          <a:xfrm>
            <a:off x="4682095" y="1592551"/>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새로담는 간편건강보험</a:t>
            </a:r>
            <a:endParaRPr lang="en-US" sz="1088" dirty="0"/>
          </a:p>
        </p:txBody>
      </p:sp>
      <p:sp>
        <p:nvSpPr>
          <p:cNvPr id="30" name="Shape 27"/>
          <p:cNvSpPr/>
          <p:nvPr/>
        </p:nvSpPr>
        <p:spPr>
          <a:xfrm>
            <a:off x="7409200" y="1558759"/>
            <a:ext cx="2748737" cy="354434"/>
          </a:xfrm>
          <a:prstGeom prst="rect">
            <a:avLst/>
          </a:prstGeom>
          <a:solidFill>
            <a:srgbClr val="FFFFFF"/>
          </a:solidFill>
          <a:ln/>
        </p:spPr>
        <p:txBody>
          <a:bodyPr/>
          <a:lstStyle/>
          <a:p>
            <a:endParaRPr lang="ko-KR" altLang="en-US"/>
          </a:p>
        </p:txBody>
      </p:sp>
      <p:sp>
        <p:nvSpPr>
          <p:cNvPr id="31" name="Shape 28"/>
          <p:cNvSpPr/>
          <p:nvPr/>
        </p:nvSpPr>
        <p:spPr>
          <a:xfrm>
            <a:off x="7409200" y="1558759"/>
            <a:ext cx="2748737" cy="9525"/>
          </a:xfrm>
          <a:prstGeom prst="rect">
            <a:avLst/>
          </a:prstGeom>
          <a:solidFill>
            <a:srgbClr val="D3B9A5"/>
          </a:solidFill>
          <a:ln/>
        </p:spPr>
        <p:txBody>
          <a:bodyPr/>
          <a:lstStyle/>
          <a:p>
            <a:endParaRPr lang="ko-KR" altLang="en-US"/>
          </a:p>
        </p:txBody>
      </p:sp>
      <p:sp>
        <p:nvSpPr>
          <p:cNvPr id="32" name="Shape 29"/>
          <p:cNvSpPr/>
          <p:nvPr/>
        </p:nvSpPr>
        <p:spPr>
          <a:xfrm>
            <a:off x="7409200" y="1558759"/>
            <a:ext cx="9525" cy="354434"/>
          </a:xfrm>
          <a:prstGeom prst="rect">
            <a:avLst/>
          </a:prstGeom>
          <a:solidFill>
            <a:srgbClr val="D3B9A5"/>
          </a:solidFill>
          <a:ln/>
        </p:spPr>
        <p:txBody>
          <a:bodyPr/>
          <a:lstStyle/>
          <a:p>
            <a:endParaRPr lang="ko-KR" altLang="en-US"/>
          </a:p>
        </p:txBody>
      </p:sp>
      <p:sp>
        <p:nvSpPr>
          <p:cNvPr id="33" name="Text 30"/>
          <p:cNvSpPr/>
          <p:nvPr/>
        </p:nvSpPr>
        <p:spPr>
          <a:xfrm>
            <a:off x="7430336" y="1592551"/>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다사랑 간편 통합상해보험</a:t>
            </a:r>
            <a:endParaRPr lang="en-US" sz="1088" dirty="0"/>
          </a:p>
        </p:txBody>
      </p:sp>
      <p:sp>
        <p:nvSpPr>
          <p:cNvPr id="34" name="Shape 31"/>
          <p:cNvSpPr/>
          <p:nvPr/>
        </p:nvSpPr>
        <p:spPr>
          <a:xfrm>
            <a:off x="538580" y="1913193"/>
            <a:ext cx="1374124" cy="354434"/>
          </a:xfrm>
          <a:prstGeom prst="rect">
            <a:avLst/>
          </a:prstGeom>
          <a:solidFill>
            <a:srgbClr val="FCF4EE"/>
          </a:solidFill>
          <a:ln/>
        </p:spPr>
        <p:txBody>
          <a:bodyPr/>
          <a:lstStyle/>
          <a:p>
            <a:endParaRPr lang="ko-KR" altLang="en-US"/>
          </a:p>
        </p:txBody>
      </p:sp>
      <p:sp>
        <p:nvSpPr>
          <p:cNvPr id="35" name="Shape 32"/>
          <p:cNvSpPr/>
          <p:nvPr/>
        </p:nvSpPr>
        <p:spPr>
          <a:xfrm>
            <a:off x="538580" y="1913193"/>
            <a:ext cx="1374124" cy="9525"/>
          </a:xfrm>
          <a:prstGeom prst="rect">
            <a:avLst/>
          </a:prstGeom>
          <a:solidFill>
            <a:srgbClr val="D3B9A5"/>
          </a:solidFill>
          <a:ln/>
        </p:spPr>
        <p:txBody>
          <a:bodyPr/>
          <a:lstStyle/>
          <a:p>
            <a:endParaRPr lang="ko-KR" altLang="en-US"/>
          </a:p>
        </p:txBody>
      </p:sp>
      <p:sp>
        <p:nvSpPr>
          <p:cNvPr id="36" name="Text 33"/>
          <p:cNvSpPr/>
          <p:nvPr/>
        </p:nvSpPr>
        <p:spPr>
          <a:xfrm>
            <a:off x="557630" y="1946985"/>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통합재해진단(경증)</a:t>
            </a:r>
            <a:endParaRPr lang="en-US" sz="1088" dirty="0"/>
          </a:p>
        </p:txBody>
      </p:sp>
      <p:sp>
        <p:nvSpPr>
          <p:cNvPr id="37" name="Shape 34"/>
          <p:cNvSpPr/>
          <p:nvPr/>
        </p:nvSpPr>
        <p:spPr>
          <a:xfrm>
            <a:off x="1912704" y="1913193"/>
            <a:ext cx="2748248" cy="354434"/>
          </a:xfrm>
          <a:prstGeom prst="rect">
            <a:avLst/>
          </a:prstGeom>
          <a:solidFill>
            <a:srgbClr val="F8E1D0"/>
          </a:solidFill>
          <a:ln/>
        </p:spPr>
        <p:txBody>
          <a:bodyPr/>
          <a:lstStyle/>
          <a:p>
            <a:endParaRPr lang="ko-KR" altLang="en-US"/>
          </a:p>
        </p:txBody>
      </p:sp>
      <p:sp>
        <p:nvSpPr>
          <p:cNvPr id="38" name="Shape 35"/>
          <p:cNvSpPr/>
          <p:nvPr/>
        </p:nvSpPr>
        <p:spPr>
          <a:xfrm>
            <a:off x="1912704" y="1913193"/>
            <a:ext cx="2748248" cy="9525"/>
          </a:xfrm>
          <a:prstGeom prst="rect">
            <a:avLst/>
          </a:prstGeom>
          <a:solidFill>
            <a:srgbClr val="D3B9A5"/>
          </a:solidFill>
          <a:ln/>
        </p:spPr>
        <p:txBody>
          <a:bodyPr/>
          <a:lstStyle/>
          <a:p>
            <a:endParaRPr lang="ko-KR" altLang="en-US"/>
          </a:p>
        </p:txBody>
      </p:sp>
      <p:sp>
        <p:nvSpPr>
          <p:cNvPr id="39" name="Shape 36"/>
          <p:cNvSpPr/>
          <p:nvPr/>
        </p:nvSpPr>
        <p:spPr>
          <a:xfrm>
            <a:off x="1912704" y="1913193"/>
            <a:ext cx="9525" cy="354434"/>
          </a:xfrm>
          <a:prstGeom prst="rect">
            <a:avLst/>
          </a:prstGeom>
          <a:solidFill>
            <a:srgbClr val="D3B9A5"/>
          </a:solidFill>
          <a:ln/>
        </p:spPr>
        <p:txBody>
          <a:bodyPr/>
          <a:lstStyle/>
          <a:p>
            <a:endParaRPr lang="ko-KR" altLang="en-US"/>
          </a:p>
        </p:txBody>
      </p:sp>
      <p:sp>
        <p:nvSpPr>
          <p:cNvPr id="40" name="Text 37"/>
          <p:cNvSpPr/>
          <p:nvPr/>
        </p:nvSpPr>
        <p:spPr>
          <a:xfrm>
            <a:off x="1933847" y="1946985"/>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3만</a:t>
            </a:r>
            <a:endParaRPr lang="en-US" sz="1088" dirty="0"/>
          </a:p>
        </p:txBody>
      </p:sp>
      <p:sp>
        <p:nvSpPr>
          <p:cNvPr id="41" name="Shape 38"/>
          <p:cNvSpPr/>
          <p:nvPr/>
        </p:nvSpPr>
        <p:spPr>
          <a:xfrm>
            <a:off x="4660952" y="1913193"/>
            <a:ext cx="2748248" cy="354434"/>
          </a:xfrm>
          <a:prstGeom prst="rect">
            <a:avLst/>
          </a:prstGeom>
          <a:solidFill>
            <a:srgbClr val="FFFFFF"/>
          </a:solidFill>
          <a:ln/>
        </p:spPr>
        <p:txBody>
          <a:bodyPr/>
          <a:lstStyle/>
          <a:p>
            <a:endParaRPr lang="ko-KR" altLang="en-US"/>
          </a:p>
        </p:txBody>
      </p:sp>
      <p:sp>
        <p:nvSpPr>
          <p:cNvPr id="42" name="Shape 39"/>
          <p:cNvSpPr/>
          <p:nvPr/>
        </p:nvSpPr>
        <p:spPr>
          <a:xfrm>
            <a:off x="4660952" y="1913193"/>
            <a:ext cx="2748248" cy="9525"/>
          </a:xfrm>
          <a:prstGeom prst="rect">
            <a:avLst/>
          </a:prstGeom>
          <a:solidFill>
            <a:srgbClr val="D3B9A5"/>
          </a:solidFill>
          <a:ln/>
        </p:spPr>
        <p:txBody>
          <a:bodyPr/>
          <a:lstStyle/>
          <a:p>
            <a:endParaRPr lang="ko-KR" altLang="en-US"/>
          </a:p>
        </p:txBody>
      </p:sp>
      <p:sp>
        <p:nvSpPr>
          <p:cNvPr id="43" name="Shape 40"/>
          <p:cNvSpPr/>
          <p:nvPr/>
        </p:nvSpPr>
        <p:spPr>
          <a:xfrm>
            <a:off x="4660952" y="1913193"/>
            <a:ext cx="9525" cy="354434"/>
          </a:xfrm>
          <a:prstGeom prst="rect">
            <a:avLst/>
          </a:prstGeom>
          <a:solidFill>
            <a:srgbClr val="D3B9A5"/>
          </a:solidFill>
          <a:ln/>
        </p:spPr>
        <p:txBody>
          <a:bodyPr/>
          <a:lstStyle/>
          <a:p>
            <a:endParaRPr lang="ko-KR" altLang="en-US"/>
          </a:p>
        </p:txBody>
      </p:sp>
      <p:sp>
        <p:nvSpPr>
          <p:cNvPr id="44" name="Text 41"/>
          <p:cNvSpPr/>
          <p:nvPr/>
        </p:nvSpPr>
        <p:spPr>
          <a:xfrm>
            <a:off x="4682095" y="1946985"/>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3만</a:t>
            </a:r>
            <a:endParaRPr lang="en-US" sz="1088" dirty="0"/>
          </a:p>
        </p:txBody>
      </p:sp>
      <p:sp>
        <p:nvSpPr>
          <p:cNvPr id="45" name="Shape 42"/>
          <p:cNvSpPr/>
          <p:nvPr/>
        </p:nvSpPr>
        <p:spPr>
          <a:xfrm>
            <a:off x="7409200" y="1913193"/>
            <a:ext cx="2748737" cy="354434"/>
          </a:xfrm>
          <a:prstGeom prst="rect">
            <a:avLst/>
          </a:prstGeom>
          <a:solidFill>
            <a:srgbClr val="FFFFFF"/>
          </a:solidFill>
          <a:ln/>
        </p:spPr>
        <p:txBody>
          <a:bodyPr/>
          <a:lstStyle/>
          <a:p>
            <a:endParaRPr lang="ko-KR" altLang="en-US"/>
          </a:p>
        </p:txBody>
      </p:sp>
      <p:sp>
        <p:nvSpPr>
          <p:cNvPr id="46" name="Shape 43"/>
          <p:cNvSpPr/>
          <p:nvPr/>
        </p:nvSpPr>
        <p:spPr>
          <a:xfrm>
            <a:off x="7409200" y="1913193"/>
            <a:ext cx="2748737" cy="9525"/>
          </a:xfrm>
          <a:prstGeom prst="rect">
            <a:avLst/>
          </a:prstGeom>
          <a:solidFill>
            <a:srgbClr val="D3B9A5"/>
          </a:solidFill>
          <a:ln/>
        </p:spPr>
        <p:txBody>
          <a:bodyPr/>
          <a:lstStyle/>
          <a:p>
            <a:endParaRPr lang="ko-KR" altLang="en-US"/>
          </a:p>
        </p:txBody>
      </p:sp>
      <p:sp>
        <p:nvSpPr>
          <p:cNvPr id="47" name="Shape 44"/>
          <p:cNvSpPr/>
          <p:nvPr/>
        </p:nvSpPr>
        <p:spPr>
          <a:xfrm>
            <a:off x="7409200" y="1913193"/>
            <a:ext cx="9525" cy="354434"/>
          </a:xfrm>
          <a:prstGeom prst="rect">
            <a:avLst/>
          </a:prstGeom>
          <a:solidFill>
            <a:srgbClr val="D3B9A5"/>
          </a:solidFill>
          <a:ln/>
        </p:spPr>
        <p:txBody>
          <a:bodyPr/>
          <a:lstStyle/>
          <a:p>
            <a:endParaRPr lang="ko-KR" altLang="en-US"/>
          </a:p>
        </p:txBody>
      </p:sp>
      <p:sp>
        <p:nvSpPr>
          <p:cNvPr id="48" name="Text 45"/>
          <p:cNvSpPr/>
          <p:nvPr/>
        </p:nvSpPr>
        <p:spPr>
          <a:xfrm>
            <a:off x="7430336" y="1946985"/>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3만</a:t>
            </a:r>
            <a:endParaRPr lang="en-US" sz="1088" dirty="0"/>
          </a:p>
        </p:txBody>
      </p:sp>
      <p:sp>
        <p:nvSpPr>
          <p:cNvPr id="49" name="Shape 46"/>
          <p:cNvSpPr/>
          <p:nvPr/>
        </p:nvSpPr>
        <p:spPr>
          <a:xfrm>
            <a:off x="538580" y="2267627"/>
            <a:ext cx="1374124" cy="354434"/>
          </a:xfrm>
          <a:prstGeom prst="rect">
            <a:avLst/>
          </a:prstGeom>
          <a:solidFill>
            <a:srgbClr val="FCF4EE"/>
          </a:solidFill>
          <a:ln/>
        </p:spPr>
        <p:txBody>
          <a:bodyPr/>
          <a:lstStyle/>
          <a:p>
            <a:endParaRPr lang="ko-KR" altLang="en-US"/>
          </a:p>
        </p:txBody>
      </p:sp>
      <p:sp>
        <p:nvSpPr>
          <p:cNvPr id="50" name="Shape 47"/>
          <p:cNvSpPr/>
          <p:nvPr/>
        </p:nvSpPr>
        <p:spPr>
          <a:xfrm>
            <a:off x="538580" y="2267627"/>
            <a:ext cx="1374124" cy="9525"/>
          </a:xfrm>
          <a:prstGeom prst="rect">
            <a:avLst/>
          </a:prstGeom>
          <a:solidFill>
            <a:srgbClr val="D3B9A5"/>
          </a:solidFill>
          <a:ln/>
        </p:spPr>
        <p:txBody>
          <a:bodyPr/>
          <a:lstStyle/>
          <a:p>
            <a:endParaRPr lang="ko-KR" altLang="en-US"/>
          </a:p>
        </p:txBody>
      </p:sp>
      <p:sp>
        <p:nvSpPr>
          <p:cNvPr id="51" name="Text 48"/>
          <p:cNvSpPr/>
          <p:nvPr/>
        </p:nvSpPr>
        <p:spPr>
          <a:xfrm>
            <a:off x="557630" y="2301419"/>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통합재해진단(중등증)</a:t>
            </a:r>
            <a:endParaRPr lang="en-US" sz="1088" dirty="0"/>
          </a:p>
        </p:txBody>
      </p:sp>
      <p:sp>
        <p:nvSpPr>
          <p:cNvPr id="52" name="Shape 49"/>
          <p:cNvSpPr/>
          <p:nvPr/>
        </p:nvSpPr>
        <p:spPr>
          <a:xfrm>
            <a:off x="1912704" y="2267627"/>
            <a:ext cx="2748248" cy="354434"/>
          </a:xfrm>
          <a:prstGeom prst="rect">
            <a:avLst/>
          </a:prstGeom>
          <a:solidFill>
            <a:srgbClr val="F8E1D0"/>
          </a:solidFill>
          <a:ln/>
        </p:spPr>
        <p:txBody>
          <a:bodyPr/>
          <a:lstStyle/>
          <a:p>
            <a:endParaRPr lang="ko-KR" altLang="en-US"/>
          </a:p>
        </p:txBody>
      </p:sp>
      <p:sp>
        <p:nvSpPr>
          <p:cNvPr id="53" name="Shape 50"/>
          <p:cNvSpPr/>
          <p:nvPr/>
        </p:nvSpPr>
        <p:spPr>
          <a:xfrm>
            <a:off x="1912704" y="2267627"/>
            <a:ext cx="2748248" cy="9525"/>
          </a:xfrm>
          <a:prstGeom prst="rect">
            <a:avLst/>
          </a:prstGeom>
          <a:solidFill>
            <a:srgbClr val="D3B9A5"/>
          </a:solidFill>
          <a:ln/>
        </p:spPr>
        <p:txBody>
          <a:bodyPr/>
          <a:lstStyle/>
          <a:p>
            <a:endParaRPr lang="ko-KR" altLang="en-US"/>
          </a:p>
        </p:txBody>
      </p:sp>
      <p:sp>
        <p:nvSpPr>
          <p:cNvPr id="54" name="Shape 51"/>
          <p:cNvSpPr/>
          <p:nvPr/>
        </p:nvSpPr>
        <p:spPr>
          <a:xfrm>
            <a:off x="1912704" y="2267627"/>
            <a:ext cx="9525" cy="354434"/>
          </a:xfrm>
          <a:prstGeom prst="rect">
            <a:avLst/>
          </a:prstGeom>
          <a:solidFill>
            <a:srgbClr val="D3B9A5"/>
          </a:solidFill>
          <a:ln/>
        </p:spPr>
        <p:txBody>
          <a:bodyPr/>
          <a:lstStyle/>
          <a:p>
            <a:endParaRPr lang="ko-KR" altLang="en-US"/>
          </a:p>
        </p:txBody>
      </p:sp>
      <p:sp>
        <p:nvSpPr>
          <p:cNvPr id="55" name="Text 52"/>
          <p:cNvSpPr/>
          <p:nvPr/>
        </p:nvSpPr>
        <p:spPr>
          <a:xfrm>
            <a:off x="1933847" y="2301419"/>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30만</a:t>
            </a:r>
            <a:endParaRPr lang="en-US" sz="1088" dirty="0"/>
          </a:p>
        </p:txBody>
      </p:sp>
      <p:sp>
        <p:nvSpPr>
          <p:cNvPr id="56" name="Shape 53"/>
          <p:cNvSpPr/>
          <p:nvPr/>
        </p:nvSpPr>
        <p:spPr>
          <a:xfrm>
            <a:off x="4660952" y="2267627"/>
            <a:ext cx="2748248" cy="354434"/>
          </a:xfrm>
          <a:prstGeom prst="rect">
            <a:avLst/>
          </a:prstGeom>
          <a:solidFill>
            <a:srgbClr val="FFFFFF"/>
          </a:solidFill>
          <a:ln/>
        </p:spPr>
        <p:txBody>
          <a:bodyPr/>
          <a:lstStyle/>
          <a:p>
            <a:endParaRPr lang="ko-KR" altLang="en-US"/>
          </a:p>
        </p:txBody>
      </p:sp>
      <p:sp>
        <p:nvSpPr>
          <p:cNvPr id="57" name="Shape 54"/>
          <p:cNvSpPr/>
          <p:nvPr/>
        </p:nvSpPr>
        <p:spPr>
          <a:xfrm>
            <a:off x="4660952" y="2267627"/>
            <a:ext cx="2748248" cy="9525"/>
          </a:xfrm>
          <a:prstGeom prst="rect">
            <a:avLst/>
          </a:prstGeom>
          <a:solidFill>
            <a:srgbClr val="D3B9A5"/>
          </a:solidFill>
          <a:ln/>
        </p:spPr>
        <p:txBody>
          <a:bodyPr/>
          <a:lstStyle/>
          <a:p>
            <a:endParaRPr lang="ko-KR" altLang="en-US"/>
          </a:p>
        </p:txBody>
      </p:sp>
      <p:sp>
        <p:nvSpPr>
          <p:cNvPr id="58" name="Shape 55"/>
          <p:cNvSpPr/>
          <p:nvPr/>
        </p:nvSpPr>
        <p:spPr>
          <a:xfrm>
            <a:off x="4660952" y="2267627"/>
            <a:ext cx="9525" cy="354434"/>
          </a:xfrm>
          <a:prstGeom prst="rect">
            <a:avLst/>
          </a:prstGeom>
          <a:solidFill>
            <a:srgbClr val="D3B9A5"/>
          </a:solidFill>
          <a:ln/>
        </p:spPr>
        <p:txBody>
          <a:bodyPr/>
          <a:lstStyle/>
          <a:p>
            <a:endParaRPr lang="ko-KR" altLang="en-US"/>
          </a:p>
        </p:txBody>
      </p:sp>
      <p:sp>
        <p:nvSpPr>
          <p:cNvPr id="59" name="Text 56"/>
          <p:cNvSpPr/>
          <p:nvPr/>
        </p:nvSpPr>
        <p:spPr>
          <a:xfrm>
            <a:off x="4682095" y="2301419"/>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30만</a:t>
            </a:r>
            <a:endParaRPr lang="en-US" sz="1088" dirty="0"/>
          </a:p>
        </p:txBody>
      </p:sp>
      <p:sp>
        <p:nvSpPr>
          <p:cNvPr id="60" name="Shape 57"/>
          <p:cNvSpPr/>
          <p:nvPr/>
        </p:nvSpPr>
        <p:spPr>
          <a:xfrm>
            <a:off x="7409200" y="2267627"/>
            <a:ext cx="2748737" cy="354434"/>
          </a:xfrm>
          <a:prstGeom prst="rect">
            <a:avLst/>
          </a:prstGeom>
          <a:solidFill>
            <a:srgbClr val="FFFFFF"/>
          </a:solidFill>
          <a:ln/>
        </p:spPr>
        <p:txBody>
          <a:bodyPr/>
          <a:lstStyle/>
          <a:p>
            <a:endParaRPr lang="ko-KR" altLang="en-US"/>
          </a:p>
        </p:txBody>
      </p:sp>
      <p:sp>
        <p:nvSpPr>
          <p:cNvPr id="61" name="Shape 58"/>
          <p:cNvSpPr/>
          <p:nvPr/>
        </p:nvSpPr>
        <p:spPr>
          <a:xfrm>
            <a:off x="7409200" y="2267627"/>
            <a:ext cx="2748737" cy="9525"/>
          </a:xfrm>
          <a:prstGeom prst="rect">
            <a:avLst/>
          </a:prstGeom>
          <a:solidFill>
            <a:srgbClr val="D3B9A5"/>
          </a:solidFill>
          <a:ln/>
        </p:spPr>
        <p:txBody>
          <a:bodyPr/>
          <a:lstStyle/>
          <a:p>
            <a:endParaRPr lang="ko-KR" altLang="en-US"/>
          </a:p>
        </p:txBody>
      </p:sp>
      <p:sp>
        <p:nvSpPr>
          <p:cNvPr id="62" name="Shape 59"/>
          <p:cNvSpPr/>
          <p:nvPr/>
        </p:nvSpPr>
        <p:spPr>
          <a:xfrm>
            <a:off x="7409200" y="2267627"/>
            <a:ext cx="9525" cy="354434"/>
          </a:xfrm>
          <a:prstGeom prst="rect">
            <a:avLst/>
          </a:prstGeom>
          <a:solidFill>
            <a:srgbClr val="D3B9A5"/>
          </a:solidFill>
          <a:ln/>
        </p:spPr>
        <p:txBody>
          <a:bodyPr/>
          <a:lstStyle/>
          <a:p>
            <a:endParaRPr lang="ko-KR" altLang="en-US"/>
          </a:p>
        </p:txBody>
      </p:sp>
      <p:sp>
        <p:nvSpPr>
          <p:cNvPr id="63" name="Text 60"/>
          <p:cNvSpPr/>
          <p:nvPr/>
        </p:nvSpPr>
        <p:spPr>
          <a:xfrm>
            <a:off x="7430336" y="2301419"/>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30만</a:t>
            </a:r>
            <a:endParaRPr lang="en-US" sz="1088" dirty="0"/>
          </a:p>
        </p:txBody>
      </p:sp>
      <p:sp>
        <p:nvSpPr>
          <p:cNvPr id="64" name="Shape 61"/>
          <p:cNvSpPr/>
          <p:nvPr/>
        </p:nvSpPr>
        <p:spPr>
          <a:xfrm>
            <a:off x="538580" y="2622061"/>
            <a:ext cx="1374124" cy="354434"/>
          </a:xfrm>
          <a:prstGeom prst="rect">
            <a:avLst/>
          </a:prstGeom>
          <a:solidFill>
            <a:srgbClr val="FCF4EE"/>
          </a:solidFill>
          <a:ln/>
        </p:spPr>
        <p:txBody>
          <a:bodyPr/>
          <a:lstStyle/>
          <a:p>
            <a:endParaRPr lang="ko-KR" altLang="en-US"/>
          </a:p>
        </p:txBody>
      </p:sp>
      <p:sp>
        <p:nvSpPr>
          <p:cNvPr id="65" name="Shape 62"/>
          <p:cNvSpPr/>
          <p:nvPr/>
        </p:nvSpPr>
        <p:spPr>
          <a:xfrm>
            <a:off x="538580" y="2622061"/>
            <a:ext cx="1374124" cy="9525"/>
          </a:xfrm>
          <a:prstGeom prst="rect">
            <a:avLst/>
          </a:prstGeom>
          <a:solidFill>
            <a:srgbClr val="D3B9A5"/>
          </a:solidFill>
          <a:ln/>
        </p:spPr>
        <p:txBody>
          <a:bodyPr/>
          <a:lstStyle/>
          <a:p>
            <a:endParaRPr lang="ko-KR" altLang="en-US"/>
          </a:p>
        </p:txBody>
      </p:sp>
      <p:sp>
        <p:nvSpPr>
          <p:cNvPr id="66" name="Text 63"/>
          <p:cNvSpPr/>
          <p:nvPr/>
        </p:nvSpPr>
        <p:spPr>
          <a:xfrm>
            <a:off x="557630" y="2655853"/>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통합재해진단(중증)</a:t>
            </a:r>
            <a:endParaRPr lang="en-US" sz="1088" dirty="0"/>
          </a:p>
        </p:txBody>
      </p:sp>
      <p:sp>
        <p:nvSpPr>
          <p:cNvPr id="67" name="Shape 64"/>
          <p:cNvSpPr/>
          <p:nvPr/>
        </p:nvSpPr>
        <p:spPr>
          <a:xfrm>
            <a:off x="1912704" y="2622061"/>
            <a:ext cx="2748248" cy="354434"/>
          </a:xfrm>
          <a:prstGeom prst="rect">
            <a:avLst/>
          </a:prstGeom>
          <a:solidFill>
            <a:srgbClr val="F8E1D0"/>
          </a:solidFill>
          <a:ln/>
        </p:spPr>
        <p:txBody>
          <a:bodyPr/>
          <a:lstStyle/>
          <a:p>
            <a:endParaRPr lang="ko-KR" altLang="en-US"/>
          </a:p>
        </p:txBody>
      </p:sp>
      <p:sp>
        <p:nvSpPr>
          <p:cNvPr id="68" name="Shape 65"/>
          <p:cNvSpPr/>
          <p:nvPr/>
        </p:nvSpPr>
        <p:spPr>
          <a:xfrm>
            <a:off x="1912704" y="2622061"/>
            <a:ext cx="2748248" cy="9525"/>
          </a:xfrm>
          <a:prstGeom prst="rect">
            <a:avLst/>
          </a:prstGeom>
          <a:solidFill>
            <a:srgbClr val="D3B9A5"/>
          </a:solidFill>
          <a:ln/>
        </p:spPr>
        <p:txBody>
          <a:bodyPr/>
          <a:lstStyle/>
          <a:p>
            <a:endParaRPr lang="ko-KR" altLang="en-US"/>
          </a:p>
        </p:txBody>
      </p:sp>
      <p:sp>
        <p:nvSpPr>
          <p:cNvPr id="69" name="Shape 66"/>
          <p:cNvSpPr/>
          <p:nvPr/>
        </p:nvSpPr>
        <p:spPr>
          <a:xfrm>
            <a:off x="1912704" y="2622061"/>
            <a:ext cx="9525" cy="354434"/>
          </a:xfrm>
          <a:prstGeom prst="rect">
            <a:avLst/>
          </a:prstGeom>
          <a:solidFill>
            <a:srgbClr val="D3B9A5"/>
          </a:solidFill>
          <a:ln/>
        </p:spPr>
        <p:txBody>
          <a:bodyPr/>
          <a:lstStyle/>
          <a:p>
            <a:endParaRPr lang="ko-KR" altLang="en-US"/>
          </a:p>
        </p:txBody>
      </p:sp>
      <p:sp>
        <p:nvSpPr>
          <p:cNvPr id="70" name="Text 67"/>
          <p:cNvSpPr/>
          <p:nvPr/>
        </p:nvSpPr>
        <p:spPr>
          <a:xfrm>
            <a:off x="1933847" y="2655853"/>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500만</a:t>
            </a:r>
            <a:endParaRPr lang="en-US" sz="1088" dirty="0"/>
          </a:p>
        </p:txBody>
      </p:sp>
      <p:sp>
        <p:nvSpPr>
          <p:cNvPr id="71" name="Shape 68"/>
          <p:cNvSpPr/>
          <p:nvPr/>
        </p:nvSpPr>
        <p:spPr>
          <a:xfrm>
            <a:off x="4660952" y="2622061"/>
            <a:ext cx="2748248" cy="354434"/>
          </a:xfrm>
          <a:prstGeom prst="rect">
            <a:avLst/>
          </a:prstGeom>
          <a:solidFill>
            <a:srgbClr val="FFFFFF"/>
          </a:solidFill>
          <a:ln/>
        </p:spPr>
        <p:txBody>
          <a:bodyPr/>
          <a:lstStyle/>
          <a:p>
            <a:endParaRPr lang="ko-KR" altLang="en-US"/>
          </a:p>
        </p:txBody>
      </p:sp>
      <p:sp>
        <p:nvSpPr>
          <p:cNvPr id="72" name="Shape 69"/>
          <p:cNvSpPr/>
          <p:nvPr/>
        </p:nvSpPr>
        <p:spPr>
          <a:xfrm>
            <a:off x="4660952" y="2622061"/>
            <a:ext cx="2748248" cy="9525"/>
          </a:xfrm>
          <a:prstGeom prst="rect">
            <a:avLst/>
          </a:prstGeom>
          <a:solidFill>
            <a:srgbClr val="D3B9A5"/>
          </a:solidFill>
          <a:ln/>
        </p:spPr>
        <p:txBody>
          <a:bodyPr/>
          <a:lstStyle/>
          <a:p>
            <a:endParaRPr lang="ko-KR" altLang="en-US"/>
          </a:p>
        </p:txBody>
      </p:sp>
      <p:sp>
        <p:nvSpPr>
          <p:cNvPr id="73" name="Shape 70"/>
          <p:cNvSpPr/>
          <p:nvPr/>
        </p:nvSpPr>
        <p:spPr>
          <a:xfrm>
            <a:off x="4660952" y="2622061"/>
            <a:ext cx="9525" cy="354434"/>
          </a:xfrm>
          <a:prstGeom prst="rect">
            <a:avLst/>
          </a:prstGeom>
          <a:solidFill>
            <a:srgbClr val="D3B9A5"/>
          </a:solidFill>
          <a:ln/>
        </p:spPr>
        <p:txBody>
          <a:bodyPr/>
          <a:lstStyle/>
          <a:p>
            <a:endParaRPr lang="ko-KR" altLang="en-US"/>
          </a:p>
        </p:txBody>
      </p:sp>
      <p:sp>
        <p:nvSpPr>
          <p:cNvPr id="74" name="Text 71"/>
          <p:cNvSpPr/>
          <p:nvPr/>
        </p:nvSpPr>
        <p:spPr>
          <a:xfrm>
            <a:off x="4682095" y="2655853"/>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300만</a:t>
            </a:r>
            <a:endParaRPr lang="en-US" sz="1088" dirty="0"/>
          </a:p>
        </p:txBody>
      </p:sp>
      <p:sp>
        <p:nvSpPr>
          <p:cNvPr id="75" name="Shape 72"/>
          <p:cNvSpPr/>
          <p:nvPr/>
        </p:nvSpPr>
        <p:spPr>
          <a:xfrm>
            <a:off x="7409200" y="2622061"/>
            <a:ext cx="2748737" cy="354434"/>
          </a:xfrm>
          <a:prstGeom prst="rect">
            <a:avLst/>
          </a:prstGeom>
          <a:solidFill>
            <a:srgbClr val="FFFFFF"/>
          </a:solidFill>
          <a:ln/>
        </p:spPr>
        <p:txBody>
          <a:bodyPr/>
          <a:lstStyle/>
          <a:p>
            <a:endParaRPr lang="ko-KR" altLang="en-US"/>
          </a:p>
        </p:txBody>
      </p:sp>
      <p:sp>
        <p:nvSpPr>
          <p:cNvPr id="76" name="Shape 73"/>
          <p:cNvSpPr/>
          <p:nvPr/>
        </p:nvSpPr>
        <p:spPr>
          <a:xfrm>
            <a:off x="7409200" y="2622061"/>
            <a:ext cx="2748737" cy="9525"/>
          </a:xfrm>
          <a:prstGeom prst="rect">
            <a:avLst/>
          </a:prstGeom>
          <a:solidFill>
            <a:srgbClr val="D3B9A5"/>
          </a:solidFill>
          <a:ln/>
        </p:spPr>
        <p:txBody>
          <a:bodyPr/>
          <a:lstStyle/>
          <a:p>
            <a:endParaRPr lang="ko-KR" altLang="en-US"/>
          </a:p>
        </p:txBody>
      </p:sp>
      <p:sp>
        <p:nvSpPr>
          <p:cNvPr id="77" name="Shape 74"/>
          <p:cNvSpPr/>
          <p:nvPr/>
        </p:nvSpPr>
        <p:spPr>
          <a:xfrm>
            <a:off x="7409200" y="2622061"/>
            <a:ext cx="9525" cy="354434"/>
          </a:xfrm>
          <a:prstGeom prst="rect">
            <a:avLst/>
          </a:prstGeom>
          <a:solidFill>
            <a:srgbClr val="D3B9A5"/>
          </a:solidFill>
          <a:ln/>
        </p:spPr>
        <p:txBody>
          <a:bodyPr/>
          <a:lstStyle/>
          <a:p>
            <a:endParaRPr lang="ko-KR" altLang="en-US"/>
          </a:p>
        </p:txBody>
      </p:sp>
      <p:sp>
        <p:nvSpPr>
          <p:cNvPr id="78" name="Text 75"/>
          <p:cNvSpPr/>
          <p:nvPr/>
        </p:nvSpPr>
        <p:spPr>
          <a:xfrm>
            <a:off x="7430336" y="2655853"/>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600만</a:t>
            </a:r>
            <a:endParaRPr lang="en-US" sz="1088" dirty="0"/>
          </a:p>
        </p:txBody>
      </p:sp>
      <p:sp>
        <p:nvSpPr>
          <p:cNvPr id="79" name="Shape 76"/>
          <p:cNvSpPr/>
          <p:nvPr/>
        </p:nvSpPr>
        <p:spPr>
          <a:xfrm>
            <a:off x="538580" y="2976494"/>
            <a:ext cx="1374124" cy="354434"/>
          </a:xfrm>
          <a:prstGeom prst="rect">
            <a:avLst/>
          </a:prstGeom>
          <a:solidFill>
            <a:srgbClr val="FCF4EE"/>
          </a:solidFill>
          <a:ln/>
        </p:spPr>
        <p:txBody>
          <a:bodyPr/>
          <a:lstStyle/>
          <a:p>
            <a:endParaRPr lang="ko-KR" altLang="en-US"/>
          </a:p>
        </p:txBody>
      </p:sp>
      <p:sp>
        <p:nvSpPr>
          <p:cNvPr id="80" name="Shape 77"/>
          <p:cNvSpPr/>
          <p:nvPr/>
        </p:nvSpPr>
        <p:spPr>
          <a:xfrm>
            <a:off x="538580" y="2976494"/>
            <a:ext cx="1374124" cy="9525"/>
          </a:xfrm>
          <a:prstGeom prst="rect">
            <a:avLst/>
          </a:prstGeom>
          <a:solidFill>
            <a:srgbClr val="D3B9A5"/>
          </a:solidFill>
          <a:ln/>
        </p:spPr>
        <p:txBody>
          <a:bodyPr/>
          <a:lstStyle/>
          <a:p>
            <a:endParaRPr lang="ko-KR" altLang="en-US"/>
          </a:p>
        </p:txBody>
      </p:sp>
      <p:sp>
        <p:nvSpPr>
          <p:cNvPr id="81" name="Text 78"/>
          <p:cNvSpPr/>
          <p:nvPr/>
        </p:nvSpPr>
        <p:spPr>
          <a:xfrm>
            <a:off x="557630" y="3010287"/>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재해골절진단</a:t>
            </a:r>
            <a:endParaRPr lang="en-US" sz="1088" dirty="0"/>
          </a:p>
        </p:txBody>
      </p:sp>
      <p:sp>
        <p:nvSpPr>
          <p:cNvPr id="82" name="Shape 79"/>
          <p:cNvSpPr/>
          <p:nvPr/>
        </p:nvSpPr>
        <p:spPr>
          <a:xfrm>
            <a:off x="1912704" y="2976494"/>
            <a:ext cx="2748248" cy="354434"/>
          </a:xfrm>
          <a:prstGeom prst="rect">
            <a:avLst/>
          </a:prstGeom>
          <a:solidFill>
            <a:srgbClr val="F8E1D0"/>
          </a:solidFill>
          <a:ln/>
        </p:spPr>
        <p:txBody>
          <a:bodyPr/>
          <a:lstStyle/>
          <a:p>
            <a:endParaRPr lang="ko-KR" altLang="en-US"/>
          </a:p>
        </p:txBody>
      </p:sp>
      <p:sp>
        <p:nvSpPr>
          <p:cNvPr id="83" name="Shape 80"/>
          <p:cNvSpPr/>
          <p:nvPr/>
        </p:nvSpPr>
        <p:spPr>
          <a:xfrm>
            <a:off x="1912704" y="2976494"/>
            <a:ext cx="2748248" cy="9525"/>
          </a:xfrm>
          <a:prstGeom prst="rect">
            <a:avLst/>
          </a:prstGeom>
          <a:solidFill>
            <a:srgbClr val="D3B9A5"/>
          </a:solidFill>
          <a:ln/>
        </p:spPr>
        <p:txBody>
          <a:bodyPr/>
          <a:lstStyle/>
          <a:p>
            <a:endParaRPr lang="ko-KR" altLang="en-US"/>
          </a:p>
        </p:txBody>
      </p:sp>
      <p:sp>
        <p:nvSpPr>
          <p:cNvPr id="84" name="Shape 81"/>
          <p:cNvSpPr/>
          <p:nvPr/>
        </p:nvSpPr>
        <p:spPr>
          <a:xfrm>
            <a:off x="1912704" y="2976494"/>
            <a:ext cx="9525" cy="354434"/>
          </a:xfrm>
          <a:prstGeom prst="rect">
            <a:avLst/>
          </a:prstGeom>
          <a:solidFill>
            <a:srgbClr val="D3B9A5"/>
          </a:solidFill>
          <a:ln/>
        </p:spPr>
        <p:txBody>
          <a:bodyPr/>
          <a:lstStyle/>
          <a:p>
            <a:endParaRPr lang="ko-KR" altLang="en-US"/>
          </a:p>
        </p:txBody>
      </p:sp>
      <p:sp>
        <p:nvSpPr>
          <p:cNvPr id="85" name="Text 82"/>
          <p:cNvSpPr/>
          <p:nvPr/>
        </p:nvSpPr>
        <p:spPr>
          <a:xfrm>
            <a:off x="1933847" y="3010287"/>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20만</a:t>
            </a:r>
            <a:endParaRPr lang="en-US" sz="1088" dirty="0"/>
          </a:p>
        </p:txBody>
      </p:sp>
      <p:sp>
        <p:nvSpPr>
          <p:cNvPr id="86" name="Shape 83"/>
          <p:cNvSpPr/>
          <p:nvPr/>
        </p:nvSpPr>
        <p:spPr>
          <a:xfrm>
            <a:off x="4660952" y="2976494"/>
            <a:ext cx="2748248" cy="354434"/>
          </a:xfrm>
          <a:prstGeom prst="rect">
            <a:avLst/>
          </a:prstGeom>
          <a:solidFill>
            <a:srgbClr val="FFFFFF"/>
          </a:solidFill>
          <a:ln/>
        </p:spPr>
        <p:txBody>
          <a:bodyPr/>
          <a:lstStyle/>
          <a:p>
            <a:endParaRPr lang="ko-KR" altLang="en-US"/>
          </a:p>
        </p:txBody>
      </p:sp>
      <p:sp>
        <p:nvSpPr>
          <p:cNvPr id="87" name="Shape 84"/>
          <p:cNvSpPr/>
          <p:nvPr/>
        </p:nvSpPr>
        <p:spPr>
          <a:xfrm>
            <a:off x="4660952" y="2976494"/>
            <a:ext cx="2748248" cy="9525"/>
          </a:xfrm>
          <a:prstGeom prst="rect">
            <a:avLst/>
          </a:prstGeom>
          <a:solidFill>
            <a:srgbClr val="D3B9A5"/>
          </a:solidFill>
          <a:ln/>
        </p:spPr>
        <p:txBody>
          <a:bodyPr/>
          <a:lstStyle/>
          <a:p>
            <a:endParaRPr lang="ko-KR" altLang="en-US"/>
          </a:p>
        </p:txBody>
      </p:sp>
      <p:sp>
        <p:nvSpPr>
          <p:cNvPr id="88" name="Shape 85"/>
          <p:cNvSpPr/>
          <p:nvPr/>
        </p:nvSpPr>
        <p:spPr>
          <a:xfrm>
            <a:off x="4660952" y="2976494"/>
            <a:ext cx="9525" cy="354434"/>
          </a:xfrm>
          <a:prstGeom prst="rect">
            <a:avLst/>
          </a:prstGeom>
          <a:solidFill>
            <a:srgbClr val="D3B9A5"/>
          </a:solidFill>
          <a:ln/>
        </p:spPr>
        <p:txBody>
          <a:bodyPr/>
          <a:lstStyle/>
          <a:p>
            <a:endParaRPr lang="ko-KR" altLang="en-US"/>
          </a:p>
        </p:txBody>
      </p:sp>
      <p:sp>
        <p:nvSpPr>
          <p:cNvPr id="89" name="Text 86"/>
          <p:cNvSpPr/>
          <p:nvPr/>
        </p:nvSpPr>
        <p:spPr>
          <a:xfrm>
            <a:off x="4682095" y="3010287"/>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30만</a:t>
            </a:r>
            <a:endParaRPr lang="en-US" sz="1088" dirty="0"/>
          </a:p>
        </p:txBody>
      </p:sp>
      <p:sp>
        <p:nvSpPr>
          <p:cNvPr id="90" name="Shape 87"/>
          <p:cNvSpPr/>
          <p:nvPr/>
        </p:nvSpPr>
        <p:spPr>
          <a:xfrm>
            <a:off x="7409200" y="2976494"/>
            <a:ext cx="2748737" cy="354434"/>
          </a:xfrm>
          <a:prstGeom prst="rect">
            <a:avLst/>
          </a:prstGeom>
          <a:solidFill>
            <a:srgbClr val="FFFFFF"/>
          </a:solidFill>
          <a:ln/>
        </p:spPr>
        <p:txBody>
          <a:bodyPr/>
          <a:lstStyle/>
          <a:p>
            <a:endParaRPr lang="ko-KR" altLang="en-US"/>
          </a:p>
        </p:txBody>
      </p:sp>
      <p:sp>
        <p:nvSpPr>
          <p:cNvPr id="91" name="Shape 88"/>
          <p:cNvSpPr/>
          <p:nvPr/>
        </p:nvSpPr>
        <p:spPr>
          <a:xfrm>
            <a:off x="7409200" y="2976494"/>
            <a:ext cx="2748737" cy="9525"/>
          </a:xfrm>
          <a:prstGeom prst="rect">
            <a:avLst/>
          </a:prstGeom>
          <a:solidFill>
            <a:srgbClr val="D3B9A5"/>
          </a:solidFill>
          <a:ln/>
        </p:spPr>
        <p:txBody>
          <a:bodyPr/>
          <a:lstStyle/>
          <a:p>
            <a:endParaRPr lang="ko-KR" altLang="en-US"/>
          </a:p>
        </p:txBody>
      </p:sp>
      <p:sp>
        <p:nvSpPr>
          <p:cNvPr id="92" name="Shape 89"/>
          <p:cNvSpPr/>
          <p:nvPr/>
        </p:nvSpPr>
        <p:spPr>
          <a:xfrm>
            <a:off x="7409200" y="2976494"/>
            <a:ext cx="9525" cy="354434"/>
          </a:xfrm>
          <a:prstGeom prst="rect">
            <a:avLst/>
          </a:prstGeom>
          <a:solidFill>
            <a:srgbClr val="D3B9A5"/>
          </a:solidFill>
          <a:ln/>
        </p:spPr>
        <p:txBody>
          <a:bodyPr/>
          <a:lstStyle/>
          <a:p>
            <a:endParaRPr lang="ko-KR" altLang="en-US"/>
          </a:p>
        </p:txBody>
      </p:sp>
      <p:sp>
        <p:nvSpPr>
          <p:cNvPr id="93" name="Text 90"/>
          <p:cNvSpPr/>
          <p:nvPr/>
        </p:nvSpPr>
        <p:spPr>
          <a:xfrm>
            <a:off x="7430336" y="3010287"/>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20만</a:t>
            </a:r>
            <a:endParaRPr lang="en-US" sz="1088" dirty="0"/>
          </a:p>
        </p:txBody>
      </p:sp>
      <p:sp>
        <p:nvSpPr>
          <p:cNvPr id="94" name="Shape 91"/>
          <p:cNvSpPr/>
          <p:nvPr/>
        </p:nvSpPr>
        <p:spPr>
          <a:xfrm>
            <a:off x="538580" y="3330928"/>
            <a:ext cx="1374124" cy="354434"/>
          </a:xfrm>
          <a:prstGeom prst="rect">
            <a:avLst/>
          </a:prstGeom>
          <a:solidFill>
            <a:srgbClr val="FCF4EE"/>
          </a:solidFill>
          <a:ln/>
        </p:spPr>
        <p:txBody>
          <a:bodyPr/>
          <a:lstStyle/>
          <a:p>
            <a:endParaRPr lang="ko-KR" altLang="en-US"/>
          </a:p>
        </p:txBody>
      </p:sp>
      <p:sp>
        <p:nvSpPr>
          <p:cNvPr id="95" name="Shape 92"/>
          <p:cNvSpPr/>
          <p:nvPr/>
        </p:nvSpPr>
        <p:spPr>
          <a:xfrm>
            <a:off x="538580" y="3330928"/>
            <a:ext cx="1374124" cy="9525"/>
          </a:xfrm>
          <a:prstGeom prst="rect">
            <a:avLst/>
          </a:prstGeom>
          <a:solidFill>
            <a:srgbClr val="D3B9A5"/>
          </a:solidFill>
          <a:ln/>
        </p:spPr>
        <p:txBody>
          <a:bodyPr/>
          <a:lstStyle/>
          <a:p>
            <a:endParaRPr lang="ko-KR" altLang="en-US"/>
          </a:p>
        </p:txBody>
      </p:sp>
      <p:sp>
        <p:nvSpPr>
          <p:cNvPr id="96" name="Text 93"/>
          <p:cNvSpPr/>
          <p:nvPr/>
        </p:nvSpPr>
        <p:spPr>
          <a:xfrm>
            <a:off x="557630" y="3364720"/>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깁스치료</a:t>
            </a:r>
            <a:endParaRPr lang="en-US" sz="1088" dirty="0"/>
          </a:p>
        </p:txBody>
      </p:sp>
      <p:sp>
        <p:nvSpPr>
          <p:cNvPr id="97" name="Shape 94"/>
          <p:cNvSpPr/>
          <p:nvPr/>
        </p:nvSpPr>
        <p:spPr>
          <a:xfrm>
            <a:off x="1912704" y="3330928"/>
            <a:ext cx="2748248" cy="354434"/>
          </a:xfrm>
          <a:prstGeom prst="rect">
            <a:avLst/>
          </a:prstGeom>
          <a:solidFill>
            <a:srgbClr val="F8E1D0"/>
          </a:solidFill>
          <a:ln/>
        </p:spPr>
        <p:txBody>
          <a:bodyPr/>
          <a:lstStyle/>
          <a:p>
            <a:endParaRPr lang="ko-KR" altLang="en-US"/>
          </a:p>
        </p:txBody>
      </p:sp>
      <p:sp>
        <p:nvSpPr>
          <p:cNvPr id="98" name="Shape 95"/>
          <p:cNvSpPr/>
          <p:nvPr/>
        </p:nvSpPr>
        <p:spPr>
          <a:xfrm>
            <a:off x="1912704" y="3330928"/>
            <a:ext cx="2748248" cy="9525"/>
          </a:xfrm>
          <a:prstGeom prst="rect">
            <a:avLst/>
          </a:prstGeom>
          <a:solidFill>
            <a:srgbClr val="D3B9A5"/>
          </a:solidFill>
          <a:ln/>
        </p:spPr>
        <p:txBody>
          <a:bodyPr/>
          <a:lstStyle/>
          <a:p>
            <a:endParaRPr lang="ko-KR" altLang="en-US"/>
          </a:p>
        </p:txBody>
      </p:sp>
      <p:sp>
        <p:nvSpPr>
          <p:cNvPr id="99" name="Shape 96"/>
          <p:cNvSpPr/>
          <p:nvPr/>
        </p:nvSpPr>
        <p:spPr>
          <a:xfrm>
            <a:off x="1912704" y="3330928"/>
            <a:ext cx="9525" cy="354434"/>
          </a:xfrm>
          <a:prstGeom prst="rect">
            <a:avLst/>
          </a:prstGeom>
          <a:solidFill>
            <a:srgbClr val="D3B9A5"/>
          </a:solidFill>
          <a:ln/>
        </p:spPr>
        <p:txBody>
          <a:bodyPr/>
          <a:lstStyle/>
          <a:p>
            <a:endParaRPr lang="ko-KR" altLang="en-US"/>
          </a:p>
        </p:txBody>
      </p:sp>
      <p:sp>
        <p:nvSpPr>
          <p:cNvPr id="100" name="Text 97"/>
          <p:cNvSpPr/>
          <p:nvPr/>
        </p:nvSpPr>
        <p:spPr>
          <a:xfrm>
            <a:off x="1933847" y="3364720"/>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50만</a:t>
            </a:r>
            <a:endParaRPr lang="en-US" sz="1088" dirty="0"/>
          </a:p>
        </p:txBody>
      </p:sp>
      <p:sp>
        <p:nvSpPr>
          <p:cNvPr id="101" name="Shape 98"/>
          <p:cNvSpPr/>
          <p:nvPr/>
        </p:nvSpPr>
        <p:spPr>
          <a:xfrm>
            <a:off x="4660952" y="3330928"/>
            <a:ext cx="2748248" cy="354434"/>
          </a:xfrm>
          <a:prstGeom prst="rect">
            <a:avLst/>
          </a:prstGeom>
          <a:solidFill>
            <a:srgbClr val="FFFFFF"/>
          </a:solidFill>
          <a:ln/>
        </p:spPr>
        <p:txBody>
          <a:bodyPr/>
          <a:lstStyle/>
          <a:p>
            <a:endParaRPr lang="ko-KR" altLang="en-US"/>
          </a:p>
        </p:txBody>
      </p:sp>
      <p:sp>
        <p:nvSpPr>
          <p:cNvPr id="102" name="Shape 99"/>
          <p:cNvSpPr/>
          <p:nvPr/>
        </p:nvSpPr>
        <p:spPr>
          <a:xfrm>
            <a:off x="4660952" y="3330928"/>
            <a:ext cx="2748248" cy="9525"/>
          </a:xfrm>
          <a:prstGeom prst="rect">
            <a:avLst/>
          </a:prstGeom>
          <a:solidFill>
            <a:srgbClr val="D3B9A5"/>
          </a:solidFill>
          <a:ln/>
        </p:spPr>
        <p:txBody>
          <a:bodyPr/>
          <a:lstStyle/>
          <a:p>
            <a:endParaRPr lang="ko-KR" altLang="en-US"/>
          </a:p>
        </p:txBody>
      </p:sp>
      <p:sp>
        <p:nvSpPr>
          <p:cNvPr id="103" name="Shape 100"/>
          <p:cNvSpPr/>
          <p:nvPr/>
        </p:nvSpPr>
        <p:spPr>
          <a:xfrm>
            <a:off x="4660952" y="3330928"/>
            <a:ext cx="9525" cy="354434"/>
          </a:xfrm>
          <a:prstGeom prst="rect">
            <a:avLst/>
          </a:prstGeom>
          <a:solidFill>
            <a:srgbClr val="D3B9A5"/>
          </a:solidFill>
          <a:ln/>
        </p:spPr>
        <p:txBody>
          <a:bodyPr/>
          <a:lstStyle/>
          <a:p>
            <a:endParaRPr lang="ko-KR" altLang="en-US"/>
          </a:p>
        </p:txBody>
      </p:sp>
      <p:sp>
        <p:nvSpPr>
          <p:cNvPr id="104" name="Text 101"/>
          <p:cNvSpPr/>
          <p:nvPr/>
        </p:nvSpPr>
        <p:spPr>
          <a:xfrm>
            <a:off x="4682095" y="3364720"/>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20만</a:t>
            </a:r>
            <a:endParaRPr lang="en-US" sz="1088" dirty="0"/>
          </a:p>
        </p:txBody>
      </p:sp>
      <p:sp>
        <p:nvSpPr>
          <p:cNvPr id="105" name="Shape 102"/>
          <p:cNvSpPr/>
          <p:nvPr/>
        </p:nvSpPr>
        <p:spPr>
          <a:xfrm>
            <a:off x="7409200" y="3330928"/>
            <a:ext cx="2748737" cy="354434"/>
          </a:xfrm>
          <a:prstGeom prst="rect">
            <a:avLst/>
          </a:prstGeom>
          <a:solidFill>
            <a:srgbClr val="FFFFFF"/>
          </a:solidFill>
          <a:ln/>
        </p:spPr>
        <p:txBody>
          <a:bodyPr/>
          <a:lstStyle/>
          <a:p>
            <a:endParaRPr lang="ko-KR" altLang="en-US"/>
          </a:p>
        </p:txBody>
      </p:sp>
      <p:sp>
        <p:nvSpPr>
          <p:cNvPr id="106" name="Shape 103"/>
          <p:cNvSpPr/>
          <p:nvPr/>
        </p:nvSpPr>
        <p:spPr>
          <a:xfrm>
            <a:off x="7409200" y="3330928"/>
            <a:ext cx="2748737" cy="9525"/>
          </a:xfrm>
          <a:prstGeom prst="rect">
            <a:avLst/>
          </a:prstGeom>
          <a:solidFill>
            <a:srgbClr val="D3B9A5"/>
          </a:solidFill>
          <a:ln/>
        </p:spPr>
        <p:txBody>
          <a:bodyPr/>
          <a:lstStyle/>
          <a:p>
            <a:endParaRPr lang="ko-KR" altLang="en-US"/>
          </a:p>
        </p:txBody>
      </p:sp>
      <p:sp>
        <p:nvSpPr>
          <p:cNvPr id="107" name="Shape 104"/>
          <p:cNvSpPr/>
          <p:nvPr/>
        </p:nvSpPr>
        <p:spPr>
          <a:xfrm>
            <a:off x="7409200" y="3330928"/>
            <a:ext cx="9525" cy="354434"/>
          </a:xfrm>
          <a:prstGeom prst="rect">
            <a:avLst/>
          </a:prstGeom>
          <a:solidFill>
            <a:srgbClr val="D3B9A5"/>
          </a:solidFill>
          <a:ln/>
        </p:spPr>
        <p:txBody>
          <a:bodyPr/>
          <a:lstStyle/>
          <a:p>
            <a:endParaRPr lang="ko-KR" altLang="en-US"/>
          </a:p>
        </p:txBody>
      </p:sp>
      <p:sp>
        <p:nvSpPr>
          <p:cNvPr id="108" name="Text 105"/>
          <p:cNvSpPr/>
          <p:nvPr/>
        </p:nvSpPr>
        <p:spPr>
          <a:xfrm>
            <a:off x="7430336" y="3364720"/>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50만</a:t>
            </a:r>
            <a:endParaRPr lang="en-US" sz="1088" dirty="0"/>
          </a:p>
        </p:txBody>
      </p:sp>
      <p:sp>
        <p:nvSpPr>
          <p:cNvPr id="109" name="Shape 106"/>
          <p:cNvSpPr/>
          <p:nvPr/>
        </p:nvSpPr>
        <p:spPr>
          <a:xfrm>
            <a:off x="538580" y="3685362"/>
            <a:ext cx="1374124" cy="354434"/>
          </a:xfrm>
          <a:prstGeom prst="rect">
            <a:avLst/>
          </a:prstGeom>
          <a:solidFill>
            <a:srgbClr val="FCF4EE"/>
          </a:solidFill>
          <a:ln/>
        </p:spPr>
        <p:txBody>
          <a:bodyPr/>
          <a:lstStyle/>
          <a:p>
            <a:endParaRPr lang="ko-KR" altLang="en-US"/>
          </a:p>
        </p:txBody>
      </p:sp>
      <p:sp>
        <p:nvSpPr>
          <p:cNvPr id="110" name="Shape 107"/>
          <p:cNvSpPr/>
          <p:nvPr/>
        </p:nvSpPr>
        <p:spPr>
          <a:xfrm>
            <a:off x="538580" y="3685362"/>
            <a:ext cx="1374124" cy="9525"/>
          </a:xfrm>
          <a:prstGeom prst="rect">
            <a:avLst/>
          </a:prstGeom>
          <a:solidFill>
            <a:srgbClr val="D3B9A5"/>
          </a:solidFill>
          <a:ln/>
        </p:spPr>
        <p:txBody>
          <a:bodyPr/>
          <a:lstStyle/>
          <a:p>
            <a:endParaRPr lang="ko-KR" altLang="en-US"/>
          </a:p>
        </p:txBody>
      </p:sp>
      <p:sp>
        <p:nvSpPr>
          <p:cNvPr id="111" name="Text 108"/>
          <p:cNvSpPr/>
          <p:nvPr/>
        </p:nvSpPr>
        <p:spPr>
          <a:xfrm>
            <a:off x="557630" y="3719154"/>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재해수술</a:t>
            </a:r>
            <a:endParaRPr lang="en-US" sz="1088" dirty="0"/>
          </a:p>
        </p:txBody>
      </p:sp>
      <p:sp>
        <p:nvSpPr>
          <p:cNvPr id="112" name="Shape 109"/>
          <p:cNvSpPr/>
          <p:nvPr/>
        </p:nvSpPr>
        <p:spPr>
          <a:xfrm>
            <a:off x="1912704" y="3685362"/>
            <a:ext cx="2748248" cy="354434"/>
          </a:xfrm>
          <a:prstGeom prst="rect">
            <a:avLst/>
          </a:prstGeom>
          <a:solidFill>
            <a:srgbClr val="F8E1D0"/>
          </a:solidFill>
          <a:ln/>
        </p:spPr>
        <p:txBody>
          <a:bodyPr/>
          <a:lstStyle/>
          <a:p>
            <a:endParaRPr lang="ko-KR" altLang="en-US"/>
          </a:p>
        </p:txBody>
      </p:sp>
      <p:sp>
        <p:nvSpPr>
          <p:cNvPr id="113" name="Shape 110"/>
          <p:cNvSpPr/>
          <p:nvPr/>
        </p:nvSpPr>
        <p:spPr>
          <a:xfrm>
            <a:off x="1912704" y="3685362"/>
            <a:ext cx="2748248" cy="9525"/>
          </a:xfrm>
          <a:prstGeom prst="rect">
            <a:avLst/>
          </a:prstGeom>
          <a:solidFill>
            <a:srgbClr val="D3B9A5"/>
          </a:solidFill>
          <a:ln/>
        </p:spPr>
        <p:txBody>
          <a:bodyPr/>
          <a:lstStyle/>
          <a:p>
            <a:endParaRPr lang="ko-KR" altLang="en-US"/>
          </a:p>
        </p:txBody>
      </p:sp>
      <p:sp>
        <p:nvSpPr>
          <p:cNvPr id="114" name="Shape 111"/>
          <p:cNvSpPr/>
          <p:nvPr/>
        </p:nvSpPr>
        <p:spPr>
          <a:xfrm>
            <a:off x="1912704" y="3685362"/>
            <a:ext cx="9525" cy="354434"/>
          </a:xfrm>
          <a:prstGeom prst="rect">
            <a:avLst/>
          </a:prstGeom>
          <a:solidFill>
            <a:srgbClr val="D3B9A5"/>
          </a:solidFill>
          <a:ln/>
        </p:spPr>
        <p:txBody>
          <a:bodyPr/>
          <a:lstStyle/>
          <a:p>
            <a:endParaRPr lang="ko-KR" altLang="en-US"/>
          </a:p>
        </p:txBody>
      </p:sp>
      <p:sp>
        <p:nvSpPr>
          <p:cNvPr id="115" name="Text 112"/>
          <p:cNvSpPr/>
          <p:nvPr/>
        </p:nvSpPr>
        <p:spPr>
          <a:xfrm>
            <a:off x="1933847" y="3719154"/>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30만</a:t>
            </a:r>
            <a:endParaRPr lang="en-US" sz="1088" dirty="0"/>
          </a:p>
        </p:txBody>
      </p:sp>
      <p:sp>
        <p:nvSpPr>
          <p:cNvPr id="116" name="Shape 113"/>
          <p:cNvSpPr/>
          <p:nvPr/>
        </p:nvSpPr>
        <p:spPr>
          <a:xfrm>
            <a:off x="4660952" y="3685362"/>
            <a:ext cx="2748248" cy="354434"/>
          </a:xfrm>
          <a:prstGeom prst="rect">
            <a:avLst/>
          </a:prstGeom>
          <a:solidFill>
            <a:srgbClr val="FFFFFF"/>
          </a:solidFill>
          <a:ln/>
        </p:spPr>
        <p:txBody>
          <a:bodyPr/>
          <a:lstStyle/>
          <a:p>
            <a:endParaRPr lang="ko-KR" altLang="en-US"/>
          </a:p>
        </p:txBody>
      </p:sp>
      <p:sp>
        <p:nvSpPr>
          <p:cNvPr id="117" name="Shape 114"/>
          <p:cNvSpPr/>
          <p:nvPr/>
        </p:nvSpPr>
        <p:spPr>
          <a:xfrm>
            <a:off x="4660952" y="3685362"/>
            <a:ext cx="2748248" cy="9525"/>
          </a:xfrm>
          <a:prstGeom prst="rect">
            <a:avLst/>
          </a:prstGeom>
          <a:solidFill>
            <a:srgbClr val="D3B9A5"/>
          </a:solidFill>
          <a:ln/>
        </p:spPr>
        <p:txBody>
          <a:bodyPr/>
          <a:lstStyle/>
          <a:p>
            <a:endParaRPr lang="ko-KR" altLang="en-US"/>
          </a:p>
        </p:txBody>
      </p:sp>
      <p:sp>
        <p:nvSpPr>
          <p:cNvPr id="118" name="Shape 115"/>
          <p:cNvSpPr/>
          <p:nvPr/>
        </p:nvSpPr>
        <p:spPr>
          <a:xfrm>
            <a:off x="4660952" y="3685362"/>
            <a:ext cx="9525" cy="354434"/>
          </a:xfrm>
          <a:prstGeom prst="rect">
            <a:avLst/>
          </a:prstGeom>
          <a:solidFill>
            <a:srgbClr val="D3B9A5"/>
          </a:solidFill>
          <a:ln/>
        </p:spPr>
        <p:txBody>
          <a:bodyPr/>
          <a:lstStyle/>
          <a:p>
            <a:endParaRPr lang="ko-KR" altLang="en-US"/>
          </a:p>
        </p:txBody>
      </p:sp>
      <p:sp>
        <p:nvSpPr>
          <p:cNvPr id="119" name="Text 116"/>
          <p:cNvSpPr/>
          <p:nvPr/>
        </p:nvSpPr>
        <p:spPr>
          <a:xfrm>
            <a:off x="4682095" y="3719154"/>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50만</a:t>
            </a:r>
            <a:endParaRPr lang="en-US" sz="1088" dirty="0"/>
          </a:p>
        </p:txBody>
      </p:sp>
      <p:sp>
        <p:nvSpPr>
          <p:cNvPr id="120" name="Shape 117"/>
          <p:cNvSpPr/>
          <p:nvPr/>
        </p:nvSpPr>
        <p:spPr>
          <a:xfrm>
            <a:off x="7409200" y="3685362"/>
            <a:ext cx="2748737" cy="354434"/>
          </a:xfrm>
          <a:prstGeom prst="rect">
            <a:avLst/>
          </a:prstGeom>
          <a:solidFill>
            <a:srgbClr val="FFFFFF"/>
          </a:solidFill>
          <a:ln/>
        </p:spPr>
        <p:txBody>
          <a:bodyPr/>
          <a:lstStyle/>
          <a:p>
            <a:endParaRPr lang="ko-KR" altLang="en-US"/>
          </a:p>
        </p:txBody>
      </p:sp>
      <p:sp>
        <p:nvSpPr>
          <p:cNvPr id="121" name="Shape 118"/>
          <p:cNvSpPr/>
          <p:nvPr/>
        </p:nvSpPr>
        <p:spPr>
          <a:xfrm>
            <a:off x="7409200" y="3685362"/>
            <a:ext cx="2748737" cy="9525"/>
          </a:xfrm>
          <a:prstGeom prst="rect">
            <a:avLst/>
          </a:prstGeom>
          <a:solidFill>
            <a:srgbClr val="D3B9A5"/>
          </a:solidFill>
          <a:ln/>
        </p:spPr>
        <p:txBody>
          <a:bodyPr/>
          <a:lstStyle/>
          <a:p>
            <a:endParaRPr lang="ko-KR" altLang="en-US"/>
          </a:p>
        </p:txBody>
      </p:sp>
      <p:sp>
        <p:nvSpPr>
          <p:cNvPr id="122" name="Shape 119"/>
          <p:cNvSpPr/>
          <p:nvPr/>
        </p:nvSpPr>
        <p:spPr>
          <a:xfrm>
            <a:off x="7409200" y="3685362"/>
            <a:ext cx="9525" cy="354434"/>
          </a:xfrm>
          <a:prstGeom prst="rect">
            <a:avLst/>
          </a:prstGeom>
          <a:solidFill>
            <a:srgbClr val="D3B9A5"/>
          </a:solidFill>
          <a:ln/>
        </p:spPr>
        <p:txBody>
          <a:bodyPr/>
          <a:lstStyle/>
          <a:p>
            <a:endParaRPr lang="ko-KR" altLang="en-US"/>
          </a:p>
        </p:txBody>
      </p:sp>
      <p:sp>
        <p:nvSpPr>
          <p:cNvPr id="123" name="Text 120"/>
          <p:cNvSpPr/>
          <p:nvPr/>
        </p:nvSpPr>
        <p:spPr>
          <a:xfrm>
            <a:off x="7430336" y="3719154"/>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30만</a:t>
            </a:r>
            <a:endParaRPr lang="en-US" sz="1088" dirty="0"/>
          </a:p>
        </p:txBody>
      </p:sp>
      <p:sp>
        <p:nvSpPr>
          <p:cNvPr id="124" name="Shape 121"/>
          <p:cNvSpPr/>
          <p:nvPr/>
        </p:nvSpPr>
        <p:spPr>
          <a:xfrm>
            <a:off x="538580" y="4039796"/>
            <a:ext cx="1374124" cy="354434"/>
          </a:xfrm>
          <a:prstGeom prst="rect">
            <a:avLst/>
          </a:prstGeom>
          <a:solidFill>
            <a:srgbClr val="FCF4EE"/>
          </a:solidFill>
          <a:ln/>
        </p:spPr>
        <p:txBody>
          <a:bodyPr/>
          <a:lstStyle/>
          <a:p>
            <a:endParaRPr lang="ko-KR" altLang="en-US"/>
          </a:p>
        </p:txBody>
      </p:sp>
      <p:sp>
        <p:nvSpPr>
          <p:cNvPr id="125" name="Shape 122"/>
          <p:cNvSpPr/>
          <p:nvPr/>
        </p:nvSpPr>
        <p:spPr>
          <a:xfrm>
            <a:off x="538580" y="4039796"/>
            <a:ext cx="1374124" cy="9525"/>
          </a:xfrm>
          <a:prstGeom prst="rect">
            <a:avLst/>
          </a:prstGeom>
          <a:solidFill>
            <a:srgbClr val="D3B9A5"/>
          </a:solidFill>
          <a:ln/>
        </p:spPr>
        <p:txBody>
          <a:bodyPr/>
          <a:lstStyle/>
          <a:p>
            <a:endParaRPr lang="ko-KR" altLang="en-US"/>
          </a:p>
        </p:txBody>
      </p:sp>
      <p:sp>
        <p:nvSpPr>
          <p:cNvPr id="126" name="Text 123"/>
          <p:cNvSpPr/>
          <p:nvPr/>
        </p:nvSpPr>
        <p:spPr>
          <a:xfrm>
            <a:off x="557630" y="4073588"/>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재해수술(종합)</a:t>
            </a:r>
            <a:endParaRPr lang="en-US" sz="1088" dirty="0"/>
          </a:p>
        </p:txBody>
      </p:sp>
      <p:sp>
        <p:nvSpPr>
          <p:cNvPr id="127" name="Shape 124"/>
          <p:cNvSpPr/>
          <p:nvPr/>
        </p:nvSpPr>
        <p:spPr>
          <a:xfrm>
            <a:off x="1912704" y="4039796"/>
            <a:ext cx="2748248" cy="354434"/>
          </a:xfrm>
          <a:prstGeom prst="rect">
            <a:avLst/>
          </a:prstGeom>
          <a:solidFill>
            <a:srgbClr val="F8E1D0"/>
          </a:solidFill>
          <a:ln/>
        </p:spPr>
        <p:txBody>
          <a:bodyPr/>
          <a:lstStyle/>
          <a:p>
            <a:endParaRPr lang="ko-KR" altLang="en-US"/>
          </a:p>
        </p:txBody>
      </p:sp>
      <p:sp>
        <p:nvSpPr>
          <p:cNvPr id="128" name="Shape 125"/>
          <p:cNvSpPr/>
          <p:nvPr/>
        </p:nvSpPr>
        <p:spPr>
          <a:xfrm>
            <a:off x="1912704" y="4039796"/>
            <a:ext cx="2748248" cy="9525"/>
          </a:xfrm>
          <a:prstGeom prst="rect">
            <a:avLst/>
          </a:prstGeom>
          <a:solidFill>
            <a:srgbClr val="D3B9A5"/>
          </a:solidFill>
          <a:ln/>
        </p:spPr>
        <p:txBody>
          <a:bodyPr/>
          <a:lstStyle/>
          <a:p>
            <a:endParaRPr lang="ko-KR" altLang="en-US"/>
          </a:p>
        </p:txBody>
      </p:sp>
      <p:sp>
        <p:nvSpPr>
          <p:cNvPr id="129" name="Shape 126"/>
          <p:cNvSpPr/>
          <p:nvPr/>
        </p:nvSpPr>
        <p:spPr>
          <a:xfrm>
            <a:off x="1912704" y="4039796"/>
            <a:ext cx="9525" cy="354434"/>
          </a:xfrm>
          <a:prstGeom prst="rect">
            <a:avLst/>
          </a:prstGeom>
          <a:solidFill>
            <a:srgbClr val="D3B9A5"/>
          </a:solidFill>
          <a:ln/>
        </p:spPr>
        <p:txBody>
          <a:bodyPr/>
          <a:lstStyle/>
          <a:p>
            <a:endParaRPr lang="ko-KR" altLang="en-US"/>
          </a:p>
        </p:txBody>
      </p:sp>
      <p:sp>
        <p:nvSpPr>
          <p:cNvPr id="130" name="Text 127"/>
          <p:cNvSpPr/>
          <p:nvPr/>
        </p:nvSpPr>
        <p:spPr>
          <a:xfrm>
            <a:off x="1933847" y="4073588"/>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a:t>
            </a:r>
            <a:endParaRPr lang="en-US" sz="1088" dirty="0"/>
          </a:p>
        </p:txBody>
      </p:sp>
      <p:sp>
        <p:nvSpPr>
          <p:cNvPr id="131" name="Shape 128"/>
          <p:cNvSpPr/>
          <p:nvPr/>
        </p:nvSpPr>
        <p:spPr>
          <a:xfrm>
            <a:off x="4660952" y="4039796"/>
            <a:ext cx="2748248" cy="354434"/>
          </a:xfrm>
          <a:prstGeom prst="rect">
            <a:avLst/>
          </a:prstGeom>
          <a:solidFill>
            <a:srgbClr val="FFFFFF"/>
          </a:solidFill>
          <a:ln/>
        </p:spPr>
        <p:txBody>
          <a:bodyPr/>
          <a:lstStyle/>
          <a:p>
            <a:endParaRPr lang="ko-KR" altLang="en-US"/>
          </a:p>
        </p:txBody>
      </p:sp>
      <p:sp>
        <p:nvSpPr>
          <p:cNvPr id="132" name="Shape 129"/>
          <p:cNvSpPr/>
          <p:nvPr/>
        </p:nvSpPr>
        <p:spPr>
          <a:xfrm>
            <a:off x="4660952" y="4039796"/>
            <a:ext cx="2748248" cy="9525"/>
          </a:xfrm>
          <a:prstGeom prst="rect">
            <a:avLst/>
          </a:prstGeom>
          <a:solidFill>
            <a:srgbClr val="D3B9A5"/>
          </a:solidFill>
          <a:ln/>
        </p:spPr>
        <p:txBody>
          <a:bodyPr/>
          <a:lstStyle/>
          <a:p>
            <a:endParaRPr lang="ko-KR" altLang="en-US"/>
          </a:p>
        </p:txBody>
      </p:sp>
      <p:sp>
        <p:nvSpPr>
          <p:cNvPr id="133" name="Shape 130"/>
          <p:cNvSpPr/>
          <p:nvPr/>
        </p:nvSpPr>
        <p:spPr>
          <a:xfrm>
            <a:off x="4660952" y="4039796"/>
            <a:ext cx="9525" cy="354434"/>
          </a:xfrm>
          <a:prstGeom prst="rect">
            <a:avLst/>
          </a:prstGeom>
          <a:solidFill>
            <a:srgbClr val="D3B9A5"/>
          </a:solidFill>
          <a:ln/>
        </p:spPr>
        <p:txBody>
          <a:bodyPr/>
          <a:lstStyle/>
          <a:p>
            <a:endParaRPr lang="ko-KR" altLang="en-US"/>
          </a:p>
        </p:txBody>
      </p:sp>
      <p:sp>
        <p:nvSpPr>
          <p:cNvPr id="134" name="Text 131"/>
          <p:cNvSpPr/>
          <p:nvPr/>
        </p:nvSpPr>
        <p:spPr>
          <a:xfrm>
            <a:off x="4682095" y="4073588"/>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35" name="Shape 132"/>
          <p:cNvSpPr/>
          <p:nvPr/>
        </p:nvSpPr>
        <p:spPr>
          <a:xfrm>
            <a:off x="7409200" y="4039796"/>
            <a:ext cx="2748737" cy="354434"/>
          </a:xfrm>
          <a:prstGeom prst="rect">
            <a:avLst/>
          </a:prstGeom>
          <a:solidFill>
            <a:srgbClr val="FFFFFF"/>
          </a:solidFill>
          <a:ln/>
        </p:spPr>
        <p:txBody>
          <a:bodyPr/>
          <a:lstStyle/>
          <a:p>
            <a:endParaRPr lang="ko-KR" altLang="en-US"/>
          </a:p>
        </p:txBody>
      </p:sp>
      <p:sp>
        <p:nvSpPr>
          <p:cNvPr id="136" name="Shape 133"/>
          <p:cNvSpPr/>
          <p:nvPr/>
        </p:nvSpPr>
        <p:spPr>
          <a:xfrm>
            <a:off x="7409200" y="4039796"/>
            <a:ext cx="2748737" cy="9525"/>
          </a:xfrm>
          <a:prstGeom prst="rect">
            <a:avLst/>
          </a:prstGeom>
          <a:solidFill>
            <a:srgbClr val="D3B9A5"/>
          </a:solidFill>
          <a:ln/>
        </p:spPr>
        <p:txBody>
          <a:bodyPr/>
          <a:lstStyle/>
          <a:p>
            <a:endParaRPr lang="ko-KR" altLang="en-US"/>
          </a:p>
        </p:txBody>
      </p:sp>
      <p:sp>
        <p:nvSpPr>
          <p:cNvPr id="137" name="Shape 134"/>
          <p:cNvSpPr/>
          <p:nvPr/>
        </p:nvSpPr>
        <p:spPr>
          <a:xfrm>
            <a:off x="7409200" y="4039796"/>
            <a:ext cx="9525" cy="354434"/>
          </a:xfrm>
          <a:prstGeom prst="rect">
            <a:avLst/>
          </a:prstGeom>
          <a:solidFill>
            <a:srgbClr val="D3B9A5"/>
          </a:solidFill>
          <a:ln/>
        </p:spPr>
        <p:txBody>
          <a:bodyPr/>
          <a:lstStyle/>
          <a:p>
            <a:endParaRPr lang="ko-KR" altLang="en-US"/>
          </a:p>
        </p:txBody>
      </p:sp>
      <p:sp>
        <p:nvSpPr>
          <p:cNvPr id="138" name="Text 135"/>
          <p:cNvSpPr/>
          <p:nvPr/>
        </p:nvSpPr>
        <p:spPr>
          <a:xfrm>
            <a:off x="7430336" y="4073588"/>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39" name="Shape 136"/>
          <p:cNvSpPr/>
          <p:nvPr/>
        </p:nvSpPr>
        <p:spPr>
          <a:xfrm>
            <a:off x="538580" y="4394230"/>
            <a:ext cx="1374124" cy="354434"/>
          </a:xfrm>
          <a:prstGeom prst="rect">
            <a:avLst/>
          </a:prstGeom>
          <a:solidFill>
            <a:srgbClr val="FCF4EE"/>
          </a:solidFill>
          <a:ln/>
        </p:spPr>
        <p:txBody>
          <a:bodyPr/>
          <a:lstStyle/>
          <a:p>
            <a:endParaRPr lang="ko-KR" altLang="en-US"/>
          </a:p>
        </p:txBody>
      </p:sp>
      <p:sp>
        <p:nvSpPr>
          <p:cNvPr id="140" name="Shape 137"/>
          <p:cNvSpPr/>
          <p:nvPr/>
        </p:nvSpPr>
        <p:spPr>
          <a:xfrm>
            <a:off x="538580" y="4394230"/>
            <a:ext cx="1374124" cy="9525"/>
          </a:xfrm>
          <a:prstGeom prst="rect">
            <a:avLst/>
          </a:prstGeom>
          <a:solidFill>
            <a:srgbClr val="D3B9A5"/>
          </a:solidFill>
          <a:ln/>
        </p:spPr>
        <p:txBody>
          <a:bodyPr/>
          <a:lstStyle/>
          <a:p>
            <a:endParaRPr lang="ko-KR" altLang="en-US"/>
          </a:p>
        </p:txBody>
      </p:sp>
      <p:sp>
        <p:nvSpPr>
          <p:cNvPr id="141" name="Text 138"/>
          <p:cNvSpPr/>
          <p:nvPr/>
        </p:nvSpPr>
        <p:spPr>
          <a:xfrm>
            <a:off x="557630" y="4428022"/>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재해수술(상급종합)</a:t>
            </a:r>
            <a:endParaRPr lang="en-US" sz="1088" dirty="0"/>
          </a:p>
        </p:txBody>
      </p:sp>
      <p:sp>
        <p:nvSpPr>
          <p:cNvPr id="142" name="Shape 139"/>
          <p:cNvSpPr/>
          <p:nvPr/>
        </p:nvSpPr>
        <p:spPr>
          <a:xfrm>
            <a:off x="1912704" y="4394230"/>
            <a:ext cx="2748248" cy="354434"/>
          </a:xfrm>
          <a:prstGeom prst="rect">
            <a:avLst/>
          </a:prstGeom>
          <a:solidFill>
            <a:srgbClr val="F8E1D0"/>
          </a:solidFill>
          <a:ln/>
        </p:spPr>
        <p:txBody>
          <a:bodyPr/>
          <a:lstStyle/>
          <a:p>
            <a:endParaRPr lang="ko-KR" altLang="en-US"/>
          </a:p>
        </p:txBody>
      </p:sp>
      <p:sp>
        <p:nvSpPr>
          <p:cNvPr id="143" name="Shape 140"/>
          <p:cNvSpPr/>
          <p:nvPr/>
        </p:nvSpPr>
        <p:spPr>
          <a:xfrm>
            <a:off x="1912704" y="4394230"/>
            <a:ext cx="2748248" cy="9525"/>
          </a:xfrm>
          <a:prstGeom prst="rect">
            <a:avLst/>
          </a:prstGeom>
          <a:solidFill>
            <a:srgbClr val="D3B9A5"/>
          </a:solidFill>
          <a:ln/>
        </p:spPr>
        <p:txBody>
          <a:bodyPr/>
          <a:lstStyle/>
          <a:p>
            <a:endParaRPr lang="ko-KR" altLang="en-US"/>
          </a:p>
        </p:txBody>
      </p:sp>
      <p:sp>
        <p:nvSpPr>
          <p:cNvPr id="144" name="Shape 141"/>
          <p:cNvSpPr/>
          <p:nvPr/>
        </p:nvSpPr>
        <p:spPr>
          <a:xfrm>
            <a:off x="1912704" y="4394230"/>
            <a:ext cx="9525" cy="354434"/>
          </a:xfrm>
          <a:prstGeom prst="rect">
            <a:avLst/>
          </a:prstGeom>
          <a:solidFill>
            <a:srgbClr val="D3B9A5"/>
          </a:solidFill>
          <a:ln/>
        </p:spPr>
        <p:txBody>
          <a:bodyPr/>
          <a:lstStyle/>
          <a:p>
            <a:endParaRPr lang="ko-KR" altLang="en-US"/>
          </a:p>
        </p:txBody>
      </p:sp>
      <p:sp>
        <p:nvSpPr>
          <p:cNvPr id="145" name="Text 142"/>
          <p:cNvSpPr/>
          <p:nvPr/>
        </p:nvSpPr>
        <p:spPr>
          <a:xfrm>
            <a:off x="1933847" y="4428022"/>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70만</a:t>
            </a:r>
            <a:endParaRPr lang="en-US" sz="1088" dirty="0"/>
          </a:p>
        </p:txBody>
      </p:sp>
      <p:sp>
        <p:nvSpPr>
          <p:cNvPr id="146" name="Shape 143"/>
          <p:cNvSpPr/>
          <p:nvPr/>
        </p:nvSpPr>
        <p:spPr>
          <a:xfrm>
            <a:off x="4660952" y="4394230"/>
            <a:ext cx="2748248" cy="354434"/>
          </a:xfrm>
          <a:prstGeom prst="rect">
            <a:avLst/>
          </a:prstGeom>
          <a:solidFill>
            <a:srgbClr val="FFFFFF"/>
          </a:solidFill>
          <a:ln/>
        </p:spPr>
        <p:txBody>
          <a:bodyPr/>
          <a:lstStyle/>
          <a:p>
            <a:endParaRPr lang="ko-KR" altLang="en-US"/>
          </a:p>
        </p:txBody>
      </p:sp>
      <p:sp>
        <p:nvSpPr>
          <p:cNvPr id="147" name="Shape 144"/>
          <p:cNvSpPr/>
          <p:nvPr/>
        </p:nvSpPr>
        <p:spPr>
          <a:xfrm>
            <a:off x="4660952" y="4394230"/>
            <a:ext cx="2748248" cy="9525"/>
          </a:xfrm>
          <a:prstGeom prst="rect">
            <a:avLst/>
          </a:prstGeom>
          <a:solidFill>
            <a:srgbClr val="D3B9A5"/>
          </a:solidFill>
          <a:ln/>
        </p:spPr>
        <p:txBody>
          <a:bodyPr/>
          <a:lstStyle/>
          <a:p>
            <a:endParaRPr lang="ko-KR" altLang="en-US"/>
          </a:p>
        </p:txBody>
      </p:sp>
      <p:sp>
        <p:nvSpPr>
          <p:cNvPr id="148" name="Shape 145"/>
          <p:cNvSpPr/>
          <p:nvPr/>
        </p:nvSpPr>
        <p:spPr>
          <a:xfrm>
            <a:off x="4660952" y="4394230"/>
            <a:ext cx="9525" cy="354434"/>
          </a:xfrm>
          <a:prstGeom prst="rect">
            <a:avLst/>
          </a:prstGeom>
          <a:solidFill>
            <a:srgbClr val="D3B9A5"/>
          </a:solidFill>
          <a:ln/>
        </p:spPr>
        <p:txBody>
          <a:bodyPr/>
          <a:lstStyle/>
          <a:p>
            <a:endParaRPr lang="ko-KR" altLang="en-US"/>
          </a:p>
        </p:txBody>
      </p:sp>
      <p:sp>
        <p:nvSpPr>
          <p:cNvPr id="149" name="Text 146"/>
          <p:cNvSpPr/>
          <p:nvPr/>
        </p:nvSpPr>
        <p:spPr>
          <a:xfrm>
            <a:off x="4682095" y="4428022"/>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50" name="Shape 147"/>
          <p:cNvSpPr/>
          <p:nvPr/>
        </p:nvSpPr>
        <p:spPr>
          <a:xfrm>
            <a:off x="7409200" y="4394230"/>
            <a:ext cx="2748737" cy="354434"/>
          </a:xfrm>
          <a:prstGeom prst="rect">
            <a:avLst/>
          </a:prstGeom>
          <a:solidFill>
            <a:srgbClr val="FFFFFF"/>
          </a:solidFill>
          <a:ln/>
        </p:spPr>
        <p:txBody>
          <a:bodyPr/>
          <a:lstStyle/>
          <a:p>
            <a:endParaRPr lang="ko-KR" altLang="en-US"/>
          </a:p>
        </p:txBody>
      </p:sp>
      <p:sp>
        <p:nvSpPr>
          <p:cNvPr id="151" name="Shape 148"/>
          <p:cNvSpPr/>
          <p:nvPr/>
        </p:nvSpPr>
        <p:spPr>
          <a:xfrm>
            <a:off x="7409200" y="4394230"/>
            <a:ext cx="2748737" cy="9525"/>
          </a:xfrm>
          <a:prstGeom prst="rect">
            <a:avLst/>
          </a:prstGeom>
          <a:solidFill>
            <a:srgbClr val="D3B9A5"/>
          </a:solidFill>
          <a:ln/>
        </p:spPr>
        <p:txBody>
          <a:bodyPr/>
          <a:lstStyle/>
          <a:p>
            <a:endParaRPr lang="ko-KR" altLang="en-US"/>
          </a:p>
        </p:txBody>
      </p:sp>
      <p:sp>
        <p:nvSpPr>
          <p:cNvPr id="152" name="Shape 149"/>
          <p:cNvSpPr/>
          <p:nvPr/>
        </p:nvSpPr>
        <p:spPr>
          <a:xfrm>
            <a:off x="7409200" y="4394230"/>
            <a:ext cx="9525" cy="354434"/>
          </a:xfrm>
          <a:prstGeom prst="rect">
            <a:avLst/>
          </a:prstGeom>
          <a:solidFill>
            <a:srgbClr val="D3B9A5"/>
          </a:solidFill>
          <a:ln/>
        </p:spPr>
        <p:txBody>
          <a:bodyPr/>
          <a:lstStyle/>
          <a:p>
            <a:endParaRPr lang="ko-KR" altLang="en-US"/>
          </a:p>
        </p:txBody>
      </p:sp>
      <p:sp>
        <p:nvSpPr>
          <p:cNvPr id="153" name="Text 150"/>
          <p:cNvSpPr/>
          <p:nvPr/>
        </p:nvSpPr>
        <p:spPr>
          <a:xfrm>
            <a:off x="7430336" y="4428022"/>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54" name="Shape 151"/>
          <p:cNvSpPr/>
          <p:nvPr/>
        </p:nvSpPr>
        <p:spPr>
          <a:xfrm>
            <a:off x="538580" y="4748664"/>
            <a:ext cx="1374124" cy="354434"/>
          </a:xfrm>
          <a:prstGeom prst="rect">
            <a:avLst/>
          </a:prstGeom>
          <a:solidFill>
            <a:srgbClr val="FCF4EE"/>
          </a:solidFill>
          <a:ln/>
        </p:spPr>
        <p:txBody>
          <a:bodyPr/>
          <a:lstStyle/>
          <a:p>
            <a:endParaRPr lang="ko-KR" altLang="en-US"/>
          </a:p>
        </p:txBody>
      </p:sp>
      <p:sp>
        <p:nvSpPr>
          <p:cNvPr id="155" name="Shape 152"/>
          <p:cNvSpPr/>
          <p:nvPr/>
        </p:nvSpPr>
        <p:spPr>
          <a:xfrm>
            <a:off x="538580" y="4748664"/>
            <a:ext cx="1374124" cy="9525"/>
          </a:xfrm>
          <a:prstGeom prst="rect">
            <a:avLst/>
          </a:prstGeom>
          <a:solidFill>
            <a:srgbClr val="D3B9A5"/>
          </a:solidFill>
          <a:ln/>
        </p:spPr>
        <p:txBody>
          <a:bodyPr/>
          <a:lstStyle/>
          <a:p>
            <a:endParaRPr lang="ko-KR" altLang="en-US"/>
          </a:p>
        </p:txBody>
      </p:sp>
      <p:sp>
        <p:nvSpPr>
          <p:cNvPr id="156" name="Text 153"/>
          <p:cNvSpPr/>
          <p:nvPr/>
        </p:nvSpPr>
        <p:spPr>
          <a:xfrm>
            <a:off x="557630" y="4782456"/>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인공관절치환술</a:t>
            </a:r>
            <a:endParaRPr lang="en-US" sz="1088" dirty="0"/>
          </a:p>
        </p:txBody>
      </p:sp>
      <p:sp>
        <p:nvSpPr>
          <p:cNvPr id="157" name="Shape 154"/>
          <p:cNvSpPr/>
          <p:nvPr/>
        </p:nvSpPr>
        <p:spPr>
          <a:xfrm>
            <a:off x="1912704" y="4748664"/>
            <a:ext cx="2748248" cy="354434"/>
          </a:xfrm>
          <a:prstGeom prst="rect">
            <a:avLst/>
          </a:prstGeom>
          <a:solidFill>
            <a:srgbClr val="F8E1D0"/>
          </a:solidFill>
          <a:ln/>
        </p:spPr>
        <p:txBody>
          <a:bodyPr/>
          <a:lstStyle/>
          <a:p>
            <a:endParaRPr lang="ko-KR" altLang="en-US"/>
          </a:p>
        </p:txBody>
      </p:sp>
      <p:sp>
        <p:nvSpPr>
          <p:cNvPr id="158" name="Shape 155"/>
          <p:cNvSpPr/>
          <p:nvPr/>
        </p:nvSpPr>
        <p:spPr>
          <a:xfrm>
            <a:off x="1912704" y="4748664"/>
            <a:ext cx="2748248" cy="9525"/>
          </a:xfrm>
          <a:prstGeom prst="rect">
            <a:avLst/>
          </a:prstGeom>
          <a:solidFill>
            <a:srgbClr val="D3B9A5"/>
          </a:solidFill>
          <a:ln/>
        </p:spPr>
        <p:txBody>
          <a:bodyPr/>
          <a:lstStyle/>
          <a:p>
            <a:endParaRPr lang="ko-KR" altLang="en-US"/>
          </a:p>
        </p:txBody>
      </p:sp>
      <p:sp>
        <p:nvSpPr>
          <p:cNvPr id="159" name="Shape 156"/>
          <p:cNvSpPr/>
          <p:nvPr/>
        </p:nvSpPr>
        <p:spPr>
          <a:xfrm>
            <a:off x="1912704" y="4748664"/>
            <a:ext cx="9525" cy="354434"/>
          </a:xfrm>
          <a:prstGeom prst="rect">
            <a:avLst/>
          </a:prstGeom>
          <a:solidFill>
            <a:srgbClr val="D3B9A5"/>
          </a:solidFill>
          <a:ln/>
        </p:spPr>
        <p:txBody>
          <a:bodyPr/>
          <a:lstStyle/>
          <a:p>
            <a:endParaRPr lang="ko-KR" altLang="en-US"/>
          </a:p>
        </p:txBody>
      </p:sp>
      <p:sp>
        <p:nvSpPr>
          <p:cNvPr id="160" name="Text 157"/>
          <p:cNvSpPr/>
          <p:nvPr/>
        </p:nvSpPr>
        <p:spPr>
          <a:xfrm>
            <a:off x="1933847" y="4782456"/>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500만</a:t>
            </a:r>
            <a:endParaRPr lang="en-US" sz="1088" dirty="0"/>
          </a:p>
        </p:txBody>
      </p:sp>
      <p:sp>
        <p:nvSpPr>
          <p:cNvPr id="161" name="Shape 158"/>
          <p:cNvSpPr/>
          <p:nvPr/>
        </p:nvSpPr>
        <p:spPr>
          <a:xfrm>
            <a:off x="4660952" y="4748664"/>
            <a:ext cx="2748248" cy="354434"/>
          </a:xfrm>
          <a:prstGeom prst="rect">
            <a:avLst/>
          </a:prstGeom>
          <a:solidFill>
            <a:srgbClr val="FFFFFF"/>
          </a:solidFill>
          <a:ln/>
        </p:spPr>
        <p:txBody>
          <a:bodyPr/>
          <a:lstStyle/>
          <a:p>
            <a:endParaRPr lang="ko-KR" altLang="en-US"/>
          </a:p>
        </p:txBody>
      </p:sp>
      <p:sp>
        <p:nvSpPr>
          <p:cNvPr id="162" name="Shape 159"/>
          <p:cNvSpPr/>
          <p:nvPr/>
        </p:nvSpPr>
        <p:spPr>
          <a:xfrm>
            <a:off x="4660952" y="4748664"/>
            <a:ext cx="2748248" cy="9525"/>
          </a:xfrm>
          <a:prstGeom prst="rect">
            <a:avLst/>
          </a:prstGeom>
          <a:solidFill>
            <a:srgbClr val="D3B9A5"/>
          </a:solidFill>
          <a:ln/>
        </p:spPr>
        <p:txBody>
          <a:bodyPr/>
          <a:lstStyle/>
          <a:p>
            <a:endParaRPr lang="ko-KR" altLang="en-US"/>
          </a:p>
        </p:txBody>
      </p:sp>
      <p:sp>
        <p:nvSpPr>
          <p:cNvPr id="163" name="Shape 160"/>
          <p:cNvSpPr/>
          <p:nvPr/>
        </p:nvSpPr>
        <p:spPr>
          <a:xfrm>
            <a:off x="4660952" y="4748664"/>
            <a:ext cx="9525" cy="354434"/>
          </a:xfrm>
          <a:prstGeom prst="rect">
            <a:avLst/>
          </a:prstGeom>
          <a:solidFill>
            <a:srgbClr val="D3B9A5"/>
          </a:solidFill>
          <a:ln/>
        </p:spPr>
        <p:txBody>
          <a:bodyPr/>
          <a:lstStyle/>
          <a:p>
            <a:endParaRPr lang="ko-KR" altLang="en-US"/>
          </a:p>
        </p:txBody>
      </p:sp>
      <p:sp>
        <p:nvSpPr>
          <p:cNvPr id="164" name="Text 161"/>
          <p:cNvSpPr/>
          <p:nvPr/>
        </p:nvSpPr>
        <p:spPr>
          <a:xfrm>
            <a:off x="4682095" y="4782456"/>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500만</a:t>
            </a:r>
            <a:endParaRPr lang="en-US" sz="1088" dirty="0"/>
          </a:p>
        </p:txBody>
      </p:sp>
      <p:sp>
        <p:nvSpPr>
          <p:cNvPr id="165" name="Shape 162"/>
          <p:cNvSpPr/>
          <p:nvPr/>
        </p:nvSpPr>
        <p:spPr>
          <a:xfrm>
            <a:off x="7409200" y="4748664"/>
            <a:ext cx="2748737" cy="354434"/>
          </a:xfrm>
          <a:prstGeom prst="rect">
            <a:avLst/>
          </a:prstGeom>
          <a:solidFill>
            <a:srgbClr val="FFFFFF"/>
          </a:solidFill>
          <a:ln/>
        </p:spPr>
        <p:txBody>
          <a:bodyPr/>
          <a:lstStyle/>
          <a:p>
            <a:endParaRPr lang="ko-KR" altLang="en-US"/>
          </a:p>
        </p:txBody>
      </p:sp>
      <p:sp>
        <p:nvSpPr>
          <p:cNvPr id="166" name="Shape 163"/>
          <p:cNvSpPr/>
          <p:nvPr/>
        </p:nvSpPr>
        <p:spPr>
          <a:xfrm>
            <a:off x="7409200" y="4748664"/>
            <a:ext cx="2748737" cy="9525"/>
          </a:xfrm>
          <a:prstGeom prst="rect">
            <a:avLst/>
          </a:prstGeom>
          <a:solidFill>
            <a:srgbClr val="D3B9A5"/>
          </a:solidFill>
          <a:ln/>
        </p:spPr>
        <p:txBody>
          <a:bodyPr/>
          <a:lstStyle/>
          <a:p>
            <a:endParaRPr lang="ko-KR" altLang="en-US"/>
          </a:p>
        </p:txBody>
      </p:sp>
      <p:sp>
        <p:nvSpPr>
          <p:cNvPr id="167" name="Shape 164"/>
          <p:cNvSpPr/>
          <p:nvPr/>
        </p:nvSpPr>
        <p:spPr>
          <a:xfrm>
            <a:off x="7409200" y="4748664"/>
            <a:ext cx="9525" cy="354434"/>
          </a:xfrm>
          <a:prstGeom prst="rect">
            <a:avLst/>
          </a:prstGeom>
          <a:solidFill>
            <a:srgbClr val="D3B9A5"/>
          </a:solidFill>
          <a:ln/>
        </p:spPr>
        <p:txBody>
          <a:bodyPr/>
          <a:lstStyle/>
          <a:p>
            <a:endParaRPr lang="ko-KR" altLang="en-US"/>
          </a:p>
        </p:txBody>
      </p:sp>
      <p:sp>
        <p:nvSpPr>
          <p:cNvPr id="168" name="Text 165"/>
          <p:cNvSpPr/>
          <p:nvPr/>
        </p:nvSpPr>
        <p:spPr>
          <a:xfrm>
            <a:off x="7430336" y="4782456"/>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69" name="Shape 166"/>
          <p:cNvSpPr/>
          <p:nvPr/>
        </p:nvSpPr>
        <p:spPr>
          <a:xfrm>
            <a:off x="538580" y="5103097"/>
            <a:ext cx="1374124" cy="354434"/>
          </a:xfrm>
          <a:prstGeom prst="rect">
            <a:avLst/>
          </a:prstGeom>
          <a:solidFill>
            <a:srgbClr val="FCF4EE"/>
          </a:solidFill>
          <a:ln/>
        </p:spPr>
        <p:txBody>
          <a:bodyPr/>
          <a:lstStyle/>
          <a:p>
            <a:endParaRPr lang="ko-KR" altLang="en-US"/>
          </a:p>
        </p:txBody>
      </p:sp>
      <p:sp>
        <p:nvSpPr>
          <p:cNvPr id="170" name="Shape 167"/>
          <p:cNvSpPr/>
          <p:nvPr/>
        </p:nvSpPr>
        <p:spPr>
          <a:xfrm>
            <a:off x="538580" y="5103097"/>
            <a:ext cx="1374124" cy="9525"/>
          </a:xfrm>
          <a:prstGeom prst="rect">
            <a:avLst/>
          </a:prstGeom>
          <a:solidFill>
            <a:srgbClr val="D3B9A5"/>
          </a:solidFill>
          <a:ln/>
        </p:spPr>
        <p:txBody>
          <a:bodyPr/>
          <a:lstStyle/>
          <a:p>
            <a:endParaRPr lang="ko-KR" altLang="en-US"/>
          </a:p>
        </p:txBody>
      </p:sp>
      <p:sp>
        <p:nvSpPr>
          <p:cNvPr id="171" name="Text 168"/>
          <p:cNvSpPr/>
          <p:nvPr/>
        </p:nvSpPr>
        <p:spPr>
          <a:xfrm>
            <a:off x="557630" y="5136889"/>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중증무릎관절연골손상</a:t>
            </a:r>
            <a:endParaRPr lang="en-US" sz="1088" dirty="0"/>
          </a:p>
        </p:txBody>
      </p:sp>
      <p:sp>
        <p:nvSpPr>
          <p:cNvPr id="172" name="Shape 169"/>
          <p:cNvSpPr/>
          <p:nvPr/>
        </p:nvSpPr>
        <p:spPr>
          <a:xfrm>
            <a:off x="1912704" y="5103097"/>
            <a:ext cx="2748248" cy="354434"/>
          </a:xfrm>
          <a:prstGeom prst="rect">
            <a:avLst/>
          </a:prstGeom>
          <a:solidFill>
            <a:srgbClr val="F8E1D0"/>
          </a:solidFill>
          <a:ln/>
        </p:spPr>
        <p:txBody>
          <a:bodyPr/>
          <a:lstStyle/>
          <a:p>
            <a:endParaRPr lang="ko-KR" altLang="en-US"/>
          </a:p>
        </p:txBody>
      </p:sp>
      <p:sp>
        <p:nvSpPr>
          <p:cNvPr id="173" name="Shape 170"/>
          <p:cNvSpPr/>
          <p:nvPr/>
        </p:nvSpPr>
        <p:spPr>
          <a:xfrm>
            <a:off x="1912704" y="5103097"/>
            <a:ext cx="2748248" cy="9525"/>
          </a:xfrm>
          <a:prstGeom prst="rect">
            <a:avLst/>
          </a:prstGeom>
          <a:solidFill>
            <a:srgbClr val="D3B9A5"/>
          </a:solidFill>
          <a:ln/>
        </p:spPr>
        <p:txBody>
          <a:bodyPr/>
          <a:lstStyle/>
          <a:p>
            <a:endParaRPr lang="ko-KR" altLang="en-US"/>
          </a:p>
        </p:txBody>
      </p:sp>
      <p:sp>
        <p:nvSpPr>
          <p:cNvPr id="174" name="Shape 171"/>
          <p:cNvSpPr/>
          <p:nvPr/>
        </p:nvSpPr>
        <p:spPr>
          <a:xfrm>
            <a:off x="1912704" y="5103097"/>
            <a:ext cx="9525" cy="354434"/>
          </a:xfrm>
          <a:prstGeom prst="rect">
            <a:avLst/>
          </a:prstGeom>
          <a:solidFill>
            <a:srgbClr val="D3B9A5"/>
          </a:solidFill>
          <a:ln/>
        </p:spPr>
        <p:txBody>
          <a:bodyPr/>
          <a:lstStyle/>
          <a:p>
            <a:endParaRPr lang="ko-KR" altLang="en-US"/>
          </a:p>
        </p:txBody>
      </p:sp>
      <p:sp>
        <p:nvSpPr>
          <p:cNvPr id="175" name="Text 172"/>
          <p:cNvSpPr/>
          <p:nvPr/>
        </p:nvSpPr>
        <p:spPr>
          <a:xfrm>
            <a:off x="1933847" y="5136889"/>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500만</a:t>
            </a:r>
            <a:endParaRPr lang="en-US" sz="1088" dirty="0"/>
          </a:p>
        </p:txBody>
      </p:sp>
      <p:sp>
        <p:nvSpPr>
          <p:cNvPr id="176" name="Shape 173"/>
          <p:cNvSpPr/>
          <p:nvPr/>
        </p:nvSpPr>
        <p:spPr>
          <a:xfrm>
            <a:off x="4660952" y="5103097"/>
            <a:ext cx="2748248" cy="354434"/>
          </a:xfrm>
          <a:prstGeom prst="rect">
            <a:avLst/>
          </a:prstGeom>
          <a:solidFill>
            <a:srgbClr val="FFFFFF"/>
          </a:solidFill>
          <a:ln/>
        </p:spPr>
        <p:txBody>
          <a:bodyPr/>
          <a:lstStyle/>
          <a:p>
            <a:endParaRPr lang="ko-KR" altLang="en-US"/>
          </a:p>
        </p:txBody>
      </p:sp>
      <p:sp>
        <p:nvSpPr>
          <p:cNvPr id="177" name="Shape 174"/>
          <p:cNvSpPr/>
          <p:nvPr/>
        </p:nvSpPr>
        <p:spPr>
          <a:xfrm>
            <a:off x="4660952" y="5103097"/>
            <a:ext cx="2748248" cy="9525"/>
          </a:xfrm>
          <a:prstGeom prst="rect">
            <a:avLst/>
          </a:prstGeom>
          <a:solidFill>
            <a:srgbClr val="D3B9A5"/>
          </a:solidFill>
          <a:ln/>
        </p:spPr>
        <p:txBody>
          <a:bodyPr/>
          <a:lstStyle/>
          <a:p>
            <a:endParaRPr lang="ko-KR" altLang="en-US"/>
          </a:p>
        </p:txBody>
      </p:sp>
      <p:sp>
        <p:nvSpPr>
          <p:cNvPr id="178" name="Shape 175"/>
          <p:cNvSpPr/>
          <p:nvPr/>
        </p:nvSpPr>
        <p:spPr>
          <a:xfrm>
            <a:off x="4660952" y="5103097"/>
            <a:ext cx="9525" cy="354434"/>
          </a:xfrm>
          <a:prstGeom prst="rect">
            <a:avLst/>
          </a:prstGeom>
          <a:solidFill>
            <a:srgbClr val="D3B9A5"/>
          </a:solidFill>
          <a:ln/>
        </p:spPr>
        <p:txBody>
          <a:bodyPr/>
          <a:lstStyle/>
          <a:p>
            <a:endParaRPr lang="ko-KR" altLang="en-US"/>
          </a:p>
        </p:txBody>
      </p:sp>
      <p:sp>
        <p:nvSpPr>
          <p:cNvPr id="179" name="Text 176"/>
          <p:cNvSpPr/>
          <p:nvPr/>
        </p:nvSpPr>
        <p:spPr>
          <a:xfrm>
            <a:off x="4682095" y="5136889"/>
            <a:ext cx="2711179"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500만</a:t>
            </a:r>
            <a:endParaRPr lang="en-US" sz="1088" dirty="0"/>
          </a:p>
        </p:txBody>
      </p:sp>
      <p:sp>
        <p:nvSpPr>
          <p:cNvPr id="180" name="Shape 177"/>
          <p:cNvSpPr/>
          <p:nvPr/>
        </p:nvSpPr>
        <p:spPr>
          <a:xfrm>
            <a:off x="7409200" y="5103097"/>
            <a:ext cx="2748737" cy="354434"/>
          </a:xfrm>
          <a:prstGeom prst="rect">
            <a:avLst/>
          </a:prstGeom>
          <a:solidFill>
            <a:srgbClr val="FFFFFF"/>
          </a:solidFill>
          <a:ln/>
        </p:spPr>
        <p:txBody>
          <a:bodyPr/>
          <a:lstStyle/>
          <a:p>
            <a:endParaRPr lang="ko-KR" altLang="en-US"/>
          </a:p>
        </p:txBody>
      </p:sp>
      <p:sp>
        <p:nvSpPr>
          <p:cNvPr id="181" name="Shape 178"/>
          <p:cNvSpPr/>
          <p:nvPr/>
        </p:nvSpPr>
        <p:spPr>
          <a:xfrm>
            <a:off x="7409200" y="5103097"/>
            <a:ext cx="2748737" cy="9525"/>
          </a:xfrm>
          <a:prstGeom prst="rect">
            <a:avLst/>
          </a:prstGeom>
          <a:solidFill>
            <a:srgbClr val="D3B9A5"/>
          </a:solidFill>
          <a:ln/>
        </p:spPr>
        <p:txBody>
          <a:bodyPr/>
          <a:lstStyle/>
          <a:p>
            <a:endParaRPr lang="ko-KR" altLang="en-US"/>
          </a:p>
        </p:txBody>
      </p:sp>
      <p:sp>
        <p:nvSpPr>
          <p:cNvPr id="182" name="Shape 179"/>
          <p:cNvSpPr/>
          <p:nvPr/>
        </p:nvSpPr>
        <p:spPr>
          <a:xfrm>
            <a:off x="7409200" y="5103097"/>
            <a:ext cx="9525" cy="354434"/>
          </a:xfrm>
          <a:prstGeom prst="rect">
            <a:avLst/>
          </a:prstGeom>
          <a:solidFill>
            <a:srgbClr val="D3B9A5"/>
          </a:solidFill>
          <a:ln/>
        </p:spPr>
        <p:txBody>
          <a:bodyPr/>
          <a:lstStyle/>
          <a:p>
            <a:endParaRPr lang="ko-KR" altLang="en-US"/>
          </a:p>
        </p:txBody>
      </p:sp>
      <p:sp>
        <p:nvSpPr>
          <p:cNvPr id="183" name="Text 180"/>
          <p:cNvSpPr/>
          <p:nvPr/>
        </p:nvSpPr>
        <p:spPr>
          <a:xfrm>
            <a:off x="7430336" y="5136889"/>
            <a:ext cx="2711682"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a:t>
            </a:r>
            <a:endParaRPr lang="en-US" sz="1088" dirty="0"/>
          </a:p>
        </p:txBody>
      </p:sp>
      <p:sp>
        <p:nvSpPr>
          <p:cNvPr id="184" name="Shape 181"/>
          <p:cNvSpPr/>
          <p:nvPr/>
        </p:nvSpPr>
        <p:spPr>
          <a:xfrm>
            <a:off x="538580" y="5457531"/>
            <a:ext cx="1374124" cy="354434"/>
          </a:xfrm>
          <a:prstGeom prst="rect">
            <a:avLst/>
          </a:prstGeom>
          <a:solidFill>
            <a:srgbClr val="FCF4EE"/>
          </a:solidFill>
          <a:ln/>
        </p:spPr>
        <p:txBody>
          <a:bodyPr/>
          <a:lstStyle/>
          <a:p>
            <a:endParaRPr lang="ko-KR" altLang="en-US"/>
          </a:p>
        </p:txBody>
      </p:sp>
      <p:sp>
        <p:nvSpPr>
          <p:cNvPr id="185" name="Shape 182"/>
          <p:cNvSpPr/>
          <p:nvPr/>
        </p:nvSpPr>
        <p:spPr>
          <a:xfrm>
            <a:off x="538580" y="5457531"/>
            <a:ext cx="1374124" cy="9525"/>
          </a:xfrm>
          <a:prstGeom prst="rect">
            <a:avLst/>
          </a:prstGeom>
          <a:solidFill>
            <a:srgbClr val="D3B9A5"/>
          </a:solidFill>
          <a:ln/>
        </p:spPr>
        <p:txBody>
          <a:bodyPr/>
          <a:lstStyle/>
          <a:p>
            <a:endParaRPr lang="ko-KR" altLang="en-US"/>
          </a:p>
        </p:txBody>
      </p:sp>
      <p:sp>
        <p:nvSpPr>
          <p:cNvPr id="186" name="Text 183"/>
          <p:cNvSpPr/>
          <p:nvPr/>
        </p:nvSpPr>
        <p:spPr>
          <a:xfrm>
            <a:off x="557630" y="5491323"/>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보험료</a:t>
            </a:r>
            <a:endParaRPr lang="en-US" sz="1088" dirty="0"/>
          </a:p>
        </p:txBody>
      </p:sp>
      <p:sp>
        <p:nvSpPr>
          <p:cNvPr id="187" name="Shape 184"/>
          <p:cNvSpPr/>
          <p:nvPr/>
        </p:nvSpPr>
        <p:spPr>
          <a:xfrm>
            <a:off x="1912704" y="5457531"/>
            <a:ext cx="1374124" cy="354434"/>
          </a:xfrm>
          <a:prstGeom prst="rect">
            <a:avLst/>
          </a:prstGeom>
          <a:solidFill>
            <a:srgbClr val="F8E1D0"/>
          </a:solidFill>
          <a:ln/>
        </p:spPr>
        <p:txBody>
          <a:bodyPr/>
          <a:lstStyle/>
          <a:p>
            <a:endParaRPr lang="ko-KR" altLang="en-US"/>
          </a:p>
        </p:txBody>
      </p:sp>
      <p:sp>
        <p:nvSpPr>
          <p:cNvPr id="188" name="Shape 185"/>
          <p:cNvSpPr/>
          <p:nvPr/>
        </p:nvSpPr>
        <p:spPr>
          <a:xfrm>
            <a:off x="1912704" y="5457531"/>
            <a:ext cx="1374124" cy="9525"/>
          </a:xfrm>
          <a:prstGeom prst="rect">
            <a:avLst/>
          </a:prstGeom>
          <a:solidFill>
            <a:srgbClr val="D3B9A5"/>
          </a:solidFill>
          <a:ln/>
        </p:spPr>
        <p:txBody>
          <a:bodyPr/>
          <a:lstStyle/>
          <a:p>
            <a:endParaRPr lang="ko-KR" altLang="en-US"/>
          </a:p>
        </p:txBody>
      </p:sp>
      <p:sp>
        <p:nvSpPr>
          <p:cNvPr id="189" name="Shape 186"/>
          <p:cNvSpPr/>
          <p:nvPr/>
        </p:nvSpPr>
        <p:spPr>
          <a:xfrm>
            <a:off x="1912704" y="5457531"/>
            <a:ext cx="9525" cy="354434"/>
          </a:xfrm>
          <a:prstGeom prst="rect">
            <a:avLst/>
          </a:prstGeom>
          <a:solidFill>
            <a:srgbClr val="D3B9A5"/>
          </a:solidFill>
          <a:ln/>
        </p:spPr>
        <p:txBody>
          <a:bodyPr/>
          <a:lstStyle/>
          <a:p>
            <a:endParaRPr lang="ko-KR" altLang="en-US"/>
          </a:p>
        </p:txBody>
      </p:sp>
      <p:sp>
        <p:nvSpPr>
          <p:cNvPr id="190" name="Text 187"/>
          <p:cNvSpPr/>
          <p:nvPr/>
        </p:nvSpPr>
        <p:spPr>
          <a:xfrm>
            <a:off x="1936971" y="5491323"/>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남성</a:t>
            </a:r>
            <a:endParaRPr lang="en-US" sz="1088" dirty="0"/>
          </a:p>
        </p:txBody>
      </p:sp>
      <p:sp>
        <p:nvSpPr>
          <p:cNvPr id="191" name="Shape 188"/>
          <p:cNvSpPr/>
          <p:nvPr/>
        </p:nvSpPr>
        <p:spPr>
          <a:xfrm>
            <a:off x="3286828" y="5457531"/>
            <a:ext cx="1374124" cy="354434"/>
          </a:xfrm>
          <a:prstGeom prst="rect">
            <a:avLst/>
          </a:prstGeom>
          <a:solidFill>
            <a:srgbClr val="F8E1D0"/>
          </a:solidFill>
          <a:ln/>
        </p:spPr>
        <p:txBody>
          <a:bodyPr/>
          <a:lstStyle/>
          <a:p>
            <a:endParaRPr lang="ko-KR" altLang="en-US"/>
          </a:p>
        </p:txBody>
      </p:sp>
      <p:sp>
        <p:nvSpPr>
          <p:cNvPr id="192" name="Shape 189"/>
          <p:cNvSpPr/>
          <p:nvPr/>
        </p:nvSpPr>
        <p:spPr>
          <a:xfrm>
            <a:off x="3286828" y="5457531"/>
            <a:ext cx="1374124" cy="9525"/>
          </a:xfrm>
          <a:prstGeom prst="rect">
            <a:avLst/>
          </a:prstGeom>
          <a:solidFill>
            <a:srgbClr val="D3B9A5"/>
          </a:solidFill>
          <a:ln/>
        </p:spPr>
        <p:txBody>
          <a:bodyPr/>
          <a:lstStyle/>
          <a:p>
            <a:endParaRPr lang="ko-KR" altLang="en-US"/>
          </a:p>
        </p:txBody>
      </p:sp>
      <p:sp>
        <p:nvSpPr>
          <p:cNvPr id="193" name="Shape 190"/>
          <p:cNvSpPr/>
          <p:nvPr/>
        </p:nvSpPr>
        <p:spPr>
          <a:xfrm>
            <a:off x="3286828" y="5457531"/>
            <a:ext cx="9525" cy="354434"/>
          </a:xfrm>
          <a:prstGeom prst="rect">
            <a:avLst/>
          </a:prstGeom>
          <a:solidFill>
            <a:srgbClr val="D3B9A5"/>
          </a:solidFill>
          <a:ln/>
        </p:spPr>
        <p:txBody>
          <a:bodyPr/>
          <a:lstStyle/>
          <a:p>
            <a:endParaRPr lang="ko-KR" altLang="en-US"/>
          </a:p>
        </p:txBody>
      </p:sp>
      <p:sp>
        <p:nvSpPr>
          <p:cNvPr id="194" name="Text 191"/>
          <p:cNvSpPr/>
          <p:nvPr/>
        </p:nvSpPr>
        <p:spPr>
          <a:xfrm>
            <a:off x="3311095" y="5491323"/>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여성</a:t>
            </a:r>
            <a:endParaRPr lang="en-US" sz="1088" dirty="0"/>
          </a:p>
        </p:txBody>
      </p:sp>
      <p:sp>
        <p:nvSpPr>
          <p:cNvPr id="195" name="Shape 192"/>
          <p:cNvSpPr/>
          <p:nvPr/>
        </p:nvSpPr>
        <p:spPr>
          <a:xfrm>
            <a:off x="4660952" y="5457531"/>
            <a:ext cx="1374124" cy="354434"/>
          </a:xfrm>
          <a:prstGeom prst="rect">
            <a:avLst/>
          </a:prstGeom>
          <a:solidFill>
            <a:srgbClr val="FFFFFF"/>
          </a:solidFill>
          <a:ln/>
        </p:spPr>
        <p:txBody>
          <a:bodyPr/>
          <a:lstStyle/>
          <a:p>
            <a:endParaRPr lang="ko-KR" altLang="en-US"/>
          </a:p>
        </p:txBody>
      </p:sp>
      <p:sp>
        <p:nvSpPr>
          <p:cNvPr id="196" name="Shape 193"/>
          <p:cNvSpPr/>
          <p:nvPr/>
        </p:nvSpPr>
        <p:spPr>
          <a:xfrm>
            <a:off x="4660952" y="5457531"/>
            <a:ext cx="1374124" cy="9525"/>
          </a:xfrm>
          <a:prstGeom prst="rect">
            <a:avLst/>
          </a:prstGeom>
          <a:solidFill>
            <a:srgbClr val="D3B9A5"/>
          </a:solidFill>
          <a:ln/>
        </p:spPr>
        <p:txBody>
          <a:bodyPr/>
          <a:lstStyle/>
          <a:p>
            <a:endParaRPr lang="ko-KR" altLang="en-US"/>
          </a:p>
        </p:txBody>
      </p:sp>
      <p:sp>
        <p:nvSpPr>
          <p:cNvPr id="197" name="Shape 194"/>
          <p:cNvSpPr/>
          <p:nvPr/>
        </p:nvSpPr>
        <p:spPr>
          <a:xfrm>
            <a:off x="4660952" y="5457531"/>
            <a:ext cx="9525" cy="354434"/>
          </a:xfrm>
          <a:prstGeom prst="rect">
            <a:avLst/>
          </a:prstGeom>
          <a:solidFill>
            <a:srgbClr val="D3B9A5"/>
          </a:solidFill>
          <a:ln/>
        </p:spPr>
        <p:txBody>
          <a:bodyPr/>
          <a:lstStyle/>
          <a:p>
            <a:endParaRPr lang="ko-KR" altLang="en-US"/>
          </a:p>
        </p:txBody>
      </p:sp>
      <p:sp>
        <p:nvSpPr>
          <p:cNvPr id="198" name="Text 195"/>
          <p:cNvSpPr/>
          <p:nvPr/>
        </p:nvSpPr>
        <p:spPr>
          <a:xfrm>
            <a:off x="4685219" y="5491323"/>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남성</a:t>
            </a:r>
            <a:endParaRPr lang="en-US" sz="1088" dirty="0"/>
          </a:p>
        </p:txBody>
      </p:sp>
      <p:sp>
        <p:nvSpPr>
          <p:cNvPr id="199" name="Shape 196"/>
          <p:cNvSpPr/>
          <p:nvPr/>
        </p:nvSpPr>
        <p:spPr>
          <a:xfrm>
            <a:off x="6035076" y="5457531"/>
            <a:ext cx="1374124" cy="354434"/>
          </a:xfrm>
          <a:prstGeom prst="rect">
            <a:avLst/>
          </a:prstGeom>
          <a:solidFill>
            <a:srgbClr val="FFFFFF"/>
          </a:solidFill>
          <a:ln/>
        </p:spPr>
        <p:txBody>
          <a:bodyPr/>
          <a:lstStyle/>
          <a:p>
            <a:endParaRPr lang="ko-KR" altLang="en-US"/>
          </a:p>
        </p:txBody>
      </p:sp>
      <p:sp>
        <p:nvSpPr>
          <p:cNvPr id="200" name="Shape 197"/>
          <p:cNvSpPr/>
          <p:nvPr/>
        </p:nvSpPr>
        <p:spPr>
          <a:xfrm>
            <a:off x="6035076" y="5457531"/>
            <a:ext cx="1374124" cy="9525"/>
          </a:xfrm>
          <a:prstGeom prst="rect">
            <a:avLst/>
          </a:prstGeom>
          <a:solidFill>
            <a:srgbClr val="D3B9A5"/>
          </a:solidFill>
          <a:ln/>
        </p:spPr>
        <p:txBody>
          <a:bodyPr/>
          <a:lstStyle/>
          <a:p>
            <a:endParaRPr lang="ko-KR" altLang="en-US"/>
          </a:p>
        </p:txBody>
      </p:sp>
      <p:sp>
        <p:nvSpPr>
          <p:cNvPr id="201" name="Shape 198"/>
          <p:cNvSpPr/>
          <p:nvPr/>
        </p:nvSpPr>
        <p:spPr>
          <a:xfrm>
            <a:off x="6035076" y="5457531"/>
            <a:ext cx="9525" cy="354434"/>
          </a:xfrm>
          <a:prstGeom prst="rect">
            <a:avLst/>
          </a:prstGeom>
          <a:solidFill>
            <a:srgbClr val="D3B9A5"/>
          </a:solidFill>
          <a:ln/>
        </p:spPr>
        <p:txBody>
          <a:bodyPr/>
          <a:lstStyle/>
          <a:p>
            <a:endParaRPr lang="ko-KR" altLang="en-US"/>
          </a:p>
        </p:txBody>
      </p:sp>
      <p:sp>
        <p:nvSpPr>
          <p:cNvPr id="202" name="Text 199"/>
          <p:cNvSpPr/>
          <p:nvPr/>
        </p:nvSpPr>
        <p:spPr>
          <a:xfrm>
            <a:off x="6059343" y="5491323"/>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여성</a:t>
            </a:r>
            <a:endParaRPr lang="en-US" sz="1088" dirty="0"/>
          </a:p>
        </p:txBody>
      </p:sp>
      <p:sp>
        <p:nvSpPr>
          <p:cNvPr id="203" name="Shape 200"/>
          <p:cNvSpPr/>
          <p:nvPr/>
        </p:nvSpPr>
        <p:spPr>
          <a:xfrm>
            <a:off x="7409200" y="5457531"/>
            <a:ext cx="1374124" cy="354434"/>
          </a:xfrm>
          <a:prstGeom prst="rect">
            <a:avLst/>
          </a:prstGeom>
          <a:solidFill>
            <a:srgbClr val="FFFFFF"/>
          </a:solidFill>
          <a:ln/>
        </p:spPr>
        <p:txBody>
          <a:bodyPr/>
          <a:lstStyle/>
          <a:p>
            <a:endParaRPr lang="ko-KR" altLang="en-US"/>
          </a:p>
        </p:txBody>
      </p:sp>
      <p:sp>
        <p:nvSpPr>
          <p:cNvPr id="204" name="Shape 201"/>
          <p:cNvSpPr/>
          <p:nvPr/>
        </p:nvSpPr>
        <p:spPr>
          <a:xfrm>
            <a:off x="7409200" y="5457531"/>
            <a:ext cx="1374124" cy="9525"/>
          </a:xfrm>
          <a:prstGeom prst="rect">
            <a:avLst/>
          </a:prstGeom>
          <a:solidFill>
            <a:srgbClr val="D3B9A5"/>
          </a:solidFill>
          <a:ln/>
        </p:spPr>
        <p:txBody>
          <a:bodyPr/>
          <a:lstStyle/>
          <a:p>
            <a:endParaRPr lang="ko-KR" altLang="en-US"/>
          </a:p>
        </p:txBody>
      </p:sp>
      <p:sp>
        <p:nvSpPr>
          <p:cNvPr id="205" name="Shape 202"/>
          <p:cNvSpPr/>
          <p:nvPr/>
        </p:nvSpPr>
        <p:spPr>
          <a:xfrm>
            <a:off x="7409200" y="5457531"/>
            <a:ext cx="9525" cy="354434"/>
          </a:xfrm>
          <a:prstGeom prst="rect">
            <a:avLst/>
          </a:prstGeom>
          <a:solidFill>
            <a:srgbClr val="D3B9A5"/>
          </a:solidFill>
          <a:ln/>
        </p:spPr>
        <p:txBody>
          <a:bodyPr/>
          <a:lstStyle/>
          <a:p>
            <a:endParaRPr lang="ko-KR" altLang="en-US"/>
          </a:p>
        </p:txBody>
      </p:sp>
      <p:sp>
        <p:nvSpPr>
          <p:cNvPr id="206" name="Text 203"/>
          <p:cNvSpPr/>
          <p:nvPr/>
        </p:nvSpPr>
        <p:spPr>
          <a:xfrm>
            <a:off x="7433467" y="5491323"/>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남성</a:t>
            </a:r>
            <a:endParaRPr lang="en-US" sz="1088" dirty="0"/>
          </a:p>
        </p:txBody>
      </p:sp>
      <p:sp>
        <p:nvSpPr>
          <p:cNvPr id="207" name="Shape 204"/>
          <p:cNvSpPr/>
          <p:nvPr/>
        </p:nvSpPr>
        <p:spPr>
          <a:xfrm>
            <a:off x="8783324" y="5457531"/>
            <a:ext cx="1374613" cy="354434"/>
          </a:xfrm>
          <a:prstGeom prst="rect">
            <a:avLst/>
          </a:prstGeom>
          <a:solidFill>
            <a:srgbClr val="FFFFFF"/>
          </a:solidFill>
          <a:ln/>
        </p:spPr>
        <p:txBody>
          <a:bodyPr/>
          <a:lstStyle/>
          <a:p>
            <a:endParaRPr lang="ko-KR" altLang="en-US"/>
          </a:p>
        </p:txBody>
      </p:sp>
      <p:sp>
        <p:nvSpPr>
          <p:cNvPr id="208" name="Shape 205"/>
          <p:cNvSpPr/>
          <p:nvPr/>
        </p:nvSpPr>
        <p:spPr>
          <a:xfrm>
            <a:off x="8783324" y="5457531"/>
            <a:ext cx="1374613" cy="9525"/>
          </a:xfrm>
          <a:prstGeom prst="rect">
            <a:avLst/>
          </a:prstGeom>
          <a:solidFill>
            <a:srgbClr val="D3B9A5"/>
          </a:solidFill>
          <a:ln/>
        </p:spPr>
        <p:txBody>
          <a:bodyPr/>
          <a:lstStyle/>
          <a:p>
            <a:endParaRPr lang="ko-KR" altLang="en-US"/>
          </a:p>
        </p:txBody>
      </p:sp>
      <p:sp>
        <p:nvSpPr>
          <p:cNvPr id="209" name="Shape 206"/>
          <p:cNvSpPr/>
          <p:nvPr/>
        </p:nvSpPr>
        <p:spPr>
          <a:xfrm>
            <a:off x="8783324" y="5457531"/>
            <a:ext cx="9525" cy="354434"/>
          </a:xfrm>
          <a:prstGeom prst="rect">
            <a:avLst/>
          </a:prstGeom>
          <a:solidFill>
            <a:srgbClr val="D3B9A5"/>
          </a:solidFill>
          <a:ln/>
        </p:spPr>
        <p:txBody>
          <a:bodyPr/>
          <a:lstStyle/>
          <a:p>
            <a:endParaRPr lang="ko-KR" altLang="en-US"/>
          </a:p>
        </p:txBody>
      </p:sp>
      <p:sp>
        <p:nvSpPr>
          <p:cNvPr id="210" name="Text 207"/>
          <p:cNvSpPr/>
          <p:nvPr/>
        </p:nvSpPr>
        <p:spPr>
          <a:xfrm>
            <a:off x="8807591" y="5491323"/>
            <a:ext cx="1331296"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여성</a:t>
            </a:r>
            <a:endParaRPr lang="en-US" sz="1088" dirty="0"/>
          </a:p>
        </p:txBody>
      </p:sp>
      <p:sp>
        <p:nvSpPr>
          <p:cNvPr id="211" name="Shape 208"/>
          <p:cNvSpPr/>
          <p:nvPr/>
        </p:nvSpPr>
        <p:spPr>
          <a:xfrm>
            <a:off x="538580" y="5811965"/>
            <a:ext cx="1374124" cy="354434"/>
          </a:xfrm>
          <a:prstGeom prst="rect">
            <a:avLst/>
          </a:prstGeom>
          <a:solidFill>
            <a:srgbClr val="FCF4EE"/>
          </a:solidFill>
          <a:ln/>
        </p:spPr>
        <p:txBody>
          <a:bodyPr/>
          <a:lstStyle/>
          <a:p>
            <a:endParaRPr lang="ko-KR" altLang="en-US"/>
          </a:p>
        </p:txBody>
      </p:sp>
      <p:sp>
        <p:nvSpPr>
          <p:cNvPr id="212" name="Shape 209"/>
          <p:cNvSpPr/>
          <p:nvPr/>
        </p:nvSpPr>
        <p:spPr>
          <a:xfrm>
            <a:off x="538580" y="5811965"/>
            <a:ext cx="1374124" cy="9525"/>
          </a:xfrm>
          <a:prstGeom prst="rect">
            <a:avLst/>
          </a:prstGeom>
          <a:solidFill>
            <a:srgbClr val="D3B9A5"/>
          </a:solidFill>
          <a:ln/>
        </p:spPr>
        <p:txBody>
          <a:bodyPr/>
          <a:lstStyle/>
          <a:p>
            <a:endParaRPr lang="ko-KR" altLang="en-US"/>
          </a:p>
        </p:txBody>
      </p:sp>
      <p:sp>
        <p:nvSpPr>
          <p:cNvPr id="213" name="Text 210"/>
          <p:cNvSpPr/>
          <p:nvPr/>
        </p:nvSpPr>
        <p:spPr>
          <a:xfrm>
            <a:off x="557630" y="5845757"/>
            <a:ext cx="1336024"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50세 (20년 갱신)</a:t>
            </a:r>
            <a:endParaRPr lang="en-US" sz="1088" dirty="0"/>
          </a:p>
        </p:txBody>
      </p:sp>
      <p:sp>
        <p:nvSpPr>
          <p:cNvPr id="214" name="Shape 211"/>
          <p:cNvSpPr/>
          <p:nvPr/>
        </p:nvSpPr>
        <p:spPr>
          <a:xfrm>
            <a:off x="1912704" y="5811965"/>
            <a:ext cx="1374124" cy="354434"/>
          </a:xfrm>
          <a:prstGeom prst="rect">
            <a:avLst/>
          </a:prstGeom>
          <a:solidFill>
            <a:srgbClr val="F8E1D0"/>
          </a:solidFill>
          <a:ln/>
        </p:spPr>
        <p:txBody>
          <a:bodyPr/>
          <a:lstStyle/>
          <a:p>
            <a:endParaRPr lang="ko-KR" altLang="en-US"/>
          </a:p>
        </p:txBody>
      </p:sp>
      <p:sp>
        <p:nvSpPr>
          <p:cNvPr id="215" name="Shape 212"/>
          <p:cNvSpPr/>
          <p:nvPr/>
        </p:nvSpPr>
        <p:spPr>
          <a:xfrm>
            <a:off x="1912704" y="5811965"/>
            <a:ext cx="1374124" cy="9525"/>
          </a:xfrm>
          <a:prstGeom prst="rect">
            <a:avLst/>
          </a:prstGeom>
          <a:solidFill>
            <a:srgbClr val="D3B9A5"/>
          </a:solidFill>
          <a:ln/>
        </p:spPr>
        <p:txBody>
          <a:bodyPr/>
          <a:lstStyle/>
          <a:p>
            <a:endParaRPr lang="ko-KR" altLang="en-US"/>
          </a:p>
        </p:txBody>
      </p:sp>
      <p:sp>
        <p:nvSpPr>
          <p:cNvPr id="216" name="Shape 213"/>
          <p:cNvSpPr/>
          <p:nvPr/>
        </p:nvSpPr>
        <p:spPr>
          <a:xfrm>
            <a:off x="1912704" y="5811965"/>
            <a:ext cx="9525" cy="354434"/>
          </a:xfrm>
          <a:prstGeom prst="rect">
            <a:avLst/>
          </a:prstGeom>
          <a:solidFill>
            <a:srgbClr val="D3B9A5"/>
          </a:solidFill>
          <a:ln/>
        </p:spPr>
        <p:txBody>
          <a:bodyPr/>
          <a:lstStyle/>
          <a:p>
            <a:endParaRPr lang="ko-KR" altLang="en-US"/>
          </a:p>
        </p:txBody>
      </p:sp>
      <p:sp>
        <p:nvSpPr>
          <p:cNvPr id="217" name="Text 214"/>
          <p:cNvSpPr/>
          <p:nvPr/>
        </p:nvSpPr>
        <p:spPr>
          <a:xfrm>
            <a:off x="1936971" y="5845757"/>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21,824</a:t>
            </a:r>
            <a:endParaRPr lang="en-US" sz="1088" dirty="0"/>
          </a:p>
        </p:txBody>
      </p:sp>
      <p:sp>
        <p:nvSpPr>
          <p:cNvPr id="218" name="Shape 215"/>
          <p:cNvSpPr/>
          <p:nvPr/>
        </p:nvSpPr>
        <p:spPr>
          <a:xfrm>
            <a:off x="3286828" y="5811965"/>
            <a:ext cx="1374124" cy="354434"/>
          </a:xfrm>
          <a:prstGeom prst="rect">
            <a:avLst/>
          </a:prstGeom>
          <a:solidFill>
            <a:srgbClr val="F8E1D0"/>
          </a:solidFill>
          <a:ln/>
        </p:spPr>
        <p:txBody>
          <a:bodyPr/>
          <a:lstStyle/>
          <a:p>
            <a:endParaRPr lang="ko-KR" altLang="en-US"/>
          </a:p>
        </p:txBody>
      </p:sp>
      <p:sp>
        <p:nvSpPr>
          <p:cNvPr id="219" name="Shape 216"/>
          <p:cNvSpPr/>
          <p:nvPr/>
        </p:nvSpPr>
        <p:spPr>
          <a:xfrm>
            <a:off x="3286828" y="5811965"/>
            <a:ext cx="1374124" cy="9525"/>
          </a:xfrm>
          <a:prstGeom prst="rect">
            <a:avLst/>
          </a:prstGeom>
          <a:solidFill>
            <a:srgbClr val="D3B9A5"/>
          </a:solidFill>
          <a:ln/>
        </p:spPr>
        <p:txBody>
          <a:bodyPr/>
          <a:lstStyle/>
          <a:p>
            <a:endParaRPr lang="ko-KR" altLang="en-US"/>
          </a:p>
        </p:txBody>
      </p:sp>
      <p:sp>
        <p:nvSpPr>
          <p:cNvPr id="220" name="Shape 217"/>
          <p:cNvSpPr/>
          <p:nvPr/>
        </p:nvSpPr>
        <p:spPr>
          <a:xfrm>
            <a:off x="3286828" y="5811965"/>
            <a:ext cx="9525" cy="354434"/>
          </a:xfrm>
          <a:prstGeom prst="rect">
            <a:avLst/>
          </a:prstGeom>
          <a:solidFill>
            <a:srgbClr val="D3B9A5"/>
          </a:solidFill>
          <a:ln/>
        </p:spPr>
        <p:txBody>
          <a:bodyPr/>
          <a:lstStyle/>
          <a:p>
            <a:endParaRPr lang="ko-KR" altLang="en-US"/>
          </a:p>
        </p:txBody>
      </p:sp>
      <p:sp>
        <p:nvSpPr>
          <p:cNvPr id="221" name="Text 218"/>
          <p:cNvSpPr/>
          <p:nvPr/>
        </p:nvSpPr>
        <p:spPr>
          <a:xfrm>
            <a:off x="3311095" y="5845757"/>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22,395</a:t>
            </a:r>
            <a:endParaRPr lang="en-US" sz="1088" dirty="0"/>
          </a:p>
        </p:txBody>
      </p:sp>
      <p:sp>
        <p:nvSpPr>
          <p:cNvPr id="222" name="Shape 219"/>
          <p:cNvSpPr/>
          <p:nvPr/>
        </p:nvSpPr>
        <p:spPr>
          <a:xfrm>
            <a:off x="4660952" y="5811965"/>
            <a:ext cx="1374124" cy="354434"/>
          </a:xfrm>
          <a:prstGeom prst="rect">
            <a:avLst/>
          </a:prstGeom>
          <a:solidFill>
            <a:srgbClr val="FFFFFF"/>
          </a:solidFill>
          <a:ln/>
        </p:spPr>
        <p:txBody>
          <a:bodyPr/>
          <a:lstStyle/>
          <a:p>
            <a:endParaRPr lang="ko-KR" altLang="en-US"/>
          </a:p>
        </p:txBody>
      </p:sp>
      <p:sp>
        <p:nvSpPr>
          <p:cNvPr id="223" name="Shape 220"/>
          <p:cNvSpPr/>
          <p:nvPr/>
        </p:nvSpPr>
        <p:spPr>
          <a:xfrm>
            <a:off x="4660952" y="5811965"/>
            <a:ext cx="1374124" cy="9525"/>
          </a:xfrm>
          <a:prstGeom prst="rect">
            <a:avLst/>
          </a:prstGeom>
          <a:solidFill>
            <a:srgbClr val="D3B9A5"/>
          </a:solidFill>
          <a:ln/>
        </p:spPr>
        <p:txBody>
          <a:bodyPr/>
          <a:lstStyle/>
          <a:p>
            <a:endParaRPr lang="ko-KR" altLang="en-US"/>
          </a:p>
        </p:txBody>
      </p:sp>
      <p:sp>
        <p:nvSpPr>
          <p:cNvPr id="224" name="Shape 221"/>
          <p:cNvSpPr/>
          <p:nvPr/>
        </p:nvSpPr>
        <p:spPr>
          <a:xfrm>
            <a:off x="4660952" y="5811965"/>
            <a:ext cx="9525" cy="354434"/>
          </a:xfrm>
          <a:prstGeom prst="rect">
            <a:avLst/>
          </a:prstGeom>
          <a:solidFill>
            <a:srgbClr val="D3B9A5"/>
          </a:solidFill>
          <a:ln/>
        </p:spPr>
        <p:txBody>
          <a:bodyPr/>
          <a:lstStyle/>
          <a:p>
            <a:endParaRPr lang="ko-KR" altLang="en-US"/>
          </a:p>
        </p:txBody>
      </p:sp>
      <p:sp>
        <p:nvSpPr>
          <p:cNvPr id="225" name="Text 222"/>
          <p:cNvSpPr/>
          <p:nvPr/>
        </p:nvSpPr>
        <p:spPr>
          <a:xfrm>
            <a:off x="4685219" y="5845757"/>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22,691</a:t>
            </a:r>
            <a:endParaRPr lang="en-US" sz="1088" dirty="0"/>
          </a:p>
        </p:txBody>
      </p:sp>
      <p:sp>
        <p:nvSpPr>
          <p:cNvPr id="226" name="Shape 223"/>
          <p:cNvSpPr/>
          <p:nvPr/>
        </p:nvSpPr>
        <p:spPr>
          <a:xfrm>
            <a:off x="6035076" y="5811965"/>
            <a:ext cx="1374124" cy="354434"/>
          </a:xfrm>
          <a:prstGeom prst="rect">
            <a:avLst/>
          </a:prstGeom>
          <a:solidFill>
            <a:srgbClr val="FFFFFF"/>
          </a:solidFill>
          <a:ln/>
        </p:spPr>
        <p:txBody>
          <a:bodyPr/>
          <a:lstStyle/>
          <a:p>
            <a:endParaRPr lang="ko-KR" altLang="en-US"/>
          </a:p>
        </p:txBody>
      </p:sp>
      <p:sp>
        <p:nvSpPr>
          <p:cNvPr id="227" name="Shape 224"/>
          <p:cNvSpPr/>
          <p:nvPr/>
        </p:nvSpPr>
        <p:spPr>
          <a:xfrm>
            <a:off x="6035076" y="5811965"/>
            <a:ext cx="1374124" cy="9525"/>
          </a:xfrm>
          <a:prstGeom prst="rect">
            <a:avLst/>
          </a:prstGeom>
          <a:solidFill>
            <a:srgbClr val="D3B9A5"/>
          </a:solidFill>
          <a:ln/>
        </p:spPr>
        <p:txBody>
          <a:bodyPr/>
          <a:lstStyle/>
          <a:p>
            <a:endParaRPr lang="ko-KR" altLang="en-US"/>
          </a:p>
        </p:txBody>
      </p:sp>
      <p:sp>
        <p:nvSpPr>
          <p:cNvPr id="228" name="Shape 225"/>
          <p:cNvSpPr/>
          <p:nvPr/>
        </p:nvSpPr>
        <p:spPr>
          <a:xfrm>
            <a:off x="6035076" y="5811965"/>
            <a:ext cx="9525" cy="354434"/>
          </a:xfrm>
          <a:prstGeom prst="rect">
            <a:avLst/>
          </a:prstGeom>
          <a:solidFill>
            <a:srgbClr val="D3B9A5"/>
          </a:solidFill>
          <a:ln/>
        </p:spPr>
        <p:txBody>
          <a:bodyPr/>
          <a:lstStyle/>
          <a:p>
            <a:endParaRPr lang="ko-KR" altLang="en-US"/>
          </a:p>
        </p:txBody>
      </p:sp>
      <p:sp>
        <p:nvSpPr>
          <p:cNvPr id="229" name="Text 226"/>
          <p:cNvSpPr/>
          <p:nvPr/>
        </p:nvSpPr>
        <p:spPr>
          <a:xfrm>
            <a:off x="6059343" y="5845757"/>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29,013</a:t>
            </a:r>
            <a:endParaRPr lang="en-US" sz="1088" dirty="0"/>
          </a:p>
        </p:txBody>
      </p:sp>
      <p:sp>
        <p:nvSpPr>
          <p:cNvPr id="230" name="Shape 227"/>
          <p:cNvSpPr/>
          <p:nvPr/>
        </p:nvSpPr>
        <p:spPr>
          <a:xfrm>
            <a:off x="7409200" y="5811965"/>
            <a:ext cx="1374124" cy="354434"/>
          </a:xfrm>
          <a:prstGeom prst="rect">
            <a:avLst/>
          </a:prstGeom>
          <a:solidFill>
            <a:srgbClr val="FFFFFF"/>
          </a:solidFill>
          <a:ln/>
        </p:spPr>
        <p:txBody>
          <a:bodyPr/>
          <a:lstStyle/>
          <a:p>
            <a:endParaRPr lang="ko-KR" altLang="en-US"/>
          </a:p>
        </p:txBody>
      </p:sp>
      <p:sp>
        <p:nvSpPr>
          <p:cNvPr id="231" name="Shape 228"/>
          <p:cNvSpPr/>
          <p:nvPr/>
        </p:nvSpPr>
        <p:spPr>
          <a:xfrm>
            <a:off x="7409200" y="5811965"/>
            <a:ext cx="1374124" cy="9525"/>
          </a:xfrm>
          <a:prstGeom prst="rect">
            <a:avLst/>
          </a:prstGeom>
          <a:solidFill>
            <a:srgbClr val="D3B9A5"/>
          </a:solidFill>
          <a:ln/>
        </p:spPr>
        <p:txBody>
          <a:bodyPr/>
          <a:lstStyle/>
          <a:p>
            <a:endParaRPr lang="ko-KR" altLang="en-US"/>
          </a:p>
        </p:txBody>
      </p:sp>
      <p:sp>
        <p:nvSpPr>
          <p:cNvPr id="232" name="Shape 229"/>
          <p:cNvSpPr/>
          <p:nvPr/>
        </p:nvSpPr>
        <p:spPr>
          <a:xfrm>
            <a:off x="7409200" y="5811965"/>
            <a:ext cx="9525" cy="354434"/>
          </a:xfrm>
          <a:prstGeom prst="rect">
            <a:avLst/>
          </a:prstGeom>
          <a:solidFill>
            <a:srgbClr val="D3B9A5"/>
          </a:solidFill>
          <a:ln/>
        </p:spPr>
        <p:txBody>
          <a:bodyPr/>
          <a:lstStyle/>
          <a:p>
            <a:endParaRPr lang="ko-KR" altLang="en-US"/>
          </a:p>
        </p:txBody>
      </p:sp>
      <p:sp>
        <p:nvSpPr>
          <p:cNvPr id="233" name="Text 230"/>
          <p:cNvSpPr/>
          <p:nvPr/>
        </p:nvSpPr>
        <p:spPr>
          <a:xfrm>
            <a:off x="7433467" y="5845757"/>
            <a:ext cx="1330807"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25,882</a:t>
            </a:r>
            <a:endParaRPr lang="en-US" sz="1088" dirty="0"/>
          </a:p>
        </p:txBody>
      </p:sp>
      <p:sp>
        <p:nvSpPr>
          <p:cNvPr id="234" name="Shape 231"/>
          <p:cNvSpPr/>
          <p:nvPr/>
        </p:nvSpPr>
        <p:spPr>
          <a:xfrm>
            <a:off x="8783324" y="5811965"/>
            <a:ext cx="1374613" cy="354434"/>
          </a:xfrm>
          <a:prstGeom prst="rect">
            <a:avLst/>
          </a:prstGeom>
          <a:solidFill>
            <a:srgbClr val="FFFFFF"/>
          </a:solidFill>
          <a:ln/>
        </p:spPr>
        <p:txBody>
          <a:bodyPr/>
          <a:lstStyle/>
          <a:p>
            <a:endParaRPr lang="ko-KR" altLang="en-US"/>
          </a:p>
        </p:txBody>
      </p:sp>
      <p:sp>
        <p:nvSpPr>
          <p:cNvPr id="235" name="Shape 232"/>
          <p:cNvSpPr/>
          <p:nvPr/>
        </p:nvSpPr>
        <p:spPr>
          <a:xfrm>
            <a:off x="8783324" y="5811965"/>
            <a:ext cx="1374613" cy="9525"/>
          </a:xfrm>
          <a:prstGeom prst="rect">
            <a:avLst/>
          </a:prstGeom>
          <a:solidFill>
            <a:srgbClr val="D3B9A5"/>
          </a:solidFill>
          <a:ln/>
        </p:spPr>
        <p:txBody>
          <a:bodyPr/>
          <a:lstStyle/>
          <a:p>
            <a:endParaRPr lang="ko-KR" altLang="en-US"/>
          </a:p>
        </p:txBody>
      </p:sp>
      <p:sp>
        <p:nvSpPr>
          <p:cNvPr id="236" name="Shape 233"/>
          <p:cNvSpPr/>
          <p:nvPr/>
        </p:nvSpPr>
        <p:spPr>
          <a:xfrm>
            <a:off x="8783324" y="5811965"/>
            <a:ext cx="9525" cy="354434"/>
          </a:xfrm>
          <a:prstGeom prst="rect">
            <a:avLst/>
          </a:prstGeom>
          <a:solidFill>
            <a:srgbClr val="D3B9A5"/>
          </a:solidFill>
          <a:ln/>
        </p:spPr>
        <p:txBody>
          <a:bodyPr/>
          <a:lstStyle/>
          <a:p>
            <a:endParaRPr lang="ko-KR" altLang="en-US"/>
          </a:p>
        </p:txBody>
      </p:sp>
      <p:sp>
        <p:nvSpPr>
          <p:cNvPr id="237" name="Text 234"/>
          <p:cNvSpPr/>
          <p:nvPr/>
        </p:nvSpPr>
        <p:spPr>
          <a:xfrm>
            <a:off x="8807591" y="5845757"/>
            <a:ext cx="1331296" cy="330167"/>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27,734</a:t>
            </a:r>
            <a:endParaRPr lang="en-US" sz="1088" dirty="0"/>
          </a:p>
        </p:txBody>
      </p:sp>
      <p:sp>
        <p:nvSpPr>
          <p:cNvPr id="238" name="Shape 235"/>
          <p:cNvSpPr/>
          <p:nvPr/>
        </p:nvSpPr>
        <p:spPr>
          <a:xfrm>
            <a:off x="538580" y="6166399"/>
            <a:ext cx="1374124" cy="619689"/>
          </a:xfrm>
          <a:prstGeom prst="rect">
            <a:avLst/>
          </a:prstGeom>
          <a:solidFill>
            <a:srgbClr val="FCF4EE"/>
          </a:solidFill>
          <a:ln/>
        </p:spPr>
        <p:txBody>
          <a:bodyPr/>
          <a:lstStyle/>
          <a:p>
            <a:endParaRPr lang="ko-KR" altLang="en-US"/>
          </a:p>
        </p:txBody>
      </p:sp>
      <p:sp>
        <p:nvSpPr>
          <p:cNvPr id="239" name="Shape 236"/>
          <p:cNvSpPr/>
          <p:nvPr/>
        </p:nvSpPr>
        <p:spPr>
          <a:xfrm>
            <a:off x="538580" y="6166399"/>
            <a:ext cx="1374124" cy="9525"/>
          </a:xfrm>
          <a:prstGeom prst="rect">
            <a:avLst/>
          </a:prstGeom>
          <a:solidFill>
            <a:srgbClr val="D3B9A5"/>
          </a:solidFill>
          <a:ln/>
        </p:spPr>
        <p:txBody>
          <a:bodyPr/>
          <a:lstStyle/>
          <a:p>
            <a:endParaRPr lang="ko-KR" altLang="en-US"/>
          </a:p>
        </p:txBody>
      </p:sp>
      <p:sp>
        <p:nvSpPr>
          <p:cNvPr id="240" name="Text 237"/>
          <p:cNvSpPr/>
          <p:nvPr/>
        </p:nvSpPr>
        <p:spPr>
          <a:xfrm>
            <a:off x="557630" y="6200191"/>
            <a:ext cx="1336024" cy="59542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주요 특징</a:t>
            </a:r>
            <a:endParaRPr lang="en-US" sz="1088" dirty="0"/>
          </a:p>
        </p:txBody>
      </p:sp>
      <p:sp>
        <p:nvSpPr>
          <p:cNvPr id="241" name="Shape 238"/>
          <p:cNvSpPr/>
          <p:nvPr/>
        </p:nvSpPr>
        <p:spPr>
          <a:xfrm>
            <a:off x="1912704" y="6166399"/>
            <a:ext cx="2748248" cy="619689"/>
          </a:xfrm>
          <a:prstGeom prst="rect">
            <a:avLst/>
          </a:prstGeom>
          <a:solidFill>
            <a:srgbClr val="F8E1D0"/>
          </a:solidFill>
          <a:ln/>
        </p:spPr>
        <p:txBody>
          <a:bodyPr/>
          <a:lstStyle/>
          <a:p>
            <a:endParaRPr lang="ko-KR" altLang="en-US"/>
          </a:p>
        </p:txBody>
      </p:sp>
      <p:sp>
        <p:nvSpPr>
          <p:cNvPr id="242" name="Shape 239"/>
          <p:cNvSpPr/>
          <p:nvPr/>
        </p:nvSpPr>
        <p:spPr>
          <a:xfrm>
            <a:off x="1912704" y="6166399"/>
            <a:ext cx="2748248" cy="9525"/>
          </a:xfrm>
          <a:prstGeom prst="rect">
            <a:avLst/>
          </a:prstGeom>
          <a:solidFill>
            <a:srgbClr val="D3B9A5"/>
          </a:solidFill>
          <a:ln/>
        </p:spPr>
        <p:txBody>
          <a:bodyPr/>
          <a:lstStyle/>
          <a:p>
            <a:endParaRPr lang="ko-KR" altLang="en-US"/>
          </a:p>
        </p:txBody>
      </p:sp>
      <p:sp>
        <p:nvSpPr>
          <p:cNvPr id="243" name="Shape 240"/>
          <p:cNvSpPr/>
          <p:nvPr/>
        </p:nvSpPr>
        <p:spPr>
          <a:xfrm>
            <a:off x="1912704" y="6166399"/>
            <a:ext cx="9525" cy="619689"/>
          </a:xfrm>
          <a:prstGeom prst="rect">
            <a:avLst/>
          </a:prstGeom>
          <a:solidFill>
            <a:srgbClr val="D3B9A5"/>
          </a:solidFill>
          <a:ln/>
        </p:spPr>
        <p:txBody>
          <a:bodyPr/>
          <a:lstStyle/>
          <a:p>
            <a:endParaRPr lang="ko-KR" altLang="en-US"/>
          </a:p>
        </p:txBody>
      </p:sp>
      <p:sp>
        <p:nvSpPr>
          <p:cNvPr id="244" name="Text 241"/>
          <p:cNvSpPr/>
          <p:nvPr/>
        </p:nvSpPr>
        <p:spPr>
          <a:xfrm>
            <a:off x="1933847" y="6200191"/>
            <a:ext cx="2711179" cy="59542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골절부터 수술, 중증무릎관절 All-Care </a:t>
            </a:r>
          </a:p>
          <a:p>
            <a:pPr marL="0" indent="0" algn="ctr">
              <a:lnSpc>
                <a:spcPct val="112725"/>
              </a:lnSpc>
              <a:buNone/>
            </a:pPr>
            <a:r>
              <a:rPr lang="en-US" sz="1088" b="1" kern="0" spc="-11" dirty="0" err="1">
                <a:solidFill>
                  <a:srgbClr val="7E3B1D"/>
                </a:solidFill>
                <a:latin typeface="Paperlogy 7 Bold" pitchFamily="2" charset="-127"/>
                <a:ea typeface="Paperlogy 7 Bold" pitchFamily="2" charset="-127"/>
                <a:cs typeface="Arial" pitchFamily="34" charset="-120"/>
              </a:rPr>
              <a:t>가성비</a:t>
            </a:r>
            <a:r>
              <a:rPr lang="en-US" sz="1088" b="1" kern="0" spc="-11" dirty="0">
                <a:solidFill>
                  <a:srgbClr val="7E3B1D"/>
                </a:solidFill>
                <a:latin typeface="Paperlogy 7 Bold" pitchFamily="2" charset="-127"/>
                <a:ea typeface="Paperlogy 7 Bold" pitchFamily="2" charset="-127"/>
                <a:cs typeface="Arial" pitchFamily="34" charset="-120"/>
              </a:rPr>
              <a:t> 플랜</a:t>
            </a:r>
            <a:endParaRPr lang="en-US" sz="1088" dirty="0"/>
          </a:p>
        </p:txBody>
      </p:sp>
      <p:sp>
        <p:nvSpPr>
          <p:cNvPr id="245" name="Shape 242"/>
          <p:cNvSpPr/>
          <p:nvPr/>
        </p:nvSpPr>
        <p:spPr>
          <a:xfrm>
            <a:off x="4660952" y="6166399"/>
            <a:ext cx="2748248" cy="619689"/>
          </a:xfrm>
          <a:prstGeom prst="rect">
            <a:avLst/>
          </a:prstGeom>
          <a:solidFill>
            <a:srgbClr val="FFFFFF"/>
          </a:solidFill>
          <a:ln/>
        </p:spPr>
        <p:txBody>
          <a:bodyPr/>
          <a:lstStyle/>
          <a:p>
            <a:endParaRPr lang="ko-KR" altLang="en-US"/>
          </a:p>
        </p:txBody>
      </p:sp>
      <p:sp>
        <p:nvSpPr>
          <p:cNvPr id="246" name="Shape 243"/>
          <p:cNvSpPr/>
          <p:nvPr/>
        </p:nvSpPr>
        <p:spPr>
          <a:xfrm>
            <a:off x="4660952" y="6166399"/>
            <a:ext cx="2748248" cy="9525"/>
          </a:xfrm>
          <a:prstGeom prst="rect">
            <a:avLst/>
          </a:prstGeom>
          <a:solidFill>
            <a:srgbClr val="D3B9A5"/>
          </a:solidFill>
          <a:ln/>
        </p:spPr>
        <p:txBody>
          <a:bodyPr/>
          <a:lstStyle/>
          <a:p>
            <a:endParaRPr lang="ko-KR" altLang="en-US"/>
          </a:p>
        </p:txBody>
      </p:sp>
      <p:sp>
        <p:nvSpPr>
          <p:cNvPr id="247" name="Shape 244"/>
          <p:cNvSpPr/>
          <p:nvPr/>
        </p:nvSpPr>
        <p:spPr>
          <a:xfrm>
            <a:off x="4660952" y="6166399"/>
            <a:ext cx="9525" cy="619689"/>
          </a:xfrm>
          <a:prstGeom prst="rect">
            <a:avLst/>
          </a:prstGeom>
          <a:solidFill>
            <a:srgbClr val="D3B9A5"/>
          </a:solidFill>
          <a:ln/>
        </p:spPr>
        <p:txBody>
          <a:bodyPr/>
          <a:lstStyle/>
          <a:p>
            <a:endParaRPr lang="ko-KR" altLang="en-US"/>
          </a:p>
        </p:txBody>
      </p:sp>
      <p:sp>
        <p:nvSpPr>
          <p:cNvPr id="248" name="Text 245"/>
          <p:cNvSpPr/>
          <p:nvPr/>
        </p:nvSpPr>
        <p:spPr>
          <a:xfrm>
            <a:off x="4682095" y="6200191"/>
            <a:ext cx="2711179" cy="59542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highlight>
                  <a:srgbClr val="FFFFFF"/>
                </a:highlight>
                <a:latin typeface="Paperlogy 7 Bold" pitchFamily="2" charset="-127"/>
                <a:ea typeface="Paperlogy 7 Bold" pitchFamily="2" charset="-127"/>
                <a:cs typeface="Arial" pitchFamily="34" charset="-120"/>
              </a:rPr>
              <a:t>골절진단 및 골절수술 등 일부 담보 </a:t>
            </a:r>
            <a:r>
              <a:rPr lang="en-US" sz="1088" b="1" kern="0" spc="-11" dirty="0" err="1">
                <a:solidFill>
                  <a:srgbClr val="3A2C24"/>
                </a:solidFill>
                <a:highlight>
                  <a:srgbClr val="FFFFFF"/>
                </a:highlight>
                <a:latin typeface="Paperlogy 7 Bold" pitchFamily="2" charset="-127"/>
                <a:ea typeface="Paperlogy 7 Bold" pitchFamily="2" charset="-127"/>
                <a:cs typeface="Arial" pitchFamily="34" charset="-120"/>
              </a:rPr>
              <a:t>한하여</a:t>
            </a:r>
            <a:r>
              <a:rPr lang="en-US" sz="1088" b="1" kern="0" spc="-11" dirty="0">
                <a:solidFill>
                  <a:srgbClr val="3A2C24"/>
                </a:solidFill>
                <a:highlight>
                  <a:srgbClr val="FFFFFF"/>
                </a:highlight>
                <a:latin typeface="Paperlogy 7 Bold" pitchFamily="2" charset="-127"/>
                <a:ea typeface="Paperlogy 7 Bold" pitchFamily="2" charset="-127"/>
                <a:cs typeface="Arial" pitchFamily="34" charset="-120"/>
              </a:rPr>
              <a:t> </a:t>
            </a:r>
          </a:p>
          <a:p>
            <a:pPr marL="0" indent="0" algn="ctr">
              <a:lnSpc>
                <a:spcPct val="112725"/>
              </a:lnSpc>
              <a:buNone/>
            </a:pPr>
            <a:r>
              <a:rPr lang="en-US" sz="1088" b="1" kern="0" spc="-11" dirty="0" err="1">
                <a:solidFill>
                  <a:srgbClr val="3A2C24"/>
                </a:solidFill>
                <a:highlight>
                  <a:srgbClr val="FFFFFF"/>
                </a:highlight>
                <a:latin typeface="Paperlogy 7 Bold" pitchFamily="2" charset="-127"/>
                <a:ea typeface="Paperlogy 7 Bold" pitchFamily="2" charset="-127"/>
                <a:cs typeface="Arial" pitchFamily="34" charset="-120"/>
              </a:rPr>
              <a:t>가입한도</a:t>
            </a:r>
            <a:endParaRPr lang="en-US" sz="1088" dirty="0"/>
          </a:p>
        </p:txBody>
      </p:sp>
      <p:sp>
        <p:nvSpPr>
          <p:cNvPr id="249" name="Shape 246"/>
          <p:cNvSpPr/>
          <p:nvPr/>
        </p:nvSpPr>
        <p:spPr>
          <a:xfrm>
            <a:off x="7409200" y="6166399"/>
            <a:ext cx="2748737" cy="619689"/>
          </a:xfrm>
          <a:prstGeom prst="rect">
            <a:avLst/>
          </a:prstGeom>
          <a:solidFill>
            <a:srgbClr val="FFFFFF"/>
          </a:solidFill>
          <a:ln/>
        </p:spPr>
        <p:txBody>
          <a:bodyPr/>
          <a:lstStyle/>
          <a:p>
            <a:endParaRPr lang="ko-KR" altLang="en-US"/>
          </a:p>
        </p:txBody>
      </p:sp>
      <p:sp>
        <p:nvSpPr>
          <p:cNvPr id="250" name="Shape 247"/>
          <p:cNvSpPr/>
          <p:nvPr/>
        </p:nvSpPr>
        <p:spPr>
          <a:xfrm>
            <a:off x="7409200" y="6166399"/>
            <a:ext cx="2748737" cy="9525"/>
          </a:xfrm>
          <a:prstGeom prst="rect">
            <a:avLst/>
          </a:prstGeom>
          <a:solidFill>
            <a:srgbClr val="D3B9A5"/>
          </a:solidFill>
          <a:ln/>
        </p:spPr>
        <p:txBody>
          <a:bodyPr/>
          <a:lstStyle/>
          <a:p>
            <a:endParaRPr lang="ko-KR" altLang="en-US"/>
          </a:p>
        </p:txBody>
      </p:sp>
      <p:sp>
        <p:nvSpPr>
          <p:cNvPr id="251" name="Shape 248"/>
          <p:cNvSpPr/>
          <p:nvPr/>
        </p:nvSpPr>
        <p:spPr>
          <a:xfrm>
            <a:off x="7409200" y="6166399"/>
            <a:ext cx="9525" cy="619689"/>
          </a:xfrm>
          <a:prstGeom prst="rect">
            <a:avLst/>
          </a:prstGeom>
          <a:solidFill>
            <a:srgbClr val="D3B9A5"/>
          </a:solidFill>
          <a:ln/>
        </p:spPr>
        <p:txBody>
          <a:bodyPr/>
          <a:lstStyle/>
          <a:p>
            <a:endParaRPr lang="ko-KR" altLang="en-US"/>
          </a:p>
        </p:txBody>
      </p:sp>
      <p:sp>
        <p:nvSpPr>
          <p:cNvPr id="252" name="Text 249"/>
          <p:cNvSpPr/>
          <p:nvPr/>
        </p:nvSpPr>
        <p:spPr>
          <a:xfrm>
            <a:off x="7430336" y="6200191"/>
            <a:ext cx="2711682" cy="59542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highlight>
                  <a:srgbClr val="FFFFFF"/>
                </a:highlight>
                <a:latin typeface="Paperlogy 7 Bold" pitchFamily="2" charset="-127"/>
                <a:ea typeface="Paperlogy 7 Bold" pitchFamily="2" charset="-127"/>
                <a:cs typeface="Arial" pitchFamily="34" charset="-120"/>
              </a:rPr>
              <a:t>관절통증주사치료 보장으로 경증 특화 플랜으로 셋팅시 유리</a:t>
            </a:r>
            <a:endParaRPr lang="en-US" sz="1088" dirty="0"/>
          </a:p>
        </p:txBody>
      </p:sp>
      <p:sp>
        <p:nvSpPr>
          <p:cNvPr id="253" name="Text 25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54" name="Text 25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55" name="Text 25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832198"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미래에셋생명 – M-케어 건강보험</a:t>
            </a:r>
            <a:endParaRPr lang="en-US" sz="2475" dirty="0"/>
          </a:p>
        </p:txBody>
      </p:sp>
      <p:sp>
        <p:nvSpPr>
          <p:cNvPr id="3" name="Shape 1"/>
          <p:cNvSpPr/>
          <p:nvPr/>
        </p:nvSpPr>
        <p:spPr>
          <a:xfrm>
            <a:off x="9217400" y="340821"/>
            <a:ext cx="945755"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369800" y="407496"/>
            <a:ext cx="717155"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관절 및 재해</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492812"/>
            <a:ext cx="1428740" cy="1641906"/>
          </a:xfrm>
          <a:prstGeom prst="roundRect">
            <a:avLst>
              <a:gd name="adj" fmla="val 10667"/>
            </a:avLst>
          </a:prstGeom>
          <a:solidFill>
            <a:srgbClr val="F6E2D3"/>
          </a:solidFill>
          <a:ln/>
        </p:spPr>
        <p:txBody>
          <a:bodyPr/>
          <a:lstStyle/>
          <a:p>
            <a:endParaRPr lang="ko-KR" altLang="en-US"/>
          </a:p>
        </p:txBody>
      </p:sp>
      <p:sp>
        <p:nvSpPr>
          <p:cNvPr id="7" name="Text 5"/>
          <p:cNvSpPr/>
          <p:nvPr/>
        </p:nvSpPr>
        <p:spPr>
          <a:xfrm>
            <a:off x="495263" y="1492812"/>
            <a:ext cx="1504940" cy="1680006"/>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492812"/>
            <a:ext cx="8086765" cy="1641906"/>
          </a:xfrm>
          <a:prstGeom prst="roundRect">
            <a:avLst>
              <a:gd name="adj" fmla="val 9282"/>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1937114"/>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783745"/>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15세 - 75세</a:t>
            </a:r>
            <a:endParaRPr lang="en-US" sz="1538" dirty="0"/>
          </a:p>
        </p:txBody>
      </p:sp>
      <p:sp>
        <p:nvSpPr>
          <p:cNvPr id="11" name="Shape 9"/>
          <p:cNvSpPr/>
          <p:nvPr/>
        </p:nvSpPr>
        <p:spPr>
          <a:xfrm>
            <a:off x="2424465" y="2315840"/>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2162470"/>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낙상으로 인한 염좌부터 골절, 중증무릎관절연골손상까지 재해 관련 All-Care</a:t>
            </a:r>
            <a:endParaRPr lang="en-US" sz="1538" dirty="0"/>
          </a:p>
        </p:txBody>
      </p:sp>
      <p:sp>
        <p:nvSpPr>
          <p:cNvPr id="13" name="Shape 11"/>
          <p:cNvSpPr/>
          <p:nvPr/>
        </p:nvSpPr>
        <p:spPr>
          <a:xfrm>
            <a:off x="2424465" y="2694566"/>
            <a:ext cx="47606" cy="47606"/>
          </a:xfrm>
          <a:prstGeom prst="ellipse">
            <a:avLst/>
          </a:prstGeom>
          <a:solidFill>
            <a:srgbClr val="A69687"/>
          </a:solidFill>
          <a:ln/>
        </p:spPr>
        <p:txBody>
          <a:bodyPr/>
          <a:lstStyle/>
          <a:p>
            <a:endParaRPr lang="ko-KR" altLang="en-US"/>
          </a:p>
        </p:txBody>
      </p:sp>
      <p:sp>
        <p:nvSpPr>
          <p:cNvPr id="14" name="Text 12"/>
          <p:cNvSpPr/>
          <p:nvPr/>
        </p:nvSpPr>
        <p:spPr>
          <a:xfrm>
            <a:off x="2567281" y="2541196"/>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단순 염좌 진단시 3만원, 골절시 50만원 보상</a:t>
            </a:r>
            <a:endParaRPr lang="en-US" sz="1538" dirty="0"/>
          </a:p>
        </p:txBody>
      </p:sp>
      <p:sp>
        <p:nvSpPr>
          <p:cNvPr id="15" name="Shape 13"/>
          <p:cNvSpPr/>
          <p:nvPr/>
        </p:nvSpPr>
        <p:spPr>
          <a:xfrm>
            <a:off x="533363" y="3287072"/>
            <a:ext cx="1428740" cy="1259756"/>
          </a:xfrm>
          <a:prstGeom prst="roundRect">
            <a:avLst>
              <a:gd name="adj" fmla="val 12098"/>
            </a:avLst>
          </a:prstGeom>
          <a:solidFill>
            <a:srgbClr val="CF7446"/>
          </a:solidFill>
          <a:ln/>
        </p:spPr>
        <p:txBody>
          <a:bodyPr/>
          <a:lstStyle/>
          <a:p>
            <a:endParaRPr lang="ko-KR" altLang="en-US"/>
          </a:p>
        </p:txBody>
      </p:sp>
      <p:sp>
        <p:nvSpPr>
          <p:cNvPr id="16" name="Text 14"/>
          <p:cNvSpPr/>
          <p:nvPr/>
        </p:nvSpPr>
        <p:spPr>
          <a:xfrm>
            <a:off x="495263" y="3287072"/>
            <a:ext cx="1504940" cy="1297856"/>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7" name="Shape 15"/>
          <p:cNvSpPr/>
          <p:nvPr/>
        </p:nvSpPr>
        <p:spPr>
          <a:xfrm>
            <a:off x="2076389" y="3287072"/>
            <a:ext cx="8086765" cy="1259756"/>
          </a:xfrm>
          <a:prstGeom prst="roundRect">
            <a:avLst>
              <a:gd name="adj" fmla="val 12098"/>
            </a:avLst>
          </a:prstGeom>
          <a:solidFill>
            <a:srgbClr val="FCF4EE"/>
          </a:solidFill>
          <a:ln w="5217">
            <a:solidFill>
              <a:srgbClr val="F6E2D3"/>
            </a:solidFill>
            <a:prstDash val="solid"/>
          </a:ln>
        </p:spPr>
        <p:txBody>
          <a:bodyPr/>
          <a:lstStyle/>
          <a:p>
            <a:endParaRPr lang="ko-KR" altLang="en-US"/>
          </a:p>
        </p:txBody>
      </p:sp>
      <p:sp>
        <p:nvSpPr>
          <p:cNvPr id="18" name="Shape 16"/>
          <p:cNvSpPr/>
          <p:nvPr/>
        </p:nvSpPr>
        <p:spPr>
          <a:xfrm>
            <a:off x="2424465" y="3747026"/>
            <a:ext cx="47606" cy="47606"/>
          </a:xfrm>
          <a:prstGeom prst="ellipse">
            <a:avLst/>
          </a:prstGeom>
          <a:solidFill>
            <a:srgbClr val="CF7446"/>
          </a:solidFill>
          <a:ln/>
        </p:spPr>
        <p:txBody>
          <a:bodyPr/>
          <a:lstStyle/>
          <a:p>
            <a:endParaRPr lang="ko-KR" altLang="en-US"/>
          </a:p>
        </p:txBody>
      </p:sp>
      <p:sp>
        <p:nvSpPr>
          <p:cNvPr id="19" name="Text 17"/>
          <p:cNvSpPr/>
          <p:nvPr/>
        </p:nvSpPr>
        <p:spPr>
          <a:xfrm>
            <a:off x="2567281" y="3578005"/>
            <a:ext cx="6128249" cy="715991"/>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활동이 늘어나는 가을, 그리고 다가오는 겨울 미끄럼사고까지 대비하는 고령자 맞춤상품</a:t>
            </a:r>
            <a:endParaRPr lang="en-US" sz="1725" dirty="0"/>
          </a:p>
        </p:txBody>
      </p:sp>
      <p:pic>
        <p:nvPicPr>
          <p:cNvPr id="20" name="Image 0" descr="preencoded.png"/>
          <p:cNvPicPr>
            <a:picLocks noChangeAspect="1"/>
          </p:cNvPicPr>
          <p:nvPr/>
        </p:nvPicPr>
        <p:blipFill>
          <a:blip r:embed="rId3"/>
          <a:stretch>
            <a:fillRect/>
          </a:stretch>
        </p:blipFill>
        <p:spPr>
          <a:xfrm>
            <a:off x="9205498" y="3612160"/>
            <a:ext cx="609581" cy="609581"/>
          </a:xfrm>
          <a:prstGeom prst="rect">
            <a:avLst/>
          </a:prstGeom>
        </p:spPr>
      </p:pic>
      <p:sp>
        <p:nvSpPr>
          <p:cNvPr id="21" name="Shape 18"/>
          <p:cNvSpPr/>
          <p:nvPr/>
        </p:nvSpPr>
        <p:spPr>
          <a:xfrm>
            <a:off x="533363" y="4699183"/>
            <a:ext cx="1428740" cy="1694565"/>
          </a:xfrm>
          <a:prstGeom prst="roundRect">
            <a:avLst>
              <a:gd name="adj" fmla="val 10667"/>
            </a:avLst>
          </a:prstGeom>
          <a:solidFill>
            <a:srgbClr val="F6E2D3"/>
          </a:solidFill>
          <a:ln/>
        </p:spPr>
        <p:txBody>
          <a:bodyPr/>
          <a:lstStyle/>
          <a:p>
            <a:endParaRPr lang="ko-KR" altLang="en-US"/>
          </a:p>
        </p:txBody>
      </p:sp>
      <p:sp>
        <p:nvSpPr>
          <p:cNvPr id="22" name="Text 19"/>
          <p:cNvSpPr/>
          <p:nvPr/>
        </p:nvSpPr>
        <p:spPr>
          <a:xfrm>
            <a:off x="963688" y="5271674"/>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3" name="Text 20"/>
          <p:cNvSpPr/>
          <p:nvPr/>
        </p:nvSpPr>
        <p:spPr>
          <a:xfrm>
            <a:off x="963688" y="5567334"/>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4" name="Shape 21"/>
          <p:cNvSpPr/>
          <p:nvPr/>
        </p:nvSpPr>
        <p:spPr>
          <a:xfrm>
            <a:off x="2076389" y="4699183"/>
            <a:ext cx="8086765" cy="1694565"/>
          </a:xfrm>
          <a:prstGeom prst="roundRect">
            <a:avLst>
              <a:gd name="adj" fmla="val 8993"/>
            </a:avLst>
          </a:prstGeom>
          <a:solidFill>
            <a:srgbClr val="FFFFFF"/>
          </a:solidFill>
          <a:ln w="5217">
            <a:solidFill>
              <a:srgbClr val="EADFD3"/>
            </a:solidFill>
            <a:prstDash val="solid"/>
          </a:ln>
        </p:spPr>
        <p:txBody>
          <a:bodyPr/>
          <a:lstStyle/>
          <a:p>
            <a:endParaRPr lang="ko-KR" altLang="en-US"/>
          </a:p>
        </p:txBody>
      </p:sp>
      <p:sp>
        <p:nvSpPr>
          <p:cNvPr id="25" name="Shape 22"/>
          <p:cNvSpPr/>
          <p:nvPr/>
        </p:nvSpPr>
        <p:spPr>
          <a:xfrm>
            <a:off x="2424465" y="5174788"/>
            <a:ext cx="47606" cy="47606"/>
          </a:xfrm>
          <a:prstGeom prst="ellipse">
            <a:avLst/>
          </a:prstGeom>
          <a:solidFill>
            <a:srgbClr val="A69687"/>
          </a:solidFill>
          <a:ln/>
        </p:spPr>
        <p:txBody>
          <a:bodyPr/>
          <a:lstStyle/>
          <a:p>
            <a:endParaRPr lang="ko-KR" altLang="en-US"/>
          </a:p>
        </p:txBody>
      </p:sp>
      <p:sp>
        <p:nvSpPr>
          <p:cNvPr id="26" name="Text 23"/>
          <p:cNvSpPr/>
          <p:nvPr/>
        </p:nvSpPr>
        <p:spPr>
          <a:xfrm>
            <a:off x="2567281" y="4990116"/>
            <a:ext cx="7465231" cy="1150801"/>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가벼운 운동을 하다가도, 빙판길에 넘어져도 쉽게 발생하는 골절, 그로 인한 수술과 이후 발생하는 연골손상까지, 단 돈 2만원으로 가볍게 준비할 수 있는 고령자 맞춤 가성비 상품</a:t>
            </a:r>
            <a:endParaRPr lang="en-US" sz="1538" dirty="0"/>
          </a:p>
        </p:txBody>
      </p:sp>
      <p:sp>
        <p:nvSpPr>
          <p:cNvPr id="27" name="Text 2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8" name="Text 2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 name="Text 2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37235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한 달 남짓에 -40%… 노후자금을 롤러코스터에?</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보증형 변액연금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756636" cy="247647"/>
          </a:xfrm>
          <a:prstGeom prst="rect">
            <a:avLst/>
          </a:prstGeom>
        </p:spPr>
      </p:pic>
      <p:sp>
        <p:nvSpPr>
          <p:cNvPr id="8" name="Shape 5"/>
          <p:cNvSpPr/>
          <p:nvPr/>
        </p:nvSpPr>
        <p:spPr>
          <a:xfrm>
            <a:off x="1752361"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1847611"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김규림 기자 입력: 2026.08.31 14:17</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‘롤러코스피’에 지쳤나…코스피 거래대금 두 달 새 ‘반토막’</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742284" cy="1634112"/>
          </a:xfrm>
          <a:prstGeom prst="rect">
            <a:avLst/>
          </a:prstGeom>
          <a:noFill/>
          <a:ln/>
        </p:spPr>
        <p:txBody>
          <a:bodyPr wrap="square" lIns="25400" tIns="25400" rIns="25400" bIns="25400" rtlCol="0" anchor="t">
            <a:normAutofit lnSpcReduction="10000"/>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국내 증시의 거래 열기가 빠르게 식고 있다. 유가증권시장의 하루 평균 거래대금이 불과 두 달 만에 절반 수준으로 줄어든 데 이어 거래량도 5개월 만에 3분의 1에도 못 미치는 수준으로 감소했다. 급격한 등락을 거듭했던 코스피의 변동 폭이 최근 다소 줄어드는 가운데 시장 거래가 눈에 띄게 위축되는 모습이다.</a:t>
            </a:r>
            <a:endParaRPr lang="en-US" sz="1069" dirty="0"/>
          </a:p>
        </p:txBody>
      </p:sp>
      <p:sp>
        <p:nvSpPr>
          <p:cNvPr id="14" name="Text 11"/>
          <p:cNvSpPr/>
          <p:nvPr/>
        </p:nvSpPr>
        <p:spPr>
          <a:xfrm>
            <a:off x="881438" y="3965949"/>
            <a:ext cx="2742284" cy="1406110"/>
          </a:xfrm>
          <a:prstGeom prst="rect">
            <a:avLst/>
          </a:prstGeom>
          <a:noFill/>
          <a:ln/>
        </p:spPr>
        <p:txBody>
          <a:bodyPr wrap="square" lIns="25400" tIns="25400" rIns="25400" bIns="25400" rtlCol="0" anchor="t">
            <a:normAutofit/>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31일 한국거래소에 따르면, 8월 유가증권시장의 일평균 거래대금은 이날 개장 전 기준 약 26조원으로 집계됐다. 지난 5월 50조2150억원, 6월 50조3470억원에 달했던 일평균 거래대금은 7월 36조8750억원으로 감소한 뒤 이달 20조원대 중반까지 내려왔다.</a:t>
            </a:r>
            <a:endParaRPr lang="en-US" sz="1069" dirty="0"/>
          </a:p>
        </p:txBody>
      </p:sp>
      <p:sp>
        <p:nvSpPr>
          <p:cNvPr id="15" name="Text 12"/>
          <p:cNvSpPr/>
          <p:nvPr/>
        </p:nvSpPr>
        <p:spPr>
          <a:xfrm>
            <a:off x="881439" y="5461371"/>
            <a:ext cx="2742284" cy="1006141"/>
          </a:xfrm>
          <a:prstGeom prst="rect">
            <a:avLst/>
          </a:prstGeom>
          <a:noFill/>
          <a:ln/>
        </p:spPr>
        <p:txBody>
          <a:bodyPr wrap="square" lIns="25400" tIns="25400" rIns="25400" bIns="25400" rtlCol="0" anchor="t">
            <a:normAutofit/>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거래량 감소세도 가파르다. 지난 3월 유가증권시장의 일평균 거래량은 11억 주를 웃돌았지만 4월 9억 주대, 5월 6억 주대로 감소했다. 6월에는 4억 주대로 떨어진 데 이어 이달에는 3억 주대까지 줄었다. </a:t>
            </a:r>
            <a:endParaRPr lang="en-US" sz="1069" dirty="0"/>
          </a:p>
        </p:txBody>
      </p:sp>
      <p:sp>
        <p:nvSpPr>
          <p:cNvPr id="16" name="Text 13"/>
          <p:cNvSpPr/>
          <p:nvPr/>
        </p:nvSpPr>
        <p:spPr>
          <a:xfrm>
            <a:off x="3829565" y="3003078"/>
            <a:ext cx="2742284" cy="1022116"/>
          </a:xfrm>
          <a:prstGeom prst="rect">
            <a:avLst/>
          </a:prstGeom>
          <a:noFill/>
          <a:ln/>
        </p:spPr>
        <p:txBody>
          <a:bodyPr wrap="square" lIns="25400" tIns="25400" rIns="25400" bIns="25400" rtlCol="0" anchor="t">
            <a:normAutofit/>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코스피는 최근 두 달간 극심한 변동성을 보였다. 지난 6월19일 장중 9385.59까지 치솟으며 사상 처음 9000선을 넘어섰지만 지난달 29일에는 장중 5262.77까지 밀렸다. 불과 한 달여 </a:t>
            </a:r>
            <a:r>
              <a:rPr lang="en-US" sz="1069" b="1" kern="0" spc="-11" dirty="0" err="1">
                <a:solidFill>
                  <a:srgbClr val="4A3B31"/>
                </a:solidFill>
                <a:latin typeface="Paperlogy 7 Bold" pitchFamily="2" charset="-127"/>
                <a:ea typeface="Paperlogy 7 Bold" pitchFamily="2" charset="-127"/>
                <a:cs typeface="Arial" pitchFamily="34" charset="-120"/>
              </a:rPr>
              <a:t>만에</a:t>
            </a:r>
            <a:r>
              <a:rPr lang="en-US" sz="1069" b="1" kern="0" spc="-11" dirty="0">
                <a:solidFill>
                  <a:srgbClr val="4A3B31"/>
                </a:solidFill>
                <a:latin typeface="Paperlogy 7 Bold" pitchFamily="2" charset="-127"/>
                <a:ea typeface="Paperlogy 7 Bold" pitchFamily="2" charset="-127"/>
                <a:cs typeface="Arial" pitchFamily="34" charset="-120"/>
              </a:rPr>
              <a:t> </a:t>
            </a:r>
            <a:r>
              <a:rPr lang="en-US" sz="1069" b="1" kern="0" spc="-11" dirty="0" err="1">
                <a:solidFill>
                  <a:srgbClr val="4A3B31"/>
                </a:solidFill>
                <a:latin typeface="Paperlogy 7 Bold" pitchFamily="2" charset="-127"/>
                <a:ea typeface="Paperlogy 7 Bold" pitchFamily="2" charset="-127"/>
                <a:cs typeface="Arial" pitchFamily="34" charset="-120"/>
              </a:rPr>
              <a:t>고점</a:t>
            </a:r>
            <a:r>
              <a:rPr lang="en-US" sz="1069" b="1" kern="0" spc="-11" dirty="0">
                <a:solidFill>
                  <a:srgbClr val="4A3B31"/>
                </a:solidFill>
                <a:latin typeface="Paperlogy 7 Bold" pitchFamily="2" charset="-127"/>
                <a:ea typeface="Paperlogy 7 Bold" pitchFamily="2" charset="-127"/>
                <a:cs typeface="Arial" pitchFamily="34" charset="-120"/>
              </a:rPr>
              <a:t> </a:t>
            </a:r>
            <a:endParaRPr lang="en-US" sz="1069" dirty="0"/>
          </a:p>
        </p:txBody>
      </p:sp>
      <p:sp>
        <p:nvSpPr>
          <p:cNvPr id="17" name="Text 14"/>
          <p:cNvSpPr/>
          <p:nvPr/>
        </p:nvSpPr>
        <p:spPr>
          <a:xfrm>
            <a:off x="6777692" y="2414023"/>
            <a:ext cx="2742284" cy="1178109"/>
          </a:xfrm>
          <a:prstGeom prst="rect">
            <a:avLst/>
          </a:prstGeom>
          <a:noFill/>
          <a:ln/>
        </p:spPr>
        <p:txBody>
          <a:bodyPr wrap="square" lIns="25400" tIns="25400" rIns="25400" bIns="25400" rtlCol="0" anchor="t">
            <a:normAutofit/>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거래 위축에는 단기간 급등 이후 이어진 증시 조정과 금리 부담 등이 영향을 미친 것으로 풀이된다. 여기에 특정 종목으로 매수세를 끌어들이던 단일종목 레버리지 상품에 대한 규제가 시행된 점도 거래 감소 요인으로 거론된다.</a:t>
            </a:r>
            <a:endParaRPr lang="en-US" sz="1069" dirty="0"/>
          </a:p>
        </p:txBody>
      </p:sp>
      <p:sp>
        <p:nvSpPr>
          <p:cNvPr id="18" name="Shape 15"/>
          <p:cNvSpPr/>
          <p:nvPr/>
        </p:nvSpPr>
        <p:spPr>
          <a:xfrm>
            <a:off x="4980722" y="4035175"/>
            <a:ext cx="4539254" cy="2385376"/>
          </a:xfrm>
          <a:prstGeom prst="roundRect">
            <a:avLst>
              <a:gd name="adj" fmla="val 0"/>
            </a:avLst>
          </a:prstGeom>
          <a:ln w="5217">
            <a:solidFill>
              <a:srgbClr val="EADFD3"/>
            </a:solidFill>
            <a:prstDash val="solid"/>
          </a:ln>
        </p:spPr>
        <p:txBody>
          <a:bodyPr/>
          <a:lstStyle/>
          <a:p>
            <a:endParaRPr lang="ko-KR" altLang="en-US"/>
          </a:p>
        </p:txBody>
      </p:sp>
      <p:pic>
        <p:nvPicPr>
          <p:cNvPr id="19" name="Image 1" descr="preencoded.png"/>
          <p:cNvPicPr>
            <a:picLocks noChangeAspect="1"/>
          </p:cNvPicPr>
          <p:nvPr/>
        </p:nvPicPr>
        <p:blipFill>
          <a:blip r:embed="rId4"/>
          <a:srcRect b="7182"/>
          <a:stretch>
            <a:fillRect/>
          </a:stretch>
        </p:blipFill>
        <p:spPr>
          <a:xfrm>
            <a:off x="5073968" y="4122664"/>
            <a:ext cx="4407901" cy="2220263"/>
          </a:xfrm>
          <a:prstGeom prst="rect">
            <a:avLst/>
          </a:prstGeom>
        </p:spPr>
      </p:pic>
      <p:sp>
        <p:nvSpPr>
          <p:cNvPr id="20" name="Text 16"/>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1" name="Text 17"/>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2" name="Text 18"/>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20</a:t>
            </a:r>
            <a:endParaRPr lang="en-US" sz="900" dirty="0"/>
          </a:p>
        </p:txBody>
      </p:sp>
      <p:sp>
        <p:nvSpPr>
          <p:cNvPr id="23" name="Text 12">
            <a:extLst>
              <a:ext uri="{FF2B5EF4-FFF2-40B4-BE49-F238E27FC236}">
                <a16:creationId xmlns:a16="http://schemas.microsoft.com/office/drawing/2014/main" id="{C8EC713A-F20C-9C46-E3FF-05DB44D20FE9}"/>
              </a:ext>
            </a:extLst>
          </p:cNvPr>
          <p:cNvSpPr/>
          <p:nvPr/>
        </p:nvSpPr>
        <p:spPr>
          <a:xfrm>
            <a:off x="3829565" y="2415824"/>
            <a:ext cx="2742284" cy="572404"/>
          </a:xfrm>
          <a:prstGeom prst="rect">
            <a:avLst/>
          </a:prstGeom>
          <a:noFill/>
          <a:ln/>
        </p:spPr>
        <p:txBody>
          <a:bodyPr wrap="square" lIns="25400" tIns="25400" rIns="25400" bIns="25400" rtlCol="0" anchor="t">
            <a:normAutofit/>
          </a:bodyPr>
          <a:lstStyle/>
          <a:p>
            <a:pPr marL="0" indent="0" algn="just">
              <a:lnSpc>
                <a:spcPct val="140994"/>
              </a:lnSpc>
              <a:buNone/>
            </a:pPr>
            <a:r>
              <a:rPr lang="en-US" sz="1069" b="1" kern="0" spc="-11" dirty="0">
                <a:solidFill>
                  <a:srgbClr val="4A3B31"/>
                </a:solidFill>
                <a:latin typeface="Paperlogy 7 Bold" pitchFamily="2" charset="-127"/>
                <a:ea typeface="Paperlogy 7 Bold" pitchFamily="2" charset="-127"/>
                <a:cs typeface="Arial" pitchFamily="34" charset="-120"/>
              </a:rPr>
              <a:t>5개월 만에 하루 평균 거래량이 3월 거래량의 30%에도 못 미치는 수준으로 쪼그라든 셈이다.</a:t>
            </a:r>
            <a:endParaRPr lang="en-US" sz="1069" dirty="0"/>
          </a:p>
        </p:txBody>
      </p:sp>
      <p:sp>
        <p:nvSpPr>
          <p:cNvPr id="24" name="Text 13">
            <a:extLst>
              <a:ext uri="{FF2B5EF4-FFF2-40B4-BE49-F238E27FC236}">
                <a16:creationId xmlns:a16="http://schemas.microsoft.com/office/drawing/2014/main" id="{B410FE68-E47C-C083-3734-4FF3B7AD4DC9}"/>
              </a:ext>
            </a:extLst>
          </p:cNvPr>
          <p:cNvSpPr/>
          <p:nvPr/>
        </p:nvSpPr>
        <p:spPr>
          <a:xfrm>
            <a:off x="3829565" y="3898304"/>
            <a:ext cx="1069185" cy="2531770"/>
          </a:xfrm>
          <a:prstGeom prst="rect">
            <a:avLst/>
          </a:prstGeom>
          <a:noFill/>
          <a:ln/>
        </p:spPr>
        <p:txBody>
          <a:bodyPr wrap="square" lIns="25400" tIns="25400" rIns="25400" bIns="25400" rtlCol="0" anchor="t">
            <a:noAutofit/>
          </a:bodyPr>
          <a:lstStyle/>
          <a:p>
            <a:pPr marL="0" indent="0" algn="just">
              <a:lnSpc>
                <a:spcPct val="140994"/>
              </a:lnSpc>
              <a:buNone/>
            </a:pPr>
            <a:r>
              <a:rPr lang="en-US" sz="1070" b="1" kern="0" spc="-11" dirty="0" err="1">
                <a:solidFill>
                  <a:srgbClr val="4A3B31"/>
                </a:solidFill>
                <a:latin typeface="Paperlogy 7 Bold" pitchFamily="2" charset="-127"/>
                <a:ea typeface="Paperlogy 7 Bold" pitchFamily="2" charset="-127"/>
                <a:cs typeface="Arial" pitchFamily="34" charset="-120"/>
              </a:rPr>
              <a:t>대비</a:t>
            </a:r>
            <a:r>
              <a:rPr lang="en-US" sz="1070" b="1" kern="0" spc="-11" dirty="0">
                <a:solidFill>
                  <a:srgbClr val="4A3B31"/>
                </a:solidFill>
                <a:latin typeface="Paperlogy 7 Bold" pitchFamily="2" charset="-127"/>
                <a:ea typeface="Paperlogy 7 Bold" pitchFamily="2" charset="-127"/>
                <a:cs typeface="Arial" pitchFamily="34" charset="-120"/>
              </a:rPr>
              <a:t> 40% </a:t>
            </a:r>
            <a:r>
              <a:rPr lang="en-US" sz="1070" b="1" kern="0" spc="-11" dirty="0" err="1">
                <a:solidFill>
                  <a:srgbClr val="4A3B31"/>
                </a:solidFill>
                <a:latin typeface="Paperlogy 7 Bold" pitchFamily="2" charset="-127"/>
                <a:ea typeface="Paperlogy 7 Bold" pitchFamily="2" charset="-127"/>
                <a:cs typeface="Arial" pitchFamily="34" charset="-120"/>
              </a:rPr>
              <a:t>넘게</a:t>
            </a:r>
            <a:r>
              <a:rPr lang="en-US" sz="1070" b="1" kern="0" spc="-11" dirty="0">
                <a:solidFill>
                  <a:srgbClr val="4A3B31"/>
                </a:solidFill>
                <a:latin typeface="Paperlogy 7 Bold" pitchFamily="2" charset="-127"/>
                <a:ea typeface="Paperlogy 7 Bold" pitchFamily="2" charset="-127"/>
                <a:cs typeface="Arial" pitchFamily="34" charset="-120"/>
              </a:rPr>
              <a:t> </a:t>
            </a:r>
            <a:r>
              <a:rPr lang="ko-KR" altLang="en-US" sz="1070" b="1" kern="0" spc="-11" dirty="0">
                <a:solidFill>
                  <a:srgbClr val="4A3B31"/>
                </a:solidFill>
                <a:latin typeface="Paperlogy 7 Bold" pitchFamily="2" charset="-127"/>
                <a:ea typeface="Paperlogy 7 Bold" pitchFamily="2" charset="-127"/>
                <a:cs typeface="Arial" pitchFamily="34" charset="-120"/>
              </a:rPr>
              <a:t>  </a:t>
            </a:r>
            <a:r>
              <a:rPr lang="en-US" sz="1070" b="1" kern="0" spc="-11" dirty="0" err="1">
                <a:solidFill>
                  <a:srgbClr val="4A3B31"/>
                </a:solidFill>
                <a:latin typeface="Paperlogy 7 Bold" pitchFamily="2" charset="-127"/>
                <a:ea typeface="Paperlogy 7 Bold" pitchFamily="2" charset="-127"/>
                <a:cs typeface="Arial" pitchFamily="34" charset="-120"/>
              </a:rPr>
              <a:t>떨어질</a:t>
            </a:r>
            <a:r>
              <a:rPr lang="en-US" sz="1070" b="1" kern="0" spc="-11" dirty="0">
                <a:solidFill>
                  <a:srgbClr val="4A3B31"/>
                </a:solidFill>
                <a:latin typeface="Paperlogy 7 Bold" pitchFamily="2" charset="-127"/>
                <a:ea typeface="Paperlogy 7 Bold" pitchFamily="2" charset="-127"/>
                <a:cs typeface="Arial" pitchFamily="34" charset="-120"/>
              </a:rPr>
              <a:t> 정도로 급등락을 거듭한 이후 이달 들어 </a:t>
            </a:r>
            <a:r>
              <a:rPr lang="en-US" sz="1070" b="1" kern="0" spc="-11" dirty="0" err="1">
                <a:solidFill>
                  <a:srgbClr val="4A3B31"/>
                </a:solidFill>
                <a:latin typeface="Paperlogy 7 Bold" pitchFamily="2" charset="-127"/>
                <a:ea typeface="Paperlogy 7 Bold" pitchFamily="2" charset="-127"/>
                <a:cs typeface="Arial" pitchFamily="34" charset="-120"/>
              </a:rPr>
              <a:t>변동</a:t>
            </a:r>
            <a:r>
              <a:rPr lang="en-US" sz="1070" b="1" kern="0" spc="-11" dirty="0">
                <a:solidFill>
                  <a:srgbClr val="4A3B31"/>
                </a:solidFill>
                <a:latin typeface="Paperlogy 7 Bold" pitchFamily="2" charset="-127"/>
                <a:ea typeface="Paperlogy 7 Bold" pitchFamily="2" charset="-127"/>
                <a:cs typeface="Arial" pitchFamily="34" charset="-120"/>
              </a:rPr>
              <a:t> </a:t>
            </a:r>
            <a:r>
              <a:rPr lang="ko-KR" altLang="en-US" sz="1070" b="1" kern="0" spc="-11" dirty="0">
                <a:solidFill>
                  <a:srgbClr val="4A3B31"/>
                </a:solidFill>
                <a:latin typeface="Paperlogy 7 Bold" pitchFamily="2" charset="-127"/>
                <a:ea typeface="Paperlogy 7 Bold" pitchFamily="2" charset="-127"/>
                <a:cs typeface="Arial" pitchFamily="34" charset="-120"/>
              </a:rPr>
              <a:t>    </a:t>
            </a:r>
            <a:r>
              <a:rPr lang="en-US" sz="1070" b="1" kern="0" spc="-11" dirty="0" err="1">
                <a:solidFill>
                  <a:srgbClr val="4A3B31"/>
                </a:solidFill>
                <a:latin typeface="Paperlogy 7 Bold" pitchFamily="2" charset="-127"/>
                <a:ea typeface="Paperlogy 7 Bold" pitchFamily="2" charset="-127"/>
                <a:cs typeface="Arial" pitchFamily="34" charset="-120"/>
              </a:rPr>
              <a:t>폭이</a:t>
            </a:r>
            <a:r>
              <a:rPr lang="en-US" sz="1070" b="1" kern="0" spc="-11" dirty="0">
                <a:solidFill>
                  <a:srgbClr val="4A3B31"/>
                </a:solidFill>
                <a:latin typeface="Paperlogy 7 Bold" pitchFamily="2" charset="-127"/>
                <a:ea typeface="Paperlogy 7 Bold" pitchFamily="2" charset="-127"/>
                <a:cs typeface="Arial" pitchFamily="34" charset="-120"/>
              </a:rPr>
              <a:t> </a:t>
            </a:r>
            <a:r>
              <a:rPr lang="en-US" sz="1070" b="1" kern="0" spc="-11" dirty="0" err="1">
                <a:solidFill>
                  <a:srgbClr val="4A3B31"/>
                </a:solidFill>
                <a:latin typeface="Paperlogy 7 Bold" pitchFamily="2" charset="-127"/>
                <a:ea typeface="Paperlogy 7 Bold" pitchFamily="2" charset="-127"/>
                <a:cs typeface="Arial" pitchFamily="34" charset="-120"/>
              </a:rPr>
              <a:t>다소</a:t>
            </a:r>
            <a:r>
              <a:rPr lang="en-US" sz="1070" b="1" kern="0" spc="-11" dirty="0">
                <a:solidFill>
                  <a:srgbClr val="4A3B31"/>
                </a:solidFill>
                <a:latin typeface="Paperlogy 7 Bold" pitchFamily="2" charset="-127"/>
                <a:ea typeface="Paperlogy 7 Bold" pitchFamily="2" charset="-127"/>
                <a:cs typeface="Arial" pitchFamily="34" charset="-120"/>
              </a:rPr>
              <a:t> </a:t>
            </a:r>
          </a:p>
          <a:p>
            <a:pPr marL="0" indent="0" algn="just">
              <a:lnSpc>
                <a:spcPct val="140994"/>
              </a:lnSpc>
              <a:buNone/>
            </a:pPr>
            <a:r>
              <a:rPr lang="en-US" sz="1070" b="1" kern="0" spc="-11" dirty="0" err="1">
                <a:solidFill>
                  <a:srgbClr val="4A3B31"/>
                </a:solidFill>
                <a:latin typeface="Paperlogy 7 Bold" pitchFamily="2" charset="-127"/>
                <a:ea typeface="Paperlogy 7 Bold" pitchFamily="2" charset="-127"/>
                <a:cs typeface="Arial" pitchFamily="34" charset="-120"/>
              </a:rPr>
              <a:t>진정됐으나</a:t>
            </a:r>
            <a:r>
              <a:rPr lang="en-US" sz="1070" b="1" kern="0" spc="-11" dirty="0">
                <a:solidFill>
                  <a:srgbClr val="4A3B31"/>
                </a:solidFill>
                <a:latin typeface="Paperlogy 7 Bold" pitchFamily="2" charset="-127"/>
                <a:ea typeface="Paperlogy 7 Bold" pitchFamily="2" charset="-127"/>
                <a:cs typeface="Arial" pitchFamily="34" charset="-120"/>
              </a:rPr>
              <a:t> 거래대금과 거래량도 함께 감소하는 </a:t>
            </a:r>
            <a:r>
              <a:rPr lang="en-US" sz="1070" b="1" kern="0" spc="-11" dirty="0" err="1">
                <a:solidFill>
                  <a:srgbClr val="4A3B31"/>
                </a:solidFill>
                <a:latin typeface="Paperlogy 7 Bold" pitchFamily="2" charset="-127"/>
                <a:ea typeface="Paperlogy 7 Bold" pitchFamily="2" charset="-127"/>
                <a:cs typeface="Arial" pitchFamily="34" charset="-120"/>
              </a:rPr>
              <a:t>양상이다</a:t>
            </a:r>
            <a:r>
              <a:rPr lang="en-US" sz="1070" b="1" kern="0" spc="-11" dirty="0">
                <a:solidFill>
                  <a:srgbClr val="4A3B31"/>
                </a:solidFill>
                <a:latin typeface="Paperlogy 7 Bold" pitchFamily="2" charset="-127"/>
                <a:ea typeface="Paperlogy 7 Bold" pitchFamily="2" charset="-127"/>
                <a:cs typeface="Arial" pitchFamily="34" charset="-12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37235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한 달 남짓에 -40%… 노후자금을 롤러코스터에?</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보증형 변액연금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2115191" y="1149220"/>
            <a:ext cx="3131661" cy="330255"/>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3A2C24"/>
                </a:solidFill>
                <a:latin typeface="Paperlogy 7 Bold" pitchFamily="2" charset="-127"/>
                <a:ea typeface="Paperlogy 7 Bold" pitchFamily="2" charset="-127"/>
                <a:cs typeface="Arial" pitchFamily="34" charset="-120"/>
              </a:rPr>
              <a:t>연금은 받는데, 생활은 안 된다!</a:t>
            </a:r>
            <a:endParaRPr lang="en-US" sz="1950" dirty="0"/>
          </a:p>
        </p:txBody>
      </p:sp>
      <p:sp>
        <p:nvSpPr>
          <p:cNvPr id="7" name="Shape 5"/>
          <p:cNvSpPr/>
          <p:nvPr/>
        </p:nvSpPr>
        <p:spPr>
          <a:xfrm>
            <a:off x="5133585" y="1200086"/>
            <a:ext cx="9525" cy="190423"/>
          </a:xfrm>
          <a:prstGeom prst="rect">
            <a:avLst/>
          </a:prstGeom>
          <a:solidFill>
            <a:srgbClr val="EADFD3"/>
          </a:solidFill>
          <a:ln/>
        </p:spPr>
        <p:txBody>
          <a:bodyPr/>
          <a:lstStyle/>
          <a:p>
            <a:endParaRPr lang="ko-KR" altLang="en-US"/>
          </a:p>
        </p:txBody>
      </p:sp>
      <p:sp>
        <p:nvSpPr>
          <p:cNvPr id="8" name="Text 6"/>
          <p:cNvSpPr/>
          <p:nvPr/>
        </p:nvSpPr>
        <p:spPr>
          <a:xfrm>
            <a:off x="5314470" y="1201391"/>
            <a:ext cx="3593452" cy="225914"/>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7B6B60"/>
                </a:solidFill>
                <a:latin typeface="Paperlogy 7 Bold" pitchFamily="2" charset="-127"/>
                <a:ea typeface="Paperlogy 7 Bold" pitchFamily="2" charset="-127"/>
                <a:cs typeface="Arial" pitchFamily="34" charset="-120"/>
              </a:rPr>
              <a:t>연금 받는 노인 </a:t>
            </a:r>
            <a:r>
              <a:rPr lang="en-US" sz="1200" b="1" dirty="0">
                <a:solidFill>
                  <a:srgbClr val="CF7446"/>
                </a:solidFill>
                <a:latin typeface="Paperlogy 7 Bold" pitchFamily="2" charset="-127"/>
                <a:ea typeface="Paperlogy 7 Bold" pitchFamily="2" charset="-127"/>
                <a:cs typeface="Arial" pitchFamily="34" charset="-120"/>
              </a:rPr>
              <a:t>912만명</a:t>
            </a:r>
            <a:r>
              <a:rPr lang="en-US" sz="1200" b="1" dirty="0">
                <a:solidFill>
                  <a:srgbClr val="7B6B60"/>
                </a:solidFill>
                <a:latin typeface="Paperlogy 7 Bold" pitchFamily="2" charset="-127"/>
                <a:ea typeface="Paperlogy 7 Bold" pitchFamily="2" charset="-127"/>
                <a:cs typeface="Arial" pitchFamily="34" charset="-120"/>
              </a:rPr>
              <a:t>, 절반은 월 </a:t>
            </a:r>
            <a:r>
              <a:rPr lang="en-US" sz="1200" b="1" dirty="0">
                <a:solidFill>
                  <a:srgbClr val="CF7446"/>
                </a:solidFill>
                <a:latin typeface="Paperlogy 7 Bold" pitchFamily="2" charset="-127"/>
                <a:ea typeface="Paperlogy 7 Bold" pitchFamily="2" charset="-127"/>
                <a:cs typeface="Arial" pitchFamily="34" charset="-120"/>
              </a:rPr>
              <a:t>50만원</a:t>
            </a:r>
            <a:r>
              <a:rPr lang="en-US" sz="1200" b="1" dirty="0">
                <a:solidFill>
                  <a:srgbClr val="7B6B60"/>
                </a:solidFill>
                <a:latin typeface="Paperlogy 7 Bold" pitchFamily="2" charset="-127"/>
                <a:ea typeface="Paperlogy 7 Bold" pitchFamily="2" charset="-127"/>
                <a:cs typeface="Arial" pitchFamily="34" charset="-120"/>
              </a:rPr>
              <a:t>도 못 받는다</a:t>
            </a:r>
            <a:endParaRPr lang="en-US" sz="1200" dirty="0"/>
          </a:p>
        </p:txBody>
      </p:sp>
      <p:sp>
        <p:nvSpPr>
          <p:cNvPr id="9" name="Shape 7"/>
          <p:cNvSpPr/>
          <p:nvPr/>
        </p:nvSpPr>
        <p:spPr>
          <a:xfrm>
            <a:off x="533363" y="1704918"/>
            <a:ext cx="4719644" cy="3080591"/>
          </a:xfrm>
          <a:prstGeom prst="roundRect">
            <a:avLst>
              <a:gd name="adj" fmla="val 4947"/>
            </a:avLst>
          </a:prstGeom>
          <a:solidFill>
            <a:srgbClr val="FFFFFF"/>
          </a:solidFill>
          <a:ln w="5217">
            <a:solidFill>
              <a:srgbClr val="EADFD3"/>
            </a:solidFill>
            <a:prstDash val="solid"/>
          </a:ln>
        </p:spPr>
        <p:txBody>
          <a:bodyPr/>
          <a:lstStyle/>
          <a:p>
            <a:endParaRPr lang="ko-KR" altLang="en-US"/>
          </a:p>
        </p:txBody>
      </p:sp>
      <p:sp>
        <p:nvSpPr>
          <p:cNvPr id="10" name="Text 8"/>
          <p:cNvSpPr/>
          <p:nvPr/>
        </p:nvSpPr>
        <p:spPr>
          <a:xfrm>
            <a:off x="767152" y="1881564"/>
            <a:ext cx="4677271" cy="267651"/>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연금 수급자 2명 중 1명은 월 50만원 미만</a:t>
            </a:r>
            <a:endParaRPr lang="en-US" sz="1500" dirty="0"/>
          </a:p>
        </p:txBody>
      </p:sp>
      <p:sp>
        <p:nvSpPr>
          <p:cNvPr id="11" name="Shape 9"/>
          <p:cNvSpPr/>
          <p:nvPr/>
        </p:nvSpPr>
        <p:spPr>
          <a:xfrm>
            <a:off x="829023" y="2652303"/>
            <a:ext cx="257103" cy="257103"/>
          </a:xfrm>
          <a:prstGeom prst="ellipse">
            <a:avLst/>
          </a:prstGeom>
          <a:solidFill>
            <a:srgbClr val="CF7446"/>
          </a:solidFill>
          <a:ln/>
        </p:spPr>
        <p:txBody>
          <a:bodyPr/>
          <a:lstStyle/>
          <a:p>
            <a:endParaRPr lang="ko-KR" altLang="en-US"/>
          </a:p>
        </p:txBody>
      </p:sp>
      <p:sp>
        <p:nvSpPr>
          <p:cNvPr id="12" name="Shape 10"/>
          <p:cNvSpPr/>
          <p:nvPr/>
        </p:nvSpPr>
        <p:spPr>
          <a:xfrm>
            <a:off x="78614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3" name="Shape 11"/>
          <p:cNvSpPr/>
          <p:nvPr/>
        </p:nvSpPr>
        <p:spPr>
          <a:xfrm>
            <a:off x="1259186" y="2652303"/>
            <a:ext cx="257103" cy="257103"/>
          </a:xfrm>
          <a:prstGeom prst="ellipse">
            <a:avLst/>
          </a:prstGeom>
          <a:solidFill>
            <a:srgbClr val="CF7446"/>
          </a:solidFill>
          <a:ln/>
        </p:spPr>
        <p:txBody>
          <a:bodyPr/>
          <a:lstStyle/>
          <a:p>
            <a:endParaRPr lang="ko-KR" altLang="en-US"/>
          </a:p>
        </p:txBody>
      </p:sp>
      <p:sp>
        <p:nvSpPr>
          <p:cNvPr id="14" name="Shape 12"/>
          <p:cNvSpPr/>
          <p:nvPr/>
        </p:nvSpPr>
        <p:spPr>
          <a:xfrm>
            <a:off x="1216308"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5" name="Shape 13"/>
          <p:cNvSpPr/>
          <p:nvPr/>
        </p:nvSpPr>
        <p:spPr>
          <a:xfrm>
            <a:off x="1689267" y="2652303"/>
            <a:ext cx="257103" cy="257103"/>
          </a:xfrm>
          <a:prstGeom prst="ellipse">
            <a:avLst/>
          </a:prstGeom>
          <a:solidFill>
            <a:srgbClr val="CF7446"/>
          </a:solidFill>
          <a:ln/>
        </p:spPr>
        <p:txBody>
          <a:bodyPr/>
          <a:lstStyle/>
          <a:p>
            <a:endParaRPr lang="ko-KR" altLang="en-US"/>
          </a:p>
        </p:txBody>
      </p:sp>
      <p:sp>
        <p:nvSpPr>
          <p:cNvPr id="16" name="Shape 14"/>
          <p:cNvSpPr/>
          <p:nvPr/>
        </p:nvSpPr>
        <p:spPr>
          <a:xfrm>
            <a:off x="1646389"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7" name="Shape 15"/>
          <p:cNvSpPr/>
          <p:nvPr/>
        </p:nvSpPr>
        <p:spPr>
          <a:xfrm>
            <a:off x="2119430" y="2652303"/>
            <a:ext cx="257103" cy="257103"/>
          </a:xfrm>
          <a:prstGeom prst="ellipse">
            <a:avLst/>
          </a:prstGeom>
          <a:solidFill>
            <a:srgbClr val="CF7446"/>
          </a:solidFill>
          <a:ln/>
        </p:spPr>
        <p:txBody>
          <a:bodyPr/>
          <a:lstStyle/>
          <a:p>
            <a:endParaRPr lang="ko-KR" altLang="en-US"/>
          </a:p>
        </p:txBody>
      </p:sp>
      <p:sp>
        <p:nvSpPr>
          <p:cNvPr id="18" name="Shape 16"/>
          <p:cNvSpPr/>
          <p:nvPr/>
        </p:nvSpPr>
        <p:spPr>
          <a:xfrm>
            <a:off x="2076552"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19" name="Shape 17"/>
          <p:cNvSpPr/>
          <p:nvPr/>
        </p:nvSpPr>
        <p:spPr>
          <a:xfrm>
            <a:off x="2549592" y="2652303"/>
            <a:ext cx="257103" cy="257103"/>
          </a:xfrm>
          <a:prstGeom prst="ellipse">
            <a:avLst/>
          </a:prstGeom>
          <a:solidFill>
            <a:srgbClr val="CF7446"/>
          </a:solidFill>
          <a:ln/>
        </p:spPr>
        <p:txBody>
          <a:bodyPr/>
          <a:lstStyle/>
          <a:p>
            <a:endParaRPr lang="ko-KR" altLang="en-US"/>
          </a:p>
        </p:txBody>
      </p:sp>
      <p:sp>
        <p:nvSpPr>
          <p:cNvPr id="20" name="Shape 18"/>
          <p:cNvSpPr/>
          <p:nvPr/>
        </p:nvSpPr>
        <p:spPr>
          <a:xfrm>
            <a:off x="250671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CF7446"/>
          </a:solidFill>
          <a:ln/>
        </p:spPr>
        <p:txBody>
          <a:bodyPr/>
          <a:lstStyle/>
          <a:p>
            <a:endParaRPr lang="ko-KR" altLang="en-US"/>
          </a:p>
        </p:txBody>
      </p:sp>
      <p:sp>
        <p:nvSpPr>
          <p:cNvPr id="21" name="Shape 19"/>
          <p:cNvSpPr/>
          <p:nvPr/>
        </p:nvSpPr>
        <p:spPr>
          <a:xfrm>
            <a:off x="2979674" y="2652303"/>
            <a:ext cx="257103" cy="257103"/>
          </a:xfrm>
          <a:prstGeom prst="ellipse">
            <a:avLst/>
          </a:prstGeom>
          <a:solidFill>
            <a:srgbClr val="E6DCD2"/>
          </a:solidFill>
          <a:ln/>
        </p:spPr>
        <p:txBody>
          <a:bodyPr/>
          <a:lstStyle/>
          <a:p>
            <a:endParaRPr lang="ko-KR" altLang="en-US"/>
          </a:p>
        </p:txBody>
      </p:sp>
      <p:sp>
        <p:nvSpPr>
          <p:cNvPr id="22" name="Shape 20"/>
          <p:cNvSpPr/>
          <p:nvPr/>
        </p:nvSpPr>
        <p:spPr>
          <a:xfrm>
            <a:off x="2936796"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3" name="Shape 21"/>
          <p:cNvSpPr/>
          <p:nvPr/>
        </p:nvSpPr>
        <p:spPr>
          <a:xfrm>
            <a:off x="3409836" y="2652303"/>
            <a:ext cx="257103" cy="257103"/>
          </a:xfrm>
          <a:prstGeom prst="ellipse">
            <a:avLst/>
          </a:prstGeom>
          <a:solidFill>
            <a:srgbClr val="E6DCD2"/>
          </a:solidFill>
          <a:ln/>
        </p:spPr>
        <p:txBody>
          <a:bodyPr/>
          <a:lstStyle/>
          <a:p>
            <a:endParaRPr lang="ko-KR" altLang="en-US"/>
          </a:p>
        </p:txBody>
      </p:sp>
      <p:sp>
        <p:nvSpPr>
          <p:cNvPr id="24" name="Shape 22"/>
          <p:cNvSpPr/>
          <p:nvPr/>
        </p:nvSpPr>
        <p:spPr>
          <a:xfrm>
            <a:off x="3366958"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5" name="Shape 23"/>
          <p:cNvSpPr/>
          <p:nvPr/>
        </p:nvSpPr>
        <p:spPr>
          <a:xfrm>
            <a:off x="3839999" y="2652303"/>
            <a:ext cx="257103" cy="257103"/>
          </a:xfrm>
          <a:prstGeom prst="ellipse">
            <a:avLst/>
          </a:prstGeom>
          <a:solidFill>
            <a:srgbClr val="E6DCD2"/>
          </a:solidFill>
          <a:ln/>
        </p:spPr>
        <p:txBody>
          <a:bodyPr/>
          <a:lstStyle/>
          <a:p>
            <a:endParaRPr lang="ko-KR" altLang="en-US"/>
          </a:p>
        </p:txBody>
      </p:sp>
      <p:sp>
        <p:nvSpPr>
          <p:cNvPr id="26" name="Shape 24"/>
          <p:cNvSpPr/>
          <p:nvPr/>
        </p:nvSpPr>
        <p:spPr>
          <a:xfrm>
            <a:off x="3797121"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7" name="Shape 25"/>
          <p:cNvSpPr/>
          <p:nvPr/>
        </p:nvSpPr>
        <p:spPr>
          <a:xfrm>
            <a:off x="4270080" y="2652303"/>
            <a:ext cx="257103" cy="257103"/>
          </a:xfrm>
          <a:prstGeom prst="ellipse">
            <a:avLst/>
          </a:prstGeom>
          <a:solidFill>
            <a:srgbClr val="E6DCD2"/>
          </a:solidFill>
          <a:ln/>
        </p:spPr>
        <p:txBody>
          <a:bodyPr/>
          <a:lstStyle/>
          <a:p>
            <a:endParaRPr lang="ko-KR" altLang="en-US"/>
          </a:p>
        </p:txBody>
      </p:sp>
      <p:sp>
        <p:nvSpPr>
          <p:cNvPr id="28" name="Shape 26"/>
          <p:cNvSpPr/>
          <p:nvPr/>
        </p:nvSpPr>
        <p:spPr>
          <a:xfrm>
            <a:off x="4227202"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29" name="Shape 27"/>
          <p:cNvSpPr/>
          <p:nvPr/>
        </p:nvSpPr>
        <p:spPr>
          <a:xfrm>
            <a:off x="4700243" y="2652303"/>
            <a:ext cx="257103" cy="257103"/>
          </a:xfrm>
          <a:prstGeom prst="ellipse">
            <a:avLst/>
          </a:prstGeom>
          <a:solidFill>
            <a:srgbClr val="E6DCD2"/>
          </a:solidFill>
          <a:ln/>
        </p:spPr>
        <p:txBody>
          <a:bodyPr/>
          <a:lstStyle/>
          <a:p>
            <a:endParaRPr lang="ko-KR" altLang="en-US"/>
          </a:p>
        </p:txBody>
      </p:sp>
      <p:sp>
        <p:nvSpPr>
          <p:cNvPr id="30" name="Shape 28"/>
          <p:cNvSpPr/>
          <p:nvPr/>
        </p:nvSpPr>
        <p:spPr>
          <a:xfrm>
            <a:off x="4657365" y="2947474"/>
            <a:ext cx="342859" cy="552438"/>
          </a:xfrm>
          <a:custGeom>
            <a:avLst/>
            <a:gdLst/>
            <a:ahLst/>
            <a:cxnLst/>
            <a:rect l="l" t="t" r="r" b="b"/>
            <a:pathLst>
              <a:path w="342859" h="552438">
                <a:moveTo>
                  <a:pt x="171429" y="0"/>
                </a:moveTo>
                <a:lnTo>
                  <a:pt x="171429" y="0"/>
                </a:lnTo>
                <a:arcTo wR="171429" hR="171429" stAng="16200000" swAng="5400000"/>
                <a:lnTo>
                  <a:pt x="342859" y="476238"/>
                </a:lnTo>
                <a:arcTo wR="76200" hR="76200" stAng="0" swAng="5400000"/>
                <a:lnTo>
                  <a:pt x="76200" y="552438"/>
                </a:lnTo>
                <a:arcTo wR="76200" hR="76200" stAng="5400000" swAng="5400000"/>
                <a:lnTo>
                  <a:pt x="0" y="171429"/>
                </a:lnTo>
                <a:arcTo wR="171429" hR="171429" stAng="10800000" swAng="5400000"/>
                <a:close/>
              </a:path>
            </a:pathLst>
          </a:custGeom>
          <a:solidFill>
            <a:srgbClr val="E6DCD2"/>
          </a:solidFill>
          <a:ln/>
        </p:spPr>
        <p:txBody>
          <a:bodyPr/>
          <a:lstStyle/>
          <a:p>
            <a:endParaRPr lang="ko-KR" altLang="en-US"/>
          </a:p>
        </p:txBody>
      </p:sp>
      <p:sp>
        <p:nvSpPr>
          <p:cNvPr id="31" name="Shape 29"/>
          <p:cNvSpPr/>
          <p:nvPr/>
        </p:nvSpPr>
        <p:spPr>
          <a:xfrm>
            <a:off x="767152" y="4067512"/>
            <a:ext cx="114286" cy="114286"/>
          </a:xfrm>
          <a:prstGeom prst="roundRect">
            <a:avLst>
              <a:gd name="adj" fmla="val 25003"/>
            </a:avLst>
          </a:prstGeom>
          <a:solidFill>
            <a:srgbClr val="CF7446"/>
          </a:solidFill>
          <a:ln/>
        </p:spPr>
        <p:txBody>
          <a:bodyPr/>
          <a:lstStyle/>
          <a:p>
            <a:endParaRPr lang="ko-KR" altLang="en-US"/>
          </a:p>
        </p:txBody>
      </p:sp>
      <p:sp>
        <p:nvSpPr>
          <p:cNvPr id="32" name="Text 30"/>
          <p:cNvSpPr/>
          <p:nvPr/>
        </p:nvSpPr>
        <p:spPr>
          <a:xfrm>
            <a:off x="938581" y="4041182"/>
            <a:ext cx="1532167"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월 50만원 미만 (50.3%)</a:t>
            </a:r>
            <a:endParaRPr lang="en-US" sz="1125" dirty="0"/>
          </a:p>
        </p:txBody>
      </p:sp>
      <p:sp>
        <p:nvSpPr>
          <p:cNvPr id="33" name="Shape 31"/>
          <p:cNvSpPr/>
          <p:nvPr/>
        </p:nvSpPr>
        <p:spPr>
          <a:xfrm>
            <a:off x="2584970" y="4067512"/>
            <a:ext cx="114286" cy="114286"/>
          </a:xfrm>
          <a:prstGeom prst="roundRect">
            <a:avLst>
              <a:gd name="adj" fmla="val 25003"/>
            </a:avLst>
          </a:prstGeom>
          <a:solidFill>
            <a:srgbClr val="E6DCD2"/>
          </a:solidFill>
          <a:ln/>
        </p:spPr>
        <p:txBody>
          <a:bodyPr/>
          <a:lstStyle/>
          <a:p>
            <a:endParaRPr lang="ko-KR" altLang="en-US"/>
          </a:p>
        </p:txBody>
      </p:sp>
      <p:sp>
        <p:nvSpPr>
          <p:cNvPr id="34" name="Text 32"/>
          <p:cNvSpPr/>
          <p:nvPr/>
        </p:nvSpPr>
        <p:spPr>
          <a:xfrm>
            <a:off x="2756400" y="4041182"/>
            <a:ext cx="958046" cy="205046"/>
          </a:xfrm>
          <a:prstGeom prst="rect">
            <a:avLst/>
          </a:prstGeom>
          <a:noFill/>
          <a:ln/>
        </p:spPr>
        <p:txBody>
          <a:bodyPr wrap="none" lIns="0" tIns="0" rIns="0" bIns="0" rtlCol="0" anchor="t">
            <a:normAutofit/>
          </a:bodyPr>
          <a:lstStyle/>
          <a:p>
            <a:pPr marL="0" indent="0" algn="l">
              <a:buNone/>
            </a:pPr>
            <a:r>
              <a:rPr lang="en-US" sz="1125" b="1" dirty="0">
                <a:solidFill>
                  <a:srgbClr val="4A3B31"/>
                </a:solidFill>
                <a:latin typeface="Paperlogy 7 Bold" pitchFamily="2" charset="-127"/>
                <a:ea typeface="Paperlogy 7 Bold" pitchFamily="2" charset="-127"/>
                <a:cs typeface="Arial" pitchFamily="34" charset="-120"/>
              </a:rPr>
              <a:t>월 50만원 이상</a:t>
            </a:r>
            <a:endParaRPr lang="en-US" sz="1125" dirty="0"/>
          </a:p>
        </p:txBody>
      </p:sp>
      <p:sp>
        <p:nvSpPr>
          <p:cNvPr id="35" name="Shape 33"/>
          <p:cNvSpPr/>
          <p:nvPr/>
        </p:nvSpPr>
        <p:spPr>
          <a:xfrm>
            <a:off x="767152" y="4322414"/>
            <a:ext cx="4252065" cy="9525"/>
          </a:xfrm>
          <a:prstGeom prst="rect">
            <a:avLst/>
          </a:prstGeom>
          <a:solidFill>
            <a:srgbClr val="EADFD3"/>
          </a:solidFill>
          <a:ln/>
        </p:spPr>
        <p:txBody>
          <a:bodyPr/>
          <a:lstStyle/>
          <a:p>
            <a:endParaRPr lang="ko-KR" altLang="en-US"/>
          </a:p>
        </p:txBody>
      </p:sp>
      <p:sp>
        <p:nvSpPr>
          <p:cNvPr id="36" name="Text 34"/>
          <p:cNvSpPr/>
          <p:nvPr/>
        </p:nvSpPr>
        <p:spPr>
          <a:xfrm>
            <a:off x="767152" y="4441931"/>
            <a:ext cx="4379627" cy="205032"/>
          </a:xfrm>
          <a:prstGeom prst="rect">
            <a:avLst/>
          </a:prstGeom>
          <a:noFill/>
          <a:ln/>
        </p:spPr>
        <p:txBody>
          <a:bodyPr wrap="square" lIns="25400" tIns="25400" rIns="25400" bIns="25400" rtlCol="0" anchor="t">
            <a:normAutofit fontScale="92500"/>
          </a:bodyPr>
          <a:lstStyle/>
          <a:p>
            <a:pPr marL="0" indent="0" algn="l">
              <a:buNone/>
            </a:pPr>
            <a:r>
              <a:rPr lang="en-US" sz="1125" b="1" dirty="0">
                <a:solidFill>
                  <a:srgbClr val="7B6B60"/>
                </a:solidFill>
                <a:latin typeface="Paperlogy 7 Bold" pitchFamily="2" charset="-127"/>
                <a:ea typeface="Paperlogy 7 Bold" pitchFamily="2" charset="-127"/>
                <a:cs typeface="Arial" pitchFamily="34" charset="-120"/>
              </a:rPr>
              <a:t>65세 이상 수급자 912만 2천명, 중위 수급액 49만 7천원</a:t>
            </a:r>
            <a:endParaRPr lang="en-US" sz="1125" dirty="0"/>
          </a:p>
        </p:txBody>
      </p:sp>
      <p:sp>
        <p:nvSpPr>
          <p:cNvPr id="37" name="Shape 35"/>
          <p:cNvSpPr/>
          <p:nvPr/>
        </p:nvSpPr>
        <p:spPr>
          <a:xfrm>
            <a:off x="5443429" y="1704918"/>
            <a:ext cx="4719725" cy="3080591"/>
          </a:xfrm>
          <a:prstGeom prst="roundRect">
            <a:avLst>
              <a:gd name="adj" fmla="val 4947"/>
            </a:avLst>
          </a:prstGeom>
          <a:solidFill>
            <a:srgbClr val="FFFFFF"/>
          </a:solidFill>
          <a:ln w="5217">
            <a:solidFill>
              <a:srgbClr val="EADFD3"/>
            </a:solidFill>
            <a:prstDash val="solid"/>
          </a:ln>
        </p:spPr>
        <p:txBody>
          <a:bodyPr/>
          <a:lstStyle/>
          <a:p>
            <a:endParaRPr lang="ko-KR" altLang="en-US"/>
          </a:p>
        </p:txBody>
      </p:sp>
      <p:sp>
        <p:nvSpPr>
          <p:cNvPr id="38" name="Text 36"/>
          <p:cNvSpPr/>
          <p:nvPr/>
        </p:nvSpPr>
        <p:spPr>
          <a:xfrm>
            <a:off x="5677219" y="1881564"/>
            <a:ext cx="1985522" cy="267651"/>
          </a:xfrm>
          <a:prstGeom prst="rect">
            <a:avLst/>
          </a:prstGeom>
          <a:noFill/>
          <a:ln/>
        </p:spPr>
        <p:txBody>
          <a:bodyPr wrap="non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노후 생활비와 실제 연금</a:t>
            </a:r>
            <a:endParaRPr lang="en-US" sz="1500" dirty="0"/>
          </a:p>
        </p:txBody>
      </p:sp>
      <p:sp>
        <p:nvSpPr>
          <p:cNvPr id="39" name="Text 37"/>
          <p:cNvSpPr/>
          <p:nvPr/>
        </p:nvSpPr>
        <p:spPr>
          <a:xfrm>
            <a:off x="7577450" y="1923301"/>
            <a:ext cx="484761"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A69687"/>
                </a:solidFill>
                <a:latin typeface="Paperlogy 7 Bold" pitchFamily="2" charset="-127"/>
                <a:ea typeface="Paperlogy 7 Bold" pitchFamily="2" charset="-127"/>
                <a:cs typeface="Arial" pitchFamily="34" charset="-120"/>
              </a:rPr>
              <a:t>월 기준</a:t>
            </a:r>
            <a:endParaRPr lang="en-US" sz="1125" dirty="0"/>
          </a:p>
        </p:txBody>
      </p:sp>
      <p:sp>
        <p:nvSpPr>
          <p:cNvPr id="40" name="Shape 38"/>
          <p:cNvSpPr/>
          <p:nvPr/>
        </p:nvSpPr>
        <p:spPr>
          <a:xfrm>
            <a:off x="5677219" y="4334641"/>
            <a:ext cx="4252147" cy="9525"/>
          </a:xfrm>
          <a:prstGeom prst="rect">
            <a:avLst/>
          </a:prstGeom>
          <a:solidFill>
            <a:srgbClr val="EADFD3"/>
          </a:solidFill>
          <a:ln/>
        </p:spPr>
        <p:txBody>
          <a:bodyPr/>
          <a:lstStyle/>
          <a:p>
            <a:endParaRPr lang="ko-KR" altLang="en-US"/>
          </a:p>
        </p:txBody>
      </p:sp>
      <p:sp>
        <p:nvSpPr>
          <p:cNvPr id="41" name="Text 39"/>
          <p:cNvSpPr/>
          <p:nvPr/>
        </p:nvSpPr>
        <p:spPr>
          <a:xfrm>
            <a:off x="6091241" y="2187251"/>
            <a:ext cx="690835"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7B6B60"/>
                </a:solidFill>
                <a:latin typeface="Paperlogy 7 Bold" pitchFamily="2" charset="-127"/>
                <a:ea typeface="Paperlogy 7 Bold" pitchFamily="2" charset="-127"/>
                <a:cs typeface="Arial" pitchFamily="34" charset="-120"/>
              </a:rPr>
              <a:t>350만원</a:t>
            </a:r>
            <a:endParaRPr lang="en-US" sz="1425" dirty="0"/>
          </a:p>
        </p:txBody>
      </p:sp>
      <p:sp>
        <p:nvSpPr>
          <p:cNvPr id="42" name="Shape 40"/>
          <p:cNvSpPr/>
          <p:nvPr/>
        </p:nvSpPr>
        <p:spPr>
          <a:xfrm>
            <a:off x="6055700" y="2477287"/>
            <a:ext cx="685799" cy="1857354"/>
          </a:xfrm>
          <a:custGeom>
            <a:avLst/>
            <a:gdLst/>
            <a:ahLst/>
            <a:cxnLst/>
            <a:rect l="l" t="t" r="r" b="b"/>
            <a:pathLst>
              <a:path w="685799" h="1857354">
                <a:moveTo>
                  <a:pt x="76200" y="0"/>
                </a:moveTo>
                <a:lnTo>
                  <a:pt x="609599" y="0"/>
                </a:lnTo>
                <a:arcTo wR="76200" hR="76200" stAng="16200000" swAng="5400000"/>
                <a:lnTo>
                  <a:pt x="685799" y="1857354"/>
                </a:lnTo>
                <a:lnTo>
                  <a:pt x="0" y="1857354"/>
                </a:lnTo>
                <a:lnTo>
                  <a:pt x="0" y="76200"/>
                </a:lnTo>
                <a:arcTo wR="76200" hR="76200" stAng="10800000" swAng="5400000"/>
                <a:close/>
              </a:path>
            </a:pathLst>
          </a:custGeom>
          <a:solidFill>
            <a:srgbClr val="DDD2C7"/>
          </a:solidFill>
          <a:ln/>
        </p:spPr>
        <p:txBody>
          <a:bodyPr/>
          <a:lstStyle/>
          <a:p>
            <a:endParaRPr lang="ko-KR" altLang="en-US"/>
          </a:p>
        </p:txBody>
      </p:sp>
      <p:sp>
        <p:nvSpPr>
          <p:cNvPr id="43" name="Text 41"/>
          <p:cNvSpPr/>
          <p:nvPr/>
        </p:nvSpPr>
        <p:spPr>
          <a:xfrm>
            <a:off x="7495934" y="2730233"/>
            <a:ext cx="690835"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7B6B60"/>
                </a:solidFill>
                <a:latin typeface="Paperlogy 7 Bold" pitchFamily="2" charset="-127"/>
                <a:ea typeface="Paperlogy 7 Bold" pitchFamily="2" charset="-127"/>
                <a:cs typeface="Arial" pitchFamily="34" charset="-120"/>
              </a:rPr>
              <a:t>248만원</a:t>
            </a:r>
            <a:endParaRPr lang="en-US" sz="1425" dirty="0"/>
          </a:p>
        </p:txBody>
      </p:sp>
      <p:sp>
        <p:nvSpPr>
          <p:cNvPr id="44" name="Shape 42"/>
          <p:cNvSpPr/>
          <p:nvPr/>
        </p:nvSpPr>
        <p:spPr>
          <a:xfrm>
            <a:off x="7460392" y="3020269"/>
            <a:ext cx="685799" cy="1314372"/>
          </a:xfrm>
          <a:custGeom>
            <a:avLst/>
            <a:gdLst/>
            <a:ahLst/>
            <a:cxnLst/>
            <a:rect l="l" t="t" r="r" b="b"/>
            <a:pathLst>
              <a:path w="685799" h="1314372">
                <a:moveTo>
                  <a:pt x="76200" y="0"/>
                </a:moveTo>
                <a:lnTo>
                  <a:pt x="609599" y="0"/>
                </a:lnTo>
                <a:arcTo wR="76200" hR="76200" stAng="16200000" swAng="5400000"/>
                <a:lnTo>
                  <a:pt x="685799" y="1314372"/>
                </a:lnTo>
                <a:lnTo>
                  <a:pt x="0" y="1314372"/>
                </a:lnTo>
                <a:lnTo>
                  <a:pt x="0" y="76200"/>
                </a:lnTo>
                <a:arcTo wR="76200" hR="76200" stAng="10800000" swAng="5400000"/>
                <a:close/>
              </a:path>
            </a:pathLst>
          </a:custGeom>
          <a:solidFill>
            <a:srgbClr val="DDD2C7"/>
          </a:solidFill>
          <a:ln/>
        </p:spPr>
        <p:txBody>
          <a:bodyPr/>
          <a:lstStyle/>
          <a:p>
            <a:endParaRPr lang="ko-KR" altLang="en-US"/>
          </a:p>
        </p:txBody>
      </p:sp>
      <p:sp>
        <p:nvSpPr>
          <p:cNvPr id="45" name="Text 43"/>
          <p:cNvSpPr/>
          <p:nvPr/>
        </p:nvSpPr>
        <p:spPr>
          <a:xfrm>
            <a:off x="8875519" y="3644604"/>
            <a:ext cx="741130" cy="251999"/>
          </a:xfrm>
          <a:prstGeom prst="rect">
            <a:avLst/>
          </a:prstGeom>
          <a:noFill/>
          <a:ln/>
        </p:spPr>
        <p:txBody>
          <a:bodyPr wrap="none" lIns="25400" tIns="25400" rIns="25400" bIns="25400" rtlCol="0" anchor="t">
            <a:normAutofit lnSpcReduction="10000"/>
          </a:bodyPr>
          <a:lstStyle/>
          <a:p>
            <a:pPr marL="0" indent="0" algn="l">
              <a:buNone/>
            </a:pPr>
            <a:r>
              <a:rPr lang="en-US" sz="1425" b="1" dirty="0">
                <a:solidFill>
                  <a:srgbClr val="9A4A27"/>
                </a:solidFill>
                <a:latin typeface="Paperlogy 7 Bold" pitchFamily="2" charset="-127"/>
                <a:ea typeface="Paperlogy 7 Bold" pitchFamily="2" charset="-127"/>
                <a:cs typeface="Arial" pitchFamily="34" charset="-120"/>
              </a:rPr>
              <a:t>73.7만원</a:t>
            </a:r>
            <a:endParaRPr lang="en-US" sz="1425" dirty="0"/>
          </a:p>
        </p:txBody>
      </p:sp>
      <p:sp>
        <p:nvSpPr>
          <p:cNvPr id="46" name="Shape 44"/>
          <p:cNvSpPr/>
          <p:nvPr/>
        </p:nvSpPr>
        <p:spPr>
          <a:xfrm>
            <a:off x="8865085" y="3934639"/>
            <a:ext cx="685799" cy="400002"/>
          </a:xfrm>
          <a:custGeom>
            <a:avLst/>
            <a:gdLst/>
            <a:ahLst/>
            <a:cxnLst/>
            <a:rect l="l" t="t" r="r" b="b"/>
            <a:pathLst>
              <a:path w="685799" h="400002">
                <a:moveTo>
                  <a:pt x="76200" y="0"/>
                </a:moveTo>
                <a:lnTo>
                  <a:pt x="609599" y="0"/>
                </a:lnTo>
                <a:arcTo wR="76200" hR="76200" stAng="16200000" swAng="5400000"/>
                <a:lnTo>
                  <a:pt x="685799" y="400002"/>
                </a:lnTo>
                <a:lnTo>
                  <a:pt x="0" y="400002"/>
                </a:lnTo>
                <a:lnTo>
                  <a:pt x="0" y="76200"/>
                </a:lnTo>
                <a:arcTo wR="76200" hR="76200" stAng="10800000" swAng="5400000"/>
                <a:close/>
              </a:path>
            </a:pathLst>
          </a:custGeom>
          <a:solidFill>
            <a:srgbClr val="CF7446"/>
          </a:solidFill>
          <a:ln/>
        </p:spPr>
        <p:txBody>
          <a:bodyPr/>
          <a:lstStyle/>
          <a:p>
            <a:endParaRPr lang="ko-KR" altLang="en-US"/>
          </a:p>
        </p:txBody>
      </p:sp>
      <p:sp>
        <p:nvSpPr>
          <p:cNvPr id="47" name="Text 45"/>
          <p:cNvSpPr/>
          <p:nvPr/>
        </p:nvSpPr>
        <p:spPr>
          <a:xfrm>
            <a:off x="5709813"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적정생활비</a:t>
            </a:r>
            <a:endParaRPr lang="en-US" sz="1125" dirty="0"/>
          </a:p>
        </p:txBody>
      </p:sp>
      <p:sp>
        <p:nvSpPr>
          <p:cNvPr id="48" name="Text 46"/>
          <p:cNvSpPr/>
          <p:nvPr/>
        </p:nvSpPr>
        <p:spPr>
          <a:xfrm>
            <a:off x="7114505"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최소생활비</a:t>
            </a:r>
            <a:endParaRPr lang="en-US" sz="1125" dirty="0"/>
          </a:p>
        </p:txBody>
      </p:sp>
      <p:sp>
        <p:nvSpPr>
          <p:cNvPr id="49" name="Text 47"/>
          <p:cNvSpPr/>
          <p:nvPr/>
        </p:nvSpPr>
        <p:spPr>
          <a:xfrm>
            <a:off x="8519198" y="4415995"/>
            <a:ext cx="1377572" cy="230968"/>
          </a:xfrm>
          <a:prstGeom prst="rect">
            <a:avLst/>
          </a:prstGeom>
          <a:noFill/>
          <a:ln/>
        </p:spPr>
        <p:txBody>
          <a:bodyPr wrap="square" lIns="25400" tIns="25400" rIns="25400" bIns="25400" rtlCol="0" anchor="t">
            <a:normAutofit lnSpcReduction="10000"/>
          </a:bodyPr>
          <a:lstStyle/>
          <a:p>
            <a:pPr marL="0" indent="0" algn="ctr">
              <a:lnSpc>
                <a:spcPct val="115535"/>
              </a:lnSpc>
              <a:buNone/>
            </a:pPr>
            <a:r>
              <a:rPr lang="en-US" sz="1125" b="1" dirty="0">
                <a:solidFill>
                  <a:srgbClr val="7B6B60"/>
                </a:solidFill>
                <a:latin typeface="Paperlogy 7 Bold" pitchFamily="2" charset="-127"/>
                <a:ea typeface="Paperlogy 7 Bold" pitchFamily="2" charset="-127"/>
                <a:cs typeface="Arial" pitchFamily="34" charset="-120"/>
              </a:rPr>
              <a:t>연금 월평균</a:t>
            </a:r>
            <a:endParaRPr lang="en-US" sz="1125" dirty="0"/>
          </a:p>
        </p:txBody>
      </p:sp>
      <p:sp>
        <p:nvSpPr>
          <p:cNvPr id="50" name="Shape 48"/>
          <p:cNvSpPr/>
          <p:nvPr/>
        </p:nvSpPr>
        <p:spPr>
          <a:xfrm>
            <a:off x="533363"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1" name="Shape 49"/>
          <p:cNvSpPr/>
          <p:nvPr/>
        </p:nvSpPr>
        <p:spPr>
          <a:xfrm>
            <a:off x="538580" y="4996311"/>
            <a:ext cx="2297054" cy="286449"/>
          </a:xfrm>
          <a:prstGeom prst="rect">
            <a:avLst/>
          </a:prstGeom>
          <a:solidFill>
            <a:srgbClr val="A08E80"/>
          </a:solidFill>
          <a:ln/>
        </p:spPr>
        <p:txBody>
          <a:bodyPr/>
          <a:lstStyle/>
          <a:p>
            <a:endParaRPr lang="ko-KR" altLang="en-US"/>
          </a:p>
        </p:txBody>
      </p:sp>
      <p:sp>
        <p:nvSpPr>
          <p:cNvPr id="52" name="Text 50"/>
          <p:cNvSpPr/>
          <p:nvPr/>
        </p:nvSpPr>
        <p:spPr>
          <a:xfrm>
            <a:off x="576680"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65세 이상 연금 월평균</a:t>
            </a:r>
            <a:endParaRPr lang="en-US" sz="1125" dirty="0"/>
          </a:p>
        </p:txBody>
      </p:sp>
      <p:sp>
        <p:nvSpPr>
          <p:cNvPr id="53" name="Text 51"/>
          <p:cNvSpPr/>
          <p:nvPr/>
        </p:nvSpPr>
        <p:spPr>
          <a:xfrm>
            <a:off x="1277934"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73.7</a:t>
            </a:r>
            <a:endParaRPr lang="en-US" sz="2250" dirty="0"/>
          </a:p>
        </p:txBody>
      </p:sp>
      <p:sp>
        <p:nvSpPr>
          <p:cNvPr id="54" name="Text 52"/>
          <p:cNvSpPr/>
          <p:nvPr/>
        </p:nvSpPr>
        <p:spPr>
          <a:xfrm>
            <a:off x="1849284" y="5516875"/>
            <a:ext cx="323114"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만원</a:t>
            </a:r>
            <a:endParaRPr lang="en-US" sz="1125" dirty="0"/>
          </a:p>
        </p:txBody>
      </p:sp>
      <p:sp>
        <p:nvSpPr>
          <p:cNvPr id="55" name="Shape 53"/>
          <p:cNvSpPr/>
          <p:nvPr/>
        </p:nvSpPr>
        <p:spPr>
          <a:xfrm>
            <a:off x="2974130"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6" name="Shape 54"/>
          <p:cNvSpPr/>
          <p:nvPr/>
        </p:nvSpPr>
        <p:spPr>
          <a:xfrm>
            <a:off x="2979348" y="4996311"/>
            <a:ext cx="2297054" cy="286449"/>
          </a:xfrm>
          <a:prstGeom prst="rect">
            <a:avLst/>
          </a:prstGeom>
          <a:solidFill>
            <a:srgbClr val="A08E80"/>
          </a:solidFill>
          <a:ln/>
        </p:spPr>
        <p:txBody>
          <a:bodyPr/>
          <a:lstStyle/>
          <a:p>
            <a:endParaRPr lang="ko-KR" altLang="en-US"/>
          </a:p>
        </p:txBody>
      </p:sp>
      <p:sp>
        <p:nvSpPr>
          <p:cNvPr id="57" name="Text 55"/>
          <p:cNvSpPr/>
          <p:nvPr/>
        </p:nvSpPr>
        <p:spPr>
          <a:xfrm>
            <a:off x="3017448"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월 100만원 미만 수급자</a:t>
            </a:r>
            <a:endParaRPr lang="en-US" sz="1125" dirty="0"/>
          </a:p>
        </p:txBody>
      </p:sp>
      <p:sp>
        <p:nvSpPr>
          <p:cNvPr id="58" name="Text 56"/>
          <p:cNvSpPr/>
          <p:nvPr/>
        </p:nvSpPr>
        <p:spPr>
          <a:xfrm>
            <a:off x="3778617"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84.1</a:t>
            </a:r>
            <a:endParaRPr lang="en-US" sz="2250" dirty="0"/>
          </a:p>
        </p:txBody>
      </p:sp>
      <p:sp>
        <p:nvSpPr>
          <p:cNvPr id="59" name="Text 57"/>
          <p:cNvSpPr/>
          <p:nvPr/>
        </p:nvSpPr>
        <p:spPr>
          <a:xfrm>
            <a:off x="4349966"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60" name="Shape 58"/>
          <p:cNvSpPr/>
          <p:nvPr/>
        </p:nvSpPr>
        <p:spPr>
          <a:xfrm>
            <a:off x="5414898"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61" name="Shape 59"/>
          <p:cNvSpPr/>
          <p:nvPr/>
        </p:nvSpPr>
        <p:spPr>
          <a:xfrm>
            <a:off x="5420115" y="4996311"/>
            <a:ext cx="2297054" cy="286449"/>
          </a:xfrm>
          <a:prstGeom prst="rect">
            <a:avLst/>
          </a:prstGeom>
          <a:solidFill>
            <a:srgbClr val="CF9C3C"/>
          </a:solidFill>
          <a:ln/>
        </p:spPr>
        <p:txBody>
          <a:bodyPr/>
          <a:lstStyle/>
          <a:p>
            <a:endParaRPr lang="ko-KR" altLang="en-US"/>
          </a:p>
        </p:txBody>
      </p:sp>
      <p:sp>
        <p:nvSpPr>
          <p:cNvPr id="62" name="Text 60"/>
          <p:cNvSpPr/>
          <p:nvPr/>
        </p:nvSpPr>
        <p:spPr>
          <a:xfrm>
            <a:off x="5458215"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60~64세 연금 미수급</a:t>
            </a:r>
            <a:endParaRPr lang="en-US" sz="1125" dirty="0"/>
          </a:p>
        </p:txBody>
      </p:sp>
      <p:sp>
        <p:nvSpPr>
          <p:cNvPr id="63" name="Text 61"/>
          <p:cNvSpPr/>
          <p:nvPr/>
        </p:nvSpPr>
        <p:spPr>
          <a:xfrm>
            <a:off x="6219385" y="5386449"/>
            <a:ext cx="60948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55.6</a:t>
            </a:r>
            <a:endParaRPr lang="en-US" sz="2250" dirty="0"/>
          </a:p>
        </p:txBody>
      </p:sp>
      <p:sp>
        <p:nvSpPr>
          <p:cNvPr id="64" name="Text 62"/>
          <p:cNvSpPr/>
          <p:nvPr/>
        </p:nvSpPr>
        <p:spPr>
          <a:xfrm>
            <a:off x="6790734" y="5522093"/>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a:t>
            </a:r>
            <a:endParaRPr lang="en-US" sz="1125" dirty="0"/>
          </a:p>
        </p:txBody>
      </p:sp>
      <p:sp>
        <p:nvSpPr>
          <p:cNvPr id="65" name="Shape 63"/>
          <p:cNvSpPr/>
          <p:nvPr/>
        </p:nvSpPr>
        <p:spPr>
          <a:xfrm>
            <a:off x="7855666" y="4991094"/>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66" name="Shape 64"/>
          <p:cNvSpPr/>
          <p:nvPr/>
        </p:nvSpPr>
        <p:spPr>
          <a:xfrm>
            <a:off x="7860883" y="4996311"/>
            <a:ext cx="2297054" cy="286449"/>
          </a:xfrm>
          <a:prstGeom prst="rect">
            <a:avLst/>
          </a:prstGeom>
          <a:solidFill>
            <a:srgbClr val="CF9C3C"/>
          </a:solidFill>
          <a:ln/>
        </p:spPr>
        <p:txBody>
          <a:bodyPr/>
          <a:lstStyle/>
          <a:p>
            <a:endParaRPr lang="ko-KR" altLang="en-US"/>
          </a:p>
        </p:txBody>
      </p:sp>
      <p:sp>
        <p:nvSpPr>
          <p:cNvPr id="67" name="Text 65"/>
          <p:cNvSpPr/>
          <p:nvPr/>
        </p:nvSpPr>
        <p:spPr>
          <a:xfrm>
            <a:off x="7898983" y="5053461"/>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코스피 고점 대비 하락</a:t>
            </a:r>
            <a:endParaRPr lang="en-US" sz="1125" dirty="0"/>
          </a:p>
        </p:txBody>
      </p:sp>
      <p:sp>
        <p:nvSpPr>
          <p:cNvPr id="68" name="Text 66"/>
          <p:cNvSpPr/>
          <p:nvPr/>
        </p:nvSpPr>
        <p:spPr>
          <a:xfrm>
            <a:off x="8630317" y="5386449"/>
            <a:ext cx="38262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40</a:t>
            </a:r>
            <a:endParaRPr lang="en-US" sz="2250" dirty="0"/>
          </a:p>
        </p:txBody>
      </p:sp>
      <p:sp>
        <p:nvSpPr>
          <p:cNvPr id="69" name="Text 67"/>
          <p:cNvSpPr/>
          <p:nvPr/>
        </p:nvSpPr>
        <p:spPr>
          <a:xfrm>
            <a:off x="8974806" y="5516875"/>
            <a:ext cx="489815"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 이상</a:t>
            </a:r>
            <a:endParaRPr lang="en-US" sz="1125" dirty="0"/>
          </a:p>
        </p:txBody>
      </p:sp>
      <p:sp>
        <p:nvSpPr>
          <p:cNvPr id="70" name="Shape 68"/>
          <p:cNvSpPr/>
          <p:nvPr/>
        </p:nvSpPr>
        <p:spPr>
          <a:xfrm>
            <a:off x="533363" y="6038826"/>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71" name="Text 69"/>
          <p:cNvSpPr/>
          <p:nvPr/>
        </p:nvSpPr>
        <p:spPr>
          <a:xfrm>
            <a:off x="3326282" y="6201125"/>
            <a:ext cx="1309871"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수익률이 아니라</a:t>
            </a:r>
            <a:endParaRPr lang="en-US" sz="1575" dirty="0"/>
          </a:p>
        </p:txBody>
      </p:sp>
      <p:sp>
        <p:nvSpPr>
          <p:cNvPr id="72" name="Text 70"/>
          <p:cNvSpPr/>
          <p:nvPr/>
        </p:nvSpPr>
        <p:spPr>
          <a:xfrm>
            <a:off x="4559953" y="6190691"/>
            <a:ext cx="1373717"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‘평생 받을 금액’</a:t>
            </a:r>
            <a:endParaRPr lang="en-US" sz="1575" dirty="0"/>
          </a:p>
        </p:txBody>
      </p:sp>
      <p:sp>
        <p:nvSpPr>
          <p:cNvPr id="73" name="Text 71"/>
          <p:cNvSpPr/>
          <p:nvPr/>
        </p:nvSpPr>
        <p:spPr>
          <a:xfrm>
            <a:off x="5860305" y="6201125"/>
            <a:ext cx="1586049"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정해져 있으신가요?</a:t>
            </a:r>
            <a:endParaRPr lang="en-US" sz="1575" dirty="0"/>
          </a:p>
        </p:txBody>
      </p:sp>
      <p:sp>
        <p:nvSpPr>
          <p:cNvPr id="74" name="Text 72"/>
          <p:cNvSpPr/>
          <p:nvPr/>
        </p:nvSpPr>
        <p:spPr>
          <a:xfrm>
            <a:off x="51873" y="6648406"/>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국가데이터처 「2024년 연금통계」(2026.8.25, 서울신문·데일리안) · KB금융 「2025 KB골든라이프 보고서」(2025.9.28)</a:t>
            </a:r>
            <a:endParaRPr lang="en-US" sz="788" dirty="0"/>
          </a:p>
        </p:txBody>
      </p:sp>
      <p:sp>
        <p:nvSpPr>
          <p:cNvPr id="75" name="Text 73"/>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6" name="Text 74"/>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77" name="Text 75"/>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94017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iM라이프 – iM 마스터 PRO 변액연금</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보증형 변액연금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1327497" y="1310052"/>
            <a:ext cx="3938226" cy="5266538"/>
          </a:xfrm>
          <a:prstGeom prst="roundRect">
            <a:avLst>
              <a:gd name="adj" fmla="val 1935"/>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a:stretch/>
        </p:blipFill>
        <p:spPr>
          <a:xfrm>
            <a:off x="1327497" y="1310052"/>
            <a:ext cx="3938226" cy="5266538"/>
          </a:xfrm>
          <a:prstGeom prst="rect">
            <a:avLst/>
          </a:prstGeom>
        </p:spPr>
      </p:pic>
      <p:sp>
        <p:nvSpPr>
          <p:cNvPr id="9" name="Shape 6"/>
          <p:cNvSpPr/>
          <p:nvPr/>
        </p:nvSpPr>
        <p:spPr>
          <a:xfrm>
            <a:off x="5513370" y="1310052"/>
            <a:ext cx="3855650" cy="5266538"/>
          </a:xfrm>
          <a:prstGeom prst="roundRect">
            <a:avLst>
              <a:gd name="adj" fmla="val 1976"/>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0" name="Image 1" descr="preencoded.png"/>
          <p:cNvPicPr>
            <a:picLocks noChangeAspect="1"/>
          </p:cNvPicPr>
          <p:nvPr/>
        </p:nvPicPr>
        <p:blipFill>
          <a:blip r:embed="rId4"/>
          <a:srcRect/>
          <a:stretch/>
        </p:blipFill>
        <p:spPr>
          <a:xfrm>
            <a:off x="5513370" y="1310052"/>
            <a:ext cx="3855650" cy="5266538"/>
          </a:xfrm>
          <a:prstGeom prst="rect">
            <a:avLst/>
          </a:prstGeom>
        </p:spPr>
      </p:pic>
      <p:sp>
        <p:nvSpPr>
          <p:cNvPr id="11" name="Text 7"/>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2" name="Text 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3" name="Text 9"/>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74932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iM라이프 – iM 마스터 PRO 변액연금</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보증형 변액연금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8670750" y="1095338"/>
            <a:ext cx="1641645"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40세, 월납 100만, 10년납 기준</a:t>
            </a:r>
            <a:endParaRPr lang="en-US" sz="900" dirty="0"/>
          </a:p>
        </p:txBody>
      </p:sp>
      <p:sp>
        <p:nvSpPr>
          <p:cNvPr id="7" name="Shape 5"/>
          <p:cNvSpPr/>
          <p:nvPr/>
        </p:nvSpPr>
        <p:spPr>
          <a:xfrm>
            <a:off x="533363" y="1301900"/>
            <a:ext cx="9629791" cy="5489404"/>
          </a:xfrm>
          <a:prstGeom prst="roundRect">
            <a:avLst>
              <a:gd name="adj" fmla="val 2082"/>
            </a:avLst>
          </a:prstGeom>
          <a:solidFill>
            <a:srgbClr val="FFFFFF"/>
          </a:solidFill>
          <a:ln w="5217">
            <a:solidFill>
              <a:srgbClr val="D3B9A5"/>
            </a:solidFill>
            <a:prstDash val="solid"/>
          </a:ln>
        </p:spPr>
        <p:txBody>
          <a:bodyPr/>
          <a:lstStyle/>
          <a:p>
            <a:endParaRPr lang="ko-KR" altLang="en-US"/>
          </a:p>
        </p:txBody>
      </p:sp>
      <p:sp>
        <p:nvSpPr>
          <p:cNvPr id="8" name="Shape 6"/>
          <p:cNvSpPr/>
          <p:nvPr/>
        </p:nvSpPr>
        <p:spPr>
          <a:xfrm>
            <a:off x="538580" y="1307117"/>
            <a:ext cx="2404738" cy="431059"/>
          </a:xfrm>
          <a:prstGeom prst="rect">
            <a:avLst/>
          </a:prstGeom>
          <a:solidFill>
            <a:srgbClr val="CF7446"/>
          </a:solidFill>
          <a:ln/>
        </p:spPr>
        <p:txBody>
          <a:bodyPr/>
          <a:lstStyle/>
          <a:p>
            <a:endParaRPr lang="ko-KR" altLang="en-US"/>
          </a:p>
        </p:txBody>
      </p:sp>
      <p:sp>
        <p:nvSpPr>
          <p:cNvPr id="9" name="Text 7"/>
          <p:cNvSpPr/>
          <p:nvPr/>
        </p:nvSpPr>
        <p:spPr>
          <a:xfrm>
            <a:off x="557630" y="1345217"/>
            <a:ext cx="2366638" cy="3929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0" name="Shape 8"/>
          <p:cNvSpPr/>
          <p:nvPr/>
        </p:nvSpPr>
        <p:spPr>
          <a:xfrm>
            <a:off x="2943317" y="1307117"/>
            <a:ext cx="2404738" cy="431059"/>
          </a:xfrm>
          <a:prstGeom prst="rect">
            <a:avLst/>
          </a:prstGeom>
          <a:solidFill>
            <a:srgbClr val="9A4A27"/>
          </a:solidFill>
          <a:ln/>
        </p:spPr>
        <p:txBody>
          <a:bodyPr/>
          <a:lstStyle/>
          <a:p>
            <a:endParaRPr lang="ko-KR" altLang="en-US"/>
          </a:p>
        </p:txBody>
      </p:sp>
      <p:sp>
        <p:nvSpPr>
          <p:cNvPr id="11" name="Shape 9"/>
          <p:cNvSpPr/>
          <p:nvPr/>
        </p:nvSpPr>
        <p:spPr>
          <a:xfrm>
            <a:off x="2943317" y="1307117"/>
            <a:ext cx="9525" cy="431059"/>
          </a:xfrm>
          <a:prstGeom prst="rect">
            <a:avLst/>
          </a:prstGeom>
          <a:solidFill>
            <a:srgbClr val="FFFFFF">
              <a:alpha val="25000"/>
            </a:srgbClr>
          </a:solidFill>
          <a:ln/>
        </p:spPr>
        <p:txBody>
          <a:bodyPr/>
          <a:lstStyle/>
          <a:p>
            <a:endParaRPr lang="ko-KR" altLang="en-US"/>
          </a:p>
        </p:txBody>
      </p:sp>
      <p:pic>
        <p:nvPicPr>
          <p:cNvPr id="12" name="Image 0" descr="preencoded.png"/>
          <p:cNvPicPr>
            <a:picLocks noChangeAspect="1"/>
          </p:cNvPicPr>
          <p:nvPr/>
        </p:nvPicPr>
        <p:blipFill>
          <a:blip r:embed="rId3"/>
          <a:stretch>
            <a:fillRect/>
          </a:stretch>
        </p:blipFill>
        <p:spPr>
          <a:xfrm>
            <a:off x="3629197" y="1351218"/>
            <a:ext cx="239496" cy="342859"/>
          </a:xfrm>
          <a:prstGeom prst="rect">
            <a:avLst/>
          </a:prstGeom>
        </p:spPr>
      </p:pic>
      <p:sp>
        <p:nvSpPr>
          <p:cNvPr id="13" name="Text 10"/>
          <p:cNvSpPr/>
          <p:nvPr/>
        </p:nvSpPr>
        <p:spPr>
          <a:xfrm>
            <a:off x="3906729" y="1402655"/>
            <a:ext cx="798762"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iM라이프</a:t>
            </a:r>
            <a:endParaRPr lang="en-US" sz="1575" dirty="0"/>
          </a:p>
        </p:txBody>
      </p:sp>
      <p:sp>
        <p:nvSpPr>
          <p:cNvPr id="14" name="Shape 11"/>
          <p:cNvSpPr/>
          <p:nvPr/>
        </p:nvSpPr>
        <p:spPr>
          <a:xfrm>
            <a:off x="5348054" y="1307117"/>
            <a:ext cx="2404738" cy="431059"/>
          </a:xfrm>
          <a:prstGeom prst="rect">
            <a:avLst/>
          </a:prstGeom>
          <a:solidFill>
            <a:srgbClr val="CF7446"/>
          </a:solidFill>
          <a:ln/>
        </p:spPr>
        <p:txBody>
          <a:bodyPr/>
          <a:lstStyle/>
          <a:p>
            <a:endParaRPr lang="ko-KR" altLang="en-US"/>
          </a:p>
        </p:txBody>
      </p:sp>
      <p:sp>
        <p:nvSpPr>
          <p:cNvPr id="15" name="Shape 12"/>
          <p:cNvSpPr/>
          <p:nvPr/>
        </p:nvSpPr>
        <p:spPr>
          <a:xfrm>
            <a:off x="5348054" y="1307117"/>
            <a:ext cx="9525" cy="431059"/>
          </a:xfrm>
          <a:prstGeom prst="rect">
            <a:avLst/>
          </a:prstGeom>
          <a:solidFill>
            <a:srgbClr val="FFFFFF">
              <a:alpha val="25000"/>
            </a:srgbClr>
          </a:solidFill>
          <a:ln/>
        </p:spPr>
        <p:txBody>
          <a:bodyPr/>
          <a:lstStyle/>
          <a:p>
            <a:endParaRPr lang="ko-KR" altLang="en-US"/>
          </a:p>
        </p:txBody>
      </p:sp>
      <p:sp>
        <p:nvSpPr>
          <p:cNvPr id="16" name="Text 13"/>
          <p:cNvSpPr/>
          <p:nvPr/>
        </p:nvSpPr>
        <p:spPr>
          <a:xfrm>
            <a:off x="5372321" y="1345217"/>
            <a:ext cx="2361420" cy="3929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KDB생명</a:t>
            </a:r>
            <a:endParaRPr lang="en-US" sz="1575" dirty="0"/>
          </a:p>
        </p:txBody>
      </p:sp>
      <p:sp>
        <p:nvSpPr>
          <p:cNvPr id="17" name="Shape 14"/>
          <p:cNvSpPr/>
          <p:nvPr/>
        </p:nvSpPr>
        <p:spPr>
          <a:xfrm>
            <a:off x="7752792" y="1307117"/>
            <a:ext cx="2405145" cy="431059"/>
          </a:xfrm>
          <a:prstGeom prst="rect">
            <a:avLst/>
          </a:prstGeom>
          <a:solidFill>
            <a:srgbClr val="CF7446"/>
          </a:solidFill>
          <a:ln/>
        </p:spPr>
        <p:txBody>
          <a:bodyPr/>
          <a:lstStyle/>
          <a:p>
            <a:endParaRPr lang="ko-KR" altLang="en-US"/>
          </a:p>
        </p:txBody>
      </p:sp>
      <p:sp>
        <p:nvSpPr>
          <p:cNvPr id="18" name="Shape 15"/>
          <p:cNvSpPr/>
          <p:nvPr/>
        </p:nvSpPr>
        <p:spPr>
          <a:xfrm>
            <a:off x="7752792" y="1307117"/>
            <a:ext cx="9525" cy="431059"/>
          </a:xfrm>
          <a:prstGeom prst="rect">
            <a:avLst/>
          </a:prstGeom>
          <a:solidFill>
            <a:srgbClr val="FFFFFF">
              <a:alpha val="25000"/>
            </a:srgbClr>
          </a:solidFill>
          <a:ln/>
        </p:spPr>
        <p:txBody>
          <a:bodyPr/>
          <a:lstStyle/>
          <a:p>
            <a:endParaRPr lang="ko-KR" altLang="en-US"/>
          </a:p>
        </p:txBody>
      </p:sp>
      <p:sp>
        <p:nvSpPr>
          <p:cNvPr id="19" name="Text 16"/>
          <p:cNvSpPr/>
          <p:nvPr/>
        </p:nvSpPr>
        <p:spPr>
          <a:xfrm>
            <a:off x="7777059" y="1345217"/>
            <a:ext cx="2361828" cy="3929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IBK연금보험</a:t>
            </a:r>
            <a:endParaRPr lang="en-US" sz="1575" dirty="0"/>
          </a:p>
        </p:txBody>
      </p:sp>
      <p:sp>
        <p:nvSpPr>
          <p:cNvPr id="20" name="Shape 17"/>
          <p:cNvSpPr/>
          <p:nvPr/>
        </p:nvSpPr>
        <p:spPr>
          <a:xfrm>
            <a:off x="538580" y="1738177"/>
            <a:ext cx="2404738" cy="341962"/>
          </a:xfrm>
          <a:prstGeom prst="rect">
            <a:avLst/>
          </a:prstGeom>
          <a:solidFill>
            <a:srgbClr val="FCF4EE"/>
          </a:solidFill>
          <a:ln/>
        </p:spPr>
        <p:txBody>
          <a:bodyPr/>
          <a:lstStyle/>
          <a:p>
            <a:endParaRPr lang="ko-KR" altLang="en-US"/>
          </a:p>
        </p:txBody>
      </p:sp>
      <p:sp>
        <p:nvSpPr>
          <p:cNvPr id="21" name="Shape 18"/>
          <p:cNvSpPr/>
          <p:nvPr/>
        </p:nvSpPr>
        <p:spPr>
          <a:xfrm>
            <a:off x="538580" y="1738177"/>
            <a:ext cx="2404738" cy="9525"/>
          </a:xfrm>
          <a:prstGeom prst="rect">
            <a:avLst/>
          </a:prstGeom>
          <a:solidFill>
            <a:srgbClr val="D3B9A5"/>
          </a:solidFill>
          <a:ln/>
        </p:spPr>
        <p:txBody>
          <a:bodyPr/>
          <a:lstStyle/>
          <a:p>
            <a:endParaRPr lang="ko-KR" altLang="en-US"/>
          </a:p>
        </p:txBody>
      </p:sp>
      <p:sp>
        <p:nvSpPr>
          <p:cNvPr id="22" name="Text 19"/>
          <p:cNvSpPr/>
          <p:nvPr/>
        </p:nvSpPr>
        <p:spPr>
          <a:xfrm>
            <a:off x="557630" y="1771969"/>
            <a:ext cx="236663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상품명</a:t>
            </a:r>
            <a:endParaRPr lang="en-US" sz="1125" dirty="0"/>
          </a:p>
        </p:txBody>
      </p:sp>
      <p:sp>
        <p:nvSpPr>
          <p:cNvPr id="23" name="Shape 20"/>
          <p:cNvSpPr/>
          <p:nvPr/>
        </p:nvSpPr>
        <p:spPr>
          <a:xfrm>
            <a:off x="2943317" y="1738177"/>
            <a:ext cx="2404738" cy="341962"/>
          </a:xfrm>
          <a:prstGeom prst="rect">
            <a:avLst/>
          </a:prstGeom>
          <a:solidFill>
            <a:srgbClr val="F8E1D0"/>
          </a:solidFill>
          <a:ln/>
        </p:spPr>
        <p:txBody>
          <a:bodyPr/>
          <a:lstStyle/>
          <a:p>
            <a:endParaRPr lang="ko-KR" altLang="en-US"/>
          </a:p>
        </p:txBody>
      </p:sp>
      <p:sp>
        <p:nvSpPr>
          <p:cNvPr id="24" name="Shape 21"/>
          <p:cNvSpPr/>
          <p:nvPr/>
        </p:nvSpPr>
        <p:spPr>
          <a:xfrm>
            <a:off x="2943317" y="1738177"/>
            <a:ext cx="2404738" cy="9525"/>
          </a:xfrm>
          <a:prstGeom prst="rect">
            <a:avLst/>
          </a:prstGeom>
          <a:solidFill>
            <a:srgbClr val="D3B9A5"/>
          </a:solidFill>
          <a:ln/>
        </p:spPr>
        <p:txBody>
          <a:bodyPr/>
          <a:lstStyle/>
          <a:p>
            <a:endParaRPr lang="ko-KR" altLang="en-US"/>
          </a:p>
        </p:txBody>
      </p:sp>
      <p:sp>
        <p:nvSpPr>
          <p:cNvPr id="25" name="Shape 22"/>
          <p:cNvSpPr/>
          <p:nvPr/>
        </p:nvSpPr>
        <p:spPr>
          <a:xfrm>
            <a:off x="2943317" y="1738177"/>
            <a:ext cx="9525" cy="341962"/>
          </a:xfrm>
          <a:prstGeom prst="rect">
            <a:avLst/>
          </a:prstGeom>
          <a:solidFill>
            <a:srgbClr val="D3B9A5"/>
          </a:solidFill>
          <a:ln/>
        </p:spPr>
        <p:txBody>
          <a:bodyPr/>
          <a:lstStyle/>
          <a:p>
            <a:endParaRPr lang="ko-KR" altLang="en-US"/>
          </a:p>
        </p:txBody>
      </p:sp>
      <p:sp>
        <p:nvSpPr>
          <p:cNvPr id="26" name="Text 23"/>
          <p:cNvSpPr/>
          <p:nvPr/>
        </p:nvSpPr>
        <p:spPr>
          <a:xfrm>
            <a:off x="2967584" y="1771969"/>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iM 마스터 PRO 변액연금</a:t>
            </a:r>
            <a:endParaRPr lang="en-US" sz="1125" dirty="0"/>
          </a:p>
        </p:txBody>
      </p:sp>
      <p:sp>
        <p:nvSpPr>
          <p:cNvPr id="27" name="Shape 24"/>
          <p:cNvSpPr/>
          <p:nvPr/>
        </p:nvSpPr>
        <p:spPr>
          <a:xfrm>
            <a:off x="5348054" y="1738177"/>
            <a:ext cx="2404738" cy="341962"/>
          </a:xfrm>
          <a:prstGeom prst="rect">
            <a:avLst/>
          </a:prstGeom>
          <a:solidFill>
            <a:srgbClr val="FFFFFF"/>
          </a:solidFill>
          <a:ln/>
        </p:spPr>
        <p:txBody>
          <a:bodyPr/>
          <a:lstStyle/>
          <a:p>
            <a:endParaRPr lang="ko-KR" altLang="en-US"/>
          </a:p>
        </p:txBody>
      </p:sp>
      <p:sp>
        <p:nvSpPr>
          <p:cNvPr id="28" name="Shape 25"/>
          <p:cNvSpPr/>
          <p:nvPr/>
        </p:nvSpPr>
        <p:spPr>
          <a:xfrm>
            <a:off x="5348054" y="1738177"/>
            <a:ext cx="2404738" cy="9525"/>
          </a:xfrm>
          <a:prstGeom prst="rect">
            <a:avLst/>
          </a:prstGeom>
          <a:solidFill>
            <a:srgbClr val="D3B9A5"/>
          </a:solidFill>
          <a:ln/>
        </p:spPr>
        <p:txBody>
          <a:bodyPr/>
          <a:lstStyle/>
          <a:p>
            <a:endParaRPr lang="ko-KR" altLang="en-US"/>
          </a:p>
        </p:txBody>
      </p:sp>
      <p:sp>
        <p:nvSpPr>
          <p:cNvPr id="29" name="Shape 26"/>
          <p:cNvSpPr/>
          <p:nvPr/>
        </p:nvSpPr>
        <p:spPr>
          <a:xfrm>
            <a:off x="5348054" y="1738177"/>
            <a:ext cx="9525" cy="341962"/>
          </a:xfrm>
          <a:prstGeom prst="rect">
            <a:avLst/>
          </a:prstGeom>
          <a:solidFill>
            <a:srgbClr val="D3B9A5"/>
          </a:solidFill>
          <a:ln/>
        </p:spPr>
        <p:txBody>
          <a:bodyPr/>
          <a:lstStyle/>
          <a:p>
            <a:endParaRPr lang="ko-KR" altLang="en-US"/>
          </a:p>
        </p:txBody>
      </p:sp>
      <p:sp>
        <p:nvSpPr>
          <p:cNvPr id="30" name="Text 27"/>
          <p:cNvSpPr/>
          <p:nvPr/>
        </p:nvSpPr>
        <p:spPr>
          <a:xfrm>
            <a:off x="5372321" y="1771969"/>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더!행복드림 변액연금</a:t>
            </a:r>
            <a:endParaRPr lang="en-US" sz="1125" dirty="0"/>
          </a:p>
        </p:txBody>
      </p:sp>
      <p:sp>
        <p:nvSpPr>
          <p:cNvPr id="31" name="Shape 28"/>
          <p:cNvSpPr/>
          <p:nvPr/>
        </p:nvSpPr>
        <p:spPr>
          <a:xfrm>
            <a:off x="7752792" y="1738177"/>
            <a:ext cx="2405145" cy="341962"/>
          </a:xfrm>
          <a:prstGeom prst="rect">
            <a:avLst/>
          </a:prstGeom>
          <a:solidFill>
            <a:srgbClr val="FFFFFF"/>
          </a:solidFill>
          <a:ln/>
        </p:spPr>
        <p:txBody>
          <a:bodyPr/>
          <a:lstStyle/>
          <a:p>
            <a:endParaRPr lang="ko-KR" altLang="en-US"/>
          </a:p>
        </p:txBody>
      </p:sp>
      <p:sp>
        <p:nvSpPr>
          <p:cNvPr id="32" name="Shape 29"/>
          <p:cNvSpPr/>
          <p:nvPr/>
        </p:nvSpPr>
        <p:spPr>
          <a:xfrm>
            <a:off x="7752792" y="1738177"/>
            <a:ext cx="2405145" cy="9525"/>
          </a:xfrm>
          <a:prstGeom prst="rect">
            <a:avLst/>
          </a:prstGeom>
          <a:solidFill>
            <a:srgbClr val="D3B9A5"/>
          </a:solidFill>
          <a:ln/>
        </p:spPr>
        <p:txBody>
          <a:bodyPr/>
          <a:lstStyle/>
          <a:p>
            <a:endParaRPr lang="ko-KR" altLang="en-US"/>
          </a:p>
        </p:txBody>
      </p:sp>
      <p:sp>
        <p:nvSpPr>
          <p:cNvPr id="33" name="Shape 30"/>
          <p:cNvSpPr/>
          <p:nvPr/>
        </p:nvSpPr>
        <p:spPr>
          <a:xfrm>
            <a:off x="7752792" y="1738177"/>
            <a:ext cx="9525" cy="341962"/>
          </a:xfrm>
          <a:prstGeom prst="rect">
            <a:avLst/>
          </a:prstGeom>
          <a:solidFill>
            <a:srgbClr val="D3B9A5"/>
          </a:solidFill>
          <a:ln/>
        </p:spPr>
        <p:txBody>
          <a:bodyPr/>
          <a:lstStyle/>
          <a:p>
            <a:endParaRPr lang="ko-KR" altLang="en-US"/>
          </a:p>
        </p:txBody>
      </p:sp>
      <p:sp>
        <p:nvSpPr>
          <p:cNvPr id="34" name="Text 31"/>
          <p:cNvSpPr/>
          <p:nvPr/>
        </p:nvSpPr>
        <p:spPr>
          <a:xfrm>
            <a:off x="7777059" y="1771969"/>
            <a:ext cx="236182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연금액 평생보증받는 변액연금</a:t>
            </a:r>
            <a:endParaRPr lang="en-US" sz="1125" dirty="0"/>
          </a:p>
        </p:txBody>
      </p:sp>
      <p:sp>
        <p:nvSpPr>
          <p:cNvPr id="35" name="Shape 32"/>
          <p:cNvSpPr/>
          <p:nvPr/>
        </p:nvSpPr>
        <p:spPr>
          <a:xfrm>
            <a:off x="538580" y="2080139"/>
            <a:ext cx="2404738" cy="341962"/>
          </a:xfrm>
          <a:prstGeom prst="rect">
            <a:avLst/>
          </a:prstGeom>
          <a:solidFill>
            <a:srgbClr val="FCF4EE"/>
          </a:solidFill>
          <a:ln/>
        </p:spPr>
        <p:txBody>
          <a:bodyPr/>
          <a:lstStyle/>
          <a:p>
            <a:endParaRPr lang="ko-KR" altLang="en-US"/>
          </a:p>
        </p:txBody>
      </p:sp>
      <p:sp>
        <p:nvSpPr>
          <p:cNvPr id="36" name="Shape 33"/>
          <p:cNvSpPr/>
          <p:nvPr/>
        </p:nvSpPr>
        <p:spPr>
          <a:xfrm>
            <a:off x="538580" y="2080139"/>
            <a:ext cx="2404738" cy="9525"/>
          </a:xfrm>
          <a:prstGeom prst="rect">
            <a:avLst/>
          </a:prstGeom>
          <a:solidFill>
            <a:srgbClr val="D3B9A5"/>
          </a:solidFill>
          <a:ln/>
        </p:spPr>
        <p:txBody>
          <a:bodyPr/>
          <a:lstStyle/>
          <a:p>
            <a:endParaRPr lang="ko-KR" altLang="en-US"/>
          </a:p>
        </p:txBody>
      </p:sp>
      <p:sp>
        <p:nvSpPr>
          <p:cNvPr id="37" name="Text 34"/>
          <p:cNvSpPr/>
          <p:nvPr/>
        </p:nvSpPr>
        <p:spPr>
          <a:xfrm>
            <a:off x="557630" y="2113931"/>
            <a:ext cx="236663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가입연령</a:t>
            </a:r>
            <a:endParaRPr lang="en-US" sz="1125" dirty="0"/>
          </a:p>
        </p:txBody>
      </p:sp>
      <p:sp>
        <p:nvSpPr>
          <p:cNvPr id="38" name="Shape 35"/>
          <p:cNvSpPr/>
          <p:nvPr/>
        </p:nvSpPr>
        <p:spPr>
          <a:xfrm>
            <a:off x="2943317" y="2080139"/>
            <a:ext cx="2404738" cy="341962"/>
          </a:xfrm>
          <a:prstGeom prst="rect">
            <a:avLst/>
          </a:prstGeom>
          <a:solidFill>
            <a:srgbClr val="F8E1D0"/>
          </a:solidFill>
          <a:ln/>
        </p:spPr>
        <p:txBody>
          <a:bodyPr/>
          <a:lstStyle/>
          <a:p>
            <a:endParaRPr lang="ko-KR" altLang="en-US"/>
          </a:p>
        </p:txBody>
      </p:sp>
      <p:sp>
        <p:nvSpPr>
          <p:cNvPr id="39" name="Shape 36"/>
          <p:cNvSpPr/>
          <p:nvPr/>
        </p:nvSpPr>
        <p:spPr>
          <a:xfrm>
            <a:off x="2943317" y="2080139"/>
            <a:ext cx="2404738" cy="9525"/>
          </a:xfrm>
          <a:prstGeom prst="rect">
            <a:avLst/>
          </a:prstGeom>
          <a:solidFill>
            <a:srgbClr val="D3B9A5"/>
          </a:solidFill>
          <a:ln/>
        </p:spPr>
        <p:txBody>
          <a:bodyPr/>
          <a:lstStyle/>
          <a:p>
            <a:endParaRPr lang="ko-KR" altLang="en-US"/>
          </a:p>
        </p:txBody>
      </p:sp>
      <p:sp>
        <p:nvSpPr>
          <p:cNvPr id="40" name="Shape 37"/>
          <p:cNvSpPr/>
          <p:nvPr/>
        </p:nvSpPr>
        <p:spPr>
          <a:xfrm>
            <a:off x="2943317" y="2080139"/>
            <a:ext cx="9525" cy="341962"/>
          </a:xfrm>
          <a:prstGeom prst="rect">
            <a:avLst/>
          </a:prstGeom>
          <a:solidFill>
            <a:srgbClr val="D3B9A5"/>
          </a:solidFill>
          <a:ln/>
        </p:spPr>
        <p:txBody>
          <a:bodyPr/>
          <a:lstStyle/>
          <a:p>
            <a:endParaRPr lang="ko-KR" altLang="en-US"/>
          </a:p>
        </p:txBody>
      </p:sp>
      <p:sp>
        <p:nvSpPr>
          <p:cNvPr id="41" name="Text 38"/>
          <p:cNvSpPr/>
          <p:nvPr/>
        </p:nvSpPr>
        <p:spPr>
          <a:xfrm>
            <a:off x="2967584" y="2113931"/>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15 ~ 50세</a:t>
            </a:r>
            <a:endParaRPr lang="en-US" sz="1125" dirty="0"/>
          </a:p>
        </p:txBody>
      </p:sp>
      <p:sp>
        <p:nvSpPr>
          <p:cNvPr id="42" name="Shape 39"/>
          <p:cNvSpPr/>
          <p:nvPr/>
        </p:nvSpPr>
        <p:spPr>
          <a:xfrm>
            <a:off x="5348054" y="2080139"/>
            <a:ext cx="2404738" cy="341962"/>
          </a:xfrm>
          <a:prstGeom prst="rect">
            <a:avLst/>
          </a:prstGeom>
          <a:solidFill>
            <a:srgbClr val="FFFFFF"/>
          </a:solidFill>
          <a:ln/>
        </p:spPr>
        <p:txBody>
          <a:bodyPr/>
          <a:lstStyle/>
          <a:p>
            <a:endParaRPr lang="ko-KR" altLang="en-US"/>
          </a:p>
        </p:txBody>
      </p:sp>
      <p:sp>
        <p:nvSpPr>
          <p:cNvPr id="43" name="Shape 40"/>
          <p:cNvSpPr/>
          <p:nvPr/>
        </p:nvSpPr>
        <p:spPr>
          <a:xfrm>
            <a:off x="5348054" y="2080139"/>
            <a:ext cx="2404738" cy="9525"/>
          </a:xfrm>
          <a:prstGeom prst="rect">
            <a:avLst/>
          </a:prstGeom>
          <a:solidFill>
            <a:srgbClr val="D3B9A5"/>
          </a:solidFill>
          <a:ln/>
        </p:spPr>
        <p:txBody>
          <a:bodyPr/>
          <a:lstStyle/>
          <a:p>
            <a:endParaRPr lang="ko-KR" altLang="en-US"/>
          </a:p>
        </p:txBody>
      </p:sp>
      <p:sp>
        <p:nvSpPr>
          <p:cNvPr id="44" name="Shape 41"/>
          <p:cNvSpPr/>
          <p:nvPr/>
        </p:nvSpPr>
        <p:spPr>
          <a:xfrm>
            <a:off x="5348054" y="2080139"/>
            <a:ext cx="9525" cy="341962"/>
          </a:xfrm>
          <a:prstGeom prst="rect">
            <a:avLst/>
          </a:prstGeom>
          <a:solidFill>
            <a:srgbClr val="D3B9A5"/>
          </a:solidFill>
          <a:ln/>
        </p:spPr>
        <p:txBody>
          <a:bodyPr/>
          <a:lstStyle/>
          <a:p>
            <a:endParaRPr lang="ko-KR" altLang="en-US"/>
          </a:p>
        </p:txBody>
      </p:sp>
      <p:sp>
        <p:nvSpPr>
          <p:cNvPr id="45" name="Text 42"/>
          <p:cNvSpPr/>
          <p:nvPr/>
        </p:nvSpPr>
        <p:spPr>
          <a:xfrm>
            <a:off x="5372321" y="2113931"/>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만 15세 ~ 60세</a:t>
            </a:r>
            <a:endParaRPr lang="en-US" sz="1125" dirty="0"/>
          </a:p>
        </p:txBody>
      </p:sp>
      <p:sp>
        <p:nvSpPr>
          <p:cNvPr id="46" name="Shape 43"/>
          <p:cNvSpPr/>
          <p:nvPr/>
        </p:nvSpPr>
        <p:spPr>
          <a:xfrm>
            <a:off x="7752792" y="2080139"/>
            <a:ext cx="2405145" cy="341962"/>
          </a:xfrm>
          <a:prstGeom prst="rect">
            <a:avLst/>
          </a:prstGeom>
          <a:solidFill>
            <a:srgbClr val="FFFFFF"/>
          </a:solidFill>
          <a:ln/>
        </p:spPr>
        <p:txBody>
          <a:bodyPr/>
          <a:lstStyle/>
          <a:p>
            <a:endParaRPr lang="ko-KR" altLang="en-US"/>
          </a:p>
        </p:txBody>
      </p:sp>
      <p:sp>
        <p:nvSpPr>
          <p:cNvPr id="47" name="Shape 44"/>
          <p:cNvSpPr/>
          <p:nvPr/>
        </p:nvSpPr>
        <p:spPr>
          <a:xfrm>
            <a:off x="7752792" y="2080139"/>
            <a:ext cx="2405145" cy="9525"/>
          </a:xfrm>
          <a:prstGeom prst="rect">
            <a:avLst/>
          </a:prstGeom>
          <a:solidFill>
            <a:srgbClr val="D3B9A5"/>
          </a:solidFill>
          <a:ln/>
        </p:spPr>
        <p:txBody>
          <a:bodyPr/>
          <a:lstStyle/>
          <a:p>
            <a:endParaRPr lang="ko-KR" altLang="en-US"/>
          </a:p>
        </p:txBody>
      </p:sp>
      <p:sp>
        <p:nvSpPr>
          <p:cNvPr id="48" name="Shape 45"/>
          <p:cNvSpPr/>
          <p:nvPr/>
        </p:nvSpPr>
        <p:spPr>
          <a:xfrm>
            <a:off x="7752792" y="2080139"/>
            <a:ext cx="9525" cy="341962"/>
          </a:xfrm>
          <a:prstGeom prst="rect">
            <a:avLst/>
          </a:prstGeom>
          <a:solidFill>
            <a:srgbClr val="D3B9A5"/>
          </a:solidFill>
          <a:ln/>
        </p:spPr>
        <p:txBody>
          <a:bodyPr/>
          <a:lstStyle/>
          <a:p>
            <a:endParaRPr lang="ko-KR" altLang="en-US"/>
          </a:p>
        </p:txBody>
      </p:sp>
      <p:sp>
        <p:nvSpPr>
          <p:cNvPr id="49" name="Text 46"/>
          <p:cNvSpPr/>
          <p:nvPr/>
        </p:nvSpPr>
        <p:spPr>
          <a:xfrm>
            <a:off x="7777059" y="2113931"/>
            <a:ext cx="236182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0 ~ 68세</a:t>
            </a:r>
            <a:endParaRPr lang="en-US" sz="1125" dirty="0"/>
          </a:p>
        </p:txBody>
      </p:sp>
      <p:sp>
        <p:nvSpPr>
          <p:cNvPr id="50" name="Shape 47"/>
          <p:cNvSpPr/>
          <p:nvPr/>
        </p:nvSpPr>
        <p:spPr>
          <a:xfrm>
            <a:off x="538580" y="2422101"/>
            <a:ext cx="2404738" cy="599065"/>
          </a:xfrm>
          <a:prstGeom prst="rect">
            <a:avLst/>
          </a:prstGeom>
          <a:solidFill>
            <a:srgbClr val="FCF4EE"/>
          </a:solidFill>
          <a:ln/>
        </p:spPr>
        <p:txBody>
          <a:bodyPr/>
          <a:lstStyle/>
          <a:p>
            <a:endParaRPr lang="ko-KR" altLang="en-US"/>
          </a:p>
        </p:txBody>
      </p:sp>
      <p:sp>
        <p:nvSpPr>
          <p:cNvPr id="51" name="Shape 48"/>
          <p:cNvSpPr/>
          <p:nvPr/>
        </p:nvSpPr>
        <p:spPr>
          <a:xfrm>
            <a:off x="538580" y="2422101"/>
            <a:ext cx="2404738" cy="9525"/>
          </a:xfrm>
          <a:prstGeom prst="rect">
            <a:avLst/>
          </a:prstGeom>
          <a:solidFill>
            <a:srgbClr val="D3B9A5"/>
          </a:solidFill>
          <a:ln/>
        </p:spPr>
        <p:txBody>
          <a:bodyPr/>
          <a:lstStyle/>
          <a:p>
            <a:endParaRPr lang="ko-KR" altLang="en-US"/>
          </a:p>
        </p:txBody>
      </p:sp>
      <p:sp>
        <p:nvSpPr>
          <p:cNvPr id="52" name="Text 49"/>
          <p:cNvSpPr/>
          <p:nvPr/>
        </p:nvSpPr>
        <p:spPr>
          <a:xfrm>
            <a:off x="557630" y="2455893"/>
            <a:ext cx="236663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최소 납입보험료</a:t>
            </a:r>
            <a:endParaRPr lang="en-US" sz="1125" dirty="0"/>
          </a:p>
        </p:txBody>
      </p:sp>
      <p:sp>
        <p:nvSpPr>
          <p:cNvPr id="53" name="Shape 50"/>
          <p:cNvSpPr/>
          <p:nvPr/>
        </p:nvSpPr>
        <p:spPr>
          <a:xfrm>
            <a:off x="2943317" y="2422101"/>
            <a:ext cx="2404738" cy="599065"/>
          </a:xfrm>
          <a:prstGeom prst="rect">
            <a:avLst/>
          </a:prstGeom>
          <a:solidFill>
            <a:srgbClr val="F8E1D0"/>
          </a:solidFill>
          <a:ln/>
        </p:spPr>
        <p:txBody>
          <a:bodyPr/>
          <a:lstStyle/>
          <a:p>
            <a:endParaRPr lang="ko-KR" altLang="en-US"/>
          </a:p>
        </p:txBody>
      </p:sp>
      <p:sp>
        <p:nvSpPr>
          <p:cNvPr id="54" name="Shape 51"/>
          <p:cNvSpPr/>
          <p:nvPr/>
        </p:nvSpPr>
        <p:spPr>
          <a:xfrm>
            <a:off x="2943317" y="2422101"/>
            <a:ext cx="2404738" cy="9525"/>
          </a:xfrm>
          <a:prstGeom prst="rect">
            <a:avLst/>
          </a:prstGeom>
          <a:solidFill>
            <a:srgbClr val="D3B9A5"/>
          </a:solidFill>
          <a:ln/>
        </p:spPr>
        <p:txBody>
          <a:bodyPr/>
          <a:lstStyle/>
          <a:p>
            <a:endParaRPr lang="ko-KR" altLang="en-US"/>
          </a:p>
        </p:txBody>
      </p:sp>
      <p:sp>
        <p:nvSpPr>
          <p:cNvPr id="55" name="Shape 52"/>
          <p:cNvSpPr/>
          <p:nvPr/>
        </p:nvSpPr>
        <p:spPr>
          <a:xfrm>
            <a:off x="2943317" y="2422101"/>
            <a:ext cx="9525" cy="599065"/>
          </a:xfrm>
          <a:prstGeom prst="rect">
            <a:avLst/>
          </a:prstGeom>
          <a:solidFill>
            <a:srgbClr val="D3B9A5"/>
          </a:solidFill>
          <a:ln/>
        </p:spPr>
        <p:txBody>
          <a:bodyPr/>
          <a:lstStyle/>
          <a:p>
            <a:endParaRPr lang="ko-KR" altLang="en-US"/>
          </a:p>
        </p:txBody>
      </p:sp>
      <p:sp>
        <p:nvSpPr>
          <p:cNvPr id="56" name="Text 53"/>
          <p:cNvSpPr/>
          <p:nvPr/>
        </p:nvSpPr>
        <p:spPr>
          <a:xfrm>
            <a:off x="2967584" y="2455893"/>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20만원 (5, 7년납 30만)</a:t>
            </a:r>
            <a:endParaRPr lang="en-US" sz="1125" dirty="0"/>
          </a:p>
        </p:txBody>
      </p:sp>
      <p:sp>
        <p:nvSpPr>
          <p:cNvPr id="57" name="Shape 54"/>
          <p:cNvSpPr/>
          <p:nvPr/>
        </p:nvSpPr>
        <p:spPr>
          <a:xfrm>
            <a:off x="5348054" y="2422101"/>
            <a:ext cx="2404738" cy="599065"/>
          </a:xfrm>
          <a:prstGeom prst="rect">
            <a:avLst/>
          </a:prstGeom>
          <a:solidFill>
            <a:srgbClr val="FFFFFF"/>
          </a:solidFill>
          <a:ln/>
        </p:spPr>
        <p:txBody>
          <a:bodyPr/>
          <a:lstStyle/>
          <a:p>
            <a:endParaRPr lang="ko-KR" altLang="en-US"/>
          </a:p>
        </p:txBody>
      </p:sp>
      <p:sp>
        <p:nvSpPr>
          <p:cNvPr id="58" name="Shape 55"/>
          <p:cNvSpPr/>
          <p:nvPr/>
        </p:nvSpPr>
        <p:spPr>
          <a:xfrm>
            <a:off x="5348054" y="2422101"/>
            <a:ext cx="2404738" cy="9525"/>
          </a:xfrm>
          <a:prstGeom prst="rect">
            <a:avLst/>
          </a:prstGeom>
          <a:solidFill>
            <a:srgbClr val="D3B9A5"/>
          </a:solidFill>
          <a:ln/>
        </p:spPr>
        <p:txBody>
          <a:bodyPr/>
          <a:lstStyle/>
          <a:p>
            <a:endParaRPr lang="ko-KR" altLang="en-US"/>
          </a:p>
        </p:txBody>
      </p:sp>
      <p:sp>
        <p:nvSpPr>
          <p:cNvPr id="59" name="Shape 56"/>
          <p:cNvSpPr/>
          <p:nvPr/>
        </p:nvSpPr>
        <p:spPr>
          <a:xfrm>
            <a:off x="5348054" y="2422101"/>
            <a:ext cx="9525" cy="599065"/>
          </a:xfrm>
          <a:prstGeom prst="rect">
            <a:avLst/>
          </a:prstGeom>
          <a:solidFill>
            <a:srgbClr val="D3B9A5"/>
          </a:solidFill>
          <a:ln/>
        </p:spPr>
        <p:txBody>
          <a:bodyPr/>
          <a:lstStyle/>
          <a:p>
            <a:endParaRPr lang="ko-KR" altLang="en-US"/>
          </a:p>
        </p:txBody>
      </p:sp>
      <p:sp>
        <p:nvSpPr>
          <p:cNvPr id="60" name="Text 57"/>
          <p:cNvSpPr/>
          <p:nvPr/>
        </p:nvSpPr>
        <p:spPr>
          <a:xfrm>
            <a:off x="5372321" y="2455893"/>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10만원</a:t>
            </a:r>
            <a:endParaRPr lang="en-US" sz="1125" dirty="0"/>
          </a:p>
        </p:txBody>
      </p:sp>
      <p:sp>
        <p:nvSpPr>
          <p:cNvPr id="61" name="Shape 58"/>
          <p:cNvSpPr/>
          <p:nvPr/>
        </p:nvSpPr>
        <p:spPr>
          <a:xfrm>
            <a:off x="7752792" y="2422101"/>
            <a:ext cx="2405145" cy="599065"/>
          </a:xfrm>
          <a:prstGeom prst="rect">
            <a:avLst/>
          </a:prstGeom>
          <a:solidFill>
            <a:srgbClr val="FFFFFF"/>
          </a:solidFill>
          <a:ln/>
        </p:spPr>
        <p:txBody>
          <a:bodyPr/>
          <a:lstStyle/>
          <a:p>
            <a:endParaRPr lang="ko-KR" altLang="en-US"/>
          </a:p>
        </p:txBody>
      </p:sp>
      <p:sp>
        <p:nvSpPr>
          <p:cNvPr id="62" name="Shape 59"/>
          <p:cNvSpPr/>
          <p:nvPr/>
        </p:nvSpPr>
        <p:spPr>
          <a:xfrm>
            <a:off x="7752792" y="2422101"/>
            <a:ext cx="2405145" cy="9525"/>
          </a:xfrm>
          <a:prstGeom prst="rect">
            <a:avLst/>
          </a:prstGeom>
          <a:solidFill>
            <a:srgbClr val="D3B9A5"/>
          </a:solidFill>
          <a:ln/>
        </p:spPr>
        <p:txBody>
          <a:bodyPr/>
          <a:lstStyle/>
          <a:p>
            <a:endParaRPr lang="ko-KR" altLang="en-US"/>
          </a:p>
        </p:txBody>
      </p:sp>
      <p:sp>
        <p:nvSpPr>
          <p:cNvPr id="63" name="Shape 60"/>
          <p:cNvSpPr/>
          <p:nvPr/>
        </p:nvSpPr>
        <p:spPr>
          <a:xfrm>
            <a:off x="7752792" y="2422101"/>
            <a:ext cx="9525" cy="599065"/>
          </a:xfrm>
          <a:prstGeom prst="rect">
            <a:avLst/>
          </a:prstGeom>
          <a:solidFill>
            <a:srgbClr val="D3B9A5"/>
          </a:solidFill>
          <a:ln/>
        </p:spPr>
        <p:txBody>
          <a:bodyPr/>
          <a:lstStyle/>
          <a:p>
            <a:endParaRPr lang="ko-KR" altLang="en-US"/>
          </a:p>
        </p:txBody>
      </p:sp>
      <p:sp>
        <p:nvSpPr>
          <p:cNvPr id="64" name="Text 61"/>
          <p:cNvSpPr/>
          <p:nvPr/>
        </p:nvSpPr>
        <p:spPr>
          <a:xfrm>
            <a:off x="7777059" y="2455893"/>
            <a:ext cx="236182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20만원 (5, 7년납 30만)</a:t>
            </a:r>
            <a:endParaRPr lang="en-US" sz="1125" dirty="0"/>
          </a:p>
        </p:txBody>
      </p:sp>
      <p:sp>
        <p:nvSpPr>
          <p:cNvPr id="65" name="Shape 62"/>
          <p:cNvSpPr/>
          <p:nvPr/>
        </p:nvSpPr>
        <p:spPr>
          <a:xfrm>
            <a:off x="538580" y="3021165"/>
            <a:ext cx="2404738" cy="599065"/>
          </a:xfrm>
          <a:prstGeom prst="rect">
            <a:avLst/>
          </a:prstGeom>
          <a:solidFill>
            <a:srgbClr val="FCF4EE"/>
          </a:solidFill>
          <a:ln/>
        </p:spPr>
        <p:txBody>
          <a:bodyPr/>
          <a:lstStyle/>
          <a:p>
            <a:endParaRPr lang="ko-KR" altLang="en-US"/>
          </a:p>
        </p:txBody>
      </p:sp>
      <p:sp>
        <p:nvSpPr>
          <p:cNvPr id="66" name="Shape 63"/>
          <p:cNvSpPr/>
          <p:nvPr/>
        </p:nvSpPr>
        <p:spPr>
          <a:xfrm>
            <a:off x="538580" y="3021165"/>
            <a:ext cx="2404738" cy="9525"/>
          </a:xfrm>
          <a:prstGeom prst="rect">
            <a:avLst/>
          </a:prstGeom>
          <a:solidFill>
            <a:srgbClr val="D3B9A5"/>
          </a:solidFill>
          <a:ln/>
        </p:spPr>
        <p:txBody>
          <a:bodyPr/>
          <a:lstStyle/>
          <a:p>
            <a:endParaRPr lang="ko-KR" altLang="en-US"/>
          </a:p>
        </p:txBody>
      </p:sp>
      <p:sp>
        <p:nvSpPr>
          <p:cNvPr id="67" name="Text 64"/>
          <p:cNvSpPr/>
          <p:nvPr/>
        </p:nvSpPr>
        <p:spPr>
          <a:xfrm>
            <a:off x="557630" y="3054957"/>
            <a:ext cx="236663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최소 거치기간</a:t>
            </a:r>
            <a:endParaRPr lang="en-US" sz="1125" dirty="0"/>
          </a:p>
        </p:txBody>
      </p:sp>
      <p:sp>
        <p:nvSpPr>
          <p:cNvPr id="68" name="Shape 65"/>
          <p:cNvSpPr/>
          <p:nvPr/>
        </p:nvSpPr>
        <p:spPr>
          <a:xfrm>
            <a:off x="2943317" y="3021165"/>
            <a:ext cx="2404738" cy="599065"/>
          </a:xfrm>
          <a:prstGeom prst="rect">
            <a:avLst/>
          </a:prstGeom>
          <a:solidFill>
            <a:srgbClr val="F8E1D0"/>
          </a:solidFill>
          <a:ln/>
        </p:spPr>
        <p:txBody>
          <a:bodyPr/>
          <a:lstStyle/>
          <a:p>
            <a:endParaRPr lang="ko-KR" altLang="en-US"/>
          </a:p>
        </p:txBody>
      </p:sp>
      <p:sp>
        <p:nvSpPr>
          <p:cNvPr id="69" name="Shape 66"/>
          <p:cNvSpPr/>
          <p:nvPr/>
        </p:nvSpPr>
        <p:spPr>
          <a:xfrm>
            <a:off x="2943317" y="3021165"/>
            <a:ext cx="2404738" cy="9525"/>
          </a:xfrm>
          <a:prstGeom prst="rect">
            <a:avLst/>
          </a:prstGeom>
          <a:solidFill>
            <a:srgbClr val="D3B9A5"/>
          </a:solidFill>
          <a:ln/>
        </p:spPr>
        <p:txBody>
          <a:bodyPr/>
          <a:lstStyle/>
          <a:p>
            <a:endParaRPr lang="ko-KR" altLang="en-US"/>
          </a:p>
        </p:txBody>
      </p:sp>
      <p:sp>
        <p:nvSpPr>
          <p:cNvPr id="70" name="Shape 67"/>
          <p:cNvSpPr/>
          <p:nvPr/>
        </p:nvSpPr>
        <p:spPr>
          <a:xfrm>
            <a:off x="2943317" y="3021165"/>
            <a:ext cx="9525" cy="599065"/>
          </a:xfrm>
          <a:prstGeom prst="rect">
            <a:avLst/>
          </a:prstGeom>
          <a:solidFill>
            <a:srgbClr val="D3B9A5"/>
          </a:solidFill>
          <a:ln/>
        </p:spPr>
        <p:txBody>
          <a:bodyPr/>
          <a:lstStyle/>
          <a:p>
            <a:endParaRPr lang="ko-KR" altLang="en-US"/>
          </a:p>
        </p:txBody>
      </p:sp>
      <p:sp>
        <p:nvSpPr>
          <p:cNvPr id="71" name="Text 68"/>
          <p:cNvSpPr/>
          <p:nvPr/>
        </p:nvSpPr>
        <p:spPr>
          <a:xfrm>
            <a:off x="2967584" y="3054957"/>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납기포함 스타트 25년, 마스터 20년, 트래블 15년</a:t>
            </a:r>
            <a:endParaRPr lang="en-US" sz="1125" dirty="0"/>
          </a:p>
        </p:txBody>
      </p:sp>
      <p:sp>
        <p:nvSpPr>
          <p:cNvPr id="72" name="Shape 69"/>
          <p:cNvSpPr/>
          <p:nvPr/>
        </p:nvSpPr>
        <p:spPr>
          <a:xfrm>
            <a:off x="5348054" y="3021165"/>
            <a:ext cx="2404738" cy="599065"/>
          </a:xfrm>
          <a:prstGeom prst="rect">
            <a:avLst/>
          </a:prstGeom>
          <a:solidFill>
            <a:srgbClr val="FFFFFF"/>
          </a:solidFill>
          <a:ln/>
        </p:spPr>
        <p:txBody>
          <a:bodyPr/>
          <a:lstStyle/>
          <a:p>
            <a:endParaRPr lang="ko-KR" altLang="en-US"/>
          </a:p>
        </p:txBody>
      </p:sp>
      <p:sp>
        <p:nvSpPr>
          <p:cNvPr id="73" name="Shape 70"/>
          <p:cNvSpPr/>
          <p:nvPr/>
        </p:nvSpPr>
        <p:spPr>
          <a:xfrm>
            <a:off x="5348054" y="3021165"/>
            <a:ext cx="2404738" cy="9525"/>
          </a:xfrm>
          <a:prstGeom prst="rect">
            <a:avLst/>
          </a:prstGeom>
          <a:solidFill>
            <a:srgbClr val="D3B9A5"/>
          </a:solidFill>
          <a:ln/>
        </p:spPr>
        <p:txBody>
          <a:bodyPr/>
          <a:lstStyle/>
          <a:p>
            <a:endParaRPr lang="ko-KR" altLang="en-US"/>
          </a:p>
        </p:txBody>
      </p:sp>
      <p:sp>
        <p:nvSpPr>
          <p:cNvPr id="74" name="Shape 71"/>
          <p:cNvSpPr/>
          <p:nvPr/>
        </p:nvSpPr>
        <p:spPr>
          <a:xfrm>
            <a:off x="5348054" y="3021165"/>
            <a:ext cx="9525" cy="599065"/>
          </a:xfrm>
          <a:prstGeom prst="rect">
            <a:avLst/>
          </a:prstGeom>
          <a:solidFill>
            <a:srgbClr val="D3B9A5"/>
          </a:solidFill>
          <a:ln/>
        </p:spPr>
        <p:txBody>
          <a:bodyPr/>
          <a:lstStyle/>
          <a:p>
            <a:endParaRPr lang="ko-KR" altLang="en-US"/>
          </a:p>
        </p:txBody>
      </p:sp>
      <p:sp>
        <p:nvSpPr>
          <p:cNvPr id="75" name="Text 72"/>
          <p:cNvSpPr/>
          <p:nvPr/>
        </p:nvSpPr>
        <p:spPr>
          <a:xfrm>
            <a:off x="5372321" y="3054957"/>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납기포함 20년 (20년납 5년)</a:t>
            </a:r>
            <a:endParaRPr lang="en-US" sz="1125" dirty="0"/>
          </a:p>
        </p:txBody>
      </p:sp>
      <p:sp>
        <p:nvSpPr>
          <p:cNvPr id="76" name="Shape 73"/>
          <p:cNvSpPr/>
          <p:nvPr/>
        </p:nvSpPr>
        <p:spPr>
          <a:xfrm>
            <a:off x="7752792" y="3021165"/>
            <a:ext cx="2405145" cy="599065"/>
          </a:xfrm>
          <a:prstGeom prst="rect">
            <a:avLst/>
          </a:prstGeom>
          <a:solidFill>
            <a:srgbClr val="FFFFFF"/>
          </a:solidFill>
          <a:ln/>
        </p:spPr>
        <p:txBody>
          <a:bodyPr/>
          <a:lstStyle/>
          <a:p>
            <a:endParaRPr lang="ko-KR" altLang="en-US"/>
          </a:p>
        </p:txBody>
      </p:sp>
      <p:sp>
        <p:nvSpPr>
          <p:cNvPr id="77" name="Shape 74"/>
          <p:cNvSpPr/>
          <p:nvPr/>
        </p:nvSpPr>
        <p:spPr>
          <a:xfrm>
            <a:off x="7752792" y="3021165"/>
            <a:ext cx="2405145" cy="9525"/>
          </a:xfrm>
          <a:prstGeom prst="rect">
            <a:avLst/>
          </a:prstGeom>
          <a:solidFill>
            <a:srgbClr val="D3B9A5"/>
          </a:solidFill>
          <a:ln/>
        </p:spPr>
        <p:txBody>
          <a:bodyPr/>
          <a:lstStyle/>
          <a:p>
            <a:endParaRPr lang="ko-KR" altLang="en-US"/>
          </a:p>
        </p:txBody>
      </p:sp>
      <p:sp>
        <p:nvSpPr>
          <p:cNvPr id="78" name="Shape 75"/>
          <p:cNvSpPr/>
          <p:nvPr/>
        </p:nvSpPr>
        <p:spPr>
          <a:xfrm>
            <a:off x="7752792" y="3021165"/>
            <a:ext cx="9525" cy="599065"/>
          </a:xfrm>
          <a:prstGeom prst="rect">
            <a:avLst/>
          </a:prstGeom>
          <a:solidFill>
            <a:srgbClr val="D3B9A5"/>
          </a:solidFill>
          <a:ln/>
        </p:spPr>
        <p:txBody>
          <a:bodyPr/>
          <a:lstStyle/>
          <a:p>
            <a:endParaRPr lang="ko-KR" altLang="en-US"/>
          </a:p>
        </p:txBody>
      </p:sp>
      <p:sp>
        <p:nvSpPr>
          <p:cNvPr id="79" name="Text 76"/>
          <p:cNvSpPr/>
          <p:nvPr/>
        </p:nvSpPr>
        <p:spPr>
          <a:xfrm>
            <a:off x="7777059" y="3054957"/>
            <a:ext cx="236182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5년납 7년 7, 10년납 5년</a:t>
            </a:r>
            <a:endParaRPr lang="en-US" sz="1125" dirty="0"/>
          </a:p>
        </p:txBody>
      </p:sp>
      <p:sp>
        <p:nvSpPr>
          <p:cNvPr id="80" name="Shape 77"/>
          <p:cNvSpPr/>
          <p:nvPr/>
        </p:nvSpPr>
        <p:spPr>
          <a:xfrm>
            <a:off x="538580" y="3620230"/>
            <a:ext cx="1202369" cy="1025885"/>
          </a:xfrm>
          <a:prstGeom prst="rect">
            <a:avLst/>
          </a:prstGeom>
          <a:solidFill>
            <a:srgbClr val="FCF4EE"/>
          </a:solidFill>
          <a:ln/>
        </p:spPr>
        <p:txBody>
          <a:bodyPr/>
          <a:lstStyle/>
          <a:p>
            <a:endParaRPr lang="ko-KR" altLang="en-US"/>
          </a:p>
        </p:txBody>
      </p:sp>
      <p:sp>
        <p:nvSpPr>
          <p:cNvPr id="81" name="Shape 78"/>
          <p:cNvSpPr/>
          <p:nvPr/>
        </p:nvSpPr>
        <p:spPr>
          <a:xfrm>
            <a:off x="538580" y="3620230"/>
            <a:ext cx="1202369" cy="9525"/>
          </a:xfrm>
          <a:prstGeom prst="rect">
            <a:avLst/>
          </a:prstGeom>
          <a:solidFill>
            <a:srgbClr val="D3B9A5"/>
          </a:solidFill>
          <a:ln/>
        </p:spPr>
        <p:txBody>
          <a:bodyPr/>
          <a:lstStyle/>
          <a:p>
            <a:endParaRPr lang="ko-KR" altLang="en-US"/>
          </a:p>
        </p:txBody>
      </p:sp>
      <p:sp>
        <p:nvSpPr>
          <p:cNvPr id="82" name="Text 79"/>
          <p:cNvSpPr/>
          <p:nvPr/>
        </p:nvSpPr>
        <p:spPr>
          <a:xfrm>
            <a:off x="557630" y="3654023"/>
            <a:ext cx="1164269" cy="100161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CF4EE"/>
                </a:highlight>
                <a:latin typeface="Paperlogy 7 Bold" pitchFamily="2" charset="-127"/>
                <a:ea typeface="Paperlogy 7 Bold" pitchFamily="2" charset="-127"/>
                <a:cs typeface="Arial" pitchFamily="34" charset="-120"/>
              </a:rPr>
              <a:t>환급률 (40세 남성 기준)</a:t>
            </a:r>
            <a:endParaRPr lang="en-US" sz="1125" dirty="0"/>
          </a:p>
        </p:txBody>
      </p:sp>
      <p:sp>
        <p:nvSpPr>
          <p:cNvPr id="83" name="Shape 80"/>
          <p:cNvSpPr/>
          <p:nvPr/>
        </p:nvSpPr>
        <p:spPr>
          <a:xfrm>
            <a:off x="1740948" y="3620230"/>
            <a:ext cx="1202369" cy="341962"/>
          </a:xfrm>
          <a:prstGeom prst="rect">
            <a:avLst/>
          </a:prstGeom>
          <a:solidFill>
            <a:srgbClr val="FCF4EE"/>
          </a:solidFill>
          <a:ln/>
        </p:spPr>
        <p:txBody>
          <a:bodyPr/>
          <a:lstStyle/>
          <a:p>
            <a:endParaRPr lang="ko-KR" altLang="en-US"/>
          </a:p>
        </p:txBody>
      </p:sp>
      <p:sp>
        <p:nvSpPr>
          <p:cNvPr id="84" name="Shape 81"/>
          <p:cNvSpPr/>
          <p:nvPr/>
        </p:nvSpPr>
        <p:spPr>
          <a:xfrm>
            <a:off x="1740948" y="3620230"/>
            <a:ext cx="1202369" cy="9525"/>
          </a:xfrm>
          <a:prstGeom prst="rect">
            <a:avLst/>
          </a:prstGeom>
          <a:solidFill>
            <a:srgbClr val="D3B9A5"/>
          </a:solidFill>
          <a:ln/>
        </p:spPr>
        <p:txBody>
          <a:bodyPr/>
          <a:lstStyle/>
          <a:p>
            <a:endParaRPr lang="ko-KR" altLang="en-US"/>
          </a:p>
        </p:txBody>
      </p:sp>
      <p:sp>
        <p:nvSpPr>
          <p:cNvPr id="85" name="Shape 82"/>
          <p:cNvSpPr/>
          <p:nvPr/>
        </p:nvSpPr>
        <p:spPr>
          <a:xfrm>
            <a:off x="1740948" y="3620230"/>
            <a:ext cx="9525" cy="341962"/>
          </a:xfrm>
          <a:prstGeom prst="rect">
            <a:avLst/>
          </a:prstGeom>
          <a:solidFill>
            <a:srgbClr val="D3B9A5"/>
          </a:solidFill>
          <a:ln/>
        </p:spPr>
        <p:txBody>
          <a:bodyPr/>
          <a:lstStyle/>
          <a:p>
            <a:endParaRPr lang="ko-KR" altLang="en-US"/>
          </a:p>
        </p:txBody>
      </p:sp>
      <p:sp>
        <p:nvSpPr>
          <p:cNvPr id="86" name="Text 83"/>
          <p:cNvSpPr/>
          <p:nvPr/>
        </p:nvSpPr>
        <p:spPr>
          <a:xfrm>
            <a:off x="1765215" y="365402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5년차</a:t>
            </a:r>
            <a:endParaRPr lang="en-US" sz="1125" dirty="0"/>
          </a:p>
        </p:txBody>
      </p:sp>
      <p:sp>
        <p:nvSpPr>
          <p:cNvPr id="87" name="Shape 84"/>
          <p:cNvSpPr/>
          <p:nvPr/>
        </p:nvSpPr>
        <p:spPr>
          <a:xfrm>
            <a:off x="2943317" y="3620230"/>
            <a:ext cx="2404738" cy="341962"/>
          </a:xfrm>
          <a:prstGeom prst="rect">
            <a:avLst/>
          </a:prstGeom>
          <a:solidFill>
            <a:srgbClr val="F8E1D0"/>
          </a:solidFill>
          <a:ln/>
        </p:spPr>
        <p:txBody>
          <a:bodyPr/>
          <a:lstStyle/>
          <a:p>
            <a:endParaRPr lang="ko-KR" altLang="en-US"/>
          </a:p>
        </p:txBody>
      </p:sp>
      <p:sp>
        <p:nvSpPr>
          <p:cNvPr id="88" name="Shape 85"/>
          <p:cNvSpPr/>
          <p:nvPr/>
        </p:nvSpPr>
        <p:spPr>
          <a:xfrm>
            <a:off x="2943317" y="3620230"/>
            <a:ext cx="2404738" cy="9525"/>
          </a:xfrm>
          <a:prstGeom prst="rect">
            <a:avLst/>
          </a:prstGeom>
          <a:solidFill>
            <a:srgbClr val="D3B9A5"/>
          </a:solidFill>
          <a:ln/>
        </p:spPr>
        <p:txBody>
          <a:bodyPr/>
          <a:lstStyle/>
          <a:p>
            <a:endParaRPr lang="ko-KR" altLang="en-US"/>
          </a:p>
        </p:txBody>
      </p:sp>
      <p:sp>
        <p:nvSpPr>
          <p:cNvPr id="89" name="Shape 86"/>
          <p:cNvSpPr/>
          <p:nvPr/>
        </p:nvSpPr>
        <p:spPr>
          <a:xfrm>
            <a:off x="2943317" y="3620230"/>
            <a:ext cx="9525" cy="341962"/>
          </a:xfrm>
          <a:prstGeom prst="rect">
            <a:avLst/>
          </a:prstGeom>
          <a:solidFill>
            <a:srgbClr val="D3B9A5"/>
          </a:solidFill>
          <a:ln/>
        </p:spPr>
        <p:txBody>
          <a:bodyPr/>
          <a:lstStyle/>
          <a:p>
            <a:endParaRPr lang="ko-KR" altLang="en-US"/>
          </a:p>
        </p:txBody>
      </p:sp>
      <p:sp>
        <p:nvSpPr>
          <p:cNvPr id="90" name="Text 87"/>
          <p:cNvSpPr/>
          <p:nvPr/>
        </p:nvSpPr>
        <p:spPr>
          <a:xfrm>
            <a:off x="2967584" y="3654023"/>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60.5%</a:t>
            </a:r>
            <a:endParaRPr lang="en-US" sz="1125" dirty="0"/>
          </a:p>
        </p:txBody>
      </p:sp>
      <p:sp>
        <p:nvSpPr>
          <p:cNvPr id="91" name="Shape 88"/>
          <p:cNvSpPr/>
          <p:nvPr/>
        </p:nvSpPr>
        <p:spPr>
          <a:xfrm>
            <a:off x="5348054" y="3620230"/>
            <a:ext cx="2404738" cy="341962"/>
          </a:xfrm>
          <a:prstGeom prst="rect">
            <a:avLst/>
          </a:prstGeom>
          <a:solidFill>
            <a:srgbClr val="FFFFFF"/>
          </a:solidFill>
          <a:ln/>
        </p:spPr>
        <p:txBody>
          <a:bodyPr/>
          <a:lstStyle/>
          <a:p>
            <a:endParaRPr lang="ko-KR" altLang="en-US"/>
          </a:p>
        </p:txBody>
      </p:sp>
      <p:sp>
        <p:nvSpPr>
          <p:cNvPr id="92" name="Shape 89"/>
          <p:cNvSpPr/>
          <p:nvPr/>
        </p:nvSpPr>
        <p:spPr>
          <a:xfrm>
            <a:off x="5348054" y="3620230"/>
            <a:ext cx="2404738" cy="9525"/>
          </a:xfrm>
          <a:prstGeom prst="rect">
            <a:avLst/>
          </a:prstGeom>
          <a:solidFill>
            <a:srgbClr val="D3B9A5"/>
          </a:solidFill>
          <a:ln/>
        </p:spPr>
        <p:txBody>
          <a:bodyPr/>
          <a:lstStyle/>
          <a:p>
            <a:endParaRPr lang="ko-KR" altLang="en-US"/>
          </a:p>
        </p:txBody>
      </p:sp>
      <p:sp>
        <p:nvSpPr>
          <p:cNvPr id="93" name="Shape 90"/>
          <p:cNvSpPr/>
          <p:nvPr/>
        </p:nvSpPr>
        <p:spPr>
          <a:xfrm>
            <a:off x="5348054" y="3620230"/>
            <a:ext cx="9525" cy="341962"/>
          </a:xfrm>
          <a:prstGeom prst="rect">
            <a:avLst/>
          </a:prstGeom>
          <a:solidFill>
            <a:srgbClr val="D3B9A5"/>
          </a:solidFill>
          <a:ln/>
        </p:spPr>
        <p:txBody>
          <a:bodyPr/>
          <a:lstStyle/>
          <a:p>
            <a:endParaRPr lang="ko-KR" altLang="en-US"/>
          </a:p>
        </p:txBody>
      </p:sp>
      <p:sp>
        <p:nvSpPr>
          <p:cNvPr id="94" name="Text 91"/>
          <p:cNvSpPr/>
          <p:nvPr/>
        </p:nvSpPr>
        <p:spPr>
          <a:xfrm>
            <a:off x="5372321" y="3654023"/>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63.3%</a:t>
            </a:r>
            <a:endParaRPr lang="en-US" sz="1125" dirty="0"/>
          </a:p>
        </p:txBody>
      </p:sp>
      <p:sp>
        <p:nvSpPr>
          <p:cNvPr id="95" name="Shape 92"/>
          <p:cNvSpPr/>
          <p:nvPr/>
        </p:nvSpPr>
        <p:spPr>
          <a:xfrm>
            <a:off x="7752792" y="3620230"/>
            <a:ext cx="2405145" cy="341962"/>
          </a:xfrm>
          <a:prstGeom prst="rect">
            <a:avLst/>
          </a:prstGeom>
          <a:solidFill>
            <a:srgbClr val="FFFFFF"/>
          </a:solidFill>
          <a:ln/>
        </p:spPr>
        <p:txBody>
          <a:bodyPr/>
          <a:lstStyle/>
          <a:p>
            <a:endParaRPr lang="ko-KR" altLang="en-US"/>
          </a:p>
        </p:txBody>
      </p:sp>
      <p:sp>
        <p:nvSpPr>
          <p:cNvPr id="96" name="Shape 93"/>
          <p:cNvSpPr/>
          <p:nvPr/>
        </p:nvSpPr>
        <p:spPr>
          <a:xfrm>
            <a:off x="7752792" y="3620230"/>
            <a:ext cx="2405145" cy="9525"/>
          </a:xfrm>
          <a:prstGeom prst="rect">
            <a:avLst/>
          </a:prstGeom>
          <a:solidFill>
            <a:srgbClr val="D3B9A5"/>
          </a:solidFill>
          <a:ln/>
        </p:spPr>
        <p:txBody>
          <a:bodyPr/>
          <a:lstStyle/>
          <a:p>
            <a:endParaRPr lang="ko-KR" altLang="en-US"/>
          </a:p>
        </p:txBody>
      </p:sp>
      <p:sp>
        <p:nvSpPr>
          <p:cNvPr id="97" name="Shape 94"/>
          <p:cNvSpPr/>
          <p:nvPr/>
        </p:nvSpPr>
        <p:spPr>
          <a:xfrm>
            <a:off x="7752792" y="3620230"/>
            <a:ext cx="9525" cy="341962"/>
          </a:xfrm>
          <a:prstGeom prst="rect">
            <a:avLst/>
          </a:prstGeom>
          <a:solidFill>
            <a:srgbClr val="D3B9A5"/>
          </a:solidFill>
          <a:ln/>
        </p:spPr>
        <p:txBody>
          <a:bodyPr/>
          <a:lstStyle/>
          <a:p>
            <a:endParaRPr lang="ko-KR" altLang="en-US"/>
          </a:p>
        </p:txBody>
      </p:sp>
      <p:sp>
        <p:nvSpPr>
          <p:cNvPr id="98" name="Text 95"/>
          <p:cNvSpPr/>
          <p:nvPr/>
        </p:nvSpPr>
        <p:spPr>
          <a:xfrm>
            <a:off x="7777059" y="3654023"/>
            <a:ext cx="236182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87.8%</a:t>
            </a:r>
            <a:endParaRPr lang="en-US" sz="1125" dirty="0"/>
          </a:p>
        </p:txBody>
      </p:sp>
      <p:sp>
        <p:nvSpPr>
          <p:cNvPr id="99" name="Shape 96"/>
          <p:cNvSpPr/>
          <p:nvPr/>
        </p:nvSpPr>
        <p:spPr>
          <a:xfrm>
            <a:off x="1740948" y="3962192"/>
            <a:ext cx="1202369" cy="341962"/>
          </a:xfrm>
          <a:prstGeom prst="rect">
            <a:avLst/>
          </a:prstGeom>
          <a:solidFill>
            <a:srgbClr val="FCF4EE"/>
          </a:solidFill>
          <a:ln/>
        </p:spPr>
        <p:txBody>
          <a:bodyPr/>
          <a:lstStyle/>
          <a:p>
            <a:endParaRPr lang="ko-KR" altLang="en-US"/>
          </a:p>
        </p:txBody>
      </p:sp>
      <p:sp>
        <p:nvSpPr>
          <p:cNvPr id="100" name="Shape 97"/>
          <p:cNvSpPr/>
          <p:nvPr/>
        </p:nvSpPr>
        <p:spPr>
          <a:xfrm>
            <a:off x="1740948" y="3962192"/>
            <a:ext cx="1202369" cy="9525"/>
          </a:xfrm>
          <a:prstGeom prst="rect">
            <a:avLst/>
          </a:prstGeom>
          <a:solidFill>
            <a:srgbClr val="D3B9A5"/>
          </a:solidFill>
          <a:ln/>
        </p:spPr>
        <p:txBody>
          <a:bodyPr/>
          <a:lstStyle/>
          <a:p>
            <a:endParaRPr lang="ko-KR" altLang="en-US"/>
          </a:p>
        </p:txBody>
      </p:sp>
      <p:sp>
        <p:nvSpPr>
          <p:cNvPr id="101" name="Shape 98"/>
          <p:cNvSpPr/>
          <p:nvPr/>
        </p:nvSpPr>
        <p:spPr>
          <a:xfrm>
            <a:off x="1740948" y="3962192"/>
            <a:ext cx="9525" cy="341962"/>
          </a:xfrm>
          <a:prstGeom prst="rect">
            <a:avLst/>
          </a:prstGeom>
          <a:solidFill>
            <a:srgbClr val="D3B9A5"/>
          </a:solidFill>
          <a:ln/>
        </p:spPr>
        <p:txBody>
          <a:bodyPr/>
          <a:lstStyle/>
          <a:p>
            <a:endParaRPr lang="ko-KR" altLang="en-US"/>
          </a:p>
        </p:txBody>
      </p:sp>
      <p:sp>
        <p:nvSpPr>
          <p:cNvPr id="102" name="Text 99"/>
          <p:cNvSpPr/>
          <p:nvPr/>
        </p:nvSpPr>
        <p:spPr>
          <a:xfrm>
            <a:off x="1765215" y="3995984"/>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10년차</a:t>
            </a:r>
            <a:endParaRPr lang="en-US" sz="1125" dirty="0"/>
          </a:p>
        </p:txBody>
      </p:sp>
      <p:sp>
        <p:nvSpPr>
          <p:cNvPr id="103" name="Shape 100"/>
          <p:cNvSpPr/>
          <p:nvPr/>
        </p:nvSpPr>
        <p:spPr>
          <a:xfrm>
            <a:off x="2943317" y="3962192"/>
            <a:ext cx="2404738" cy="341962"/>
          </a:xfrm>
          <a:prstGeom prst="rect">
            <a:avLst/>
          </a:prstGeom>
          <a:solidFill>
            <a:srgbClr val="F8E1D0"/>
          </a:solidFill>
          <a:ln/>
        </p:spPr>
        <p:txBody>
          <a:bodyPr/>
          <a:lstStyle/>
          <a:p>
            <a:endParaRPr lang="ko-KR" altLang="en-US"/>
          </a:p>
        </p:txBody>
      </p:sp>
      <p:sp>
        <p:nvSpPr>
          <p:cNvPr id="104" name="Shape 101"/>
          <p:cNvSpPr/>
          <p:nvPr/>
        </p:nvSpPr>
        <p:spPr>
          <a:xfrm>
            <a:off x="2943317" y="3962192"/>
            <a:ext cx="2404738" cy="9525"/>
          </a:xfrm>
          <a:prstGeom prst="rect">
            <a:avLst/>
          </a:prstGeom>
          <a:solidFill>
            <a:srgbClr val="D3B9A5"/>
          </a:solidFill>
          <a:ln/>
        </p:spPr>
        <p:txBody>
          <a:bodyPr/>
          <a:lstStyle/>
          <a:p>
            <a:endParaRPr lang="ko-KR" altLang="en-US"/>
          </a:p>
        </p:txBody>
      </p:sp>
      <p:sp>
        <p:nvSpPr>
          <p:cNvPr id="105" name="Shape 102"/>
          <p:cNvSpPr/>
          <p:nvPr/>
        </p:nvSpPr>
        <p:spPr>
          <a:xfrm>
            <a:off x="2943317" y="3962192"/>
            <a:ext cx="9525" cy="341962"/>
          </a:xfrm>
          <a:prstGeom prst="rect">
            <a:avLst/>
          </a:prstGeom>
          <a:solidFill>
            <a:srgbClr val="D3B9A5"/>
          </a:solidFill>
          <a:ln/>
        </p:spPr>
        <p:txBody>
          <a:bodyPr/>
          <a:lstStyle/>
          <a:p>
            <a:endParaRPr lang="ko-KR" altLang="en-US"/>
          </a:p>
        </p:txBody>
      </p:sp>
      <p:sp>
        <p:nvSpPr>
          <p:cNvPr id="106" name="Text 103"/>
          <p:cNvSpPr/>
          <p:nvPr/>
        </p:nvSpPr>
        <p:spPr>
          <a:xfrm>
            <a:off x="2967584" y="3995984"/>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66.7%</a:t>
            </a:r>
            <a:endParaRPr lang="en-US" sz="1125" dirty="0"/>
          </a:p>
        </p:txBody>
      </p:sp>
      <p:sp>
        <p:nvSpPr>
          <p:cNvPr id="107" name="Shape 104"/>
          <p:cNvSpPr/>
          <p:nvPr/>
        </p:nvSpPr>
        <p:spPr>
          <a:xfrm>
            <a:off x="5348054" y="3962192"/>
            <a:ext cx="2404738" cy="341962"/>
          </a:xfrm>
          <a:prstGeom prst="rect">
            <a:avLst/>
          </a:prstGeom>
          <a:solidFill>
            <a:srgbClr val="FFFFFF"/>
          </a:solidFill>
          <a:ln/>
        </p:spPr>
        <p:txBody>
          <a:bodyPr/>
          <a:lstStyle/>
          <a:p>
            <a:endParaRPr lang="ko-KR" altLang="en-US"/>
          </a:p>
        </p:txBody>
      </p:sp>
      <p:sp>
        <p:nvSpPr>
          <p:cNvPr id="108" name="Shape 105"/>
          <p:cNvSpPr/>
          <p:nvPr/>
        </p:nvSpPr>
        <p:spPr>
          <a:xfrm>
            <a:off x="5348054" y="3962192"/>
            <a:ext cx="2404738" cy="9525"/>
          </a:xfrm>
          <a:prstGeom prst="rect">
            <a:avLst/>
          </a:prstGeom>
          <a:solidFill>
            <a:srgbClr val="D3B9A5"/>
          </a:solidFill>
          <a:ln/>
        </p:spPr>
        <p:txBody>
          <a:bodyPr/>
          <a:lstStyle/>
          <a:p>
            <a:endParaRPr lang="ko-KR" altLang="en-US"/>
          </a:p>
        </p:txBody>
      </p:sp>
      <p:sp>
        <p:nvSpPr>
          <p:cNvPr id="109" name="Shape 106"/>
          <p:cNvSpPr/>
          <p:nvPr/>
        </p:nvSpPr>
        <p:spPr>
          <a:xfrm>
            <a:off x="5348054" y="3962192"/>
            <a:ext cx="9525" cy="341962"/>
          </a:xfrm>
          <a:prstGeom prst="rect">
            <a:avLst/>
          </a:prstGeom>
          <a:solidFill>
            <a:srgbClr val="D3B9A5"/>
          </a:solidFill>
          <a:ln/>
        </p:spPr>
        <p:txBody>
          <a:bodyPr/>
          <a:lstStyle/>
          <a:p>
            <a:endParaRPr lang="ko-KR" altLang="en-US"/>
          </a:p>
        </p:txBody>
      </p:sp>
      <p:sp>
        <p:nvSpPr>
          <p:cNvPr id="110" name="Text 107"/>
          <p:cNvSpPr/>
          <p:nvPr/>
        </p:nvSpPr>
        <p:spPr>
          <a:xfrm>
            <a:off x="5372321" y="3995984"/>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66.6%</a:t>
            </a:r>
            <a:endParaRPr lang="en-US" sz="1125" dirty="0"/>
          </a:p>
        </p:txBody>
      </p:sp>
      <p:sp>
        <p:nvSpPr>
          <p:cNvPr id="111" name="Shape 108"/>
          <p:cNvSpPr/>
          <p:nvPr/>
        </p:nvSpPr>
        <p:spPr>
          <a:xfrm>
            <a:off x="7752792" y="3962192"/>
            <a:ext cx="2405145" cy="341962"/>
          </a:xfrm>
          <a:prstGeom prst="rect">
            <a:avLst/>
          </a:prstGeom>
          <a:solidFill>
            <a:srgbClr val="FFFFFF"/>
          </a:solidFill>
          <a:ln/>
        </p:spPr>
        <p:txBody>
          <a:bodyPr/>
          <a:lstStyle/>
          <a:p>
            <a:endParaRPr lang="ko-KR" altLang="en-US"/>
          </a:p>
        </p:txBody>
      </p:sp>
      <p:sp>
        <p:nvSpPr>
          <p:cNvPr id="112" name="Shape 109"/>
          <p:cNvSpPr/>
          <p:nvPr/>
        </p:nvSpPr>
        <p:spPr>
          <a:xfrm>
            <a:off x="7752792" y="3962192"/>
            <a:ext cx="2405145" cy="9525"/>
          </a:xfrm>
          <a:prstGeom prst="rect">
            <a:avLst/>
          </a:prstGeom>
          <a:solidFill>
            <a:srgbClr val="D3B9A5"/>
          </a:solidFill>
          <a:ln/>
        </p:spPr>
        <p:txBody>
          <a:bodyPr/>
          <a:lstStyle/>
          <a:p>
            <a:endParaRPr lang="ko-KR" altLang="en-US"/>
          </a:p>
        </p:txBody>
      </p:sp>
      <p:sp>
        <p:nvSpPr>
          <p:cNvPr id="113" name="Shape 110"/>
          <p:cNvSpPr/>
          <p:nvPr/>
        </p:nvSpPr>
        <p:spPr>
          <a:xfrm>
            <a:off x="7752792" y="3962192"/>
            <a:ext cx="9525" cy="341962"/>
          </a:xfrm>
          <a:prstGeom prst="rect">
            <a:avLst/>
          </a:prstGeom>
          <a:solidFill>
            <a:srgbClr val="D3B9A5"/>
          </a:solidFill>
          <a:ln/>
        </p:spPr>
        <p:txBody>
          <a:bodyPr/>
          <a:lstStyle/>
          <a:p>
            <a:endParaRPr lang="ko-KR" altLang="en-US"/>
          </a:p>
        </p:txBody>
      </p:sp>
      <p:sp>
        <p:nvSpPr>
          <p:cNvPr id="114" name="Text 111"/>
          <p:cNvSpPr/>
          <p:nvPr/>
        </p:nvSpPr>
        <p:spPr>
          <a:xfrm>
            <a:off x="7777059" y="3995984"/>
            <a:ext cx="236182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83.8%</a:t>
            </a:r>
            <a:endParaRPr lang="en-US" sz="1125" dirty="0"/>
          </a:p>
        </p:txBody>
      </p:sp>
      <p:sp>
        <p:nvSpPr>
          <p:cNvPr id="115" name="Shape 112"/>
          <p:cNvSpPr/>
          <p:nvPr/>
        </p:nvSpPr>
        <p:spPr>
          <a:xfrm>
            <a:off x="1740948" y="4304154"/>
            <a:ext cx="1202369" cy="341962"/>
          </a:xfrm>
          <a:prstGeom prst="rect">
            <a:avLst/>
          </a:prstGeom>
          <a:solidFill>
            <a:srgbClr val="FCF4EE"/>
          </a:solidFill>
          <a:ln/>
        </p:spPr>
        <p:txBody>
          <a:bodyPr/>
          <a:lstStyle/>
          <a:p>
            <a:endParaRPr lang="ko-KR" altLang="en-US"/>
          </a:p>
        </p:txBody>
      </p:sp>
      <p:sp>
        <p:nvSpPr>
          <p:cNvPr id="116" name="Shape 113"/>
          <p:cNvSpPr/>
          <p:nvPr/>
        </p:nvSpPr>
        <p:spPr>
          <a:xfrm>
            <a:off x="1740948" y="4304154"/>
            <a:ext cx="1202369" cy="9525"/>
          </a:xfrm>
          <a:prstGeom prst="rect">
            <a:avLst/>
          </a:prstGeom>
          <a:solidFill>
            <a:srgbClr val="D3B9A5"/>
          </a:solidFill>
          <a:ln/>
        </p:spPr>
        <p:txBody>
          <a:bodyPr/>
          <a:lstStyle/>
          <a:p>
            <a:endParaRPr lang="ko-KR" altLang="en-US"/>
          </a:p>
        </p:txBody>
      </p:sp>
      <p:sp>
        <p:nvSpPr>
          <p:cNvPr id="117" name="Shape 114"/>
          <p:cNvSpPr/>
          <p:nvPr/>
        </p:nvSpPr>
        <p:spPr>
          <a:xfrm>
            <a:off x="1740948" y="4304154"/>
            <a:ext cx="9525" cy="341962"/>
          </a:xfrm>
          <a:prstGeom prst="rect">
            <a:avLst/>
          </a:prstGeom>
          <a:solidFill>
            <a:srgbClr val="D3B9A5"/>
          </a:solidFill>
          <a:ln/>
        </p:spPr>
        <p:txBody>
          <a:bodyPr/>
          <a:lstStyle/>
          <a:p>
            <a:endParaRPr lang="ko-KR" altLang="en-US"/>
          </a:p>
        </p:txBody>
      </p:sp>
      <p:sp>
        <p:nvSpPr>
          <p:cNvPr id="118" name="Text 115"/>
          <p:cNvSpPr/>
          <p:nvPr/>
        </p:nvSpPr>
        <p:spPr>
          <a:xfrm>
            <a:off x="1765215" y="4337946"/>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20년차</a:t>
            </a:r>
            <a:endParaRPr lang="en-US" sz="1125" dirty="0"/>
          </a:p>
        </p:txBody>
      </p:sp>
      <p:sp>
        <p:nvSpPr>
          <p:cNvPr id="119" name="Shape 116"/>
          <p:cNvSpPr/>
          <p:nvPr/>
        </p:nvSpPr>
        <p:spPr>
          <a:xfrm>
            <a:off x="2943317" y="4304154"/>
            <a:ext cx="2404738" cy="341962"/>
          </a:xfrm>
          <a:prstGeom prst="rect">
            <a:avLst/>
          </a:prstGeom>
          <a:solidFill>
            <a:srgbClr val="F8E1D0"/>
          </a:solidFill>
          <a:ln/>
        </p:spPr>
        <p:txBody>
          <a:bodyPr/>
          <a:lstStyle/>
          <a:p>
            <a:endParaRPr lang="ko-KR" altLang="en-US"/>
          </a:p>
        </p:txBody>
      </p:sp>
      <p:sp>
        <p:nvSpPr>
          <p:cNvPr id="120" name="Shape 117"/>
          <p:cNvSpPr/>
          <p:nvPr/>
        </p:nvSpPr>
        <p:spPr>
          <a:xfrm>
            <a:off x="2943317" y="4304154"/>
            <a:ext cx="2404738" cy="9525"/>
          </a:xfrm>
          <a:prstGeom prst="rect">
            <a:avLst/>
          </a:prstGeom>
          <a:solidFill>
            <a:srgbClr val="D3B9A5"/>
          </a:solidFill>
          <a:ln/>
        </p:spPr>
        <p:txBody>
          <a:bodyPr/>
          <a:lstStyle/>
          <a:p>
            <a:endParaRPr lang="ko-KR" altLang="en-US"/>
          </a:p>
        </p:txBody>
      </p:sp>
      <p:sp>
        <p:nvSpPr>
          <p:cNvPr id="121" name="Shape 118"/>
          <p:cNvSpPr/>
          <p:nvPr/>
        </p:nvSpPr>
        <p:spPr>
          <a:xfrm>
            <a:off x="2943317" y="4304154"/>
            <a:ext cx="9525" cy="341962"/>
          </a:xfrm>
          <a:prstGeom prst="rect">
            <a:avLst/>
          </a:prstGeom>
          <a:solidFill>
            <a:srgbClr val="D3B9A5"/>
          </a:solidFill>
          <a:ln/>
        </p:spPr>
        <p:txBody>
          <a:bodyPr/>
          <a:lstStyle/>
          <a:p>
            <a:endParaRPr lang="ko-KR" altLang="en-US"/>
          </a:p>
        </p:txBody>
      </p:sp>
      <p:sp>
        <p:nvSpPr>
          <p:cNvPr id="122" name="Text 119"/>
          <p:cNvSpPr/>
          <p:nvPr/>
        </p:nvSpPr>
        <p:spPr>
          <a:xfrm>
            <a:off x="2967584" y="4337946"/>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63.6%</a:t>
            </a:r>
            <a:endParaRPr lang="en-US" sz="1125" dirty="0"/>
          </a:p>
        </p:txBody>
      </p:sp>
      <p:sp>
        <p:nvSpPr>
          <p:cNvPr id="123" name="Shape 120"/>
          <p:cNvSpPr/>
          <p:nvPr/>
        </p:nvSpPr>
        <p:spPr>
          <a:xfrm>
            <a:off x="5348054" y="4304154"/>
            <a:ext cx="2404738" cy="341962"/>
          </a:xfrm>
          <a:prstGeom prst="rect">
            <a:avLst/>
          </a:prstGeom>
          <a:solidFill>
            <a:srgbClr val="FFFFFF"/>
          </a:solidFill>
          <a:ln/>
        </p:spPr>
        <p:txBody>
          <a:bodyPr/>
          <a:lstStyle/>
          <a:p>
            <a:endParaRPr lang="ko-KR" altLang="en-US"/>
          </a:p>
        </p:txBody>
      </p:sp>
      <p:sp>
        <p:nvSpPr>
          <p:cNvPr id="124" name="Shape 121"/>
          <p:cNvSpPr/>
          <p:nvPr/>
        </p:nvSpPr>
        <p:spPr>
          <a:xfrm>
            <a:off x="5348054" y="4304154"/>
            <a:ext cx="2404738" cy="9525"/>
          </a:xfrm>
          <a:prstGeom prst="rect">
            <a:avLst/>
          </a:prstGeom>
          <a:solidFill>
            <a:srgbClr val="D3B9A5"/>
          </a:solidFill>
          <a:ln/>
        </p:spPr>
        <p:txBody>
          <a:bodyPr/>
          <a:lstStyle/>
          <a:p>
            <a:endParaRPr lang="ko-KR" altLang="en-US"/>
          </a:p>
        </p:txBody>
      </p:sp>
      <p:sp>
        <p:nvSpPr>
          <p:cNvPr id="125" name="Shape 122"/>
          <p:cNvSpPr/>
          <p:nvPr/>
        </p:nvSpPr>
        <p:spPr>
          <a:xfrm>
            <a:off x="5348054" y="4304154"/>
            <a:ext cx="9525" cy="341962"/>
          </a:xfrm>
          <a:prstGeom prst="rect">
            <a:avLst/>
          </a:prstGeom>
          <a:solidFill>
            <a:srgbClr val="D3B9A5"/>
          </a:solidFill>
          <a:ln/>
        </p:spPr>
        <p:txBody>
          <a:bodyPr/>
          <a:lstStyle/>
          <a:p>
            <a:endParaRPr lang="ko-KR" altLang="en-US"/>
          </a:p>
        </p:txBody>
      </p:sp>
      <p:sp>
        <p:nvSpPr>
          <p:cNvPr id="126" name="Text 123"/>
          <p:cNvSpPr/>
          <p:nvPr/>
        </p:nvSpPr>
        <p:spPr>
          <a:xfrm>
            <a:off x="5372321" y="4337946"/>
            <a:ext cx="2361420"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56.0%</a:t>
            </a:r>
            <a:endParaRPr lang="en-US" sz="1125" dirty="0"/>
          </a:p>
        </p:txBody>
      </p:sp>
      <p:sp>
        <p:nvSpPr>
          <p:cNvPr id="127" name="Shape 124"/>
          <p:cNvSpPr/>
          <p:nvPr/>
        </p:nvSpPr>
        <p:spPr>
          <a:xfrm>
            <a:off x="7752792" y="4304154"/>
            <a:ext cx="2405145" cy="341962"/>
          </a:xfrm>
          <a:prstGeom prst="rect">
            <a:avLst/>
          </a:prstGeom>
          <a:solidFill>
            <a:srgbClr val="FFFFFF"/>
          </a:solidFill>
          <a:ln/>
        </p:spPr>
        <p:txBody>
          <a:bodyPr/>
          <a:lstStyle/>
          <a:p>
            <a:endParaRPr lang="ko-KR" altLang="en-US"/>
          </a:p>
        </p:txBody>
      </p:sp>
      <p:sp>
        <p:nvSpPr>
          <p:cNvPr id="128" name="Shape 125"/>
          <p:cNvSpPr/>
          <p:nvPr/>
        </p:nvSpPr>
        <p:spPr>
          <a:xfrm>
            <a:off x="7752792" y="4304154"/>
            <a:ext cx="2405145" cy="9525"/>
          </a:xfrm>
          <a:prstGeom prst="rect">
            <a:avLst/>
          </a:prstGeom>
          <a:solidFill>
            <a:srgbClr val="D3B9A5"/>
          </a:solidFill>
          <a:ln/>
        </p:spPr>
        <p:txBody>
          <a:bodyPr/>
          <a:lstStyle/>
          <a:p>
            <a:endParaRPr lang="ko-KR" altLang="en-US"/>
          </a:p>
        </p:txBody>
      </p:sp>
      <p:sp>
        <p:nvSpPr>
          <p:cNvPr id="129" name="Shape 126"/>
          <p:cNvSpPr/>
          <p:nvPr/>
        </p:nvSpPr>
        <p:spPr>
          <a:xfrm>
            <a:off x="7752792" y="4304154"/>
            <a:ext cx="9525" cy="341962"/>
          </a:xfrm>
          <a:prstGeom prst="rect">
            <a:avLst/>
          </a:prstGeom>
          <a:solidFill>
            <a:srgbClr val="D3B9A5"/>
          </a:solidFill>
          <a:ln/>
        </p:spPr>
        <p:txBody>
          <a:bodyPr/>
          <a:lstStyle/>
          <a:p>
            <a:endParaRPr lang="ko-KR" altLang="en-US"/>
          </a:p>
        </p:txBody>
      </p:sp>
      <p:sp>
        <p:nvSpPr>
          <p:cNvPr id="130" name="Text 127"/>
          <p:cNvSpPr/>
          <p:nvPr/>
        </p:nvSpPr>
        <p:spPr>
          <a:xfrm>
            <a:off x="7777059" y="4337946"/>
            <a:ext cx="236182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69.6%</a:t>
            </a:r>
            <a:endParaRPr lang="en-US" sz="1125" dirty="0"/>
          </a:p>
        </p:txBody>
      </p:sp>
      <p:sp>
        <p:nvSpPr>
          <p:cNvPr id="131" name="Shape 128"/>
          <p:cNvSpPr/>
          <p:nvPr/>
        </p:nvSpPr>
        <p:spPr>
          <a:xfrm>
            <a:off x="538580" y="4646116"/>
            <a:ext cx="2404738" cy="599065"/>
          </a:xfrm>
          <a:prstGeom prst="rect">
            <a:avLst/>
          </a:prstGeom>
          <a:solidFill>
            <a:srgbClr val="FCF4EE"/>
          </a:solidFill>
          <a:ln/>
        </p:spPr>
        <p:txBody>
          <a:bodyPr/>
          <a:lstStyle/>
          <a:p>
            <a:endParaRPr lang="ko-KR" altLang="en-US"/>
          </a:p>
        </p:txBody>
      </p:sp>
      <p:sp>
        <p:nvSpPr>
          <p:cNvPr id="132" name="Shape 129"/>
          <p:cNvSpPr/>
          <p:nvPr/>
        </p:nvSpPr>
        <p:spPr>
          <a:xfrm>
            <a:off x="538580" y="4646116"/>
            <a:ext cx="2404738" cy="9525"/>
          </a:xfrm>
          <a:prstGeom prst="rect">
            <a:avLst/>
          </a:prstGeom>
          <a:solidFill>
            <a:srgbClr val="D3B9A5"/>
          </a:solidFill>
          <a:ln/>
        </p:spPr>
        <p:txBody>
          <a:bodyPr/>
          <a:lstStyle/>
          <a:p>
            <a:endParaRPr lang="ko-KR" altLang="en-US"/>
          </a:p>
        </p:txBody>
      </p:sp>
      <p:sp>
        <p:nvSpPr>
          <p:cNvPr id="133" name="Text 130"/>
          <p:cNvSpPr/>
          <p:nvPr/>
        </p:nvSpPr>
        <p:spPr>
          <a:xfrm>
            <a:off x="557630" y="4679908"/>
            <a:ext cx="236663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최저보증이율</a:t>
            </a:r>
            <a:endParaRPr lang="en-US" sz="1125" dirty="0"/>
          </a:p>
        </p:txBody>
      </p:sp>
      <p:sp>
        <p:nvSpPr>
          <p:cNvPr id="134" name="Shape 131"/>
          <p:cNvSpPr/>
          <p:nvPr/>
        </p:nvSpPr>
        <p:spPr>
          <a:xfrm>
            <a:off x="2943317" y="4646116"/>
            <a:ext cx="2404738" cy="599065"/>
          </a:xfrm>
          <a:prstGeom prst="rect">
            <a:avLst/>
          </a:prstGeom>
          <a:solidFill>
            <a:srgbClr val="F8E1D0"/>
          </a:solidFill>
          <a:ln/>
        </p:spPr>
        <p:txBody>
          <a:bodyPr/>
          <a:lstStyle/>
          <a:p>
            <a:endParaRPr lang="ko-KR" altLang="en-US"/>
          </a:p>
        </p:txBody>
      </p:sp>
      <p:sp>
        <p:nvSpPr>
          <p:cNvPr id="135" name="Shape 132"/>
          <p:cNvSpPr/>
          <p:nvPr/>
        </p:nvSpPr>
        <p:spPr>
          <a:xfrm>
            <a:off x="2943317" y="4646116"/>
            <a:ext cx="2404738" cy="9525"/>
          </a:xfrm>
          <a:prstGeom prst="rect">
            <a:avLst/>
          </a:prstGeom>
          <a:solidFill>
            <a:srgbClr val="D3B9A5"/>
          </a:solidFill>
          <a:ln/>
        </p:spPr>
        <p:txBody>
          <a:bodyPr/>
          <a:lstStyle/>
          <a:p>
            <a:endParaRPr lang="ko-KR" altLang="en-US"/>
          </a:p>
        </p:txBody>
      </p:sp>
      <p:sp>
        <p:nvSpPr>
          <p:cNvPr id="136" name="Shape 133"/>
          <p:cNvSpPr/>
          <p:nvPr/>
        </p:nvSpPr>
        <p:spPr>
          <a:xfrm>
            <a:off x="2943317" y="4646116"/>
            <a:ext cx="9525" cy="599065"/>
          </a:xfrm>
          <a:prstGeom prst="rect">
            <a:avLst/>
          </a:prstGeom>
          <a:solidFill>
            <a:srgbClr val="D3B9A5"/>
          </a:solidFill>
          <a:ln/>
        </p:spPr>
        <p:txBody>
          <a:bodyPr/>
          <a:lstStyle/>
          <a:p>
            <a:endParaRPr lang="ko-KR" altLang="en-US"/>
          </a:p>
        </p:txBody>
      </p:sp>
      <p:sp>
        <p:nvSpPr>
          <p:cNvPr id="137" name="Text 134"/>
          <p:cNvSpPr/>
          <p:nvPr/>
        </p:nvSpPr>
        <p:spPr>
          <a:xfrm>
            <a:off x="2967584" y="4679908"/>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가입 후 30년 연단리 7% 30년 이후 연단리 5%</a:t>
            </a:r>
            <a:endParaRPr lang="en-US" sz="1125" dirty="0"/>
          </a:p>
        </p:txBody>
      </p:sp>
      <p:sp>
        <p:nvSpPr>
          <p:cNvPr id="138" name="Shape 135"/>
          <p:cNvSpPr/>
          <p:nvPr/>
        </p:nvSpPr>
        <p:spPr>
          <a:xfrm>
            <a:off x="5348054" y="4646116"/>
            <a:ext cx="2404738" cy="599065"/>
          </a:xfrm>
          <a:prstGeom prst="rect">
            <a:avLst/>
          </a:prstGeom>
          <a:solidFill>
            <a:srgbClr val="FFFFFF"/>
          </a:solidFill>
          <a:ln/>
        </p:spPr>
        <p:txBody>
          <a:bodyPr/>
          <a:lstStyle/>
          <a:p>
            <a:endParaRPr lang="ko-KR" altLang="en-US"/>
          </a:p>
        </p:txBody>
      </p:sp>
      <p:sp>
        <p:nvSpPr>
          <p:cNvPr id="139" name="Shape 136"/>
          <p:cNvSpPr/>
          <p:nvPr/>
        </p:nvSpPr>
        <p:spPr>
          <a:xfrm>
            <a:off x="5348054" y="4646116"/>
            <a:ext cx="2404738" cy="9525"/>
          </a:xfrm>
          <a:prstGeom prst="rect">
            <a:avLst/>
          </a:prstGeom>
          <a:solidFill>
            <a:srgbClr val="D3B9A5"/>
          </a:solidFill>
          <a:ln/>
        </p:spPr>
        <p:txBody>
          <a:bodyPr/>
          <a:lstStyle/>
          <a:p>
            <a:endParaRPr lang="ko-KR" altLang="en-US"/>
          </a:p>
        </p:txBody>
      </p:sp>
      <p:sp>
        <p:nvSpPr>
          <p:cNvPr id="140" name="Shape 137"/>
          <p:cNvSpPr/>
          <p:nvPr/>
        </p:nvSpPr>
        <p:spPr>
          <a:xfrm>
            <a:off x="5348054" y="4646116"/>
            <a:ext cx="9525" cy="599065"/>
          </a:xfrm>
          <a:prstGeom prst="rect">
            <a:avLst/>
          </a:prstGeom>
          <a:solidFill>
            <a:srgbClr val="D3B9A5"/>
          </a:solidFill>
          <a:ln/>
        </p:spPr>
        <p:txBody>
          <a:bodyPr/>
          <a:lstStyle/>
          <a:p>
            <a:endParaRPr lang="ko-KR" altLang="en-US"/>
          </a:p>
        </p:txBody>
      </p:sp>
      <p:sp>
        <p:nvSpPr>
          <p:cNvPr id="141" name="Text 138"/>
          <p:cNvSpPr/>
          <p:nvPr/>
        </p:nvSpPr>
        <p:spPr>
          <a:xfrm>
            <a:off x="5372321" y="4679908"/>
            <a:ext cx="2361420"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가입 후 20년 연단리 7% 20년 이후 연단리 6%</a:t>
            </a:r>
            <a:endParaRPr lang="en-US" sz="1125" dirty="0"/>
          </a:p>
        </p:txBody>
      </p:sp>
      <p:sp>
        <p:nvSpPr>
          <p:cNvPr id="142" name="Shape 139"/>
          <p:cNvSpPr/>
          <p:nvPr/>
        </p:nvSpPr>
        <p:spPr>
          <a:xfrm>
            <a:off x="7752792" y="4646116"/>
            <a:ext cx="2405145" cy="599065"/>
          </a:xfrm>
          <a:prstGeom prst="rect">
            <a:avLst/>
          </a:prstGeom>
          <a:solidFill>
            <a:srgbClr val="FFFFFF"/>
          </a:solidFill>
          <a:ln/>
        </p:spPr>
        <p:txBody>
          <a:bodyPr/>
          <a:lstStyle/>
          <a:p>
            <a:endParaRPr lang="ko-KR" altLang="en-US"/>
          </a:p>
        </p:txBody>
      </p:sp>
      <p:sp>
        <p:nvSpPr>
          <p:cNvPr id="143" name="Shape 140"/>
          <p:cNvSpPr/>
          <p:nvPr/>
        </p:nvSpPr>
        <p:spPr>
          <a:xfrm>
            <a:off x="7752792" y="4646116"/>
            <a:ext cx="2405145" cy="9525"/>
          </a:xfrm>
          <a:prstGeom prst="rect">
            <a:avLst/>
          </a:prstGeom>
          <a:solidFill>
            <a:srgbClr val="D3B9A5"/>
          </a:solidFill>
          <a:ln/>
        </p:spPr>
        <p:txBody>
          <a:bodyPr/>
          <a:lstStyle/>
          <a:p>
            <a:endParaRPr lang="ko-KR" altLang="en-US"/>
          </a:p>
        </p:txBody>
      </p:sp>
      <p:sp>
        <p:nvSpPr>
          <p:cNvPr id="144" name="Shape 141"/>
          <p:cNvSpPr/>
          <p:nvPr/>
        </p:nvSpPr>
        <p:spPr>
          <a:xfrm>
            <a:off x="7752792" y="4646116"/>
            <a:ext cx="9525" cy="599065"/>
          </a:xfrm>
          <a:prstGeom prst="rect">
            <a:avLst/>
          </a:prstGeom>
          <a:solidFill>
            <a:srgbClr val="D3B9A5"/>
          </a:solidFill>
          <a:ln/>
        </p:spPr>
        <p:txBody>
          <a:bodyPr/>
          <a:lstStyle/>
          <a:p>
            <a:endParaRPr lang="ko-KR" altLang="en-US"/>
          </a:p>
        </p:txBody>
      </p:sp>
      <p:sp>
        <p:nvSpPr>
          <p:cNvPr id="145" name="Text 142"/>
          <p:cNvSpPr/>
          <p:nvPr/>
        </p:nvSpPr>
        <p:spPr>
          <a:xfrm>
            <a:off x="7777059" y="4679908"/>
            <a:ext cx="2361828" cy="574798"/>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가입 후 20년 연단리 8% 20년 이후 연단리 5%</a:t>
            </a:r>
            <a:endParaRPr lang="en-US" sz="1125" dirty="0"/>
          </a:p>
        </p:txBody>
      </p:sp>
      <p:sp>
        <p:nvSpPr>
          <p:cNvPr id="146" name="Shape 143"/>
          <p:cNvSpPr/>
          <p:nvPr/>
        </p:nvSpPr>
        <p:spPr>
          <a:xfrm>
            <a:off x="538580" y="5245181"/>
            <a:ext cx="2404738" cy="341962"/>
          </a:xfrm>
          <a:prstGeom prst="rect">
            <a:avLst/>
          </a:prstGeom>
          <a:solidFill>
            <a:srgbClr val="FCF4EE"/>
          </a:solidFill>
          <a:ln/>
        </p:spPr>
        <p:txBody>
          <a:bodyPr/>
          <a:lstStyle/>
          <a:p>
            <a:endParaRPr lang="ko-KR" altLang="en-US"/>
          </a:p>
        </p:txBody>
      </p:sp>
      <p:sp>
        <p:nvSpPr>
          <p:cNvPr id="147" name="Shape 144"/>
          <p:cNvSpPr/>
          <p:nvPr/>
        </p:nvSpPr>
        <p:spPr>
          <a:xfrm>
            <a:off x="538580" y="5245181"/>
            <a:ext cx="2404738" cy="9525"/>
          </a:xfrm>
          <a:prstGeom prst="rect">
            <a:avLst/>
          </a:prstGeom>
          <a:solidFill>
            <a:srgbClr val="D3B9A5"/>
          </a:solidFill>
          <a:ln/>
        </p:spPr>
        <p:txBody>
          <a:bodyPr/>
          <a:lstStyle/>
          <a:p>
            <a:endParaRPr lang="ko-KR" altLang="en-US"/>
          </a:p>
        </p:txBody>
      </p:sp>
      <p:sp>
        <p:nvSpPr>
          <p:cNvPr id="148" name="Text 145"/>
          <p:cNvSpPr/>
          <p:nvPr/>
        </p:nvSpPr>
        <p:spPr>
          <a:xfrm>
            <a:off x="557630" y="5278973"/>
            <a:ext cx="236663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평생보증 연금액</a:t>
            </a:r>
            <a:endParaRPr lang="en-US" sz="1125" dirty="0"/>
          </a:p>
        </p:txBody>
      </p:sp>
      <p:sp>
        <p:nvSpPr>
          <p:cNvPr id="149" name="Shape 146"/>
          <p:cNvSpPr/>
          <p:nvPr/>
        </p:nvSpPr>
        <p:spPr>
          <a:xfrm>
            <a:off x="2943317" y="5245181"/>
            <a:ext cx="1202369" cy="341962"/>
          </a:xfrm>
          <a:prstGeom prst="rect">
            <a:avLst/>
          </a:prstGeom>
          <a:solidFill>
            <a:srgbClr val="F8E1D0"/>
          </a:solidFill>
          <a:ln/>
        </p:spPr>
        <p:txBody>
          <a:bodyPr/>
          <a:lstStyle/>
          <a:p>
            <a:endParaRPr lang="ko-KR" altLang="en-US"/>
          </a:p>
        </p:txBody>
      </p:sp>
      <p:sp>
        <p:nvSpPr>
          <p:cNvPr id="150" name="Shape 147"/>
          <p:cNvSpPr/>
          <p:nvPr/>
        </p:nvSpPr>
        <p:spPr>
          <a:xfrm>
            <a:off x="2943317" y="5245181"/>
            <a:ext cx="1202369" cy="9525"/>
          </a:xfrm>
          <a:prstGeom prst="rect">
            <a:avLst/>
          </a:prstGeom>
          <a:solidFill>
            <a:srgbClr val="D3B9A5"/>
          </a:solidFill>
          <a:ln/>
        </p:spPr>
        <p:txBody>
          <a:bodyPr/>
          <a:lstStyle/>
          <a:p>
            <a:endParaRPr lang="ko-KR" altLang="en-US"/>
          </a:p>
        </p:txBody>
      </p:sp>
      <p:sp>
        <p:nvSpPr>
          <p:cNvPr id="151" name="Shape 148"/>
          <p:cNvSpPr/>
          <p:nvPr/>
        </p:nvSpPr>
        <p:spPr>
          <a:xfrm>
            <a:off x="2943317" y="5245181"/>
            <a:ext cx="9525" cy="341962"/>
          </a:xfrm>
          <a:prstGeom prst="rect">
            <a:avLst/>
          </a:prstGeom>
          <a:solidFill>
            <a:srgbClr val="D3B9A5"/>
          </a:solidFill>
          <a:ln/>
        </p:spPr>
        <p:txBody>
          <a:bodyPr/>
          <a:lstStyle/>
          <a:p>
            <a:endParaRPr lang="ko-KR" altLang="en-US"/>
          </a:p>
        </p:txBody>
      </p:sp>
      <p:sp>
        <p:nvSpPr>
          <p:cNvPr id="152" name="Text 149"/>
          <p:cNvSpPr/>
          <p:nvPr/>
        </p:nvSpPr>
        <p:spPr>
          <a:xfrm>
            <a:off x="2967584" y="527897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남성</a:t>
            </a:r>
            <a:endParaRPr lang="en-US" sz="1125" dirty="0"/>
          </a:p>
        </p:txBody>
      </p:sp>
      <p:sp>
        <p:nvSpPr>
          <p:cNvPr id="153" name="Shape 150"/>
          <p:cNvSpPr/>
          <p:nvPr/>
        </p:nvSpPr>
        <p:spPr>
          <a:xfrm>
            <a:off x="4145686" y="5245181"/>
            <a:ext cx="1202369" cy="341962"/>
          </a:xfrm>
          <a:prstGeom prst="rect">
            <a:avLst/>
          </a:prstGeom>
          <a:solidFill>
            <a:srgbClr val="F8E1D0"/>
          </a:solidFill>
          <a:ln/>
        </p:spPr>
        <p:txBody>
          <a:bodyPr/>
          <a:lstStyle/>
          <a:p>
            <a:endParaRPr lang="ko-KR" altLang="en-US"/>
          </a:p>
        </p:txBody>
      </p:sp>
      <p:sp>
        <p:nvSpPr>
          <p:cNvPr id="154" name="Shape 151"/>
          <p:cNvSpPr/>
          <p:nvPr/>
        </p:nvSpPr>
        <p:spPr>
          <a:xfrm>
            <a:off x="4145686" y="5245181"/>
            <a:ext cx="1202369" cy="9525"/>
          </a:xfrm>
          <a:prstGeom prst="rect">
            <a:avLst/>
          </a:prstGeom>
          <a:solidFill>
            <a:srgbClr val="D3B9A5"/>
          </a:solidFill>
          <a:ln/>
        </p:spPr>
        <p:txBody>
          <a:bodyPr/>
          <a:lstStyle/>
          <a:p>
            <a:endParaRPr lang="ko-KR" altLang="en-US"/>
          </a:p>
        </p:txBody>
      </p:sp>
      <p:sp>
        <p:nvSpPr>
          <p:cNvPr id="155" name="Shape 152"/>
          <p:cNvSpPr/>
          <p:nvPr/>
        </p:nvSpPr>
        <p:spPr>
          <a:xfrm>
            <a:off x="4145686" y="5245181"/>
            <a:ext cx="9525" cy="341962"/>
          </a:xfrm>
          <a:prstGeom prst="rect">
            <a:avLst/>
          </a:prstGeom>
          <a:solidFill>
            <a:srgbClr val="D3B9A5"/>
          </a:solidFill>
          <a:ln/>
        </p:spPr>
        <p:txBody>
          <a:bodyPr/>
          <a:lstStyle/>
          <a:p>
            <a:endParaRPr lang="ko-KR" altLang="en-US"/>
          </a:p>
        </p:txBody>
      </p:sp>
      <p:sp>
        <p:nvSpPr>
          <p:cNvPr id="156" name="Text 153"/>
          <p:cNvSpPr/>
          <p:nvPr/>
        </p:nvSpPr>
        <p:spPr>
          <a:xfrm>
            <a:off x="4169953" y="527897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여성</a:t>
            </a:r>
            <a:endParaRPr lang="en-US" sz="1125" dirty="0"/>
          </a:p>
        </p:txBody>
      </p:sp>
      <p:sp>
        <p:nvSpPr>
          <p:cNvPr id="157" name="Shape 154"/>
          <p:cNvSpPr/>
          <p:nvPr/>
        </p:nvSpPr>
        <p:spPr>
          <a:xfrm>
            <a:off x="5348054" y="5245181"/>
            <a:ext cx="1202369" cy="341962"/>
          </a:xfrm>
          <a:prstGeom prst="rect">
            <a:avLst/>
          </a:prstGeom>
          <a:solidFill>
            <a:srgbClr val="FFFFFF"/>
          </a:solidFill>
          <a:ln/>
        </p:spPr>
        <p:txBody>
          <a:bodyPr/>
          <a:lstStyle/>
          <a:p>
            <a:endParaRPr lang="ko-KR" altLang="en-US"/>
          </a:p>
        </p:txBody>
      </p:sp>
      <p:sp>
        <p:nvSpPr>
          <p:cNvPr id="158" name="Shape 155"/>
          <p:cNvSpPr/>
          <p:nvPr/>
        </p:nvSpPr>
        <p:spPr>
          <a:xfrm>
            <a:off x="5348054" y="5245181"/>
            <a:ext cx="1202369" cy="9525"/>
          </a:xfrm>
          <a:prstGeom prst="rect">
            <a:avLst/>
          </a:prstGeom>
          <a:solidFill>
            <a:srgbClr val="D3B9A5"/>
          </a:solidFill>
          <a:ln/>
        </p:spPr>
        <p:txBody>
          <a:bodyPr/>
          <a:lstStyle/>
          <a:p>
            <a:endParaRPr lang="ko-KR" altLang="en-US"/>
          </a:p>
        </p:txBody>
      </p:sp>
      <p:sp>
        <p:nvSpPr>
          <p:cNvPr id="159" name="Shape 156"/>
          <p:cNvSpPr/>
          <p:nvPr/>
        </p:nvSpPr>
        <p:spPr>
          <a:xfrm>
            <a:off x="5348054" y="5245181"/>
            <a:ext cx="9525" cy="341962"/>
          </a:xfrm>
          <a:prstGeom prst="rect">
            <a:avLst/>
          </a:prstGeom>
          <a:solidFill>
            <a:srgbClr val="D3B9A5"/>
          </a:solidFill>
          <a:ln/>
        </p:spPr>
        <p:txBody>
          <a:bodyPr/>
          <a:lstStyle/>
          <a:p>
            <a:endParaRPr lang="ko-KR" altLang="en-US"/>
          </a:p>
        </p:txBody>
      </p:sp>
      <p:sp>
        <p:nvSpPr>
          <p:cNvPr id="160" name="Text 157"/>
          <p:cNvSpPr/>
          <p:nvPr/>
        </p:nvSpPr>
        <p:spPr>
          <a:xfrm>
            <a:off x="5372321" y="527897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남성</a:t>
            </a:r>
            <a:endParaRPr lang="en-US" sz="1125" dirty="0"/>
          </a:p>
        </p:txBody>
      </p:sp>
      <p:sp>
        <p:nvSpPr>
          <p:cNvPr id="161" name="Shape 158"/>
          <p:cNvSpPr/>
          <p:nvPr/>
        </p:nvSpPr>
        <p:spPr>
          <a:xfrm>
            <a:off x="6550423" y="5245181"/>
            <a:ext cx="1202369" cy="341962"/>
          </a:xfrm>
          <a:prstGeom prst="rect">
            <a:avLst/>
          </a:prstGeom>
          <a:solidFill>
            <a:srgbClr val="FFFFFF"/>
          </a:solidFill>
          <a:ln/>
        </p:spPr>
        <p:txBody>
          <a:bodyPr/>
          <a:lstStyle/>
          <a:p>
            <a:endParaRPr lang="ko-KR" altLang="en-US"/>
          </a:p>
        </p:txBody>
      </p:sp>
      <p:sp>
        <p:nvSpPr>
          <p:cNvPr id="162" name="Shape 159"/>
          <p:cNvSpPr/>
          <p:nvPr/>
        </p:nvSpPr>
        <p:spPr>
          <a:xfrm>
            <a:off x="6550423" y="5245181"/>
            <a:ext cx="1202369" cy="9525"/>
          </a:xfrm>
          <a:prstGeom prst="rect">
            <a:avLst/>
          </a:prstGeom>
          <a:solidFill>
            <a:srgbClr val="D3B9A5"/>
          </a:solidFill>
          <a:ln/>
        </p:spPr>
        <p:txBody>
          <a:bodyPr/>
          <a:lstStyle/>
          <a:p>
            <a:endParaRPr lang="ko-KR" altLang="en-US"/>
          </a:p>
        </p:txBody>
      </p:sp>
      <p:sp>
        <p:nvSpPr>
          <p:cNvPr id="163" name="Shape 160"/>
          <p:cNvSpPr/>
          <p:nvPr/>
        </p:nvSpPr>
        <p:spPr>
          <a:xfrm>
            <a:off x="6550423" y="5245181"/>
            <a:ext cx="9525" cy="341962"/>
          </a:xfrm>
          <a:prstGeom prst="rect">
            <a:avLst/>
          </a:prstGeom>
          <a:solidFill>
            <a:srgbClr val="D3B9A5"/>
          </a:solidFill>
          <a:ln/>
        </p:spPr>
        <p:txBody>
          <a:bodyPr/>
          <a:lstStyle/>
          <a:p>
            <a:endParaRPr lang="ko-KR" altLang="en-US"/>
          </a:p>
        </p:txBody>
      </p:sp>
      <p:sp>
        <p:nvSpPr>
          <p:cNvPr id="164" name="Text 161"/>
          <p:cNvSpPr/>
          <p:nvPr/>
        </p:nvSpPr>
        <p:spPr>
          <a:xfrm>
            <a:off x="6574690" y="527897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여성</a:t>
            </a:r>
            <a:endParaRPr lang="en-US" sz="1125" dirty="0"/>
          </a:p>
        </p:txBody>
      </p:sp>
      <p:sp>
        <p:nvSpPr>
          <p:cNvPr id="165" name="Shape 162"/>
          <p:cNvSpPr/>
          <p:nvPr/>
        </p:nvSpPr>
        <p:spPr>
          <a:xfrm>
            <a:off x="7752792" y="5245181"/>
            <a:ext cx="1202369" cy="341962"/>
          </a:xfrm>
          <a:prstGeom prst="rect">
            <a:avLst/>
          </a:prstGeom>
          <a:solidFill>
            <a:srgbClr val="FFFFFF"/>
          </a:solidFill>
          <a:ln/>
        </p:spPr>
        <p:txBody>
          <a:bodyPr/>
          <a:lstStyle/>
          <a:p>
            <a:endParaRPr lang="ko-KR" altLang="en-US"/>
          </a:p>
        </p:txBody>
      </p:sp>
      <p:sp>
        <p:nvSpPr>
          <p:cNvPr id="166" name="Shape 163"/>
          <p:cNvSpPr/>
          <p:nvPr/>
        </p:nvSpPr>
        <p:spPr>
          <a:xfrm>
            <a:off x="7752792" y="5245181"/>
            <a:ext cx="1202369" cy="9525"/>
          </a:xfrm>
          <a:prstGeom prst="rect">
            <a:avLst/>
          </a:prstGeom>
          <a:solidFill>
            <a:srgbClr val="D3B9A5"/>
          </a:solidFill>
          <a:ln/>
        </p:spPr>
        <p:txBody>
          <a:bodyPr/>
          <a:lstStyle/>
          <a:p>
            <a:endParaRPr lang="ko-KR" altLang="en-US"/>
          </a:p>
        </p:txBody>
      </p:sp>
      <p:sp>
        <p:nvSpPr>
          <p:cNvPr id="167" name="Shape 164"/>
          <p:cNvSpPr/>
          <p:nvPr/>
        </p:nvSpPr>
        <p:spPr>
          <a:xfrm>
            <a:off x="7752792" y="5245181"/>
            <a:ext cx="9525" cy="341962"/>
          </a:xfrm>
          <a:prstGeom prst="rect">
            <a:avLst/>
          </a:prstGeom>
          <a:solidFill>
            <a:srgbClr val="D3B9A5"/>
          </a:solidFill>
          <a:ln/>
        </p:spPr>
        <p:txBody>
          <a:bodyPr/>
          <a:lstStyle/>
          <a:p>
            <a:endParaRPr lang="ko-KR" altLang="en-US"/>
          </a:p>
        </p:txBody>
      </p:sp>
      <p:sp>
        <p:nvSpPr>
          <p:cNvPr id="168" name="Text 165"/>
          <p:cNvSpPr/>
          <p:nvPr/>
        </p:nvSpPr>
        <p:spPr>
          <a:xfrm>
            <a:off x="7777059" y="5278973"/>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남성</a:t>
            </a:r>
            <a:endParaRPr lang="en-US" sz="1125" dirty="0"/>
          </a:p>
        </p:txBody>
      </p:sp>
      <p:sp>
        <p:nvSpPr>
          <p:cNvPr id="169" name="Shape 166"/>
          <p:cNvSpPr/>
          <p:nvPr/>
        </p:nvSpPr>
        <p:spPr>
          <a:xfrm>
            <a:off x="8955161" y="5245181"/>
            <a:ext cx="1202776" cy="341962"/>
          </a:xfrm>
          <a:prstGeom prst="rect">
            <a:avLst/>
          </a:prstGeom>
          <a:solidFill>
            <a:srgbClr val="FFFFFF"/>
          </a:solidFill>
          <a:ln/>
        </p:spPr>
        <p:txBody>
          <a:bodyPr/>
          <a:lstStyle/>
          <a:p>
            <a:endParaRPr lang="ko-KR" altLang="en-US"/>
          </a:p>
        </p:txBody>
      </p:sp>
      <p:sp>
        <p:nvSpPr>
          <p:cNvPr id="170" name="Shape 167"/>
          <p:cNvSpPr/>
          <p:nvPr/>
        </p:nvSpPr>
        <p:spPr>
          <a:xfrm>
            <a:off x="8955161" y="5245181"/>
            <a:ext cx="1202776" cy="9525"/>
          </a:xfrm>
          <a:prstGeom prst="rect">
            <a:avLst/>
          </a:prstGeom>
          <a:solidFill>
            <a:srgbClr val="D3B9A5"/>
          </a:solidFill>
          <a:ln/>
        </p:spPr>
        <p:txBody>
          <a:bodyPr/>
          <a:lstStyle/>
          <a:p>
            <a:endParaRPr lang="ko-KR" altLang="en-US"/>
          </a:p>
        </p:txBody>
      </p:sp>
      <p:sp>
        <p:nvSpPr>
          <p:cNvPr id="171" name="Shape 168"/>
          <p:cNvSpPr/>
          <p:nvPr/>
        </p:nvSpPr>
        <p:spPr>
          <a:xfrm>
            <a:off x="8955161" y="5245181"/>
            <a:ext cx="9525" cy="341962"/>
          </a:xfrm>
          <a:prstGeom prst="rect">
            <a:avLst/>
          </a:prstGeom>
          <a:solidFill>
            <a:srgbClr val="D3B9A5"/>
          </a:solidFill>
          <a:ln/>
        </p:spPr>
        <p:txBody>
          <a:bodyPr/>
          <a:lstStyle/>
          <a:p>
            <a:endParaRPr lang="ko-KR" altLang="en-US"/>
          </a:p>
        </p:txBody>
      </p:sp>
      <p:sp>
        <p:nvSpPr>
          <p:cNvPr id="172" name="Text 169"/>
          <p:cNvSpPr/>
          <p:nvPr/>
        </p:nvSpPr>
        <p:spPr>
          <a:xfrm>
            <a:off x="8979428" y="5278973"/>
            <a:ext cx="1159459"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여성</a:t>
            </a:r>
            <a:endParaRPr lang="en-US" sz="1125" dirty="0"/>
          </a:p>
        </p:txBody>
      </p:sp>
      <p:sp>
        <p:nvSpPr>
          <p:cNvPr id="173" name="Shape 170"/>
          <p:cNvSpPr/>
          <p:nvPr/>
        </p:nvSpPr>
        <p:spPr>
          <a:xfrm>
            <a:off x="538580" y="5587143"/>
            <a:ext cx="2404738" cy="341962"/>
          </a:xfrm>
          <a:prstGeom prst="rect">
            <a:avLst/>
          </a:prstGeom>
          <a:solidFill>
            <a:srgbClr val="FCF4EE"/>
          </a:solidFill>
          <a:ln/>
        </p:spPr>
        <p:txBody>
          <a:bodyPr/>
          <a:lstStyle/>
          <a:p>
            <a:endParaRPr lang="ko-KR" altLang="en-US"/>
          </a:p>
        </p:txBody>
      </p:sp>
      <p:sp>
        <p:nvSpPr>
          <p:cNvPr id="174" name="Shape 171"/>
          <p:cNvSpPr/>
          <p:nvPr/>
        </p:nvSpPr>
        <p:spPr>
          <a:xfrm>
            <a:off x="538580" y="5587143"/>
            <a:ext cx="2404738" cy="9525"/>
          </a:xfrm>
          <a:prstGeom prst="rect">
            <a:avLst/>
          </a:prstGeom>
          <a:solidFill>
            <a:srgbClr val="D3B9A5"/>
          </a:solidFill>
          <a:ln/>
        </p:spPr>
        <p:txBody>
          <a:bodyPr/>
          <a:lstStyle/>
          <a:p>
            <a:endParaRPr lang="ko-KR" altLang="en-US"/>
          </a:p>
        </p:txBody>
      </p:sp>
      <p:sp>
        <p:nvSpPr>
          <p:cNvPr id="175" name="Text 172"/>
          <p:cNvSpPr/>
          <p:nvPr/>
        </p:nvSpPr>
        <p:spPr>
          <a:xfrm>
            <a:off x="557630" y="5620935"/>
            <a:ext cx="2366638"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65세 개시 기준</a:t>
            </a:r>
            <a:endParaRPr lang="en-US" sz="1125" dirty="0"/>
          </a:p>
        </p:txBody>
      </p:sp>
      <p:sp>
        <p:nvSpPr>
          <p:cNvPr id="176" name="Shape 173"/>
          <p:cNvSpPr/>
          <p:nvPr/>
        </p:nvSpPr>
        <p:spPr>
          <a:xfrm>
            <a:off x="2943317" y="5587143"/>
            <a:ext cx="1202369" cy="341962"/>
          </a:xfrm>
          <a:prstGeom prst="rect">
            <a:avLst/>
          </a:prstGeom>
          <a:solidFill>
            <a:srgbClr val="F8E1D0"/>
          </a:solidFill>
          <a:ln/>
        </p:spPr>
        <p:txBody>
          <a:bodyPr/>
          <a:lstStyle/>
          <a:p>
            <a:endParaRPr lang="ko-KR" altLang="en-US"/>
          </a:p>
        </p:txBody>
      </p:sp>
      <p:sp>
        <p:nvSpPr>
          <p:cNvPr id="177" name="Shape 174"/>
          <p:cNvSpPr/>
          <p:nvPr/>
        </p:nvSpPr>
        <p:spPr>
          <a:xfrm>
            <a:off x="2943317" y="5587143"/>
            <a:ext cx="1202369" cy="9525"/>
          </a:xfrm>
          <a:prstGeom prst="rect">
            <a:avLst/>
          </a:prstGeom>
          <a:solidFill>
            <a:srgbClr val="D3B9A5"/>
          </a:solidFill>
          <a:ln/>
        </p:spPr>
        <p:txBody>
          <a:bodyPr/>
          <a:lstStyle/>
          <a:p>
            <a:endParaRPr lang="ko-KR" altLang="en-US"/>
          </a:p>
        </p:txBody>
      </p:sp>
      <p:sp>
        <p:nvSpPr>
          <p:cNvPr id="178" name="Shape 175"/>
          <p:cNvSpPr/>
          <p:nvPr/>
        </p:nvSpPr>
        <p:spPr>
          <a:xfrm>
            <a:off x="2943317" y="5587143"/>
            <a:ext cx="9525" cy="341962"/>
          </a:xfrm>
          <a:prstGeom prst="rect">
            <a:avLst/>
          </a:prstGeom>
          <a:solidFill>
            <a:srgbClr val="D3B9A5"/>
          </a:solidFill>
          <a:ln/>
        </p:spPr>
        <p:txBody>
          <a:bodyPr/>
          <a:lstStyle/>
          <a:p>
            <a:endParaRPr lang="ko-KR" altLang="en-US"/>
          </a:p>
        </p:txBody>
      </p:sp>
      <p:sp>
        <p:nvSpPr>
          <p:cNvPr id="179" name="Text 176"/>
          <p:cNvSpPr/>
          <p:nvPr/>
        </p:nvSpPr>
        <p:spPr>
          <a:xfrm>
            <a:off x="2967584" y="5620935"/>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1,865만</a:t>
            </a:r>
            <a:endParaRPr lang="en-US" sz="1125" dirty="0"/>
          </a:p>
        </p:txBody>
      </p:sp>
      <p:sp>
        <p:nvSpPr>
          <p:cNvPr id="180" name="Shape 177"/>
          <p:cNvSpPr/>
          <p:nvPr/>
        </p:nvSpPr>
        <p:spPr>
          <a:xfrm>
            <a:off x="4145686" y="5587143"/>
            <a:ext cx="1202369" cy="341962"/>
          </a:xfrm>
          <a:prstGeom prst="rect">
            <a:avLst/>
          </a:prstGeom>
          <a:solidFill>
            <a:srgbClr val="F8E1D0"/>
          </a:solidFill>
          <a:ln/>
        </p:spPr>
        <p:txBody>
          <a:bodyPr/>
          <a:lstStyle/>
          <a:p>
            <a:endParaRPr lang="ko-KR" altLang="en-US"/>
          </a:p>
        </p:txBody>
      </p:sp>
      <p:sp>
        <p:nvSpPr>
          <p:cNvPr id="181" name="Shape 178"/>
          <p:cNvSpPr/>
          <p:nvPr/>
        </p:nvSpPr>
        <p:spPr>
          <a:xfrm>
            <a:off x="4145686" y="5587143"/>
            <a:ext cx="1202369" cy="9525"/>
          </a:xfrm>
          <a:prstGeom prst="rect">
            <a:avLst/>
          </a:prstGeom>
          <a:solidFill>
            <a:srgbClr val="D3B9A5"/>
          </a:solidFill>
          <a:ln/>
        </p:spPr>
        <p:txBody>
          <a:bodyPr/>
          <a:lstStyle/>
          <a:p>
            <a:endParaRPr lang="ko-KR" altLang="en-US"/>
          </a:p>
        </p:txBody>
      </p:sp>
      <p:sp>
        <p:nvSpPr>
          <p:cNvPr id="182" name="Shape 179"/>
          <p:cNvSpPr/>
          <p:nvPr/>
        </p:nvSpPr>
        <p:spPr>
          <a:xfrm>
            <a:off x="4145686" y="5587143"/>
            <a:ext cx="9525" cy="341962"/>
          </a:xfrm>
          <a:prstGeom prst="rect">
            <a:avLst/>
          </a:prstGeom>
          <a:solidFill>
            <a:srgbClr val="D3B9A5"/>
          </a:solidFill>
          <a:ln/>
        </p:spPr>
        <p:txBody>
          <a:bodyPr/>
          <a:lstStyle/>
          <a:p>
            <a:endParaRPr lang="ko-KR" altLang="en-US"/>
          </a:p>
        </p:txBody>
      </p:sp>
      <p:sp>
        <p:nvSpPr>
          <p:cNvPr id="183" name="Text 180"/>
          <p:cNvSpPr/>
          <p:nvPr/>
        </p:nvSpPr>
        <p:spPr>
          <a:xfrm>
            <a:off x="4169953" y="5620935"/>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latin typeface="Paperlogy 7 Bold" pitchFamily="2" charset="-127"/>
                <a:ea typeface="Paperlogy 7 Bold" pitchFamily="2" charset="-127"/>
                <a:cs typeface="Arial" pitchFamily="34" charset="-120"/>
              </a:rPr>
              <a:t>1,783만</a:t>
            </a:r>
            <a:endParaRPr lang="en-US" sz="1125" dirty="0"/>
          </a:p>
        </p:txBody>
      </p:sp>
      <p:sp>
        <p:nvSpPr>
          <p:cNvPr id="184" name="Shape 181"/>
          <p:cNvSpPr/>
          <p:nvPr/>
        </p:nvSpPr>
        <p:spPr>
          <a:xfrm>
            <a:off x="5348054" y="5587143"/>
            <a:ext cx="1202369" cy="341962"/>
          </a:xfrm>
          <a:prstGeom prst="rect">
            <a:avLst/>
          </a:prstGeom>
          <a:solidFill>
            <a:srgbClr val="FFFFFF"/>
          </a:solidFill>
          <a:ln/>
        </p:spPr>
        <p:txBody>
          <a:bodyPr/>
          <a:lstStyle/>
          <a:p>
            <a:endParaRPr lang="ko-KR" altLang="en-US"/>
          </a:p>
        </p:txBody>
      </p:sp>
      <p:sp>
        <p:nvSpPr>
          <p:cNvPr id="185" name="Shape 182"/>
          <p:cNvSpPr/>
          <p:nvPr/>
        </p:nvSpPr>
        <p:spPr>
          <a:xfrm>
            <a:off x="5348054" y="5587143"/>
            <a:ext cx="1202369" cy="9525"/>
          </a:xfrm>
          <a:prstGeom prst="rect">
            <a:avLst/>
          </a:prstGeom>
          <a:solidFill>
            <a:srgbClr val="D3B9A5"/>
          </a:solidFill>
          <a:ln/>
        </p:spPr>
        <p:txBody>
          <a:bodyPr/>
          <a:lstStyle/>
          <a:p>
            <a:endParaRPr lang="ko-KR" altLang="en-US"/>
          </a:p>
        </p:txBody>
      </p:sp>
      <p:sp>
        <p:nvSpPr>
          <p:cNvPr id="186" name="Shape 183"/>
          <p:cNvSpPr/>
          <p:nvPr/>
        </p:nvSpPr>
        <p:spPr>
          <a:xfrm>
            <a:off x="5348054" y="5587143"/>
            <a:ext cx="9525" cy="341962"/>
          </a:xfrm>
          <a:prstGeom prst="rect">
            <a:avLst/>
          </a:prstGeom>
          <a:solidFill>
            <a:srgbClr val="D3B9A5"/>
          </a:solidFill>
          <a:ln/>
        </p:spPr>
        <p:txBody>
          <a:bodyPr/>
          <a:lstStyle/>
          <a:p>
            <a:endParaRPr lang="ko-KR" altLang="en-US"/>
          </a:p>
        </p:txBody>
      </p:sp>
      <p:sp>
        <p:nvSpPr>
          <p:cNvPr id="187" name="Text 184"/>
          <p:cNvSpPr/>
          <p:nvPr/>
        </p:nvSpPr>
        <p:spPr>
          <a:xfrm>
            <a:off x="5372321" y="5620935"/>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1,693만</a:t>
            </a:r>
            <a:endParaRPr lang="en-US" sz="1125" dirty="0"/>
          </a:p>
        </p:txBody>
      </p:sp>
      <p:sp>
        <p:nvSpPr>
          <p:cNvPr id="188" name="Shape 185"/>
          <p:cNvSpPr/>
          <p:nvPr/>
        </p:nvSpPr>
        <p:spPr>
          <a:xfrm>
            <a:off x="6550423" y="5587143"/>
            <a:ext cx="1202369" cy="341962"/>
          </a:xfrm>
          <a:prstGeom prst="rect">
            <a:avLst/>
          </a:prstGeom>
          <a:solidFill>
            <a:srgbClr val="FFFFFF"/>
          </a:solidFill>
          <a:ln/>
        </p:spPr>
        <p:txBody>
          <a:bodyPr/>
          <a:lstStyle/>
          <a:p>
            <a:endParaRPr lang="ko-KR" altLang="en-US"/>
          </a:p>
        </p:txBody>
      </p:sp>
      <p:sp>
        <p:nvSpPr>
          <p:cNvPr id="189" name="Shape 186"/>
          <p:cNvSpPr/>
          <p:nvPr/>
        </p:nvSpPr>
        <p:spPr>
          <a:xfrm>
            <a:off x="6550423" y="5587143"/>
            <a:ext cx="1202369" cy="9525"/>
          </a:xfrm>
          <a:prstGeom prst="rect">
            <a:avLst/>
          </a:prstGeom>
          <a:solidFill>
            <a:srgbClr val="D3B9A5"/>
          </a:solidFill>
          <a:ln/>
        </p:spPr>
        <p:txBody>
          <a:bodyPr/>
          <a:lstStyle/>
          <a:p>
            <a:endParaRPr lang="ko-KR" altLang="en-US"/>
          </a:p>
        </p:txBody>
      </p:sp>
      <p:sp>
        <p:nvSpPr>
          <p:cNvPr id="190" name="Shape 187"/>
          <p:cNvSpPr/>
          <p:nvPr/>
        </p:nvSpPr>
        <p:spPr>
          <a:xfrm>
            <a:off x="6550423" y="5587143"/>
            <a:ext cx="9525" cy="341962"/>
          </a:xfrm>
          <a:prstGeom prst="rect">
            <a:avLst/>
          </a:prstGeom>
          <a:solidFill>
            <a:srgbClr val="D3B9A5"/>
          </a:solidFill>
          <a:ln/>
        </p:spPr>
        <p:txBody>
          <a:bodyPr/>
          <a:lstStyle/>
          <a:p>
            <a:endParaRPr lang="ko-KR" altLang="en-US"/>
          </a:p>
        </p:txBody>
      </p:sp>
      <p:sp>
        <p:nvSpPr>
          <p:cNvPr id="191" name="Text 188"/>
          <p:cNvSpPr/>
          <p:nvPr/>
        </p:nvSpPr>
        <p:spPr>
          <a:xfrm>
            <a:off x="6574690" y="5620935"/>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1,609만</a:t>
            </a:r>
            <a:endParaRPr lang="en-US" sz="1125" dirty="0"/>
          </a:p>
        </p:txBody>
      </p:sp>
      <p:sp>
        <p:nvSpPr>
          <p:cNvPr id="192" name="Shape 189"/>
          <p:cNvSpPr/>
          <p:nvPr/>
        </p:nvSpPr>
        <p:spPr>
          <a:xfrm>
            <a:off x="7752792" y="5587143"/>
            <a:ext cx="1202369" cy="341962"/>
          </a:xfrm>
          <a:prstGeom prst="rect">
            <a:avLst/>
          </a:prstGeom>
          <a:solidFill>
            <a:srgbClr val="FFFFFF"/>
          </a:solidFill>
          <a:ln/>
        </p:spPr>
        <p:txBody>
          <a:bodyPr/>
          <a:lstStyle/>
          <a:p>
            <a:endParaRPr lang="ko-KR" altLang="en-US"/>
          </a:p>
        </p:txBody>
      </p:sp>
      <p:sp>
        <p:nvSpPr>
          <p:cNvPr id="193" name="Shape 190"/>
          <p:cNvSpPr/>
          <p:nvPr/>
        </p:nvSpPr>
        <p:spPr>
          <a:xfrm>
            <a:off x="7752792" y="5587143"/>
            <a:ext cx="1202369" cy="9525"/>
          </a:xfrm>
          <a:prstGeom prst="rect">
            <a:avLst/>
          </a:prstGeom>
          <a:solidFill>
            <a:srgbClr val="D3B9A5"/>
          </a:solidFill>
          <a:ln/>
        </p:spPr>
        <p:txBody>
          <a:bodyPr/>
          <a:lstStyle/>
          <a:p>
            <a:endParaRPr lang="ko-KR" altLang="en-US"/>
          </a:p>
        </p:txBody>
      </p:sp>
      <p:sp>
        <p:nvSpPr>
          <p:cNvPr id="194" name="Shape 191"/>
          <p:cNvSpPr/>
          <p:nvPr/>
        </p:nvSpPr>
        <p:spPr>
          <a:xfrm>
            <a:off x="7752792" y="5587143"/>
            <a:ext cx="9525" cy="341962"/>
          </a:xfrm>
          <a:prstGeom prst="rect">
            <a:avLst/>
          </a:prstGeom>
          <a:solidFill>
            <a:srgbClr val="D3B9A5"/>
          </a:solidFill>
          <a:ln/>
        </p:spPr>
        <p:txBody>
          <a:bodyPr/>
          <a:lstStyle/>
          <a:p>
            <a:endParaRPr lang="ko-KR" altLang="en-US"/>
          </a:p>
        </p:txBody>
      </p:sp>
      <p:sp>
        <p:nvSpPr>
          <p:cNvPr id="195" name="Text 192"/>
          <p:cNvSpPr/>
          <p:nvPr/>
        </p:nvSpPr>
        <p:spPr>
          <a:xfrm>
            <a:off x="7777059" y="5620935"/>
            <a:ext cx="1159052"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1,605만</a:t>
            </a:r>
            <a:endParaRPr lang="en-US" sz="1125" dirty="0"/>
          </a:p>
        </p:txBody>
      </p:sp>
      <p:sp>
        <p:nvSpPr>
          <p:cNvPr id="196" name="Shape 193"/>
          <p:cNvSpPr/>
          <p:nvPr/>
        </p:nvSpPr>
        <p:spPr>
          <a:xfrm>
            <a:off x="8955161" y="5587143"/>
            <a:ext cx="1202776" cy="341962"/>
          </a:xfrm>
          <a:prstGeom prst="rect">
            <a:avLst/>
          </a:prstGeom>
          <a:solidFill>
            <a:srgbClr val="FFFFFF"/>
          </a:solidFill>
          <a:ln/>
        </p:spPr>
        <p:txBody>
          <a:bodyPr/>
          <a:lstStyle/>
          <a:p>
            <a:endParaRPr lang="ko-KR" altLang="en-US"/>
          </a:p>
        </p:txBody>
      </p:sp>
      <p:sp>
        <p:nvSpPr>
          <p:cNvPr id="197" name="Shape 194"/>
          <p:cNvSpPr/>
          <p:nvPr/>
        </p:nvSpPr>
        <p:spPr>
          <a:xfrm>
            <a:off x="8955161" y="5587143"/>
            <a:ext cx="1202776" cy="9525"/>
          </a:xfrm>
          <a:prstGeom prst="rect">
            <a:avLst/>
          </a:prstGeom>
          <a:solidFill>
            <a:srgbClr val="D3B9A5"/>
          </a:solidFill>
          <a:ln/>
        </p:spPr>
        <p:txBody>
          <a:bodyPr/>
          <a:lstStyle/>
          <a:p>
            <a:endParaRPr lang="ko-KR" altLang="en-US"/>
          </a:p>
        </p:txBody>
      </p:sp>
      <p:sp>
        <p:nvSpPr>
          <p:cNvPr id="198" name="Shape 195"/>
          <p:cNvSpPr/>
          <p:nvPr/>
        </p:nvSpPr>
        <p:spPr>
          <a:xfrm>
            <a:off x="8955161" y="5587143"/>
            <a:ext cx="9525" cy="341962"/>
          </a:xfrm>
          <a:prstGeom prst="rect">
            <a:avLst/>
          </a:prstGeom>
          <a:solidFill>
            <a:srgbClr val="D3B9A5"/>
          </a:solidFill>
          <a:ln/>
        </p:spPr>
        <p:txBody>
          <a:bodyPr/>
          <a:lstStyle/>
          <a:p>
            <a:endParaRPr lang="ko-KR" altLang="en-US"/>
          </a:p>
        </p:txBody>
      </p:sp>
      <p:sp>
        <p:nvSpPr>
          <p:cNvPr id="199" name="Text 196"/>
          <p:cNvSpPr/>
          <p:nvPr/>
        </p:nvSpPr>
        <p:spPr>
          <a:xfrm>
            <a:off x="8979428" y="5620935"/>
            <a:ext cx="1159459" cy="317695"/>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1,537만</a:t>
            </a:r>
            <a:endParaRPr lang="en-US" sz="1125" dirty="0"/>
          </a:p>
        </p:txBody>
      </p:sp>
      <p:sp>
        <p:nvSpPr>
          <p:cNvPr id="200" name="Shape 197"/>
          <p:cNvSpPr/>
          <p:nvPr/>
        </p:nvSpPr>
        <p:spPr>
          <a:xfrm>
            <a:off x="538580" y="5929104"/>
            <a:ext cx="2404738" cy="856983"/>
          </a:xfrm>
          <a:prstGeom prst="rect">
            <a:avLst/>
          </a:prstGeom>
          <a:solidFill>
            <a:srgbClr val="FCF4EE"/>
          </a:solidFill>
          <a:ln/>
        </p:spPr>
        <p:txBody>
          <a:bodyPr/>
          <a:lstStyle/>
          <a:p>
            <a:endParaRPr lang="ko-KR" altLang="en-US"/>
          </a:p>
        </p:txBody>
      </p:sp>
      <p:sp>
        <p:nvSpPr>
          <p:cNvPr id="201" name="Shape 198"/>
          <p:cNvSpPr/>
          <p:nvPr/>
        </p:nvSpPr>
        <p:spPr>
          <a:xfrm>
            <a:off x="538580" y="5929104"/>
            <a:ext cx="2404738" cy="9525"/>
          </a:xfrm>
          <a:prstGeom prst="rect">
            <a:avLst/>
          </a:prstGeom>
          <a:solidFill>
            <a:srgbClr val="D3B9A5"/>
          </a:solidFill>
          <a:ln/>
        </p:spPr>
        <p:txBody>
          <a:bodyPr/>
          <a:lstStyle/>
          <a:p>
            <a:endParaRPr lang="ko-KR" altLang="en-US"/>
          </a:p>
        </p:txBody>
      </p:sp>
      <p:sp>
        <p:nvSpPr>
          <p:cNvPr id="202" name="Text 199"/>
          <p:cNvSpPr/>
          <p:nvPr/>
        </p:nvSpPr>
        <p:spPr>
          <a:xfrm>
            <a:off x="557630" y="5962896"/>
            <a:ext cx="2366638" cy="832716"/>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latin typeface="Paperlogy 7 Bold" pitchFamily="2" charset="-127"/>
                <a:ea typeface="Paperlogy 7 Bold" pitchFamily="2" charset="-127"/>
                <a:cs typeface="Arial" pitchFamily="34" charset="-120"/>
              </a:rPr>
              <a:t>주요 특징</a:t>
            </a:r>
            <a:endParaRPr lang="en-US" sz="1125" dirty="0"/>
          </a:p>
        </p:txBody>
      </p:sp>
      <p:sp>
        <p:nvSpPr>
          <p:cNvPr id="203" name="Shape 200"/>
          <p:cNvSpPr/>
          <p:nvPr/>
        </p:nvSpPr>
        <p:spPr>
          <a:xfrm>
            <a:off x="2943317" y="5929104"/>
            <a:ext cx="2404738" cy="856983"/>
          </a:xfrm>
          <a:prstGeom prst="rect">
            <a:avLst/>
          </a:prstGeom>
          <a:solidFill>
            <a:srgbClr val="F8E1D0"/>
          </a:solidFill>
          <a:ln/>
        </p:spPr>
        <p:txBody>
          <a:bodyPr/>
          <a:lstStyle/>
          <a:p>
            <a:endParaRPr lang="ko-KR" altLang="en-US"/>
          </a:p>
        </p:txBody>
      </p:sp>
      <p:sp>
        <p:nvSpPr>
          <p:cNvPr id="204" name="Shape 201"/>
          <p:cNvSpPr/>
          <p:nvPr/>
        </p:nvSpPr>
        <p:spPr>
          <a:xfrm>
            <a:off x="2943317" y="5929104"/>
            <a:ext cx="2404738" cy="9525"/>
          </a:xfrm>
          <a:prstGeom prst="rect">
            <a:avLst/>
          </a:prstGeom>
          <a:solidFill>
            <a:srgbClr val="D3B9A5"/>
          </a:solidFill>
          <a:ln/>
        </p:spPr>
        <p:txBody>
          <a:bodyPr/>
          <a:lstStyle/>
          <a:p>
            <a:endParaRPr lang="ko-KR" altLang="en-US"/>
          </a:p>
        </p:txBody>
      </p:sp>
      <p:sp>
        <p:nvSpPr>
          <p:cNvPr id="205" name="Shape 202"/>
          <p:cNvSpPr/>
          <p:nvPr/>
        </p:nvSpPr>
        <p:spPr>
          <a:xfrm>
            <a:off x="2943317" y="5929104"/>
            <a:ext cx="9525" cy="856983"/>
          </a:xfrm>
          <a:prstGeom prst="rect">
            <a:avLst/>
          </a:prstGeom>
          <a:solidFill>
            <a:srgbClr val="D3B9A5"/>
          </a:solidFill>
          <a:ln/>
        </p:spPr>
        <p:txBody>
          <a:bodyPr/>
          <a:lstStyle/>
          <a:p>
            <a:endParaRPr lang="ko-KR" altLang="en-US"/>
          </a:p>
        </p:txBody>
      </p:sp>
      <p:sp>
        <p:nvSpPr>
          <p:cNvPr id="206" name="Text 203"/>
          <p:cNvSpPr/>
          <p:nvPr/>
        </p:nvSpPr>
        <p:spPr>
          <a:xfrm>
            <a:off x="2967584" y="5962896"/>
            <a:ext cx="2361420" cy="832716"/>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최대 30년 연단리 7% 제공 가장 </a:t>
            </a:r>
            <a:r>
              <a:rPr lang="en-US" sz="1125" b="1" kern="0" spc="-11" dirty="0" err="1">
                <a:solidFill>
                  <a:srgbClr val="7E3B1D"/>
                </a:solidFill>
                <a:highlight>
                  <a:srgbClr val="F8E1D0"/>
                </a:highlight>
                <a:latin typeface="Paperlogy 7 Bold" pitchFamily="2" charset="-127"/>
                <a:ea typeface="Paperlogy 7 Bold" pitchFamily="2" charset="-127"/>
                <a:cs typeface="Arial" pitchFamily="34" charset="-120"/>
              </a:rPr>
              <a:t>높은</a:t>
            </a: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 </a:t>
            </a:r>
          </a:p>
          <a:p>
            <a:pPr marL="0" indent="0" algn="ctr">
              <a:lnSpc>
                <a:spcPct val="112968"/>
              </a:lnSpc>
              <a:buNone/>
            </a:pPr>
            <a:r>
              <a:rPr lang="en-US" sz="1125" b="1" kern="0" spc="-11" dirty="0" err="1">
                <a:solidFill>
                  <a:srgbClr val="7E3B1D"/>
                </a:solidFill>
                <a:highlight>
                  <a:srgbClr val="F8E1D0"/>
                </a:highlight>
                <a:latin typeface="Paperlogy 7 Bold" pitchFamily="2" charset="-127"/>
                <a:ea typeface="Paperlogy 7 Bold" pitchFamily="2" charset="-127"/>
                <a:cs typeface="Arial" pitchFamily="34" charset="-120"/>
              </a:rPr>
              <a:t>연금연액</a:t>
            </a:r>
            <a:r>
              <a:rPr lang="en-US" sz="1125" b="1" kern="0" spc="-11" dirty="0">
                <a:solidFill>
                  <a:srgbClr val="7E3B1D"/>
                </a:solidFill>
                <a:highlight>
                  <a:srgbClr val="F8E1D0"/>
                </a:highlight>
                <a:latin typeface="Paperlogy 7 Bold" pitchFamily="2" charset="-127"/>
                <a:ea typeface="Paperlogy 7 Bold" pitchFamily="2" charset="-127"/>
                <a:cs typeface="Arial" pitchFamily="34" charset="-120"/>
              </a:rPr>
              <a:t> 지급 청장년층 권장상품</a:t>
            </a:r>
            <a:endParaRPr lang="en-US" sz="1125" dirty="0"/>
          </a:p>
        </p:txBody>
      </p:sp>
      <p:sp>
        <p:nvSpPr>
          <p:cNvPr id="207" name="Shape 204"/>
          <p:cNvSpPr/>
          <p:nvPr/>
        </p:nvSpPr>
        <p:spPr>
          <a:xfrm>
            <a:off x="5348054" y="5929104"/>
            <a:ext cx="2404738" cy="856983"/>
          </a:xfrm>
          <a:prstGeom prst="rect">
            <a:avLst/>
          </a:prstGeom>
          <a:solidFill>
            <a:srgbClr val="FFFFFF"/>
          </a:solidFill>
          <a:ln/>
        </p:spPr>
        <p:txBody>
          <a:bodyPr/>
          <a:lstStyle/>
          <a:p>
            <a:endParaRPr lang="ko-KR" altLang="en-US"/>
          </a:p>
        </p:txBody>
      </p:sp>
      <p:sp>
        <p:nvSpPr>
          <p:cNvPr id="208" name="Shape 205"/>
          <p:cNvSpPr/>
          <p:nvPr/>
        </p:nvSpPr>
        <p:spPr>
          <a:xfrm>
            <a:off x="5348054" y="5929104"/>
            <a:ext cx="2404738" cy="9525"/>
          </a:xfrm>
          <a:prstGeom prst="rect">
            <a:avLst/>
          </a:prstGeom>
          <a:solidFill>
            <a:srgbClr val="D3B9A5"/>
          </a:solidFill>
          <a:ln/>
        </p:spPr>
        <p:txBody>
          <a:bodyPr/>
          <a:lstStyle/>
          <a:p>
            <a:endParaRPr lang="ko-KR" altLang="en-US"/>
          </a:p>
        </p:txBody>
      </p:sp>
      <p:sp>
        <p:nvSpPr>
          <p:cNvPr id="209" name="Shape 206"/>
          <p:cNvSpPr/>
          <p:nvPr/>
        </p:nvSpPr>
        <p:spPr>
          <a:xfrm>
            <a:off x="5348054" y="5929104"/>
            <a:ext cx="9525" cy="856983"/>
          </a:xfrm>
          <a:prstGeom prst="rect">
            <a:avLst/>
          </a:prstGeom>
          <a:solidFill>
            <a:srgbClr val="D3B9A5"/>
          </a:solidFill>
          <a:ln/>
        </p:spPr>
        <p:txBody>
          <a:bodyPr/>
          <a:lstStyle/>
          <a:p>
            <a:endParaRPr lang="ko-KR" altLang="en-US"/>
          </a:p>
        </p:txBody>
      </p:sp>
      <p:sp>
        <p:nvSpPr>
          <p:cNvPr id="210" name="Text 207"/>
          <p:cNvSpPr/>
          <p:nvPr/>
        </p:nvSpPr>
        <p:spPr>
          <a:xfrm>
            <a:off x="5372321" y="5962896"/>
            <a:ext cx="2361420" cy="832716"/>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20년 이후시점 연단리 6% 조기 가입시 타사대비 강점</a:t>
            </a:r>
            <a:endParaRPr lang="en-US" sz="1125" dirty="0"/>
          </a:p>
        </p:txBody>
      </p:sp>
      <p:sp>
        <p:nvSpPr>
          <p:cNvPr id="211" name="Shape 208"/>
          <p:cNvSpPr/>
          <p:nvPr/>
        </p:nvSpPr>
        <p:spPr>
          <a:xfrm>
            <a:off x="7752792" y="5929104"/>
            <a:ext cx="2405145" cy="856983"/>
          </a:xfrm>
          <a:prstGeom prst="rect">
            <a:avLst/>
          </a:prstGeom>
          <a:solidFill>
            <a:srgbClr val="FFFFFF"/>
          </a:solidFill>
          <a:ln/>
        </p:spPr>
        <p:txBody>
          <a:bodyPr/>
          <a:lstStyle/>
          <a:p>
            <a:endParaRPr lang="ko-KR" altLang="en-US"/>
          </a:p>
        </p:txBody>
      </p:sp>
      <p:sp>
        <p:nvSpPr>
          <p:cNvPr id="212" name="Shape 209"/>
          <p:cNvSpPr/>
          <p:nvPr/>
        </p:nvSpPr>
        <p:spPr>
          <a:xfrm>
            <a:off x="7752792" y="5929104"/>
            <a:ext cx="2405145" cy="9525"/>
          </a:xfrm>
          <a:prstGeom prst="rect">
            <a:avLst/>
          </a:prstGeom>
          <a:solidFill>
            <a:srgbClr val="D3B9A5"/>
          </a:solidFill>
          <a:ln/>
        </p:spPr>
        <p:txBody>
          <a:bodyPr/>
          <a:lstStyle/>
          <a:p>
            <a:endParaRPr lang="ko-KR" altLang="en-US"/>
          </a:p>
        </p:txBody>
      </p:sp>
      <p:sp>
        <p:nvSpPr>
          <p:cNvPr id="213" name="Shape 210"/>
          <p:cNvSpPr/>
          <p:nvPr/>
        </p:nvSpPr>
        <p:spPr>
          <a:xfrm>
            <a:off x="7752792" y="5929104"/>
            <a:ext cx="9525" cy="856983"/>
          </a:xfrm>
          <a:prstGeom prst="rect">
            <a:avLst/>
          </a:prstGeom>
          <a:solidFill>
            <a:srgbClr val="D3B9A5"/>
          </a:solidFill>
          <a:ln/>
        </p:spPr>
        <p:txBody>
          <a:bodyPr/>
          <a:lstStyle/>
          <a:p>
            <a:endParaRPr lang="ko-KR" altLang="en-US"/>
          </a:p>
        </p:txBody>
      </p:sp>
      <p:sp>
        <p:nvSpPr>
          <p:cNvPr id="214" name="Text 211"/>
          <p:cNvSpPr/>
          <p:nvPr/>
        </p:nvSpPr>
        <p:spPr>
          <a:xfrm>
            <a:off x="7777059" y="5962896"/>
            <a:ext cx="2361828" cy="832716"/>
          </a:xfrm>
          <a:prstGeom prst="rect">
            <a:avLst/>
          </a:prstGeom>
          <a:noFill/>
          <a:ln/>
        </p:spPr>
        <p:txBody>
          <a:bodyPr wrap="square" lIns="25400" tIns="25400" rIns="25400" bIns="25400" rtlCol="0" anchor="ctr">
            <a:normAutofit/>
          </a:bodyPr>
          <a:lstStyle/>
          <a:p>
            <a:pPr marL="0" indent="0" algn="ctr">
              <a:lnSpc>
                <a:spcPct val="112968"/>
              </a:lnSpc>
              <a:buNone/>
            </a:pPr>
            <a:r>
              <a:rPr lang="en-US" sz="1125" b="1" kern="0" spc="-11" dirty="0">
                <a:solidFill>
                  <a:srgbClr val="3A2C24"/>
                </a:solidFill>
                <a:highlight>
                  <a:srgbClr val="FFFFFF"/>
                </a:highlight>
                <a:latin typeface="Paperlogy 7 Bold" pitchFamily="2" charset="-127"/>
                <a:ea typeface="Paperlogy 7 Bold" pitchFamily="2" charset="-127"/>
                <a:cs typeface="Arial" pitchFamily="34" charset="-120"/>
              </a:rPr>
              <a:t>0세부터 가입가능 손자, 손녀 맞춤상품!</a:t>
            </a:r>
            <a:endParaRPr lang="en-US" sz="1125" dirty="0"/>
          </a:p>
        </p:txBody>
      </p:sp>
      <p:sp>
        <p:nvSpPr>
          <p:cNvPr id="215" name="Text 212"/>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16" name="Text 213"/>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17" name="Text 214"/>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459157"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iM라이프 – iM 마스터 PRO 변액연금</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보증형 변액연금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622016"/>
            <a:ext cx="1428740" cy="1263180"/>
          </a:xfrm>
          <a:prstGeom prst="roundRect">
            <a:avLst>
              <a:gd name="adj" fmla="val 12065"/>
            </a:avLst>
          </a:prstGeom>
          <a:solidFill>
            <a:srgbClr val="F6E2D3"/>
          </a:solidFill>
          <a:ln/>
        </p:spPr>
        <p:txBody>
          <a:bodyPr/>
          <a:lstStyle/>
          <a:p>
            <a:endParaRPr lang="ko-KR" altLang="en-US"/>
          </a:p>
        </p:txBody>
      </p:sp>
      <p:sp>
        <p:nvSpPr>
          <p:cNvPr id="7" name="Text 5"/>
          <p:cNvSpPr/>
          <p:nvPr/>
        </p:nvSpPr>
        <p:spPr>
          <a:xfrm>
            <a:off x="495263" y="1622016"/>
            <a:ext cx="1504940" cy="1301280"/>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622016"/>
            <a:ext cx="8086765" cy="1263180"/>
          </a:xfrm>
          <a:prstGeom prst="roundRect">
            <a:avLst>
              <a:gd name="adj" fmla="val 12065"/>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2066318"/>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912948"/>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15세 - 50세</a:t>
            </a:r>
            <a:endParaRPr lang="en-US" sz="1538" dirty="0"/>
          </a:p>
        </p:txBody>
      </p:sp>
      <p:sp>
        <p:nvSpPr>
          <p:cNvPr id="11" name="Shape 9"/>
          <p:cNvSpPr/>
          <p:nvPr/>
        </p:nvSpPr>
        <p:spPr>
          <a:xfrm>
            <a:off x="2424465" y="2445044"/>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2291674"/>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최대 30년 연단리 7% 제공</a:t>
            </a:r>
            <a:endParaRPr lang="en-US" sz="1538" dirty="0"/>
          </a:p>
        </p:txBody>
      </p:sp>
      <p:sp>
        <p:nvSpPr>
          <p:cNvPr id="13" name="Shape 11"/>
          <p:cNvSpPr/>
          <p:nvPr/>
        </p:nvSpPr>
        <p:spPr>
          <a:xfrm>
            <a:off x="533363" y="3037550"/>
            <a:ext cx="1428740" cy="1674838"/>
          </a:xfrm>
          <a:prstGeom prst="roundRect">
            <a:avLst>
              <a:gd name="adj" fmla="val 10667"/>
            </a:avLst>
          </a:prstGeom>
          <a:solidFill>
            <a:srgbClr val="CF7446"/>
          </a:solidFill>
          <a:ln/>
        </p:spPr>
        <p:txBody>
          <a:bodyPr/>
          <a:lstStyle/>
          <a:p>
            <a:endParaRPr lang="ko-KR" altLang="en-US"/>
          </a:p>
        </p:txBody>
      </p:sp>
      <p:sp>
        <p:nvSpPr>
          <p:cNvPr id="14" name="Text 12"/>
          <p:cNvSpPr/>
          <p:nvPr/>
        </p:nvSpPr>
        <p:spPr>
          <a:xfrm>
            <a:off x="495263" y="3037550"/>
            <a:ext cx="1504940" cy="1712938"/>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5" name="Shape 13"/>
          <p:cNvSpPr/>
          <p:nvPr/>
        </p:nvSpPr>
        <p:spPr>
          <a:xfrm>
            <a:off x="2076389" y="3037550"/>
            <a:ext cx="8086765" cy="1674838"/>
          </a:xfrm>
          <a:prstGeom prst="roundRect">
            <a:avLst>
              <a:gd name="adj" fmla="val 9099"/>
            </a:avLst>
          </a:prstGeom>
          <a:solidFill>
            <a:srgbClr val="FCF4EE"/>
          </a:solidFill>
          <a:ln w="5217">
            <a:solidFill>
              <a:srgbClr val="F6E2D3"/>
            </a:solidFill>
            <a:prstDash val="solid"/>
          </a:ln>
        </p:spPr>
        <p:txBody>
          <a:bodyPr/>
          <a:lstStyle/>
          <a:p>
            <a:endParaRPr lang="ko-KR" altLang="en-US"/>
          </a:p>
        </p:txBody>
      </p:sp>
      <p:sp>
        <p:nvSpPr>
          <p:cNvPr id="16" name="Shape 14"/>
          <p:cNvSpPr/>
          <p:nvPr/>
        </p:nvSpPr>
        <p:spPr>
          <a:xfrm>
            <a:off x="2424465" y="3497504"/>
            <a:ext cx="47606" cy="47606"/>
          </a:xfrm>
          <a:prstGeom prst="ellipse">
            <a:avLst/>
          </a:prstGeom>
          <a:solidFill>
            <a:srgbClr val="CF7446"/>
          </a:solidFill>
          <a:ln/>
        </p:spPr>
        <p:txBody>
          <a:bodyPr/>
          <a:lstStyle/>
          <a:p>
            <a:endParaRPr lang="ko-KR" altLang="en-US"/>
          </a:p>
        </p:txBody>
      </p:sp>
      <p:sp>
        <p:nvSpPr>
          <p:cNvPr id="17" name="Text 15"/>
          <p:cNvSpPr/>
          <p:nvPr/>
        </p:nvSpPr>
        <p:spPr>
          <a:xfrm>
            <a:off x="2567281" y="3328483"/>
            <a:ext cx="6601934" cy="715991"/>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금리와 주식시장 관계없이, 내 자산을 안전하게 불려나갈 수 </a:t>
            </a:r>
            <a:r>
              <a:rPr lang="en-US" sz="1725" b="1" dirty="0" err="1">
                <a:solidFill>
                  <a:srgbClr val="9A4A27"/>
                </a:solidFill>
                <a:latin typeface="Paperlogy 7 Bold" pitchFamily="2" charset="-127"/>
                <a:ea typeface="Paperlogy 7 Bold" pitchFamily="2" charset="-127"/>
                <a:cs typeface="Arial" pitchFamily="34" charset="-120"/>
              </a:rPr>
              <a:t>있는</a:t>
            </a:r>
            <a:r>
              <a:rPr lang="en-US" sz="1725" b="1" dirty="0">
                <a:solidFill>
                  <a:srgbClr val="9A4A27"/>
                </a:solidFill>
                <a:latin typeface="Paperlogy 7 Bold" pitchFamily="2" charset="-127"/>
                <a:ea typeface="Paperlogy 7 Bold" pitchFamily="2" charset="-127"/>
                <a:cs typeface="Arial" pitchFamily="34" charset="-120"/>
              </a:rPr>
              <a:t> </a:t>
            </a:r>
            <a:r>
              <a:rPr lang="en-US" sz="1725" b="1" dirty="0" err="1">
                <a:solidFill>
                  <a:srgbClr val="9A4A27"/>
                </a:solidFill>
                <a:latin typeface="Paperlogy 7 Bold" pitchFamily="2" charset="-127"/>
                <a:ea typeface="Paperlogy 7 Bold" pitchFamily="2" charset="-127"/>
                <a:cs typeface="Arial" pitchFamily="34" charset="-120"/>
              </a:rPr>
              <a:t>최소한의</a:t>
            </a:r>
            <a:r>
              <a:rPr lang="en-US" altLang="ko-KR" sz="1725" b="1" dirty="0">
                <a:solidFill>
                  <a:srgbClr val="9A4A27"/>
                </a:solidFill>
                <a:latin typeface="Paperlogy 7 Bold" pitchFamily="2" charset="-127"/>
                <a:ea typeface="Paperlogy 7 Bold" pitchFamily="2" charset="-127"/>
                <a:cs typeface="Arial" pitchFamily="34" charset="-120"/>
              </a:rPr>
              <a:t>. </a:t>
            </a:r>
            <a:r>
              <a:rPr lang="en-US" sz="1725" b="1" dirty="0">
                <a:solidFill>
                  <a:srgbClr val="9A4A27"/>
                </a:solidFill>
                <a:latin typeface="Paperlogy 7 Bold" pitchFamily="2" charset="-127"/>
                <a:ea typeface="Paperlogy 7 Bold" pitchFamily="2" charset="-127"/>
                <a:cs typeface="Arial" pitchFamily="34" charset="-120"/>
              </a:rPr>
              <a:t> 안전장치</a:t>
            </a:r>
            <a:endParaRPr lang="en-US" sz="1725" dirty="0"/>
          </a:p>
        </p:txBody>
      </p:sp>
      <p:sp>
        <p:nvSpPr>
          <p:cNvPr id="18" name="Shape 16"/>
          <p:cNvSpPr/>
          <p:nvPr/>
        </p:nvSpPr>
        <p:spPr>
          <a:xfrm>
            <a:off x="2424465" y="4251531"/>
            <a:ext cx="47606" cy="47606"/>
          </a:xfrm>
          <a:prstGeom prst="ellipse">
            <a:avLst/>
          </a:prstGeom>
          <a:solidFill>
            <a:srgbClr val="CF7446"/>
          </a:solidFill>
          <a:ln/>
        </p:spPr>
        <p:txBody>
          <a:bodyPr/>
          <a:lstStyle/>
          <a:p>
            <a:endParaRPr lang="ko-KR" altLang="en-US"/>
          </a:p>
        </p:txBody>
      </p:sp>
      <p:sp>
        <p:nvSpPr>
          <p:cNvPr id="19" name="Text 17"/>
          <p:cNvSpPr/>
          <p:nvPr/>
        </p:nvSpPr>
        <p:spPr>
          <a:xfrm>
            <a:off x="2567281" y="4082511"/>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유동성 필요시 납기 중에도 납입중지, 중도인출 활용 가능</a:t>
            </a:r>
            <a:endParaRPr lang="en-US" sz="1725" dirty="0"/>
          </a:p>
        </p:txBody>
      </p:sp>
      <p:pic>
        <p:nvPicPr>
          <p:cNvPr id="20" name="Image 0" descr="preencoded.png"/>
          <p:cNvPicPr>
            <a:picLocks noChangeAspect="1"/>
          </p:cNvPicPr>
          <p:nvPr/>
        </p:nvPicPr>
        <p:blipFill>
          <a:blip r:embed="rId3"/>
          <a:stretch>
            <a:fillRect/>
          </a:stretch>
        </p:blipFill>
        <p:spPr>
          <a:xfrm>
            <a:off x="9205498" y="3570179"/>
            <a:ext cx="609581" cy="609581"/>
          </a:xfrm>
          <a:prstGeom prst="rect">
            <a:avLst/>
          </a:prstGeom>
        </p:spPr>
      </p:pic>
      <p:sp>
        <p:nvSpPr>
          <p:cNvPr id="21" name="Shape 18"/>
          <p:cNvSpPr/>
          <p:nvPr/>
        </p:nvSpPr>
        <p:spPr>
          <a:xfrm>
            <a:off x="533363" y="4864743"/>
            <a:ext cx="1428740" cy="1399802"/>
          </a:xfrm>
          <a:prstGeom prst="roundRect">
            <a:avLst>
              <a:gd name="adj" fmla="val 10887"/>
            </a:avLst>
          </a:prstGeom>
          <a:solidFill>
            <a:srgbClr val="F6E2D3"/>
          </a:solidFill>
          <a:ln/>
        </p:spPr>
        <p:txBody>
          <a:bodyPr/>
          <a:lstStyle/>
          <a:p>
            <a:endParaRPr lang="ko-KR" altLang="en-US"/>
          </a:p>
        </p:txBody>
      </p:sp>
      <p:sp>
        <p:nvSpPr>
          <p:cNvPr id="22" name="Text 19"/>
          <p:cNvSpPr/>
          <p:nvPr/>
        </p:nvSpPr>
        <p:spPr>
          <a:xfrm>
            <a:off x="963688" y="5289852"/>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3" name="Text 20"/>
          <p:cNvSpPr/>
          <p:nvPr/>
        </p:nvSpPr>
        <p:spPr>
          <a:xfrm>
            <a:off x="963688" y="5585512"/>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4" name="Shape 21"/>
          <p:cNvSpPr/>
          <p:nvPr/>
        </p:nvSpPr>
        <p:spPr>
          <a:xfrm>
            <a:off x="2076389" y="4864743"/>
            <a:ext cx="8086765" cy="1399802"/>
          </a:xfrm>
          <a:prstGeom prst="roundRect">
            <a:avLst>
              <a:gd name="adj" fmla="val 10887"/>
            </a:avLst>
          </a:prstGeom>
          <a:solidFill>
            <a:srgbClr val="FFFFFF"/>
          </a:solidFill>
          <a:ln w="5217">
            <a:solidFill>
              <a:srgbClr val="EADFD3"/>
            </a:solidFill>
            <a:prstDash val="solid"/>
          </a:ln>
        </p:spPr>
        <p:txBody>
          <a:bodyPr/>
          <a:lstStyle/>
          <a:p>
            <a:endParaRPr lang="ko-KR" altLang="en-US"/>
          </a:p>
        </p:txBody>
      </p:sp>
      <p:sp>
        <p:nvSpPr>
          <p:cNvPr id="25" name="Shape 22"/>
          <p:cNvSpPr/>
          <p:nvPr/>
        </p:nvSpPr>
        <p:spPr>
          <a:xfrm>
            <a:off x="2424465" y="5340348"/>
            <a:ext cx="47606" cy="47606"/>
          </a:xfrm>
          <a:prstGeom prst="ellipse">
            <a:avLst/>
          </a:prstGeom>
          <a:solidFill>
            <a:srgbClr val="A69687"/>
          </a:solidFill>
          <a:ln/>
        </p:spPr>
        <p:txBody>
          <a:bodyPr/>
          <a:lstStyle/>
          <a:p>
            <a:endParaRPr lang="ko-KR" altLang="en-US"/>
          </a:p>
        </p:txBody>
      </p:sp>
      <p:sp>
        <p:nvSpPr>
          <p:cNvPr id="26" name="Text 23"/>
          <p:cNvSpPr/>
          <p:nvPr/>
        </p:nvSpPr>
        <p:spPr>
          <a:xfrm>
            <a:off x="2567281" y="5155675"/>
            <a:ext cx="7465231" cy="409000"/>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변동성 장세와 관계없이 확정수익을 낼 수 있는, 내 노후에 필요한 최소 자금 마련에 최적화</a:t>
            </a:r>
            <a:endParaRPr lang="en-US" sz="1538" dirty="0"/>
          </a:p>
        </p:txBody>
      </p:sp>
      <p:sp>
        <p:nvSpPr>
          <p:cNvPr id="27" name="Shape 24"/>
          <p:cNvSpPr/>
          <p:nvPr/>
        </p:nvSpPr>
        <p:spPr>
          <a:xfrm>
            <a:off x="2424465" y="5787385"/>
            <a:ext cx="47606" cy="47606"/>
          </a:xfrm>
          <a:prstGeom prst="ellipse">
            <a:avLst/>
          </a:prstGeom>
          <a:solidFill>
            <a:srgbClr val="A69687"/>
          </a:solidFill>
          <a:ln/>
        </p:spPr>
        <p:txBody>
          <a:bodyPr/>
          <a:lstStyle/>
          <a:p>
            <a:endParaRPr lang="ko-KR" altLang="en-US"/>
          </a:p>
        </p:txBody>
      </p:sp>
      <p:sp>
        <p:nvSpPr>
          <p:cNvPr id="28" name="Text 25"/>
          <p:cNvSpPr/>
          <p:nvPr/>
        </p:nvSpPr>
        <p:spPr>
          <a:xfrm>
            <a:off x="2567281" y="5602712"/>
            <a:ext cx="7465231" cy="409000"/>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대부분의 자산을 공격적인 투자를 하고 있다면, 포트폴리오에 꼭 담아가야 하는 상품!</a:t>
            </a:r>
            <a:endParaRPr lang="en-US" sz="1538" dirty="0"/>
          </a:p>
        </p:txBody>
      </p:sp>
      <p:sp>
        <p:nvSpPr>
          <p:cNvPr id="29" name="Text 26"/>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30" name="Text 27"/>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31" name="Text 28"/>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7EBD4"/>
        </a:solidFill>
        <a:effectLst/>
      </p:bgPr>
    </p:bg>
    <p:spTree>
      <p:nvGrpSpPr>
        <p:cNvPr id="1" name=""/>
        <p:cNvGrpSpPr/>
        <p:nvPr/>
      </p:nvGrpSpPr>
      <p:grpSpPr>
        <a:xfrm>
          <a:off x="0" y="0"/>
          <a:ext cx="0" cy="0"/>
          <a:chOff x="0" y="0"/>
          <a:chExt cx="0" cy="0"/>
        </a:xfrm>
      </p:grpSpPr>
      <p:sp>
        <p:nvSpPr>
          <p:cNvPr id="2" name="Shape 0"/>
          <p:cNvSpPr/>
          <p:nvPr/>
        </p:nvSpPr>
        <p:spPr>
          <a:xfrm>
            <a:off x="6886516" y="-1523951"/>
            <a:ext cx="4952944" cy="4952944"/>
          </a:xfrm>
          <a:prstGeom prst="ellipse">
            <a:avLst/>
          </a:prstGeom>
          <a:solidFill>
            <a:srgbClr val="7E8D4A">
              <a:alpha val="10000"/>
            </a:srgbClr>
          </a:solidFill>
          <a:ln/>
        </p:spPr>
        <p:txBody>
          <a:bodyPr/>
          <a:lstStyle/>
          <a:p>
            <a:endParaRPr lang="ko-KR" altLang="en-US"/>
          </a:p>
        </p:txBody>
      </p:sp>
      <p:sp>
        <p:nvSpPr>
          <p:cNvPr id="3" name="Text 1"/>
          <p:cNvSpPr/>
          <p:nvPr/>
        </p:nvSpPr>
        <p:spPr>
          <a:xfrm>
            <a:off x="914371" y="1333447"/>
            <a:ext cx="5530554" cy="603906"/>
          </a:xfrm>
          <a:prstGeom prst="rect">
            <a:avLst/>
          </a:prstGeom>
          <a:noFill/>
          <a:ln/>
        </p:spPr>
        <p:txBody>
          <a:bodyPr wrap="square" lIns="25400" tIns="25400" rIns="25400" bIns="25400" rtlCol="0" anchor="t">
            <a:normAutofit lnSpcReduction="10000"/>
          </a:bodyPr>
          <a:lstStyle/>
          <a:p>
            <a:pPr marL="0" indent="0" algn="l">
              <a:lnSpc>
                <a:spcPct val="95973"/>
              </a:lnSpc>
              <a:buNone/>
            </a:pPr>
            <a:r>
              <a:rPr lang="en-US" sz="4050" b="1" kern="0" spc="-142" dirty="0">
                <a:solidFill>
                  <a:srgbClr val="55612C"/>
                </a:solidFill>
                <a:latin typeface="Paperlogy 7 Bold" pitchFamily="2" charset="-127"/>
                <a:ea typeface="Paperlogy 7 Bold" pitchFamily="2" charset="-127"/>
                <a:cs typeface="Arial" pitchFamily="34" charset="-120"/>
              </a:rPr>
              <a:t>1-2. 생명보험 가성비 상품</a:t>
            </a:r>
            <a:endParaRPr lang="en-US" sz="4050" dirty="0"/>
          </a:p>
        </p:txBody>
      </p:sp>
      <p:sp>
        <p:nvSpPr>
          <p:cNvPr id="4" name="Shape 2"/>
          <p:cNvSpPr/>
          <p:nvPr/>
        </p:nvSpPr>
        <p:spPr>
          <a:xfrm>
            <a:off x="914371" y="2590758"/>
            <a:ext cx="8867775" cy="4019580"/>
          </a:xfrm>
          <a:prstGeom prst="roundRect">
            <a:avLst>
              <a:gd name="adj" fmla="val 5687"/>
            </a:avLst>
          </a:prstGeom>
          <a:solidFill>
            <a:srgbClr val="FFFFFF"/>
          </a:solidFill>
          <a:ln/>
        </p:spPr>
        <p:txBody>
          <a:bodyPr/>
          <a:lstStyle/>
          <a:p>
            <a:endParaRPr lang="ko-KR" altLang="en-US"/>
          </a:p>
        </p:txBody>
      </p:sp>
      <p:sp>
        <p:nvSpPr>
          <p:cNvPr id="5" name="Shape 3"/>
          <p:cNvSpPr/>
          <p:nvPr/>
        </p:nvSpPr>
        <p:spPr>
          <a:xfrm>
            <a:off x="1447733" y="3102193"/>
            <a:ext cx="1809748" cy="1288776"/>
          </a:xfrm>
          <a:prstGeom prst="roundRect">
            <a:avLst>
              <a:gd name="adj" fmla="val 10347"/>
            </a:avLst>
          </a:prstGeom>
          <a:solidFill>
            <a:srgbClr val="7E8D4A"/>
          </a:solidFill>
          <a:ln/>
        </p:spPr>
        <p:txBody>
          <a:bodyPr/>
          <a:lstStyle/>
          <a:p>
            <a:endParaRPr lang="ko-KR" altLang="en-US"/>
          </a:p>
        </p:txBody>
      </p:sp>
      <p:sp>
        <p:nvSpPr>
          <p:cNvPr id="6" name="Text 4"/>
          <p:cNvSpPr/>
          <p:nvPr/>
        </p:nvSpPr>
        <p:spPr>
          <a:xfrm>
            <a:off x="2080954" y="3479288"/>
            <a:ext cx="619508"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건강체</a:t>
            </a:r>
            <a:endParaRPr lang="en-US" sz="1650" dirty="0"/>
          </a:p>
        </p:txBody>
      </p:sp>
      <p:sp>
        <p:nvSpPr>
          <p:cNvPr id="7" name="Text 5"/>
          <p:cNvSpPr/>
          <p:nvPr/>
        </p:nvSpPr>
        <p:spPr>
          <a:xfrm>
            <a:off x="1870804" y="3772666"/>
            <a:ext cx="1039807"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가성비 상품</a:t>
            </a:r>
            <a:endParaRPr lang="en-US" sz="1650" dirty="0"/>
          </a:p>
        </p:txBody>
      </p:sp>
      <p:sp>
        <p:nvSpPr>
          <p:cNvPr id="8" name="Shape 6"/>
          <p:cNvSpPr/>
          <p:nvPr/>
        </p:nvSpPr>
        <p:spPr>
          <a:xfrm>
            <a:off x="3524122" y="3242401"/>
            <a:ext cx="47606" cy="47606"/>
          </a:xfrm>
          <a:prstGeom prst="ellipse">
            <a:avLst/>
          </a:prstGeom>
          <a:solidFill>
            <a:srgbClr val="7E8D4A"/>
          </a:solidFill>
          <a:ln/>
        </p:spPr>
        <p:txBody>
          <a:bodyPr/>
          <a:lstStyle/>
          <a:p>
            <a:endParaRPr lang="ko-KR" altLang="en-US"/>
          </a:p>
        </p:txBody>
      </p:sp>
      <p:sp>
        <p:nvSpPr>
          <p:cNvPr id="9" name="Text 7"/>
          <p:cNvSpPr/>
          <p:nvPr/>
        </p:nvSpPr>
        <p:spPr>
          <a:xfrm>
            <a:off x="3666939" y="3102193"/>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흥국생명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다사랑 오튼튼 건강보험</a:t>
            </a:r>
            <a:endParaRPr lang="en-US" sz="1725" dirty="0"/>
          </a:p>
        </p:txBody>
      </p:sp>
      <p:sp>
        <p:nvSpPr>
          <p:cNvPr id="10" name="Shape 8"/>
          <p:cNvSpPr/>
          <p:nvPr/>
        </p:nvSpPr>
        <p:spPr>
          <a:xfrm>
            <a:off x="3524122" y="3722778"/>
            <a:ext cx="47606" cy="47606"/>
          </a:xfrm>
          <a:prstGeom prst="ellipse">
            <a:avLst/>
          </a:prstGeom>
          <a:solidFill>
            <a:srgbClr val="7E8D4A"/>
          </a:solidFill>
          <a:ln/>
        </p:spPr>
        <p:txBody>
          <a:bodyPr/>
          <a:lstStyle/>
          <a:p>
            <a:endParaRPr lang="ko-KR" altLang="en-US"/>
          </a:p>
        </p:txBody>
      </p:sp>
      <p:sp>
        <p:nvSpPr>
          <p:cNvPr id="11" name="Text 9"/>
          <p:cNvSpPr/>
          <p:nvPr/>
        </p:nvSpPr>
        <p:spPr>
          <a:xfrm>
            <a:off x="3666939" y="3582570"/>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삼성생명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가족대표 건강보험</a:t>
            </a:r>
            <a:endParaRPr lang="en-US" sz="1725" dirty="0"/>
          </a:p>
        </p:txBody>
      </p:sp>
      <p:sp>
        <p:nvSpPr>
          <p:cNvPr id="12" name="Shape 10"/>
          <p:cNvSpPr/>
          <p:nvPr/>
        </p:nvSpPr>
        <p:spPr>
          <a:xfrm>
            <a:off x="3524122" y="4203155"/>
            <a:ext cx="47606" cy="47606"/>
          </a:xfrm>
          <a:prstGeom prst="ellipse">
            <a:avLst/>
          </a:prstGeom>
          <a:solidFill>
            <a:srgbClr val="7E8D4A"/>
          </a:solidFill>
          <a:ln/>
        </p:spPr>
        <p:txBody>
          <a:bodyPr/>
          <a:lstStyle/>
          <a:p>
            <a:endParaRPr lang="ko-KR" altLang="en-US"/>
          </a:p>
        </p:txBody>
      </p:sp>
      <p:sp>
        <p:nvSpPr>
          <p:cNvPr id="13" name="Text 11"/>
          <p:cNvSpPr/>
          <p:nvPr/>
        </p:nvSpPr>
        <p:spPr>
          <a:xfrm>
            <a:off x="3666939" y="4062946"/>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KB라이프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5.10.5 딱좋은 플러스 건강보험</a:t>
            </a:r>
            <a:endParaRPr lang="en-US" sz="1725" dirty="0"/>
          </a:p>
        </p:txBody>
      </p:sp>
      <p:sp>
        <p:nvSpPr>
          <p:cNvPr id="14" name="Shape 12"/>
          <p:cNvSpPr/>
          <p:nvPr/>
        </p:nvSpPr>
        <p:spPr>
          <a:xfrm>
            <a:off x="1447733" y="4810046"/>
            <a:ext cx="1809748" cy="1288776"/>
          </a:xfrm>
          <a:prstGeom prst="roundRect">
            <a:avLst>
              <a:gd name="adj" fmla="val 10347"/>
            </a:avLst>
          </a:prstGeom>
          <a:solidFill>
            <a:srgbClr val="7E8D4A"/>
          </a:solidFill>
          <a:ln/>
        </p:spPr>
        <p:txBody>
          <a:bodyPr/>
          <a:lstStyle/>
          <a:p>
            <a:endParaRPr lang="ko-KR" altLang="en-US"/>
          </a:p>
        </p:txBody>
      </p:sp>
      <p:sp>
        <p:nvSpPr>
          <p:cNvPr id="15" name="Text 13"/>
          <p:cNvSpPr/>
          <p:nvPr/>
        </p:nvSpPr>
        <p:spPr>
          <a:xfrm>
            <a:off x="2080954" y="5187141"/>
            <a:ext cx="619508"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초경증</a:t>
            </a:r>
            <a:endParaRPr lang="en-US" sz="1650" dirty="0"/>
          </a:p>
        </p:txBody>
      </p:sp>
      <p:sp>
        <p:nvSpPr>
          <p:cNvPr id="16" name="Text 14"/>
          <p:cNvSpPr/>
          <p:nvPr/>
        </p:nvSpPr>
        <p:spPr>
          <a:xfrm>
            <a:off x="1870804" y="5480519"/>
            <a:ext cx="1039807"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가성비 상품</a:t>
            </a:r>
            <a:endParaRPr lang="en-US" sz="1650" dirty="0"/>
          </a:p>
        </p:txBody>
      </p:sp>
      <p:sp>
        <p:nvSpPr>
          <p:cNvPr id="17" name="Shape 15"/>
          <p:cNvSpPr/>
          <p:nvPr/>
        </p:nvSpPr>
        <p:spPr>
          <a:xfrm>
            <a:off x="3524122" y="4950254"/>
            <a:ext cx="47606" cy="47606"/>
          </a:xfrm>
          <a:prstGeom prst="ellipse">
            <a:avLst/>
          </a:prstGeom>
          <a:solidFill>
            <a:srgbClr val="7E8D4A"/>
          </a:solidFill>
          <a:ln/>
        </p:spPr>
        <p:txBody>
          <a:bodyPr/>
          <a:lstStyle/>
          <a:p>
            <a:endParaRPr lang="ko-KR" altLang="en-US"/>
          </a:p>
        </p:txBody>
      </p:sp>
      <p:sp>
        <p:nvSpPr>
          <p:cNvPr id="18" name="Text 16"/>
          <p:cNvSpPr/>
          <p:nvPr/>
        </p:nvSpPr>
        <p:spPr>
          <a:xfrm>
            <a:off x="3666939" y="4810046"/>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미래에셋생명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M-케어 건강보험 3.10.5</a:t>
            </a:r>
            <a:endParaRPr lang="en-US" sz="1725" dirty="0"/>
          </a:p>
        </p:txBody>
      </p:sp>
      <p:sp>
        <p:nvSpPr>
          <p:cNvPr id="19" name="Shape 17"/>
          <p:cNvSpPr/>
          <p:nvPr/>
        </p:nvSpPr>
        <p:spPr>
          <a:xfrm>
            <a:off x="3524122" y="5430631"/>
            <a:ext cx="47606" cy="47606"/>
          </a:xfrm>
          <a:prstGeom prst="ellipse">
            <a:avLst/>
          </a:prstGeom>
          <a:solidFill>
            <a:srgbClr val="7E8D4A"/>
          </a:solidFill>
          <a:ln/>
        </p:spPr>
        <p:txBody>
          <a:bodyPr/>
          <a:lstStyle/>
          <a:p>
            <a:endParaRPr lang="ko-KR" altLang="en-US"/>
          </a:p>
        </p:txBody>
      </p:sp>
      <p:sp>
        <p:nvSpPr>
          <p:cNvPr id="20" name="Text 18"/>
          <p:cNvSpPr/>
          <p:nvPr/>
        </p:nvSpPr>
        <p:spPr>
          <a:xfrm>
            <a:off x="3666939" y="5290422"/>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KB라이프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딱좋은 초경증 건강보험</a:t>
            </a:r>
            <a:endParaRPr lang="en-US" sz="1725" dirty="0"/>
          </a:p>
        </p:txBody>
      </p:sp>
      <p:sp>
        <p:nvSpPr>
          <p:cNvPr id="21" name="Shape 19"/>
          <p:cNvSpPr/>
          <p:nvPr/>
        </p:nvSpPr>
        <p:spPr>
          <a:xfrm>
            <a:off x="3524122" y="5911008"/>
            <a:ext cx="47606" cy="47606"/>
          </a:xfrm>
          <a:prstGeom prst="ellipse">
            <a:avLst/>
          </a:prstGeom>
          <a:solidFill>
            <a:srgbClr val="7E8D4A"/>
          </a:solidFill>
          <a:ln/>
        </p:spPr>
        <p:txBody>
          <a:bodyPr/>
          <a:lstStyle/>
          <a:p>
            <a:endParaRPr lang="ko-KR" altLang="en-US"/>
          </a:p>
        </p:txBody>
      </p:sp>
      <p:sp>
        <p:nvSpPr>
          <p:cNvPr id="22" name="Text 20"/>
          <p:cNvSpPr/>
          <p:nvPr/>
        </p:nvSpPr>
        <p:spPr>
          <a:xfrm>
            <a:off x="3666939" y="5770800"/>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흥국생명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다사랑 3.10.5 간편건강</a:t>
            </a:r>
            <a:endParaRPr lang="en-US" sz="1725" dirty="0"/>
          </a:p>
        </p:txBody>
      </p:sp>
      <p:sp>
        <p:nvSpPr>
          <p:cNvPr id="23" name="Text 2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70314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비교표_3대진단 및 주요치료비 추천사_건강체</a:t>
            </a:r>
            <a:endParaRPr lang="en-US" sz="2475" dirty="0"/>
          </a:p>
        </p:txBody>
      </p:sp>
      <p:sp>
        <p:nvSpPr>
          <p:cNvPr id="3" name="Shape 1"/>
          <p:cNvSpPr/>
          <p:nvPr/>
        </p:nvSpPr>
        <p:spPr>
          <a:xfrm>
            <a:off x="8875682" y="340821"/>
            <a:ext cx="1287472" cy="289710"/>
          </a:xfrm>
          <a:prstGeom prst="roundRect">
            <a:avLst>
              <a:gd name="adj" fmla="val 50000"/>
            </a:avLst>
          </a:prstGeom>
          <a:solidFill>
            <a:srgbClr val="E7EBD4"/>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55612C"/>
                </a:solidFill>
                <a:latin typeface="Paperlogy 7 Bold" pitchFamily="2" charset="-127"/>
                <a:ea typeface="Paperlogy 7 Bold" pitchFamily="2" charset="-127"/>
                <a:cs typeface="Arial" pitchFamily="34" charset="-120"/>
              </a:rPr>
              <a:t>건강체 가성비 상품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7286191" y="1095338"/>
            <a:ext cx="316465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40세, 100세만기 20년납, 해지환급금 미지급형, 담보별 보험료</a:t>
            </a:r>
            <a:endParaRPr lang="en-US" sz="900" dirty="0"/>
          </a:p>
        </p:txBody>
      </p:sp>
      <p:sp>
        <p:nvSpPr>
          <p:cNvPr id="7" name="Shape 5"/>
          <p:cNvSpPr/>
          <p:nvPr/>
        </p:nvSpPr>
        <p:spPr>
          <a:xfrm>
            <a:off x="533363" y="1301900"/>
            <a:ext cx="9629791" cy="5489404"/>
          </a:xfrm>
          <a:prstGeom prst="roundRect">
            <a:avLst>
              <a:gd name="adj" fmla="val 2082"/>
            </a:avLst>
          </a:prstGeom>
          <a:solidFill>
            <a:srgbClr val="FFFFFF"/>
          </a:solidFill>
          <a:ln w="5217">
            <a:solidFill>
              <a:srgbClr val="EADFD3"/>
            </a:solidFill>
            <a:prstDash val="solid"/>
          </a:ln>
        </p:spPr>
        <p:txBody>
          <a:bodyPr/>
          <a:lstStyle/>
          <a:p>
            <a:endParaRPr lang="ko-KR" altLang="en-US"/>
          </a:p>
        </p:txBody>
      </p:sp>
      <p:sp>
        <p:nvSpPr>
          <p:cNvPr id="8" name="Shape 6"/>
          <p:cNvSpPr/>
          <p:nvPr/>
        </p:nvSpPr>
        <p:spPr>
          <a:xfrm>
            <a:off x="538580" y="1307117"/>
            <a:ext cx="2404738" cy="438559"/>
          </a:xfrm>
          <a:prstGeom prst="rect">
            <a:avLst/>
          </a:prstGeom>
          <a:solidFill>
            <a:srgbClr val="7E8D4A"/>
          </a:solidFill>
          <a:ln/>
        </p:spPr>
        <p:txBody>
          <a:bodyPr/>
          <a:lstStyle/>
          <a:p>
            <a:endParaRPr lang="ko-KR" altLang="en-US"/>
          </a:p>
        </p:txBody>
      </p:sp>
      <p:sp>
        <p:nvSpPr>
          <p:cNvPr id="9" name="Text 7"/>
          <p:cNvSpPr/>
          <p:nvPr/>
        </p:nvSpPr>
        <p:spPr>
          <a:xfrm>
            <a:off x="557630" y="1345217"/>
            <a:ext cx="2366638" cy="4004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0" name="Shape 8"/>
          <p:cNvSpPr/>
          <p:nvPr/>
        </p:nvSpPr>
        <p:spPr>
          <a:xfrm>
            <a:off x="2943317" y="1307117"/>
            <a:ext cx="2404738" cy="438559"/>
          </a:xfrm>
          <a:prstGeom prst="rect">
            <a:avLst/>
          </a:prstGeom>
          <a:solidFill>
            <a:srgbClr val="7E8D4A"/>
          </a:solidFill>
          <a:ln/>
        </p:spPr>
        <p:txBody>
          <a:bodyPr/>
          <a:lstStyle/>
          <a:p>
            <a:endParaRPr lang="ko-KR" altLang="en-US"/>
          </a:p>
        </p:txBody>
      </p:sp>
      <p:sp>
        <p:nvSpPr>
          <p:cNvPr id="11" name="Shape 9"/>
          <p:cNvSpPr/>
          <p:nvPr/>
        </p:nvSpPr>
        <p:spPr>
          <a:xfrm>
            <a:off x="2943317" y="1307117"/>
            <a:ext cx="9525" cy="438559"/>
          </a:xfrm>
          <a:prstGeom prst="rect">
            <a:avLst/>
          </a:prstGeom>
          <a:solidFill>
            <a:srgbClr val="FFFFFF">
              <a:alpha val="25000"/>
            </a:srgbClr>
          </a:solidFill>
          <a:ln/>
        </p:spPr>
        <p:txBody>
          <a:bodyPr/>
          <a:lstStyle/>
          <a:p>
            <a:endParaRPr lang="ko-KR" altLang="en-US"/>
          </a:p>
        </p:txBody>
      </p:sp>
      <p:sp>
        <p:nvSpPr>
          <p:cNvPr id="12" name="Text 10"/>
          <p:cNvSpPr/>
          <p:nvPr/>
        </p:nvSpPr>
        <p:spPr>
          <a:xfrm>
            <a:off x="2967584" y="1345217"/>
            <a:ext cx="2361420" cy="4004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흥국생명</a:t>
            </a:r>
            <a:endParaRPr lang="en-US" sz="1575" dirty="0"/>
          </a:p>
        </p:txBody>
      </p:sp>
      <p:sp>
        <p:nvSpPr>
          <p:cNvPr id="13" name="Shape 11"/>
          <p:cNvSpPr/>
          <p:nvPr/>
        </p:nvSpPr>
        <p:spPr>
          <a:xfrm>
            <a:off x="5348054" y="1307117"/>
            <a:ext cx="2404738" cy="438559"/>
          </a:xfrm>
          <a:prstGeom prst="rect">
            <a:avLst/>
          </a:prstGeom>
          <a:solidFill>
            <a:srgbClr val="7E8D4A"/>
          </a:solidFill>
          <a:ln/>
        </p:spPr>
        <p:txBody>
          <a:bodyPr/>
          <a:lstStyle/>
          <a:p>
            <a:endParaRPr lang="ko-KR" altLang="en-US"/>
          </a:p>
        </p:txBody>
      </p:sp>
      <p:sp>
        <p:nvSpPr>
          <p:cNvPr id="14" name="Shape 12"/>
          <p:cNvSpPr/>
          <p:nvPr/>
        </p:nvSpPr>
        <p:spPr>
          <a:xfrm>
            <a:off x="5348054" y="1307117"/>
            <a:ext cx="9525" cy="438559"/>
          </a:xfrm>
          <a:prstGeom prst="rect">
            <a:avLst/>
          </a:prstGeom>
          <a:solidFill>
            <a:srgbClr val="FFFFFF">
              <a:alpha val="25000"/>
            </a:srgbClr>
          </a:solidFill>
          <a:ln/>
        </p:spPr>
        <p:txBody>
          <a:bodyPr/>
          <a:lstStyle/>
          <a:p>
            <a:endParaRPr lang="ko-KR" altLang="en-US"/>
          </a:p>
        </p:txBody>
      </p:sp>
      <p:sp>
        <p:nvSpPr>
          <p:cNvPr id="15" name="Text 13"/>
          <p:cNvSpPr/>
          <p:nvPr/>
        </p:nvSpPr>
        <p:spPr>
          <a:xfrm>
            <a:off x="5372321" y="1345217"/>
            <a:ext cx="2361420" cy="4004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삼성생명</a:t>
            </a:r>
            <a:endParaRPr lang="en-US" sz="1575" dirty="0"/>
          </a:p>
        </p:txBody>
      </p:sp>
      <p:sp>
        <p:nvSpPr>
          <p:cNvPr id="16" name="Shape 14"/>
          <p:cNvSpPr/>
          <p:nvPr/>
        </p:nvSpPr>
        <p:spPr>
          <a:xfrm>
            <a:off x="7752792" y="1307117"/>
            <a:ext cx="2405145" cy="438559"/>
          </a:xfrm>
          <a:prstGeom prst="rect">
            <a:avLst/>
          </a:prstGeom>
          <a:solidFill>
            <a:srgbClr val="7E8D4A"/>
          </a:solidFill>
          <a:ln/>
        </p:spPr>
        <p:txBody>
          <a:bodyPr/>
          <a:lstStyle/>
          <a:p>
            <a:endParaRPr lang="ko-KR" altLang="en-US"/>
          </a:p>
        </p:txBody>
      </p:sp>
      <p:sp>
        <p:nvSpPr>
          <p:cNvPr id="17" name="Shape 15"/>
          <p:cNvSpPr/>
          <p:nvPr/>
        </p:nvSpPr>
        <p:spPr>
          <a:xfrm>
            <a:off x="7752792" y="1307117"/>
            <a:ext cx="9525" cy="438559"/>
          </a:xfrm>
          <a:prstGeom prst="rect">
            <a:avLst/>
          </a:prstGeom>
          <a:solidFill>
            <a:srgbClr val="FFFFFF">
              <a:alpha val="25000"/>
            </a:srgbClr>
          </a:solidFill>
          <a:ln/>
        </p:spPr>
        <p:txBody>
          <a:bodyPr/>
          <a:lstStyle/>
          <a:p>
            <a:endParaRPr lang="ko-KR" altLang="en-US"/>
          </a:p>
        </p:txBody>
      </p:sp>
      <p:sp>
        <p:nvSpPr>
          <p:cNvPr id="18" name="Text 16"/>
          <p:cNvSpPr/>
          <p:nvPr/>
        </p:nvSpPr>
        <p:spPr>
          <a:xfrm>
            <a:off x="7777059" y="1345217"/>
            <a:ext cx="2361828" cy="40045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KB라이프</a:t>
            </a:r>
            <a:endParaRPr lang="en-US" sz="1575" dirty="0"/>
          </a:p>
        </p:txBody>
      </p:sp>
      <p:sp>
        <p:nvSpPr>
          <p:cNvPr id="19" name="Shape 17"/>
          <p:cNvSpPr/>
          <p:nvPr/>
        </p:nvSpPr>
        <p:spPr>
          <a:xfrm>
            <a:off x="538580" y="1745676"/>
            <a:ext cx="2404738" cy="383128"/>
          </a:xfrm>
          <a:prstGeom prst="rect">
            <a:avLst/>
          </a:prstGeom>
          <a:solidFill>
            <a:srgbClr val="F5F7EC"/>
          </a:solidFill>
          <a:ln/>
        </p:spPr>
        <p:txBody>
          <a:bodyPr/>
          <a:lstStyle/>
          <a:p>
            <a:endParaRPr lang="ko-KR" altLang="en-US"/>
          </a:p>
        </p:txBody>
      </p:sp>
      <p:sp>
        <p:nvSpPr>
          <p:cNvPr id="20" name="Shape 18"/>
          <p:cNvSpPr/>
          <p:nvPr/>
        </p:nvSpPr>
        <p:spPr>
          <a:xfrm>
            <a:off x="538580" y="1745676"/>
            <a:ext cx="2404738" cy="9525"/>
          </a:xfrm>
          <a:prstGeom prst="rect">
            <a:avLst/>
          </a:prstGeom>
          <a:solidFill>
            <a:srgbClr val="EADFD3"/>
          </a:solidFill>
          <a:ln/>
        </p:spPr>
        <p:txBody>
          <a:bodyPr/>
          <a:lstStyle/>
          <a:p>
            <a:endParaRPr lang="ko-KR" altLang="en-US"/>
          </a:p>
        </p:txBody>
      </p:sp>
      <p:sp>
        <p:nvSpPr>
          <p:cNvPr id="21" name="Text 19"/>
          <p:cNvSpPr/>
          <p:nvPr/>
        </p:nvSpPr>
        <p:spPr>
          <a:xfrm>
            <a:off x="557630" y="1788994"/>
            <a:ext cx="236663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상품명</a:t>
            </a:r>
            <a:endParaRPr lang="en-US" sz="1163" dirty="0"/>
          </a:p>
        </p:txBody>
      </p:sp>
      <p:sp>
        <p:nvSpPr>
          <p:cNvPr id="22" name="Shape 20"/>
          <p:cNvSpPr/>
          <p:nvPr/>
        </p:nvSpPr>
        <p:spPr>
          <a:xfrm>
            <a:off x="2943317" y="1745676"/>
            <a:ext cx="2404738" cy="383128"/>
          </a:xfrm>
          <a:prstGeom prst="rect">
            <a:avLst/>
          </a:prstGeom>
          <a:solidFill>
            <a:srgbClr val="FFFFFF"/>
          </a:solidFill>
          <a:ln/>
        </p:spPr>
        <p:txBody>
          <a:bodyPr/>
          <a:lstStyle/>
          <a:p>
            <a:endParaRPr lang="ko-KR" altLang="en-US"/>
          </a:p>
        </p:txBody>
      </p:sp>
      <p:sp>
        <p:nvSpPr>
          <p:cNvPr id="23" name="Shape 21"/>
          <p:cNvSpPr/>
          <p:nvPr/>
        </p:nvSpPr>
        <p:spPr>
          <a:xfrm>
            <a:off x="2943317" y="1745676"/>
            <a:ext cx="2404738" cy="9525"/>
          </a:xfrm>
          <a:prstGeom prst="rect">
            <a:avLst/>
          </a:prstGeom>
          <a:solidFill>
            <a:srgbClr val="EADFD3"/>
          </a:solidFill>
          <a:ln/>
        </p:spPr>
        <p:txBody>
          <a:bodyPr/>
          <a:lstStyle/>
          <a:p>
            <a:endParaRPr lang="ko-KR" altLang="en-US"/>
          </a:p>
        </p:txBody>
      </p:sp>
      <p:sp>
        <p:nvSpPr>
          <p:cNvPr id="24" name="Shape 22"/>
          <p:cNvSpPr/>
          <p:nvPr/>
        </p:nvSpPr>
        <p:spPr>
          <a:xfrm>
            <a:off x="2943317" y="1745676"/>
            <a:ext cx="9525" cy="383128"/>
          </a:xfrm>
          <a:prstGeom prst="rect">
            <a:avLst/>
          </a:prstGeom>
          <a:solidFill>
            <a:srgbClr val="EADFD3"/>
          </a:solidFill>
          <a:ln/>
        </p:spPr>
        <p:txBody>
          <a:bodyPr/>
          <a:lstStyle/>
          <a:p>
            <a:endParaRPr lang="ko-KR" altLang="en-US"/>
          </a:p>
        </p:txBody>
      </p:sp>
      <p:sp>
        <p:nvSpPr>
          <p:cNvPr id="25" name="Text 23"/>
          <p:cNvSpPr/>
          <p:nvPr/>
        </p:nvSpPr>
        <p:spPr>
          <a:xfrm>
            <a:off x="2967584" y="1788994"/>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다사랑 오튼튼 건강보험</a:t>
            </a:r>
            <a:endParaRPr lang="en-US" sz="1163" dirty="0"/>
          </a:p>
        </p:txBody>
      </p:sp>
      <p:sp>
        <p:nvSpPr>
          <p:cNvPr id="26" name="Shape 24"/>
          <p:cNvSpPr/>
          <p:nvPr/>
        </p:nvSpPr>
        <p:spPr>
          <a:xfrm>
            <a:off x="5348054" y="1745676"/>
            <a:ext cx="2404738" cy="383128"/>
          </a:xfrm>
          <a:prstGeom prst="rect">
            <a:avLst/>
          </a:prstGeom>
          <a:solidFill>
            <a:srgbClr val="FFFFFF"/>
          </a:solidFill>
          <a:ln/>
        </p:spPr>
        <p:txBody>
          <a:bodyPr/>
          <a:lstStyle/>
          <a:p>
            <a:endParaRPr lang="ko-KR" altLang="en-US"/>
          </a:p>
        </p:txBody>
      </p:sp>
      <p:sp>
        <p:nvSpPr>
          <p:cNvPr id="27" name="Shape 25"/>
          <p:cNvSpPr/>
          <p:nvPr/>
        </p:nvSpPr>
        <p:spPr>
          <a:xfrm>
            <a:off x="5348054" y="1745676"/>
            <a:ext cx="2404738" cy="9525"/>
          </a:xfrm>
          <a:prstGeom prst="rect">
            <a:avLst/>
          </a:prstGeom>
          <a:solidFill>
            <a:srgbClr val="EADFD3"/>
          </a:solidFill>
          <a:ln/>
        </p:spPr>
        <p:txBody>
          <a:bodyPr/>
          <a:lstStyle/>
          <a:p>
            <a:endParaRPr lang="ko-KR" altLang="en-US"/>
          </a:p>
        </p:txBody>
      </p:sp>
      <p:sp>
        <p:nvSpPr>
          <p:cNvPr id="28" name="Shape 26"/>
          <p:cNvSpPr/>
          <p:nvPr/>
        </p:nvSpPr>
        <p:spPr>
          <a:xfrm>
            <a:off x="5348054" y="1745676"/>
            <a:ext cx="9525" cy="383128"/>
          </a:xfrm>
          <a:prstGeom prst="rect">
            <a:avLst/>
          </a:prstGeom>
          <a:solidFill>
            <a:srgbClr val="EADFD3"/>
          </a:solidFill>
          <a:ln/>
        </p:spPr>
        <p:txBody>
          <a:bodyPr/>
          <a:lstStyle/>
          <a:p>
            <a:endParaRPr lang="ko-KR" altLang="en-US"/>
          </a:p>
        </p:txBody>
      </p:sp>
      <p:sp>
        <p:nvSpPr>
          <p:cNvPr id="29" name="Text 27"/>
          <p:cNvSpPr/>
          <p:nvPr/>
        </p:nvSpPr>
        <p:spPr>
          <a:xfrm>
            <a:off x="5372321" y="1788994"/>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가족대표 건강보험</a:t>
            </a:r>
            <a:endParaRPr lang="en-US" sz="1163" dirty="0"/>
          </a:p>
        </p:txBody>
      </p:sp>
      <p:sp>
        <p:nvSpPr>
          <p:cNvPr id="30" name="Shape 28"/>
          <p:cNvSpPr/>
          <p:nvPr/>
        </p:nvSpPr>
        <p:spPr>
          <a:xfrm>
            <a:off x="7752792" y="1745676"/>
            <a:ext cx="2405145" cy="383128"/>
          </a:xfrm>
          <a:prstGeom prst="rect">
            <a:avLst/>
          </a:prstGeom>
          <a:solidFill>
            <a:srgbClr val="FFFFFF"/>
          </a:solidFill>
          <a:ln/>
        </p:spPr>
        <p:txBody>
          <a:bodyPr/>
          <a:lstStyle/>
          <a:p>
            <a:endParaRPr lang="ko-KR" altLang="en-US"/>
          </a:p>
        </p:txBody>
      </p:sp>
      <p:sp>
        <p:nvSpPr>
          <p:cNvPr id="31" name="Shape 29"/>
          <p:cNvSpPr/>
          <p:nvPr/>
        </p:nvSpPr>
        <p:spPr>
          <a:xfrm>
            <a:off x="7752792" y="1745676"/>
            <a:ext cx="2405145" cy="9525"/>
          </a:xfrm>
          <a:prstGeom prst="rect">
            <a:avLst/>
          </a:prstGeom>
          <a:solidFill>
            <a:srgbClr val="EADFD3"/>
          </a:solidFill>
          <a:ln/>
        </p:spPr>
        <p:txBody>
          <a:bodyPr/>
          <a:lstStyle/>
          <a:p>
            <a:endParaRPr lang="ko-KR" altLang="en-US"/>
          </a:p>
        </p:txBody>
      </p:sp>
      <p:sp>
        <p:nvSpPr>
          <p:cNvPr id="32" name="Shape 30"/>
          <p:cNvSpPr/>
          <p:nvPr/>
        </p:nvSpPr>
        <p:spPr>
          <a:xfrm>
            <a:off x="7752792" y="1745676"/>
            <a:ext cx="9525" cy="383128"/>
          </a:xfrm>
          <a:prstGeom prst="rect">
            <a:avLst/>
          </a:prstGeom>
          <a:solidFill>
            <a:srgbClr val="EADFD3"/>
          </a:solidFill>
          <a:ln/>
        </p:spPr>
        <p:txBody>
          <a:bodyPr/>
          <a:lstStyle/>
          <a:p>
            <a:endParaRPr lang="ko-KR" altLang="en-US"/>
          </a:p>
        </p:txBody>
      </p:sp>
      <p:sp>
        <p:nvSpPr>
          <p:cNvPr id="33" name="Text 31"/>
          <p:cNvSpPr/>
          <p:nvPr/>
        </p:nvSpPr>
        <p:spPr>
          <a:xfrm>
            <a:off x="7777059" y="1788994"/>
            <a:ext cx="236182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5.10.5 딱좋은 플러스건강보험</a:t>
            </a:r>
            <a:endParaRPr lang="en-US" sz="1163" dirty="0"/>
          </a:p>
        </p:txBody>
      </p:sp>
      <p:sp>
        <p:nvSpPr>
          <p:cNvPr id="34" name="Shape 32"/>
          <p:cNvSpPr/>
          <p:nvPr/>
        </p:nvSpPr>
        <p:spPr>
          <a:xfrm>
            <a:off x="538580" y="2128804"/>
            <a:ext cx="2404738" cy="383128"/>
          </a:xfrm>
          <a:prstGeom prst="rect">
            <a:avLst/>
          </a:prstGeom>
          <a:solidFill>
            <a:srgbClr val="F5F7EC"/>
          </a:solidFill>
          <a:ln/>
        </p:spPr>
        <p:txBody>
          <a:bodyPr/>
          <a:lstStyle/>
          <a:p>
            <a:endParaRPr lang="ko-KR" altLang="en-US"/>
          </a:p>
        </p:txBody>
      </p:sp>
      <p:sp>
        <p:nvSpPr>
          <p:cNvPr id="35" name="Shape 33"/>
          <p:cNvSpPr/>
          <p:nvPr/>
        </p:nvSpPr>
        <p:spPr>
          <a:xfrm>
            <a:off x="538580" y="2128804"/>
            <a:ext cx="2404738" cy="9525"/>
          </a:xfrm>
          <a:prstGeom prst="rect">
            <a:avLst/>
          </a:prstGeom>
          <a:solidFill>
            <a:srgbClr val="EADFD3"/>
          </a:solidFill>
          <a:ln/>
        </p:spPr>
        <p:txBody>
          <a:bodyPr/>
          <a:lstStyle/>
          <a:p>
            <a:endParaRPr lang="ko-KR" altLang="en-US"/>
          </a:p>
        </p:txBody>
      </p:sp>
      <p:sp>
        <p:nvSpPr>
          <p:cNvPr id="36" name="Text 34"/>
          <p:cNvSpPr/>
          <p:nvPr/>
        </p:nvSpPr>
        <p:spPr>
          <a:xfrm>
            <a:off x="557630" y="2172121"/>
            <a:ext cx="236663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가입연령</a:t>
            </a:r>
            <a:endParaRPr lang="en-US" sz="1163" dirty="0"/>
          </a:p>
        </p:txBody>
      </p:sp>
      <p:sp>
        <p:nvSpPr>
          <p:cNvPr id="37" name="Shape 35"/>
          <p:cNvSpPr/>
          <p:nvPr/>
        </p:nvSpPr>
        <p:spPr>
          <a:xfrm>
            <a:off x="2943317" y="2128804"/>
            <a:ext cx="2404738" cy="383128"/>
          </a:xfrm>
          <a:prstGeom prst="rect">
            <a:avLst/>
          </a:prstGeom>
          <a:solidFill>
            <a:srgbClr val="FFFFFF"/>
          </a:solidFill>
          <a:ln/>
        </p:spPr>
        <p:txBody>
          <a:bodyPr/>
          <a:lstStyle/>
          <a:p>
            <a:endParaRPr lang="ko-KR" altLang="en-US"/>
          </a:p>
        </p:txBody>
      </p:sp>
      <p:sp>
        <p:nvSpPr>
          <p:cNvPr id="38" name="Shape 36"/>
          <p:cNvSpPr/>
          <p:nvPr/>
        </p:nvSpPr>
        <p:spPr>
          <a:xfrm>
            <a:off x="2943317" y="2128804"/>
            <a:ext cx="2404738" cy="9525"/>
          </a:xfrm>
          <a:prstGeom prst="rect">
            <a:avLst/>
          </a:prstGeom>
          <a:solidFill>
            <a:srgbClr val="EADFD3"/>
          </a:solidFill>
          <a:ln/>
        </p:spPr>
        <p:txBody>
          <a:bodyPr/>
          <a:lstStyle/>
          <a:p>
            <a:endParaRPr lang="ko-KR" altLang="en-US"/>
          </a:p>
        </p:txBody>
      </p:sp>
      <p:sp>
        <p:nvSpPr>
          <p:cNvPr id="39" name="Shape 37"/>
          <p:cNvSpPr/>
          <p:nvPr/>
        </p:nvSpPr>
        <p:spPr>
          <a:xfrm>
            <a:off x="2943317" y="2128804"/>
            <a:ext cx="9525" cy="383128"/>
          </a:xfrm>
          <a:prstGeom prst="rect">
            <a:avLst/>
          </a:prstGeom>
          <a:solidFill>
            <a:srgbClr val="EADFD3"/>
          </a:solidFill>
          <a:ln/>
        </p:spPr>
        <p:txBody>
          <a:bodyPr/>
          <a:lstStyle/>
          <a:p>
            <a:endParaRPr lang="ko-KR" altLang="en-US"/>
          </a:p>
        </p:txBody>
      </p:sp>
      <p:sp>
        <p:nvSpPr>
          <p:cNvPr id="40" name="Text 38"/>
          <p:cNvSpPr/>
          <p:nvPr/>
        </p:nvSpPr>
        <p:spPr>
          <a:xfrm>
            <a:off x="2967584" y="2172121"/>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80세</a:t>
            </a:r>
            <a:endParaRPr lang="en-US" sz="1163" dirty="0"/>
          </a:p>
        </p:txBody>
      </p:sp>
      <p:sp>
        <p:nvSpPr>
          <p:cNvPr id="41" name="Shape 39"/>
          <p:cNvSpPr/>
          <p:nvPr/>
        </p:nvSpPr>
        <p:spPr>
          <a:xfrm>
            <a:off x="5348054" y="2128804"/>
            <a:ext cx="2404738" cy="383128"/>
          </a:xfrm>
          <a:prstGeom prst="rect">
            <a:avLst/>
          </a:prstGeom>
          <a:solidFill>
            <a:srgbClr val="FFFFFF"/>
          </a:solidFill>
          <a:ln/>
        </p:spPr>
        <p:txBody>
          <a:bodyPr/>
          <a:lstStyle/>
          <a:p>
            <a:endParaRPr lang="ko-KR" altLang="en-US"/>
          </a:p>
        </p:txBody>
      </p:sp>
      <p:sp>
        <p:nvSpPr>
          <p:cNvPr id="42" name="Shape 40"/>
          <p:cNvSpPr/>
          <p:nvPr/>
        </p:nvSpPr>
        <p:spPr>
          <a:xfrm>
            <a:off x="5348054" y="2128804"/>
            <a:ext cx="2404738" cy="9525"/>
          </a:xfrm>
          <a:prstGeom prst="rect">
            <a:avLst/>
          </a:prstGeom>
          <a:solidFill>
            <a:srgbClr val="EADFD3"/>
          </a:solidFill>
          <a:ln/>
        </p:spPr>
        <p:txBody>
          <a:bodyPr/>
          <a:lstStyle/>
          <a:p>
            <a:endParaRPr lang="ko-KR" altLang="en-US"/>
          </a:p>
        </p:txBody>
      </p:sp>
      <p:sp>
        <p:nvSpPr>
          <p:cNvPr id="43" name="Shape 41"/>
          <p:cNvSpPr/>
          <p:nvPr/>
        </p:nvSpPr>
        <p:spPr>
          <a:xfrm>
            <a:off x="5348054" y="2128804"/>
            <a:ext cx="9525" cy="383128"/>
          </a:xfrm>
          <a:prstGeom prst="rect">
            <a:avLst/>
          </a:prstGeom>
          <a:solidFill>
            <a:srgbClr val="EADFD3"/>
          </a:solidFill>
          <a:ln/>
        </p:spPr>
        <p:txBody>
          <a:bodyPr/>
          <a:lstStyle/>
          <a:p>
            <a:endParaRPr lang="ko-KR" altLang="en-US"/>
          </a:p>
        </p:txBody>
      </p:sp>
      <p:sp>
        <p:nvSpPr>
          <p:cNvPr id="44" name="Text 42"/>
          <p:cNvSpPr/>
          <p:nvPr/>
        </p:nvSpPr>
        <p:spPr>
          <a:xfrm>
            <a:off x="5372321" y="2172121"/>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75세</a:t>
            </a:r>
            <a:endParaRPr lang="en-US" sz="1163" dirty="0"/>
          </a:p>
        </p:txBody>
      </p:sp>
      <p:sp>
        <p:nvSpPr>
          <p:cNvPr id="45" name="Shape 43"/>
          <p:cNvSpPr/>
          <p:nvPr/>
        </p:nvSpPr>
        <p:spPr>
          <a:xfrm>
            <a:off x="7752792" y="2128804"/>
            <a:ext cx="2405145" cy="383128"/>
          </a:xfrm>
          <a:prstGeom prst="rect">
            <a:avLst/>
          </a:prstGeom>
          <a:solidFill>
            <a:srgbClr val="FFFFFF"/>
          </a:solidFill>
          <a:ln/>
        </p:spPr>
        <p:txBody>
          <a:bodyPr/>
          <a:lstStyle/>
          <a:p>
            <a:endParaRPr lang="ko-KR" altLang="en-US"/>
          </a:p>
        </p:txBody>
      </p:sp>
      <p:sp>
        <p:nvSpPr>
          <p:cNvPr id="46" name="Shape 44"/>
          <p:cNvSpPr/>
          <p:nvPr/>
        </p:nvSpPr>
        <p:spPr>
          <a:xfrm>
            <a:off x="7752792" y="2128804"/>
            <a:ext cx="2405145" cy="9525"/>
          </a:xfrm>
          <a:prstGeom prst="rect">
            <a:avLst/>
          </a:prstGeom>
          <a:solidFill>
            <a:srgbClr val="EADFD3"/>
          </a:solidFill>
          <a:ln/>
        </p:spPr>
        <p:txBody>
          <a:bodyPr/>
          <a:lstStyle/>
          <a:p>
            <a:endParaRPr lang="ko-KR" altLang="en-US"/>
          </a:p>
        </p:txBody>
      </p:sp>
      <p:sp>
        <p:nvSpPr>
          <p:cNvPr id="47" name="Shape 45"/>
          <p:cNvSpPr/>
          <p:nvPr/>
        </p:nvSpPr>
        <p:spPr>
          <a:xfrm>
            <a:off x="7752792" y="2128804"/>
            <a:ext cx="9525" cy="383128"/>
          </a:xfrm>
          <a:prstGeom prst="rect">
            <a:avLst/>
          </a:prstGeom>
          <a:solidFill>
            <a:srgbClr val="EADFD3"/>
          </a:solidFill>
          <a:ln/>
        </p:spPr>
        <p:txBody>
          <a:bodyPr/>
          <a:lstStyle/>
          <a:p>
            <a:endParaRPr lang="ko-KR" altLang="en-US"/>
          </a:p>
        </p:txBody>
      </p:sp>
      <p:sp>
        <p:nvSpPr>
          <p:cNvPr id="48" name="Text 46"/>
          <p:cNvSpPr/>
          <p:nvPr/>
        </p:nvSpPr>
        <p:spPr>
          <a:xfrm>
            <a:off x="7777059" y="2172121"/>
            <a:ext cx="236182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80세</a:t>
            </a:r>
            <a:endParaRPr lang="en-US" sz="1163" dirty="0"/>
          </a:p>
        </p:txBody>
      </p:sp>
      <p:sp>
        <p:nvSpPr>
          <p:cNvPr id="49" name="Shape 47"/>
          <p:cNvSpPr/>
          <p:nvPr/>
        </p:nvSpPr>
        <p:spPr>
          <a:xfrm>
            <a:off x="538580" y="2511932"/>
            <a:ext cx="2404738" cy="383128"/>
          </a:xfrm>
          <a:prstGeom prst="rect">
            <a:avLst/>
          </a:prstGeom>
          <a:solidFill>
            <a:srgbClr val="F5F7EC"/>
          </a:solidFill>
          <a:ln/>
        </p:spPr>
        <p:txBody>
          <a:bodyPr/>
          <a:lstStyle/>
          <a:p>
            <a:endParaRPr lang="ko-KR" altLang="en-US"/>
          </a:p>
        </p:txBody>
      </p:sp>
      <p:sp>
        <p:nvSpPr>
          <p:cNvPr id="50" name="Shape 48"/>
          <p:cNvSpPr/>
          <p:nvPr/>
        </p:nvSpPr>
        <p:spPr>
          <a:xfrm>
            <a:off x="538580" y="2511932"/>
            <a:ext cx="2404738" cy="9525"/>
          </a:xfrm>
          <a:prstGeom prst="rect">
            <a:avLst/>
          </a:prstGeom>
          <a:solidFill>
            <a:srgbClr val="EADFD3"/>
          </a:solidFill>
          <a:ln/>
        </p:spPr>
        <p:txBody>
          <a:bodyPr/>
          <a:lstStyle/>
          <a:p>
            <a:endParaRPr lang="ko-KR" altLang="en-US"/>
          </a:p>
        </p:txBody>
      </p:sp>
      <p:sp>
        <p:nvSpPr>
          <p:cNvPr id="51" name="Text 49"/>
          <p:cNvSpPr/>
          <p:nvPr/>
        </p:nvSpPr>
        <p:spPr>
          <a:xfrm>
            <a:off x="557630" y="2555249"/>
            <a:ext cx="236663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납입기간</a:t>
            </a:r>
            <a:endParaRPr lang="en-US" sz="1163" dirty="0"/>
          </a:p>
        </p:txBody>
      </p:sp>
      <p:sp>
        <p:nvSpPr>
          <p:cNvPr id="52" name="Shape 50"/>
          <p:cNvSpPr/>
          <p:nvPr/>
        </p:nvSpPr>
        <p:spPr>
          <a:xfrm>
            <a:off x="2943317" y="2511932"/>
            <a:ext cx="2404738" cy="383128"/>
          </a:xfrm>
          <a:prstGeom prst="rect">
            <a:avLst/>
          </a:prstGeom>
          <a:solidFill>
            <a:srgbClr val="FFFFFF"/>
          </a:solidFill>
          <a:ln/>
        </p:spPr>
        <p:txBody>
          <a:bodyPr/>
          <a:lstStyle/>
          <a:p>
            <a:endParaRPr lang="ko-KR" altLang="en-US"/>
          </a:p>
        </p:txBody>
      </p:sp>
      <p:sp>
        <p:nvSpPr>
          <p:cNvPr id="53" name="Shape 51"/>
          <p:cNvSpPr/>
          <p:nvPr/>
        </p:nvSpPr>
        <p:spPr>
          <a:xfrm>
            <a:off x="2943317" y="2511932"/>
            <a:ext cx="2404738" cy="9525"/>
          </a:xfrm>
          <a:prstGeom prst="rect">
            <a:avLst/>
          </a:prstGeom>
          <a:solidFill>
            <a:srgbClr val="EADFD3"/>
          </a:solidFill>
          <a:ln/>
        </p:spPr>
        <p:txBody>
          <a:bodyPr/>
          <a:lstStyle/>
          <a:p>
            <a:endParaRPr lang="ko-KR" altLang="en-US"/>
          </a:p>
        </p:txBody>
      </p:sp>
      <p:sp>
        <p:nvSpPr>
          <p:cNvPr id="54" name="Shape 52"/>
          <p:cNvSpPr/>
          <p:nvPr/>
        </p:nvSpPr>
        <p:spPr>
          <a:xfrm>
            <a:off x="2943317" y="2511932"/>
            <a:ext cx="9525" cy="383128"/>
          </a:xfrm>
          <a:prstGeom prst="rect">
            <a:avLst/>
          </a:prstGeom>
          <a:solidFill>
            <a:srgbClr val="EADFD3"/>
          </a:solidFill>
          <a:ln/>
        </p:spPr>
        <p:txBody>
          <a:bodyPr/>
          <a:lstStyle/>
          <a:p>
            <a:endParaRPr lang="ko-KR" altLang="en-US"/>
          </a:p>
        </p:txBody>
      </p:sp>
      <p:sp>
        <p:nvSpPr>
          <p:cNvPr id="55" name="Text 53"/>
          <p:cNvSpPr/>
          <p:nvPr/>
        </p:nvSpPr>
        <p:spPr>
          <a:xfrm>
            <a:off x="2967584" y="2555249"/>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10·15·20·30년납</a:t>
            </a:r>
            <a:endParaRPr lang="en-US" sz="1163" dirty="0"/>
          </a:p>
        </p:txBody>
      </p:sp>
      <p:sp>
        <p:nvSpPr>
          <p:cNvPr id="56" name="Shape 54"/>
          <p:cNvSpPr/>
          <p:nvPr/>
        </p:nvSpPr>
        <p:spPr>
          <a:xfrm>
            <a:off x="5348054" y="2511932"/>
            <a:ext cx="2404738" cy="383128"/>
          </a:xfrm>
          <a:prstGeom prst="rect">
            <a:avLst/>
          </a:prstGeom>
          <a:solidFill>
            <a:srgbClr val="FFFFFF"/>
          </a:solidFill>
          <a:ln/>
        </p:spPr>
        <p:txBody>
          <a:bodyPr/>
          <a:lstStyle/>
          <a:p>
            <a:endParaRPr lang="ko-KR" altLang="en-US"/>
          </a:p>
        </p:txBody>
      </p:sp>
      <p:sp>
        <p:nvSpPr>
          <p:cNvPr id="57" name="Shape 55"/>
          <p:cNvSpPr/>
          <p:nvPr/>
        </p:nvSpPr>
        <p:spPr>
          <a:xfrm>
            <a:off x="5348054" y="2511932"/>
            <a:ext cx="2404738" cy="9525"/>
          </a:xfrm>
          <a:prstGeom prst="rect">
            <a:avLst/>
          </a:prstGeom>
          <a:solidFill>
            <a:srgbClr val="EADFD3"/>
          </a:solidFill>
          <a:ln/>
        </p:spPr>
        <p:txBody>
          <a:bodyPr/>
          <a:lstStyle/>
          <a:p>
            <a:endParaRPr lang="ko-KR" altLang="en-US"/>
          </a:p>
        </p:txBody>
      </p:sp>
      <p:sp>
        <p:nvSpPr>
          <p:cNvPr id="58" name="Shape 56"/>
          <p:cNvSpPr/>
          <p:nvPr/>
        </p:nvSpPr>
        <p:spPr>
          <a:xfrm>
            <a:off x="5348054" y="2511932"/>
            <a:ext cx="9525" cy="383128"/>
          </a:xfrm>
          <a:prstGeom prst="rect">
            <a:avLst/>
          </a:prstGeom>
          <a:solidFill>
            <a:srgbClr val="EADFD3"/>
          </a:solidFill>
          <a:ln/>
        </p:spPr>
        <p:txBody>
          <a:bodyPr/>
          <a:lstStyle/>
          <a:p>
            <a:endParaRPr lang="ko-KR" altLang="en-US"/>
          </a:p>
        </p:txBody>
      </p:sp>
      <p:sp>
        <p:nvSpPr>
          <p:cNvPr id="59" name="Text 57"/>
          <p:cNvSpPr/>
          <p:nvPr/>
        </p:nvSpPr>
        <p:spPr>
          <a:xfrm>
            <a:off x="5372321" y="2555249"/>
            <a:ext cx="2361420"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10·15·20·30년납</a:t>
            </a:r>
            <a:endParaRPr lang="en-US" sz="1163" dirty="0"/>
          </a:p>
        </p:txBody>
      </p:sp>
      <p:sp>
        <p:nvSpPr>
          <p:cNvPr id="60" name="Shape 58"/>
          <p:cNvSpPr/>
          <p:nvPr/>
        </p:nvSpPr>
        <p:spPr>
          <a:xfrm>
            <a:off x="7752792" y="2511932"/>
            <a:ext cx="2405145" cy="383128"/>
          </a:xfrm>
          <a:prstGeom prst="rect">
            <a:avLst/>
          </a:prstGeom>
          <a:solidFill>
            <a:srgbClr val="FFFFFF"/>
          </a:solidFill>
          <a:ln/>
        </p:spPr>
        <p:txBody>
          <a:bodyPr/>
          <a:lstStyle/>
          <a:p>
            <a:endParaRPr lang="ko-KR" altLang="en-US"/>
          </a:p>
        </p:txBody>
      </p:sp>
      <p:sp>
        <p:nvSpPr>
          <p:cNvPr id="61" name="Shape 59"/>
          <p:cNvSpPr/>
          <p:nvPr/>
        </p:nvSpPr>
        <p:spPr>
          <a:xfrm>
            <a:off x="7752792" y="2511932"/>
            <a:ext cx="2405145" cy="9525"/>
          </a:xfrm>
          <a:prstGeom prst="rect">
            <a:avLst/>
          </a:prstGeom>
          <a:solidFill>
            <a:srgbClr val="EADFD3"/>
          </a:solidFill>
          <a:ln/>
        </p:spPr>
        <p:txBody>
          <a:bodyPr/>
          <a:lstStyle/>
          <a:p>
            <a:endParaRPr lang="ko-KR" altLang="en-US"/>
          </a:p>
        </p:txBody>
      </p:sp>
      <p:sp>
        <p:nvSpPr>
          <p:cNvPr id="62" name="Shape 60"/>
          <p:cNvSpPr/>
          <p:nvPr/>
        </p:nvSpPr>
        <p:spPr>
          <a:xfrm>
            <a:off x="7752792" y="2511932"/>
            <a:ext cx="9525" cy="383128"/>
          </a:xfrm>
          <a:prstGeom prst="rect">
            <a:avLst/>
          </a:prstGeom>
          <a:solidFill>
            <a:srgbClr val="EADFD3"/>
          </a:solidFill>
          <a:ln/>
        </p:spPr>
        <p:txBody>
          <a:bodyPr/>
          <a:lstStyle/>
          <a:p>
            <a:endParaRPr lang="ko-KR" altLang="en-US"/>
          </a:p>
        </p:txBody>
      </p:sp>
      <p:sp>
        <p:nvSpPr>
          <p:cNvPr id="63" name="Text 61"/>
          <p:cNvSpPr/>
          <p:nvPr/>
        </p:nvSpPr>
        <p:spPr>
          <a:xfrm>
            <a:off x="7777059" y="2555249"/>
            <a:ext cx="236182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10·15·20·30년납</a:t>
            </a:r>
            <a:endParaRPr lang="en-US" sz="1163" dirty="0"/>
          </a:p>
        </p:txBody>
      </p:sp>
      <p:sp>
        <p:nvSpPr>
          <p:cNvPr id="64" name="Shape 62"/>
          <p:cNvSpPr/>
          <p:nvPr/>
        </p:nvSpPr>
        <p:spPr>
          <a:xfrm>
            <a:off x="538580" y="2895059"/>
            <a:ext cx="2404738" cy="383128"/>
          </a:xfrm>
          <a:prstGeom prst="rect">
            <a:avLst/>
          </a:prstGeom>
          <a:solidFill>
            <a:srgbClr val="F5F7EC"/>
          </a:solidFill>
          <a:ln/>
        </p:spPr>
        <p:txBody>
          <a:bodyPr/>
          <a:lstStyle/>
          <a:p>
            <a:endParaRPr lang="ko-KR" altLang="en-US"/>
          </a:p>
        </p:txBody>
      </p:sp>
      <p:sp>
        <p:nvSpPr>
          <p:cNvPr id="65" name="Shape 63"/>
          <p:cNvSpPr/>
          <p:nvPr/>
        </p:nvSpPr>
        <p:spPr>
          <a:xfrm>
            <a:off x="538580" y="2895059"/>
            <a:ext cx="2404738" cy="9525"/>
          </a:xfrm>
          <a:prstGeom prst="rect">
            <a:avLst/>
          </a:prstGeom>
          <a:solidFill>
            <a:srgbClr val="EADFD3"/>
          </a:solidFill>
          <a:ln/>
        </p:spPr>
        <p:txBody>
          <a:bodyPr/>
          <a:lstStyle/>
          <a:p>
            <a:endParaRPr lang="ko-KR" altLang="en-US"/>
          </a:p>
        </p:txBody>
      </p:sp>
      <p:sp>
        <p:nvSpPr>
          <p:cNvPr id="66" name="Text 64"/>
          <p:cNvSpPr/>
          <p:nvPr/>
        </p:nvSpPr>
        <p:spPr>
          <a:xfrm>
            <a:off x="557630" y="2938376"/>
            <a:ext cx="2366638"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구분</a:t>
            </a:r>
            <a:endParaRPr lang="en-US" sz="1163" dirty="0"/>
          </a:p>
        </p:txBody>
      </p:sp>
      <p:sp>
        <p:nvSpPr>
          <p:cNvPr id="67" name="Shape 65"/>
          <p:cNvSpPr/>
          <p:nvPr/>
        </p:nvSpPr>
        <p:spPr>
          <a:xfrm>
            <a:off x="2943317" y="2895059"/>
            <a:ext cx="1202369" cy="383128"/>
          </a:xfrm>
          <a:prstGeom prst="rect">
            <a:avLst/>
          </a:prstGeom>
          <a:solidFill>
            <a:srgbClr val="FFFFFF"/>
          </a:solidFill>
          <a:ln/>
        </p:spPr>
        <p:txBody>
          <a:bodyPr/>
          <a:lstStyle/>
          <a:p>
            <a:endParaRPr lang="ko-KR" altLang="en-US"/>
          </a:p>
        </p:txBody>
      </p:sp>
      <p:sp>
        <p:nvSpPr>
          <p:cNvPr id="68" name="Shape 66"/>
          <p:cNvSpPr/>
          <p:nvPr/>
        </p:nvSpPr>
        <p:spPr>
          <a:xfrm>
            <a:off x="2943317" y="2895059"/>
            <a:ext cx="1202369" cy="9525"/>
          </a:xfrm>
          <a:prstGeom prst="rect">
            <a:avLst/>
          </a:prstGeom>
          <a:solidFill>
            <a:srgbClr val="EADFD3"/>
          </a:solidFill>
          <a:ln/>
        </p:spPr>
        <p:txBody>
          <a:bodyPr/>
          <a:lstStyle/>
          <a:p>
            <a:endParaRPr lang="ko-KR" altLang="en-US"/>
          </a:p>
        </p:txBody>
      </p:sp>
      <p:sp>
        <p:nvSpPr>
          <p:cNvPr id="69" name="Shape 67"/>
          <p:cNvSpPr/>
          <p:nvPr/>
        </p:nvSpPr>
        <p:spPr>
          <a:xfrm>
            <a:off x="2943317" y="2895059"/>
            <a:ext cx="9525" cy="383128"/>
          </a:xfrm>
          <a:prstGeom prst="rect">
            <a:avLst/>
          </a:prstGeom>
          <a:solidFill>
            <a:srgbClr val="EADFD3"/>
          </a:solidFill>
          <a:ln/>
        </p:spPr>
        <p:txBody>
          <a:bodyPr/>
          <a:lstStyle/>
          <a:p>
            <a:endParaRPr lang="ko-KR" altLang="en-US"/>
          </a:p>
        </p:txBody>
      </p:sp>
      <p:sp>
        <p:nvSpPr>
          <p:cNvPr id="70" name="Text 68"/>
          <p:cNvSpPr/>
          <p:nvPr/>
        </p:nvSpPr>
        <p:spPr>
          <a:xfrm>
            <a:off x="2967584" y="293837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1" name="Shape 69"/>
          <p:cNvSpPr/>
          <p:nvPr/>
        </p:nvSpPr>
        <p:spPr>
          <a:xfrm>
            <a:off x="4145686" y="2895059"/>
            <a:ext cx="1202369" cy="383128"/>
          </a:xfrm>
          <a:prstGeom prst="rect">
            <a:avLst/>
          </a:prstGeom>
          <a:solidFill>
            <a:srgbClr val="FFFFFF"/>
          </a:solidFill>
          <a:ln/>
        </p:spPr>
        <p:txBody>
          <a:bodyPr/>
          <a:lstStyle/>
          <a:p>
            <a:endParaRPr lang="ko-KR" altLang="en-US"/>
          </a:p>
        </p:txBody>
      </p:sp>
      <p:sp>
        <p:nvSpPr>
          <p:cNvPr id="72" name="Shape 70"/>
          <p:cNvSpPr/>
          <p:nvPr/>
        </p:nvSpPr>
        <p:spPr>
          <a:xfrm>
            <a:off x="4145686" y="2895059"/>
            <a:ext cx="1202369" cy="9525"/>
          </a:xfrm>
          <a:prstGeom prst="rect">
            <a:avLst/>
          </a:prstGeom>
          <a:solidFill>
            <a:srgbClr val="EADFD3"/>
          </a:solidFill>
          <a:ln/>
        </p:spPr>
        <p:txBody>
          <a:bodyPr/>
          <a:lstStyle/>
          <a:p>
            <a:endParaRPr lang="ko-KR" altLang="en-US"/>
          </a:p>
        </p:txBody>
      </p:sp>
      <p:sp>
        <p:nvSpPr>
          <p:cNvPr id="73" name="Shape 71"/>
          <p:cNvSpPr/>
          <p:nvPr/>
        </p:nvSpPr>
        <p:spPr>
          <a:xfrm>
            <a:off x="4145686" y="2895059"/>
            <a:ext cx="9525" cy="383128"/>
          </a:xfrm>
          <a:prstGeom prst="rect">
            <a:avLst/>
          </a:prstGeom>
          <a:solidFill>
            <a:srgbClr val="EADFD3"/>
          </a:solidFill>
          <a:ln/>
        </p:spPr>
        <p:txBody>
          <a:bodyPr/>
          <a:lstStyle/>
          <a:p>
            <a:endParaRPr lang="ko-KR" altLang="en-US"/>
          </a:p>
        </p:txBody>
      </p:sp>
      <p:sp>
        <p:nvSpPr>
          <p:cNvPr id="74" name="Text 72"/>
          <p:cNvSpPr/>
          <p:nvPr/>
        </p:nvSpPr>
        <p:spPr>
          <a:xfrm>
            <a:off x="4169953" y="293837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75" name="Shape 73"/>
          <p:cNvSpPr/>
          <p:nvPr/>
        </p:nvSpPr>
        <p:spPr>
          <a:xfrm>
            <a:off x="5348054" y="2895059"/>
            <a:ext cx="1202369" cy="383128"/>
          </a:xfrm>
          <a:prstGeom prst="rect">
            <a:avLst/>
          </a:prstGeom>
          <a:solidFill>
            <a:srgbClr val="FFFFFF"/>
          </a:solidFill>
          <a:ln/>
        </p:spPr>
        <p:txBody>
          <a:bodyPr/>
          <a:lstStyle/>
          <a:p>
            <a:endParaRPr lang="ko-KR" altLang="en-US"/>
          </a:p>
        </p:txBody>
      </p:sp>
      <p:sp>
        <p:nvSpPr>
          <p:cNvPr id="76" name="Shape 74"/>
          <p:cNvSpPr/>
          <p:nvPr/>
        </p:nvSpPr>
        <p:spPr>
          <a:xfrm>
            <a:off x="5348054" y="2895059"/>
            <a:ext cx="1202369" cy="9525"/>
          </a:xfrm>
          <a:prstGeom prst="rect">
            <a:avLst/>
          </a:prstGeom>
          <a:solidFill>
            <a:srgbClr val="EADFD3"/>
          </a:solidFill>
          <a:ln/>
        </p:spPr>
        <p:txBody>
          <a:bodyPr/>
          <a:lstStyle/>
          <a:p>
            <a:endParaRPr lang="ko-KR" altLang="en-US"/>
          </a:p>
        </p:txBody>
      </p:sp>
      <p:sp>
        <p:nvSpPr>
          <p:cNvPr id="77" name="Shape 75"/>
          <p:cNvSpPr/>
          <p:nvPr/>
        </p:nvSpPr>
        <p:spPr>
          <a:xfrm>
            <a:off x="5348054" y="2895059"/>
            <a:ext cx="9525" cy="383128"/>
          </a:xfrm>
          <a:prstGeom prst="rect">
            <a:avLst/>
          </a:prstGeom>
          <a:solidFill>
            <a:srgbClr val="EADFD3"/>
          </a:solidFill>
          <a:ln/>
        </p:spPr>
        <p:txBody>
          <a:bodyPr/>
          <a:lstStyle/>
          <a:p>
            <a:endParaRPr lang="ko-KR" altLang="en-US"/>
          </a:p>
        </p:txBody>
      </p:sp>
      <p:sp>
        <p:nvSpPr>
          <p:cNvPr id="78" name="Text 76"/>
          <p:cNvSpPr/>
          <p:nvPr/>
        </p:nvSpPr>
        <p:spPr>
          <a:xfrm>
            <a:off x="5372321" y="293837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9" name="Shape 77"/>
          <p:cNvSpPr/>
          <p:nvPr/>
        </p:nvSpPr>
        <p:spPr>
          <a:xfrm>
            <a:off x="6550423" y="2895059"/>
            <a:ext cx="1202369" cy="383128"/>
          </a:xfrm>
          <a:prstGeom prst="rect">
            <a:avLst/>
          </a:prstGeom>
          <a:solidFill>
            <a:srgbClr val="FFFFFF"/>
          </a:solidFill>
          <a:ln/>
        </p:spPr>
        <p:txBody>
          <a:bodyPr/>
          <a:lstStyle/>
          <a:p>
            <a:endParaRPr lang="ko-KR" altLang="en-US"/>
          </a:p>
        </p:txBody>
      </p:sp>
      <p:sp>
        <p:nvSpPr>
          <p:cNvPr id="80" name="Shape 78"/>
          <p:cNvSpPr/>
          <p:nvPr/>
        </p:nvSpPr>
        <p:spPr>
          <a:xfrm>
            <a:off x="6550423" y="2895059"/>
            <a:ext cx="1202369" cy="9525"/>
          </a:xfrm>
          <a:prstGeom prst="rect">
            <a:avLst/>
          </a:prstGeom>
          <a:solidFill>
            <a:srgbClr val="EADFD3"/>
          </a:solidFill>
          <a:ln/>
        </p:spPr>
        <p:txBody>
          <a:bodyPr/>
          <a:lstStyle/>
          <a:p>
            <a:endParaRPr lang="ko-KR" altLang="en-US"/>
          </a:p>
        </p:txBody>
      </p:sp>
      <p:sp>
        <p:nvSpPr>
          <p:cNvPr id="81" name="Shape 79"/>
          <p:cNvSpPr/>
          <p:nvPr/>
        </p:nvSpPr>
        <p:spPr>
          <a:xfrm>
            <a:off x="6550423" y="2895059"/>
            <a:ext cx="9525" cy="383128"/>
          </a:xfrm>
          <a:prstGeom prst="rect">
            <a:avLst/>
          </a:prstGeom>
          <a:solidFill>
            <a:srgbClr val="EADFD3"/>
          </a:solidFill>
          <a:ln/>
        </p:spPr>
        <p:txBody>
          <a:bodyPr/>
          <a:lstStyle/>
          <a:p>
            <a:endParaRPr lang="ko-KR" altLang="en-US"/>
          </a:p>
        </p:txBody>
      </p:sp>
      <p:sp>
        <p:nvSpPr>
          <p:cNvPr id="82" name="Text 80"/>
          <p:cNvSpPr/>
          <p:nvPr/>
        </p:nvSpPr>
        <p:spPr>
          <a:xfrm>
            <a:off x="6574690" y="293837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83" name="Shape 81"/>
          <p:cNvSpPr/>
          <p:nvPr/>
        </p:nvSpPr>
        <p:spPr>
          <a:xfrm>
            <a:off x="7752792" y="2895059"/>
            <a:ext cx="1202369" cy="383128"/>
          </a:xfrm>
          <a:prstGeom prst="rect">
            <a:avLst/>
          </a:prstGeom>
          <a:solidFill>
            <a:srgbClr val="FFFFFF"/>
          </a:solidFill>
          <a:ln/>
        </p:spPr>
        <p:txBody>
          <a:bodyPr/>
          <a:lstStyle/>
          <a:p>
            <a:endParaRPr lang="ko-KR" altLang="en-US"/>
          </a:p>
        </p:txBody>
      </p:sp>
      <p:sp>
        <p:nvSpPr>
          <p:cNvPr id="84" name="Shape 82"/>
          <p:cNvSpPr/>
          <p:nvPr/>
        </p:nvSpPr>
        <p:spPr>
          <a:xfrm>
            <a:off x="7752792" y="2895059"/>
            <a:ext cx="1202369" cy="9525"/>
          </a:xfrm>
          <a:prstGeom prst="rect">
            <a:avLst/>
          </a:prstGeom>
          <a:solidFill>
            <a:srgbClr val="EADFD3"/>
          </a:solidFill>
          <a:ln/>
        </p:spPr>
        <p:txBody>
          <a:bodyPr/>
          <a:lstStyle/>
          <a:p>
            <a:endParaRPr lang="ko-KR" altLang="en-US"/>
          </a:p>
        </p:txBody>
      </p:sp>
      <p:sp>
        <p:nvSpPr>
          <p:cNvPr id="85" name="Shape 83"/>
          <p:cNvSpPr/>
          <p:nvPr/>
        </p:nvSpPr>
        <p:spPr>
          <a:xfrm>
            <a:off x="7752792" y="2895059"/>
            <a:ext cx="9525" cy="383128"/>
          </a:xfrm>
          <a:prstGeom prst="rect">
            <a:avLst/>
          </a:prstGeom>
          <a:solidFill>
            <a:srgbClr val="EADFD3"/>
          </a:solidFill>
          <a:ln/>
        </p:spPr>
        <p:txBody>
          <a:bodyPr/>
          <a:lstStyle/>
          <a:p>
            <a:endParaRPr lang="ko-KR" altLang="en-US"/>
          </a:p>
        </p:txBody>
      </p:sp>
      <p:sp>
        <p:nvSpPr>
          <p:cNvPr id="86" name="Text 84"/>
          <p:cNvSpPr/>
          <p:nvPr/>
        </p:nvSpPr>
        <p:spPr>
          <a:xfrm>
            <a:off x="7777059" y="293837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87" name="Shape 85"/>
          <p:cNvSpPr/>
          <p:nvPr/>
        </p:nvSpPr>
        <p:spPr>
          <a:xfrm>
            <a:off x="8955161" y="2895059"/>
            <a:ext cx="1202776" cy="383128"/>
          </a:xfrm>
          <a:prstGeom prst="rect">
            <a:avLst/>
          </a:prstGeom>
          <a:solidFill>
            <a:srgbClr val="FFFFFF"/>
          </a:solidFill>
          <a:ln/>
        </p:spPr>
        <p:txBody>
          <a:bodyPr/>
          <a:lstStyle/>
          <a:p>
            <a:endParaRPr lang="ko-KR" altLang="en-US"/>
          </a:p>
        </p:txBody>
      </p:sp>
      <p:sp>
        <p:nvSpPr>
          <p:cNvPr id="88" name="Shape 86"/>
          <p:cNvSpPr/>
          <p:nvPr/>
        </p:nvSpPr>
        <p:spPr>
          <a:xfrm>
            <a:off x="8955161" y="2895059"/>
            <a:ext cx="1202776" cy="9525"/>
          </a:xfrm>
          <a:prstGeom prst="rect">
            <a:avLst/>
          </a:prstGeom>
          <a:solidFill>
            <a:srgbClr val="EADFD3"/>
          </a:solidFill>
          <a:ln/>
        </p:spPr>
        <p:txBody>
          <a:bodyPr/>
          <a:lstStyle/>
          <a:p>
            <a:endParaRPr lang="ko-KR" altLang="en-US"/>
          </a:p>
        </p:txBody>
      </p:sp>
      <p:sp>
        <p:nvSpPr>
          <p:cNvPr id="89" name="Shape 87"/>
          <p:cNvSpPr/>
          <p:nvPr/>
        </p:nvSpPr>
        <p:spPr>
          <a:xfrm>
            <a:off x="8955161" y="2895059"/>
            <a:ext cx="9525" cy="383128"/>
          </a:xfrm>
          <a:prstGeom prst="rect">
            <a:avLst/>
          </a:prstGeom>
          <a:solidFill>
            <a:srgbClr val="EADFD3"/>
          </a:solidFill>
          <a:ln/>
        </p:spPr>
        <p:txBody>
          <a:bodyPr/>
          <a:lstStyle/>
          <a:p>
            <a:endParaRPr lang="ko-KR" altLang="en-US"/>
          </a:p>
        </p:txBody>
      </p:sp>
      <p:sp>
        <p:nvSpPr>
          <p:cNvPr id="90" name="Text 88"/>
          <p:cNvSpPr/>
          <p:nvPr/>
        </p:nvSpPr>
        <p:spPr>
          <a:xfrm>
            <a:off x="8979428" y="2938376"/>
            <a:ext cx="115945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91" name="Shape 89"/>
          <p:cNvSpPr/>
          <p:nvPr/>
        </p:nvSpPr>
        <p:spPr>
          <a:xfrm>
            <a:off x="538580" y="3278187"/>
            <a:ext cx="1202369" cy="383128"/>
          </a:xfrm>
          <a:prstGeom prst="rect">
            <a:avLst/>
          </a:prstGeom>
          <a:solidFill>
            <a:srgbClr val="F5F7EC"/>
          </a:solidFill>
          <a:ln/>
        </p:spPr>
        <p:txBody>
          <a:bodyPr/>
          <a:lstStyle/>
          <a:p>
            <a:endParaRPr lang="ko-KR" altLang="en-US"/>
          </a:p>
        </p:txBody>
      </p:sp>
      <p:sp>
        <p:nvSpPr>
          <p:cNvPr id="92" name="Shape 90"/>
          <p:cNvSpPr/>
          <p:nvPr/>
        </p:nvSpPr>
        <p:spPr>
          <a:xfrm>
            <a:off x="538580" y="3278187"/>
            <a:ext cx="1202369" cy="9525"/>
          </a:xfrm>
          <a:prstGeom prst="rect">
            <a:avLst/>
          </a:prstGeom>
          <a:solidFill>
            <a:srgbClr val="EADFD3"/>
          </a:solidFill>
          <a:ln/>
        </p:spPr>
        <p:txBody>
          <a:bodyPr/>
          <a:lstStyle/>
          <a:p>
            <a:endParaRPr lang="ko-KR" altLang="en-US"/>
          </a:p>
        </p:txBody>
      </p:sp>
      <p:sp>
        <p:nvSpPr>
          <p:cNvPr id="93" name="Text 91"/>
          <p:cNvSpPr/>
          <p:nvPr/>
        </p:nvSpPr>
        <p:spPr>
          <a:xfrm>
            <a:off x="557630" y="3321504"/>
            <a:ext cx="116426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일반암진단</a:t>
            </a:r>
            <a:endParaRPr lang="en-US" sz="1163" dirty="0"/>
          </a:p>
        </p:txBody>
      </p:sp>
      <p:sp>
        <p:nvSpPr>
          <p:cNvPr id="94" name="Shape 92"/>
          <p:cNvSpPr/>
          <p:nvPr/>
        </p:nvSpPr>
        <p:spPr>
          <a:xfrm>
            <a:off x="1740948" y="3278187"/>
            <a:ext cx="1202369" cy="383128"/>
          </a:xfrm>
          <a:prstGeom prst="rect">
            <a:avLst/>
          </a:prstGeom>
          <a:solidFill>
            <a:srgbClr val="F5F7EC"/>
          </a:solidFill>
          <a:ln/>
        </p:spPr>
        <p:txBody>
          <a:bodyPr/>
          <a:lstStyle/>
          <a:p>
            <a:endParaRPr lang="ko-KR" altLang="en-US"/>
          </a:p>
        </p:txBody>
      </p:sp>
      <p:sp>
        <p:nvSpPr>
          <p:cNvPr id="95" name="Shape 93"/>
          <p:cNvSpPr/>
          <p:nvPr/>
        </p:nvSpPr>
        <p:spPr>
          <a:xfrm>
            <a:off x="1740948" y="3278187"/>
            <a:ext cx="1202369" cy="9525"/>
          </a:xfrm>
          <a:prstGeom prst="rect">
            <a:avLst/>
          </a:prstGeom>
          <a:solidFill>
            <a:srgbClr val="EADFD3"/>
          </a:solidFill>
          <a:ln/>
        </p:spPr>
        <p:txBody>
          <a:bodyPr/>
          <a:lstStyle/>
          <a:p>
            <a:endParaRPr lang="ko-KR" altLang="en-US"/>
          </a:p>
        </p:txBody>
      </p:sp>
      <p:sp>
        <p:nvSpPr>
          <p:cNvPr id="96" name="Shape 94"/>
          <p:cNvSpPr/>
          <p:nvPr/>
        </p:nvSpPr>
        <p:spPr>
          <a:xfrm>
            <a:off x="1740948" y="3278187"/>
            <a:ext cx="9525" cy="383128"/>
          </a:xfrm>
          <a:prstGeom prst="rect">
            <a:avLst/>
          </a:prstGeom>
          <a:solidFill>
            <a:srgbClr val="EADFD3"/>
          </a:solidFill>
          <a:ln/>
        </p:spPr>
        <p:txBody>
          <a:bodyPr/>
          <a:lstStyle/>
          <a:p>
            <a:endParaRPr lang="ko-KR" altLang="en-US"/>
          </a:p>
        </p:txBody>
      </p:sp>
      <p:sp>
        <p:nvSpPr>
          <p:cNvPr id="97" name="Text 95"/>
          <p:cNvSpPr/>
          <p:nvPr/>
        </p:nvSpPr>
        <p:spPr>
          <a:xfrm>
            <a:off x="1765215"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98" name="Shape 96"/>
          <p:cNvSpPr/>
          <p:nvPr/>
        </p:nvSpPr>
        <p:spPr>
          <a:xfrm>
            <a:off x="2943317" y="3278187"/>
            <a:ext cx="1202369" cy="383128"/>
          </a:xfrm>
          <a:prstGeom prst="rect">
            <a:avLst/>
          </a:prstGeom>
          <a:solidFill>
            <a:srgbClr val="FFFFFF"/>
          </a:solidFill>
          <a:ln/>
        </p:spPr>
        <p:txBody>
          <a:bodyPr/>
          <a:lstStyle/>
          <a:p>
            <a:endParaRPr lang="ko-KR" altLang="en-US"/>
          </a:p>
        </p:txBody>
      </p:sp>
      <p:sp>
        <p:nvSpPr>
          <p:cNvPr id="99" name="Shape 97"/>
          <p:cNvSpPr/>
          <p:nvPr/>
        </p:nvSpPr>
        <p:spPr>
          <a:xfrm>
            <a:off x="2943317" y="3278187"/>
            <a:ext cx="1202369" cy="9525"/>
          </a:xfrm>
          <a:prstGeom prst="rect">
            <a:avLst/>
          </a:prstGeom>
          <a:solidFill>
            <a:srgbClr val="EADFD3"/>
          </a:solidFill>
          <a:ln/>
        </p:spPr>
        <p:txBody>
          <a:bodyPr/>
          <a:lstStyle/>
          <a:p>
            <a:endParaRPr lang="ko-KR" altLang="en-US"/>
          </a:p>
        </p:txBody>
      </p:sp>
      <p:sp>
        <p:nvSpPr>
          <p:cNvPr id="100" name="Shape 98"/>
          <p:cNvSpPr/>
          <p:nvPr/>
        </p:nvSpPr>
        <p:spPr>
          <a:xfrm>
            <a:off x="2943317" y="3278187"/>
            <a:ext cx="9525" cy="383128"/>
          </a:xfrm>
          <a:prstGeom prst="rect">
            <a:avLst/>
          </a:prstGeom>
          <a:solidFill>
            <a:srgbClr val="EADFD3"/>
          </a:solidFill>
          <a:ln/>
        </p:spPr>
        <p:txBody>
          <a:bodyPr/>
          <a:lstStyle/>
          <a:p>
            <a:endParaRPr lang="ko-KR" altLang="en-US"/>
          </a:p>
        </p:txBody>
      </p:sp>
      <p:sp>
        <p:nvSpPr>
          <p:cNvPr id="101" name="Text 99"/>
          <p:cNvSpPr/>
          <p:nvPr/>
        </p:nvSpPr>
        <p:spPr>
          <a:xfrm>
            <a:off x="2967584"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11,320</a:t>
            </a:r>
            <a:endParaRPr lang="en-US" sz="1163" dirty="0"/>
          </a:p>
        </p:txBody>
      </p:sp>
      <p:sp>
        <p:nvSpPr>
          <p:cNvPr id="102" name="Shape 100"/>
          <p:cNvSpPr/>
          <p:nvPr/>
        </p:nvSpPr>
        <p:spPr>
          <a:xfrm>
            <a:off x="4145686" y="3278187"/>
            <a:ext cx="1202369" cy="383128"/>
          </a:xfrm>
          <a:prstGeom prst="rect">
            <a:avLst/>
          </a:prstGeom>
          <a:solidFill>
            <a:srgbClr val="FFFFFF"/>
          </a:solidFill>
          <a:ln/>
        </p:spPr>
        <p:txBody>
          <a:bodyPr/>
          <a:lstStyle/>
          <a:p>
            <a:endParaRPr lang="ko-KR" altLang="en-US"/>
          </a:p>
        </p:txBody>
      </p:sp>
      <p:sp>
        <p:nvSpPr>
          <p:cNvPr id="103" name="Shape 101"/>
          <p:cNvSpPr/>
          <p:nvPr/>
        </p:nvSpPr>
        <p:spPr>
          <a:xfrm>
            <a:off x="4145686" y="3278187"/>
            <a:ext cx="1202369" cy="9525"/>
          </a:xfrm>
          <a:prstGeom prst="rect">
            <a:avLst/>
          </a:prstGeom>
          <a:solidFill>
            <a:srgbClr val="EADFD3"/>
          </a:solidFill>
          <a:ln/>
        </p:spPr>
        <p:txBody>
          <a:bodyPr/>
          <a:lstStyle/>
          <a:p>
            <a:endParaRPr lang="ko-KR" altLang="en-US"/>
          </a:p>
        </p:txBody>
      </p:sp>
      <p:sp>
        <p:nvSpPr>
          <p:cNvPr id="104" name="Shape 102"/>
          <p:cNvSpPr/>
          <p:nvPr/>
        </p:nvSpPr>
        <p:spPr>
          <a:xfrm>
            <a:off x="4145686" y="3278187"/>
            <a:ext cx="9525" cy="383128"/>
          </a:xfrm>
          <a:prstGeom prst="rect">
            <a:avLst/>
          </a:prstGeom>
          <a:solidFill>
            <a:srgbClr val="EADFD3"/>
          </a:solidFill>
          <a:ln/>
        </p:spPr>
        <p:txBody>
          <a:bodyPr/>
          <a:lstStyle/>
          <a:p>
            <a:endParaRPr lang="ko-KR" altLang="en-US"/>
          </a:p>
        </p:txBody>
      </p:sp>
      <p:sp>
        <p:nvSpPr>
          <p:cNvPr id="105" name="Text 103"/>
          <p:cNvSpPr/>
          <p:nvPr/>
        </p:nvSpPr>
        <p:spPr>
          <a:xfrm>
            <a:off x="4169953"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8,790</a:t>
            </a:r>
            <a:endParaRPr lang="en-US" sz="1163" dirty="0"/>
          </a:p>
        </p:txBody>
      </p:sp>
      <p:sp>
        <p:nvSpPr>
          <p:cNvPr id="106" name="Shape 104"/>
          <p:cNvSpPr/>
          <p:nvPr/>
        </p:nvSpPr>
        <p:spPr>
          <a:xfrm>
            <a:off x="5348054" y="3278187"/>
            <a:ext cx="1202369" cy="383128"/>
          </a:xfrm>
          <a:prstGeom prst="rect">
            <a:avLst/>
          </a:prstGeom>
          <a:solidFill>
            <a:srgbClr val="FFFFFF"/>
          </a:solidFill>
          <a:ln/>
        </p:spPr>
        <p:txBody>
          <a:bodyPr/>
          <a:lstStyle/>
          <a:p>
            <a:endParaRPr lang="ko-KR" altLang="en-US"/>
          </a:p>
        </p:txBody>
      </p:sp>
      <p:sp>
        <p:nvSpPr>
          <p:cNvPr id="107" name="Shape 105"/>
          <p:cNvSpPr/>
          <p:nvPr/>
        </p:nvSpPr>
        <p:spPr>
          <a:xfrm>
            <a:off x="5348054" y="3278187"/>
            <a:ext cx="1202369" cy="9525"/>
          </a:xfrm>
          <a:prstGeom prst="rect">
            <a:avLst/>
          </a:prstGeom>
          <a:solidFill>
            <a:srgbClr val="EADFD3"/>
          </a:solidFill>
          <a:ln/>
        </p:spPr>
        <p:txBody>
          <a:bodyPr/>
          <a:lstStyle/>
          <a:p>
            <a:endParaRPr lang="ko-KR" altLang="en-US"/>
          </a:p>
        </p:txBody>
      </p:sp>
      <p:sp>
        <p:nvSpPr>
          <p:cNvPr id="108" name="Shape 106"/>
          <p:cNvSpPr/>
          <p:nvPr/>
        </p:nvSpPr>
        <p:spPr>
          <a:xfrm>
            <a:off x="5348054" y="3278187"/>
            <a:ext cx="9525" cy="383128"/>
          </a:xfrm>
          <a:prstGeom prst="rect">
            <a:avLst/>
          </a:prstGeom>
          <a:solidFill>
            <a:srgbClr val="EADFD3"/>
          </a:solidFill>
          <a:ln/>
        </p:spPr>
        <p:txBody>
          <a:bodyPr/>
          <a:lstStyle/>
          <a:p>
            <a:endParaRPr lang="ko-KR" altLang="en-US"/>
          </a:p>
        </p:txBody>
      </p:sp>
      <p:sp>
        <p:nvSpPr>
          <p:cNvPr id="109" name="Text 107"/>
          <p:cNvSpPr/>
          <p:nvPr/>
        </p:nvSpPr>
        <p:spPr>
          <a:xfrm>
            <a:off x="5372321"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11,900</a:t>
            </a:r>
            <a:endParaRPr lang="en-US" sz="1163" dirty="0"/>
          </a:p>
        </p:txBody>
      </p:sp>
      <p:sp>
        <p:nvSpPr>
          <p:cNvPr id="110" name="Shape 108"/>
          <p:cNvSpPr/>
          <p:nvPr/>
        </p:nvSpPr>
        <p:spPr>
          <a:xfrm>
            <a:off x="6550423" y="3278187"/>
            <a:ext cx="1202369" cy="383128"/>
          </a:xfrm>
          <a:prstGeom prst="rect">
            <a:avLst/>
          </a:prstGeom>
          <a:solidFill>
            <a:srgbClr val="FFFFFF"/>
          </a:solidFill>
          <a:ln/>
        </p:spPr>
        <p:txBody>
          <a:bodyPr/>
          <a:lstStyle/>
          <a:p>
            <a:endParaRPr lang="ko-KR" altLang="en-US"/>
          </a:p>
        </p:txBody>
      </p:sp>
      <p:sp>
        <p:nvSpPr>
          <p:cNvPr id="111" name="Shape 109"/>
          <p:cNvSpPr/>
          <p:nvPr/>
        </p:nvSpPr>
        <p:spPr>
          <a:xfrm>
            <a:off x="6550423" y="3278187"/>
            <a:ext cx="1202369" cy="9525"/>
          </a:xfrm>
          <a:prstGeom prst="rect">
            <a:avLst/>
          </a:prstGeom>
          <a:solidFill>
            <a:srgbClr val="EADFD3"/>
          </a:solidFill>
          <a:ln/>
        </p:spPr>
        <p:txBody>
          <a:bodyPr/>
          <a:lstStyle/>
          <a:p>
            <a:endParaRPr lang="ko-KR" altLang="en-US"/>
          </a:p>
        </p:txBody>
      </p:sp>
      <p:sp>
        <p:nvSpPr>
          <p:cNvPr id="112" name="Shape 110"/>
          <p:cNvSpPr/>
          <p:nvPr/>
        </p:nvSpPr>
        <p:spPr>
          <a:xfrm>
            <a:off x="6550423" y="3278187"/>
            <a:ext cx="9525" cy="383128"/>
          </a:xfrm>
          <a:prstGeom prst="rect">
            <a:avLst/>
          </a:prstGeom>
          <a:solidFill>
            <a:srgbClr val="EADFD3"/>
          </a:solidFill>
          <a:ln/>
        </p:spPr>
        <p:txBody>
          <a:bodyPr/>
          <a:lstStyle/>
          <a:p>
            <a:endParaRPr lang="ko-KR" altLang="en-US"/>
          </a:p>
        </p:txBody>
      </p:sp>
      <p:sp>
        <p:nvSpPr>
          <p:cNvPr id="113" name="Text 111"/>
          <p:cNvSpPr/>
          <p:nvPr/>
        </p:nvSpPr>
        <p:spPr>
          <a:xfrm>
            <a:off x="6574690"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7,660</a:t>
            </a:r>
            <a:endParaRPr lang="en-US" sz="1163" dirty="0"/>
          </a:p>
        </p:txBody>
      </p:sp>
      <p:sp>
        <p:nvSpPr>
          <p:cNvPr id="114" name="Shape 112"/>
          <p:cNvSpPr/>
          <p:nvPr/>
        </p:nvSpPr>
        <p:spPr>
          <a:xfrm>
            <a:off x="7752792" y="3278187"/>
            <a:ext cx="1202369" cy="383128"/>
          </a:xfrm>
          <a:prstGeom prst="rect">
            <a:avLst/>
          </a:prstGeom>
          <a:solidFill>
            <a:srgbClr val="FFFFFF"/>
          </a:solidFill>
          <a:ln/>
        </p:spPr>
        <p:txBody>
          <a:bodyPr/>
          <a:lstStyle/>
          <a:p>
            <a:endParaRPr lang="ko-KR" altLang="en-US"/>
          </a:p>
        </p:txBody>
      </p:sp>
      <p:sp>
        <p:nvSpPr>
          <p:cNvPr id="115" name="Shape 113"/>
          <p:cNvSpPr/>
          <p:nvPr/>
        </p:nvSpPr>
        <p:spPr>
          <a:xfrm>
            <a:off x="7752792" y="3278187"/>
            <a:ext cx="1202369" cy="9525"/>
          </a:xfrm>
          <a:prstGeom prst="rect">
            <a:avLst/>
          </a:prstGeom>
          <a:solidFill>
            <a:srgbClr val="EADFD3"/>
          </a:solidFill>
          <a:ln/>
        </p:spPr>
        <p:txBody>
          <a:bodyPr/>
          <a:lstStyle/>
          <a:p>
            <a:endParaRPr lang="ko-KR" altLang="en-US"/>
          </a:p>
        </p:txBody>
      </p:sp>
      <p:sp>
        <p:nvSpPr>
          <p:cNvPr id="116" name="Shape 114"/>
          <p:cNvSpPr/>
          <p:nvPr/>
        </p:nvSpPr>
        <p:spPr>
          <a:xfrm>
            <a:off x="7752792" y="3278187"/>
            <a:ext cx="9525" cy="383128"/>
          </a:xfrm>
          <a:prstGeom prst="rect">
            <a:avLst/>
          </a:prstGeom>
          <a:solidFill>
            <a:srgbClr val="EADFD3"/>
          </a:solidFill>
          <a:ln/>
        </p:spPr>
        <p:txBody>
          <a:bodyPr/>
          <a:lstStyle/>
          <a:p>
            <a:endParaRPr lang="ko-KR" altLang="en-US"/>
          </a:p>
        </p:txBody>
      </p:sp>
      <p:sp>
        <p:nvSpPr>
          <p:cNvPr id="117" name="Text 115"/>
          <p:cNvSpPr/>
          <p:nvPr/>
        </p:nvSpPr>
        <p:spPr>
          <a:xfrm>
            <a:off x="7777059" y="3321504"/>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11,550</a:t>
            </a:r>
            <a:endParaRPr lang="en-US" sz="1163" dirty="0"/>
          </a:p>
        </p:txBody>
      </p:sp>
      <p:sp>
        <p:nvSpPr>
          <p:cNvPr id="118" name="Shape 116"/>
          <p:cNvSpPr/>
          <p:nvPr/>
        </p:nvSpPr>
        <p:spPr>
          <a:xfrm>
            <a:off x="8955161" y="3278187"/>
            <a:ext cx="1202776" cy="383128"/>
          </a:xfrm>
          <a:prstGeom prst="rect">
            <a:avLst/>
          </a:prstGeom>
          <a:solidFill>
            <a:srgbClr val="FFFFFF"/>
          </a:solidFill>
          <a:ln/>
        </p:spPr>
        <p:txBody>
          <a:bodyPr/>
          <a:lstStyle/>
          <a:p>
            <a:endParaRPr lang="ko-KR" altLang="en-US"/>
          </a:p>
        </p:txBody>
      </p:sp>
      <p:sp>
        <p:nvSpPr>
          <p:cNvPr id="119" name="Shape 117"/>
          <p:cNvSpPr/>
          <p:nvPr/>
        </p:nvSpPr>
        <p:spPr>
          <a:xfrm>
            <a:off x="8955161" y="3278187"/>
            <a:ext cx="1202776" cy="9525"/>
          </a:xfrm>
          <a:prstGeom prst="rect">
            <a:avLst/>
          </a:prstGeom>
          <a:solidFill>
            <a:srgbClr val="EADFD3"/>
          </a:solidFill>
          <a:ln/>
        </p:spPr>
        <p:txBody>
          <a:bodyPr/>
          <a:lstStyle/>
          <a:p>
            <a:endParaRPr lang="ko-KR" altLang="en-US"/>
          </a:p>
        </p:txBody>
      </p:sp>
      <p:sp>
        <p:nvSpPr>
          <p:cNvPr id="120" name="Shape 118"/>
          <p:cNvSpPr/>
          <p:nvPr/>
        </p:nvSpPr>
        <p:spPr>
          <a:xfrm>
            <a:off x="8955161" y="3278187"/>
            <a:ext cx="9525" cy="383128"/>
          </a:xfrm>
          <a:prstGeom prst="rect">
            <a:avLst/>
          </a:prstGeom>
          <a:solidFill>
            <a:srgbClr val="EADFD3"/>
          </a:solidFill>
          <a:ln/>
        </p:spPr>
        <p:txBody>
          <a:bodyPr/>
          <a:lstStyle/>
          <a:p>
            <a:endParaRPr lang="ko-KR" altLang="en-US"/>
          </a:p>
        </p:txBody>
      </p:sp>
      <p:sp>
        <p:nvSpPr>
          <p:cNvPr id="121" name="Text 119"/>
          <p:cNvSpPr/>
          <p:nvPr/>
        </p:nvSpPr>
        <p:spPr>
          <a:xfrm>
            <a:off x="8979428" y="3321504"/>
            <a:ext cx="115945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9,020</a:t>
            </a:r>
            <a:endParaRPr lang="en-US" sz="1163" dirty="0"/>
          </a:p>
        </p:txBody>
      </p:sp>
      <p:sp>
        <p:nvSpPr>
          <p:cNvPr id="122" name="Shape 120"/>
          <p:cNvSpPr/>
          <p:nvPr/>
        </p:nvSpPr>
        <p:spPr>
          <a:xfrm>
            <a:off x="538580" y="3661315"/>
            <a:ext cx="1202369" cy="653436"/>
          </a:xfrm>
          <a:prstGeom prst="rect">
            <a:avLst/>
          </a:prstGeom>
          <a:solidFill>
            <a:srgbClr val="F5F7EC"/>
          </a:solidFill>
          <a:ln/>
        </p:spPr>
        <p:txBody>
          <a:bodyPr/>
          <a:lstStyle/>
          <a:p>
            <a:endParaRPr lang="ko-KR" altLang="en-US"/>
          </a:p>
        </p:txBody>
      </p:sp>
      <p:sp>
        <p:nvSpPr>
          <p:cNvPr id="123" name="Shape 121"/>
          <p:cNvSpPr/>
          <p:nvPr/>
        </p:nvSpPr>
        <p:spPr>
          <a:xfrm>
            <a:off x="538580" y="3661315"/>
            <a:ext cx="1202369" cy="9525"/>
          </a:xfrm>
          <a:prstGeom prst="rect">
            <a:avLst/>
          </a:prstGeom>
          <a:solidFill>
            <a:srgbClr val="EADFD3"/>
          </a:solidFill>
          <a:ln/>
        </p:spPr>
        <p:txBody>
          <a:bodyPr/>
          <a:lstStyle/>
          <a:p>
            <a:endParaRPr lang="ko-KR" altLang="en-US"/>
          </a:p>
        </p:txBody>
      </p:sp>
      <p:sp>
        <p:nvSpPr>
          <p:cNvPr id="124" name="Text 122"/>
          <p:cNvSpPr/>
          <p:nvPr/>
        </p:nvSpPr>
        <p:spPr>
          <a:xfrm>
            <a:off x="557630" y="3704632"/>
            <a:ext cx="1164269"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암주요치료</a:t>
            </a:r>
            <a:endParaRPr lang="en-US" sz="1163" dirty="0"/>
          </a:p>
        </p:txBody>
      </p:sp>
      <p:sp>
        <p:nvSpPr>
          <p:cNvPr id="125" name="Shape 123"/>
          <p:cNvSpPr/>
          <p:nvPr/>
        </p:nvSpPr>
        <p:spPr>
          <a:xfrm>
            <a:off x="1740948" y="3661315"/>
            <a:ext cx="1202369" cy="653436"/>
          </a:xfrm>
          <a:prstGeom prst="rect">
            <a:avLst/>
          </a:prstGeom>
          <a:solidFill>
            <a:srgbClr val="F5F7EC"/>
          </a:solidFill>
          <a:ln/>
        </p:spPr>
        <p:txBody>
          <a:bodyPr/>
          <a:lstStyle/>
          <a:p>
            <a:endParaRPr lang="ko-KR" altLang="en-US"/>
          </a:p>
        </p:txBody>
      </p:sp>
      <p:sp>
        <p:nvSpPr>
          <p:cNvPr id="126" name="Shape 124"/>
          <p:cNvSpPr/>
          <p:nvPr/>
        </p:nvSpPr>
        <p:spPr>
          <a:xfrm>
            <a:off x="1740948" y="3661315"/>
            <a:ext cx="1202369" cy="9525"/>
          </a:xfrm>
          <a:prstGeom prst="rect">
            <a:avLst/>
          </a:prstGeom>
          <a:solidFill>
            <a:srgbClr val="EADFD3"/>
          </a:solidFill>
          <a:ln/>
        </p:spPr>
        <p:txBody>
          <a:bodyPr/>
          <a:lstStyle/>
          <a:p>
            <a:endParaRPr lang="ko-KR" altLang="en-US"/>
          </a:p>
        </p:txBody>
      </p:sp>
      <p:sp>
        <p:nvSpPr>
          <p:cNvPr id="127" name="Shape 125"/>
          <p:cNvSpPr/>
          <p:nvPr/>
        </p:nvSpPr>
        <p:spPr>
          <a:xfrm>
            <a:off x="1740948" y="3661315"/>
            <a:ext cx="9525" cy="653436"/>
          </a:xfrm>
          <a:prstGeom prst="rect">
            <a:avLst/>
          </a:prstGeom>
          <a:solidFill>
            <a:srgbClr val="EADFD3"/>
          </a:solidFill>
          <a:ln/>
        </p:spPr>
        <p:txBody>
          <a:bodyPr/>
          <a:lstStyle/>
          <a:p>
            <a:endParaRPr lang="ko-KR" altLang="en-US"/>
          </a:p>
        </p:txBody>
      </p:sp>
      <p:sp>
        <p:nvSpPr>
          <p:cNvPr id="128" name="Text 126"/>
          <p:cNvSpPr/>
          <p:nvPr/>
        </p:nvSpPr>
        <p:spPr>
          <a:xfrm>
            <a:off x="1765215" y="3704632"/>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29" name="Shape 127"/>
          <p:cNvSpPr/>
          <p:nvPr/>
        </p:nvSpPr>
        <p:spPr>
          <a:xfrm>
            <a:off x="2943317" y="3661315"/>
            <a:ext cx="1202369" cy="653436"/>
          </a:xfrm>
          <a:prstGeom prst="rect">
            <a:avLst/>
          </a:prstGeom>
          <a:solidFill>
            <a:srgbClr val="FFFFFF"/>
          </a:solidFill>
          <a:ln/>
        </p:spPr>
        <p:txBody>
          <a:bodyPr/>
          <a:lstStyle/>
          <a:p>
            <a:endParaRPr lang="ko-KR" altLang="en-US"/>
          </a:p>
        </p:txBody>
      </p:sp>
      <p:sp>
        <p:nvSpPr>
          <p:cNvPr id="130" name="Shape 128"/>
          <p:cNvSpPr/>
          <p:nvPr/>
        </p:nvSpPr>
        <p:spPr>
          <a:xfrm>
            <a:off x="2943317" y="3661315"/>
            <a:ext cx="1202369" cy="9525"/>
          </a:xfrm>
          <a:prstGeom prst="rect">
            <a:avLst/>
          </a:prstGeom>
          <a:solidFill>
            <a:srgbClr val="EADFD3"/>
          </a:solidFill>
          <a:ln/>
        </p:spPr>
        <p:txBody>
          <a:bodyPr/>
          <a:lstStyle/>
          <a:p>
            <a:endParaRPr lang="ko-KR" altLang="en-US"/>
          </a:p>
        </p:txBody>
      </p:sp>
      <p:sp>
        <p:nvSpPr>
          <p:cNvPr id="131" name="Shape 129"/>
          <p:cNvSpPr/>
          <p:nvPr/>
        </p:nvSpPr>
        <p:spPr>
          <a:xfrm>
            <a:off x="2943317" y="3661315"/>
            <a:ext cx="9525" cy="653436"/>
          </a:xfrm>
          <a:prstGeom prst="rect">
            <a:avLst/>
          </a:prstGeom>
          <a:solidFill>
            <a:srgbClr val="EADFD3"/>
          </a:solidFill>
          <a:ln/>
        </p:spPr>
        <p:txBody>
          <a:bodyPr/>
          <a:lstStyle/>
          <a:p>
            <a:endParaRPr lang="ko-KR" altLang="en-US"/>
          </a:p>
        </p:txBody>
      </p:sp>
      <p:sp>
        <p:nvSpPr>
          <p:cNvPr id="132" name="Text 130"/>
          <p:cNvSpPr/>
          <p:nvPr/>
        </p:nvSpPr>
        <p:spPr>
          <a:xfrm>
            <a:off x="3249869" y="3801034"/>
            <a:ext cx="594482"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26,533</a:t>
            </a:r>
            <a:endParaRPr lang="en-US" sz="1163" dirty="0"/>
          </a:p>
        </p:txBody>
      </p:sp>
      <p:sp>
        <p:nvSpPr>
          <p:cNvPr id="133" name="Text 131"/>
          <p:cNvSpPr/>
          <p:nvPr/>
        </p:nvSpPr>
        <p:spPr>
          <a:xfrm>
            <a:off x="3327391" y="4048029"/>
            <a:ext cx="439356" cy="152875"/>
          </a:xfrm>
          <a:prstGeom prst="rect">
            <a:avLst/>
          </a:prstGeom>
          <a:noFill/>
          <a:ln/>
        </p:spPr>
        <p:txBody>
          <a:bodyPr wrap="none" lIns="25400" tIns="25400" rIns="25400" bIns="25400" rtlCol="0" anchor="t">
            <a:normAutofit fontScale="92500" lnSpcReduction="20000"/>
          </a:bodyPr>
          <a:lstStyle/>
          <a:p>
            <a:pPr marL="0" indent="0" algn="ctr">
              <a:lnSpc>
                <a:spcPct val="113843"/>
              </a:lnSpc>
              <a:buNone/>
            </a:pPr>
            <a:r>
              <a:rPr lang="en-US" sz="744" b="1" kern="0" spc="-37" dirty="0">
                <a:solidFill>
                  <a:srgbClr val="7B6B60"/>
                </a:solidFill>
                <a:latin typeface="Paperlogy 7 Bold" pitchFamily="2" charset="-127"/>
                <a:ea typeface="Paperlogy 7 Bold" pitchFamily="2" charset="-127"/>
                <a:cs typeface="Arial" pitchFamily="34" charset="-120"/>
              </a:rPr>
              <a:t>(만기지급)</a:t>
            </a:r>
            <a:endParaRPr lang="en-US" sz="744" dirty="0"/>
          </a:p>
        </p:txBody>
      </p:sp>
      <p:sp>
        <p:nvSpPr>
          <p:cNvPr id="134" name="Shape 132"/>
          <p:cNvSpPr/>
          <p:nvPr/>
        </p:nvSpPr>
        <p:spPr>
          <a:xfrm>
            <a:off x="4145686" y="3661315"/>
            <a:ext cx="1202369" cy="653436"/>
          </a:xfrm>
          <a:prstGeom prst="rect">
            <a:avLst/>
          </a:prstGeom>
          <a:solidFill>
            <a:srgbClr val="FFFFFF"/>
          </a:solidFill>
          <a:ln/>
        </p:spPr>
        <p:txBody>
          <a:bodyPr/>
          <a:lstStyle/>
          <a:p>
            <a:endParaRPr lang="ko-KR" altLang="en-US"/>
          </a:p>
        </p:txBody>
      </p:sp>
      <p:sp>
        <p:nvSpPr>
          <p:cNvPr id="135" name="Shape 133"/>
          <p:cNvSpPr/>
          <p:nvPr/>
        </p:nvSpPr>
        <p:spPr>
          <a:xfrm>
            <a:off x="4145686" y="3661315"/>
            <a:ext cx="1202369" cy="9525"/>
          </a:xfrm>
          <a:prstGeom prst="rect">
            <a:avLst/>
          </a:prstGeom>
          <a:solidFill>
            <a:srgbClr val="EADFD3"/>
          </a:solidFill>
          <a:ln/>
        </p:spPr>
        <p:txBody>
          <a:bodyPr/>
          <a:lstStyle/>
          <a:p>
            <a:endParaRPr lang="ko-KR" altLang="en-US"/>
          </a:p>
        </p:txBody>
      </p:sp>
      <p:sp>
        <p:nvSpPr>
          <p:cNvPr id="136" name="Shape 134"/>
          <p:cNvSpPr/>
          <p:nvPr/>
        </p:nvSpPr>
        <p:spPr>
          <a:xfrm>
            <a:off x="4145686" y="3661315"/>
            <a:ext cx="9525" cy="653436"/>
          </a:xfrm>
          <a:prstGeom prst="rect">
            <a:avLst/>
          </a:prstGeom>
          <a:solidFill>
            <a:srgbClr val="EADFD3"/>
          </a:solidFill>
          <a:ln/>
        </p:spPr>
        <p:txBody>
          <a:bodyPr/>
          <a:lstStyle/>
          <a:p>
            <a:endParaRPr lang="ko-KR" altLang="en-US"/>
          </a:p>
        </p:txBody>
      </p:sp>
      <p:sp>
        <p:nvSpPr>
          <p:cNvPr id="137" name="Text 135"/>
          <p:cNvSpPr/>
          <p:nvPr/>
        </p:nvSpPr>
        <p:spPr>
          <a:xfrm>
            <a:off x="4452156" y="3801034"/>
            <a:ext cx="594645"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24,402</a:t>
            </a:r>
            <a:endParaRPr lang="en-US" sz="1163" dirty="0"/>
          </a:p>
        </p:txBody>
      </p:sp>
      <p:sp>
        <p:nvSpPr>
          <p:cNvPr id="138" name="Text 136"/>
          <p:cNvSpPr/>
          <p:nvPr/>
        </p:nvSpPr>
        <p:spPr>
          <a:xfrm>
            <a:off x="4529760" y="4048029"/>
            <a:ext cx="439356" cy="152875"/>
          </a:xfrm>
          <a:prstGeom prst="rect">
            <a:avLst/>
          </a:prstGeom>
          <a:noFill/>
          <a:ln/>
        </p:spPr>
        <p:txBody>
          <a:bodyPr wrap="none" lIns="25400" tIns="25400" rIns="25400" bIns="25400" rtlCol="0" anchor="t">
            <a:normAutofit fontScale="92500" lnSpcReduction="20000"/>
          </a:bodyPr>
          <a:lstStyle/>
          <a:p>
            <a:pPr marL="0" indent="0" algn="ctr">
              <a:lnSpc>
                <a:spcPct val="113843"/>
              </a:lnSpc>
              <a:buNone/>
            </a:pPr>
            <a:r>
              <a:rPr lang="en-US" sz="744" b="1" kern="0" spc="-37" dirty="0">
                <a:solidFill>
                  <a:srgbClr val="7B6B60"/>
                </a:solidFill>
                <a:latin typeface="Paperlogy 7 Bold" pitchFamily="2" charset="-127"/>
                <a:ea typeface="Paperlogy 7 Bold" pitchFamily="2" charset="-127"/>
                <a:cs typeface="Arial" pitchFamily="34" charset="-120"/>
              </a:rPr>
              <a:t>(만기지급)</a:t>
            </a:r>
            <a:endParaRPr lang="en-US" sz="744" dirty="0"/>
          </a:p>
        </p:txBody>
      </p:sp>
      <p:sp>
        <p:nvSpPr>
          <p:cNvPr id="139" name="Shape 137"/>
          <p:cNvSpPr/>
          <p:nvPr/>
        </p:nvSpPr>
        <p:spPr>
          <a:xfrm>
            <a:off x="5348054" y="3661315"/>
            <a:ext cx="1202369" cy="653436"/>
          </a:xfrm>
          <a:prstGeom prst="rect">
            <a:avLst/>
          </a:prstGeom>
          <a:solidFill>
            <a:srgbClr val="FFFFFF"/>
          </a:solidFill>
          <a:ln/>
        </p:spPr>
        <p:txBody>
          <a:bodyPr/>
          <a:lstStyle/>
          <a:p>
            <a:endParaRPr lang="ko-KR" altLang="en-US"/>
          </a:p>
        </p:txBody>
      </p:sp>
      <p:sp>
        <p:nvSpPr>
          <p:cNvPr id="140" name="Shape 138"/>
          <p:cNvSpPr/>
          <p:nvPr/>
        </p:nvSpPr>
        <p:spPr>
          <a:xfrm>
            <a:off x="5348054" y="3661315"/>
            <a:ext cx="1202369" cy="9525"/>
          </a:xfrm>
          <a:prstGeom prst="rect">
            <a:avLst/>
          </a:prstGeom>
          <a:solidFill>
            <a:srgbClr val="EADFD3"/>
          </a:solidFill>
          <a:ln/>
        </p:spPr>
        <p:txBody>
          <a:bodyPr/>
          <a:lstStyle/>
          <a:p>
            <a:endParaRPr lang="ko-KR" altLang="en-US"/>
          </a:p>
        </p:txBody>
      </p:sp>
      <p:sp>
        <p:nvSpPr>
          <p:cNvPr id="141" name="Shape 139"/>
          <p:cNvSpPr/>
          <p:nvPr/>
        </p:nvSpPr>
        <p:spPr>
          <a:xfrm>
            <a:off x="5348054" y="3661315"/>
            <a:ext cx="9525" cy="653436"/>
          </a:xfrm>
          <a:prstGeom prst="rect">
            <a:avLst/>
          </a:prstGeom>
          <a:solidFill>
            <a:srgbClr val="EADFD3"/>
          </a:solidFill>
          <a:ln/>
        </p:spPr>
        <p:txBody>
          <a:bodyPr/>
          <a:lstStyle/>
          <a:p>
            <a:endParaRPr lang="ko-KR" altLang="en-US"/>
          </a:p>
        </p:txBody>
      </p:sp>
      <p:sp>
        <p:nvSpPr>
          <p:cNvPr id="142" name="Text 140"/>
          <p:cNvSpPr/>
          <p:nvPr/>
        </p:nvSpPr>
        <p:spPr>
          <a:xfrm>
            <a:off x="5372321" y="3704632"/>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28,986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43" name="Shape 141"/>
          <p:cNvSpPr/>
          <p:nvPr/>
        </p:nvSpPr>
        <p:spPr>
          <a:xfrm>
            <a:off x="6550423" y="3661315"/>
            <a:ext cx="1202369" cy="653436"/>
          </a:xfrm>
          <a:prstGeom prst="rect">
            <a:avLst/>
          </a:prstGeom>
          <a:solidFill>
            <a:srgbClr val="FFFFFF"/>
          </a:solidFill>
          <a:ln/>
        </p:spPr>
        <p:txBody>
          <a:bodyPr/>
          <a:lstStyle/>
          <a:p>
            <a:endParaRPr lang="ko-KR" altLang="en-US"/>
          </a:p>
        </p:txBody>
      </p:sp>
      <p:sp>
        <p:nvSpPr>
          <p:cNvPr id="144" name="Shape 142"/>
          <p:cNvSpPr/>
          <p:nvPr/>
        </p:nvSpPr>
        <p:spPr>
          <a:xfrm>
            <a:off x="6550423" y="3661315"/>
            <a:ext cx="1202369" cy="9525"/>
          </a:xfrm>
          <a:prstGeom prst="rect">
            <a:avLst/>
          </a:prstGeom>
          <a:solidFill>
            <a:srgbClr val="EADFD3"/>
          </a:solidFill>
          <a:ln/>
        </p:spPr>
        <p:txBody>
          <a:bodyPr/>
          <a:lstStyle/>
          <a:p>
            <a:endParaRPr lang="ko-KR" altLang="en-US"/>
          </a:p>
        </p:txBody>
      </p:sp>
      <p:sp>
        <p:nvSpPr>
          <p:cNvPr id="145" name="Shape 143"/>
          <p:cNvSpPr/>
          <p:nvPr/>
        </p:nvSpPr>
        <p:spPr>
          <a:xfrm>
            <a:off x="6550423" y="3661315"/>
            <a:ext cx="9525" cy="653436"/>
          </a:xfrm>
          <a:prstGeom prst="rect">
            <a:avLst/>
          </a:prstGeom>
          <a:solidFill>
            <a:srgbClr val="EADFD3"/>
          </a:solidFill>
          <a:ln/>
        </p:spPr>
        <p:txBody>
          <a:bodyPr/>
          <a:lstStyle/>
          <a:p>
            <a:endParaRPr lang="ko-KR" altLang="en-US"/>
          </a:p>
        </p:txBody>
      </p:sp>
      <p:sp>
        <p:nvSpPr>
          <p:cNvPr id="146" name="Text 144"/>
          <p:cNvSpPr/>
          <p:nvPr/>
        </p:nvSpPr>
        <p:spPr>
          <a:xfrm>
            <a:off x="6574690" y="3704632"/>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25,392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47" name="Shape 145"/>
          <p:cNvSpPr/>
          <p:nvPr/>
        </p:nvSpPr>
        <p:spPr>
          <a:xfrm>
            <a:off x="7752792" y="3661315"/>
            <a:ext cx="1202369" cy="653436"/>
          </a:xfrm>
          <a:prstGeom prst="rect">
            <a:avLst/>
          </a:prstGeom>
          <a:solidFill>
            <a:srgbClr val="FFFFFF"/>
          </a:solidFill>
          <a:ln/>
        </p:spPr>
        <p:txBody>
          <a:bodyPr/>
          <a:lstStyle/>
          <a:p>
            <a:endParaRPr lang="ko-KR" altLang="en-US"/>
          </a:p>
        </p:txBody>
      </p:sp>
      <p:sp>
        <p:nvSpPr>
          <p:cNvPr id="148" name="Shape 146"/>
          <p:cNvSpPr/>
          <p:nvPr/>
        </p:nvSpPr>
        <p:spPr>
          <a:xfrm>
            <a:off x="7752792" y="3661315"/>
            <a:ext cx="1202369" cy="9525"/>
          </a:xfrm>
          <a:prstGeom prst="rect">
            <a:avLst/>
          </a:prstGeom>
          <a:solidFill>
            <a:srgbClr val="EADFD3"/>
          </a:solidFill>
          <a:ln/>
        </p:spPr>
        <p:txBody>
          <a:bodyPr/>
          <a:lstStyle/>
          <a:p>
            <a:endParaRPr lang="ko-KR" altLang="en-US"/>
          </a:p>
        </p:txBody>
      </p:sp>
      <p:sp>
        <p:nvSpPr>
          <p:cNvPr id="149" name="Shape 147"/>
          <p:cNvSpPr/>
          <p:nvPr/>
        </p:nvSpPr>
        <p:spPr>
          <a:xfrm>
            <a:off x="7752792" y="3661315"/>
            <a:ext cx="9525" cy="653436"/>
          </a:xfrm>
          <a:prstGeom prst="rect">
            <a:avLst/>
          </a:prstGeom>
          <a:solidFill>
            <a:srgbClr val="EADFD3"/>
          </a:solidFill>
          <a:ln/>
        </p:spPr>
        <p:txBody>
          <a:bodyPr/>
          <a:lstStyle/>
          <a:p>
            <a:endParaRPr lang="ko-KR" altLang="en-US"/>
          </a:p>
        </p:txBody>
      </p:sp>
      <p:sp>
        <p:nvSpPr>
          <p:cNvPr id="150" name="Text 148"/>
          <p:cNvSpPr/>
          <p:nvPr/>
        </p:nvSpPr>
        <p:spPr>
          <a:xfrm>
            <a:off x="7777059" y="3704632"/>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35,686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51" name="Shape 149"/>
          <p:cNvSpPr/>
          <p:nvPr/>
        </p:nvSpPr>
        <p:spPr>
          <a:xfrm>
            <a:off x="8955161" y="3661315"/>
            <a:ext cx="1202776" cy="653436"/>
          </a:xfrm>
          <a:prstGeom prst="rect">
            <a:avLst/>
          </a:prstGeom>
          <a:solidFill>
            <a:srgbClr val="FFFFFF"/>
          </a:solidFill>
          <a:ln/>
        </p:spPr>
        <p:txBody>
          <a:bodyPr/>
          <a:lstStyle/>
          <a:p>
            <a:endParaRPr lang="ko-KR" altLang="en-US"/>
          </a:p>
        </p:txBody>
      </p:sp>
      <p:sp>
        <p:nvSpPr>
          <p:cNvPr id="152" name="Shape 150"/>
          <p:cNvSpPr/>
          <p:nvPr/>
        </p:nvSpPr>
        <p:spPr>
          <a:xfrm>
            <a:off x="8955161" y="3661315"/>
            <a:ext cx="1202776" cy="9525"/>
          </a:xfrm>
          <a:prstGeom prst="rect">
            <a:avLst/>
          </a:prstGeom>
          <a:solidFill>
            <a:srgbClr val="EADFD3"/>
          </a:solidFill>
          <a:ln/>
        </p:spPr>
        <p:txBody>
          <a:bodyPr/>
          <a:lstStyle/>
          <a:p>
            <a:endParaRPr lang="ko-KR" altLang="en-US"/>
          </a:p>
        </p:txBody>
      </p:sp>
      <p:sp>
        <p:nvSpPr>
          <p:cNvPr id="153" name="Shape 151"/>
          <p:cNvSpPr/>
          <p:nvPr/>
        </p:nvSpPr>
        <p:spPr>
          <a:xfrm>
            <a:off x="8955161" y="3661315"/>
            <a:ext cx="9525" cy="653436"/>
          </a:xfrm>
          <a:prstGeom prst="rect">
            <a:avLst/>
          </a:prstGeom>
          <a:solidFill>
            <a:srgbClr val="EADFD3"/>
          </a:solidFill>
          <a:ln/>
        </p:spPr>
        <p:txBody>
          <a:bodyPr/>
          <a:lstStyle/>
          <a:p>
            <a:endParaRPr lang="ko-KR" altLang="en-US"/>
          </a:p>
        </p:txBody>
      </p:sp>
      <p:sp>
        <p:nvSpPr>
          <p:cNvPr id="154" name="Text 152"/>
          <p:cNvSpPr/>
          <p:nvPr/>
        </p:nvSpPr>
        <p:spPr>
          <a:xfrm>
            <a:off x="8979428" y="3704632"/>
            <a:ext cx="1159459"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27,412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55" name="Shape 153"/>
          <p:cNvSpPr/>
          <p:nvPr/>
        </p:nvSpPr>
        <p:spPr>
          <a:xfrm>
            <a:off x="538580" y="4314751"/>
            <a:ext cx="1202369" cy="383128"/>
          </a:xfrm>
          <a:prstGeom prst="rect">
            <a:avLst/>
          </a:prstGeom>
          <a:solidFill>
            <a:srgbClr val="F5F7EC"/>
          </a:solidFill>
          <a:ln/>
        </p:spPr>
        <p:txBody>
          <a:bodyPr/>
          <a:lstStyle/>
          <a:p>
            <a:endParaRPr lang="ko-KR" altLang="en-US"/>
          </a:p>
        </p:txBody>
      </p:sp>
      <p:sp>
        <p:nvSpPr>
          <p:cNvPr id="156" name="Shape 154"/>
          <p:cNvSpPr/>
          <p:nvPr/>
        </p:nvSpPr>
        <p:spPr>
          <a:xfrm>
            <a:off x="538580" y="4314751"/>
            <a:ext cx="1202369" cy="9525"/>
          </a:xfrm>
          <a:prstGeom prst="rect">
            <a:avLst/>
          </a:prstGeom>
          <a:solidFill>
            <a:srgbClr val="EADFD3"/>
          </a:solidFill>
          <a:ln/>
        </p:spPr>
        <p:txBody>
          <a:bodyPr/>
          <a:lstStyle/>
          <a:p>
            <a:endParaRPr lang="ko-KR" altLang="en-US"/>
          </a:p>
        </p:txBody>
      </p:sp>
      <p:sp>
        <p:nvSpPr>
          <p:cNvPr id="157" name="Text 155"/>
          <p:cNvSpPr/>
          <p:nvPr/>
        </p:nvSpPr>
        <p:spPr>
          <a:xfrm>
            <a:off x="557630" y="4358068"/>
            <a:ext cx="116426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뇌혈관진단</a:t>
            </a:r>
            <a:endParaRPr lang="en-US" sz="1163" dirty="0"/>
          </a:p>
        </p:txBody>
      </p:sp>
      <p:sp>
        <p:nvSpPr>
          <p:cNvPr id="158" name="Shape 156"/>
          <p:cNvSpPr/>
          <p:nvPr/>
        </p:nvSpPr>
        <p:spPr>
          <a:xfrm>
            <a:off x="1740948" y="4314751"/>
            <a:ext cx="1202369" cy="383128"/>
          </a:xfrm>
          <a:prstGeom prst="rect">
            <a:avLst/>
          </a:prstGeom>
          <a:solidFill>
            <a:srgbClr val="F5F7EC"/>
          </a:solidFill>
          <a:ln/>
        </p:spPr>
        <p:txBody>
          <a:bodyPr/>
          <a:lstStyle/>
          <a:p>
            <a:endParaRPr lang="ko-KR" altLang="en-US"/>
          </a:p>
        </p:txBody>
      </p:sp>
      <p:sp>
        <p:nvSpPr>
          <p:cNvPr id="159" name="Shape 157"/>
          <p:cNvSpPr/>
          <p:nvPr/>
        </p:nvSpPr>
        <p:spPr>
          <a:xfrm>
            <a:off x="1740948" y="4314751"/>
            <a:ext cx="1202369" cy="9525"/>
          </a:xfrm>
          <a:prstGeom prst="rect">
            <a:avLst/>
          </a:prstGeom>
          <a:solidFill>
            <a:srgbClr val="EADFD3"/>
          </a:solidFill>
          <a:ln/>
        </p:spPr>
        <p:txBody>
          <a:bodyPr/>
          <a:lstStyle/>
          <a:p>
            <a:endParaRPr lang="ko-KR" altLang="en-US"/>
          </a:p>
        </p:txBody>
      </p:sp>
      <p:sp>
        <p:nvSpPr>
          <p:cNvPr id="160" name="Shape 158"/>
          <p:cNvSpPr/>
          <p:nvPr/>
        </p:nvSpPr>
        <p:spPr>
          <a:xfrm>
            <a:off x="1740948" y="4314751"/>
            <a:ext cx="9525" cy="383128"/>
          </a:xfrm>
          <a:prstGeom prst="rect">
            <a:avLst/>
          </a:prstGeom>
          <a:solidFill>
            <a:srgbClr val="EADFD3"/>
          </a:solidFill>
          <a:ln/>
        </p:spPr>
        <p:txBody>
          <a:bodyPr/>
          <a:lstStyle/>
          <a:p>
            <a:endParaRPr lang="ko-KR" altLang="en-US"/>
          </a:p>
        </p:txBody>
      </p:sp>
      <p:sp>
        <p:nvSpPr>
          <p:cNvPr id="161" name="Text 159"/>
          <p:cNvSpPr/>
          <p:nvPr/>
        </p:nvSpPr>
        <p:spPr>
          <a:xfrm>
            <a:off x="1765215"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62" name="Shape 160"/>
          <p:cNvSpPr/>
          <p:nvPr/>
        </p:nvSpPr>
        <p:spPr>
          <a:xfrm>
            <a:off x="2943317" y="4314751"/>
            <a:ext cx="1202369" cy="383128"/>
          </a:xfrm>
          <a:prstGeom prst="rect">
            <a:avLst/>
          </a:prstGeom>
          <a:solidFill>
            <a:srgbClr val="FFFFFF"/>
          </a:solidFill>
          <a:ln/>
        </p:spPr>
        <p:txBody>
          <a:bodyPr/>
          <a:lstStyle/>
          <a:p>
            <a:endParaRPr lang="ko-KR" altLang="en-US"/>
          </a:p>
        </p:txBody>
      </p:sp>
      <p:sp>
        <p:nvSpPr>
          <p:cNvPr id="163" name="Shape 161"/>
          <p:cNvSpPr/>
          <p:nvPr/>
        </p:nvSpPr>
        <p:spPr>
          <a:xfrm>
            <a:off x="2943317" y="4314751"/>
            <a:ext cx="1202369" cy="9525"/>
          </a:xfrm>
          <a:prstGeom prst="rect">
            <a:avLst/>
          </a:prstGeom>
          <a:solidFill>
            <a:srgbClr val="EADFD3"/>
          </a:solidFill>
          <a:ln/>
        </p:spPr>
        <p:txBody>
          <a:bodyPr/>
          <a:lstStyle/>
          <a:p>
            <a:endParaRPr lang="ko-KR" altLang="en-US"/>
          </a:p>
        </p:txBody>
      </p:sp>
      <p:sp>
        <p:nvSpPr>
          <p:cNvPr id="164" name="Shape 162"/>
          <p:cNvSpPr/>
          <p:nvPr/>
        </p:nvSpPr>
        <p:spPr>
          <a:xfrm>
            <a:off x="2943317" y="4314751"/>
            <a:ext cx="9525" cy="383128"/>
          </a:xfrm>
          <a:prstGeom prst="rect">
            <a:avLst/>
          </a:prstGeom>
          <a:solidFill>
            <a:srgbClr val="EADFD3"/>
          </a:solidFill>
          <a:ln/>
        </p:spPr>
        <p:txBody>
          <a:bodyPr/>
          <a:lstStyle/>
          <a:p>
            <a:endParaRPr lang="ko-KR" altLang="en-US"/>
          </a:p>
        </p:txBody>
      </p:sp>
      <p:sp>
        <p:nvSpPr>
          <p:cNvPr id="165" name="Text 163"/>
          <p:cNvSpPr/>
          <p:nvPr/>
        </p:nvSpPr>
        <p:spPr>
          <a:xfrm>
            <a:off x="2967584"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6,850</a:t>
            </a:r>
            <a:endParaRPr lang="en-US" sz="1163" dirty="0"/>
          </a:p>
        </p:txBody>
      </p:sp>
      <p:sp>
        <p:nvSpPr>
          <p:cNvPr id="166" name="Shape 164"/>
          <p:cNvSpPr/>
          <p:nvPr/>
        </p:nvSpPr>
        <p:spPr>
          <a:xfrm>
            <a:off x="4145686" y="4314751"/>
            <a:ext cx="1202369" cy="383128"/>
          </a:xfrm>
          <a:prstGeom prst="rect">
            <a:avLst/>
          </a:prstGeom>
          <a:solidFill>
            <a:srgbClr val="FFFFFF"/>
          </a:solidFill>
          <a:ln/>
        </p:spPr>
        <p:txBody>
          <a:bodyPr/>
          <a:lstStyle/>
          <a:p>
            <a:endParaRPr lang="ko-KR" altLang="en-US"/>
          </a:p>
        </p:txBody>
      </p:sp>
      <p:sp>
        <p:nvSpPr>
          <p:cNvPr id="167" name="Shape 165"/>
          <p:cNvSpPr/>
          <p:nvPr/>
        </p:nvSpPr>
        <p:spPr>
          <a:xfrm>
            <a:off x="4145686" y="4314751"/>
            <a:ext cx="1202369" cy="9525"/>
          </a:xfrm>
          <a:prstGeom prst="rect">
            <a:avLst/>
          </a:prstGeom>
          <a:solidFill>
            <a:srgbClr val="EADFD3"/>
          </a:solidFill>
          <a:ln/>
        </p:spPr>
        <p:txBody>
          <a:bodyPr/>
          <a:lstStyle/>
          <a:p>
            <a:endParaRPr lang="ko-KR" altLang="en-US"/>
          </a:p>
        </p:txBody>
      </p:sp>
      <p:sp>
        <p:nvSpPr>
          <p:cNvPr id="168" name="Shape 166"/>
          <p:cNvSpPr/>
          <p:nvPr/>
        </p:nvSpPr>
        <p:spPr>
          <a:xfrm>
            <a:off x="4145686" y="4314751"/>
            <a:ext cx="9525" cy="383128"/>
          </a:xfrm>
          <a:prstGeom prst="rect">
            <a:avLst/>
          </a:prstGeom>
          <a:solidFill>
            <a:srgbClr val="EADFD3"/>
          </a:solidFill>
          <a:ln/>
        </p:spPr>
        <p:txBody>
          <a:bodyPr/>
          <a:lstStyle/>
          <a:p>
            <a:endParaRPr lang="ko-KR" altLang="en-US"/>
          </a:p>
        </p:txBody>
      </p:sp>
      <p:sp>
        <p:nvSpPr>
          <p:cNvPr id="169" name="Text 167"/>
          <p:cNvSpPr/>
          <p:nvPr/>
        </p:nvSpPr>
        <p:spPr>
          <a:xfrm>
            <a:off x="4169953"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6,380</a:t>
            </a:r>
            <a:endParaRPr lang="en-US" sz="1163" dirty="0"/>
          </a:p>
        </p:txBody>
      </p:sp>
      <p:sp>
        <p:nvSpPr>
          <p:cNvPr id="170" name="Shape 168"/>
          <p:cNvSpPr/>
          <p:nvPr/>
        </p:nvSpPr>
        <p:spPr>
          <a:xfrm>
            <a:off x="5348054" y="4314751"/>
            <a:ext cx="1202369" cy="383128"/>
          </a:xfrm>
          <a:prstGeom prst="rect">
            <a:avLst/>
          </a:prstGeom>
          <a:solidFill>
            <a:srgbClr val="FFFFFF"/>
          </a:solidFill>
          <a:ln/>
        </p:spPr>
        <p:txBody>
          <a:bodyPr/>
          <a:lstStyle/>
          <a:p>
            <a:endParaRPr lang="ko-KR" altLang="en-US"/>
          </a:p>
        </p:txBody>
      </p:sp>
      <p:sp>
        <p:nvSpPr>
          <p:cNvPr id="171" name="Shape 169"/>
          <p:cNvSpPr/>
          <p:nvPr/>
        </p:nvSpPr>
        <p:spPr>
          <a:xfrm>
            <a:off x="5348054" y="4314751"/>
            <a:ext cx="1202369" cy="9525"/>
          </a:xfrm>
          <a:prstGeom prst="rect">
            <a:avLst/>
          </a:prstGeom>
          <a:solidFill>
            <a:srgbClr val="EADFD3"/>
          </a:solidFill>
          <a:ln/>
        </p:spPr>
        <p:txBody>
          <a:bodyPr/>
          <a:lstStyle/>
          <a:p>
            <a:endParaRPr lang="ko-KR" altLang="en-US"/>
          </a:p>
        </p:txBody>
      </p:sp>
      <p:sp>
        <p:nvSpPr>
          <p:cNvPr id="172" name="Shape 170"/>
          <p:cNvSpPr/>
          <p:nvPr/>
        </p:nvSpPr>
        <p:spPr>
          <a:xfrm>
            <a:off x="5348054" y="4314751"/>
            <a:ext cx="9525" cy="383128"/>
          </a:xfrm>
          <a:prstGeom prst="rect">
            <a:avLst/>
          </a:prstGeom>
          <a:solidFill>
            <a:srgbClr val="EADFD3"/>
          </a:solidFill>
          <a:ln/>
        </p:spPr>
        <p:txBody>
          <a:bodyPr/>
          <a:lstStyle/>
          <a:p>
            <a:endParaRPr lang="ko-KR" altLang="en-US"/>
          </a:p>
        </p:txBody>
      </p:sp>
      <p:sp>
        <p:nvSpPr>
          <p:cNvPr id="173" name="Text 171"/>
          <p:cNvSpPr/>
          <p:nvPr/>
        </p:nvSpPr>
        <p:spPr>
          <a:xfrm>
            <a:off x="5372321"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9,080</a:t>
            </a:r>
            <a:endParaRPr lang="en-US" sz="1163" dirty="0"/>
          </a:p>
        </p:txBody>
      </p:sp>
      <p:sp>
        <p:nvSpPr>
          <p:cNvPr id="174" name="Shape 172"/>
          <p:cNvSpPr/>
          <p:nvPr/>
        </p:nvSpPr>
        <p:spPr>
          <a:xfrm>
            <a:off x="6550423" y="4314751"/>
            <a:ext cx="1202369" cy="383128"/>
          </a:xfrm>
          <a:prstGeom prst="rect">
            <a:avLst/>
          </a:prstGeom>
          <a:solidFill>
            <a:srgbClr val="FFFFFF"/>
          </a:solidFill>
          <a:ln/>
        </p:spPr>
        <p:txBody>
          <a:bodyPr/>
          <a:lstStyle/>
          <a:p>
            <a:endParaRPr lang="ko-KR" altLang="en-US"/>
          </a:p>
        </p:txBody>
      </p:sp>
      <p:sp>
        <p:nvSpPr>
          <p:cNvPr id="175" name="Shape 173"/>
          <p:cNvSpPr/>
          <p:nvPr/>
        </p:nvSpPr>
        <p:spPr>
          <a:xfrm>
            <a:off x="6550423" y="4314751"/>
            <a:ext cx="1202369" cy="9525"/>
          </a:xfrm>
          <a:prstGeom prst="rect">
            <a:avLst/>
          </a:prstGeom>
          <a:solidFill>
            <a:srgbClr val="EADFD3"/>
          </a:solidFill>
          <a:ln/>
        </p:spPr>
        <p:txBody>
          <a:bodyPr/>
          <a:lstStyle/>
          <a:p>
            <a:endParaRPr lang="ko-KR" altLang="en-US"/>
          </a:p>
        </p:txBody>
      </p:sp>
      <p:sp>
        <p:nvSpPr>
          <p:cNvPr id="176" name="Shape 174"/>
          <p:cNvSpPr/>
          <p:nvPr/>
        </p:nvSpPr>
        <p:spPr>
          <a:xfrm>
            <a:off x="6550423" y="4314751"/>
            <a:ext cx="9525" cy="383128"/>
          </a:xfrm>
          <a:prstGeom prst="rect">
            <a:avLst/>
          </a:prstGeom>
          <a:solidFill>
            <a:srgbClr val="EADFD3"/>
          </a:solidFill>
          <a:ln/>
        </p:spPr>
        <p:txBody>
          <a:bodyPr/>
          <a:lstStyle/>
          <a:p>
            <a:endParaRPr lang="ko-KR" altLang="en-US"/>
          </a:p>
        </p:txBody>
      </p:sp>
      <p:sp>
        <p:nvSpPr>
          <p:cNvPr id="177" name="Text 175"/>
          <p:cNvSpPr/>
          <p:nvPr/>
        </p:nvSpPr>
        <p:spPr>
          <a:xfrm>
            <a:off x="6574690"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6,260</a:t>
            </a:r>
            <a:endParaRPr lang="en-US" sz="1163" dirty="0"/>
          </a:p>
        </p:txBody>
      </p:sp>
      <p:sp>
        <p:nvSpPr>
          <p:cNvPr id="178" name="Shape 176"/>
          <p:cNvSpPr/>
          <p:nvPr/>
        </p:nvSpPr>
        <p:spPr>
          <a:xfrm>
            <a:off x="7752792" y="4314751"/>
            <a:ext cx="1202369" cy="383128"/>
          </a:xfrm>
          <a:prstGeom prst="rect">
            <a:avLst/>
          </a:prstGeom>
          <a:solidFill>
            <a:srgbClr val="FFFFFF"/>
          </a:solidFill>
          <a:ln/>
        </p:spPr>
        <p:txBody>
          <a:bodyPr/>
          <a:lstStyle/>
          <a:p>
            <a:endParaRPr lang="ko-KR" altLang="en-US"/>
          </a:p>
        </p:txBody>
      </p:sp>
      <p:sp>
        <p:nvSpPr>
          <p:cNvPr id="179" name="Shape 177"/>
          <p:cNvSpPr/>
          <p:nvPr/>
        </p:nvSpPr>
        <p:spPr>
          <a:xfrm>
            <a:off x="7752792" y="4314751"/>
            <a:ext cx="1202369" cy="9525"/>
          </a:xfrm>
          <a:prstGeom prst="rect">
            <a:avLst/>
          </a:prstGeom>
          <a:solidFill>
            <a:srgbClr val="EADFD3"/>
          </a:solidFill>
          <a:ln/>
        </p:spPr>
        <p:txBody>
          <a:bodyPr/>
          <a:lstStyle/>
          <a:p>
            <a:endParaRPr lang="ko-KR" altLang="en-US"/>
          </a:p>
        </p:txBody>
      </p:sp>
      <p:sp>
        <p:nvSpPr>
          <p:cNvPr id="180" name="Shape 178"/>
          <p:cNvSpPr/>
          <p:nvPr/>
        </p:nvSpPr>
        <p:spPr>
          <a:xfrm>
            <a:off x="7752792" y="4314751"/>
            <a:ext cx="9525" cy="383128"/>
          </a:xfrm>
          <a:prstGeom prst="rect">
            <a:avLst/>
          </a:prstGeom>
          <a:solidFill>
            <a:srgbClr val="EADFD3"/>
          </a:solidFill>
          <a:ln/>
        </p:spPr>
        <p:txBody>
          <a:bodyPr/>
          <a:lstStyle/>
          <a:p>
            <a:endParaRPr lang="ko-KR" altLang="en-US"/>
          </a:p>
        </p:txBody>
      </p:sp>
      <p:sp>
        <p:nvSpPr>
          <p:cNvPr id="181" name="Text 179"/>
          <p:cNvSpPr/>
          <p:nvPr/>
        </p:nvSpPr>
        <p:spPr>
          <a:xfrm>
            <a:off x="7777059" y="4358068"/>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6,970</a:t>
            </a:r>
            <a:endParaRPr lang="en-US" sz="1163" dirty="0"/>
          </a:p>
        </p:txBody>
      </p:sp>
      <p:sp>
        <p:nvSpPr>
          <p:cNvPr id="182" name="Shape 180"/>
          <p:cNvSpPr/>
          <p:nvPr/>
        </p:nvSpPr>
        <p:spPr>
          <a:xfrm>
            <a:off x="8955161" y="4314751"/>
            <a:ext cx="1202776" cy="383128"/>
          </a:xfrm>
          <a:prstGeom prst="rect">
            <a:avLst/>
          </a:prstGeom>
          <a:solidFill>
            <a:srgbClr val="FFFFFF"/>
          </a:solidFill>
          <a:ln/>
        </p:spPr>
        <p:txBody>
          <a:bodyPr/>
          <a:lstStyle/>
          <a:p>
            <a:endParaRPr lang="ko-KR" altLang="en-US"/>
          </a:p>
        </p:txBody>
      </p:sp>
      <p:sp>
        <p:nvSpPr>
          <p:cNvPr id="183" name="Shape 181"/>
          <p:cNvSpPr/>
          <p:nvPr/>
        </p:nvSpPr>
        <p:spPr>
          <a:xfrm>
            <a:off x="8955161" y="4314751"/>
            <a:ext cx="1202776" cy="9525"/>
          </a:xfrm>
          <a:prstGeom prst="rect">
            <a:avLst/>
          </a:prstGeom>
          <a:solidFill>
            <a:srgbClr val="EADFD3"/>
          </a:solidFill>
          <a:ln/>
        </p:spPr>
        <p:txBody>
          <a:bodyPr/>
          <a:lstStyle/>
          <a:p>
            <a:endParaRPr lang="ko-KR" altLang="en-US"/>
          </a:p>
        </p:txBody>
      </p:sp>
      <p:sp>
        <p:nvSpPr>
          <p:cNvPr id="184" name="Shape 182"/>
          <p:cNvSpPr/>
          <p:nvPr/>
        </p:nvSpPr>
        <p:spPr>
          <a:xfrm>
            <a:off x="8955161" y="4314751"/>
            <a:ext cx="9525" cy="383128"/>
          </a:xfrm>
          <a:prstGeom prst="rect">
            <a:avLst/>
          </a:prstGeom>
          <a:solidFill>
            <a:srgbClr val="EADFD3"/>
          </a:solidFill>
          <a:ln/>
        </p:spPr>
        <p:txBody>
          <a:bodyPr/>
          <a:lstStyle/>
          <a:p>
            <a:endParaRPr lang="ko-KR" altLang="en-US"/>
          </a:p>
        </p:txBody>
      </p:sp>
      <p:sp>
        <p:nvSpPr>
          <p:cNvPr id="185" name="Text 183"/>
          <p:cNvSpPr/>
          <p:nvPr/>
        </p:nvSpPr>
        <p:spPr>
          <a:xfrm>
            <a:off x="8979428" y="4358068"/>
            <a:ext cx="115945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6,410</a:t>
            </a:r>
            <a:endParaRPr lang="en-US" sz="1163" dirty="0"/>
          </a:p>
        </p:txBody>
      </p:sp>
      <p:sp>
        <p:nvSpPr>
          <p:cNvPr id="186" name="Shape 184"/>
          <p:cNvSpPr/>
          <p:nvPr/>
        </p:nvSpPr>
        <p:spPr>
          <a:xfrm>
            <a:off x="538580" y="4697879"/>
            <a:ext cx="1202369" cy="383128"/>
          </a:xfrm>
          <a:prstGeom prst="rect">
            <a:avLst/>
          </a:prstGeom>
          <a:solidFill>
            <a:srgbClr val="F5F7EC"/>
          </a:solidFill>
          <a:ln/>
        </p:spPr>
        <p:txBody>
          <a:bodyPr/>
          <a:lstStyle/>
          <a:p>
            <a:endParaRPr lang="ko-KR" altLang="en-US"/>
          </a:p>
        </p:txBody>
      </p:sp>
      <p:sp>
        <p:nvSpPr>
          <p:cNvPr id="187" name="Shape 185"/>
          <p:cNvSpPr/>
          <p:nvPr/>
        </p:nvSpPr>
        <p:spPr>
          <a:xfrm>
            <a:off x="538580" y="4697879"/>
            <a:ext cx="1202369" cy="9525"/>
          </a:xfrm>
          <a:prstGeom prst="rect">
            <a:avLst/>
          </a:prstGeom>
          <a:solidFill>
            <a:srgbClr val="EADFD3"/>
          </a:solidFill>
          <a:ln/>
        </p:spPr>
        <p:txBody>
          <a:bodyPr/>
          <a:lstStyle/>
          <a:p>
            <a:endParaRPr lang="ko-KR" altLang="en-US"/>
          </a:p>
        </p:txBody>
      </p:sp>
      <p:sp>
        <p:nvSpPr>
          <p:cNvPr id="188" name="Text 186"/>
          <p:cNvSpPr/>
          <p:nvPr/>
        </p:nvSpPr>
        <p:spPr>
          <a:xfrm>
            <a:off x="557630" y="4741196"/>
            <a:ext cx="116426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허혈성진단</a:t>
            </a:r>
            <a:endParaRPr lang="en-US" sz="1163" dirty="0"/>
          </a:p>
        </p:txBody>
      </p:sp>
      <p:sp>
        <p:nvSpPr>
          <p:cNvPr id="189" name="Shape 187"/>
          <p:cNvSpPr/>
          <p:nvPr/>
        </p:nvSpPr>
        <p:spPr>
          <a:xfrm>
            <a:off x="1740948" y="4697879"/>
            <a:ext cx="1202369" cy="383128"/>
          </a:xfrm>
          <a:prstGeom prst="rect">
            <a:avLst/>
          </a:prstGeom>
          <a:solidFill>
            <a:srgbClr val="F5F7EC"/>
          </a:solidFill>
          <a:ln/>
        </p:spPr>
        <p:txBody>
          <a:bodyPr/>
          <a:lstStyle/>
          <a:p>
            <a:endParaRPr lang="ko-KR" altLang="en-US"/>
          </a:p>
        </p:txBody>
      </p:sp>
      <p:sp>
        <p:nvSpPr>
          <p:cNvPr id="190" name="Shape 188"/>
          <p:cNvSpPr/>
          <p:nvPr/>
        </p:nvSpPr>
        <p:spPr>
          <a:xfrm>
            <a:off x="1740948" y="4697879"/>
            <a:ext cx="1202369" cy="9525"/>
          </a:xfrm>
          <a:prstGeom prst="rect">
            <a:avLst/>
          </a:prstGeom>
          <a:solidFill>
            <a:srgbClr val="EADFD3"/>
          </a:solidFill>
          <a:ln/>
        </p:spPr>
        <p:txBody>
          <a:bodyPr/>
          <a:lstStyle/>
          <a:p>
            <a:endParaRPr lang="ko-KR" altLang="en-US"/>
          </a:p>
        </p:txBody>
      </p:sp>
      <p:sp>
        <p:nvSpPr>
          <p:cNvPr id="191" name="Shape 189"/>
          <p:cNvSpPr/>
          <p:nvPr/>
        </p:nvSpPr>
        <p:spPr>
          <a:xfrm>
            <a:off x="1740948" y="4697879"/>
            <a:ext cx="9525" cy="383128"/>
          </a:xfrm>
          <a:prstGeom prst="rect">
            <a:avLst/>
          </a:prstGeom>
          <a:solidFill>
            <a:srgbClr val="EADFD3"/>
          </a:solidFill>
          <a:ln/>
        </p:spPr>
        <p:txBody>
          <a:bodyPr/>
          <a:lstStyle/>
          <a:p>
            <a:endParaRPr lang="ko-KR" altLang="en-US"/>
          </a:p>
        </p:txBody>
      </p:sp>
      <p:sp>
        <p:nvSpPr>
          <p:cNvPr id="192" name="Text 190"/>
          <p:cNvSpPr/>
          <p:nvPr/>
        </p:nvSpPr>
        <p:spPr>
          <a:xfrm>
            <a:off x="1765215"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93" name="Shape 191"/>
          <p:cNvSpPr/>
          <p:nvPr/>
        </p:nvSpPr>
        <p:spPr>
          <a:xfrm>
            <a:off x="2943317" y="4697879"/>
            <a:ext cx="1202369" cy="383128"/>
          </a:xfrm>
          <a:prstGeom prst="rect">
            <a:avLst/>
          </a:prstGeom>
          <a:solidFill>
            <a:srgbClr val="FFFFFF"/>
          </a:solidFill>
          <a:ln/>
        </p:spPr>
        <p:txBody>
          <a:bodyPr/>
          <a:lstStyle/>
          <a:p>
            <a:endParaRPr lang="ko-KR" altLang="en-US"/>
          </a:p>
        </p:txBody>
      </p:sp>
      <p:sp>
        <p:nvSpPr>
          <p:cNvPr id="194" name="Shape 192"/>
          <p:cNvSpPr/>
          <p:nvPr/>
        </p:nvSpPr>
        <p:spPr>
          <a:xfrm>
            <a:off x="2943317" y="4697879"/>
            <a:ext cx="1202369" cy="9525"/>
          </a:xfrm>
          <a:prstGeom prst="rect">
            <a:avLst/>
          </a:prstGeom>
          <a:solidFill>
            <a:srgbClr val="EADFD3"/>
          </a:solidFill>
          <a:ln/>
        </p:spPr>
        <p:txBody>
          <a:bodyPr/>
          <a:lstStyle/>
          <a:p>
            <a:endParaRPr lang="ko-KR" altLang="en-US"/>
          </a:p>
        </p:txBody>
      </p:sp>
      <p:sp>
        <p:nvSpPr>
          <p:cNvPr id="195" name="Shape 193"/>
          <p:cNvSpPr/>
          <p:nvPr/>
        </p:nvSpPr>
        <p:spPr>
          <a:xfrm>
            <a:off x="2943317" y="4697879"/>
            <a:ext cx="9525" cy="383128"/>
          </a:xfrm>
          <a:prstGeom prst="rect">
            <a:avLst/>
          </a:prstGeom>
          <a:solidFill>
            <a:srgbClr val="EADFD3"/>
          </a:solidFill>
          <a:ln/>
        </p:spPr>
        <p:txBody>
          <a:bodyPr/>
          <a:lstStyle/>
          <a:p>
            <a:endParaRPr lang="ko-KR" altLang="en-US"/>
          </a:p>
        </p:txBody>
      </p:sp>
      <p:sp>
        <p:nvSpPr>
          <p:cNvPr id="196" name="Text 194"/>
          <p:cNvSpPr/>
          <p:nvPr/>
        </p:nvSpPr>
        <p:spPr>
          <a:xfrm>
            <a:off x="2967584"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6,090</a:t>
            </a:r>
            <a:endParaRPr lang="en-US" sz="1163" dirty="0"/>
          </a:p>
        </p:txBody>
      </p:sp>
      <p:sp>
        <p:nvSpPr>
          <p:cNvPr id="197" name="Shape 195"/>
          <p:cNvSpPr/>
          <p:nvPr/>
        </p:nvSpPr>
        <p:spPr>
          <a:xfrm>
            <a:off x="4145686" y="4697879"/>
            <a:ext cx="1202369" cy="383128"/>
          </a:xfrm>
          <a:prstGeom prst="rect">
            <a:avLst/>
          </a:prstGeom>
          <a:solidFill>
            <a:srgbClr val="FFFFFF"/>
          </a:solidFill>
          <a:ln/>
        </p:spPr>
        <p:txBody>
          <a:bodyPr/>
          <a:lstStyle/>
          <a:p>
            <a:endParaRPr lang="ko-KR" altLang="en-US"/>
          </a:p>
        </p:txBody>
      </p:sp>
      <p:sp>
        <p:nvSpPr>
          <p:cNvPr id="198" name="Shape 196"/>
          <p:cNvSpPr/>
          <p:nvPr/>
        </p:nvSpPr>
        <p:spPr>
          <a:xfrm>
            <a:off x="4145686" y="4697879"/>
            <a:ext cx="1202369" cy="9525"/>
          </a:xfrm>
          <a:prstGeom prst="rect">
            <a:avLst/>
          </a:prstGeom>
          <a:solidFill>
            <a:srgbClr val="EADFD3"/>
          </a:solidFill>
          <a:ln/>
        </p:spPr>
        <p:txBody>
          <a:bodyPr/>
          <a:lstStyle/>
          <a:p>
            <a:endParaRPr lang="ko-KR" altLang="en-US"/>
          </a:p>
        </p:txBody>
      </p:sp>
      <p:sp>
        <p:nvSpPr>
          <p:cNvPr id="199" name="Shape 197"/>
          <p:cNvSpPr/>
          <p:nvPr/>
        </p:nvSpPr>
        <p:spPr>
          <a:xfrm>
            <a:off x="4145686" y="4697879"/>
            <a:ext cx="9525" cy="383128"/>
          </a:xfrm>
          <a:prstGeom prst="rect">
            <a:avLst/>
          </a:prstGeom>
          <a:solidFill>
            <a:srgbClr val="EADFD3"/>
          </a:solidFill>
          <a:ln/>
        </p:spPr>
        <p:txBody>
          <a:bodyPr/>
          <a:lstStyle/>
          <a:p>
            <a:endParaRPr lang="ko-KR" altLang="en-US"/>
          </a:p>
        </p:txBody>
      </p:sp>
      <p:sp>
        <p:nvSpPr>
          <p:cNvPr id="200" name="Text 198"/>
          <p:cNvSpPr/>
          <p:nvPr/>
        </p:nvSpPr>
        <p:spPr>
          <a:xfrm>
            <a:off x="4169953"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2,910</a:t>
            </a:r>
            <a:endParaRPr lang="en-US" sz="1163" dirty="0"/>
          </a:p>
        </p:txBody>
      </p:sp>
      <p:sp>
        <p:nvSpPr>
          <p:cNvPr id="201" name="Shape 199"/>
          <p:cNvSpPr/>
          <p:nvPr/>
        </p:nvSpPr>
        <p:spPr>
          <a:xfrm>
            <a:off x="5348054" y="4697879"/>
            <a:ext cx="1202369" cy="383128"/>
          </a:xfrm>
          <a:prstGeom prst="rect">
            <a:avLst/>
          </a:prstGeom>
          <a:solidFill>
            <a:srgbClr val="FFFFFF"/>
          </a:solidFill>
          <a:ln/>
        </p:spPr>
        <p:txBody>
          <a:bodyPr/>
          <a:lstStyle/>
          <a:p>
            <a:endParaRPr lang="ko-KR" altLang="en-US"/>
          </a:p>
        </p:txBody>
      </p:sp>
      <p:sp>
        <p:nvSpPr>
          <p:cNvPr id="202" name="Shape 200"/>
          <p:cNvSpPr/>
          <p:nvPr/>
        </p:nvSpPr>
        <p:spPr>
          <a:xfrm>
            <a:off x="5348054" y="4697879"/>
            <a:ext cx="1202369" cy="9525"/>
          </a:xfrm>
          <a:prstGeom prst="rect">
            <a:avLst/>
          </a:prstGeom>
          <a:solidFill>
            <a:srgbClr val="EADFD3"/>
          </a:solidFill>
          <a:ln/>
        </p:spPr>
        <p:txBody>
          <a:bodyPr/>
          <a:lstStyle/>
          <a:p>
            <a:endParaRPr lang="ko-KR" altLang="en-US"/>
          </a:p>
        </p:txBody>
      </p:sp>
      <p:sp>
        <p:nvSpPr>
          <p:cNvPr id="203" name="Shape 201"/>
          <p:cNvSpPr/>
          <p:nvPr/>
        </p:nvSpPr>
        <p:spPr>
          <a:xfrm>
            <a:off x="5348054" y="4697879"/>
            <a:ext cx="9525" cy="383128"/>
          </a:xfrm>
          <a:prstGeom prst="rect">
            <a:avLst/>
          </a:prstGeom>
          <a:solidFill>
            <a:srgbClr val="EADFD3"/>
          </a:solidFill>
          <a:ln/>
        </p:spPr>
        <p:txBody>
          <a:bodyPr/>
          <a:lstStyle/>
          <a:p>
            <a:endParaRPr lang="ko-KR" altLang="en-US"/>
          </a:p>
        </p:txBody>
      </p:sp>
      <p:sp>
        <p:nvSpPr>
          <p:cNvPr id="204" name="Text 202"/>
          <p:cNvSpPr/>
          <p:nvPr/>
        </p:nvSpPr>
        <p:spPr>
          <a:xfrm>
            <a:off x="5372321"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5,820</a:t>
            </a:r>
            <a:endParaRPr lang="en-US" sz="1163" dirty="0"/>
          </a:p>
        </p:txBody>
      </p:sp>
      <p:sp>
        <p:nvSpPr>
          <p:cNvPr id="205" name="Shape 203"/>
          <p:cNvSpPr/>
          <p:nvPr/>
        </p:nvSpPr>
        <p:spPr>
          <a:xfrm>
            <a:off x="6550423" y="4697879"/>
            <a:ext cx="1202369" cy="383128"/>
          </a:xfrm>
          <a:prstGeom prst="rect">
            <a:avLst/>
          </a:prstGeom>
          <a:solidFill>
            <a:srgbClr val="FFFFFF"/>
          </a:solidFill>
          <a:ln/>
        </p:spPr>
        <p:txBody>
          <a:bodyPr/>
          <a:lstStyle/>
          <a:p>
            <a:endParaRPr lang="ko-KR" altLang="en-US"/>
          </a:p>
        </p:txBody>
      </p:sp>
      <p:sp>
        <p:nvSpPr>
          <p:cNvPr id="206" name="Shape 204"/>
          <p:cNvSpPr/>
          <p:nvPr/>
        </p:nvSpPr>
        <p:spPr>
          <a:xfrm>
            <a:off x="6550423" y="4697879"/>
            <a:ext cx="1202369" cy="9525"/>
          </a:xfrm>
          <a:prstGeom prst="rect">
            <a:avLst/>
          </a:prstGeom>
          <a:solidFill>
            <a:srgbClr val="EADFD3"/>
          </a:solidFill>
          <a:ln/>
        </p:spPr>
        <p:txBody>
          <a:bodyPr/>
          <a:lstStyle/>
          <a:p>
            <a:endParaRPr lang="ko-KR" altLang="en-US"/>
          </a:p>
        </p:txBody>
      </p:sp>
      <p:sp>
        <p:nvSpPr>
          <p:cNvPr id="207" name="Shape 205"/>
          <p:cNvSpPr/>
          <p:nvPr/>
        </p:nvSpPr>
        <p:spPr>
          <a:xfrm>
            <a:off x="6550423" y="4697879"/>
            <a:ext cx="9525" cy="383128"/>
          </a:xfrm>
          <a:prstGeom prst="rect">
            <a:avLst/>
          </a:prstGeom>
          <a:solidFill>
            <a:srgbClr val="EADFD3"/>
          </a:solidFill>
          <a:ln/>
        </p:spPr>
        <p:txBody>
          <a:bodyPr/>
          <a:lstStyle/>
          <a:p>
            <a:endParaRPr lang="ko-KR" altLang="en-US"/>
          </a:p>
        </p:txBody>
      </p:sp>
      <p:sp>
        <p:nvSpPr>
          <p:cNvPr id="208" name="Text 206"/>
          <p:cNvSpPr/>
          <p:nvPr/>
        </p:nvSpPr>
        <p:spPr>
          <a:xfrm>
            <a:off x="6574690"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3,270</a:t>
            </a:r>
            <a:endParaRPr lang="en-US" sz="1163" dirty="0"/>
          </a:p>
        </p:txBody>
      </p:sp>
      <p:sp>
        <p:nvSpPr>
          <p:cNvPr id="209" name="Shape 207"/>
          <p:cNvSpPr/>
          <p:nvPr/>
        </p:nvSpPr>
        <p:spPr>
          <a:xfrm>
            <a:off x="7752792" y="4697879"/>
            <a:ext cx="1202369" cy="383128"/>
          </a:xfrm>
          <a:prstGeom prst="rect">
            <a:avLst/>
          </a:prstGeom>
          <a:solidFill>
            <a:srgbClr val="FFFFFF"/>
          </a:solidFill>
          <a:ln/>
        </p:spPr>
        <p:txBody>
          <a:bodyPr/>
          <a:lstStyle/>
          <a:p>
            <a:endParaRPr lang="ko-KR" altLang="en-US"/>
          </a:p>
        </p:txBody>
      </p:sp>
      <p:sp>
        <p:nvSpPr>
          <p:cNvPr id="210" name="Shape 208"/>
          <p:cNvSpPr/>
          <p:nvPr/>
        </p:nvSpPr>
        <p:spPr>
          <a:xfrm>
            <a:off x="7752792" y="4697879"/>
            <a:ext cx="1202369" cy="9525"/>
          </a:xfrm>
          <a:prstGeom prst="rect">
            <a:avLst/>
          </a:prstGeom>
          <a:solidFill>
            <a:srgbClr val="EADFD3"/>
          </a:solidFill>
          <a:ln/>
        </p:spPr>
        <p:txBody>
          <a:bodyPr/>
          <a:lstStyle/>
          <a:p>
            <a:endParaRPr lang="ko-KR" altLang="en-US"/>
          </a:p>
        </p:txBody>
      </p:sp>
      <p:sp>
        <p:nvSpPr>
          <p:cNvPr id="211" name="Shape 209"/>
          <p:cNvSpPr/>
          <p:nvPr/>
        </p:nvSpPr>
        <p:spPr>
          <a:xfrm>
            <a:off x="7752792" y="4697879"/>
            <a:ext cx="9525" cy="383128"/>
          </a:xfrm>
          <a:prstGeom prst="rect">
            <a:avLst/>
          </a:prstGeom>
          <a:solidFill>
            <a:srgbClr val="EADFD3"/>
          </a:solidFill>
          <a:ln/>
        </p:spPr>
        <p:txBody>
          <a:bodyPr/>
          <a:lstStyle/>
          <a:p>
            <a:endParaRPr lang="ko-KR" altLang="en-US"/>
          </a:p>
        </p:txBody>
      </p:sp>
      <p:sp>
        <p:nvSpPr>
          <p:cNvPr id="212" name="Text 210"/>
          <p:cNvSpPr/>
          <p:nvPr/>
        </p:nvSpPr>
        <p:spPr>
          <a:xfrm>
            <a:off x="7777059" y="4741196"/>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5,170</a:t>
            </a:r>
            <a:endParaRPr lang="en-US" sz="1163" dirty="0"/>
          </a:p>
        </p:txBody>
      </p:sp>
      <p:sp>
        <p:nvSpPr>
          <p:cNvPr id="213" name="Shape 211"/>
          <p:cNvSpPr/>
          <p:nvPr/>
        </p:nvSpPr>
        <p:spPr>
          <a:xfrm>
            <a:off x="8955161" y="4697879"/>
            <a:ext cx="1202776" cy="383128"/>
          </a:xfrm>
          <a:prstGeom prst="rect">
            <a:avLst/>
          </a:prstGeom>
          <a:solidFill>
            <a:srgbClr val="FFFFFF"/>
          </a:solidFill>
          <a:ln/>
        </p:spPr>
        <p:txBody>
          <a:bodyPr/>
          <a:lstStyle/>
          <a:p>
            <a:endParaRPr lang="ko-KR" altLang="en-US"/>
          </a:p>
        </p:txBody>
      </p:sp>
      <p:sp>
        <p:nvSpPr>
          <p:cNvPr id="214" name="Shape 212"/>
          <p:cNvSpPr/>
          <p:nvPr/>
        </p:nvSpPr>
        <p:spPr>
          <a:xfrm>
            <a:off x="8955161" y="4697879"/>
            <a:ext cx="1202776" cy="9525"/>
          </a:xfrm>
          <a:prstGeom prst="rect">
            <a:avLst/>
          </a:prstGeom>
          <a:solidFill>
            <a:srgbClr val="EADFD3"/>
          </a:solidFill>
          <a:ln/>
        </p:spPr>
        <p:txBody>
          <a:bodyPr/>
          <a:lstStyle/>
          <a:p>
            <a:endParaRPr lang="ko-KR" altLang="en-US"/>
          </a:p>
        </p:txBody>
      </p:sp>
      <p:sp>
        <p:nvSpPr>
          <p:cNvPr id="215" name="Shape 213"/>
          <p:cNvSpPr/>
          <p:nvPr/>
        </p:nvSpPr>
        <p:spPr>
          <a:xfrm>
            <a:off x="8955161" y="4697879"/>
            <a:ext cx="9525" cy="383128"/>
          </a:xfrm>
          <a:prstGeom prst="rect">
            <a:avLst/>
          </a:prstGeom>
          <a:solidFill>
            <a:srgbClr val="EADFD3"/>
          </a:solidFill>
          <a:ln/>
        </p:spPr>
        <p:txBody>
          <a:bodyPr/>
          <a:lstStyle/>
          <a:p>
            <a:endParaRPr lang="ko-KR" altLang="en-US"/>
          </a:p>
        </p:txBody>
      </p:sp>
      <p:sp>
        <p:nvSpPr>
          <p:cNvPr id="216" name="Text 214"/>
          <p:cNvSpPr/>
          <p:nvPr/>
        </p:nvSpPr>
        <p:spPr>
          <a:xfrm>
            <a:off x="8979428" y="4741196"/>
            <a:ext cx="115945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2,290</a:t>
            </a:r>
            <a:endParaRPr lang="en-US" sz="1163" dirty="0"/>
          </a:p>
        </p:txBody>
      </p:sp>
      <p:sp>
        <p:nvSpPr>
          <p:cNvPr id="217" name="Shape 215"/>
          <p:cNvSpPr/>
          <p:nvPr/>
        </p:nvSpPr>
        <p:spPr>
          <a:xfrm>
            <a:off x="538580" y="5081007"/>
            <a:ext cx="1202369" cy="653436"/>
          </a:xfrm>
          <a:prstGeom prst="rect">
            <a:avLst/>
          </a:prstGeom>
          <a:solidFill>
            <a:srgbClr val="F5F7EC"/>
          </a:solidFill>
          <a:ln/>
        </p:spPr>
        <p:txBody>
          <a:bodyPr/>
          <a:lstStyle/>
          <a:p>
            <a:endParaRPr lang="ko-KR" altLang="en-US"/>
          </a:p>
        </p:txBody>
      </p:sp>
      <p:sp>
        <p:nvSpPr>
          <p:cNvPr id="218" name="Shape 216"/>
          <p:cNvSpPr/>
          <p:nvPr/>
        </p:nvSpPr>
        <p:spPr>
          <a:xfrm>
            <a:off x="538580" y="5081007"/>
            <a:ext cx="1202369" cy="9525"/>
          </a:xfrm>
          <a:prstGeom prst="rect">
            <a:avLst/>
          </a:prstGeom>
          <a:solidFill>
            <a:srgbClr val="EADFD3"/>
          </a:solidFill>
          <a:ln/>
        </p:spPr>
        <p:txBody>
          <a:bodyPr/>
          <a:lstStyle/>
          <a:p>
            <a:endParaRPr lang="ko-KR" altLang="en-US"/>
          </a:p>
        </p:txBody>
      </p:sp>
      <p:sp>
        <p:nvSpPr>
          <p:cNvPr id="219" name="Text 217"/>
          <p:cNvSpPr/>
          <p:nvPr/>
        </p:nvSpPr>
        <p:spPr>
          <a:xfrm>
            <a:off x="557630" y="5124324"/>
            <a:ext cx="1164269"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순환계 주요치료</a:t>
            </a:r>
            <a:endParaRPr lang="en-US" sz="1163" dirty="0"/>
          </a:p>
        </p:txBody>
      </p:sp>
      <p:sp>
        <p:nvSpPr>
          <p:cNvPr id="220" name="Shape 218"/>
          <p:cNvSpPr/>
          <p:nvPr/>
        </p:nvSpPr>
        <p:spPr>
          <a:xfrm>
            <a:off x="1740948" y="5081007"/>
            <a:ext cx="1202369" cy="653436"/>
          </a:xfrm>
          <a:prstGeom prst="rect">
            <a:avLst/>
          </a:prstGeom>
          <a:solidFill>
            <a:srgbClr val="F5F7EC"/>
          </a:solidFill>
          <a:ln/>
        </p:spPr>
        <p:txBody>
          <a:bodyPr/>
          <a:lstStyle/>
          <a:p>
            <a:endParaRPr lang="ko-KR" altLang="en-US"/>
          </a:p>
        </p:txBody>
      </p:sp>
      <p:sp>
        <p:nvSpPr>
          <p:cNvPr id="221" name="Shape 219"/>
          <p:cNvSpPr/>
          <p:nvPr/>
        </p:nvSpPr>
        <p:spPr>
          <a:xfrm>
            <a:off x="1740948" y="5081007"/>
            <a:ext cx="1202369" cy="9525"/>
          </a:xfrm>
          <a:prstGeom prst="rect">
            <a:avLst/>
          </a:prstGeom>
          <a:solidFill>
            <a:srgbClr val="EADFD3"/>
          </a:solidFill>
          <a:ln/>
        </p:spPr>
        <p:txBody>
          <a:bodyPr/>
          <a:lstStyle/>
          <a:p>
            <a:endParaRPr lang="ko-KR" altLang="en-US"/>
          </a:p>
        </p:txBody>
      </p:sp>
      <p:sp>
        <p:nvSpPr>
          <p:cNvPr id="222" name="Shape 220"/>
          <p:cNvSpPr/>
          <p:nvPr/>
        </p:nvSpPr>
        <p:spPr>
          <a:xfrm>
            <a:off x="1740948" y="5081007"/>
            <a:ext cx="9525" cy="653436"/>
          </a:xfrm>
          <a:prstGeom prst="rect">
            <a:avLst/>
          </a:prstGeom>
          <a:solidFill>
            <a:srgbClr val="EADFD3"/>
          </a:solidFill>
          <a:ln/>
        </p:spPr>
        <p:txBody>
          <a:bodyPr/>
          <a:lstStyle/>
          <a:p>
            <a:endParaRPr lang="ko-KR" altLang="en-US"/>
          </a:p>
        </p:txBody>
      </p:sp>
      <p:sp>
        <p:nvSpPr>
          <p:cNvPr id="223" name="Text 221"/>
          <p:cNvSpPr/>
          <p:nvPr/>
        </p:nvSpPr>
        <p:spPr>
          <a:xfrm>
            <a:off x="1765215" y="5124324"/>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224" name="Shape 222"/>
          <p:cNvSpPr/>
          <p:nvPr/>
        </p:nvSpPr>
        <p:spPr>
          <a:xfrm>
            <a:off x="2943317" y="5081007"/>
            <a:ext cx="1202369" cy="653436"/>
          </a:xfrm>
          <a:prstGeom prst="rect">
            <a:avLst/>
          </a:prstGeom>
          <a:solidFill>
            <a:srgbClr val="FFFFFF"/>
          </a:solidFill>
          <a:ln/>
        </p:spPr>
        <p:txBody>
          <a:bodyPr/>
          <a:lstStyle/>
          <a:p>
            <a:endParaRPr lang="ko-KR" altLang="en-US"/>
          </a:p>
        </p:txBody>
      </p:sp>
      <p:sp>
        <p:nvSpPr>
          <p:cNvPr id="225" name="Shape 223"/>
          <p:cNvSpPr/>
          <p:nvPr/>
        </p:nvSpPr>
        <p:spPr>
          <a:xfrm>
            <a:off x="2943317" y="5081007"/>
            <a:ext cx="1202369" cy="9525"/>
          </a:xfrm>
          <a:prstGeom prst="rect">
            <a:avLst/>
          </a:prstGeom>
          <a:solidFill>
            <a:srgbClr val="EADFD3"/>
          </a:solidFill>
          <a:ln/>
        </p:spPr>
        <p:txBody>
          <a:bodyPr/>
          <a:lstStyle/>
          <a:p>
            <a:endParaRPr lang="ko-KR" altLang="en-US"/>
          </a:p>
        </p:txBody>
      </p:sp>
      <p:sp>
        <p:nvSpPr>
          <p:cNvPr id="226" name="Shape 224"/>
          <p:cNvSpPr/>
          <p:nvPr/>
        </p:nvSpPr>
        <p:spPr>
          <a:xfrm>
            <a:off x="2943317" y="5081007"/>
            <a:ext cx="9525" cy="653436"/>
          </a:xfrm>
          <a:prstGeom prst="rect">
            <a:avLst/>
          </a:prstGeom>
          <a:solidFill>
            <a:srgbClr val="EADFD3"/>
          </a:solidFill>
          <a:ln/>
        </p:spPr>
        <p:txBody>
          <a:bodyPr/>
          <a:lstStyle/>
          <a:p>
            <a:endParaRPr lang="ko-KR" altLang="en-US"/>
          </a:p>
        </p:txBody>
      </p:sp>
      <p:sp>
        <p:nvSpPr>
          <p:cNvPr id="227" name="Text 225"/>
          <p:cNvSpPr/>
          <p:nvPr/>
        </p:nvSpPr>
        <p:spPr>
          <a:xfrm>
            <a:off x="3249869" y="5220726"/>
            <a:ext cx="594482"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15,335</a:t>
            </a:r>
            <a:endParaRPr lang="en-US" sz="1163" dirty="0"/>
          </a:p>
        </p:txBody>
      </p:sp>
      <p:sp>
        <p:nvSpPr>
          <p:cNvPr id="228" name="Text 226"/>
          <p:cNvSpPr/>
          <p:nvPr/>
        </p:nvSpPr>
        <p:spPr>
          <a:xfrm>
            <a:off x="3086102" y="5446852"/>
            <a:ext cx="921934" cy="178961"/>
          </a:xfrm>
          <a:prstGeom prst="rect">
            <a:avLst/>
          </a:prstGeom>
          <a:noFill/>
          <a:ln/>
        </p:spPr>
        <p:txBody>
          <a:bodyPr wrap="none" lIns="25400" tIns="25400" rIns="25400" bIns="25400" rtlCol="0" anchor="t">
            <a:normAutofit fontScale="85000" lnSpcReduction="10000"/>
          </a:bodyPr>
          <a:lstStyle/>
          <a:p>
            <a:pPr marL="0" indent="0" algn="ctr">
              <a:lnSpc>
                <a:spcPct val="114937"/>
              </a:lnSpc>
              <a:buNone/>
            </a:pPr>
            <a:r>
              <a:rPr lang="en-US" sz="930" b="1" kern="0" spc="-46" dirty="0">
                <a:solidFill>
                  <a:srgbClr val="7B6B60"/>
                </a:solidFill>
                <a:latin typeface="Paperlogy 7 Bold" pitchFamily="2" charset="-127"/>
                <a:ea typeface="Paperlogy 7 Bold" pitchFamily="2" charset="-127"/>
                <a:cs typeface="Arial" pitchFamily="34" charset="-120"/>
              </a:rPr>
              <a:t>(중환자실치료포함)</a:t>
            </a:r>
            <a:endParaRPr lang="en-US" sz="930" dirty="0"/>
          </a:p>
        </p:txBody>
      </p:sp>
      <p:sp>
        <p:nvSpPr>
          <p:cNvPr id="229" name="Shape 227"/>
          <p:cNvSpPr/>
          <p:nvPr/>
        </p:nvSpPr>
        <p:spPr>
          <a:xfrm>
            <a:off x="4145686" y="5081007"/>
            <a:ext cx="1202369" cy="653436"/>
          </a:xfrm>
          <a:prstGeom prst="rect">
            <a:avLst/>
          </a:prstGeom>
          <a:solidFill>
            <a:srgbClr val="FFFFFF"/>
          </a:solidFill>
          <a:ln/>
        </p:spPr>
        <p:txBody>
          <a:bodyPr/>
          <a:lstStyle/>
          <a:p>
            <a:endParaRPr lang="ko-KR" altLang="en-US"/>
          </a:p>
        </p:txBody>
      </p:sp>
      <p:sp>
        <p:nvSpPr>
          <p:cNvPr id="230" name="Shape 228"/>
          <p:cNvSpPr/>
          <p:nvPr/>
        </p:nvSpPr>
        <p:spPr>
          <a:xfrm>
            <a:off x="4145686" y="5081007"/>
            <a:ext cx="1202369" cy="9525"/>
          </a:xfrm>
          <a:prstGeom prst="rect">
            <a:avLst/>
          </a:prstGeom>
          <a:solidFill>
            <a:srgbClr val="EADFD3"/>
          </a:solidFill>
          <a:ln/>
        </p:spPr>
        <p:txBody>
          <a:bodyPr/>
          <a:lstStyle/>
          <a:p>
            <a:endParaRPr lang="ko-KR" altLang="en-US"/>
          </a:p>
        </p:txBody>
      </p:sp>
      <p:sp>
        <p:nvSpPr>
          <p:cNvPr id="231" name="Shape 229"/>
          <p:cNvSpPr/>
          <p:nvPr/>
        </p:nvSpPr>
        <p:spPr>
          <a:xfrm>
            <a:off x="4145686" y="5081007"/>
            <a:ext cx="9525" cy="653436"/>
          </a:xfrm>
          <a:prstGeom prst="rect">
            <a:avLst/>
          </a:prstGeom>
          <a:solidFill>
            <a:srgbClr val="EADFD3"/>
          </a:solidFill>
          <a:ln/>
        </p:spPr>
        <p:txBody>
          <a:bodyPr/>
          <a:lstStyle/>
          <a:p>
            <a:endParaRPr lang="ko-KR" altLang="en-US"/>
          </a:p>
        </p:txBody>
      </p:sp>
      <p:sp>
        <p:nvSpPr>
          <p:cNvPr id="232" name="Text 230"/>
          <p:cNvSpPr/>
          <p:nvPr/>
        </p:nvSpPr>
        <p:spPr>
          <a:xfrm>
            <a:off x="4500658" y="5220726"/>
            <a:ext cx="497559"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8,090</a:t>
            </a:r>
            <a:endParaRPr lang="en-US" sz="1163" dirty="0"/>
          </a:p>
        </p:txBody>
      </p:sp>
      <p:sp>
        <p:nvSpPr>
          <p:cNvPr id="233" name="Text 231"/>
          <p:cNvSpPr/>
          <p:nvPr/>
        </p:nvSpPr>
        <p:spPr>
          <a:xfrm>
            <a:off x="4288471" y="5446852"/>
            <a:ext cx="921934" cy="178961"/>
          </a:xfrm>
          <a:prstGeom prst="rect">
            <a:avLst/>
          </a:prstGeom>
          <a:noFill/>
          <a:ln/>
        </p:spPr>
        <p:txBody>
          <a:bodyPr wrap="none" lIns="25400" tIns="25400" rIns="25400" bIns="25400" rtlCol="0" anchor="t">
            <a:normAutofit fontScale="85000" lnSpcReduction="10000"/>
          </a:bodyPr>
          <a:lstStyle/>
          <a:p>
            <a:pPr marL="0" indent="0" algn="ctr">
              <a:lnSpc>
                <a:spcPct val="114937"/>
              </a:lnSpc>
              <a:buNone/>
            </a:pPr>
            <a:r>
              <a:rPr lang="en-US" sz="930" b="1" kern="0" spc="-46" dirty="0">
                <a:solidFill>
                  <a:srgbClr val="7B6B60"/>
                </a:solidFill>
                <a:latin typeface="Paperlogy 7 Bold" pitchFamily="2" charset="-127"/>
                <a:ea typeface="Paperlogy 7 Bold" pitchFamily="2" charset="-127"/>
                <a:cs typeface="Arial" pitchFamily="34" charset="-120"/>
              </a:rPr>
              <a:t>(중환자실치료포함)</a:t>
            </a:r>
            <a:endParaRPr lang="en-US" sz="930" dirty="0"/>
          </a:p>
        </p:txBody>
      </p:sp>
      <p:sp>
        <p:nvSpPr>
          <p:cNvPr id="234" name="Shape 232"/>
          <p:cNvSpPr/>
          <p:nvPr/>
        </p:nvSpPr>
        <p:spPr>
          <a:xfrm>
            <a:off x="5348054" y="5081007"/>
            <a:ext cx="1202369" cy="653436"/>
          </a:xfrm>
          <a:prstGeom prst="rect">
            <a:avLst/>
          </a:prstGeom>
          <a:solidFill>
            <a:srgbClr val="FFFFFF"/>
          </a:solidFill>
          <a:ln/>
        </p:spPr>
        <p:txBody>
          <a:bodyPr/>
          <a:lstStyle/>
          <a:p>
            <a:endParaRPr lang="ko-KR" altLang="en-US"/>
          </a:p>
        </p:txBody>
      </p:sp>
      <p:sp>
        <p:nvSpPr>
          <p:cNvPr id="235" name="Shape 233"/>
          <p:cNvSpPr/>
          <p:nvPr/>
        </p:nvSpPr>
        <p:spPr>
          <a:xfrm>
            <a:off x="5348054" y="5081007"/>
            <a:ext cx="1202369" cy="9525"/>
          </a:xfrm>
          <a:prstGeom prst="rect">
            <a:avLst/>
          </a:prstGeom>
          <a:solidFill>
            <a:srgbClr val="EADFD3"/>
          </a:solidFill>
          <a:ln/>
        </p:spPr>
        <p:txBody>
          <a:bodyPr/>
          <a:lstStyle/>
          <a:p>
            <a:endParaRPr lang="ko-KR" altLang="en-US"/>
          </a:p>
        </p:txBody>
      </p:sp>
      <p:sp>
        <p:nvSpPr>
          <p:cNvPr id="236" name="Shape 234"/>
          <p:cNvSpPr/>
          <p:nvPr/>
        </p:nvSpPr>
        <p:spPr>
          <a:xfrm>
            <a:off x="5348054" y="5081007"/>
            <a:ext cx="9525" cy="653436"/>
          </a:xfrm>
          <a:prstGeom prst="rect">
            <a:avLst/>
          </a:prstGeom>
          <a:solidFill>
            <a:srgbClr val="EADFD3"/>
          </a:solidFill>
          <a:ln/>
        </p:spPr>
        <p:txBody>
          <a:bodyPr/>
          <a:lstStyle/>
          <a:p>
            <a:endParaRPr lang="ko-KR" altLang="en-US"/>
          </a:p>
        </p:txBody>
      </p:sp>
      <p:sp>
        <p:nvSpPr>
          <p:cNvPr id="237" name="Text 235"/>
          <p:cNvSpPr/>
          <p:nvPr/>
        </p:nvSpPr>
        <p:spPr>
          <a:xfrm>
            <a:off x="5372321" y="5124324"/>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11,060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(중환자실치료미포함)</a:t>
            </a:r>
            <a:endParaRPr lang="en-US" sz="1163" dirty="0"/>
          </a:p>
        </p:txBody>
      </p:sp>
      <p:sp>
        <p:nvSpPr>
          <p:cNvPr id="238" name="Shape 236"/>
          <p:cNvSpPr/>
          <p:nvPr/>
        </p:nvSpPr>
        <p:spPr>
          <a:xfrm>
            <a:off x="6550423" y="5081007"/>
            <a:ext cx="1202369" cy="653436"/>
          </a:xfrm>
          <a:prstGeom prst="rect">
            <a:avLst/>
          </a:prstGeom>
          <a:solidFill>
            <a:srgbClr val="FFFFFF"/>
          </a:solidFill>
          <a:ln/>
        </p:spPr>
        <p:txBody>
          <a:bodyPr/>
          <a:lstStyle/>
          <a:p>
            <a:endParaRPr lang="ko-KR" altLang="en-US"/>
          </a:p>
        </p:txBody>
      </p:sp>
      <p:sp>
        <p:nvSpPr>
          <p:cNvPr id="239" name="Shape 237"/>
          <p:cNvSpPr/>
          <p:nvPr/>
        </p:nvSpPr>
        <p:spPr>
          <a:xfrm>
            <a:off x="6550423" y="5081007"/>
            <a:ext cx="1202369" cy="9525"/>
          </a:xfrm>
          <a:prstGeom prst="rect">
            <a:avLst/>
          </a:prstGeom>
          <a:solidFill>
            <a:srgbClr val="EADFD3"/>
          </a:solidFill>
          <a:ln/>
        </p:spPr>
        <p:txBody>
          <a:bodyPr/>
          <a:lstStyle/>
          <a:p>
            <a:endParaRPr lang="ko-KR" altLang="en-US"/>
          </a:p>
        </p:txBody>
      </p:sp>
      <p:sp>
        <p:nvSpPr>
          <p:cNvPr id="240" name="Shape 238"/>
          <p:cNvSpPr/>
          <p:nvPr/>
        </p:nvSpPr>
        <p:spPr>
          <a:xfrm>
            <a:off x="6550423" y="5081007"/>
            <a:ext cx="9525" cy="653436"/>
          </a:xfrm>
          <a:prstGeom prst="rect">
            <a:avLst/>
          </a:prstGeom>
          <a:solidFill>
            <a:srgbClr val="EADFD3"/>
          </a:solidFill>
          <a:ln/>
        </p:spPr>
        <p:txBody>
          <a:bodyPr/>
          <a:lstStyle/>
          <a:p>
            <a:endParaRPr lang="ko-KR" altLang="en-US"/>
          </a:p>
        </p:txBody>
      </p:sp>
      <p:sp>
        <p:nvSpPr>
          <p:cNvPr id="241" name="Text 239"/>
          <p:cNvSpPr/>
          <p:nvPr/>
        </p:nvSpPr>
        <p:spPr>
          <a:xfrm>
            <a:off x="6574690" y="5124324"/>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5,370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(중환자실치료미포함)</a:t>
            </a:r>
            <a:endParaRPr lang="en-US" sz="1163" dirty="0"/>
          </a:p>
        </p:txBody>
      </p:sp>
      <p:sp>
        <p:nvSpPr>
          <p:cNvPr id="242" name="Shape 240"/>
          <p:cNvSpPr/>
          <p:nvPr/>
        </p:nvSpPr>
        <p:spPr>
          <a:xfrm>
            <a:off x="7752792" y="5081007"/>
            <a:ext cx="1202369" cy="653436"/>
          </a:xfrm>
          <a:prstGeom prst="rect">
            <a:avLst/>
          </a:prstGeom>
          <a:solidFill>
            <a:srgbClr val="FFFFFF"/>
          </a:solidFill>
          <a:ln/>
        </p:spPr>
        <p:txBody>
          <a:bodyPr/>
          <a:lstStyle/>
          <a:p>
            <a:endParaRPr lang="ko-KR" altLang="en-US"/>
          </a:p>
        </p:txBody>
      </p:sp>
      <p:sp>
        <p:nvSpPr>
          <p:cNvPr id="243" name="Shape 241"/>
          <p:cNvSpPr/>
          <p:nvPr/>
        </p:nvSpPr>
        <p:spPr>
          <a:xfrm>
            <a:off x="7752792" y="5081007"/>
            <a:ext cx="1202369" cy="9525"/>
          </a:xfrm>
          <a:prstGeom prst="rect">
            <a:avLst/>
          </a:prstGeom>
          <a:solidFill>
            <a:srgbClr val="EADFD3"/>
          </a:solidFill>
          <a:ln/>
        </p:spPr>
        <p:txBody>
          <a:bodyPr/>
          <a:lstStyle/>
          <a:p>
            <a:endParaRPr lang="ko-KR" altLang="en-US"/>
          </a:p>
        </p:txBody>
      </p:sp>
      <p:sp>
        <p:nvSpPr>
          <p:cNvPr id="244" name="Shape 242"/>
          <p:cNvSpPr/>
          <p:nvPr/>
        </p:nvSpPr>
        <p:spPr>
          <a:xfrm>
            <a:off x="7752792" y="5081007"/>
            <a:ext cx="9525" cy="653436"/>
          </a:xfrm>
          <a:prstGeom prst="rect">
            <a:avLst/>
          </a:prstGeom>
          <a:solidFill>
            <a:srgbClr val="EADFD3"/>
          </a:solidFill>
          <a:ln/>
        </p:spPr>
        <p:txBody>
          <a:bodyPr/>
          <a:lstStyle/>
          <a:p>
            <a:endParaRPr lang="ko-KR" altLang="en-US"/>
          </a:p>
        </p:txBody>
      </p:sp>
      <p:sp>
        <p:nvSpPr>
          <p:cNvPr id="245" name="Text 243"/>
          <p:cNvSpPr/>
          <p:nvPr/>
        </p:nvSpPr>
        <p:spPr>
          <a:xfrm>
            <a:off x="7777059" y="5124324"/>
            <a:ext cx="1159052"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18,500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a:t>
            </a:r>
            <a:r>
              <a:rPr lang="en-US" sz="930" b="1" kern="0" spc="-12" dirty="0" err="1">
                <a:solidFill>
                  <a:srgbClr val="7B6B60"/>
                </a:solidFill>
                <a:latin typeface="Paperlogy 7 Bold" pitchFamily="2" charset="-127"/>
                <a:ea typeface="Paperlogy 7 Bold" pitchFamily="2" charset="-127"/>
                <a:cs typeface="Arial" pitchFamily="34" charset="-120"/>
              </a:rPr>
              <a:t>중환자실치료포함</a:t>
            </a:r>
            <a:r>
              <a:rPr lang="en-US" sz="930" b="1" kern="0" spc="-12" dirty="0">
                <a:solidFill>
                  <a:srgbClr val="7B6B60"/>
                </a:solidFill>
                <a:latin typeface="Paperlogy 7 Bold" pitchFamily="2" charset="-127"/>
                <a:ea typeface="Paperlogy 7 Bold" pitchFamily="2" charset="-127"/>
                <a:cs typeface="Arial" pitchFamily="34" charset="-120"/>
              </a:rPr>
              <a:t>)</a:t>
            </a:r>
            <a:endParaRPr lang="en-US" sz="1163" dirty="0"/>
          </a:p>
        </p:txBody>
      </p:sp>
      <p:sp>
        <p:nvSpPr>
          <p:cNvPr id="246" name="Shape 244"/>
          <p:cNvSpPr/>
          <p:nvPr/>
        </p:nvSpPr>
        <p:spPr>
          <a:xfrm>
            <a:off x="8955161" y="5081007"/>
            <a:ext cx="1202776" cy="653436"/>
          </a:xfrm>
          <a:prstGeom prst="rect">
            <a:avLst/>
          </a:prstGeom>
          <a:solidFill>
            <a:srgbClr val="FFFFFF"/>
          </a:solidFill>
          <a:ln/>
        </p:spPr>
        <p:txBody>
          <a:bodyPr/>
          <a:lstStyle/>
          <a:p>
            <a:endParaRPr lang="ko-KR" altLang="en-US"/>
          </a:p>
        </p:txBody>
      </p:sp>
      <p:sp>
        <p:nvSpPr>
          <p:cNvPr id="247" name="Shape 245"/>
          <p:cNvSpPr/>
          <p:nvPr/>
        </p:nvSpPr>
        <p:spPr>
          <a:xfrm>
            <a:off x="8955161" y="5081007"/>
            <a:ext cx="1202776" cy="9525"/>
          </a:xfrm>
          <a:prstGeom prst="rect">
            <a:avLst/>
          </a:prstGeom>
          <a:solidFill>
            <a:srgbClr val="EADFD3"/>
          </a:solidFill>
          <a:ln/>
        </p:spPr>
        <p:txBody>
          <a:bodyPr/>
          <a:lstStyle/>
          <a:p>
            <a:endParaRPr lang="ko-KR" altLang="en-US"/>
          </a:p>
        </p:txBody>
      </p:sp>
      <p:sp>
        <p:nvSpPr>
          <p:cNvPr id="248" name="Shape 246"/>
          <p:cNvSpPr/>
          <p:nvPr/>
        </p:nvSpPr>
        <p:spPr>
          <a:xfrm>
            <a:off x="8955161" y="5081007"/>
            <a:ext cx="9525" cy="653436"/>
          </a:xfrm>
          <a:prstGeom prst="rect">
            <a:avLst/>
          </a:prstGeom>
          <a:solidFill>
            <a:srgbClr val="EADFD3"/>
          </a:solidFill>
          <a:ln/>
        </p:spPr>
        <p:txBody>
          <a:bodyPr/>
          <a:lstStyle/>
          <a:p>
            <a:endParaRPr lang="ko-KR" altLang="en-US"/>
          </a:p>
        </p:txBody>
      </p:sp>
      <p:sp>
        <p:nvSpPr>
          <p:cNvPr id="249" name="Text 247"/>
          <p:cNvSpPr/>
          <p:nvPr/>
        </p:nvSpPr>
        <p:spPr>
          <a:xfrm>
            <a:off x="8979428" y="5124324"/>
            <a:ext cx="1159459" cy="61011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10,300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(중환자실치료포함)</a:t>
            </a:r>
            <a:endParaRPr lang="en-US" sz="1163" dirty="0"/>
          </a:p>
        </p:txBody>
      </p:sp>
      <p:sp>
        <p:nvSpPr>
          <p:cNvPr id="250" name="Shape 248"/>
          <p:cNvSpPr/>
          <p:nvPr/>
        </p:nvSpPr>
        <p:spPr>
          <a:xfrm>
            <a:off x="538580" y="5734443"/>
            <a:ext cx="1202369" cy="383128"/>
          </a:xfrm>
          <a:prstGeom prst="rect">
            <a:avLst/>
          </a:prstGeom>
          <a:solidFill>
            <a:srgbClr val="F5F7EC"/>
          </a:solidFill>
          <a:ln/>
        </p:spPr>
        <p:txBody>
          <a:bodyPr/>
          <a:lstStyle/>
          <a:p>
            <a:endParaRPr lang="ko-KR" altLang="en-US"/>
          </a:p>
        </p:txBody>
      </p:sp>
      <p:sp>
        <p:nvSpPr>
          <p:cNvPr id="251" name="Shape 249"/>
          <p:cNvSpPr/>
          <p:nvPr/>
        </p:nvSpPr>
        <p:spPr>
          <a:xfrm>
            <a:off x="538580" y="5734443"/>
            <a:ext cx="1202369" cy="9525"/>
          </a:xfrm>
          <a:prstGeom prst="rect">
            <a:avLst/>
          </a:prstGeom>
          <a:solidFill>
            <a:srgbClr val="EADFD3"/>
          </a:solidFill>
          <a:ln/>
        </p:spPr>
        <p:txBody>
          <a:bodyPr/>
          <a:lstStyle/>
          <a:p>
            <a:endParaRPr lang="ko-KR" altLang="en-US"/>
          </a:p>
        </p:txBody>
      </p:sp>
      <p:sp>
        <p:nvSpPr>
          <p:cNvPr id="252" name="Text 250"/>
          <p:cNvSpPr/>
          <p:nvPr/>
        </p:nvSpPr>
        <p:spPr>
          <a:xfrm>
            <a:off x="557630" y="5777760"/>
            <a:ext cx="116426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질병수술비</a:t>
            </a:r>
            <a:endParaRPr lang="en-US" sz="1163" dirty="0"/>
          </a:p>
        </p:txBody>
      </p:sp>
      <p:sp>
        <p:nvSpPr>
          <p:cNvPr id="253" name="Shape 251"/>
          <p:cNvSpPr/>
          <p:nvPr/>
        </p:nvSpPr>
        <p:spPr>
          <a:xfrm>
            <a:off x="1740948" y="5734443"/>
            <a:ext cx="1202369" cy="383128"/>
          </a:xfrm>
          <a:prstGeom prst="rect">
            <a:avLst/>
          </a:prstGeom>
          <a:solidFill>
            <a:srgbClr val="F5F7EC"/>
          </a:solidFill>
          <a:ln/>
        </p:spPr>
        <p:txBody>
          <a:bodyPr/>
          <a:lstStyle/>
          <a:p>
            <a:endParaRPr lang="ko-KR" altLang="en-US"/>
          </a:p>
        </p:txBody>
      </p:sp>
      <p:sp>
        <p:nvSpPr>
          <p:cNvPr id="254" name="Shape 252"/>
          <p:cNvSpPr/>
          <p:nvPr/>
        </p:nvSpPr>
        <p:spPr>
          <a:xfrm>
            <a:off x="1740948" y="5734443"/>
            <a:ext cx="1202369" cy="9525"/>
          </a:xfrm>
          <a:prstGeom prst="rect">
            <a:avLst/>
          </a:prstGeom>
          <a:solidFill>
            <a:srgbClr val="EADFD3"/>
          </a:solidFill>
          <a:ln/>
        </p:spPr>
        <p:txBody>
          <a:bodyPr/>
          <a:lstStyle/>
          <a:p>
            <a:endParaRPr lang="ko-KR" altLang="en-US"/>
          </a:p>
        </p:txBody>
      </p:sp>
      <p:sp>
        <p:nvSpPr>
          <p:cNvPr id="255" name="Shape 253"/>
          <p:cNvSpPr/>
          <p:nvPr/>
        </p:nvSpPr>
        <p:spPr>
          <a:xfrm>
            <a:off x="1740948" y="5734443"/>
            <a:ext cx="9525" cy="383128"/>
          </a:xfrm>
          <a:prstGeom prst="rect">
            <a:avLst/>
          </a:prstGeom>
          <a:solidFill>
            <a:srgbClr val="EADFD3"/>
          </a:solidFill>
          <a:ln/>
        </p:spPr>
        <p:txBody>
          <a:bodyPr/>
          <a:lstStyle/>
          <a:p>
            <a:endParaRPr lang="ko-KR" altLang="en-US"/>
          </a:p>
        </p:txBody>
      </p:sp>
      <p:sp>
        <p:nvSpPr>
          <p:cNvPr id="256" name="Text 254"/>
          <p:cNvSpPr/>
          <p:nvPr/>
        </p:nvSpPr>
        <p:spPr>
          <a:xfrm>
            <a:off x="1765215"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10만</a:t>
            </a:r>
            <a:endParaRPr lang="en-US" sz="1163" dirty="0"/>
          </a:p>
        </p:txBody>
      </p:sp>
      <p:sp>
        <p:nvSpPr>
          <p:cNvPr id="257" name="Shape 255"/>
          <p:cNvSpPr/>
          <p:nvPr/>
        </p:nvSpPr>
        <p:spPr>
          <a:xfrm>
            <a:off x="2943317" y="5734443"/>
            <a:ext cx="1202369" cy="383128"/>
          </a:xfrm>
          <a:prstGeom prst="rect">
            <a:avLst/>
          </a:prstGeom>
          <a:solidFill>
            <a:srgbClr val="FFFFFF"/>
          </a:solidFill>
          <a:ln/>
        </p:spPr>
        <p:txBody>
          <a:bodyPr/>
          <a:lstStyle/>
          <a:p>
            <a:endParaRPr lang="ko-KR" altLang="en-US"/>
          </a:p>
        </p:txBody>
      </p:sp>
      <p:sp>
        <p:nvSpPr>
          <p:cNvPr id="258" name="Shape 256"/>
          <p:cNvSpPr/>
          <p:nvPr/>
        </p:nvSpPr>
        <p:spPr>
          <a:xfrm>
            <a:off x="2943317" y="5734443"/>
            <a:ext cx="1202369" cy="9525"/>
          </a:xfrm>
          <a:prstGeom prst="rect">
            <a:avLst/>
          </a:prstGeom>
          <a:solidFill>
            <a:srgbClr val="EADFD3"/>
          </a:solidFill>
          <a:ln/>
        </p:spPr>
        <p:txBody>
          <a:bodyPr/>
          <a:lstStyle/>
          <a:p>
            <a:endParaRPr lang="ko-KR" altLang="en-US"/>
          </a:p>
        </p:txBody>
      </p:sp>
      <p:sp>
        <p:nvSpPr>
          <p:cNvPr id="259" name="Shape 257"/>
          <p:cNvSpPr/>
          <p:nvPr/>
        </p:nvSpPr>
        <p:spPr>
          <a:xfrm>
            <a:off x="2943317" y="5734443"/>
            <a:ext cx="9525" cy="383128"/>
          </a:xfrm>
          <a:prstGeom prst="rect">
            <a:avLst/>
          </a:prstGeom>
          <a:solidFill>
            <a:srgbClr val="EADFD3"/>
          </a:solidFill>
          <a:ln/>
        </p:spPr>
        <p:txBody>
          <a:bodyPr/>
          <a:lstStyle/>
          <a:p>
            <a:endParaRPr lang="ko-KR" altLang="en-US"/>
          </a:p>
        </p:txBody>
      </p:sp>
      <p:sp>
        <p:nvSpPr>
          <p:cNvPr id="260" name="Text 258"/>
          <p:cNvSpPr/>
          <p:nvPr/>
        </p:nvSpPr>
        <p:spPr>
          <a:xfrm>
            <a:off x="2967584"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1,850</a:t>
            </a:r>
            <a:endParaRPr lang="en-US" sz="1163" dirty="0"/>
          </a:p>
        </p:txBody>
      </p:sp>
      <p:sp>
        <p:nvSpPr>
          <p:cNvPr id="261" name="Shape 259"/>
          <p:cNvSpPr/>
          <p:nvPr/>
        </p:nvSpPr>
        <p:spPr>
          <a:xfrm>
            <a:off x="4145686" y="5734443"/>
            <a:ext cx="1202369" cy="383128"/>
          </a:xfrm>
          <a:prstGeom prst="rect">
            <a:avLst/>
          </a:prstGeom>
          <a:solidFill>
            <a:srgbClr val="FFFFFF"/>
          </a:solidFill>
          <a:ln/>
        </p:spPr>
        <p:txBody>
          <a:bodyPr/>
          <a:lstStyle/>
          <a:p>
            <a:endParaRPr lang="ko-KR" altLang="en-US"/>
          </a:p>
        </p:txBody>
      </p:sp>
      <p:sp>
        <p:nvSpPr>
          <p:cNvPr id="262" name="Shape 260"/>
          <p:cNvSpPr/>
          <p:nvPr/>
        </p:nvSpPr>
        <p:spPr>
          <a:xfrm>
            <a:off x="4145686" y="5734443"/>
            <a:ext cx="1202369" cy="9525"/>
          </a:xfrm>
          <a:prstGeom prst="rect">
            <a:avLst/>
          </a:prstGeom>
          <a:solidFill>
            <a:srgbClr val="EADFD3"/>
          </a:solidFill>
          <a:ln/>
        </p:spPr>
        <p:txBody>
          <a:bodyPr/>
          <a:lstStyle/>
          <a:p>
            <a:endParaRPr lang="ko-KR" altLang="en-US"/>
          </a:p>
        </p:txBody>
      </p:sp>
      <p:sp>
        <p:nvSpPr>
          <p:cNvPr id="263" name="Shape 261"/>
          <p:cNvSpPr/>
          <p:nvPr/>
        </p:nvSpPr>
        <p:spPr>
          <a:xfrm>
            <a:off x="4145686" y="5734443"/>
            <a:ext cx="9525" cy="383128"/>
          </a:xfrm>
          <a:prstGeom prst="rect">
            <a:avLst/>
          </a:prstGeom>
          <a:solidFill>
            <a:srgbClr val="EADFD3"/>
          </a:solidFill>
          <a:ln/>
        </p:spPr>
        <p:txBody>
          <a:bodyPr/>
          <a:lstStyle/>
          <a:p>
            <a:endParaRPr lang="ko-KR" altLang="en-US"/>
          </a:p>
        </p:txBody>
      </p:sp>
      <p:sp>
        <p:nvSpPr>
          <p:cNvPr id="264" name="Text 262"/>
          <p:cNvSpPr/>
          <p:nvPr/>
        </p:nvSpPr>
        <p:spPr>
          <a:xfrm>
            <a:off x="4169953"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2,138</a:t>
            </a:r>
            <a:endParaRPr lang="en-US" sz="1163" dirty="0"/>
          </a:p>
        </p:txBody>
      </p:sp>
      <p:sp>
        <p:nvSpPr>
          <p:cNvPr id="265" name="Shape 263"/>
          <p:cNvSpPr/>
          <p:nvPr/>
        </p:nvSpPr>
        <p:spPr>
          <a:xfrm>
            <a:off x="5348054" y="5734443"/>
            <a:ext cx="1202369" cy="383128"/>
          </a:xfrm>
          <a:prstGeom prst="rect">
            <a:avLst/>
          </a:prstGeom>
          <a:solidFill>
            <a:srgbClr val="FFFFFF"/>
          </a:solidFill>
          <a:ln/>
        </p:spPr>
        <p:txBody>
          <a:bodyPr/>
          <a:lstStyle/>
          <a:p>
            <a:endParaRPr lang="ko-KR" altLang="en-US"/>
          </a:p>
        </p:txBody>
      </p:sp>
      <p:sp>
        <p:nvSpPr>
          <p:cNvPr id="266" name="Shape 264"/>
          <p:cNvSpPr/>
          <p:nvPr/>
        </p:nvSpPr>
        <p:spPr>
          <a:xfrm>
            <a:off x="5348054" y="5734443"/>
            <a:ext cx="1202369" cy="9525"/>
          </a:xfrm>
          <a:prstGeom prst="rect">
            <a:avLst/>
          </a:prstGeom>
          <a:solidFill>
            <a:srgbClr val="EADFD3"/>
          </a:solidFill>
          <a:ln/>
        </p:spPr>
        <p:txBody>
          <a:bodyPr/>
          <a:lstStyle/>
          <a:p>
            <a:endParaRPr lang="ko-KR" altLang="en-US"/>
          </a:p>
        </p:txBody>
      </p:sp>
      <p:sp>
        <p:nvSpPr>
          <p:cNvPr id="267" name="Shape 265"/>
          <p:cNvSpPr/>
          <p:nvPr/>
        </p:nvSpPr>
        <p:spPr>
          <a:xfrm>
            <a:off x="5348054" y="5734443"/>
            <a:ext cx="9525" cy="383128"/>
          </a:xfrm>
          <a:prstGeom prst="rect">
            <a:avLst/>
          </a:prstGeom>
          <a:solidFill>
            <a:srgbClr val="EADFD3"/>
          </a:solidFill>
          <a:ln/>
        </p:spPr>
        <p:txBody>
          <a:bodyPr/>
          <a:lstStyle/>
          <a:p>
            <a:endParaRPr lang="ko-KR" altLang="en-US"/>
          </a:p>
        </p:txBody>
      </p:sp>
      <p:sp>
        <p:nvSpPr>
          <p:cNvPr id="268" name="Text 266"/>
          <p:cNvSpPr/>
          <p:nvPr/>
        </p:nvSpPr>
        <p:spPr>
          <a:xfrm>
            <a:off x="5372321"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2,090</a:t>
            </a:r>
            <a:endParaRPr lang="en-US" sz="1163" dirty="0"/>
          </a:p>
        </p:txBody>
      </p:sp>
      <p:sp>
        <p:nvSpPr>
          <p:cNvPr id="269" name="Shape 267"/>
          <p:cNvSpPr/>
          <p:nvPr/>
        </p:nvSpPr>
        <p:spPr>
          <a:xfrm>
            <a:off x="6550423" y="5734443"/>
            <a:ext cx="1202369" cy="383128"/>
          </a:xfrm>
          <a:prstGeom prst="rect">
            <a:avLst/>
          </a:prstGeom>
          <a:solidFill>
            <a:srgbClr val="FFFFFF"/>
          </a:solidFill>
          <a:ln/>
        </p:spPr>
        <p:txBody>
          <a:bodyPr/>
          <a:lstStyle/>
          <a:p>
            <a:endParaRPr lang="ko-KR" altLang="en-US"/>
          </a:p>
        </p:txBody>
      </p:sp>
      <p:sp>
        <p:nvSpPr>
          <p:cNvPr id="270" name="Shape 268"/>
          <p:cNvSpPr/>
          <p:nvPr/>
        </p:nvSpPr>
        <p:spPr>
          <a:xfrm>
            <a:off x="6550423" y="5734443"/>
            <a:ext cx="1202369" cy="9525"/>
          </a:xfrm>
          <a:prstGeom prst="rect">
            <a:avLst/>
          </a:prstGeom>
          <a:solidFill>
            <a:srgbClr val="EADFD3"/>
          </a:solidFill>
          <a:ln/>
        </p:spPr>
        <p:txBody>
          <a:bodyPr/>
          <a:lstStyle/>
          <a:p>
            <a:endParaRPr lang="ko-KR" altLang="en-US"/>
          </a:p>
        </p:txBody>
      </p:sp>
      <p:sp>
        <p:nvSpPr>
          <p:cNvPr id="271" name="Shape 269"/>
          <p:cNvSpPr/>
          <p:nvPr/>
        </p:nvSpPr>
        <p:spPr>
          <a:xfrm>
            <a:off x="6550423" y="5734443"/>
            <a:ext cx="9525" cy="383128"/>
          </a:xfrm>
          <a:prstGeom prst="rect">
            <a:avLst/>
          </a:prstGeom>
          <a:solidFill>
            <a:srgbClr val="EADFD3"/>
          </a:solidFill>
          <a:ln/>
        </p:spPr>
        <p:txBody>
          <a:bodyPr/>
          <a:lstStyle/>
          <a:p>
            <a:endParaRPr lang="ko-KR" altLang="en-US"/>
          </a:p>
        </p:txBody>
      </p:sp>
      <p:sp>
        <p:nvSpPr>
          <p:cNvPr id="272" name="Text 270"/>
          <p:cNvSpPr/>
          <p:nvPr/>
        </p:nvSpPr>
        <p:spPr>
          <a:xfrm>
            <a:off x="6574690"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1,950</a:t>
            </a:r>
            <a:endParaRPr lang="en-US" sz="1163" dirty="0"/>
          </a:p>
        </p:txBody>
      </p:sp>
      <p:sp>
        <p:nvSpPr>
          <p:cNvPr id="273" name="Shape 271"/>
          <p:cNvSpPr/>
          <p:nvPr/>
        </p:nvSpPr>
        <p:spPr>
          <a:xfrm>
            <a:off x="7752792" y="5734443"/>
            <a:ext cx="1202369" cy="383128"/>
          </a:xfrm>
          <a:prstGeom prst="rect">
            <a:avLst/>
          </a:prstGeom>
          <a:solidFill>
            <a:srgbClr val="FFFFFF"/>
          </a:solidFill>
          <a:ln/>
        </p:spPr>
        <p:txBody>
          <a:bodyPr/>
          <a:lstStyle/>
          <a:p>
            <a:endParaRPr lang="ko-KR" altLang="en-US"/>
          </a:p>
        </p:txBody>
      </p:sp>
      <p:sp>
        <p:nvSpPr>
          <p:cNvPr id="274" name="Shape 272"/>
          <p:cNvSpPr/>
          <p:nvPr/>
        </p:nvSpPr>
        <p:spPr>
          <a:xfrm>
            <a:off x="7752792" y="5734443"/>
            <a:ext cx="1202369" cy="9525"/>
          </a:xfrm>
          <a:prstGeom prst="rect">
            <a:avLst/>
          </a:prstGeom>
          <a:solidFill>
            <a:srgbClr val="EADFD3"/>
          </a:solidFill>
          <a:ln/>
        </p:spPr>
        <p:txBody>
          <a:bodyPr/>
          <a:lstStyle/>
          <a:p>
            <a:endParaRPr lang="ko-KR" altLang="en-US"/>
          </a:p>
        </p:txBody>
      </p:sp>
      <p:sp>
        <p:nvSpPr>
          <p:cNvPr id="275" name="Shape 273"/>
          <p:cNvSpPr/>
          <p:nvPr/>
        </p:nvSpPr>
        <p:spPr>
          <a:xfrm>
            <a:off x="7752792" y="5734443"/>
            <a:ext cx="9525" cy="383128"/>
          </a:xfrm>
          <a:prstGeom prst="rect">
            <a:avLst/>
          </a:prstGeom>
          <a:solidFill>
            <a:srgbClr val="EADFD3"/>
          </a:solidFill>
          <a:ln/>
        </p:spPr>
        <p:txBody>
          <a:bodyPr/>
          <a:lstStyle/>
          <a:p>
            <a:endParaRPr lang="ko-KR" altLang="en-US"/>
          </a:p>
        </p:txBody>
      </p:sp>
      <p:sp>
        <p:nvSpPr>
          <p:cNvPr id="276" name="Text 274"/>
          <p:cNvSpPr/>
          <p:nvPr/>
        </p:nvSpPr>
        <p:spPr>
          <a:xfrm>
            <a:off x="7777059" y="5777760"/>
            <a:ext cx="1159052"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2,254</a:t>
            </a:r>
            <a:endParaRPr lang="en-US" sz="1163" dirty="0"/>
          </a:p>
        </p:txBody>
      </p:sp>
      <p:sp>
        <p:nvSpPr>
          <p:cNvPr id="277" name="Shape 275"/>
          <p:cNvSpPr/>
          <p:nvPr/>
        </p:nvSpPr>
        <p:spPr>
          <a:xfrm>
            <a:off x="8955161" y="5734443"/>
            <a:ext cx="1202776" cy="383128"/>
          </a:xfrm>
          <a:prstGeom prst="rect">
            <a:avLst/>
          </a:prstGeom>
          <a:solidFill>
            <a:srgbClr val="FFFFFF"/>
          </a:solidFill>
          <a:ln/>
        </p:spPr>
        <p:txBody>
          <a:bodyPr/>
          <a:lstStyle/>
          <a:p>
            <a:endParaRPr lang="ko-KR" altLang="en-US"/>
          </a:p>
        </p:txBody>
      </p:sp>
      <p:sp>
        <p:nvSpPr>
          <p:cNvPr id="278" name="Shape 276"/>
          <p:cNvSpPr/>
          <p:nvPr/>
        </p:nvSpPr>
        <p:spPr>
          <a:xfrm>
            <a:off x="8955161" y="5734443"/>
            <a:ext cx="1202776" cy="9525"/>
          </a:xfrm>
          <a:prstGeom prst="rect">
            <a:avLst/>
          </a:prstGeom>
          <a:solidFill>
            <a:srgbClr val="EADFD3"/>
          </a:solidFill>
          <a:ln/>
        </p:spPr>
        <p:txBody>
          <a:bodyPr/>
          <a:lstStyle/>
          <a:p>
            <a:endParaRPr lang="ko-KR" altLang="en-US"/>
          </a:p>
        </p:txBody>
      </p:sp>
      <p:sp>
        <p:nvSpPr>
          <p:cNvPr id="279" name="Shape 277"/>
          <p:cNvSpPr/>
          <p:nvPr/>
        </p:nvSpPr>
        <p:spPr>
          <a:xfrm>
            <a:off x="8955161" y="5734443"/>
            <a:ext cx="9525" cy="383128"/>
          </a:xfrm>
          <a:prstGeom prst="rect">
            <a:avLst/>
          </a:prstGeom>
          <a:solidFill>
            <a:srgbClr val="EADFD3"/>
          </a:solidFill>
          <a:ln/>
        </p:spPr>
        <p:txBody>
          <a:bodyPr/>
          <a:lstStyle/>
          <a:p>
            <a:endParaRPr lang="ko-KR" altLang="en-US"/>
          </a:p>
        </p:txBody>
      </p:sp>
      <p:sp>
        <p:nvSpPr>
          <p:cNvPr id="280" name="Text 278"/>
          <p:cNvSpPr/>
          <p:nvPr/>
        </p:nvSpPr>
        <p:spPr>
          <a:xfrm>
            <a:off x="8979428" y="5777760"/>
            <a:ext cx="1159459" cy="33981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2,249</a:t>
            </a:r>
            <a:endParaRPr lang="en-US" sz="1163" dirty="0"/>
          </a:p>
        </p:txBody>
      </p:sp>
      <p:sp>
        <p:nvSpPr>
          <p:cNvPr id="281" name="Shape 279"/>
          <p:cNvSpPr/>
          <p:nvPr/>
        </p:nvSpPr>
        <p:spPr>
          <a:xfrm>
            <a:off x="538580" y="6117571"/>
            <a:ext cx="2404738" cy="668517"/>
          </a:xfrm>
          <a:prstGeom prst="rect">
            <a:avLst/>
          </a:prstGeom>
          <a:solidFill>
            <a:srgbClr val="F5F7EC"/>
          </a:solidFill>
          <a:ln/>
        </p:spPr>
        <p:txBody>
          <a:bodyPr/>
          <a:lstStyle/>
          <a:p>
            <a:endParaRPr lang="ko-KR" altLang="en-US"/>
          </a:p>
        </p:txBody>
      </p:sp>
      <p:sp>
        <p:nvSpPr>
          <p:cNvPr id="282" name="Shape 280"/>
          <p:cNvSpPr/>
          <p:nvPr/>
        </p:nvSpPr>
        <p:spPr>
          <a:xfrm>
            <a:off x="538580" y="6117571"/>
            <a:ext cx="2404738" cy="9525"/>
          </a:xfrm>
          <a:prstGeom prst="rect">
            <a:avLst/>
          </a:prstGeom>
          <a:solidFill>
            <a:srgbClr val="EADFD3"/>
          </a:solidFill>
          <a:ln/>
        </p:spPr>
        <p:txBody>
          <a:bodyPr/>
          <a:lstStyle/>
          <a:p>
            <a:endParaRPr lang="ko-KR" altLang="en-US"/>
          </a:p>
        </p:txBody>
      </p:sp>
      <p:sp>
        <p:nvSpPr>
          <p:cNvPr id="283" name="Text 281"/>
          <p:cNvSpPr/>
          <p:nvPr/>
        </p:nvSpPr>
        <p:spPr>
          <a:xfrm>
            <a:off x="557630" y="6160888"/>
            <a:ext cx="2366638" cy="62520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이런 분들께 추천!</a:t>
            </a:r>
            <a:endParaRPr lang="en-US" sz="1163" dirty="0"/>
          </a:p>
        </p:txBody>
      </p:sp>
      <p:sp>
        <p:nvSpPr>
          <p:cNvPr id="284" name="Shape 282"/>
          <p:cNvSpPr/>
          <p:nvPr/>
        </p:nvSpPr>
        <p:spPr>
          <a:xfrm>
            <a:off x="2943317" y="6117571"/>
            <a:ext cx="2404738" cy="668517"/>
          </a:xfrm>
          <a:prstGeom prst="rect">
            <a:avLst/>
          </a:prstGeom>
          <a:solidFill>
            <a:srgbClr val="FFFFFF"/>
          </a:solidFill>
          <a:ln/>
        </p:spPr>
        <p:txBody>
          <a:bodyPr/>
          <a:lstStyle/>
          <a:p>
            <a:endParaRPr lang="ko-KR" altLang="en-US"/>
          </a:p>
        </p:txBody>
      </p:sp>
      <p:sp>
        <p:nvSpPr>
          <p:cNvPr id="285" name="Shape 283"/>
          <p:cNvSpPr/>
          <p:nvPr/>
        </p:nvSpPr>
        <p:spPr>
          <a:xfrm>
            <a:off x="2943317" y="6117571"/>
            <a:ext cx="2404738" cy="9525"/>
          </a:xfrm>
          <a:prstGeom prst="rect">
            <a:avLst/>
          </a:prstGeom>
          <a:solidFill>
            <a:srgbClr val="EADFD3"/>
          </a:solidFill>
          <a:ln/>
        </p:spPr>
        <p:txBody>
          <a:bodyPr/>
          <a:lstStyle/>
          <a:p>
            <a:endParaRPr lang="ko-KR" altLang="en-US"/>
          </a:p>
        </p:txBody>
      </p:sp>
      <p:sp>
        <p:nvSpPr>
          <p:cNvPr id="286" name="Shape 284"/>
          <p:cNvSpPr/>
          <p:nvPr/>
        </p:nvSpPr>
        <p:spPr>
          <a:xfrm>
            <a:off x="2943317" y="6117571"/>
            <a:ext cx="9525" cy="668517"/>
          </a:xfrm>
          <a:prstGeom prst="rect">
            <a:avLst/>
          </a:prstGeom>
          <a:solidFill>
            <a:srgbClr val="EADFD3"/>
          </a:solidFill>
          <a:ln/>
        </p:spPr>
        <p:txBody>
          <a:bodyPr/>
          <a:lstStyle/>
          <a:p>
            <a:endParaRPr lang="ko-KR" altLang="en-US"/>
          </a:p>
        </p:txBody>
      </p:sp>
      <p:sp>
        <p:nvSpPr>
          <p:cNvPr id="287" name="Text 285"/>
          <p:cNvSpPr/>
          <p:nvPr/>
        </p:nvSpPr>
        <p:spPr>
          <a:xfrm>
            <a:off x="2967584" y="6160888"/>
            <a:ext cx="2361420" cy="62520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종합보험 플랜 + 8만원 초과보험료 50% 할인 (최대 5천원)</a:t>
            </a:r>
            <a:endParaRPr lang="en-US" sz="1163" dirty="0"/>
          </a:p>
        </p:txBody>
      </p:sp>
      <p:sp>
        <p:nvSpPr>
          <p:cNvPr id="288" name="Shape 286"/>
          <p:cNvSpPr/>
          <p:nvPr/>
        </p:nvSpPr>
        <p:spPr>
          <a:xfrm>
            <a:off x="5348054" y="6117571"/>
            <a:ext cx="2404738" cy="668517"/>
          </a:xfrm>
          <a:prstGeom prst="rect">
            <a:avLst/>
          </a:prstGeom>
          <a:solidFill>
            <a:srgbClr val="FFFFFF"/>
          </a:solidFill>
          <a:ln/>
        </p:spPr>
        <p:txBody>
          <a:bodyPr/>
          <a:lstStyle/>
          <a:p>
            <a:endParaRPr lang="ko-KR" altLang="en-US"/>
          </a:p>
        </p:txBody>
      </p:sp>
      <p:sp>
        <p:nvSpPr>
          <p:cNvPr id="289" name="Shape 287"/>
          <p:cNvSpPr/>
          <p:nvPr/>
        </p:nvSpPr>
        <p:spPr>
          <a:xfrm>
            <a:off x="5348054" y="6117571"/>
            <a:ext cx="2404738" cy="9525"/>
          </a:xfrm>
          <a:prstGeom prst="rect">
            <a:avLst/>
          </a:prstGeom>
          <a:solidFill>
            <a:srgbClr val="EADFD3"/>
          </a:solidFill>
          <a:ln/>
        </p:spPr>
        <p:txBody>
          <a:bodyPr/>
          <a:lstStyle/>
          <a:p>
            <a:endParaRPr lang="ko-KR" altLang="en-US"/>
          </a:p>
        </p:txBody>
      </p:sp>
      <p:sp>
        <p:nvSpPr>
          <p:cNvPr id="290" name="Shape 288"/>
          <p:cNvSpPr/>
          <p:nvPr/>
        </p:nvSpPr>
        <p:spPr>
          <a:xfrm>
            <a:off x="5348054" y="6117571"/>
            <a:ext cx="9525" cy="668517"/>
          </a:xfrm>
          <a:prstGeom prst="rect">
            <a:avLst/>
          </a:prstGeom>
          <a:solidFill>
            <a:srgbClr val="EADFD3"/>
          </a:solidFill>
          <a:ln/>
        </p:spPr>
        <p:txBody>
          <a:bodyPr/>
          <a:lstStyle/>
          <a:p>
            <a:endParaRPr lang="ko-KR" altLang="en-US"/>
          </a:p>
        </p:txBody>
      </p:sp>
      <p:sp>
        <p:nvSpPr>
          <p:cNvPr id="291" name="Text 289"/>
          <p:cNvSpPr/>
          <p:nvPr/>
        </p:nvSpPr>
        <p:spPr>
          <a:xfrm>
            <a:off x="5372321" y="6160888"/>
            <a:ext cx="2361420" cy="62520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암 진단 및 순환계치료비 가성비 플랜 가족결합시 5% 추가할인 혜택</a:t>
            </a:r>
            <a:endParaRPr lang="en-US" sz="1163" dirty="0"/>
          </a:p>
        </p:txBody>
      </p:sp>
      <p:sp>
        <p:nvSpPr>
          <p:cNvPr id="292" name="Shape 290"/>
          <p:cNvSpPr/>
          <p:nvPr/>
        </p:nvSpPr>
        <p:spPr>
          <a:xfrm>
            <a:off x="7752792" y="6117571"/>
            <a:ext cx="2405145" cy="668517"/>
          </a:xfrm>
          <a:prstGeom prst="rect">
            <a:avLst/>
          </a:prstGeom>
          <a:solidFill>
            <a:srgbClr val="FFFFFF"/>
          </a:solidFill>
          <a:ln/>
        </p:spPr>
        <p:txBody>
          <a:bodyPr/>
          <a:lstStyle/>
          <a:p>
            <a:endParaRPr lang="ko-KR" altLang="en-US"/>
          </a:p>
        </p:txBody>
      </p:sp>
      <p:sp>
        <p:nvSpPr>
          <p:cNvPr id="293" name="Shape 291"/>
          <p:cNvSpPr/>
          <p:nvPr/>
        </p:nvSpPr>
        <p:spPr>
          <a:xfrm>
            <a:off x="7752792" y="6117571"/>
            <a:ext cx="2405145" cy="9525"/>
          </a:xfrm>
          <a:prstGeom prst="rect">
            <a:avLst/>
          </a:prstGeom>
          <a:solidFill>
            <a:srgbClr val="EADFD3"/>
          </a:solidFill>
          <a:ln/>
        </p:spPr>
        <p:txBody>
          <a:bodyPr/>
          <a:lstStyle/>
          <a:p>
            <a:endParaRPr lang="ko-KR" altLang="en-US"/>
          </a:p>
        </p:txBody>
      </p:sp>
      <p:sp>
        <p:nvSpPr>
          <p:cNvPr id="294" name="Shape 292"/>
          <p:cNvSpPr/>
          <p:nvPr/>
        </p:nvSpPr>
        <p:spPr>
          <a:xfrm>
            <a:off x="7752792" y="6117571"/>
            <a:ext cx="9525" cy="668517"/>
          </a:xfrm>
          <a:prstGeom prst="rect">
            <a:avLst/>
          </a:prstGeom>
          <a:solidFill>
            <a:srgbClr val="EADFD3"/>
          </a:solidFill>
          <a:ln/>
        </p:spPr>
        <p:txBody>
          <a:bodyPr/>
          <a:lstStyle/>
          <a:p>
            <a:endParaRPr lang="ko-KR" altLang="en-US"/>
          </a:p>
        </p:txBody>
      </p:sp>
      <p:sp>
        <p:nvSpPr>
          <p:cNvPr id="295" name="Text 293"/>
          <p:cNvSpPr/>
          <p:nvPr/>
        </p:nvSpPr>
        <p:spPr>
          <a:xfrm>
            <a:off x="8255912" y="6370027"/>
            <a:ext cx="1370601" cy="205046"/>
          </a:xfrm>
          <a:prstGeom prst="rect">
            <a:avLst/>
          </a:prstGeom>
          <a:noFill/>
          <a:ln/>
        </p:spPr>
        <p:txBody>
          <a:bodyPr wrap="square" lIns="0" tIns="0" rIns="0" bIns="0" rtlCol="0" anchor="t">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2대질환 보험료 경쟁력</a:t>
            </a:r>
            <a:endParaRPr lang="en-US" sz="1163" dirty="0"/>
          </a:p>
        </p:txBody>
      </p:sp>
      <p:pic>
        <p:nvPicPr>
          <p:cNvPr id="29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65067" y="6381602"/>
            <a:ext cx="94885" cy="132872"/>
          </a:xfrm>
          <a:prstGeom prst="rect">
            <a:avLst/>
          </a:prstGeom>
        </p:spPr>
      </p:pic>
      <p:sp>
        <p:nvSpPr>
          <p:cNvPr id="297" name="Text 29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8" name="Text 29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9" name="Text 29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70314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비교표_3대진단 및 주요치료비 추천사_초경증</a:t>
            </a:r>
            <a:endParaRPr lang="en-US" sz="2475" dirty="0"/>
          </a:p>
        </p:txBody>
      </p:sp>
      <p:sp>
        <p:nvSpPr>
          <p:cNvPr id="3" name="Shape 1"/>
          <p:cNvSpPr/>
          <p:nvPr/>
        </p:nvSpPr>
        <p:spPr>
          <a:xfrm>
            <a:off x="8875682" y="340821"/>
            <a:ext cx="1287472" cy="289710"/>
          </a:xfrm>
          <a:prstGeom prst="roundRect">
            <a:avLst>
              <a:gd name="adj" fmla="val 50000"/>
            </a:avLst>
          </a:prstGeom>
          <a:solidFill>
            <a:srgbClr val="E7EBD4"/>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55612C"/>
                </a:solidFill>
                <a:latin typeface="Paperlogy 7 Bold" pitchFamily="2" charset="-127"/>
                <a:ea typeface="Paperlogy 7 Bold" pitchFamily="2" charset="-127"/>
                <a:cs typeface="Arial" pitchFamily="34" charset="-120"/>
              </a:rPr>
              <a:t>초경증 가성비 상품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7286191" y="1095338"/>
            <a:ext cx="316465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40세, 100세만기 20년납, 해지환급금 미지급형, 담보별 보험료</a:t>
            </a:r>
            <a:endParaRPr lang="en-US" sz="900" dirty="0"/>
          </a:p>
        </p:txBody>
      </p:sp>
      <p:sp>
        <p:nvSpPr>
          <p:cNvPr id="7" name="Shape 5"/>
          <p:cNvSpPr/>
          <p:nvPr/>
        </p:nvSpPr>
        <p:spPr>
          <a:xfrm>
            <a:off x="533363" y="1301900"/>
            <a:ext cx="9629791" cy="5489404"/>
          </a:xfrm>
          <a:prstGeom prst="roundRect">
            <a:avLst>
              <a:gd name="adj" fmla="val 2082"/>
            </a:avLst>
          </a:prstGeom>
          <a:solidFill>
            <a:srgbClr val="FFFFFF"/>
          </a:solidFill>
          <a:ln w="5217">
            <a:solidFill>
              <a:srgbClr val="EADFD3"/>
            </a:solidFill>
            <a:prstDash val="solid"/>
          </a:ln>
        </p:spPr>
        <p:txBody>
          <a:bodyPr/>
          <a:lstStyle/>
          <a:p>
            <a:endParaRPr lang="ko-KR" altLang="en-US"/>
          </a:p>
        </p:txBody>
      </p:sp>
      <p:sp>
        <p:nvSpPr>
          <p:cNvPr id="8" name="Shape 6"/>
          <p:cNvSpPr/>
          <p:nvPr/>
        </p:nvSpPr>
        <p:spPr>
          <a:xfrm>
            <a:off x="538580" y="1307117"/>
            <a:ext cx="2404738" cy="417935"/>
          </a:xfrm>
          <a:prstGeom prst="rect">
            <a:avLst/>
          </a:prstGeom>
          <a:solidFill>
            <a:srgbClr val="7E8D4A"/>
          </a:solidFill>
          <a:ln/>
        </p:spPr>
        <p:txBody>
          <a:bodyPr/>
          <a:lstStyle/>
          <a:p>
            <a:endParaRPr lang="ko-KR" altLang="en-US"/>
          </a:p>
        </p:txBody>
      </p:sp>
      <p:sp>
        <p:nvSpPr>
          <p:cNvPr id="9" name="Text 7"/>
          <p:cNvSpPr/>
          <p:nvPr/>
        </p:nvSpPr>
        <p:spPr>
          <a:xfrm>
            <a:off x="557630" y="1345217"/>
            <a:ext cx="2366638" cy="379835"/>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0" name="Shape 8"/>
          <p:cNvSpPr/>
          <p:nvPr/>
        </p:nvSpPr>
        <p:spPr>
          <a:xfrm>
            <a:off x="2943317" y="1307117"/>
            <a:ext cx="2404738" cy="417935"/>
          </a:xfrm>
          <a:prstGeom prst="rect">
            <a:avLst/>
          </a:prstGeom>
          <a:solidFill>
            <a:srgbClr val="7E8D4A"/>
          </a:solidFill>
          <a:ln/>
        </p:spPr>
        <p:txBody>
          <a:bodyPr/>
          <a:lstStyle/>
          <a:p>
            <a:endParaRPr lang="ko-KR" altLang="en-US"/>
          </a:p>
        </p:txBody>
      </p:sp>
      <p:sp>
        <p:nvSpPr>
          <p:cNvPr id="11" name="Shape 9"/>
          <p:cNvSpPr/>
          <p:nvPr/>
        </p:nvSpPr>
        <p:spPr>
          <a:xfrm>
            <a:off x="2943317" y="1307117"/>
            <a:ext cx="9525" cy="417935"/>
          </a:xfrm>
          <a:prstGeom prst="rect">
            <a:avLst/>
          </a:prstGeom>
          <a:solidFill>
            <a:srgbClr val="FFFFFF">
              <a:alpha val="25000"/>
            </a:srgbClr>
          </a:solidFill>
          <a:ln/>
        </p:spPr>
        <p:txBody>
          <a:bodyPr/>
          <a:lstStyle/>
          <a:p>
            <a:endParaRPr lang="ko-KR" altLang="en-US"/>
          </a:p>
        </p:txBody>
      </p:sp>
      <p:sp>
        <p:nvSpPr>
          <p:cNvPr id="12" name="Text 10"/>
          <p:cNvSpPr/>
          <p:nvPr/>
        </p:nvSpPr>
        <p:spPr>
          <a:xfrm>
            <a:off x="2967584" y="1345217"/>
            <a:ext cx="2361420" cy="379835"/>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하나생명</a:t>
            </a:r>
            <a:endParaRPr lang="en-US" sz="1575" dirty="0"/>
          </a:p>
        </p:txBody>
      </p:sp>
      <p:sp>
        <p:nvSpPr>
          <p:cNvPr id="13" name="Shape 11"/>
          <p:cNvSpPr/>
          <p:nvPr/>
        </p:nvSpPr>
        <p:spPr>
          <a:xfrm>
            <a:off x="5348054" y="1307117"/>
            <a:ext cx="2404738" cy="417935"/>
          </a:xfrm>
          <a:prstGeom prst="rect">
            <a:avLst/>
          </a:prstGeom>
          <a:solidFill>
            <a:srgbClr val="7E8D4A"/>
          </a:solidFill>
          <a:ln/>
        </p:spPr>
        <p:txBody>
          <a:bodyPr/>
          <a:lstStyle/>
          <a:p>
            <a:endParaRPr lang="ko-KR" altLang="en-US"/>
          </a:p>
        </p:txBody>
      </p:sp>
      <p:sp>
        <p:nvSpPr>
          <p:cNvPr id="14" name="Shape 12"/>
          <p:cNvSpPr/>
          <p:nvPr/>
        </p:nvSpPr>
        <p:spPr>
          <a:xfrm>
            <a:off x="5348054" y="1307117"/>
            <a:ext cx="9525" cy="417935"/>
          </a:xfrm>
          <a:prstGeom prst="rect">
            <a:avLst/>
          </a:prstGeom>
          <a:solidFill>
            <a:srgbClr val="FFFFFF">
              <a:alpha val="25000"/>
            </a:srgbClr>
          </a:solidFill>
          <a:ln/>
        </p:spPr>
        <p:txBody>
          <a:bodyPr/>
          <a:lstStyle/>
          <a:p>
            <a:endParaRPr lang="ko-KR" altLang="en-US"/>
          </a:p>
        </p:txBody>
      </p:sp>
      <p:sp>
        <p:nvSpPr>
          <p:cNvPr id="15" name="Text 13"/>
          <p:cNvSpPr/>
          <p:nvPr/>
        </p:nvSpPr>
        <p:spPr>
          <a:xfrm>
            <a:off x="5372321" y="1345217"/>
            <a:ext cx="2361420" cy="379835"/>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KB라이프</a:t>
            </a:r>
            <a:endParaRPr lang="en-US" sz="1575" dirty="0"/>
          </a:p>
        </p:txBody>
      </p:sp>
      <p:sp>
        <p:nvSpPr>
          <p:cNvPr id="16" name="Shape 14"/>
          <p:cNvSpPr/>
          <p:nvPr/>
        </p:nvSpPr>
        <p:spPr>
          <a:xfrm>
            <a:off x="7752792" y="1307117"/>
            <a:ext cx="2405145" cy="417935"/>
          </a:xfrm>
          <a:prstGeom prst="rect">
            <a:avLst/>
          </a:prstGeom>
          <a:solidFill>
            <a:srgbClr val="7E8D4A"/>
          </a:solidFill>
          <a:ln/>
        </p:spPr>
        <p:txBody>
          <a:bodyPr/>
          <a:lstStyle/>
          <a:p>
            <a:endParaRPr lang="ko-KR" altLang="en-US"/>
          </a:p>
        </p:txBody>
      </p:sp>
      <p:sp>
        <p:nvSpPr>
          <p:cNvPr id="17" name="Shape 15"/>
          <p:cNvSpPr/>
          <p:nvPr/>
        </p:nvSpPr>
        <p:spPr>
          <a:xfrm>
            <a:off x="7752792" y="1307117"/>
            <a:ext cx="9525" cy="417935"/>
          </a:xfrm>
          <a:prstGeom prst="rect">
            <a:avLst/>
          </a:prstGeom>
          <a:solidFill>
            <a:srgbClr val="FFFFFF">
              <a:alpha val="25000"/>
            </a:srgbClr>
          </a:solidFill>
          <a:ln/>
        </p:spPr>
        <p:txBody>
          <a:bodyPr/>
          <a:lstStyle/>
          <a:p>
            <a:endParaRPr lang="ko-KR" altLang="en-US"/>
          </a:p>
        </p:txBody>
      </p:sp>
      <p:sp>
        <p:nvSpPr>
          <p:cNvPr id="18" name="Text 16"/>
          <p:cNvSpPr/>
          <p:nvPr/>
        </p:nvSpPr>
        <p:spPr>
          <a:xfrm>
            <a:off x="7777059" y="1345217"/>
            <a:ext cx="2361828" cy="379835"/>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흥국생명</a:t>
            </a:r>
            <a:endParaRPr lang="en-US" sz="1575" dirty="0"/>
          </a:p>
        </p:txBody>
      </p:sp>
      <p:sp>
        <p:nvSpPr>
          <p:cNvPr id="19" name="Shape 17"/>
          <p:cNvSpPr/>
          <p:nvPr/>
        </p:nvSpPr>
        <p:spPr>
          <a:xfrm>
            <a:off x="538580" y="1725053"/>
            <a:ext cx="2404738" cy="365113"/>
          </a:xfrm>
          <a:prstGeom prst="rect">
            <a:avLst/>
          </a:prstGeom>
          <a:solidFill>
            <a:srgbClr val="F5F7EC"/>
          </a:solidFill>
          <a:ln/>
        </p:spPr>
        <p:txBody>
          <a:bodyPr/>
          <a:lstStyle/>
          <a:p>
            <a:endParaRPr lang="ko-KR" altLang="en-US"/>
          </a:p>
        </p:txBody>
      </p:sp>
      <p:sp>
        <p:nvSpPr>
          <p:cNvPr id="20" name="Shape 18"/>
          <p:cNvSpPr/>
          <p:nvPr/>
        </p:nvSpPr>
        <p:spPr>
          <a:xfrm>
            <a:off x="538580" y="1725053"/>
            <a:ext cx="2404738" cy="9525"/>
          </a:xfrm>
          <a:prstGeom prst="rect">
            <a:avLst/>
          </a:prstGeom>
          <a:solidFill>
            <a:srgbClr val="EADFD3"/>
          </a:solidFill>
          <a:ln/>
        </p:spPr>
        <p:txBody>
          <a:bodyPr/>
          <a:lstStyle/>
          <a:p>
            <a:endParaRPr lang="ko-KR" altLang="en-US"/>
          </a:p>
        </p:txBody>
      </p:sp>
      <p:sp>
        <p:nvSpPr>
          <p:cNvPr id="21" name="Text 19"/>
          <p:cNvSpPr/>
          <p:nvPr/>
        </p:nvSpPr>
        <p:spPr>
          <a:xfrm>
            <a:off x="557630" y="1768370"/>
            <a:ext cx="2366638"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상품명</a:t>
            </a:r>
            <a:endParaRPr lang="en-US" sz="1163" dirty="0"/>
          </a:p>
        </p:txBody>
      </p:sp>
      <p:sp>
        <p:nvSpPr>
          <p:cNvPr id="22" name="Shape 20"/>
          <p:cNvSpPr/>
          <p:nvPr/>
        </p:nvSpPr>
        <p:spPr>
          <a:xfrm>
            <a:off x="2943317" y="1725053"/>
            <a:ext cx="2404738" cy="365113"/>
          </a:xfrm>
          <a:prstGeom prst="rect">
            <a:avLst/>
          </a:prstGeom>
          <a:solidFill>
            <a:srgbClr val="FFFFFF"/>
          </a:solidFill>
          <a:ln/>
        </p:spPr>
        <p:txBody>
          <a:bodyPr/>
          <a:lstStyle/>
          <a:p>
            <a:endParaRPr lang="ko-KR" altLang="en-US"/>
          </a:p>
        </p:txBody>
      </p:sp>
      <p:sp>
        <p:nvSpPr>
          <p:cNvPr id="23" name="Shape 21"/>
          <p:cNvSpPr/>
          <p:nvPr/>
        </p:nvSpPr>
        <p:spPr>
          <a:xfrm>
            <a:off x="2943317" y="1725053"/>
            <a:ext cx="2404738" cy="9525"/>
          </a:xfrm>
          <a:prstGeom prst="rect">
            <a:avLst/>
          </a:prstGeom>
          <a:solidFill>
            <a:srgbClr val="EADFD3"/>
          </a:solidFill>
          <a:ln/>
        </p:spPr>
        <p:txBody>
          <a:bodyPr/>
          <a:lstStyle/>
          <a:p>
            <a:endParaRPr lang="ko-KR" altLang="en-US"/>
          </a:p>
        </p:txBody>
      </p:sp>
      <p:sp>
        <p:nvSpPr>
          <p:cNvPr id="24" name="Shape 22"/>
          <p:cNvSpPr/>
          <p:nvPr/>
        </p:nvSpPr>
        <p:spPr>
          <a:xfrm>
            <a:off x="2943317" y="1725053"/>
            <a:ext cx="9525" cy="365113"/>
          </a:xfrm>
          <a:prstGeom prst="rect">
            <a:avLst/>
          </a:prstGeom>
          <a:solidFill>
            <a:srgbClr val="EADFD3"/>
          </a:solidFill>
          <a:ln/>
        </p:spPr>
        <p:txBody>
          <a:bodyPr/>
          <a:lstStyle/>
          <a:p>
            <a:endParaRPr lang="ko-KR" altLang="en-US"/>
          </a:p>
        </p:txBody>
      </p:sp>
      <p:sp>
        <p:nvSpPr>
          <p:cNvPr id="25" name="Text 23"/>
          <p:cNvSpPr/>
          <p:nvPr/>
        </p:nvSpPr>
        <p:spPr>
          <a:xfrm>
            <a:off x="2967584" y="1768370"/>
            <a:ext cx="2361420"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하나로 누리는 건강보험 3.10.5</a:t>
            </a:r>
            <a:endParaRPr lang="en-US" sz="1163" dirty="0"/>
          </a:p>
        </p:txBody>
      </p:sp>
      <p:sp>
        <p:nvSpPr>
          <p:cNvPr id="26" name="Shape 24"/>
          <p:cNvSpPr/>
          <p:nvPr/>
        </p:nvSpPr>
        <p:spPr>
          <a:xfrm>
            <a:off x="5348054" y="1725053"/>
            <a:ext cx="2404738" cy="365113"/>
          </a:xfrm>
          <a:prstGeom prst="rect">
            <a:avLst/>
          </a:prstGeom>
          <a:solidFill>
            <a:srgbClr val="FFFFFF"/>
          </a:solidFill>
          <a:ln/>
        </p:spPr>
        <p:txBody>
          <a:bodyPr/>
          <a:lstStyle/>
          <a:p>
            <a:endParaRPr lang="ko-KR" altLang="en-US"/>
          </a:p>
        </p:txBody>
      </p:sp>
      <p:sp>
        <p:nvSpPr>
          <p:cNvPr id="27" name="Shape 25"/>
          <p:cNvSpPr/>
          <p:nvPr/>
        </p:nvSpPr>
        <p:spPr>
          <a:xfrm>
            <a:off x="5348054" y="1725053"/>
            <a:ext cx="2404738" cy="9525"/>
          </a:xfrm>
          <a:prstGeom prst="rect">
            <a:avLst/>
          </a:prstGeom>
          <a:solidFill>
            <a:srgbClr val="EADFD3"/>
          </a:solidFill>
          <a:ln/>
        </p:spPr>
        <p:txBody>
          <a:bodyPr/>
          <a:lstStyle/>
          <a:p>
            <a:endParaRPr lang="ko-KR" altLang="en-US"/>
          </a:p>
        </p:txBody>
      </p:sp>
      <p:sp>
        <p:nvSpPr>
          <p:cNvPr id="28" name="Shape 26"/>
          <p:cNvSpPr/>
          <p:nvPr/>
        </p:nvSpPr>
        <p:spPr>
          <a:xfrm>
            <a:off x="5348054" y="1725053"/>
            <a:ext cx="9525" cy="365113"/>
          </a:xfrm>
          <a:prstGeom prst="rect">
            <a:avLst/>
          </a:prstGeom>
          <a:solidFill>
            <a:srgbClr val="EADFD3"/>
          </a:solidFill>
          <a:ln/>
        </p:spPr>
        <p:txBody>
          <a:bodyPr/>
          <a:lstStyle/>
          <a:p>
            <a:endParaRPr lang="ko-KR" altLang="en-US"/>
          </a:p>
        </p:txBody>
      </p:sp>
      <p:sp>
        <p:nvSpPr>
          <p:cNvPr id="29" name="Text 27"/>
          <p:cNvSpPr/>
          <p:nvPr/>
        </p:nvSpPr>
        <p:spPr>
          <a:xfrm>
            <a:off x="5372321" y="1768370"/>
            <a:ext cx="2361420"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딱좋은 초경증 건강보험</a:t>
            </a:r>
            <a:endParaRPr lang="en-US" sz="1163" dirty="0"/>
          </a:p>
        </p:txBody>
      </p:sp>
      <p:sp>
        <p:nvSpPr>
          <p:cNvPr id="30" name="Shape 28"/>
          <p:cNvSpPr/>
          <p:nvPr/>
        </p:nvSpPr>
        <p:spPr>
          <a:xfrm>
            <a:off x="7752792" y="1725053"/>
            <a:ext cx="2405145" cy="365113"/>
          </a:xfrm>
          <a:prstGeom prst="rect">
            <a:avLst/>
          </a:prstGeom>
          <a:solidFill>
            <a:srgbClr val="FFFFFF"/>
          </a:solidFill>
          <a:ln/>
        </p:spPr>
        <p:txBody>
          <a:bodyPr/>
          <a:lstStyle/>
          <a:p>
            <a:endParaRPr lang="ko-KR" altLang="en-US"/>
          </a:p>
        </p:txBody>
      </p:sp>
      <p:sp>
        <p:nvSpPr>
          <p:cNvPr id="31" name="Shape 29"/>
          <p:cNvSpPr/>
          <p:nvPr/>
        </p:nvSpPr>
        <p:spPr>
          <a:xfrm>
            <a:off x="7752792" y="1725053"/>
            <a:ext cx="2405145" cy="9525"/>
          </a:xfrm>
          <a:prstGeom prst="rect">
            <a:avLst/>
          </a:prstGeom>
          <a:solidFill>
            <a:srgbClr val="EADFD3"/>
          </a:solidFill>
          <a:ln/>
        </p:spPr>
        <p:txBody>
          <a:bodyPr/>
          <a:lstStyle/>
          <a:p>
            <a:endParaRPr lang="ko-KR" altLang="en-US"/>
          </a:p>
        </p:txBody>
      </p:sp>
      <p:sp>
        <p:nvSpPr>
          <p:cNvPr id="32" name="Shape 30"/>
          <p:cNvSpPr/>
          <p:nvPr/>
        </p:nvSpPr>
        <p:spPr>
          <a:xfrm>
            <a:off x="7752792" y="1725053"/>
            <a:ext cx="9525" cy="365113"/>
          </a:xfrm>
          <a:prstGeom prst="rect">
            <a:avLst/>
          </a:prstGeom>
          <a:solidFill>
            <a:srgbClr val="EADFD3"/>
          </a:solidFill>
          <a:ln/>
        </p:spPr>
        <p:txBody>
          <a:bodyPr/>
          <a:lstStyle/>
          <a:p>
            <a:endParaRPr lang="ko-KR" altLang="en-US"/>
          </a:p>
        </p:txBody>
      </p:sp>
      <p:sp>
        <p:nvSpPr>
          <p:cNvPr id="33" name="Text 31"/>
          <p:cNvSpPr/>
          <p:nvPr/>
        </p:nvSpPr>
        <p:spPr>
          <a:xfrm>
            <a:off x="7777059" y="1768370"/>
            <a:ext cx="2361828"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다사랑 3.10.5 간편건강</a:t>
            </a:r>
            <a:endParaRPr lang="en-US" sz="1163" dirty="0"/>
          </a:p>
        </p:txBody>
      </p:sp>
      <p:sp>
        <p:nvSpPr>
          <p:cNvPr id="34" name="Shape 32"/>
          <p:cNvSpPr/>
          <p:nvPr/>
        </p:nvSpPr>
        <p:spPr>
          <a:xfrm>
            <a:off x="538580" y="2090165"/>
            <a:ext cx="2404738" cy="622705"/>
          </a:xfrm>
          <a:prstGeom prst="rect">
            <a:avLst/>
          </a:prstGeom>
          <a:solidFill>
            <a:srgbClr val="F5F7EC"/>
          </a:solidFill>
          <a:ln/>
        </p:spPr>
        <p:txBody>
          <a:bodyPr/>
          <a:lstStyle/>
          <a:p>
            <a:endParaRPr lang="ko-KR" altLang="en-US"/>
          </a:p>
        </p:txBody>
      </p:sp>
      <p:sp>
        <p:nvSpPr>
          <p:cNvPr id="35" name="Shape 33"/>
          <p:cNvSpPr/>
          <p:nvPr/>
        </p:nvSpPr>
        <p:spPr>
          <a:xfrm>
            <a:off x="538580" y="2090165"/>
            <a:ext cx="2404738" cy="9525"/>
          </a:xfrm>
          <a:prstGeom prst="rect">
            <a:avLst/>
          </a:prstGeom>
          <a:solidFill>
            <a:srgbClr val="EADFD3"/>
          </a:solidFill>
          <a:ln/>
        </p:spPr>
        <p:txBody>
          <a:bodyPr/>
          <a:lstStyle/>
          <a:p>
            <a:endParaRPr lang="ko-KR" altLang="en-US"/>
          </a:p>
        </p:txBody>
      </p:sp>
      <p:sp>
        <p:nvSpPr>
          <p:cNvPr id="36" name="Text 34"/>
          <p:cNvSpPr/>
          <p:nvPr/>
        </p:nvSpPr>
        <p:spPr>
          <a:xfrm>
            <a:off x="557630" y="2133482"/>
            <a:ext cx="2366638"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가입연령</a:t>
            </a:r>
            <a:endParaRPr lang="en-US" sz="1163" dirty="0"/>
          </a:p>
        </p:txBody>
      </p:sp>
      <p:sp>
        <p:nvSpPr>
          <p:cNvPr id="37" name="Shape 35"/>
          <p:cNvSpPr/>
          <p:nvPr/>
        </p:nvSpPr>
        <p:spPr>
          <a:xfrm>
            <a:off x="2943317" y="2090165"/>
            <a:ext cx="2404738" cy="622705"/>
          </a:xfrm>
          <a:prstGeom prst="rect">
            <a:avLst/>
          </a:prstGeom>
          <a:solidFill>
            <a:srgbClr val="FFFFFF"/>
          </a:solidFill>
          <a:ln/>
        </p:spPr>
        <p:txBody>
          <a:bodyPr/>
          <a:lstStyle/>
          <a:p>
            <a:endParaRPr lang="ko-KR" altLang="en-US"/>
          </a:p>
        </p:txBody>
      </p:sp>
      <p:sp>
        <p:nvSpPr>
          <p:cNvPr id="38" name="Shape 36"/>
          <p:cNvSpPr/>
          <p:nvPr/>
        </p:nvSpPr>
        <p:spPr>
          <a:xfrm>
            <a:off x="2943317" y="2090165"/>
            <a:ext cx="2404738" cy="9525"/>
          </a:xfrm>
          <a:prstGeom prst="rect">
            <a:avLst/>
          </a:prstGeom>
          <a:solidFill>
            <a:srgbClr val="EADFD3"/>
          </a:solidFill>
          <a:ln/>
        </p:spPr>
        <p:txBody>
          <a:bodyPr/>
          <a:lstStyle/>
          <a:p>
            <a:endParaRPr lang="ko-KR" altLang="en-US"/>
          </a:p>
        </p:txBody>
      </p:sp>
      <p:sp>
        <p:nvSpPr>
          <p:cNvPr id="39" name="Shape 37"/>
          <p:cNvSpPr/>
          <p:nvPr/>
        </p:nvSpPr>
        <p:spPr>
          <a:xfrm>
            <a:off x="2943317" y="2090165"/>
            <a:ext cx="9525" cy="622705"/>
          </a:xfrm>
          <a:prstGeom prst="rect">
            <a:avLst/>
          </a:prstGeom>
          <a:solidFill>
            <a:srgbClr val="EADFD3"/>
          </a:solidFill>
          <a:ln/>
        </p:spPr>
        <p:txBody>
          <a:bodyPr/>
          <a:lstStyle/>
          <a:p>
            <a:endParaRPr lang="ko-KR" altLang="en-US"/>
          </a:p>
        </p:txBody>
      </p:sp>
      <p:sp>
        <p:nvSpPr>
          <p:cNvPr id="40" name="Text 38"/>
          <p:cNvSpPr/>
          <p:nvPr/>
        </p:nvSpPr>
        <p:spPr>
          <a:xfrm>
            <a:off x="2967584" y="2133482"/>
            <a:ext cx="2361420"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남성 : 30세 ~ 68세 </a:t>
            </a:r>
          </a:p>
          <a:p>
            <a:pPr marL="0" indent="0" algn="ctr">
              <a:lnSpc>
                <a:spcPct val="113196"/>
              </a:lnSpc>
              <a:buNone/>
            </a:pPr>
            <a:r>
              <a:rPr lang="en-US" sz="1163" b="1" kern="0" spc="-12" dirty="0" err="1">
                <a:solidFill>
                  <a:srgbClr val="3A2C24"/>
                </a:solidFill>
                <a:highlight>
                  <a:srgbClr val="FFFFFF"/>
                </a:highlight>
                <a:latin typeface="Paperlogy 7 Bold" pitchFamily="2" charset="-127"/>
                <a:ea typeface="Paperlogy 7 Bold" pitchFamily="2" charset="-127"/>
                <a:cs typeface="Arial" pitchFamily="34" charset="-120"/>
              </a:rPr>
              <a:t>여성</a:t>
            </a: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 : 30세 ~ 73세</a:t>
            </a:r>
            <a:endParaRPr lang="en-US" sz="1163" dirty="0"/>
          </a:p>
        </p:txBody>
      </p:sp>
      <p:sp>
        <p:nvSpPr>
          <p:cNvPr id="41" name="Shape 39"/>
          <p:cNvSpPr/>
          <p:nvPr/>
        </p:nvSpPr>
        <p:spPr>
          <a:xfrm>
            <a:off x="5348054" y="2090165"/>
            <a:ext cx="2404738" cy="622705"/>
          </a:xfrm>
          <a:prstGeom prst="rect">
            <a:avLst/>
          </a:prstGeom>
          <a:solidFill>
            <a:srgbClr val="FFFFFF"/>
          </a:solidFill>
          <a:ln/>
        </p:spPr>
        <p:txBody>
          <a:bodyPr/>
          <a:lstStyle/>
          <a:p>
            <a:endParaRPr lang="ko-KR" altLang="en-US"/>
          </a:p>
        </p:txBody>
      </p:sp>
      <p:sp>
        <p:nvSpPr>
          <p:cNvPr id="42" name="Shape 40"/>
          <p:cNvSpPr/>
          <p:nvPr/>
        </p:nvSpPr>
        <p:spPr>
          <a:xfrm>
            <a:off x="5348054" y="2090165"/>
            <a:ext cx="2404738" cy="9525"/>
          </a:xfrm>
          <a:prstGeom prst="rect">
            <a:avLst/>
          </a:prstGeom>
          <a:solidFill>
            <a:srgbClr val="EADFD3"/>
          </a:solidFill>
          <a:ln/>
        </p:spPr>
        <p:txBody>
          <a:bodyPr/>
          <a:lstStyle/>
          <a:p>
            <a:endParaRPr lang="ko-KR" altLang="en-US"/>
          </a:p>
        </p:txBody>
      </p:sp>
      <p:sp>
        <p:nvSpPr>
          <p:cNvPr id="43" name="Shape 41"/>
          <p:cNvSpPr/>
          <p:nvPr/>
        </p:nvSpPr>
        <p:spPr>
          <a:xfrm>
            <a:off x="5348054" y="2090165"/>
            <a:ext cx="9525" cy="622705"/>
          </a:xfrm>
          <a:prstGeom prst="rect">
            <a:avLst/>
          </a:prstGeom>
          <a:solidFill>
            <a:srgbClr val="EADFD3"/>
          </a:solidFill>
          <a:ln/>
        </p:spPr>
        <p:txBody>
          <a:bodyPr/>
          <a:lstStyle/>
          <a:p>
            <a:endParaRPr lang="ko-KR" altLang="en-US"/>
          </a:p>
        </p:txBody>
      </p:sp>
      <p:sp>
        <p:nvSpPr>
          <p:cNvPr id="44" name="Text 42"/>
          <p:cNvSpPr/>
          <p:nvPr/>
        </p:nvSpPr>
        <p:spPr>
          <a:xfrm>
            <a:off x="5372321" y="2133482"/>
            <a:ext cx="2361420"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15세 ~ 80세</a:t>
            </a:r>
            <a:endParaRPr lang="en-US" sz="1163" dirty="0"/>
          </a:p>
        </p:txBody>
      </p:sp>
      <p:sp>
        <p:nvSpPr>
          <p:cNvPr id="45" name="Shape 43"/>
          <p:cNvSpPr/>
          <p:nvPr/>
        </p:nvSpPr>
        <p:spPr>
          <a:xfrm>
            <a:off x="7752792" y="2090165"/>
            <a:ext cx="2405145" cy="622705"/>
          </a:xfrm>
          <a:prstGeom prst="rect">
            <a:avLst/>
          </a:prstGeom>
          <a:solidFill>
            <a:srgbClr val="FFFFFF"/>
          </a:solidFill>
          <a:ln/>
        </p:spPr>
        <p:txBody>
          <a:bodyPr/>
          <a:lstStyle/>
          <a:p>
            <a:endParaRPr lang="ko-KR" altLang="en-US"/>
          </a:p>
        </p:txBody>
      </p:sp>
      <p:sp>
        <p:nvSpPr>
          <p:cNvPr id="46" name="Shape 44"/>
          <p:cNvSpPr/>
          <p:nvPr/>
        </p:nvSpPr>
        <p:spPr>
          <a:xfrm>
            <a:off x="7752792" y="2090165"/>
            <a:ext cx="2405145" cy="9525"/>
          </a:xfrm>
          <a:prstGeom prst="rect">
            <a:avLst/>
          </a:prstGeom>
          <a:solidFill>
            <a:srgbClr val="EADFD3"/>
          </a:solidFill>
          <a:ln/>
        </p:spPr>
        <p:txBody>
          <a:bodyPr/>
          <a:lstStyle/>
          <a:p>
            <a:endParaRPr lang="ko-KR" altLang="en-US"/>
          </a:p>
        </p:txBody>
      </p:sp>
      <p:sp>
        <p:nvSpPr>
          <p:cNvPr id="47" name="Shape 45"/>
          <p:cNvSpPr/>
          <p:nvPr/>
        </p:nvSpPr>
        <p:spPr>
          <a:xfrm>
            <a:off x="7752792" y="2090165"/>
            <a:ext cx="9525" cy="622705"/>
          </a:xfrm>
          <a:prstGeom prst="rect">
            <a:avLst/>
          </a:prstGeom>
          <a:solidFill>
            <a:srgbClr val="EADFD3"/>
          </a:solidFill>
          <a:ln/>
        </p:spPr>
        <p:txBody>
          <a:bodyPr/>
          <a:lstStyle/>
          <a:p>
            <a:endParaRPr lang="ko-KR" altLang="en-US"/>
          </a:p>
        </p:txBody>
      </p:sp>
      <p:sp>
        <p:nvSpPr>
          <p:cNvPr id="48" name="Text 46"/>
          <p:cNvSpPr/>
          <p:nvPr/>
        </p:nvSpPr>
        <p:spPr>
          <a:xfrm>
            <a:off x="7777059" y="2133482"/>
            <a:ext cx="2361828"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15세 ~ 80세</a:t>
            </a:r>
            <a:endParaRPr lang="en-US" sz="1163" dirty="0"/>
          </a:p>
        </p:txBody>
      </p:sp>
      <p:sp>
        <p:nvSpPr>
          <p:cNvPr id="49" name="Shape 47"/>
          <p:cNvSpPr/>
          <p:nvPr/>
        </p:nvSpPr>
        <p:spPr>
          <a:xfrm>
            <a:off x="538580" y="2712870"/>
            <a:ext cx="2404738" cy="365113"/>
          </a:xfrm>
          <a:prstGeom prst="rect">
            <a:avLst/>
          </a:prstGeom>
          <a:solidFill>
            <a:srgbClr val="F5F7EC"/>
          </a:solidFill>
          <a:ln/>
        </p:spPr>
        <p:txBody>
          <a:bodyPr/>
          <a:lstStyle/>
          <a:p>
            <a:endParaRPr lang="ko-KR" altLang="en-US"/>
          </a:p>
        </p:txBody>
      </p:sp>
      <p:sp>
        <p:nvSpPr>
          <p:cNvPr id="50" name="Shape 48"/>
          <p:cNvSpPr/>
          <p:nvPr/>
        </p:nvSpPr>
        <p:spPr>
          <a:xfrm>
            <a:off x="538580" y="2712870"/>
            <a:ext cx="2404738" cy="9525"/>
          </a:xfrm>
          <a:prstGeom prst="rect">
            <a:avLst/>
          </a:prstGeom>
          <a:solidFill>
            <a:srgbClr val="EADFD3"/>
          </a:solidFill>
          <a:ln/>
        </p:spPr>
        <p:txBody>
          <a:bodyPr/>
          <a:lstStyle/>
          <a:p>
            <a:endParaRPr lang="ko-KR" altLang="en-US"/>
          </a:p>
        </p:txBody>
      </p:sp>
      <p:sp>
        <p:nvSpPr>
          <p:cNvPr id="51" name="Text 49"/>
          <p:cNvSpPr/>
          <p:nvPr/>
        </p:nvSpPr>
        <p:spPr>
          <a:xfrm>
            <a:off x="557630" y="2756187"/>
            <a:ext cx="2366638"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납입기간</a:t>
            </a:r>
            <a:endParaRPr lang="en-US" sz="1163" dirty="0"/>
          </a:p>
        </p:txBody>
      </p:sp>
      <p:sp>
        <p:nvSpPr>
          <p:cNvPr id="52" name="Shape 50"/>
          <p:cNvSpPr/>
          <p:nvPr/>
        </p:nvSpPr>
        <p:spPr>
          <a:xfrm>
            <a:off x="2943317" y="2712870"/>
            <a:ext cx="2404738" cy="365113"/>
          </a:xfrm>
          <a:prstGeom prst="rect">
            <a:avLst/>
          </a:prstGeom>
          <a:solidFill>
            <a:srgbClr val="FFFFFF"/>
          </a:solidFill>
          <a:ln/>
        </p:spPr>
        <p:txBody>
          <a:bodyPr/>
          <a:lstStyle/>
          <a:p>
            <a:endParaRPr lang="ko-KR" altLang="en-US"/>
          </a:p>
        </p:txBody>
      </p:sp>
      <p:sp>
        <p:nvSpPr>
          <p:cNvPr id="53" name="Shape 51"/>
          <p:cNvSpPr/>
          <p:nvPr/>
        </p:nvSpPr>
        <p:spPr>
          <a:xfrm>
            <a:off x="2943317" y="2712870"/>
            <a:ext cx="2404738" cy="9525"/>
          </a:xfrm>
          <a:prstGeom prst="rect">
            <a:avLst/>
          </a:prstGeom>
          <a:solidFill>
            <a:srgbClr val="EADFD3"/>
          </a:solidFill>
          <a:ln/>
        </p:spPr>
        <p:txBody>
          <a:bodyPr/>
          <a:lstStyle/>
          <a:p>
            <a:endParaRPr lang="ko-KR" altLang="en-US"/>
          </a:p>
        </p:txBody>
      </p:sp>
      <p:sp>
        <p:nvSpPr>
          <p:cNvPr id="54" name="Shape 52"/>
          <p:cNvSpPr/>
          <p:nvPr/>
        </p:nvSpPr>
        <p:spPr>
          <a:xfrm>
            <a:off x="2943317" y="2712870"/>
            <a:ext cx="9525" cy="365113"/>
          </a:xfrm>
          <a:prstGeom prst="rect">
            <a:avLst/>
          </a:prstGeom>
          <a:solidFill>
            <a:srgbClr val="EADFD3"/>
          </a:solidFill>
          <a:ln/>
        </p:spPr>
        <p:txBody>
          <a:bodyPr/>
          <a:lstStyle/>
          <a:p>
            <a:endParaRPr lang="ko-KR" altLang="en-US"/>
          </a:p>
        </p:txBody>
      </p:sp>
      <p:sp>
        <p:nvSpPr>
          <p:cNvPr id="55" name="Text 53"/>
          <p:cNvSpPr/>
          <p:nvPr/>
        </p:nvSpPr>
        <p:spPr>
          <a:xfrm>
            <a:off x="2967584" y="2756187"/>
            <a:ext cx="2361420"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10·20·30년납</a:t>
            </a:r>
            <a:endParaRPr lang="en-US" sz="1163" dirty="0"/>
          </a:p>
        </p:txBody>
      </p:sp>
      <p:sp>
        <p:nvSpPr>
          <p:cNvPr id="56" name="Shape 54"/>
          <p:cNvSpPr/>
          <p:nvPr/>
        </p:nvSpPr>
        <p:spPr>
          <a:xfrm>
            <a:off x="5348054" y="2712870"/>
            <a:ext cx="2404738" cy="365113"/>
          </a:xfrm>
          <a:prstGeom prst="rect">
            <a:avLst/>
          </a:prstGeom>
          <a:solidFill>
            <a:srgbClr val="FFFFFF"/>
          </a:solidFill>
          <a:ln/>
        </p:spPr>
        <p:txBody>
          <a:bodyPr/>
          <a:lstStyle/>
          <a:p>
            <a:endParaRPr lang="ko-KR" altLang="en-US"/>
          </a:p>
        </p:txBody>
      </p:sp>
      <p:sp>
        <p:nvSpPr>
          <p:cNvPr id="57" name="Shape 55"/>
          <p:cNvSpPr/>
          <p:nvPr/>
        </p:nvSpPr>
        <p:spPr>
          <a:xfrm>
            <a:off x="5348054" y="2712870"/>
            <a:ext cx="2404738" cy="9525"/>
          </a:xfrm>
          <a:prstGeom prst="rect">
            <a:avLst/>
          </a:prstGeom>
          <a:solidFill>
            <a:srgbClr val="EADFD3"/>
          </a:solidFill>
          <a:ln/>
        </p:spPr>
        <p:txBody>
          <a:bodyPr/>
          <a:lstStyle/>
          <a:p>
            <a:endParaRPr lang="ko-KR" altLang="en-US"/>
          </a:p>
        </p:txBody>
      </p:sp>
      <p:sp>
        <p:nvSpPr>
          <p:cNvPr id="58" name="Shape 56"/>
          <p:cNvSpPr/>
          <p:nvPr/>
        </p:nvSpPr>
        <p:spPr>
          <a:xfrm>
            <a:off x="5348054" y="2712870"/>
            <a:ext cx="9525" cy="365113"/>
          </a:xfrm>
          <a:prstGeom prst="rect">
            <a:avLst/>
          </a:prstGeom>
          <a:solidFill>
            <a:srgbClr val="EADFD3"/>
          </a:solidFill>
          <a:ln/>
        </p:spPr>
        <p:txBody>
          <a:bodyPr/>
          <a:lstStyle/>
          <a:p>
            <a:endParaRPr lang="ko-KR" altLang="en-US"/>
          </a:p>
        </p:txBody>
      </p:sp>
      <p:sp>
        <p:nvSpPr>
          <p:cNvPr id="59" name="Text 57"/>
          <p:cNvSpPr/>
          <p:nvPr/>
        </p:nvSpPr>
        <p:spPr>
          <a:xfrm>
            <a:off x="5372321" y="2756187"/>
            <a:ext cx="2361420"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10·15·20·30년납</a:t>
            </a:r>
            <a:endParaRPr lang="en-US" sz="1163" dirty="0"/>
          </a:p>
        </p:txBody>
      </p:sp>
      <p:sp>
        <p:nvSpPr>
          <p:cNvPr id="60" name="Shape 58"/>
          <p:cNvSpPr/>
          <p:nvPr/>
        </p:nvSpPr>
        <p:spPr>
          <a:xfrm>
            <a:off x="7752792" y="2712870"/>
            <a:ext cx="2405145" cy="365113"/>
          </a:xfrm>
          <a:prstGeom prst="rect">
            <a:avLst/>
          </a:prstGeom>
          <a:solidFill>
            <a:srgbClr val="FFFFFF"/>
          </a:solidFill>
          <a:ln/>
        </p:spPr>
        <p:txBody>
          <a:bodyPr/>
          <a:lstStyle/>
          <a:p>
            <a:endParaRPr lang="ko-KR" altLang="en-US"/>
          </a:p>
        </p:txBody>
      </p:sp>
      <p:sp>
        <p:nvSpPr>
          <p:cNvPr id="61" name="Shape 59"/>
          <p:cNvSpPr/>
          <p:nvPr/>
        </p:nvSpPr>
        <p:spPr>
          <a:xfrm>
            <a:off x="7752792" y="2712870"/>
            <a:ext cx="2405145" cy="9525"/>
          </a:xfrm>
          <a:prstGeom prst="rect">
            <a:avLst/>
          </a:prstGeom>
          <a:solidFill>
            <a:srgbClr val="EADFD3"/>
          </a:solidFill>
          <a:ln/>
        </p:spPr>
        <p:txBody>
          <a:bodyPr/>
          <a:lstStyle/>
          <a:p>
            <a:endParaRPr lang="ko-KR" altLang="en-US"/>
          </a:p>
        </p:txBody>
      </p:sp>
      <p:sp>
        <p:nvSpPr>
          <p:cNvPr id="62" name="Shape 60"/>
          <p:cNvSpPr/>
          <p:nvPr/>
        </p:nvSpPr>
        <p:spPr>
          <a:xfrm>
            <a:off x="7752792" y="2712870"/>
            <a:ext cx="9525" cy="365113"/>
          </a:xfrm>
          <a:prstGeom prst="rect">
            <a:avLst/>
          </a:prstGeom>
          <a:solidFill>
            <a:srgbClr val="EADFD3"/>
          </a:solidFill>
          <a:ln/>
        </p:spPr>
        <p:txBody>
          <a:bodyPr/>
          <a:lstStyle/>
          <a:p>
            <a:endParaRPr lang="ko-KR" altLang="en-US"/>
          </a:p>
        </p:txBody>
      </p:sp>
      <p:sp>
        <p:nvSpPr>
          <p:cNvPr id="63" name="Text 61"/>
          <p:cNvSpPr/>
          <p:nvPr/>
        </p:nvSpPr>
        <p:spPr>
          <a:xfrm>
            <a:off x="7777059" y="2756187"/>
            <a:ext cx="2361828"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10·20·25·30년납</a:t>
            </a:r>
            <a:endParaRPr lang="en-US" sz="1163" dirty="0"/>
          </a:p>
        </p:txBody>
      </p:sp>
      <p:sp>
        <p:nvSpPr>
          <p:cNvPr id="64" name="Shape 62"/>
          <p:cNvSpPr/>
          <p:nvPr/>
        </p:nvSpPr>
        <p:spPr>
          <a:xfrm>
            <a:off x="538580" y="3077982"/>
            <a:ext cx="2404738" cy="365113"/>
          </a:xfrm>
          <a:prstGeom prst="rect">
            <a:avLst/>
          </a:prstGeom>
          <a:solidFill>
            <a:srgbClr val="F5F7EC"/>
          </a:solidFill>
          <a:ln/>
        </p:spPr>
        <p:txBody>
          <a:bodyPr/>
          <a:lstStyle/>
          <a:p>
            <a:endParaRPr lang="ko-KR" altLang="en-US"/>
          </a:p>
        </p:txBody>
      </p:sp>
      <p:sp>
        <p:nvSpPr>
          <p:cNvPr id="65" name="Shape 63"/>
          <p:cNvSpPr/>
          <p:nvPr/>
        </p:nvSpPr>
        <p:spPr>
          <a:xfrm>
            <a:off x="538580" y="3077982"/>
            <a:ext cx="2404738" cy="9525"/>
          </a:xfrm>
          <a:prstGeom prst="rect">
            <a:avLst/>
          </a:prstGeom>
          <a:solidFill>
            <a:srgbClr val="EADFD3"/>
          </a:solidFill>
          <a:ln/>
        </p:spPr>
        <p:txBody>
          <a:bodyPr/>
          <a:lstStyle/>
          <a:p>
            <a:endParaRPr lang="ko-KR" altLang="en-US"/>
          </a:p>
        </p:txBody>
      </p:sp>
      <p:sp>
        <p:nvSpPr>
          <p:cNvPr id="66" name="Text 64"/>
          <p:cNvSpPr/>
          <p:nvPr/>
        </p:nvSpPr>
        <p:spPr>
          <a:xfrm>
            <a:off x="557630" y="3121300"/>
            <a:ext cx="2366638"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구분</a:t>
            </a:r>
            <a:endParaRPr lang="en-US" sz="1163" dirty="0"/>
          </a:p>
        </p:txBody>
      </p:sp>
      <p:sp>
        <p:nvSpPr>
          <p:cNvPr id="67" name="Shape 65"/>
          <p:cNvSpPr/>
          <p:nvPr/>
        </p:nvSpPr>
        <p:spPr>
          <a:xfrm>
            <a:off x="2943317" y="3077982"/>
            <a:ext cx="1202369" cy="365113"/>
          </a:xfrm>
          <a:prstGeom prst="rect">
            <a:avLst/>
          </a:prstGeom>
          <a:solidFill>
            <a:srgbClr val="FFFFFF"/>
          </a:solidFill>
          <a:ln/>
        </p:spPr>
        <p:txBody>
          <a:bodyPr/>
          <a:lstStyle/>
          <a:p>
            <a:endParaRPr lang="ko-KR" altLang="en-US"/>
          </a:p>
        </p:txBody>
      </p:sp>
      <p:sp>
        <p:nvSpPr>
          <p:cNvPr id="68" name="Shape 66"/>
          <p:cNvSpPr/>
          <p:nvPr/>
        </p:nvSpPr>
        <p:spPr>
          <a:xfrm>
            <a:off x="2943317" y="3077982"/>
            <a:ext cx="1202369" cy="9525"/>
          </a:xfrm>
          <a:prstGeom prst="rect">
            <a:avLst/>
          </a:prstGeom>
          <a:solidFill>
            <a:srgbClr val="EADFD3"/>
          </a:solidFill>
          <a:ln/>
        </p:spPr>
        <p:txBody>
          <a:bodyPr/>
          <a:lstStyle/>
          <a:p>
            <a:endParaRPr lang="ko-KR" altLang="en-US"/>
          </a:p>
        </p:txBody>
      </p:sp>
      <p:sp>
        <p:nvSpPr>
          <p:cNvPr id="69" name="Shape 67"/>
          <p:cNvSpPr/>
          <p:nvPr/>
        </p:nvSpPr>
        <p:spPr>
          <a:xfrm>
            <a:off x="2943317" y="3077982"/>
            <a:ext cx="9525" cy="365113"/>
          </a:xfrm>
          <a:prstGeom prst="rect">
            <a:avLst/>
          </a:prstGeom>
          <a:solidFill>
            <a:srgbClr val="EADFD3"/>
          </a:solidFill>
          <a:ln/>
        </p:spPr>
        <p:txBody>
          <a:bodyPr/>
          <a:lstStyle/>
          <a:p>
            <a:endParaRPr lang="ko-KR" altLang="en-US"/>
          </a:p>
        </p:txBody>
      </p:sp>
      <p:sp>
        <p:nvSpPr>
          <p:cNvPr id="70" name="Text 68"/>
          <p:cNvSpPr/>
          <p:nvPr/>
        </p:nvSpPr>
        <p:spPr>
          <a:xfrm>
            <a:off x="2967584" y="3121300"/>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1" name="Shape 69"/>
          <p:cNvSpPr/>
          <p:nvPr/>
        </p:nvSpPr>
        <p:spPr>
          <a:xfrm>
            <a:off x="4145686" y="3077982"/>
            <a:ext cx="1202369" cy="365113"/>
          </a:xfrm>
          <a:prstGeom prst="rect">
            <a:avLst/>
          </a:prstGeom>
          <a:solidFill>
            <a:srgbClr val="FFFFFF"/>
          </a:solidFill>
          <a:ln/>
        </p:spPr>
        <p:txBody>
          <a:bodyPr/>
          <a:lstStyle/>
          <a:p>
            <a:endParaRPr lang="ko-KR" altLang="en-US"/>
          </a:p>
        </p:txBody>
      </p:sp>
      <p:sp>
        <p:nvSpPr>
          <p:cNvPr id="72" name="Shape 70"/>
          <p:cNvSpPr/>
          <p:nvPr/>
        </p:nvSpPr>
        <p:spPr>
          <a:xfrm>
            <a:off x="4145686" y="3077982"/>
            <a:ext cx="1202369" cy="9525"/>
          </a:xfrm>
          <a:prstGeom prst="rect">
            <a:avLst/>
          </a:prstGeom>
          <a:solidFill>
            <a:srgbClr val="EADFD3"/>
          </a:solidFill>
          <a:ln/>
        </p:spPr>
        <p:txBody>
          <a:bodyPr/>
          <a:lstStyle/>
          <a:p>
            <a:endParaRPr lang="ko-KR" altLang="en-US"/>
          </a:p>
        </p:txBody>
      </p:sp>
      <p:sp>
        <p:nvSpPr>
          <p:cNvPr id="73" name="Shape 71"/>
          <p:cNvSpPr/>
          <p:nvPr/>
        </p:nvSpPr>
        <p:spPr>
          <a:xfrm>
            <a:off x="4145686" y="3077982"/>
            <a:ext cx="9525" cy="365113"/>
          </a:xfrm>
          <a:prstGeom prst="rect">
            <a:avLst/>
          </a:prstGeom>
          <a:solidFill>
            <a:srgbClr val="EADFD3"/>
          </a:solidFill>
          <a:ln/>
        </p:spPr>
        <p:txBody>
          <a:bodyPr/>
          <a:lstStyle/>
          <a:p>
            <a:endParaRPr lang="ko-KR" altLang="en-US"/>
          </a:p>
        </p:txBody>
      </p:sp>
      <p:sp>
        <p:nvSpPr>
          <p:cNvPr id="74" name="Text 72"/>
          <p:cNvSpPr/>
          <p:nvPr/>
        </p:nvSpPr>
        <p:spPr>
          <a:xfrm>
            <a:off x="4169953" y="3121300"/>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75" name="Shape 73"/>
          <p:cNvSpPr/>
          <p:nvPr/>
        </p:nvSpPr>
        <p:spPr>
          <a:xfrm>
            <a:off x="5348054" y="3077982"/>
            <a:ext cx="1202369" cy="365113"/>
          </a:xfrm>
          <a:prstGeom prst="rect">
            <a:avLst/>
          </a:prstGeom>
          <a:solidFill>
            <a:srgbClr val="FFFFFF"/>
          </a:solidFill>
          <a:ln/>
        </p:spPr>
        <p:txBody>
          <a:bodyPr/>
          <a:lstStyle/>
          <a:p>
            <a:endParaRPr lang="ko-KR" altLang="en-US"/>
          </a:p>
        </p:txBody>
      </p:sp>
      <p:sp>
        <p:nvSpPr>
          <p:cNvPr id="76" name="Shape 74"/>
          <p:cNvSpPr/>
          <p:nvPr/>
        </p:nvSpPr>
        <p:spPr>
          <a:xfrm>
            <a:off x="5348054" y="3077982"/>
            <a:ext cx="1202369" cy="9525"/>
          </a:xfrm>
          <a:prstGeom prst="rect">
            <a:avLst/>
          </a:prstGeom>
          <a:solidFill>
            <a:srgbClr val="EADFD3"/>
          </a:solidFill>
          <a:ln/>
        </p:spPr>
        <p:txBody>
          <a:bodyPr/>
          <a:lstStyle/>
          <a:p>
            <a:endParaRPr lang="ko-KR" altLang="en-US"/>
          </a:p>
        </p:txBody>
      </p:sp>
      <p:sp>
        <p:nvSpPr>
          <p:cNvPr id="77" name="Shape 75"/>
          <p:cNvSpPr/>
          <p:nvPr/>
        </p:nvSpPr>
        <p:spPr>
          <a:xfrm>
            <a:off x="5348054" y="3077982"/>
            <a:ext cx="9525" cy="365113"/>
          </a:xfrm>
          <a:prstGeom prst="rect">
            <a:avLst/>
          </a:prstGeom>
          <a:solidFill>
            <a:srgbClr val="EADFD3"/>
          </a:solidFill>
          <a:ln/>
        </p:spPr>
        <p:txBody>
          <a:bodyPr/>
          <a:lstStyle/>
          <a:p>
            <a:endParaRPr lang="ko-KR" altLang="en-US"/>
          </a:p>
        </p:txBody>
      </p:sp>
      <p:sp>
        <p:nvSpPr>
          <p:cNvPr id="78" name="Text 76"/>
          <p:cNvSpPr/>
          <p:nvPr/>
        </p:nvSpPr>
        <p:spPr>
          <a:xfrm>
            <a:off x="5372321" y="3121300"/>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9" name="Shape 77"/>
          <p:cNvSpPr/>
          <p:nvPr/>
        </p:nvSpPr>
        <p:spPr>
          <a:xfrm>
            <a:off x="6550423" y="3077982"/>
            <a:ext cx="1202369" cy="365113"/>
          </a:xfrm>
          <a:prstGeom prst="rect">
            <a:avLst/>
          </a:prstGeom>
          <a:solidFill>
            <a:srgbClr val="FFFFFF"/>
          </a:solidFill>
          <a:ln/>
        </p:spPr>
        <p:txBody>
          <a:bodyPr/>
          <a:lstStyle/>
          <a:p>
            <a:endParaRPr lang="ko-KR" altLang="en-US"/>
          </a:p>
        </p:txBody>
      </p:sp>
      <p:sp>
        <p:nvSpPr>
          <p:cNvPr id="80" name="Shape 78"/>
          <p:cNvSpPr/>
          <p:nvPr/>
        </p:nvSpPr>
        <p:spPr>
          <a:xfrm>
            <a:off x="6550423" y="3077982"/>
            <a:ext cx="1202369" cy="9525"/>
          </a:xfrm>
          <a:prstGeom prst="rect">
            <a:avLst/>
          </a:prstGeom>
          <a:solidFill>
            <a:srgbClr val="EADFD3"/>
          </a:solidFill>
          <a:ln/>
        </p:spPr>
        <p:txBody>
          <a:bodyPr/>
          <a:lstStyle/>
          <a:p>
            <a:endParaRPr lang="ko-KR" altLang="en-US"/>
          </a:p>
        </p:txBody>
      </p:sp>
      <p:sp>
        <p:nvSpPr>
          <p:cNvPr id="81" name="Shape 79"/>
          <p:cNvSpPr/>
          <p:nvPr/>
        </p:nvSpPr>
        <p:spPr>
          <a:xfrm>
            <a:off x="6550423" y="3077982"/>
            <a:ext cx="9525" cy="365113"/>
          </a:xfrm>
          <a:prstGeom prst="rect">
            <a:avLst/>
          </a:prstGeom>
          <a:solidFill>
            <a:srgbClr val="EADFD3"/>
          </a:solidFill>
          <a:ln/>
        </p:spPr>
        <p:txBody>
          <a:bodyPr/>
          <a:lstStyle/>
          <a:p>
            <a:endParaRPr lang="ko-KR" altLang="en-US"/>
          </a:p>
        </p:txBody>
      </p:sp>
      <p:sp>
        <p:nvSpPr>
          <p:cNvPr id="82" name="Text 80"/>
          <p:cNvSpPr/>
          <p:nvPr/>
        </p:nvSpPr>
        <p:spPr>
          <a:xfrm>
            <a:off x="6574690" y="3121300"/>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83" name="Shape 81"/>
          <p:cNvSpPr/>
          <p:nvPr/>
        </p:nvSpPr>
        <p:spPr>
          <a:xfrm>
            <a:off x="7752792" y="3077982"/>
            <a:ext cx="1202369" cy="365113"/>
          </a:xfrm>
          <a:prstGeom prst="rect">
            <a:avLst/>
          </a:prstGeom>
          <a:solidFill>
            <a:srgbClr val="FFFFFF"/>
          </a:solidFill>
          <a:ln/>
        </p:spPr>
        <p:txBody>
          <a:bodyPr/>
          <a:lstStyle/>
          <a:p>
            <a:endParaRPr lang="ko-KR" altLang="en-US"/>
          </a:p>
        </p:txBody>
      </p:sp>
      <p:sp>
        <p:nvSpPr>
          <p:cNvPr id="84" name="Shape 82"/>
          <p:cNvSpPr/>
          <p:nvPr/>
        </p:nvSpPr>
        <p:spPr>
          <a:xfrm>
            <a:off x="7752792" y="3077982"/>
            <a:ext cx="1202369" cy="9525"/>
          </a:xfrm>
          <a:prstGeom prst="rect">
            <a:avLst/>
          </a:prstGeom>
          <a:solidFill>
            <a:srgbClr val="EADFD3"/>
          </a:solidFill>
          <a:ln/>
        </p:spPr>
        <p:txBody>
          <a:bodyPr/>
          <a:lstStyle/>
          <a:p>
            <a:endParaRPr lang="ko-KR" altLang="en-US"/>
          </a:p>
        </p:txBody>
      </p:sp>
      <p:sp>
        <p:nvSpPr>
          <p:cNvPr id="85" name="Shape 83"/>
          <p:cNvSpPr/>
          <p:nvPr/>
        </p:nvSpPr>
        <p:spPr>
          <a:xfrm>
            <a:off x="7752792" y="3077982"/>
            <a:ext cx="9525" cy="365113"/>
          </a:xfrm>
          <a:prstGeom prst="rect">
            <a:avLst/>
          </a:prstGeom>
          <a:solidFill>
            <a:srgbClr val="EADFD3"/>
          </a:solidFill>
          <a:ln/>
        </p:spPr>
        <p:txBody>
          <a:bodyPr/>
          <a:lstStyle/>
          <a:p>
            <a:endParaRPr lang="ko-KR" altLang="en-US"/>
          </a:p>
        </p:txBody>
      </p:sp>
      <p:sp>
        <p:nvSpPr>
          <p:cNvPr id="86" name="Text 84"/>
          <p:cNvSpPr/>
          <p:nvPr/>
        </p:nvSpPr>
        <p:spPr>
          <a:xfrm>
            <a:off x="7777059" y="3121300"/>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87" name="Shape 85"/>
          <p:cNvSpPr/>
          <p:nvPr/>
        </p:nvSpPr>
        <p:spPr>
          <a:xfrm>
            <a:off x="8955161" y="3077982"/>
            <a:ext cx="1202776" cy="365113"/>
          </a:xfrm>
          <a:prstGeom prst="rect">
            <a:avLst/>
          </a:prstGeom>
          <a:solidFill>
            <a:srgbClr val="FFFFFF"/>
          </a:solidFill>
          <a:ln/>
        </p:spPr>
        <p:txBody>
          <a:bodyPr/>
          <a:lstStyle/>
          <a:p>
            <a:endParaRPr lang="ko-KR" altLang="en-US"/>
          </a:p>
        </p:txBody>
      </p:sp>
      <p:sp>
        <p:nvSpPr>
          <p:cNvPr id="88" name="Shape 86"/>
          <p:cNvSpPr/>
          <p:nvPr/>
        </p:nvSpPr>
        <p:spPr>
          <a:xfrm>
            <a:off x="8955161" y="3077982"/>
            <a:ext cx="1202776" cy="9525"/>
          </a:xfrm>
          <a:prstGeom prst="rect">
            <a:avLst/>
          </a:prstGeom>
          <a:solidFill>
            <a:srgbClr val="EADFD3"/>
          </a:solidFill>
          <a:ln/>
        </p:spPr>
        <p:txBody>
          <a:bodyPr/>
          <a:lstStyle/>
          <a:p>
            <a:endParaRPr lang="ko-KR" altLang="en-US"/>
          </a:p>
        </p:txBody>
      </p:sp>
      <p:sp>
        <p:nvSpPr>
          <p:cNvPr id="89" name="Shape 87"/>
          <p:cNvSpPr/>
          <p:nvPr/>
        </p:nvSpPr>
        <p:spPr>
          <a:xfrm>
            <a:off x="8955161" y="3077982"/>
            <a:ext cx="9525" cy="365113"/>
          </a:xfrm>
          <a:prstGeom prst="rect">
            <a:avLst/>
          </a:prstGeom>
          <a:solidFill>
            <a:srgbClr val="EADFD3"/>
          </a:solidFill>
          <a:ln/>
        </p:spPr>
        <p:txBody>
          <a:bodyPr/>
          <a:lstStyle/>
          <a:p>
            <a:endParaRPr lang="ko-KR" altLang="en-US"/>
          </a:p>
        </p:txBody>
      </p:sp>
      <p:sp>
        <p:nvSpPr>
          <p:cNvPr id="90" name="Text 88"/>
          <p:cNvSpPr/>
          <p:nvPr/>
        </p:nvSpPr>
        <p:spPr>
          <a:xfrm>
            <a:off x="8979428" y="3121300"/>
            <a:ext cx="115945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91" name="Shape 89"/>
          <p:cNvSpPr/>
          <p:nvPr/>
        </p:nvSpPr>
        <p:spPr>
          <a:xfrm>
            <a:off x="538580" y="3443095"/>
            <a:ext cx="1202369" cy="365113"/>
          </a:xfrm>
          <a:prstGeom prst="rect">
            <a:avLst/>
          </a:prstGeom>
          <a:solidFill>
            <a:srgbClr val="F5F7EC"/>
          </a:solidFill>
          <a:ln/>
        </p:spPr>
        <p:txBody>
          <a:bodyPr/>
          <a:lstStyle/>
          <a:p>
            <a:endParaRPr lang="ko-KR" altLang="en-US"/>
          </a:p>
        </p:txBody>
      </p:sp>
      <p:sp>
        <p:nvSpPr>
          <p:cNvPr id="92" name="Shape 90"/>
          <p:cNvSpPr/>
          <p:nvPr/>
        </p:nvSpPr>
        <p:spPr>
          <a:xfrm>
            <a:off x="538580" y="3443095"/>
            <a:ext cx="1202369" cy="9525"/>
          </a:xfrm>
          <a:prstGeom prst="rect">
            <a:avLst/>
          </a:prstGeom>
          <a:solidFill>
            <a:srgbClr val="EADFD3"/>
          </a:solidFill>
          <a:ln/>
        </p:spPr>
        <p:txBody>
          <a:bodyPr/>
          <a:lstStyle/>
          <a:p>
            <a:endParaRPr lang="ko-KR" altLang="en-US"/>
          </a:p>
        </p:txBody>
      </p:sp>
      <p:sp>
        <p:nvSpPr>
          <p:cNvPr id="93" name="Text 91"/>
          <p:cNvSpPr/>
          <p:nvPr/>
        </p:nvSpPr>
        <p:spPr>
          <a:xfrm>
            <a:off x="557630" y="3486412"/>
            <a:ext cx="116426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일반암진단</a:t>
            </a:r>
            <a:endParaRPr lang="en-US" sz="1163" dirty="0"/>
          </a:p>
        </p:txBody>
      </p:sp>
      <p:sp>
        <p:nvSpPr>
          <p:cNvPr id="94" name="Shape 92"/>
          <p:cNvSpPr/>
          <p:nvPr/>
        </p:nvSpPr>
        <p:spPr>
          <a:xfrm>
            <a:off x="1740948" y="3443095"/>
            <a:ext cx="1202369" cy="365113"/>
          </a:xfrm>
          <a:prstGeom prst="rect">
            <a:avLst/>
          </a:prstGeom>
          <a:solidFill>
            <a:srgbClr val="F5F7EC"/>
          </a:solidFill>
          <a:ln/>
        </p:spPr>
        <p:txBody>
          <a:bodyPr/>
          <a:lstStyle/>
          <a:p>
            <a:endParaRPr lang="ko-KR" altLang="en-US"/>
          </a:p>
        </p:txBody>
      </p:sp>
      <p:sp>
        <p:nvSpPr>
          <p:cNvPr id="95" name="Shape 93"/>
          <p:cNvSpPr/>
          <p:nvPr/>
        </p:nvSpPr>
        <p:spPr>
          <a:xfrm>
            <a:off x="1740948" y="3443095"/>
            <a:ext cx="1202369" cy="9525"/>
          </a:xfrm>
          <a:prstGeom prst="rect">
            <a:avLst/>
          </a:prstGeom>
          <a:solidFill>
            <a:srgbClr val="EADFD3"/>
          </a:solidFill>
          <a:ln/>
        </p:spPr>
        <p:txBody>
          <a:bodyPr/>
          <a:lstStyle/>
          <a:p>
            <a:endParaRPr lang="ko-KR" altLang="en-US"/>
          </a:p>
        </p:txBody>
      </p:sp>
      <p:sp>
        <p:nvSpPr>
          <p:cNvPr id="96" name="Shape 94"/>
          <p:cNvSpPr/>
          <p:nvPr/>
        </p:nvSpPr>
        <p:spPr>
          <a:xfrm>
            <a:off x="1740948" y="3443095"/>
            <a:ext cx="9525" cy="365113"/>
          </a:xfrm>
          <a:prstGeom prst="rect">
            <a:avLst/>
          </a:prstGeom>
          <a:solidFill>
            <a:srgbClr val="EADFD3"/>
          </a:solidFill>
          <a:ln/>
        </p:spPr>
        <p:txBody>
          <a:bodyPr/>
          <a:lstStyle/>
          <a:p>
            <a:endParaRPr lang="ko-KR" altLang="en-US"/>
          </a:p>
        </p:txBody>
      </p:sp>
      <p:sp>
        <p:nvSpPr>
          <p:cNvPr id="97" name="Text 95"/>
          <p:cNvSpPr/>
          <p:nvPr/>
        </p:nvSpPr>
        <p:spPr>
          <a:xfrm>
            <a:off x="1765215"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98" name="Shape 96"/>
          <p:cNvSpPr/>
          <p:nvPr/>
        </p:nvSpPr>
        <p:spPr>
          <a:xfrm>
            <a:off x="2943317" y="3443095"/>
            <a:ext cx="1202369" cy="365113"/>
          </a:xfrm>
          <a:prstGeom prst="rect">
            <a:avLst/>
          </a:prstGeom>
          <a:solidFill>
            <a:srgbClr val="FFFFFF"/>
          </a:solidFill>
          <a:ln/>
        </p:spPr>
        <p:txBody>
          <a:bodyPr/>
          <a:lstStyle/>
          <a:p>
            <a:endParaRPr lang="ko-KR" altLang="en-US"/>
          </a:p>
        </p:txBody>
      </p:sp>
      <p:sp>
        <p:nvSpPr>
          <p:cNvPr id="99" name="Shape 97"/>
          <p:cNvSpPr/>
          <p:nvPr/>
        </p:nvSpPr>
        <p:spPr>
          <a:xfrm>
            <a:off x="2943317" y="3443095"/>
            <a:ext cx="1202369" cy="9525"/>
          </a:xfrm>
          <a:prstGeom prst="rect">
            <a:avLst/>
          </a:prstGeom>
          <a:solidFill>
            <a:srgbClr val="EADFD3"/>
          </a:solidFill>
          <a:ln/>
        </p:spPr>
        <p:txBody>
          <a:bodyPr/>
          <a:lstStyle/>
          <a:p>
            <a:endParaRPr lang="ko-KR" altLang="en-US"/>
          </a:p>
        </p:txBody>
      </p:sp>
      <p:sp>
        <p:nvSpPr>
          <p:cNvPr id="100" name="Shape 98"/>
          <p:cNvSpPr/>
          <p:nvPr/>
        </p:nvSpPr>
        <p:spPr>
          <a:xfrm>
            <a:off x="2943317" y="3443095"/>
            <a:ext cx="9525" cy="365113"/>
          </a:xfrm>
          <a:prstGeom prst="rect">
            <a:avLst/>
          </a:prstGeom>
          <a:solidFill>
            <a:srgbClr val="EADFD3"/>
          </a:solidFill>
          <a:ln/>
        </p:spPr>
        <p:txBody>
          <a:bodyPr/>
          <a:lstStyle/>
          <a:p>
            <a:endParaRPr lang="ko-KR" altLang="en-US"/>
          </a:p>
        </p:txBody>
      </p:sp>
      <p:sp>
        <p:nvSpPr>
          <p:cNvPr id="101" name="Text 99"/>
          <p:cNvSpPr/>
          <p:nvPr/>
        </p:nvSpPr>
        <p:spPr>
          <a:xfrm>
            <a:off x="2967584"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14,040</a:t>
            </a:r>
            <a:endParaRPr lang="en-US" sz="1163" dirty="0"/>
          </a:p>
        </p:txBody>
      </p:sp>
      <p:sp>
        <p:nvSpPr>
          <p:cNvPr id="102" name="Shape 100"/>
          <p:cNvSpPr/>
          <p:nvPr/>
        </p:nvSpPr>
        <p:spPr>
          <a:xfrm>
            <a:off x="4145686" y="3443095"/>
            <a:ext cx="1202369" cy="365113"/>
          </a:xfrm>
          <a:prstGeom prst="rect">
            <a:avLst/>
          </a:prstGeom>
          <a:solidFill>
            <a:srgbClr val="FFFFFF"/>
          </a:solidFill>
          <a:ln/>
        </p:spPr>
        <p:txBody>
          <a:bodyPr/>
          <a:lstStyle/>
          <a:p>
            <a:endParaRPr lang="ko-KR" altLang="en-US"/>
          </a:p>
        </p:txBody>
      </p:sp>
      <p:sp>
        <p:nvSpPr>
          <p:cNvPr id="103" name="Shape 101"/>
          <p:cNvSpPr/>
          <p:nvPr/>
        </p:nvSpPr>
        <p:spPr>
          <a:xfrm>
            <a:off x="4145686" y="3443095"/>
            <a:ext cx="1202369" cy="9525"/>
          </a:xfrm>
          <a:prstGeom prst="rect">
            <a:avLst/>
          </a:prstGeom>
          <a:solidFill>
            <a:srgbClr val="EADFD3"/>
          </a:solidFill>
          <a:ln/>
        </p:spPr>
        <p:txBody>
          <a:bodyPr/>
          <a:lstStyle/>
          <a:p>
            <a:endParaRPr lang="ko-KR" altLang="en-US"/>
          </a:p>
        </p:txBody>
      </p:sp>
      <p:sp>
        <p:nvSpPr>
          <p:cNvPr id="104" name="Shape 102"/>
          <p:cNvSpPr/>
          <p:nvPr/>
        </p:nvSpPr>
        <p:spPr>
          <a:xfrm>
            <a:off x="4145686" y="3443095"/>
            <a:ext cx="9525" cy="365113"/>
          </a:xfrm>
          <a:prstGeom prst="rect">
            <a:avLst/>
          </a:prstGeom>
          <a:solidFill>
            <a:srgbClr val="EADFD3"/>
          </a:solidFill>
          <a:ln/>
        </p:spPr>
        <p:txBody>
          <a:bodyPr/>
          <a:lstStyle/>
          <a:p>
            <a:endParaRPr lang="ko-KR" altLang="en-US"/>
          </a:p>
        </p:txBody>
      </p:sp>
      <p:sp>
        <p:nvSpPr>
          <p:cNvPr id="105" name="Text 103"/>
          <p:cNvSpPr/>
          <p:nvPr/>
        </p:nvSpPr>
        <p:spPr>
          <a:xfrm>
            <a:off x="4169953"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11,190</a:t>
            </a:r>
            <a:endParaRPr lang="en-US" sz="1163" dirty="0"/>
          </a:p>
        </p:txBody>
      </p:sp>
      <p:sp>
        <p:nvSpPr>
          <p:cNvPr id="106" name="Shape 104"/>
          <p:cNvSpPr/>
          <p:nvPr/>
        </p:nvSpPr>
        <p:spPr>
          <a:xfrm>
            <a:off x="5348054" y="3443095"/>
            <a:ext cx="1202369" cy="365113"/>
          </a:xfrm>
          <a:prstGeom prst="rect">
            <a:avLst/>
          </a:prstGeom>
          <a:solidFill>
            <a:srgbClr val="FFFFFF"/>
          </a:solidFill>
          <a:ln/>
        </p:spPr>
        <p:txBody>
          <a:bodyPr/>
          <a:lstStyle/>
          <a:p>
            <a:endParaRPr lang="ko-KR" altLang="en-US"/>
          </a:p>
        </p:txBody>
      </p:sp>
      <p:sp>
        <p:nvSpPr>
          <p:cNvPr id="107" name="Shape 105"/>
          <p:cNvSpPr/>
          <p:nvPr/>
        </p:nvSpPr>
        <p:spPr>
          <a:xfrm>
            <a:off x="5348054" y="3443095"/>
            <a:ext cx="1202369" cy="9525"/>
          </a:xfrm>
          <a:prstGeom prst="rect">
            <a:avLst/>
          </a:prstGeom>
          <a:solidFill>
            <a:srgbClr val="EADFD3"/>
          </a:solidFill>
          <a:ln/>
        </p:spPr>
        <p:txBody>
          <a:bodyPr/>
          <a:lstStyle/>
          <a:p>
            <a:endParaRPr lang="ko-KR" altLang="en-US"/>
          </a:p>
        </p:txBody>
      </p:sp>
      <p:sp>
        <p:nvSpPr>
          <p:cNvPr id="108" name="Shape 106"/>
          <p:cNvSpPr/>
          <p:nvPr/>
        </p:nvSpPr>
        <p:spPr>
          <a:xfrm>
            <a:off x="5348054" y="3443095"/>
            <a:ext cx="9525" cy="365113"/>
          </a:xfrm>
          <a:prstGeom prst="rect">
            <a:avLst/>
          </a:prstGeom>
          <a:solidFill>
            <a:srgbClr val="EADFD3"/>
          </a:solidFill>
          <a:ln/>
        </p:spPr>
        <p:txBody>
          <a:bodyPr/>
          <a:lstStyle/>
          <a:p>
            <a:endParaRPr lang="ko-KR" altLang="en-US"/>
          </a:p>
        </p:txBody>
      </p:sp>
      <p:sp>
        <p:nvSpPr>
          <p:cNvPr id="109" name="Text 107"/>
          <p:cNvSpPr/>
          <p:nvPr/>
        </p:nvSpPr>
        <p:spPr>
          <a:xfrm>
            <a:off x="5372321"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13,760</a:t>
            </a:r>
            <a:endParaRPr lang="en-US" sz="1163" dirty="0"/>
          </a:p>
        </p:txBody>
      </p:sp>
      <p:sp>
        <p:nvSpPr>
          <p:cNvPr id="110" name="Shape 108"/>
          <p:cNvSpPr/>
          <p:nvPr/>
        </p:nvSpPr>
        <p:spPr>
          <a:xfrm>
            <a:off x="6550423" y="3443095"/>
            <a:ext cx="1202369" cy="365113"/>
          </a:xfrm>
          <a:prstGeom prst="rect">
            <a:avLst/>
          </a:prstGeom>
          <a:solidFill>
            <a:srgbClr val="FFFFFF"/>
          </a:solidFill>
          <a:ln/>
        </p:spPr>
        <p:txBody>
          <a:bodyPr/>
          <a:lstStyle/>
          <a:p>
            <a:endParaRPr lang="ko-KR" altLang="en-US"/>
          </a:p>
        </p:txBody>
      </p:sp>
      <p:sp>
        <p:nvSpPr>
          <p:cNvPr id="111" name="Shape 109"/>
          <p:cNvSpPr/>
          <p:nvPr/>
        </p:nvSpPr>
        <p:spPr>
          <a:xfrm>
            <a:off x="6550423" y="3443095"/>
            <a:ext cx="1202369" cy="9525"/>
          </a:xfrm>
          <a:prstGeom prst="rect">
            <a:avLst/>
          </a:prstGeom>
          <a:solidFill>
            <a:srgbClr val="EADFD3"/>
          </a:solidFill>
          <a:ln/>
        </p:spPr>
        <p:txBody>
          <a:bodyPr/>
          <a:lstStyle/>
          <a:p>
            <a:endParaRPr lang="ko-KR" altLang="en-US"/>
          </a:p>
        </p:txBody>
      </p:sp>
      <p:sp>
        <p:nvSpPr>
          <p:cNvPr id="112" name="Shape 110"/>
          <p:cNvSpPr/>
          <p:nvPr/>
        </p:nvSpPr>
        <p:spPr>
          <a:xfrm>
            <a:off x="6550423" y="3443095"/>
            <a:ext cx="9525" cy="365113"/>
          </a:xfrm>
          <a:prstGeom prst="rect">
            <a:avLst/>
          </a:prstGeom>
          <a:solidFill>
            <a:srgbClr val="EADFD3"/>
          </a:solidFill>
          <a:ln/>
        </p:spPr>
        <p:txBody>
          <a:bodyPr/>
          <a:lstStyle/>
          <a:p>
            <a:endParaRPr lang="ko-KR" altLang="en-US"/>
          </a:p>
        </p:txBody>
      </p:sp>
      <p:sp>
        <p:nvSpPr>
          <p:cNvPr id="113" name="Text 111"/>
          <p:cNvSpPr/>
          <p:nvPr/>
        </p:nvSpPr>
        <p:spPr>
          <a:xfrm>
            <a:off x="6574690"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10,680</a:t>
            </a:r>
            <a:endParaRPr lang="en-US" sz="1163" dirty="0"/>
          </a:p>
        </p:txBody>
      </p:sp>
      <p:sp>
        <p:nvSpPr>
          <p:cNvPr id="114" name="Shape 112"/>
          <p:cNvSpPr/>
          <p:nvPr/>
        </p:nvSpPr>
        <p:spPr>
          <a:xfrm>
            <a:off x="7752792" y="3443095"/>
            <a:ext cx="1202369" cy="365113"/>
          </a:xfrm>
          <a:prstGeom prst="rect">
            <a:avLst/>
          </a:prstGeom>
          <a:solidFill>
            <a:srgbClr val="FFFFFF"/>
          </a:solidFill>
          <a:ln/>
        </p:spPr>
        <p:txBody>
          <a:bodyPr/>
          <a:lstStyle/>
          <a:p>
            <a:endParaRPr lang="ko-KR" altLang="en-US"/>
          </a:p>
        </p:txBody>
      </p:sp>
      <p:sp>
        <p:nvSpPr>
          <p:cNvPr id="115" name="Shape 113"/>
          <p:cNvSpPr/>
          <p:nvPr/>
        </p:nvSpPr>
        <p:spPr>
          <a:xfrm>
            <a:off x="7752792" y="3443095"/>
            <a:ext cx="1202369" cy="9525"/>
          </a:xfrm>
          <a:prstGeom prst="rect">
            <a:avLst/>
          </a:prstGeom>
          <a:solidFill>
            <a:srgbClr val="EADFD3"/>
          </a:solidFill>
          <a:ln/>
        </p:spPr>
        <p:txBody>
          <a:bodyPr/>
          <a:lstStyle/>
          <a:p>
            <a:endParaRPr lang="ko-KR" altLang="en-US"/>
          </a:p>
        </p:txBody>
      </p:sp>
      <p:sp>
        <p:nvSpPr>
          <p:cNvPr id="116" name="Shape 114"/>
          <p:cNvSpPr/>
          <p:nvPr/>
        </p:nvSpPr>
        <p:spPr>
          <a:xfrm>
            <a:off x="7752792" y="3443095"/>
            <a:ext cx="9525" cy="365113"/>
          </a:xfrm>
          <a:prstGeom prst="rect">
            <a:avLst/>
          </a:prstGeom>
          <a:solidFill>
            <a:srgbClr val="EADFD3"/>
          </a:solidFill>
          <a:ln/>
        </p:spPr>
        <p:txBody>
          <a:bodyPr/>
          <a:lstStyle/>
          <a:p>
            <a:endParaRPr lang="ko-KR" altLang="en-US"/>
          </a:p>
        </p:txBody>
      </p:sp>
      <p:sp>
        <p:nvSpPr>
          <p:cNvPr id="117" name="Text 115"/>
          <p:cNvSpPr/>
          <p:nvPr/>
        </p:nvSpPr>
        <p:spPr>
          <a:xfrm>
            <a:off x="7777059" y="348641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15,500</a:t>
            </a:r>
            <a:endParaRPr lang="en-US" sz="1163" dirty="0"/>
          </a:p>
        </p:txBody>
      </p:sp>
      <p:sp>
        <p:nvSpPr>
          <p:cNvPr id="118" name="Shape 116"/>
          <p:cNvSpPr/>
          <p:nvPr/>
        </p:nvSpPr>
        <p:spPr>
          <a:xfrm>
            <a:off x="8955161" y="3443095"/>
            <a:ext cx="1202776" cy="365113"/>
          </a:xfrm>
          <a:prstGeom prst="rect">
            <a:avLst/>
          </a:prstGeom>
          <a:solidFill>
            <a:srgbClr val="FFFFFF"/>
          </a:solidFill>
          <a:ln/>
        </p:spPr>
        <p:txBody>
          <a:bodyPr/>
          <a:lstStyle/>
          <a:p>
            <a:endParaRPr lang="ko-KR" altLang="en-US"/>
          </a:p>
        </p:txBody>
      </p:sp>
      <p:sp>
        <p:nvSpPr>
          <p:cNvPr id="119" name="Shape 117"/>
          <p:cNvSpPr/>
          <p:nvPr/>
        </p:nvSpPr>
        <p:spPr>
          <a:xfrm>
            <a:off x="8955161" y="3443095"/>
            <a:ext cx="1202776" cy="9525"/>
          </a:xfrm>
          <a:prstGeom prst="rect">
            <a:avLst/>
          </a:prstGeom>
          <a:solidFill>
            <a:srgbClr val="EADFD3"/>
          </a:solidFill>
          <a:ln/>
        </p:spPr>
        <p:txBody>
          <a:bodyPr/>
          <a:lstStyle/>
          <a:p>
            <a:endParaRPr lang="ko-KR" altLang="en-US"/>
          </a:p>
        </p:txBody>
      </p:sp>
      <p:sp>
        <p:nvSpPr>
          <p:cNvPr id="120" name="Shape 118"/>
          <p:cNvSpPr/>
          <p:nvPr/>
        </p:nvSpPr>
        <p:spPr>
          <a:xfrm>
            <a:off x="8955161" y="3443095"/>
            <a:ext cx="9525" cy="365113"/>
          </a:xfrm>
          <a:prstGeom prst="rect">
            <a:avLst/>
          </a:prstGeom>
          <a:solidFill>
            <a:srgbClr val="EADFD3"/>
          </a:solidFill>
          <a:ln/>
        </p:spPr>
        <p:txBody>
          <a:bodyPr/>
          <a:lstStyle/>
          <a:p>
            <a:endParaRPr lang="ko-KR" altLang="en-US"/>
          </a:p>
        </p:txBody>
      </p:sp>
      <p:sp>
        <p:nvSpPr>
          <p:cNvPr id="121" name="Text 119"/>
          <p:cNvSpPr/>
          <p:nvPr/>
        </p:nvSpPr>
        <p:spPr>
          <a:xfrm>
            <a:off x="8979428" y="3486412"/>
            <a:ext cx="115945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13,000</a:t>
            </a:r>
            <a:endParaRPr lang="en-US" sz="1163" dirty="0"/>
          </a:p>
        </p:txBody>
      </p:sp>
      <p:sp>
        <p:nvSpPr>
          <p:cNvPr id="122" name="Shape 120"/>
          <p:cNvSpPr/>
          <p:nvPr/>
        </p:nvSpPr>
        <p:spPr>
          <a:xfrm>
            <a:off x="538580" y="3808207"/>
            <a:ext cx="1202369" cy="622705"/>
          </a:xfrm>
          <a:prstGeom prst="rect">
            <a:avLst/>
          </a:prstGeom>
          <a:solidFill>
            <a:srgbClr val="F5F7EC"/>
          </a:solidFill>
          <a:ln/>
        </p:spPr>
        <p:txBody>
          <a:bodyPr/>
          <a:lstStyle/>
          <a:p>
            <a:endParaRPr lang="ko-KR" altLang="en-US"/>
          </a:p>
        </p:txBody>
      </p:sp>
      <p:sp>
        <p:nvSpPr>
          <p:cNvPr id="123" name="Shape 121"/>
          <p:cNvSpPr/>
          <p:nvPr/>
        </p:nvSpPr>
        <p:spPr>
          <a:xfrm>
            <a:off x="538580" y="3808207"/>
            <a:ext cx="1202369" cy="9525"/>
          </a:xfrm>
          <a:prstGeom prst="rect">
            <a:avLst/>
          </a:prstGeom>
          <a:solidFill>
            <a:srgbClr val="EADFD3"/>
          </a:solidFill>
          <a:ln/>
        </p:spPr>
        <p:txBody>
          <a:bodyPr/>
          <a:lstStyle/>
          <a:p>
            <a:endParaRPr lang="ko-KR" altLang="en-US"/>
          </a:p>
        </p:txBody>
      </p:sp>
      <p:sp>
        <p:nvSpPr>
          <p:cNvPr id="124" name="Text 122"/>
          <p:cNvSpPr/>
          <p:nvPr/>
        </p:nvSpPr>
        <p:spPr>
          <a:xfrm>
            <a:off x="557630" y="3851524"/>
            <a:ext cx="1164269"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암주요치료</a:t>
            </a:r>
            <a:endParaRPr lang="en-US" sz="1163" dirty="0"/>
          </a:p>
        </p:txBody>
      </p:sp>
      <p:sp>
        <p:nvSpPr>
          <p:cNvPr id="125" name="Shape 123"/>
          <p:cNvSpPr/>
          <p:nvPr/>
        </p:nvSpPr>
        <p:spPr>
          <a:xfrm>
            <a:off x="1740948" y="3808207"/>
            <a:ext cx="1202369" cy="622705"/>
          </a:xfrm>
          <a:prstGeom prst="rect">
            <a:avLst/>
          </a:prstGeom>
          <a:solidFill>
            <a:srgbClr val="F5F7EC"/>
          </a:solidFill>
          <a:ln/>
        </p:spPr>
        <p:txBody>
          <a:bodyPr/>
          <a:lstStyle/>
          <a:p>
            <a:endParaRPr lang="ko-KR" altLang="en-US"/>
          </a:p>
        </p:txBody>
      </p:sp>
      <p:sp>
        <p:nvSpPr>
          <p:cNvPr id="126" name="Shape 124"/>
          <p:cNvSpPr/>
          <p:nvPr/>
        </p:nvSpPr>
        <p:spPr>
          <a:xfrm>
            <a:off x="1740948" y="3808207"/>
            <a:ext cx="1202369" cy="9525"/>
          </a:xfrm>
          <a:prstGeom prst="rect">
            <a:avLst/>
          </a:prstGeom>
          <a:solidFill>
            <a:srgbClr val="EADFD3"/>
          </a:solidFill>
          <a:ln/>
        </p:spPr>
        <p:txBody>
          <a:bodyPr/>
          <a:lstStyle/>
          <a:p>
            <a:endParaRPr lang="ko-KR" altLang="en-US"/>
          </a:p>
        </p:txBody>
      </p:sp>
      <p:sp>
        <p:nvSpPr>
          <p:cNvPr id="127" name="Shape 125"/>
          <p:cNvSpPr/>
          <p:nvPr/>
        </p:nvSpPr>
        <p:spPr>
          <a:xfrm>
            <a:off x="1740948" y="3808207"/>
            <a:ext cx="9525" cy="622705"/>
          </a:xfrm>
          <a:prstGeom prst="rect">
            <a:avLst/>
          </a:prstGeom>
          <a:solidFill>
            <a:srgbClr val="EADFD3"/>
          </a:solidFill>
          <a:ln/>
        </p:spPr>
        <p:txBody>
          <a:bodyPr/>
          <a:lstStyle/>
          <a:p>
            <a:endParaRPr lang="ko-KR" altLang="en-US"/>
          </a:p>
        </p:txBody>
      </p:sp>
      <p:sp>
        <p:nvSpPr>
          <p:cNvPr id="128" name="Text 126"/>
          <p:cNvSpPr/>
          <p:nvPr/>
        </p:nvSpPr>
        <p:spPr>
          <a:xfrm>
            <a:off x="1765215" y="385152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29" name="Shape 127"/>
          <p:cNvSpPr/>
          <p:nvPr/>
        </p:nvSpPr>
        <p:spPr>
          <a:xfrm>
            <a:off x="2943317" y="3808207"/>
            <a:ext cx="1202369" cy="622705"/>
          </a:xfrm>
          <a:prstGeom prst="rect">
            <a:avLst/>
          </a:prstGeom>
          <a:solidFill>
            <a:srgbClr val="FFFFFF"/>
          </a:solidFill>
          <a:ln/>
        </p:spPr>
        <p:txBody>
          <a:bodyPr/>
          <a:lstStyle/>
          <a:p>
            <a:endParaRPr lang="ko-KR" altLang="en-US"/>
          </a:p>
        </p:txBody>
      </p:sp>
      <p:sp>
        <p:nvSpPr>
          <p:cNvPr id="130" name="Shape 128"/>
          <p:cNvSpPr/>
          <p:nvPr/>
        </p:nvSpPr>
        <p:spPr>
          <a:xfrm>
            <a:off x="2943317" y="3808207"/>
            <a:ext cx="1202369" cy="9525"/>
          </a:xfrm>
          <a:prstGeom prst="rect">
            <a:avLst/>
          </a:prstGeom>
          <a:solidFill>
            <a:srgbClr val="EADFD3"/>
          </a:solidFill>
          <a:ln/>
        </p:spPr>
        <p:txBody>
          <a:bodyPr/>
          <a:lstStyle/>
          <a:p>
            <a:endParaRPr lang="ko-KR" altLang="en-US"/>
          </a:p>
        </p:txBody>
      </p:sp>
      <p:sp>
        <p:nvSpPr>
          <p:cNvPr id="131" name="Shape 129"/>
          <p:cNvSpPr/>
          <p:nvPr/>
        </p:nvSpPr>
        <p:spPr>
          <a:xfrm>
            <a:off x="2943317" y="3808207"/>
            <a:ext cx="9525" cy="622705"/>
          </a:xfrm>
          <a:prstGeom prst="rect">
            <a:avLst/>
          </a:prstGeom>
          <a:solidFill>
            <a:srgbClr val="EADFD3"/>
          </a:solidFill>
          <a:ln/>
        </p:spPr>
        <p:txBody>
          <a:bodyPr/>
          <a:lstStyle/>
          <a:p>
            <a:endParaRPr lang="ko-KR" altLang="en-US"/>
          </a:p>
        </p:txBody>
      </p:sp>
      <p:sp>
        <p:nvSpPr>
          <p:cNvPr id="132" name="Text 130"/>
          <p:cNvSpPr/>
          <p:nvPr/>
        </p:nvSpPr>
        <p:spPr>
          <a:xfrm>
            <a:off x="2967584" y="385152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40,540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33" name="Shape 131"/>
          <p:cNvSpPr/>
          <p:nvPr/>
        </p:nvSpPr>
        <p:spPr>
          <a:xfrm>
            <a:off x="4145686" y="3808207"/>
            <a:ext cx="1202369" cy="622705"/>
          </a:xfrm>
          <a:prstGeom prst="rect">
            <a:avLst/>
          </a:prstGeom>
          <a:solidFill>
            <a:srgbClr val="FFFFFF"/>
          </a:solidFill>
          <a:ln/>
        </p:spPr>
        <p:txBody>
          <a:bodyPr/>
          <a:lstStyle/>
          <a:p>
            <a:endParaRPr lang="ko-KR" altLang="en-US"/>
          </a:p>
        </p:txBody>
      </p:sp>
      <p:sp>
        <p:nvSpPr>
          <p:cNvPr id="134" name="Shape 132"/>
          <p:cNvSpPr/>
          <p:nvPr/>
        </p:nvSpPr>
        <p:spPr>
          <a:xfrm>
            <a:off x="4145686" y="3808207"/>
            <a:ext cx="1202369" cy="9525"/>
          </a:xfrm>
          <a:prstGeom prst="rect">
            <a:avLst/>
          </a:prstGeom>
          <a:solidFill>
            <a:srgbClr val="EADFD3"/>
          </a:solidFill>
          <a:ln/>
        </p:spPr>
        <p:txBody>
          <a:bodyPr/>
          <a:lstStyle/>
          <a:p>
            <a:endParaRPr lang="ko-KR" altLang="en-US"/>
          </a:p>
        </p:txBody>
      </p:sp>
      <p:sp>
        <p:nvSpPr>
          <p:cNvPr id="135" name="Shape 133"/>
          <p:cNvSpPr/>
          <p:nvPr/>
        </p:nvSpPr>
        <p:spPr>
          <a:xfrm>
            <a:off x="4145686" y="3808207"/>
            <a:ext cx="9525" cy="622705"/>
          </a:xfrm>
          <a:prstGeom prst="rect">
            <a:avLst/>
          </a:prstGeom>
          <a:solidFill>
            <a:srgbClr val="EADFD3"/>
          </a:solidFill>
          <a:ln/>
        </p:spPr>
        <p:txBody>
          <a:bodyPr/>
          <a:lstStyle/>
          <a:p>
            <a:endParaRPr lang="ko-KR" altLang="en-US"/>
          </a:p>
        </p:txBody>
      </p:sp>
      <p:sp>
        <p:nvSpPr>
          <p:cNvPr id="136" name="Text 134"/>
          <p:cNvSpPr/>
          <p:nvPr/>
        </p:nvSpPr>
        <p:spPr>
          <a:xfrm>
            <a:off x="4169953" y="385152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38,040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37" name="Shape 135"/>
          <p:cNvSpPr/>
          <p:nvPr/>
        </p:nvSpPr>
        <p:spPr>
          <a:xfrm>
            <a:off x="5348054" y="3808207"/>
            <a:ext cx="1202369" cy="622705"/>
          </a:xfrm>
          <a:prstGeom prst="rect">
            <a:avLst/>
          </a:prstGeom>
          <a:solidFill>
            <a:srgbClr val="FFFFFF"/>
          </a:solidFill>
          <a:ln/>
        </p:spPr>
        <p:txBody>
          <a:bodyPr/>
          <a:lstStyle/>
          <a:p>
            <a:endParaRPr lang="ko-KR" altLang="en-US"/>
          </a:p>
        </p:txBody>
      </p:sp>
      <p:sp>
        <p:nvSpPr>
          <p:cNvPr id="138" name="Shape 136"/>
          <p:cNvSpPr/>
          <p:nvPr/>
        </p:nvSpPr>
        <p:spPr>
          <a:xfrm>
            <a:off x="5348054" y="3808207"/>
            <a:ext cx="1202369" cy="9525"/>
          </a:xfrm>
          <a:prstGeom prst="rect">
            <a:avLst/>
          </a:prstGeom>
          <a:solidFill>
            <a:srgbClr val="EADFD3"/>
          </a:solidFill>
          <a:ln/>
        </p:spPr>
        <p:txBody>
          <a:bodyPr/>
          <a:lstStyle/>
          <a:p>
            <a:endParaRPr lang="ko-KR" altLang="en-US"/>
          </a:p>
        </p:txBody>
      </p:sp>
      <p:sp>
        <p:nvSpPr>
          <p:cNvPr id="139" name="Shape 137"/>
          <p:cNvSpPr/>
          <p:nvPr/>
        </p:nvSpPr>
        <p:spPr>
          <a:xfrm>
            <a:off x="5348054" y="3808207"/>
            <a:ext cx="9525" cy="622705"/>
          </a:xfrm>
          <a:prstGeom prst="rect">
            <a:avLst/>
          </a:prstGeom>
          <a:solidFill>
            <a:srgbClr val="EADFD3"/>
          </a:solidFill>
          <a:ln/>
        </p:spPr>
        <p:txBody>
          <a:bodyPr/>
          <a:lstStyle/>
          <a:p>
            <a:endParaRPr lang="ko-KR" altLang="en-US"/>
          </a:p>
        </p:txBody>
      </p:sp>
      <p:sp>
        <p:nvSpPr>
          <p:cNvPr id="140" name="Text 138"/>
          <p:cNvSpPr/>
          <p:nvPr/>
        </p:nvSpPr>
        <p:spPr>
          <a:xfrm>
            <a:off x="5372321" y="385152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45,142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41" name="Shape 139"/>
          <p:cNvSpPr/>
          <p:nvPr/>
        </p:nvSpPr>
        <p:spPr>
          <a:xfrm>
            <a:off x="6550423" y="3808207"/>
            <a:ext cx="1202369" cy="622705"/>
          </a:xfrm>
          <a:prstGeom prst="rect">
            <a:avLst/>
          </a:prstGeom>
          <a:solidFill>
            <a:srgbClr val="FFFFFF"/>
          </a:solidFill>
          <a:ln/>
        </p:spPr>
        <p:txBody>
          <a:bodyPr/>
          <a:lstStyle/>
          <a:p>
            <a:endParaRPr lang="ko-KR" altLang="en-US"/>
          </a:p>
        </p:txBody>
      </p:sp>
      <p:sp>
        <p:nvSpPr>
          <p:cNvPr id="142" name="Shape 140"/>
          <p:cNvSpPr/>
          <p:nvPr/>
        </p:nvSpPr>
        <p:spPr>
          <a:xfrm>
            <a:off x="6550423" y="3808207"/>
            <a:ext cx="1202369" cy="9525"/>
          </a:xfrm>
          <a:prstGeom prst="rect">
            <a:avLst/>
          </a:prstGeom>
          <a:solidFill>
            <a:srgbClr val="EADFD3"/>
          </a:solidFill>
          <a:ln/>
        </p:spPr>
        <p:txBody>
          <a:bodyPr/>
          <a:lstStyle/>
          <a:p>
            <a:endParaRPr lang="ko-KR" altLang="en-US"/>
          </a:p>
        </p:txBody>
      </p:sp>
      <p:sp>
        <p:nvSpPr>
          <p:cNvPr id="143" name="Shape 141"/>
          <p:cNvSpPr/>
          <p:nvPr/>
        </p:nvSpPr>
        <p:spPr>
          <a:xfrm>
            <a:off x="6550423" y="3808207"/>
            <a:ext cx="9525" cy="622705"/>
          </a:xfrm>
          <a:prstGeom prst="rect">
            <a:avLst/>
          </a:prstGeom>
          <a:solidFill>
            <a:srgbClr val="EADFD3"/>
          </a:solidFill>
          <a:ln/>
        </p:spPr>
        <p:txBody>
          <a:bodyPr/>
          <a:lstStyle/>
          <a:p>
            <a:endParaRPr lang="ko-KR" altLang="en-US"/>
          </a:p>
        </p:txBody>
      </p:sp>
      <p:sp>
        <p:nvSpPr>
          <p:cNvPr id="144" name="Text 142"/>
          <p:cNvSpPr/>
          <p:nvPr/>
        </p:nvSpPr>
        <p:spPr>
          <a:xfrm>
            <a:off x="6857953" y="3932520"/>
            <a:ext cx="592444"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35,434</a:t>
            </a:r>
            <a:endParaRPr lang="en-US" sz="1163" dirty="0"/>
          </a:p>
        </p:txBody>
      </p:sp>
      <p:sp>
        <p:nvSpPr>
          <p:cNvPr id="145" name="Text 143"/>
          <p:cNvSpPr/>
          <p:nvPr/>
        </p:nvSpPr>
        <p:spPr>
          <a:xfrm>
            <a:off x="6934498" y="4179515"/>
            <a:ext cx="439356" cy="152875"/>
          </a:xfrm>
          <a:prstGeom prst="rect">
            <a:avLst/>
          </a:prstGeom>
          <a:noFill/>
          <a:ln/>
        </p:spPr>
        <p:txBody>
          <a:bodyPr wrap="none" lIns="25400" tIns="25400" rIns="25400" bIns="25400" rtlCol="0" anchor="t">
            <a:normAutofit fontScale="92500" lnSpcReduction="20000"/>
          </a:bodyPr>
          <a:lstStyle/>
          <a:p>
            <a:pPr marL="0" indent="0" algn="ctr">
              <a:lnSpc>
                <a:spcPct val="113843"/>
              </a:lnSpc>
              <a:buNone/>
            </a:pPr>
            <a:r>
              <a:rPr lang="en-US" sz="744" b="1" kern="0" spc="-37" dirty="0">
                <a:solidFill>
                  <a:srgbClr val="7B6B60"/>
                </a:solidFill>
                <a:latin typeface="Paperlogy 7 Bold" pitchFamily="2" charset="-127"/>
                <a:ea typeface="Paperlogy 7 Bold" pitchFamily="2" charset="-127"/>
                <a:cs typeface="Arial" pitchFamily="34" charset="-120"/>
              </a:rPr>
              <a:t>(만기지급)</a:t>
            </a:r>
            <a:endParaRPr lang="en-US" sz="744" dirty="0"/>
          </a:p>
        </p:txBody>
      </p:sp>
      <p:sp>
        <p:nvSpPr>
          <p:cNvPr id="146" name="Shape 144"/>
          <p:cNvSpPr/>
          <p:nvPr/>
        </p:nvSpPr>
        <p:spPr>
          <a:xfrm>
            <a:off x="7752792" y="3808207"/>
            <a:ext cx="1202369" cy="622705"/>
          </a:xfrm>
          <a:prstGeom prst="rect">
            <a:avLst/>
          </a:prstGeom>
          <a:solidFill>
            <a:srgbClr val="FFFFFF"/>
          </a:solidFill>
          <a:ln/>
        </p:spPr>
        <p:txBody>
          <a:bodyPr/>
          <a:lstStyle/>
          <a:p>
            <a:endParaRPr lang="ko-KR" altLang="en-US"/>
          </a:p>
        </p:txBody>
      </p:sp>
      <p:sp>
        <p:nvSpPr>
          <p:cNvPr id="147" name="Shape 145"/>
          <p:cNvSpPr/>
          <p:nvPr/>
        </p:nvSpPr>
        <p:spPr>
          <a:xfrm>
            <a:off x="7752792" y="3808207"/>
            <a:ext cx="1202369" cy="9525"/>
          </a:xfrm>
          <a:prstGeom prst="rect">
            <a:avLst/>
          </a:prstGeom>
          <a:solidFill>
            <a:srgbClr val="EADFD3"/>
          </a:solidFill>
          <a:ln/>
        </p:spPr>
        <p:txBody>
          <a:bodyPr/>
          <a:lstStyle/>
          <a:p>
            <a:endParaRPr lang="ko-KR" altLang="en-US"/>
          </a:p>
        </p:txBody>
      </p:sp>
      <p:sp>
        <p:nvSpPr>
          <p:cNvPr id="148" name="Shape 146"/>
          <p:cNvSpPr/>
          <p:nvPr/>
        </p:nvSpPr>
        <p:spPr>
          <a:xfrm>
            <a:off x="7752792" y="3808207"/>
            <a:ext cx="9525" cy="622705"/>
          </a:xfrm>
          <a:prstGeom prst="rect">
            <a:avLst/>
          </a:prstGeom>
          <a:solidFill>
            <a:srgbClr val="EADFD3"/>
          </a:solidFill>
          <a:ln/>
        </p:spPr>
        <p:txBody>
          <a:bodyPr/>
          <a:lstStyle/>
          <a:p>
            <a:endParaRPr lang="ko-KR" altLang="en-US"/>
          </a:p>
        </p:txBody>
      </p:sp>
      <p:sp>
        <p:nvSpPr>
          <p:cNvPr id="149" name="Text 147"/>
          <p:cNvSpPr/>
          <p:nvPr/>
        </p:nvSpPr>
        <p:spPr>
          <a:xfrm>
            <a:off x="8059344" y="3932520"/>
            <a:ext cx="594482"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39,539</a:t>
            </a:r>
            <a:endParaRPr lang="en-US" sz="1163" dirty="0"/>
          </a:p>
        </p:txBody>
      </p:sp>
      <p:sp>
        <p:nvSpPr>
          <p:cNvPr id="150" name="Text 148"/>
          <p:cNvSpPr/>
          <p:nvPr/>
        </p:nvSpPr>
        <p:spPr>
          <a:xfrm>
            <a:off x="8136866" y="4179515"/>
            <a:ext cx="439356" cy="152875"/>
          </a:xfrm>
          <a:prstGeom prst="rect">
            <a:avLst/>
          </a:prstGeom>
          <a:noFill/>
          <a:ln/>
        </p:spPr>
        <p:txBody>
          <a:bodyPr wrap="none" lIns="25400" tIns="25400" rIns="25400" bIns="25400" rtlCol="0" anchor="t">
            <a:normAutofit fontScale="92500" lnSpcReduction="20000"/>
          </a:bodyPr>
          <a:lstStyle/>
          <a:p>
            <a:pPr marL="0" indent="0" algn="ctr">
              <a:lnSpc>
                <a:spcPct val="113843"/>
              </a:lnSpc>
              <a:buNone/>
            </a:pPr>
            <a:r>
              <a:rPr lang="en-US" sz="744" b="1" kern="0" spc="-37" dirty="0">
                <a:solidFill>
                  <a:srgbClr val="7B6B60"/>
                </a:solidFill>
                <a:latin typeface="Paperlogy 7 Bold" pitchFamily="2" charset="-127"/>
                <a:ea typeface="Paperlogy 7 Bold" pitchFamily="2" charset="-127"/>
                <a:cs typeface="Arial" pitchFamily="34" charset="-120"/>
              </a:rPr>
              <a:t>(만기지급)</a:t>
            </a:r>
            <a:endParaRPr lang="en-US" sz="744" dirty="0"/>
          </a:p>
        </p:txBody>
      </p:sp>
      <p:sp>
        <p:nvSpPr>
          <p:cNvPr id="151" name="Shape 149"/>
          <p:cNvSpPr/>
          <p:nvPr/>
        </p:nvSpPr>
        <p:spPr>
          <a:xfrm>
            <a:off x="8955161" y="3808207"/>
            <a:ext cx="1202776" cy="622705"/>
          </a:xfrm>
          <a:prstGeom prst="rect">
            <a:avLst/>
          </a:prstGeom>
          <a:solidFill>
            <a:srgbClr val="FFFFFF"/>
          </a:solidFill>
          <a:ln/>
        </p:spPr>
        <p:txBody>
          <a:bodyPr/>
          <a:lstStyle/>
          <a:p>
            <a:endParaRPr lang="ko-KR" altLang="en-US"/>
          </a:p>
        </p:txBody>
      </p:sp>
      <p:sp>
        <p:nvSpPr>
          <p:cNvPr id="152" name="Shape 150"/>
          <p:cNvSpPr/>
          <p:nvPr/>
        </p:nvSpPr>
        <p:spPr>
          <a:xfrm>
            <a:off x="8955161" y="3808207"/>
            <a:ext cx="1202776" cy="9525"/>
          </a:xfrm>
          <a:prstGeom prst="rect">
            <a:avLst/>
          </a:prstGeom>
          <a:solidFill>
            <a:srgbClr val="EADFD3"/>
          </a:solidFill>
          <a:ln/>
        </p:spPr>
        <p:txBody>
          <a:bodyPr/>
          <a:lstStyle/>
          <a:p>
            <a:endParaRPr lang="ko-KR" altLang="en-US"/>
          </a:p>
        </p:txBody>
      </p:sp>
      <p:sp>
        <p:nvSpPr>
          <p:cNvPr id="153" name="Shape 151"/>
          <p:cNvSpPr/>
          <p:nvPr/>
        </p:nvSpPr>
        <p:spPr>
          <a:xfrm>
            <a:off x="8955161" y="3808207"/>
            <a:ext cx="9525" cy="622705"/>
          </a:xfrm>
          <a:prstGeom prst="rect">
            <a:avLst/>
          </a:prstGeom>
          <a:solidFill>
            <a:srgbClr val="EADFD3"/>
          </a:solidFill>
          <a:ln/>
        </p:spPr>
        <p:txBody>
          <a:bodyPr/>
          <a:lstStyle/>
          <a:p>
            <a:endParaRPr lang="ko-KR" altLang="en-US"/>
          </a:p>
        </p:txBody>
      </p:sp>
      <p:sp>
        <p:nvSpPr>
          <p:cNvPr id="154" name="Text 152"/>
          <p:cNvSpPr/>
          <p:nvPr/>
        </p:nvSpPr>
        <p:spPr>
          <a:xfrm>
            <a:off x="8979428" y="3851524"/>
            <a:ext cx="1159459"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39,170 </a:t>
            </a:r>
          </a:p>
          <a:p>
            <a:pPr marL="0" indent="0" algn="ctr">
              <a:lnSpc>
                <a:spcPct val="113196"/>
              </a:lnSpc>
              <a:buNone/>
            </a:pPr>
            <a:r>
              <a:rPr lang="en-US" sz="744" b="1" kern="0" spc="-12" dirty="0">
                <a:solidFill>
                  <a:srgbClr val="7B6B60"/>
                </a:solidFill>
                <a:latin typeface="Paperlogy 7 Bold" pitchFamily="2" charset="-127"/>
                <a:ea typeface="Paperlogy 7 Bold" pitchFamily="2" charset="-127"/>
                <a:cs typeface="Arial" pitchFamily="34" charset="-120"/>
              </a:rPr>
              <a:t>(만기지급)</a:t>
            </a:r>
            <a:endParaRPr lang="en-US" sz="1163" dirty="0"/>
          </a:p>
        </p:txBody>
      </p:sp>
      <p:sp>
        <p:nvSpPr>
          <p:cNvPr id="155" name="Shape 153"/>
          <p:cNvSpPr/>
          <p:nvPr/>
        </p:nvSpPr>
        <p:spPr>
          <a:xfrm>
            <a:off x="538580" y="4430912"/>
            <a:ext cx="1202369" cy="365113"/>
          </a:xfrm>
          <a:prstGeom prst="rect">
            <a:avLst/>
          </a:prstGeom>
          <a:solidFill>
            <a:srgbClr val="F5F7EC"/>
          </a:solidFill>
          <a:ln/>
        </p:spPr>
        <p:txBody>
          <a:bodyPr/>
          <a:lstStyle/>
          <a:p>
            <a:endParaRPr lang="ko-KR" altLang="en-US"/>
          </a:p>
        </p:txBody>
      </p:sp>
      <p:sp>
        <p:nvSpPr>
          <p:cNvPr id="156" name="Shape 154"/>
          <p:cNvSpPr/>
          <p:nvPr/>
        </p:nvSpPr>
        <p:spPr>
          <a:xfrm>
            <a:off x="538580" y="4430912"/>
            <a:ext cx="1202369" cy="9525"/>
          </a:xfrm>
          <a:prstGeom prst="rect">
            <a:avLst/>
          </a:prstGeom>
          <a:solidFill>
            <a:srgbClr val="EADFD3"/>
          </a:solidFill>
          <a:ln/>
        </p:spPr>
        <p:txBody>
          <a:bodyPr/>
          <a:lstStyle/>
          <a:p>
            <a:endParaRPr lang="ko-KR" altLang="en-US"/>
          </a:p>
        </p:txBody>
      </p:sp>
      <p:sp>
        <p:nvSpPr>
          <p:cNvPr id="157" name="Text 155"/>
          <p:cNvSpPr/>
          <p:nvPr/>
        </p:nvSpPr>
        <p:spPr>
          <a:xfrm>
            <a:off x="557630" y="4474229"/>
            <a:ext cx="116426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뇌혈관진단</a:t>
            </a:r>
            <a:endParaRPr lang="en-US" sz="1163" dirty="0"/>
          </a:p>
        </p:txBody>
      </p:sp>
      <p:sp>
        <p:nvSpPr>
          <p:cNvPr id="158" name="Shape 156"/>
          <p:cNvSpPr/>
          <p:nvPr/>
        </p:nvSpPr>
        <p:spPr>
          <a:xfrm>
            <a:off x="1740948" y="4430912"/>
            <a:ext cx="1202369" cy="365113"/>
          </a:xfrm>
          <a:prstGeom prst="rect">
            <a:avLst/>
          </a:prstGeom>
          <a:solidFill>
            <a:srgbClr val="F5F7EC"/>
          </a:solidFill>
          <a:ln/>
        </p:spPr>
        <p:txBody>
          <a:bodyPr/>
          <a:lstStyle/>
          <a:p>
            <a:endParaRPr lang="ko-KR" altLang="en-US"/>
          </a:p>
        </p:txBody>
      </p:sp>
      <p:sp>
        <p:nvSpPr>
          <p:cNvPr id="159" name="Shape 157"/>
          <p:cNvSpPr/>
          <p:nvPr/>
        </p:nvSpPr>
        <p:spPr>
          <a:xfrm>
            <a:off x="1740948" y="4430912"/>
            <a:ext cx="1202369" cy="9525"/>
          </a:xfrm>
          <a:prstGeom prst="rect">
            <a:avLst/>
          </a:prstGeom>
          <a:solidFill>
            <a:srgbClr val="EADFD3"/>
          </a:solidFill>
          <a:ln/>
        </p:spPr>
        <p:txBody>
          <a:bodyPr/>
          <a:lstStyle/>
          <a:p>
            <a:endParaRPr lang="ko-KR" altLang="en-US"/>
          </a:p>
        </p:txBody>
      </p:sp>
      <p:sp>
        <p:nvSpPr>
          <p:cNvPr id="160" name="Shape 158"/>
          <p:cNvSpPr/>
          <p:nvPr/>
        </p:nvSpPr>
        <p:spPr>
          <a:xfrm>
            <a:off x="1740948" y="4430912"/>
            <a:ext cx="9525" cy="365113"/>
          </a:xfrm>
          <a:prstGeom prst="rect">
            <a:avLst/>
          </a:prstGeom>
          <a:solidFill>
            <a:srgbClr val="EADFD3"/>
          </a:solidFill>
          <a:ln/>
        </p:spPr>
        <p:txBody>
          <a:bodyPr/>
          <a:lstStyle/>
          <a:p>
            <a:endParaRPr lang="ko-KR" altLang="en-US"/>
          </a:p>
        </p:txBody>
      </p:sp>
      <p:sp>
        <p:nvSpPr>
          <p:cNvPr id="161" name="Text 159"/>
          <p:cNvSpPr/>
          <p:nvPr/>
        </p:nvSpPr>
        <p:spPr>
          <a:xfrm>
            <a:off x="1765215"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62" name="Shape 160"/>
          <p:cNvSpPr/>
          <p:nvPr/>
        </p:nvSpPr>
        <p:spPr>
          <a:xfrm>
            <a:off x="2943317" y="4430912"/>
            <a:ext cx="1202369" cy="365113"/>
          </a:xfrm>
          <a:prstGeom prst="rect">
            <a:avLst/>
          </a:prstGeom>
          <a:solidFill>
            <a:srgbClr val="FFFFFF"/>
          </a:solidFill>
          <a:ln/>
        </p:spPr>
        <p:txBody>
          <a:bodyPr/>
          <a:lstStyle/>
          <a:p>
            <a:endParaRPr lang="ko-KR" altLang="en-US"/>
          </a:p>
        </p:txBody>
      </p:sp>
      <p:sp>
        <p:nvSpPr>
          <p:cNvPr id="163" name="Shape 161"/>
          <p:cNvSpPr/>
          <p:nvPr/>
        </p:nvSpPr>
        <p:spPr>
          <a:xfrm>
            <a:off x="2943317" y="4430912"/>
            <a:ext cx="1202369" cy="9525"/>
          </a:xfrm>
          <a:prstGeom prst="rect">
            <a:avLst/>
          </a:prstGeom>
          <a:solidFill>
            <a:srgbClr val="EADFD3"/>
          </a:solidFill>
          <a:ln/>
        </p:spPr>
        <p:txBody>
          <a:bodyPr/>
          <a:lstStyle/>
          <a:p>
            <a:endParaRPr lang="ko-KR" altLang="en-US"/>
          </a:p>
        </p:txBody>
      </p:sp>
      <p:sp>
        <p:nvSpPr>
          <p:cNvPr id="164" name="Shape 162"/>
          <p:cNvSpPr/>
          <p:nvPr/>
        </p:nvSpPr>
        <p:spPr>
          <a:xfrm>
            <a:off x="2943317" y="4430912"/>
            <a:ext cx="9525" cy="365113"/>
          </a:xfrm>
          <a:prstGeom prst="rect">
            <a:avLst/>
          </a:prstGeom>
          <a:solidFill>
            <a:srgbClr val="EADFD3"/>
          </a:solidFill>
          <a:ln/>
        </p:spPr>
        <p:txBody>
          <a:bodyPr/>
          <a:lstStyle/>
          <a:p>
            <a:endParaRPr lang="ko-KR" altLang="en-US"/>
          </a:p>
        </p:txBody>
      </p:sp>
      <p:sp>
        <p:nvSpPr>
          <p:cNvPr id="165" name="Text 163"/>
          <p:cNvSpPr/>
          <p:nvPr/>
        </p:nvSpPr>
        <p:spPr>
          <a:xfrm>
            <a:off x="2967584"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8,790</a:t>
            </a:r>
            <a:endParaRPr lang="en-US" sz="1163" dirty="0"/>
          </a:p>
        </p:txBody>
      </p:sp>
      <p:sp>
        <p:nvSpPr>
          <p:cNvPr id="166" name="Shape 164"/>
          <p:cNvSpPr/>
          <p:nvPr/>
        </p:nvSpPr>
        <p:spPr>
          <a:xfrm>
            <a:off x="4145686" y="4430912"/>
            <a:ext cx="1202369" cy="365113"/>
          </a:xfrm>
          <a:prstGeom prst="rect">
            <a:avLst/>
          </a:prstGeom>
          <a:solidFill>
            <a:srgbClr val="FFFFFF"/>
          </a:solidFill>
          <a:ln/>
        </p:spPr>
        <p:txBody>
          <a:bodyPr/>
          <a:lstStyle/>
          <a:p>
            <a:endParaRPr lang="ko-KR" altLang="en-US"/>
          </a:p>
        </p:txBody>
      </p:sp>
      <p:sp>
        <p:nvSpPr>
          <p:cNvPr id="167" name="Shape 165"/>
          <p:cNvSpPr/>
          <p:nvPr/>
        </p:nvSpPr>
        <p:spPr>
          <a:xfrm>
            <a:off x="4145686" y="4430912"/>
            <a:ext cx="1202369" cy="9525"/>
          </a:xfrm>
          <a:prstGeom prst="rect">
            <a:avLst/>
          </a:prstGeom>
          <a:solidFill>
            <a:srgbClr val="EADFD3"/>
          </a:solidFill>
          <a:ln/>
        </p:spPr>
        <p:txBody>
          <a:bodyPr/>
          <a:lstStyle/>
          <a:p>
            <a:endParaRPr lang="ko-KR" altLang="en-US"/>
          </a:p>
        </p:txBody>
      </p:sp>
      <p:sp>
        <p:nvSpPr>
          <p:cNvPr id="168" name="Shape 166"/>
          <p:cNvSpPr/>
          <p:nvPr/>
        </p:nvSpPr>
        <p:spPr>
          <a:xfrm>
            <a:off x="4145686" y="4430912"/>
            <a:ext cx="9525" cy="365113"/>
          </a:xfrm>
          <a:prstGeom prst="rect">
            <a:avLst/>
          </a:prstGeom>
          <a:solidFill>
            <a:srgbClr val="EADFD3"/>
          </a:solidFill>
          <a:ln/>
        </p:spPr>
        <p:txBody>
          <a:bodyPr/>
          <a:lstStyle/>
          <a:p>
            <a:endParaRPr lang="ko-KR" altLang="en-US"/>
          </a:p>
        </p:txBody>
      </p:sp>
      <p:sp>
        <p:nvSpPr>
          <p:cNvPr id="169" name="Text 167"/>
          <p:cNvSpPr/>
          <p:nvPr/>
        </p:nvSpPr>
        <p:spPr>
          <a:xfrm>
            <a:off x="4169953"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8,160</a:t>
            </a:r>
            <a:endParaRPr lang="en-US" sz="1163" dirty="0"/>
          </a:p>
        </p:txBody>
      </p:sp>
      <p:sp>
        <p:nvSpPr>
          <p:cNvPr id="170" name="Shape 168"/>
          <p:cNvSpPr/>
          <p:nvPr/>
        </p:nvSpPr>
        <p:spPr>
          <a:xfrm>
            <a:off x="5348054" y="4430912"/>
            <a:ext cx="1202369" cy="365113"/>
          </a:xfrm>
          <a:prstGeom prst="rect">
            <a:avLst/>
          </a:prstGeom>
          <a:solidFill>
            <a:srgbClr val="FFFFFF"/>
          </a:solidFill>
          <a:ln/>
        </p:spPr>
        <p:txBody>
          <a:bodyPr/>
          <a:lstStyle/>
          <a:p>
            <a:endParaRPr lang="ko-KR" altLang="en-US"/>
          </a:p>
        </p:txBody>
      </p:sp>
      <p:sp>
        <p:nvSpPr>
          <p:cNvPr id="171" name="Shape 169"/>
          <p:cNvSpPr/>
          <p:nvPr/>
        </p:nvSpPr>
        <p:spPr>
          <a:xfrm>
            <a:off x="5348054" y="4430912"/>
            <a:ext cx="1202369" cy="9525"/>
          </a:xfrm>
          <a:prstGeom prst="rect">
            <a:avLst/>
          </a:prstGeom>
          <a:solidFill>
            <a:srgbClr val="EADFD3"/>
          </a:solidFill>
          <a:ln/>
        </p:spPr>
        <p:txBody>
          <a:bodyPr/>
          <a:lstStyle/>
          <a:p>
            <a:endParaRPr lang="ko-KR" altLang="en-US"/>
          </a:p>
        </p:txBody>
      </p:sp>
      <p:sp>
        <p:nvSpPr>
          <p:cNvPr id="172" name="Shape 170"/>
          <p:cNvSpPr/>
          <p:nvPr/>
        </p:nvSpPr>
        <p:spPr>
          <a:xfrm>
            <a:off x="5348054" y="4430912"/>
            <a:ext cx="9525" cy="365113"/>
          </a:xfrm>
          <a:prstGeom prst="rect">
            <a:avLst/>
          </a:prstGeom>
          <a:solidFill>
            <a:srgbClr val="EADFD3"/>
          </a:solidFill>
          <a:ln/>
        </p:spPr>
        <p:txBody>
          <a:bodyPr/>
          <a:lstStyle/>
          <a:p>
            <a:endParaRPr lang="ko-KR" altLang="en-US"/>
          </a:p>
        </p:txBody>
      </p:sp>
      <p:sp>
        <p:nvSpPr>
          <p:cNvPr id="173" name="Text 171"/>
          <p:cNvSpPr/>
          <p:nvPr/>
        </p:nvSpPr>
        <p:spPr>
          <a:xfrm>
            <a:off x="5372321"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7,690</a:t>
            </a:r>
            <a:endParaRPr lang="en-US" sz="1163" dirty="0"/>
          </a:p>
        </p:txBody>
      </p:sp>
      <p:sp>
        <p:nvSpPr>
          <p:cNvPr id="174" name="Shape 172"/>
          <p:cNvSpPr/>
          <p:nvPr/>
        </p:nvSpPr>
        <p:spPr>
          <a:xfrm>
            <a:off x="6550423" y="4430912"/>
            <a:ext cx="1202369" cy="365113"/>
          </a:xfrm>
          <a:prstGeom prst="rect">
            <a:avLst/>
          </a:prstGeom>
          <a:solidFill>
            <a:srgbClr val="FFFFFF"/>
          </a:solidFill>
          <a:ln/>
        </p:spPr>
        <p:txBody>
          <a:bodyPr/>
          <a:lstStyle/>
          <a:p>
            <a:endParaRPr lang="ko-KR" altLang="en-US"/>
          </a:p>
        </p:txBody>
      </p:sp>
      <p:sp>
        <p:nvSpPr>
          <p:cNvPr id="175" name="Shape 173"/>
          <p:cNvSpPr/>
          <p:nvPr/>
        </p:nvSpPr>
        <p:spPr>
          <a:xfrm>
            <a:off x="6550423" y="4430912"/>
            <a:ext cx="1202369" cy="9525"/>
          </a:xfrm>
          <a:prstGeom prst="rect">
            <a:avLst/>
          </a:prstGeom>
          <a:solidFill>
            <a:srgbClr val="EADFD3"/>
          </a:solidFill>
          <a:ln/>
        </p:spPr>
        <p:txBody>
          <a:bodyPr/>
          <a:lstStyle/>
          <a:p>
            <a:endParaRPr lang="ko-KR" altLang="en-US"/>
          </a:p>
        </p:txBody>
      </p:sp>
      <p:sp>
        <p:nvSpPr>
          <p:cNvPr id="176" name="Shape 174"/>
          <p:cNvSpPr/>
          <p:nvPr/>
        </p:nvSpPr>
        <p:spPr>
          <a:xfrm>
            <a:off x="6550423" y="4430912"/>
            <a:ext cx="9525" cy="365113"/>
          </a:xfrm>
          <a:prstGeom prst="rect">
            <a:avLst/>
          </a:prstGeom>
          <a:solidFill>
            <a:srgbClr val="EADFD3"/>
          </a:solidFill>
          <a:ln/>
        </p:spPr>
        <p:txBody>
          <a:bodyPr/>
          <a:lstStyle/>
          <a:p>
            <a:endParaRPr lang="ko-KR" altLang="en-US"/>
          </a:p>
        </p:txBody>
      </p:sp>
      <p:sp>
        <p:nvSpPr>
          <p:cNvPr id="177" name="Text 175"/>
          <p:cNvSpPr/>
          <p:nvPr/>
        </p:nvSpPr>
        <p:spPr>
          <a:xfrm>
            <a:off x="6574690"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7,100</a:t>
            </a:r>
            <a:endParaRPr lang="en-US" sz="1163" dirty="0"/>
          </a:p>
        </p:txBody>
      </p:sp>
      <p:sp>
        <p:nvSpPr>
          <p:cNvPr id="178" name="Shape 176"/>
          <p:cNvSpPr/>
          <p:nvPr/>
        </p:nvSpPr>
        <p:spPr>
          <a:xfrm>
            <a:off x="7752792" y="4430912"/>
            <a:ext cx="1202369" cy="365113"/>
          </a:xfrm>
          <a:prstGeom prst="rect">
            <a:avLst/>
          </a:prstGeom>
          <a:solidFill>
            <a:srgbClr val="FFFFFF"/>
          </a:solidFill>
          <a:ln/>
        </p:spPr>
        <p:txBody>
          <a:bodyPr/>
          <a:lstStyle/>
          <a:p>
            <a:endParaRPr lang="ko-KR" altLang="en-US"/>
          </a:p>
        </p:txBody>
      </p:sp>
      <p:sp>
        <p:nvSpPr>
          <p:cNvPr id="179" name="Shape 177"/>
          <p:cNvSpPr/>
          <p:nvPr/>
        </p:nvSpPr>
        <p:spPr>
          <a:xfrm>
            <a:off x="7752792" y="4430912"/>
            <a:ext cx="1202369" cy="9525"/>
          </a:xfrm>
          <a:prstGeom prst="rect">
            <a:avLst/>
          </a:prstGeom>
          <a:solidFill>
            <a:srgbClr val="EADFD3"/>
          </a:solidFill>
          <a:ln/>
        </p:spPr>
        <p:txBody>
          <a:bodyPr/>
          <a:lstStyle/>
          <a:p>
            <a:endParaRPr lang="ko-KR" altLang="en-US"/>
          </a:p>
        </p:txBody>
      </p:sp>
      <p:sp>
        <p:nvSpPr>
          <p:cNvPr id="180" name="Shape 178"/>
          <p:cNvSpPr/>
          <p:nvPr/>
        </p:nvSpPr>
        <p:spPr>
          <a:xfrm>
            <a:off x="7752792" y="4430912"/>
            <a:ext cx="9525" cy="365113"/>
          </a:xfrm>
          <a:prstGeom prst="rect">
            <a:avLst/>
          </a:prstGeom>
          <a:solidFill>
            <a:srgbClr val="EADFD3"/>
          </a:solidFill>
          <a:ln/>
        </p:spPr>
        <p:txBody>
          <a:bodyPr/>
          <a:lstStyle/>
          <a:p>
            <a:endParaRPr lang="ko-KR" altLang="en-US"/>
          </a:p>
        </p:txBody>
      </p:sp>
      <p:sp>
        <p:nvSpPr>
          <p:cNvPr id="181" name="Text 179"/>
          <p:cNvSpPr/>
          <p:nvPr/>
        </p:nvSpPr>
        <p:spPr>
          <a:xfrm>
            <a:off x="7777059" y="447422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9,040</a:t>
            </a:r>
            <a:endParaRPr lang="en-US" sz="1163" dirty="0"/>
          </a:p>
        </p:txBody>
      </p:sp>
      <p:sp>
        <p:nvSpPr>
          <p:cNvPr id="182" name="Shape 180"/>
          <p:cNvSpPr/>
          <p:nvPr/>
        </p:nvSpPr>
        <p:spPr>
          <a:xfrm>
            <a:off x="8955161" y="4430912"/>
            <a:ext cx="1202776" cy="365113"/>
          </a:xfrm>
          <a:prstGeom prst="rect">
            <a:avLst/>
          </a:prstGeom>
          <a:solidFill>
            <a:srgbClr val="FFFFFF"/>
          </a:solidFill>
          <a:ln/>
        </p:spPr>
        <p:txBody>
          <a:bodyPr/>
          <a:lstStyle/>
          <a:p>
            <a:endParaRPr lang="ko-KR" altLang="en-US"/>
          </a:p>
        </p:txBody>
      </p:sp>
      <p:sp>
        <p:nvSpPr>
          <p:cNvPr id="183" name="Shape 181"/>
          <p:cNvSpPr/>
          <p:nvPr/>
        </p:nvSpPr>
        <p:spPr>
          <a:xfrm>
            <a:off x="8955161" y="4430912"/>
            <a:ext cx="1202776" cy="9525"/>
          </a:xfrm>
          <a:prstGeom prst="rect">
            <a:avLst/>
          </a:prstGeom>
          <a:solidFill>
            <a:srgbClr val="EADFD3"/>
          </a:solidFill>
          <a:ln/>
        </p:spPr>
        <p:txBody>
          <a:bodyPr/>
          <a:lstStyle/>
          <a:p>
            <a:endParaRPr lang="ko-KR" altLang="en-US"/>
          </a:p>
        </p:txBody>
      </p:sp>
      <p:sp>
        <p:nvSpPr>
          <p:cNvPr id="184" name="Shape 182"/>
          <p:cNvSpPr/>
          <p:nvPr/>
        </p:nvSpPr>
        <p:spPr>
          <a:xfrm>
            <a:off x="8955161" y="4430912"/>
            <a:ext cx="9525" cy="365113"/>
          </a:xfrm>
          <a:prstGeom prst="rect">
            <a:avLst/>
          </a:prstGeom>
          <a:solidFill>
            <a:srgbClr val="EADFD3"/>
          </a:solidFill>
          <a:ln/>
        </p:spPr>
        <p:txBody>
          <a:bodyPr/>
          <a:lstStyle/>
          <a:p>
            <a:endParaRPr lang="ko-KR" altLang="en-US"/>
          </a:p>
        </p:txBody>
      </p:sp>
      <p:sp>
        <p:nvSpPr>
          <p:cNvPr id="185" name="Text 183"/>
          <p:cNvSpPr/>
          <p:nvPr/>
        </p:nvSpPr>
        <p:spPr>
          <a:xfrm>
            <a:off x="8979428" y="4474229"/>
            <a:ext cx="115945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8,470</a:t>
            </a:r>
            <a:endParaRPr lang="en-US" sz="1163" dirty="0"/>
          </a:p>
        </p:txBody>
      </p:sp>
      <p:sp>
        <p:nvSpPr>
          <p:cNvPr id="186" name="Shape 184"/>
          <p:cNvSpPr/>
          <p:nvPr/>
        </p:nvSpPr>
        <p:spPr>
          <a:xfrm>
            <a:off x="538580" y="4796025"/>
            <a:ext cx="1202369" cy="365113"/>
          </a:xfrm>
          <a:prstGeom prst="rect">
            <a:avLst/>
          </a:prstGeom>
          <a:solidFill>
            <a:srgbClr val="F5F7EC"/>
          </a:solidFill>
          <a:ln/>
        </p:spPr>
        <p:txBody>
          <a:bodyPr/>
          <a:lstStyle/>
          <a:p>
            <a:endParaRPr lang="ko-KR" altLang="en-US"/>
          </a:p>
        </p:txBody>
      </p:sp>
      <p:sp>
        <p:nvSpPr>
          <p:cNvPr id="187" name="Shape 185"/>
          <p:cNvSpPr/>
          <p:nvPr/>
        </p:nvSpPr>
        <p:spPr>
          <a:xfrm>
            <a:off x="538580" y="4796025"/>
            <a:ext cx="1202369" cy="9525"/>
          </a:xfrm>
          <a:prstGeom prst="rect">
            <a:avLst/>
          </a:prstGeom>
          <a:solidFill>
            <a:srgbClr val="EADFD3"/>
          </a:solidFill>
          <a:ln/>
        </p:spPr>
        <p:txBody>
          <a:bodyPr/>
          <a:lstStyle/>
          <a:p>
            <a:endParaRPr lang="ko-KR" altLang="en-US"/>
          </a:p>
        </p:txBody>
      </p:sp>
      <p:sp>
        <p:nvSpPr>
          <p:cNvPr id="188" name="Text 186"/>
          <p:cNvSpPr/>
          <p:nvPr/>
        </p:nvSpPr>
        <p:spPr>
          <a:xfrm>
            <a:off x="557630" y="4839342"/>
            <a:ext cx="116426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허혈성진단</a:t>
            </a:r>
            <a:endParaRPr lang="en-US" sz="1163" dirty="0"/>
          </a:p>
        </p:txBody>
      </p:sp>
      <p:sp>
        <p:nvSpPr>
          <p:cNvPr id="189" name="Shape 187"/>
          <p:cNvSpPr/>
          <p:nvPr/>
        </p:nvSpPr>
        <p:spPr>
          <a:xfrm>
            <a:off x="1740948" y="4796025"/>
            <a:ext cx="1202369" cy="365113"/>
          </a:xfrm>
          <a:prstGeom prst="rect">
            <a:avLst/>
          </a:prstGeom>
          <a:solidFill>
            <a:srgbClr val="F5F7EC"/>
          </a:solidFill>
          <a:ln/>
        </p:spPr>
        <p:txBody>
          <a:bodyPr/>
          <a:lstStyle/>
          <a:p>
            <a:endParaRPr lang="ko-KR" altLang="en-US"/>
          </a:p>
        </p:txBody>
      </p:sp>
      <p:sp>
        <p:nvSpPr>
          <p:cNvPr id="190" name="Shape 188"/>
          <p:cNvSpPr/>
          <p:nvPr/>
        </p:nvSpPr>
        <p:spPr>
          <a:xfrm>
            <a:off x="1740948" y="4796025"/>
            <a:ext cx="1202369" cy="9525"/>
          </a:xfrm>
          <a:prstGeom prst="rect">
            <a:avLst/>
          </a:prstGeom>
          <a:solidFill>
            <a:srgbClr val="EADFD3"/>
          </a:solidFill>
          <a:ln/>
        </p:spPr>
        <p:txBody>
          <a:bodyPr/>
          <a:lstStyle/>
          <a:p>
            <a:endParaRPr lang="ko-KR" altLang="en-US"/>
          </a:p>
        </p:txBody>
      </p:sp>
      <p:sp>
        <p:nvSpPr>
          <p:cNvPr id="191" name="Shape 189"/>
          <p:cNvSpPr/>
          <p:nvPr/>
        </p:nvSpPr>
        <p:spPr>
          <a:xfrm>
            <a:off x="1740948" y="4796025"/>
            <a:ext cx="9525" cy="365113"/>
          </a:xfrm>
          <a:prstGeom prst="rect">
            <a:avLst/>
          </a:prstGeom>
          <a:solidFill>
            <a:srgbClr val="EADFD3"/>
          </a:solidFill>
          <a:ln/>
        </p:spPr>
        <p:txBody>
          <a:bodyPr/>
          <a:lstStyle/>
          <a:p>
            <a:endParaRPr lang="ko-KR" altLang="en-US"/>
          </a:p>
        </p:txBody>
      </p:sp>
      <p:sp>
        <p:nvSpPr>
          <p:cNvPr id="192" name="Text 190"/>
          <p:cNvSpPr/>
          <p:nvPr/>
        </p:nvSpPr>
        <p:spPr>
          <a:xfrm>
            <a:off x="1765215"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93" name="Shape 191"/>
          <p:cNvSpPr/>
          <p:nvPr/>
        </p:nvSpPr>
        <p:spPr>
          <a:xfrm>
            <a:off x="2943317" y="4796025"/>
            <a:ext cx="1202369" cy="365113"/>
          </a:xfrm>
          <a:prstGeom prst="rect">
            <a:avLst/>
          </a:prstGeom>
          <a:solidFill>
            <a:srgbClr val="FFFFFF"/>
          </a:solidFill>
          <a:ln/>
        </p:spPr>
        <p:txBody>
          <a:bodyPr/>
          <a:lstStyle/>
          <a:p>
            <a:endParaRPr lang="ko-KR" altLang="en-US"/>
          </a:p>
        </p:txBody>
      </p:sp>
      <p:sp>
        <p:nvSpPr>
          <p:cNvPr id="194" name="Shape 192"/>
          <p:cNvSpPr/>
          <p:nvPr/>
        </p:nvSpPr>
        <p:spPr>
          <a:xfrm>
            <a:off x="2943317" y="4796025"/>
            <a:ext cx="1202369" cy="9525"/>
          </a:xfrm>
          <a:prstGeom prst="rect">
            <a:avLst/>
          </a:prstGeom>
          <a:solidFill>
            <a:srgbClr val="EADFD3"/>
          </a:solidFill>
          <a:ln/>
        </p:spPr>
        <p:txBody>
          <a:bodyPr/>
          <a:lstStyle/>
          <a:p>
            <a:endParaRPr lang="ko-KR" altLang="en-US"/>
          </a:p>
        </p:txBody>
      </p:sp>
      <p:sp>
        <p:nvSpPr>
          <p:cNvPr id="195" name="Shape 193"/>
          <p:cNvSpPr/>
          <p:nvPr/>
        </p:nvSpPr>
        <p:spPr>
          <a:xfrm>
            <a:off x="2943317" y="4796025"/>
            <a:ext cx="9525" cy="365113"/>
          </a:xfrm>
          <a:prstGeom prst="rect">
            <a:avLst/>
          </a:prstGeom>
          <a:solidFill>
            <a:srgbClr val="EADFD3"/>
          </a:solidFill>
          <a:ln/>
        </p:spPr>
        <p:txBody>
          <a:bodyPr/>
          <a:lstStyle/>
          <a:p>
            <a:endParaRPr lang="ko-KR" altLang="en-US"/>
          </a:p>
        </p:txBody>
      </p:sp>
      <p:sp>
        <p:nvSpPr>
          <p:cNvPr id="196" name="Text 194"/>
          <p:cNvSpPr/>
          <p:nvPr/>
        </p:nvSpPr>
        <p:spPr>
          <a:xfrm>
            <a:off x="2967584"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6,630</a:t>
            </a:r>
            <a:endParaRPr lang="en-US" sz="1163" dirty="0"/>
          </a:p>
        </p:txBody>
      </p:sp>
      <p:sp>
        <p:nvSpPr>
          <p:cNvPr id="197" name="Shape 195"/>
          <p:cNvSpPr/>
          <p:nvPr/>
        </p:nvSpPr>
        <p:spPr>
          <a:xfrm>
            <a:off x="4145686" y="4796025"/>
            <a:ext cx="1202369" cy="365113"/>
          </a:xfrm>
          <a:prstGeom prst="rect">
            <a:avLst/>
          </a:prstGeom>
          <a:solidFill>
            <a:srgbClr val="FFFFFF"/>
          </a:solidFill>
          <a:ln/>
        </p:spPr>
        <p:txBody>
          <a:bodyPr/>
          <a:lstStyle/>
          <a:p>
            <a:endParaRPr lang="ko-KR" altLang="en-US"/>
          </a:p>
        </p:txBody>
      </p:sp>
      <p:sp>
        <p:nvSpPr>
          <p:cNvPr id="198" name="Shape 196"/>
          <p:cNvSpPr/>
          <p:nvPr/>
        </p:nvSpPr>
        <p:spPr>
          <a:xfrm>
            <a:off x="4145686" y="4796025"/>
            <a:ext cx="1202369" cy="9525"/>
          </a:xfrm>
          <a:prstGeom prst="rect">
            <a:avLst/>
          </a:prstGeom>
          <a:solidFill>
            <a:srgbClr val="EADFD3"/>
          </a:solidFill>
          <a:ln/>
        </p:spPr>
        <p:txBody>
          <a:bodyPr/>
          <a:lstStyle/>
          <a:p>
            <a:endParaRPr lang="ko-KR" altLang="en-US"/>
          </a:p>
        </p:txBody>
      </p:sp>
      <p:sp>
        <p:nvSpPr>
          <p:cNvPr id="199" name="Shape 197"/>
          <p:cNvSpPr/>
          <p:nvPr/>
        </p:nvSpPr>
        <p:spPr>
          <a:xfrm>
            <a:off x="4145686" y="4796025"/>
            <a:ext cx="9525" cy="365113"/>
          </a:xfrm>
          <a:prstGeom prst="rect">
            <a:avLst/>
          </a:prstGeom>
          <a:solidFill>
            <a:srgbClr val="EADFD3"/>
          </a:solidFill>
          <a:ln/>
        </p:spPr>
        <p:txBody>
          <a:bodyPr/>
          <a:lstStyle/>
          <a:p>
            <a:endParaRPr lang="ko-KR" altLang="en-US"/>
          </a:p>
        </p:txBody>
      </p:sp>
      <p:sp>
        <p:nvSpPr>
          <p:cNvPr id="200" name="Text 198"/>
          <p:cNvSpPr/>
          <p:nvPr/>
        </p:nvSpPr>
        <p:spPr>
          <a:xfrm>
            <a:off x="4169953"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2,430</a:t>
            </a:r>
            <a:endParaRPr lang="en-US" sz="1163" dirty="0"/>
          </a:p>
        </p:txBody>
      </p:sp>
      <p:sp>
        <p:nvSpPr>
          <p:cNvPr id="201" name="Shape 199"/>
          <p:cNvSpPr/>
          <p:nvPr/>
        </p:nvSpPr>
        <p:spPr>
          <a:xfrm>
            <a:off x="5348054" y="4796025"/>
            <a:ext cx="1202369" cy="365113"/>
          </a:xfrm>
          <a:prstGeom prst="rect">
            <a:avLst/>
          </a:prstGeom>
          <a:solidFill>
            <a:srgbClr val="FFFFFF"/>
          </a:solidFill>
          <a:ln/>
        </p:spPr>
        <p:txBody>
          <a:bodyPr/>
          <a:lstStyle/>
          <a:p>
            <a:endParaRPr lang="ko-KR" altLang="en-US"/>
          </a:p>
        </p:txBody>
      </p:sp>
      <p:sp>
        <p:nvSpPr>
          <p:cNvPr id="202" name="Shape 200"/>
          <p:cNvSpPr/>
          <p:nvPr/>
        </p:nvSpPr>
        <p:spPr>
          <a:xfrm>
            <a:off x="5348054" y="4796025"/>
            <a:ext cx="1202369" cy="9525"/>
          </a:xfrm>
          <a:prstGeom prst="rect">
            <a:avLst/>
          </a:prstGeom>
          <a:solidFill>
            <a:srgbClr val="EADFD3"/>
          </a:solidFill>
          <a:ln/>
        </p:spPr>
        <p:txBody>
          <a:bodyPr/>
          <a:lstStyle/>
          <a:p>
            <a:endParaRPr lang="ko-KR" altLang="en-US"/>
          </a:p>
        </p:txBody>
      </p:sp>
      <p:sp>
        <p:nvSpPr>
          <p:cNvPr id="203" name="Shape 201"/>
          <p:cNvSpPr/>
          <p:nvPr/>
        </p:nvSpPr>
        <p:spPr>
          <a:xfrm>
            <a:off x="5348054" y="4796025"/>
            <a:ext cx="9525" cy="365113"/>
          </a:xfrm>
          <a:prstGeom prst="rect">
            <a:avLst/>
          </a:prstGeom>
          <a:solidFill>
            <a:srgbClr val="EADFD3"/>
          </a:solidFill>
          <a:ln/>
        </p:spPr>
        <p:txBody>
          <a:bodyPr/>
          <a:lstStyle/>
          <a:p>
            <a:endParaRPr lang="ko-KR" altLang="en-US"/>
          </a:p>
        </p:txBody>
      </p:sp>
      <p:sp>
        <p:nvSpPr>
          <p:cNvPr id="204" name="Text 202"/>
          <p:cNvSpPr/>
          <p:nvPr/>
        </p:nvSpPr>
        <p:spPr>
          <a:xfrm>
            <a:off x="5372321"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6,060</a:t>
            </a:r>
            <a:endParaRPr lang="en-US" sz="1163" dirty="0"/>
          </a:p>
        </p:txBody>
      </p:sp>
      <p:sp>
        <p:nvSpPr>
          <p:cNvPr id="205" name="Shape 203"/>
          <p:cNvSpPr/>
          <p:nvPr/>
        </p:nvSpPr>
        <p:spPr>
          <a:xfrm>
            <a:off x="6550423" y="4796025"/>
            <a:ext cx="1202369" cy="365113"/>
          </a:xfrm>
          <a:prstGeom prst="rect">
            <a:avLst/>
          </a:prstGeom>
          <a:solidFill>
            <a:srgbClr val="FFFFFF"/>
          </a:solidFill>
          <a:ln/>
        </p:spPr>
        <p:txBody>
          <a:bodyPr/>
          <a:lstStyle/>
          <a:p>
            <a:endParaRPr lang="ko-KR" altLang="en-US"/>
          </a:p>
        </p:txBody>
      </p:sp>
      <p:sp>
        <p:nvSpPr>
          <p:cNvPr id="206" name="Shape 204"/>
          <p:cNvSpPr/>
          <p:nvPr/>
        </p:nvSpPr>
        <p:spPr>
          <a:xfrm>
            <a:off x="6550423" y="4796025"/>
            <a:ext cx="1202369" cy="9525"/>
          </a:xfrm>
          <a:prstGeom prst="rect">
            <a:avLst/>
          </a:prstGeom>
          <a:solidFill>
            <a:srgbClr val="EADFD3"/>
          </a:solidFill>
          <a:ln/>
        </p:spPr>
        <p:txBody>
          <a:bodyPr/>
          <a:lstStyle/>
          <a:p>
            <a:endParaRPr lang="ko-KR" altLang="en-US"/>
          </a:p>
        </p:txBody>
      </p:sp>
      <p:sp>
        <p:nvSpPr>
          <p:cNvPr id="207" name="Shape 205"/>
          <p:cNvSpPr/>
          <p:nvPr/>
        </p:nvSpPr>
        <p:spPr>
          <a:xfrm>
            <a:off x="6550423" y="4796025"/>
            <a:ext cx="9525" cy="365113"/>
          </a:xfrm>
          <a:prstGeom prst="rect">
            <a:avLst/>
          </a:prstGeom>
          <a:solidFill>
            <a:srgbClr val="EADFD3"/>
          </a:solidFill>
          <a:ln/>
        </p:spPr>
        <p:txBody>
          <a:bodyPr/>
          <a:lstStyle/>
          <a:p>
            <a:endParaRPr lang="ko-KR" altLang="en-US"/>
          </a:p>
        </p:txBody>
      </p:sp>
      <p:sp>
        <p:nvSpPr>
          <p:cNvPr id="208" name="Text 206"/>
          <p:cNvSpPr/>
          <p:nvPr/>
        </p:nvSpPr>
        <p:spPr>
          <a:xfrm>
            <a:off x="6574690"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2,570</a:t>
            </a:r>
            <a:endParaRPr lang="en-US" sz="1163" dirty="0"/>
          </a:p>
        </p:txBody>
      </p:sp>
      <p:sp>
        <p:nvSpPr>
          <p:cNvPr id="209" name="Shape 207"/>
          <p:cNvSpPr/>
          <p:nvPr/>
        </p:nvSpPr>
        <p:spPr>
          <a:xfrm>
            <a:off x="7752792" y="4796025"/>
            <a:ext cx="1202369" cy="365113"/>
          </a:xfrm>
          <a:prstGeom prst="rect">
            <a:avLst/>
          </a:prstGeom>
          <a:solidFill>
            <a:srgbClr val="FFFFFF"/>
          </a:solidFill>
          <a:ln/>
        </p:spPr>
        <p:txBody>
          <a:bodyPr/>
          <a:lstStyle/>
          <a:p>
            <a:endParaRPr lang="ko-KR" altLang="en-US"/>
          </a:p>
        </p:txBody>
      </p:sp>
      <p:sp>
        <p:nvSpPr>
          <p:cNvPr id="210" name="Shape 208"/>
          <p:cNvSpPr/>
          <p:nvPr/>
        </p:nvSpPr>
        <p:spPr>
          <a:xfrm>
            <a:off x="7752792" y="4796025"/>
            <a:ext cx="1202369" cy="9525"/>
          </a:xfrm>
          <a:prstGeom prst="rect">
            <a:avLst/>
          </a:prstGeom>
          <a:solidFill>
            <a:srgbClr val="EADFD3"/>
          </a:solidFill>
          <a:ln/>
        </p:spPr>
        <p:txBody>
          <a:bodyPr/>
          <a:lstStyle/>
          <a:p>
            <a:endParaRPr lang="ko-KR" altLang="en-US"/>
          </a:p>
        </p:txBody>
      </p:sp>
      <p:sp>
        <p:nvSpPr>
          <p:cNvPr id="211" name="Shape 209"/>
          <p:cNvSpPr/>
          <p:nvPr/>
        </p:nvSpPr>
        <p:spPr>
          <a:xfrm>
            <a:off x="7752792" y="4796025"/>
            <a:ext cx="9525" cy="365113"/>
          </a:xfrm>
          <a:prstGeom prst="rect">
            <a:avLst/>
          </a:prstGeom>
          <a:solidFill>
            <a:srgbClr val="EADFD3"/>
          </a:solidFill>
          <a:ln/>
        </p:spPr>
        <p:txBody>
          <a:bodyPr/>
          <a:lstStyle/>
          <a:p>
            <a:endParaRPr lang="ko-KR" altLang="en-US"/>
          </a:p>
        </p:txBody>
      </p:sp>
      <p:sp>
        <p:nvSpPr>
          <p:cNvPr id="212" name="Text 210"/>
          <p:cNvSpPr/>
          <p:nvPr/>
        </p:nvSpPr>
        <p:spPr>
          <a:xfrm>
            <a:off x="7777059" y="4839342"/>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8,220</a:t>
            </a:r>
            <a:endParaRPr lang="en-US" sz="1163" dirty="0"/>
          </a:p>
        </p:txBody>
      </p:sp>
      <p:sp>
        <p:nvSpPr>
          <p:cNvPr id="213" name="Shape 211"/>
          <p:cNvSpPr/>
          <p:nvPr/>
        </p:nvSpPr>
        <p:spPr>
          <a:xfrm>
            <a:off x="8955161" y="4796025"/>
            <a:ext cx="1202776" cy="365113"/>
          </a:xfrm>
          <a:prstGeom prst="rect">
            <a:avLst/>
          </a:prstGeom>
          <a:solidFill>
            <a:srgbClr val="FFFFFF"/>
          </a:solidFill>
          <a:ln/>
        </p:spPr>
        <p:txBody>
          <a:bodyPr/>
          <a:lstStyle/>
          <a:p>
            <a:endParaRPr lang="ko-KR" altLang="en-US"/>
          </a:p>
        </p:txBody>
      </p:sp>
      <p:sp>
        <p:nvSpPr>
          <p:cNvPr id="214" name="Shape 212"/>
          <p:cNvSpPr/>
          <p:nvPr/>
        </p:nvSpPr>
        <p:spPr>
          <a:xfrm>
            <a:off x="8955161" y="4796025"/>
            <a:ext cx="1202776" cy="9525"/>
          </a:xfrm>
          <a:prstGeom prst="rect">
            <a:avLst/>
          </a:prstGeom>
          <a:solidFill>
            <a:srgbClr val="EADFD3"/>
          </a:solidFill>
          <a:ln/>
        </p:spPr>
        <p:txBody>
          <a:bodyPr/>
          <a:lstStyle/>
          <a:p>
            <a:endParaRPr lang="ko-KR" altLang="en-US"/>
          </a:p>
        </p:txBody>
      </p:sp>
      <p:sp>
        <p:nvSpPr>
          <p:cNvPr id="215" name="Shape 213"/>
          <p:cNvSpPr/>
          <p:nvPr/>
        </p:nvSpPr>
        <p:spPr>
          <a:xfrm>
            <a:off x="8955161" y="4796025"/>
            <a:ext cx="9525" cy="365113"/>
          </a:xfrm>
          <a:prstGeom prst="rect">
            <a:avLst/>
          </a:prstGeom>
          <a:solidFill>
            <a:srgbClr val="EADFD3"/>
          </a:solidFill>
          <a:ln/>
        </p:spPr>
        <p:txBody>
          <a:bodyPr/>
          <a:lstStyle/>
          <a:p>
            <a:endParaRPr lang="ko-KR" altLang="en-US"/>
          </a:p>
        </p:txBody>
      </p:sp>
      <p:sp>
        <p:nvSpPr>
          <p:cNvPr id="216" name="Text 214"/>
          <p:cNvSpPr/>
          <p:nvPr/>
        </p:nvSpPr>
        <p:spPr>
          <a:xfrm>
            <a:off x="8979428" y="4839342"/>
            <a:ext cx="115945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4,050</a:t>
            </a:r>
            <a:endParaRPr lang="en-US" sz="1163" dirty="0"/>
          </a:p>
        </p:txBody>
      </p:sp>
      <p:sp>
        <p:nvSpPr>
          <p:cNvPr id="217" name="Shape 215"/>
          <p:cNvSpPr/>
          <p:nvPr/>
        </p:nvSpPr>
        <p:spPr>
          <a:xfrm>
            <a:off x="538580" y="5161137"/>
            <a:ext cx="1202369" cy="622705"/>
          </a:xfrm>
          <a:prstGeom prst="rect">
            <a:avLst/>
          </a:prstGeom>
          <a:solidFill>
            <a:srgbClr val="F5F7EC"/>
          </a:solidFill>
          <a:ln/>
        </p:spPr>
        <p:txBody>
          <a:bodyPr/>
          <a:lstStyle/>
          <a:p>
            <a:endParaRPr lang="ko-KR" altLang="en-US"/>
          </a:p>
        </p:txBody>
      </p:sp>
      <p:sp>
        <p:nvSpPr>
          <p:cNvPr id="218" name="Shape 216"/>
          <p:cNvSpPr/>
          <p:nvPr/>
        </p:nvSpPr>
        <p:spPr>
          <a:xfrm>
            <a:off x="538580" y="5161137"/>
            <a:ext cx="1202369" cy="9525"/>
          </a:xfrm>
          <a:prstGeom prst="rect">
            <a:avLst/>
          </a:prstGeom>
          <a:solidFill>
            <a:srgbClr val="EADFD3"/>
          </a:solidFill>
          <a:ln/>
        </p:spPr>
        <p:txBody>
          <a:bodyPr/>
          <a:lstStyle/>
          <a:p>
            <a:endParaRPr lang="ko-KR" altLang="en-US"/>
          </a:p>
        </p:txBody>
      </p:sp>
      <p:sp>
        <p:nvSpPr>
          <p:cNvPr id="219" name="Text 217"/>
          <p:cNvSpPr/>
          <p:nvPr/>
        </p:nvSpPr>
        <p:spPr>
          <a:xfrm>
            <a:off x="557630" y="5204454"/>
            <a:ext cx="1164269"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순환계 주요치료</a:t>
            </a:r>
            <a:endParaRPr lang="en-US" sz="1163" dirty="0"/>
          </a:p>
        </p:txBody>
      </p:sp>
      <p:sp>
        <p:nvSpPr>
          <p:cNvPr id="220" name="Shape 218"/>
          <p:cNvSpPr/>
          <p:nvPr/>
        </p:nvSpPr>
        <p:spPr>
          <a:xfrm>
            <a:off x="1740948" y="5161137"/>
            <a:ext cx="1202369" cy="622705"/>
          </a:xfrm>
          <a:prstGeom prst="rect">
            <a:avLst/>
          </a:prstGeom>
          <a:solidFill>
            <a:srgbClr val="F5F7EC"/>
          </a:solidFill>
          <a:ln/>
        </p:spPr>
        <p:txBody>
          <a:bodyPr/>
          <a:lstStyle/>
          <a:p>
            <a:endParaRPr lang="ko-KR" altLang="en-US"/>
          </a:p>
        </p:txBody>
      </p:sp>
      <p:sp>
        <p:nvSpPr>
          <p:cNvPr id="221" name="Shape 219"/>
          <p:cNvSpPr/>
          <p:nvPr/>
        </p:nvSpPr>
        <p:spPr>
          <a:xfrm>
            <a:off x="1740948" y="5161137"/>
            <a:ext cx="1202369" cy="9525"/>
          </a:xfrm>
          <a:prstGeom prst="rect">
            <a:avLst/>
          </a:prstGeom>
          <a:solidFill>
            <a:srgbClr val="EADFD3"/>
          </a:solidFill>
          <a:ln/>
        </p:spPr>
        <p:txBody>
          <a:bodyPr/>
          <a:lstStyle/>
          <a:p>
            <a:endParaRPr lang="ko-KR" altLang="en-US"/>
          </a:p>
        </p:txBody>
      </p:sp>
      <p:sp>
        <p:nvSpPr>
          <p:cNvPr id="222" name="Shape 220"/>
          <p:cNvSpPr/>
          <p:nvPr/>
        </p:nvSpPr>
        <p:spPr>
          <a:xfrm>
            <a:off x="1740948" y="5161137"/>
            <a:ext cx="9525" cy="622705"/>
          </a:xfrm>
          <a:prstGeom prst="rect">
            <a:avLst/>
          </a:prstGeom>
          <a:solidFill>
            <a:srgbClr val="EADFD3"/>
          </a:solidFill>
          <a:ln/>
        </p:spPr>
        <p:txBody>
          <a:bodyPr/>
          <a:lstStyle/>
          <a:p>
            <a:endParaRPr lang="ko-KR" altLang="en-US"/>
          </a:p>
        </p:txBody>
      </p:sp>
      <p:sp>
        <p:nvSpPr>
          <p:cNvPr id="223" name="Text 221"/>
          <p:cNvSpPr/>
          <p:nvPr/>
        </p:nvSpPr>
        <p:spPr>
          <a:xfrm>
            <a:off x="1765215" y="520445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224" name="Shape 222"/>
          <p:cNvSpPr/>
          <p:nvPr/>
        </p:nvSpPr>
        <p:spPr>
          <a:xfrm>
            <a:off x="2943317" y="5161137"/>
            <a:ext cx="1202369" cy="622705"/>
          </a:xfrm>
          <a:prstGeom prst="rect">
            <a:avLst/>
          </a:prstGeom>
          <a:solidFill>
            <a:srgbClr val="FFFFFF"/>
          </a:solidFill>
          <a:ln/>
        </p:spPr>
        <p:txBody>
          <a:bodyPr/>
          <a:lstStyle/>
          <a:p>
            <a:endParaRPr lang="ko-KR" altLang="en-US"/>
          </a:p>
        </p:txBody>
      </p:sp>
      <p:sp>
        <p:nvSpPr>
          <p:cNvPr id="225" name="Shape 223"/>
          <p:cNvSpPr/>
          <p:nvPr/>
        </p:nvSpPr>
        <p:spPr>
          <a:xfrm>
            <a:off x="2943317" y="5161137"/>
            <a:ext cx="1202369" cy="9525"/>
          </a:xfrm>
          <a:prstGeom prst="rect">
            <a:avLst/>
          </a:prstGeom>
          <a:solidFill>
            <a:srgbClr val="EADFD3"/>
          </a:solidFill>
          <a:ln/>
        </p:spPr>
        <p:txBody>
          <a:bodyPr/>
          <a:lstStyle/>
          <a:p>
            <a:endParaRPr lang="ko-KR" altLang="en-US"/>
          </a:p>
        </p:txBody>
      </p:sp>
      <p:sp>
        <p:nvSpPr>
          <p:cNvPr id="226" name="Shape 224"/>
          <p:cNvSpPr/>
          <p:nvPr/>
        </p:nvSpPr>
        <p:spPr>
          <a:xfrm>
            <a:off x="2943317" y="5161137"/>
            <a:ext cx="9525" cy="622705"/>
          </a:xfrm>
          <a:prstGeom prst="rect">
            <a:avLst/>
          </a:prstGeom>
          <a:solidFill>
            <a:srgbClr val="EADFD3"/>
          </a:solidFill>
          <a:ln/>
        </p:spPr>
        <p:txBody>
          <a:bodyPr/>
          <a:lstStyle/>
          <a:p>
            <a:endParaRPr lang="ko-KR" altLang="en-US"/>
          </a:p>
        </p:txBody>
      </p:sp>
      <p:sp>
        <p:nvSpPr>
          <p:cNvPr id="227" name="Text 225"/>
          <p:cNvSpPr/>
          <p:nvPr/>
        </p:nvSpPr>
        <p:spPr>
          <a:xfrm>
            <a:off x="2967584" y="520445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24,265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(중환자실치료포함)</a:t>
            </a:r>
            <a:endParaRPr lang="en-US" sz="1163" dirty="0"/>
          </a:p>
        </p:txBody>
      </p:sp>
      <p:sp>
        <p:nvSpPr>
          <p:cNvPr id="228" name="Shape 226"/>
          <p:cNvSpPr/>
          <p:nvPr/>
        </p:nvSpPr>
        <p:spPr>
          <a:xfrm>
            <a:off x="4145686" y="5161137"/>
            <a:ext cx="1202369" cy="622705"/>
          </a:xfrm>
          <a:prstGeom prst="rect">
            <a:avLst/>
          </a:prstGeom>
          <a:solidFill>
            <a:srgbClr val="FFFFFF"/>
          </a:solidFill>
          <a:ln/>
        </p:spPr>
        <p:txBody>
          <a:bodyPr/>
          <a:lstStyle/>
          <a:p>
            <a:endParaRPr lang="ko-KR" altLang="en-US"/>
          </a:p>
        </p:txBody>
      </p:sp>
      <p:sp>
        <p:nvSpPr>
          <p:cNvPr id="229" name="Shape 227"/>
          <p:cNvSpPr/>
          <p:nvPr/>
        </p:nvSpPr>
        <p:spPr>
          <a:xfrm>
            <a:off x="4145686" y="5161137"/>
            <a:ext cx="1202369" cy="9525"/>
          </a:xfrm>
          <a:prstGeom prst="rect">
            <a:avLst/>
          </a:prstGeom>
          <a:solidFill>
            <a:srgbClr val="EADFD3"/>
          </a:solidFill>
          <a:ln/>
        </p:spPr>
        <p:txBody>
          <a:bodyPr/>
          <a:lstStyle/>
          <a:p>
            <a:endParaRPr lang="ko-KR" altLang="en-US"/>
          </a:p>
        </p:txBody>
      </p:sp>
      <p:sp>
        <p:nvSpPr>
          <p:cNvPr id="230" name="Shape 228"/>
          <p:cNvSpPr/>
          <p:nvPr/>
        </p:nvSpPr>
        <p:spPr>
          <a:xfrm>
            <a:off x="4145686" y="5161137"/>
            <a:ext cx="9525" cy="622705"/>
          </a:xfrm>
          <a:prstGeom prst="rect">
            <a:avLst/>
          </a:prstGeom>
          <a:solidFill>
            <a:srgbClr val="EADFD3"/>
          </a:solidFill>
          <a:ln/>
        </p:spPr>
        <p:txBody>
          <a:bodyPr/>
          <a:lstStyle/>
          <a:p>
            <a:endParaRPr lang="ko-KR" altLang="en-US"/>
          </a:p>
        </p:txBody>
      </p:sp>
      <p:sp>
        <p:nvSpPr>
          <p:cNvPr id="231" name="Text 229"/>
          <p:cNvSpPr/>
          <p:nvPr/>
        </p:nvSpPr>
        <p:spPr>
          <a:xfrm>
            <a:off x="4169953" y="520445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15,510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(중환자실치료포함)</a:t>
            </a:r>
            <a:endParaRPr lang="en-US" sz="1163" dirty="0"/>
          </a:p>
        </p:txBody>
      </p:sp>
      <p:sp>
        <p:nvSpPr>
          <p:cNvPr id="232" name="Shape 230"/>
          <p:cNvSpPr/>
          <p:nvPr/>
        </p:nvSpPr>
        <p:spPr>
          <a:xfrm>
            <a:off x="5348054" y="5161137"/>
            <a:ext cx="1202369" cy="622705"/>
          </a:xfrm>
          <a:prstGeom prst="rect">
            <a:avLst/>
          </a:prstGeom>
          <a:solidFill>
            <a:srgbClr val="FFFFFF"/>
          </a:solidFill>
          <a:ln/>
        </p:spPr>
        <p:txBody>
          <a:bodyPr/>
          <a:lstStyle/>
          <a:p>
            <a:endParaRPr lang="ko-KR" altLang="en-US"/>
          </a:p>
        </p:txBody>
      </p:sp>
      <p:sp>
        <p:nvSpPr>
          <p:cNvPr id="233" name="Shape 231"/>
          <p:cNvSpPr/>
          <p:nvPr/>
        </p:nvSpPr>
        <p:spPr>
          <a:xfrm>
            <a:off x="5348054" y="5161137"/>
            <a:ext cx="1202369" cy="9525"/>
          </a:xfrm>
          <a:prstGeom prst="rect">
            <a:avLst/>
          </a:prstGeom>
          <a:solidFill>
            <a:srgbClr val="EADFD3"/>
          </a:solidFill>
          <a:ln/>
        </p:spPr>
        <p:txBody>
          <a:bodyPr/>
          <a:lstStyle/>
          <a:p>
            <a:endParaRPr lang="ko-KR" altLang="en-US"/>
          </a:p>
        </p:txBody>
      </p:sp>
      <p:sp>
        <p:nvSpPr>
          <p:cNvPr id="234" name="Shape 232"/>
          <p:cNvSpPr/>
          <p:nvPr/>
        </p:nvSpPr>
        <p:spPr>
          <a:xfrm>
            <a:off x="5348054" y="5161137"/>
            <a:ext cx="9525" cy="622705"/>
          </a:xfrm>
          <a:prstGeom prst="rect">
            <a:avLst/>
          </a:prstGeom>
          <a:solidFill>
            <a:srgbClr val="EADFD3"/>
          </a:solidFill>
          <a:ln/>
        </p:spPr>
        <p:txBody>
          <a:bodyPr/>
          <a:lstStyle/>
          <a:p>
            <a:endParaRPr lang="ko-KR" altLang="en-US"/>
          </a:p>
        </p:txBody>
      </p:sp>
      <p:sp>
        <p:nvSpPr>
          <p:cNvPr id="235" name="Text 233"/>
          <p:cNvSpPr/>
          <p:nvPr/>
        </p:nvSpPr>
        <p:spPr>
          <a:xfrm>
            <a:off x="5372321" y="520445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23,370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(중환자실치료포함)</a:t>
            </a:r>
            <a:endParaRPr lang="en-US" sz="1163" dirty="0"/>
          </a:p>
        </p:txBody>
      </p:sp>
      <p:sp>
        <p:nvSpPr>
          <p:cNvPr id="236" name="Shape 234"/>
          <p:cNvSpPr/>
          <p:nvPr/>
        </p:nvSpPr>
        <p:spPr>
          <a:xfrm>
            <a:off x="6550423" y="5161137"/>
            <a:ext cx="1202369" cy="622705"/>
          </a:xfrm>
          <a:prstGeom prst="rect">
            <a:avLst/>
          </a:prstGeom>
          <a:solidFill>
            <a:srgbClr val="FFFFFF"/>
          </a:solidFill>
          <a:ln/>
        </p:spPr>
        <p:txBody>
          <a:bodyPr/>
          <a:lstStyle/>
          <a:p>
            <a:endParaRPr lang="ko-KR" altLang="en-US"/>
          </a:p>
        </p:txBody>
      </p:sp>
      <p:sp>
        <p:nvSpPr>
          <p:cNvPr id="237" name="Shape 235"/>
          <p:cNvSpPr/>
          <p:nvPr/>
        </p:nvSpPr>
        <p:spPr>
          <a:xfrm>
            <a:off x="6550423" y="5161137"/>
            <a:ext cx="1202369" cy="9525"/>
          </a:xfrm>
          <a:prstGeom prst="rect">
            <a:avLst/>
          </a:prstGeom>
          <a:solidFill>
            <a:srgbClr val="EADFD3"/>
          </a:solidFill>
          <a:ln/>
        </p:spPr>
        <p:txBody>
          <a:bodyPr/>
          <a:lstStyle/>
          <a:p>
            <a:endParaRPr lang="ko-KR" altLang="en-US"/>
          </a:p>
        </p:txBody>
      </p:sp>
      <p:sp>
        <p:nvSpPr>
          <p:cNvPr id="238" name="Shape 236"/>
          <p:cNvSpPr/>
          <p:nvPr/>
        </p:nvSpPr>
        <p:spPr>
          <a:xfrm>
            <a:off x="6550423" y="5161137"/>
            <a:ext cx="9525" cy="622705"/>
          </a:xfrm>
          <a:prstGeom prst="rect">
            <a:avLst/>
          </a:prstGeom>
          <a:solidFill>
            <a:srgbClr val="EADFD3"/>
          </a:solidFill>
          <a:ln/>
        </p:spPr>
        <p:txBody>
          <a:bodyPr/>
          <a:lstStyle/>
          <a:p>
            <a:endParaRPr lang="ko-KR" altLang="en-US"/>
          </a:p>
        </p:txBody>
      </p:sp>
      <p:sp>
        <p:nvSpPr>
          <p:cNvPr id="239" name="Text 237"/>
          <p:cNvSpPr/>
          <p:nvPr/>
        </p:nvSpPr>
        <p:spPr>
          <a:xfrm>
            <a:off x="6574690" y="5204454"/>
            <a:ext cx="1159052" cy="579388"/>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13,090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(중환자실치료포함)</a:t>
            </a:r>
            <a:endParaRPr lang="en-US" sz="1163" dirty="0"/>
          </a:p>
        </p:txBody>
      </p:sp>
      <p:sp>
        <p:nvSpPr>
          <p:cNvPr id="240" name="Shape 238"/>
          <p:cNvSpPr/>
          <p:nvPr/>
        </p:nvSpPr>
        <p:spPr>
          <a:xfrm>
            <a:off x="7752792" y="5161137"/>
            <a:ext cx="1202369" cy="622705"/>
          </a:xfrm>
          <a:prstGeom prst="rect">
            <a:avLst/>
          </a:prstGeom>
          <a:solidFill>
            <a:srgbClr val="FFFFFF"/>
          </a:solidFill>
          <a:ln/>
        </p:spPr>
        <p:txBody>
          <a:bodyPr/>
          <a:lstStyle/>
          <a:p>
            <a:endParaRPr lang="ko-KR" altLang="en-US"/>
          </a:p>
        </p:txBody>
      </p:sp>
      <p:sp>
        <p:nvSpPr>
          <p:cNvPr id="241" name="Shape 239"/>
          <p:cNvSpPr/>
          <p:nvPr/>
        </p:nvSpPr>
        <p:spPr>
          <a:xfrm>
            <a:off x="7752792" y="5161137"/>
            <a:ext cx="1202369" cy="9525"/>
          </a:xfrm>
          <a:prstGeom prst="rect">
            <a:avLst/>
          </a:prstGeom>
          <a:solidFill>
            <a:srgbClr val="EADFD3"/>
          </a:solidFill>
          <a:ln/>
        </p:spPr>
        <p:txBody>
          <a:bodyPr/>
          <a:lstStyle/>
          <a:p>
            <a:endParaRPr lang="ko-KR" altLang="en-US"/>
          </a:p>
        </p:txBody>
      </p:sp>
      <p:sp>
        <p:nvSpPr>
          <p:cNvPr id="242" name="Shape 240"/>
          <p:cNvSpPr/>
          <p:nvPr/>
        </p:nvSpPr>
        <p:spPr>
          <a:xfrm>
            <a:off x="7752792" y="5161137"/>
            <a:ext cx="9525" cy="622705"/>
          </a:xfrm>
          <a:prstGeom prst="rect">
            <a:avLst/>
          </a:prstGeom>
          <a:solidFill>
            <a:srgbClr val="EADFD3"/>
          </a:solidFill>
          <a:ln/>
        </p:spPr>
        <p:txBody>
          <a:bodyPr/>
          <a:lstStyle/>
          <a:p>
            <a:endParaRPr lang="ko-KR" altLang="en-US"/>
          </a:p>
        </p:txBody>
      </p:sp>
      <p:sp>
        <p:nvSpPr>
          <p:cNvPr id="243" name="Text 241"/>
          <p:cNvSpPr/>
          <p:nvPr/>
        </p:nvSpPr>
        <p:spPr>
          <a:xfrm>
            <a:off x="8060322" y="5285450"/>
            <a:ext cx="592444"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22,435</a:t>
            </a:r>
            <a:endParaRPr lang="en-US" sz="1163" dirty="0"/>
          </a:p>
        </p:txBody>
      </p:sp>
      <p:sp>
        <p:nvSpPr>
          <p:cNvPr id="244" name="Text 242"/>
          <p:cNvSpPr/>
          <p:nvPr/>
        </p:nvSpPr>
        <p:spPr>
          <a:xfrm>
            <a:off x="7895577" y="5511577"/>
            <a:ext cx="921934" cy="178961"/>
          </a:xfrm>
          <a:prstGeom prst="rect">
            <a:avLst/>
          </a:prstGeom>
          <a:noFill/>
          <a:ln/>
        </p:spPr>
        <p:txBody>
          <a:bodyPr wrap="none" lIns="25400" tIns="25400" rIns="25400" bIns="25400" rtlCol="0" anchor="t">
            <a:normAutofit fontScale="85000" lnSpcReduction="10000"/>
          </a:bodyPr>
          <a:lstStyle/>
          <a:p>
            <a:pPr marL="0" indent="0" algn="ctr">
              <a:lnSpc>
                <a:spcPct val="114937"/>
              </a:lnSpc>
              <a:buNone/>
            </a:pPr>
            <a:r>
              <a:rPr lang="en-US" sz="930" b="1" kern="0" spc="-46" dirty="0">
                <a:solidFill>
                  <a:srgbClr val="7B6B60"/>
                </a:solidFill>
                <a:latin typeface="Paperlogy 7 Bold" pitchFamily="2" charset="-127"/>
                <a:ea typeface="Paperlogy 7 Bold" pitchFamily="2" charset="-127"/>
                <a:cs typeface="Arial" pitchFamily="34" charset="-120"/>
              </a:rPr>
              <a:t>(중환자실치료포함)</a:t>
            </a:r>
            <a:endParaRPr lang="en-US" sz="930" dirty="0"/>
          </a:p>
        </p:txBody>
      </p:sp>
      <p:sp>
        <p:nvSpPr>
          <p:cNvPr id="245" name="Shape 243"/>
          <p:cNvSpPr/>
          <p:nvPr/>
        </p:nvSpPr>
        <p:spPr>
          <a:xfrm>
            <a:off x="8955161" y="5161137"/>
            <a:ext cx="1202776" cy="622705"/>
          </a:xfrm>
          <a:prstGeom prst="rect">
            <a:avLst/>
          </a:prstGeom>
          <a:solidFill>
            <a:srgbClr val="FFFFFF"/>
          </a:solidFill>
          <a:ln/>
        </p:spPr>
        <p:txBody>
          <a:bodyPr/>
          <a:lstStyle/>
          <a:p>
            <a:endParaRPr lang="ko-KR" altLang="en-US"/>
          </a:p>
        </p:txBody>
      </p:sp>
      <p:sp>
        <p:nvSpPr>
          <p:cNvPr id="246" name="Shape 244"/>
          <p:cNvSpPr/>
          <p:nvPr/>
        </p:nvSpPr>
        <p:spPr>
          <a:xfrm>
            <a:off x="8955161" y="5161137"/>
            <a:ext cx="1202776" cy="9525"/>
          </a:xfrm>
          <a:prstGeom prst="rect">
            <a:avLst/>
          </a:prstGeom>
          <a:solidFill>
            <a:srgbClr val="EADFD3"/>
          </a:solidFill>
          <a:ln/>
        </p:spPr>
        <p:txBody>
          <a:bodyPr/>
          <a:lstStyle/>
          <a:p>
            <a:endParaRPr lang="ko-KR" altLang="en-US"/>
          </a:p>
        </p:txBody>
      </p:sp>
      <p:sp>
        <p:nvSpPr>
          <p:cNvPr id="247" name="Shape 245"/>
          <p:cNvSpPr/>
          <p:nvPr/>
        </p:nvSpPr>
        <p:spPr>
          <a:xfrm>
            <a:off x="8955161" y="5161137"/>
            <a:ext cx="9525" cy="622705"/>
          </a:xfrm>
          <a:prstGeom prst="rect">
            <a:avLst/>
          </a:prstGeom>
          <a:solidFill>
            <a:srgbClr val="EADFD3"/>
          </a:solidFill>
          <a:ln/>
        </p:spPr>
        <p:txBody>
          <a:bodyPr/>
          <a:lstStyle/>
          <a:p>
            <a:endParaRPr lang="ko-KR" altLang="en-US"/>
          </a:p>
        </p:txBody>
      </p:sp>
      <p:sp>
        <p:nvSpPr>
          <p:cNvPr id="248" name="Text 246"/>
          <p:cNvSpPr/>
          <p:nvPr/>
        </p:nvSpPr>
        <p:spPr>
          <a:xfrm>
            <a:off x="9261876" y="5285450"/>
            <a:ext cx="594482" cy="215480"/>
          </a:xfrm>
          <a:prstGeom prst="rect">
            <a:avLst/>
          </a:prstGeom>
          <a:noFill/>
          <a:ln/>
        </p:spPr>
        <p:txBody>
          <a:bodyPr wrap="square" lIns="25400" tIns="25400" rIns="25400" bIns="25400" rtlCol="0" anchor="t">
            <a:normAutofit fontScale="92500" lnSpcReduction="10000"/>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11,735</a:t>
            </a:r>
            <a:endParaRPr lang="en-US" sz="1163" dirty="0"/>
          </a:p>
        </p:txBody>
      </p:sp>
      <p:sp>
        <p:nvSpPr>
          <p:cNvPr id="249" name="Text 247"/>
          <p:cNvSpPr/>
          <p:nvPr/>
        </p:nvSpPr>
        <p:spPr>
          <a:xfrm>
            <a:off x="9098191" y="5511577"/>
            <a:ext cx="921934" cy="178961"/>
          </a:xfrm>
          <a:prstGeom prst="rect">
            <a:avLst/>
          </a:prstGeom>
          <a:noFill/>
          <a:ln/>
        </p:spPr>
        <p:txBody>
          <a:bodyPr wrap="none" lIns="25400" tIns="25400" rIns="25400" bIns="25400" rtlCol="0" anchor="t">
            <a:normAutofit fontScale="85000" lnSpcReduction="10000"/>
          </a:bodyPr>
          <a:lstStyle/>
          <a:p>
            <a:pPr marL="0" indent="0" algn="ctr">
              <a:lnSpc>
                <a:spcPct val="114937"/>
              </a:lnSpc>
              <a:buNone/>
            </a:pPr>
            <a:r>
              <a:rPr lang="en-US" sz="930" b="1" kern="0" spc="-46" dirty="0">
                <a:solidFill>
                  <a:srgbClr val="7B6B60"/>
                </a:solidFill>
                <a:latin typeface="Paperlogy 7 Bold" pitchFamily="2" charset="-127"/>
                <a:ea typeface="Paperlogy 7 Bold" pitchFamily="2" charset="-127"/>
                <a:cs typeface="Arial" pitchFamily="34" charset="-120"/>
              </a:rPr>
              <a:t>(중환자실치료포함)</a:t>
            </a:r>
            <a:endParaRPr lang="en-US" sz="930" dirty="0"/>
          </a:p>
        </p:txBody>
      </p:sp>
      <p:sp>
        <p:nvSpPr>
          <p:cNvPr id="250" name="Shape 248"/>
          <p:cNvSpPr/>
          <p:nvPr/>
        </p:nvSpPr>
        <p:spPr>
          <a:xfrm>
            <a:off x="538580" y="5783842"/>
            <a:ext cx="1202369" cy="365113"/>
          </a:xfrm>
          <a:prstGeom prst="rect">
            <a:avLst/>
          </a:prstGeom>
          <a:solidFill>
            <a:srgbClr val="F5F7EC"/>
          </a:solidFill>
          <a:ln/>
        </p:spPr>
        <p:txBody>
          <a:bodyPr/>
          <a:lstStyle/>
          <a:p>
            <a:endParaRPr lang="ko-KR" altLang="en-US"/>
          </a:p>
        </p:txBody>
      </p:sp>
      <p:sp>
        <p:nvSpPr>
          <p:cNvPr id="251" name="Shape 249"/>
          <p:cNvSpPr/>
          <p:nvPr/>
        </p:nvSpPr>
        <p:spPr>
          <a:xfrm>
            <a:off x="538580" y="5783842"/>
            <a:ext cx="1202369" cy="9525"/>
          </a:xfrm>
          <a:prstGeom prst="rect">
            <a:avLst/>
          </a:prstGeom>
          <a:solidFill>
            <a:srgbClr val="EADFD3"/>
          </a:solidFill>
          <a:ln/>
        </p:spPr>
        <p:txBody>
          <a:bodyPr/>
          <a:lstStyle/>
          <a:p>
            <a:endParaRPr lang="ko-KR" altLang="en-US"/>
          </a:p>
        </p:txBody>
      </p:sp>
      <p:sp>
        <p:nvSpPr>
          <p:cNvPr id="252" name="Text 250"/>
          <p:cNvSpPr/>
          <p:nvPr/>
        </p:nvSpPr>
        <p:spPr>
          <a:xfrm>
            <a:off x="557630" y="5827159"/>
            <a:ext cx="116426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질병수술비</a:t>
            </a:r>
            <a:endParaRPr lang="en-US" sz="1163" dirty="0"/>
          </a:p>
        </p:txBody>
      </p:sp>
      <p:sp>
        <p:nvSpPr>
          <p:cNvPr id="253" name="Shape 251"/>
          <p:cNvSpPr/>
          <p:nvPr/>
        </p:nvSpPr>
        <p:spPr>
          <a:xfrm>
            <a:off x="1740948" y="5783842"/>
            <a:ext cx="1202369" cy="365113"/>
          </a:xfrm>
          <a:prstGeom prst="rect">
            <a:avLst/>
          </a:prstGeom>
          <a:solidFill>
            <a:srgbClr val="F5F7EC"/>
          </a:solidFill>
          <a:ln/>
        </p:spPr>
        <p:txBody>
          <a:bodyPr/>
          <a:lstStyle/>
          <a:p>
            <a:endParaRPr lang="ko-KR" altLang="en-US"/>
          </a:p>
        </p:txBody>
      </p:sp>
      <p:sp>
        <p:nvSpPr>
          <p:cNvPr id="254" name="Shape 252"/>
          <p:cNvSpPr/>
          <p:nvPr/>
        </p:nvSpPr>
        <p:spPr>
          <a:xfrm>
            <a:off x="1740948" y="5783842"/>
            <a:ext cx="1202369" cy="9525"/>
          </a:xfrm>
          <a:prstGeom prst="rect">
            <a:avLst/>
          </a:prstGeom>
          <a:solidFill>
            <a:srgbClr val="EADFD3"/>
          </a:solidFill>
          <a:ln/>
        </p:spPr>
        <p:txBody>
          <a:bodyPr/>
          <a:lstStyle/>
          <a:p>
            <a:endParaRPr lang="ko-KR" altLang="en-US"/>
          </a:p>
        </p:txBody>
      </p:sp>
      <p:sp>
        <p:nvSpPr>
          <p:cNvPr id="255" name="Shape 253"/>
          <p:cNvSpPr/>
          <p:nvPr/>
        </p:nvSpPr>
        <p:spPr>
          <a:xfrm>
            <a:off x="1740948" y="5783842"/>
            <a:ext cx="9525" cy="365113"/>
          </a:xfrm>
          <a:prstGeom prst="rect">
            <a:avLst/>
          </a:prstGeom>
          <a:solidFill>
            <a:srgbClr val="EADFD3"/>
          </a:solidFill>
          <a:ln/>
        </p:spPr>
        <p:txBody>
          <a:bodyPr/>
          <a:lstStyle/>
          <a:p>
            <a:endParaRPr lang="ko-KR" altLang="en-US"/>
          </a:p>
        </p:txBody>
      </p:sp>
      <p:sp>
        <p:nvSpPr>
          <p:cNvPr id="256" name="Text 254"/>
          <p:cNvSpPr/>
          <p:nvPr/>
        </p:nvSpPr>
        <p:spPr>
          <a:xfrm>
            <a:off x="1765215"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10만</a:t>
            </a:r>
            <a:endParaRPr lang="en-US" sz="1163" dirty="0"/>
          </a:p>
        </p:txBody>
      </p:sp>
      <p:sp>
        <p:nvSpPr>
          <p:cNvPr id="257" name="Shape 255"/>
          <p:cNvSpPr/>
          <p:nvPr/>
        </p:nvSpPr>
        <p:spPr>
          <a:xfrm>
            <a:off x="2943317" y="5783842"/>
            <a:ext cx="1202369" cy="365113"/>
          </a:xfrm>
          <a:prstGeom prst="rect">
            <a:avLst/>
          </a:prstGeom>
          <a:solidFill>
            <a:srgbClr val="FFFFFF"/>
          </a:solidFill>
          <a:ln/>
        </p:spPr>
        <p:txBody>
          <a:bodyPr/>
          <a:lstStyle/>
          <a:p>
            <a:endParaRPr lang="ko-KR" altLang="en-US"/>
          </a:p>
        </p:txBody>
      </p:sp>
      <p:sp>
        <p:nvSpPr>
          <p:cNvPr id="258" name="Shape 256"/>
          <p:cNvSpPr/>
          <p:nvPr/>
        </p:nvSpPr>
        <p:spPr>
          <a:xfrm>
            <a:off x="2943317" y="5783842"/>
            <a:ext cx="1202369" cy="9525"/>
          </a:xfrm>
          <a:prstGeom prst="rect">
            <a:avLst/>
          </a:prstGeom>
          <a:solidFill>
            <a:srgbClr val="EADFD3"/>
          </a:solidFill>
          <a:ln/>
        </p:spPr>
        <p:txBody>
          <a:bodyPr/>
          <a:lstStyle/>
          <a:p>
            <a:endParaRPr lang="ko-KR" altLang="en-US"/>
          </a:p>
        </p:txBody>
      </p:sp>
      <p:sp>
        <p:nvSpPr>
          <p:cNvPr id="259" name="Shape 257"/>
          <p:cNvSpPr/>
          <p:nvPr/>
        </p:nvSpPr>
        <p:spPr>
          <a:xfrm>
            <a:off x="2943317" y="5783842"/>
            <a:ext cx="9525" cy="365113"/>
          </a:xfrm>
          <a:prstGeom prst="rect">
            <a:avLst/>
          </a:prstGeom>
          <a:solidFill>
            <a:srgbClr val="EADFD3"/>
          </a:solidFill>
          <a:ln/>
        </p:spPr>
        <p:txBody>
          <a:bodyPr/>
          <a:lstStyle/>
          <a:p>
            <a:endParaRPr lang="ko-KR" altLang="en-US"/>
          </a:p>
        </p:txBody>
      </p:sp>
      <p:sp>
        <p:nvSpPr>
          <p:cNvPr id="260" name="Text 258"/>
          <p:cNvSpPr/>
          <p:nvPr/>
        </p:nvSpPr>
        <p:spPr>
          <a:xfrm>
            <a:off x="2967584"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2,843</a:t>
            </a:r>
            <a:endParaRPr lang="en-US" sz="1163" dirty="0"/>
          </a:p>
        </p:txBody>
      </p:sp>
      <p:sp>
        <p:nvSpPr>
          <p:cNvPr id="261" name="Shape 259"/>
          <p:cNvSpPr/>
          <p:nvPr/>
        </p:nvSpPr>
        <p:spPr>
          <a:xfrm>
            <a:off x="4145686" y="5783842"/>
            <a:ext cx="1202369" cy="365113"/>
          </a:xfrm>
          <a:prstGeom prst="rect">
            <a:avLst/>
          </a:prstGeom>
          <a:solidFill>
            <a:srgbClr val="FFFFFF"/>
          </a:solidFill>
          <a:ln/>
        </p:spPr>
        <p:txBody>
          <a:bodyPr/>
          <a:lstStyle/>
          <a:p>
            <a:endParaRPr lang="ko-KR" altLang="en-US"/>
          </a:p>
        </p:txBody>
      </p:sp>
      <p:sp>
        <p:nvSpPr>
          <p:cNvPr id="262" name="Shape 260"/>
          <p:cNvSpPr/>
          <p:nvPr/>
        </p:nvSpPr>
        <p:spPr>
          <a:xfrm>
            <a:off x="4145686" y="5783842"/>
            <a:ext cx="1202369" cy="9525"/>
          </a:xfrm>
          <a:prstGeom prst="rect">
            <a:avLst/>
          </a:prstGeom>
          <a:solidFill>
            <a:srgbClr val="EADFD3"/>
          </a:solidFill>
          <a:ln/>
        </p:spPr>
        <p:txBody>
          <a:bodyPr/>
          <a:lstStyle/>
          <a:p>
            <a:endParaRPr lang="ko-KR" altLang="en-US"/>
          </a:p>
        </p:txBody>
      </p:sp>
      <p:sp>
        <p:nvSpPr>
          <p:cNvPr id="263" name="Shape 261"/>
          <p:cNvSpPr/>
          <p:nvPr/>
        </p:nvSpPr>
        <p:spPr>
          <a:xfrm>
            <a:off x="4145686" y="5783842"/>
            <a:ext cx="9525" cy="365113"/>
          </a:xfrm>
          <a:prstGeom prst="rect">
            <a:avLst/>
          </a:prstGeom>
          <a:solidFill>
            <a:srgbClr val="EADFD3"/>
          </a:solidFill>
          <a:ln/>
        </p:spPr>
        <p:txBody>
          <a:bodyPr/>
          <a:lstStyle/>
          <a:p>
            <a:endParaRPr lang="ko-KR" altLang="en-US"/>
          </a:p>
        </p:txBody>
      </p:sp>
      <p:sp>
        <p:nvSpPr>
          <p:cNvPr id="264" name="Text 262"/>
          <p:cNvSpPr/>
          <p:nvPr/>
        </p:nvSpPr>
        <p:spPr>
          <a:xfrm>
            <a:off x="4169953"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3,339</a:t>
            </a:r>
            <a:endParaRPr lang="en-US" sz="1163" dirty="0"/>
          </a:p>
        </p:txBody>
      </p:sp>
      <p:sp>
        <p:nvSpPr>
          <p:cNvPr id="265" name="Shape 263"/>
          <p:cNvSpPr/>
          <p:nvPr/>
        </p:nvSpPr>
        <p:spPr>
          <a:xfrm>
            <a:off x="5348054" y="5783842"/>
            <a:ext cx="1202369" cy="365113"/>
          </a:xfrm>
          <a:prstGeom prst="rect">
            <a:avLst/>
          </a:prstGeom>
          <a:solidFill>
            <a:srgbClr val="FFFFFF"/>
          </a:solidFill>
          <a:ln/>
        </p:spPr>
        <p:txBody>
          <a:bodyPr/>
          <a:lstStyle/>
          <a:p>
            <a:endParaRPr lang="ko-KR" altLang="en-US"/>
          </a:p>
        </p:txBody>
      </p:sp>
      <p:sp>
        <p:nvSpPr>
          <p:cNvPr id="266" name="Shape 264"/>
          <p:cNvSpPr/>
          <p:nvPr/>
        </p:nvSpPr>
        <p:spPr>
          <a:xfrm>
            <a:off x="5348054" y="5783842"/>
            <a:ext cx="1202369" cy="9525"/>
          </a:xfrm>
          <a:prstGeom prst="rect">
            <a:avLst/>
          </a:prstGeom>
          <a:solidFill>
            <a:srgbClr val="EADFD3"/>
          </a:solidFill>
          <a:ln/>
        </p:spPr>
        <p:txBody>
          <a:bodyPr/>
          <a:lstStyle/>
          <a:p>
            <a:endParaRPr lang="ko-KR" altLang="en-US"/>
          </a:p>
        </p:txBody>
      </p:sp>
      <p:sp>
        <p:nvSpPr>
          <p:cNvPr id="267" name="Shape 265"/>
          <p:cNvSpPr/>
          <p:nvPr/>
        </p:nvSpPr>
        <p:spPr>
          <a:xfrm>
            <a:off x="5348054" y="5783842"/>
            <a:ext cx="9525" cy="365113"/>
          </a:xfrm>
          <a:prstGeom prst="rect">
            <a:avLst/>
          </a:prstGeom>
          <a:solidFill>
            <a:srgbClr val="EADFD3"/>
          </a:solidFill>
          <a:ln/>
        </p:spPr>
        <p:txBody>
          <a:bodyPr/>
          <a:lstStyle/>
          <a:p>
            <a:endParaRPr lang="ko-KR" altLang="en-US"/>
          </a:p>
        </p:txBody>
      </p:sp>
      <p:sp>
        <p:nvSpPr>
          <p:cNvPr id="268" name="Text 266"/>
          <p:cNvSpPr/>
          <p:nvPr/>
        </p:nvSpPr>
        <p:spPr>
          <a:xfrm>
            <a:off x="5372321"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2,900</a:t>
            </a:r>
            <a:endParaRPr lang="en-US" sz="1163" dirty="0"/>
          </a:p>
        </p:txBody>
      </p:sp>
      <p:sp>
        <p:nvSpPr>
          <p:cNvPr id="269" name="Shape 267"/>
          <p:cNvSpPr/>
          <p:nvPr/>
        </p:nvSpPr>
        <p:spPr>
          <a:xfrm>
            <a:off x="6550423" y="5783842"/>
            <a:ext cx="1202369" cy="365113"/>
          </a:xfrm>
          <a:prstGeom prst="rect">
            <a:avLst/>
          </a:prstGeom>
          <a:solidFill>
            <a:srgbClr val="FFFFFF"/>
          </a:solidFill>
          <a:ln/>
        </p:spPr>
        <p:txBody>
          <a:bodyPr/>
          <a:lstStyle/>
          <a:p>
            <a:endParaRPr lang="ko-KR" altLang="en-US"/>
          </a:p>
        </p:txBody>
      </p:sp>
      <p:sp>
        <p:nvSpPr>
          <p:cNvPr id="270" name="Shape 268"/>
          <p:cNvSpPr/>
          <p:nvPr/>
        </p:nvSpPr>
        <p:spPr>
          <a:xfrm>
            <a:off x="6550423" y="5783842"/>
            <a:ext cx="1202369" cy="9525"/>
          </a:xfrm>
          <a:prstGeom prst="rect">
            <a:avLst/>
          </a:prstGeom>
          <a:solidFill>
            <a:srgbClr val="EADFD3"/>
          </a:solidFill>
          <a:ln/>
        </p:spPr>
        <p:txBody>
          <a:bodyPr/>
          <a:lstStyle/>
          <a:p>
            <a:endParaRPr lang="ko-KR" altLang="en-US"/>
          </a:p>
        </p:txBody>
      </p:sp>
      <p:sp>
        <p:nvSpPr>
          <p:cNvPr id="271" name="Shape 269"/>
          <p:cNvSpPr/>
          <p:nvPr/>
        </p:nvSpPr>
        <p:spPr>
          <a:xfrm>
            <a:off x="6550423" y="5783842"/>
            <a:ext cx="9525" cy="365113"/>
          </a:xfrm>
          <a:prstGeom prst="rect">
            <a:avLst/>
          </a:prstGeom>
          <a:solidFill>
            <a:srgbClr val="EADFD3"/>
          </a:solidFill>
          <a:ln/>
        </p:spPr>
        <p:txBody>
          <a:bodyPr/>
          <a:lstStyle/>
          <a:p>
            <a:endParaRPr lang="ko-KR" altLang="en-US"/>
          </a:p>
        </p:txBody>
      </p:sp>
      <p:sp>
        <p:nvSpPr>
          <p:cNvPr id="272" name="Text 270"/>
          <p:cNvSpPr/>
          <p:nvPr/>
        </p:nvSpPr>
        <p:spPr>
          <a:xfrm>
            <a:off x="6574690"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2,847</a:t>
            </a:r>
            <a:endParaRPr lang="en-US" sz="1163" dirty="0"/>
          </a:p>
        </p:txBody>
      </p:sp>
      <p:sp>
        <p:nvSpPr>
          <p:cNvPr id="273" name="Shape 271"/>
          <p:cNvSpPr/>
          <p:nvPr/>
        </p:nvSpPr>
        <p:spPr>
          <a:xfrm>
            <a:off x="7752792" y="5783842"/>
            <a:ext cx="1202369" cy="365113"/>
          </a:xfrm>
          <a:prstGeom prst="rect">
            <a:avLst/>
          </a:prstGeom>
          <a:solidFill>
            <a:srgbClr val="FFFFFF"/>
          </a:solidFill>
          <a:ln/>
        </p:spPr>
        <p:txBody>
          <a:bodyPr/>
          <a:lstStyle/>
          <a:p>
            <a:endParaRPr lang="ko-KR" altLang="en-US"/>
          </a:p>
        </p:txBody>
      </p:sp>
      <p:sp>
        <p:nvSpPr>
          <p:cNvPr id="274" name="Shape 272"/>
          <p:cNvSpPr/>
          <p:nvPr/>
        </p:nvSpPr>
        <p:spPr>
          <a:xfrm>
            <a:off x="7752792" y="5783842"/>
            <a:ext cx="1202369" cy="9525"/>
          </a:xfrm>
          <a:prstGeom prst="rect">
            <a:avLst/>
          </a:prstGeom>
          <a:solidFill>
            <a:srgbClr val="EADFD3"/>
          </a:solidFill>
          <a:ln/>
        </p:spPr>
        <p:txBody>
          <a:bodyPr/>
          <a:lstStyle/>
          <a:p>
            <a:endParaRPr lang="ko-KR" altLang="en-US"/>
          </a:p>
        </p:txBody>
      </p:sp>
      <p:sp>
        <p:nvSpPr>
          <p:cNvPr id="275" name="Shape 273"/>
          <p:cNvSpPr/>
          <p:nvPr/>
        </p:nvSpPr>
        <p:spPr>
          <a:xfrm>
            <a:off x="7752792" y="5783842"/>
            <a:ext cx="9525" cy="365113"/>
          </a:xfrm>
          <a:prstGeom prst="rect">
            <a:avLst/>
          </a:prstGeom>
          <a:solidFill>
            <a:srgbClr val="EADFD3"/>
          </a:solidFill>
          <a:ln/>
        </p:spPr>
        <p:txBody>
          <a:bodyPr/>
          <a:lstStyle/>
          <a:p>
            <a:endParaRPr lang="ko-KR" altLang="en-US"/>
          </a:p>
        </p:txBody>
      </p:sp>
      <p:sp>
        <p:nvSpPr>
          <p:cNvPr id="276" name="Text 274"/>
          <p:cNvSpPr/>
          <p:nvPr/>
        </p:nvSpPr>
        <p:spPr>
          <a:xfrm>
            <a:off x="7777059" y="5827159"/>
            <a:ext cx="1159052"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2,904</a:t>
            </a:r>
            <a:endParaRPr lang="en-US" sz="1163" dirty="0"/>
          </a:p>
        </p:txBody>
      </p:sp>
      <p:sp>
        <p:nvSpPr>
          <p:cNvPr id="277" name="Shape 275"/>
          <p:cNvSpPr/>
          <p:nvPr/>
        </p:nvSpPr>
        <p:spPr>
          <a:xfrm>
            <a:off x="8955161" y="5783842"/>
            <a:ext cx="1202776" cy="365113"/>
          </a:xfrm>
          <a:prstGeom prst="rect">
            <a:avLst/>
          </a:prstGeom>
          <a:solidFill>
            <a:srgbClr val="FFFFFF"/>
          </a:solidFill>
          <a:ln/>
        </p:spPr>
        <p:txBody>
          <a:bodyPr/>
          <a:lstStyle/>
          <a:p>
            <a:endParaRPr lang="ko-KR" altLang="en-US"/>
          </a:p>
        </p:txBody>
      </p:sp>
      <p:sp>
        <p:nvSpPr>
          <p:cNvPr id="278" name="Shape 276"/>
          <p:cNvSpPr/>
          <p:nvPr/>
        </p:nvSpPr>
        <p:spPr>
          <a:xfrm>
            <a:off x="8955161" y="5783842"/>
            <a:ext cx="1202776" cy="9525"/>
          </a:xfrm>
          <a:prstGeom prst="rect">
            <a:avLst/>
          </a:prstGeom>
          <a:solidFill>
            <a:srgbClr val="EADFD3"/>
          </a:solidFill>
          <a:ln/>
        </p:spPr>
        <p:txBody>
          <a:bodyPr/>
          <a:lstStyle/>
          <a:p>
            <a:endParaRPr lang="ko-KR" altLang="en-US"/>
          </a:p>
        </p:txBody>
      </p:sp>
      <p:sp>
        <p:nvSpPr>
          <p:cNvPr id="279" name="Shape 277"/>
          <p:cNvSpPr/>
          <p:nvPr/>
        </p:nvSpPr>
        <p:spPr>
          <a:xfrm>
            <a:off x="8955161" y="5783842"/>
            <a:ext cx="9525" cy="365113"/>
          </a:xfrm>
          <a:prstGeom prst="rect">
            <a:avLst/>
          </a:prstGeom>
          <a:solidFill>
            <a:srgbClr val="EADFD3"/>
          </a:solidFill>
          <a:ln/>
        </p:spPr>
        <p:txBody>
          <a:bodyPr/>
          <a:lstStyle/>
          <a:p>
            <a:endParaRPr lang="ko-KR" altLang="en-US"/>
          </a:p>
        </p:txBody>
      </p:sp>
      <p:sp>
        <p:nvSpPr>
          <p:cNvPr id="280" name="Text 278"/>
          <p:cNvSpPr/>
          <p:nvPr/>
        </p:nvSpPr>
        <p:spPr>
          <a:xfrm>
            <a:off x="8979428" y="5827159"/>
            <a:ext cx="1159459" cy="32179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3,393</a:t>
            </a:r>
            <a:endParaRPr lang="en-US" sz="1163" dirty="0"/>
          </a:p>
        </p:txBody>
      </p:sp>
      <p:sp>
        <p:nvSpPr>
          <p:cNvPr id="281" name="Shape 279"/>
          <p:cNvSpPr/>
          <p:nvPr/>
        </p:nvSpPr>
        <p:spPr>
          <a:xfrm>
            <a:off x="538580" y="6148954"/>
            <a:ext cx="2404738" cy="637133"/>
          </a:xfrm>
          <a:prstGeom prst="rect">
            <a:avLst/>
          </a:prstGeom>
          <a:solidFill>
            <a:srgbClr val="F5F7EC"/>
          </a:solidFill>
          <a:ln/>
        </p:spPr>
        <p:txBody>
          <a:bodyPr/>
          <a:lstStyle/>
          <a:p>
            <a:endParaRPr lang="ko-KR" altLang="en-US"/>
          </a:p>
        </p:txBody>
      </p:sp>
      <p:sp>
        <p:nvSpPr>
          <p:cNvPr id="282" name="Shape 280"/>
          <p:cNvSpPr/>
          <p:nvPr/>
        </p:nvSpPr>
        <p:spPr>
          <a:xfrm>
            <a:off x="538580" y="6148954"/>
            <a:ext cx="2404738" cy="9525"/>
          </a:xfrm>
          <a:prstGeom prst="rect">
            <a:avLst/>
          </a:prstGeom>
          <a:solidFill>
            <a:srgbClr val="EADFD3"/>
          </a:solidFill>
          <a:ln/>
        </p:spPr>
        <p:txBody>
          <a:bodyPr/>
          <a:lstStyle/>
          <a:p>
            <a:endParaRPr lang="ko-KR" altLang="en-US"/>
          </a:p>
        </p:txBody>
      </p:sp>
      <p:sp>
        <p:nvSpPr>
          <p:cNvPr id="283" name="Text 281"/>
          <p:cNvSpPr/>
          <p:nvPr/>
        </p:nvSpPr>
        <p:spPr>
          <a:xfrm>
            <a:off x="557630" y="6192271"/>
            <a:ext cx="2366638" cy="593816"/>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이런 분들께 추천!</a:t>
            </a:r>
            <a:endParaRPr lang="en-US" sz="1163" dirty="0"/>
          </a:p>
        </p:txBody>
      </p:sp>
      <p:sp>
        <p:nvSpPr>
          <p:cNvPr id="284" name="Shape 282"/>
          <p:cNvSpPr/>
          <p:nvPr/>
        </p:nvSpPr>
        <p:spPr>
          <a:xfrm>
            <a:off x="2943317" y="6148954"/>
            <a:ext cx="2404738" cy="637133"/>
          </a:xfrm>
          <a:prstGeom prst="rect">
            <a:avLst/>
          </a:prstGeom>
          <a:solidFill>
            <a:srgbClr val="FFFFFF"/>
          </a:solidFill>
          <a:ln/>
        </p:spPr>
        <p:txBody>
          <a:bodyPr/>
          <a:lstStyle/>
          <a:p>
            <a:endParaRPr lang="ko-KR" altLang="en-US"/>
          </a:p>
        </p:txBody>
      </p:sp>
      <p:sp>
        <p:nvSpPr>
          <p:cNvPr id="285" name="Shape 283"/>
          <p:cNvSpPr/>
          <p:nvPr/>
        </p:nvSpPr>
        <p:spPr>
          <a:xfrm>
            <a:off x="2943317" y="6148954"/>
            <a:ext cx="2404738" cy="9525"/>
          </a:xfrm>
          <a:prstGeom prst="rect">
            <a:avLst/>
          </a:prstGeom>
          <a:solidFill>
            <a:srgbClr val="EADFD3"/>
          </a:solidFill>
          <a:ln/>
        </p:spPr>
        <p:txBody>
          <a:bodyPr/>
          <a:lstStyle/>
          <a:p>
            <a:endParaRPr lang="ko-KR" altLang="en-US"/>
          </a:p>
        </p:txBody>
      </p:sp>
      <p:sp>
        <p:nvSpPr>
          <p:cNvPr id="286" name="Shape 284"/>
          <p:cNvSpPr/>
          <p:nvPr/>
        </p:nvSpPr>
        <p:spPr>
          <a:xfrm>
            <a:off x="2943317" y="6148954"/>
            <a:ext cx="9525" cy="637133"/>
          </a:xfrm>
          <a:prstGeom prst="rect">
            <a:avLst/>
          </a:prstGeom>
          <a:solidFill>
            <a:srgbClr val="EADFD3"/>
          </a:solidFill>
          <a:ln/>
        </p:spPr>
        <p:txBody>
          <a:bodyPr/>
          <a:lstStyle/>
          <a:p>
            <a:endParaRPr lang="ko-KR" altLang="en-US"/>
          </a:p>
        </p:txBody>
      </p:sp>
      <p:sp>
        <p:nvSpPr>
          <p:cNvPr id="287" name="Text 285"/>
          <p:cNvSpPr/>
          <p:nvPr/>
        </p:nvSpPr>
        <p:spPr>
          <a:xfrm>
            <a:off x="2967584" y="6192271"/>
            <a:ext cx="2361420" cy="593816"/>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질병수술비류 연계 완화 남성 종합보험 + 수술비 플랜 추천</a:t>
            </a:r>
            <a:endParaRPr lang="en-US" sz="1163" dirty="0"/>
          </a:p>
        </p:txBody>
      </p:sp>
      <p:sp>
        <p:nvSpPr>
          <p:cNvPr id="288" name="Shape 286"/>
          <p:cNvSpPr/>
          <p:nvPr/>
        </p:nvSpPr>
        <p:spPr>
          <a:xfrm>
            <a:off x="5348054" y="6148954"/>
            <a:ext cx="2404738" cy="637133"/>
          </a:xfrm>
          <a:prstGeom prst="rect">
            <a:avLst/>
          </a:prstGeom>
          <a:solidFill>
            <a:srgbClr val="FFFFFF"/>
          </a:solidFill>
          <a:ln/>
        </p:spPr>
        <p:txBody>
          <a:bodyPr/>
          <a:lstStyle/>
          <a:p>
            <a:endParaRPr lang="ko-KR" altLang="en-US"/>
          </a:p>
        </p:txBody>
      </p:sp>
      <p:sp>
        <p:nvSpPr>
          <p:cNvPr id="289" name="Shape 287"/>
          <p:cNvSpPr/>
          <p:nvPr/>
        </p:nvSpPr>
        <p:spPr>
          <a:xfrm>
            <a:off x="5348054" y="6148954"/>
            <a:ext cx="2404738" cy="9525"/>
          </a:xfrm>
          <a:prstGeom prst="rect">
            <a:avLst/>
          </a:prstGeom>
          <a:solidFill>
            <a:srgbClr val="EADFD3"/>
          </a:solidFill>
          <a:ln/>
        </p:spPr>
        <p:txBody>
          <a:bodyPr/>
          <a:lstStyle/>
          <a:p>
            <a:endParaRPr lang="ko-KR" altLang="en-US"/>
          </a:p>
        </p:txBody>
      </p:sp>
      <p:sp>
        <p:nvSpPr>
          <p:cNvPr id="290" name="Shape 288"/>
          <p:cNvSpPr/>
          <p:nvPr/>
        </p:nvSpPr>
        <p:spPr>
          <a:xfrm>
            <a:off x="5348054" y="6148954"/>
            <a:ext cx="9525" cy="637133"/>
          </a:xfrm>
          <a:prstGeom prst="rect">
            <a:avLst/>
          </a:prstGeom>
          <a:solidFill>
            <a:srgbClr val="EADFD3"/>
          </a:solidFill>
          <a:ln/>
        </p:spPr>
        <p:txBody>
          <a:bodyPr/>
          <a:lstStyle/>
          <a:p>
            <a:endParaRPr lang="ko-KR" altLang="en-US"/>
          </a:p>
        </p:txBody>
      </p:sp>
      <p:sp>
        <p:nvSpPr>
          <p:cNvPr id="291" name="Text 289"/>
          <p:cNvSpPr/>
          <p:nvPr/>
        </p:nvSpPr>
        <p:spPr>
          <a:xfrm>
            <a:off x="5372321" y="6192271"/>
            <a:ext cx="2361420" cy="593816"/>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3대진단비 및 여성 종합보험</a:t>
            </a:r>
            <a:endParaRPr lang="en-US" sz="1163" dirty="0"/>
          </a:p>
        </p:txBody>
      </p:sp>
      <p:sp>
        <p:nvSpPr>
          <p:cNvPr id="292" name="Shape 290"/>
          <p:cNvSpPr/>
          <p:nvPr/>
        </p:nvSpPr>
        <p:spPr>
          <a:xfrm>
            <a:off x="7752792" y="6148954"/>
            <a:ext cx="2405145" cy="637133"/>
          </a:xfrm>
          <a:prstGeom prst="rect">
            <a:avLst/>
          </a:prstGeom>
          <a:solidFill>
            <a:srgbClr val="FFFFFF"/>
          </a:solidFill>
          <a:ln/>
        </p:spPr>
        <p:txBody>
          <a:bodyPr/>
          <a:lstStyle/>
          <a:p>
            <a:endParaRPr lang="ko-KR" altLang="en-US"/>
          </a:p>
        </p:txBody>
      </p:sp>
      <p:sp>
        <p:nvSpPr>
          <p:cNvPr id="293" name="Shape 291"/>
          <p:cNvSpPr/>
          <p:nvPr/>
        </p:nvSpPr>
        <p:spPr>
          <a:xfrm>
            <a:off x="7752792" y="6148954"/>
            <a:ext cx="2405145" cy="9525"/>
          </a:xfrm>
          <a:prstGeom prst="rect">
            <a:avLst/>
          </a:prstGeom>
          <a:solidFill>
            <a:srgbClr val="EADFD3"/>
          </a:solidFill>
          <a:ln/>
        </p:spPr>
        <p:txBody>
          <a:bodyPr/>
          <a:lstStyle/>
          <a:p>
            <a:endParaRPr lang="ko-KR" altLang="en-US"/>
          </a:p>
        </p:txBody>
      </p:sp>
      <p:sp>
        <p:nvSpPr>
          <p:cNvPr id="294" name="Shape 292"/>
          <p:cNvSpPr/>
          <p:nvPr/>
        </p:nvSpPr>
        <p:spPr>
          <a:xfrm>
            <a:off x="7752792" y="6148954"/>
            <a:ext cx="9525" cy="637133"/>
          </a:xfrm>
          <a:prstGeom prst="rect">
            <a:avLst/>
          </a:prstGeom>
          <a:solidFill>
            <a:srgbClr val="EADFD3"/>
          </a:solidFill>
          <a:ln/>
        </p:spPr>
        <p:txBody>
          <a:bodyPr/>
          <a:lstStyle/>
          <a:p>
            <a:endParaRPr lang="ko-KR" altLang="en-US"/>
          </a:p>
        </p:txBody>
      </p:sp>
      <p:sp>
        <p:nvSpPr>
          <p:cNvPr id="295" name="Text 293"/>
          <p:cNvSpPr/>
          <p:nvPr/>
        </p:nvSpPr>
        <p:spPr>
          <a:xfrm>
            <a:off x="7777059" y="6192271"/>
            <a:ext cx="2361828" cy="593816"/>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3대 주요치료 위주 플랜</a:t>
            </a:r>
            <a:endParaRPr lang="en-US" sz="1163" dirty="0"/>
          </a:p>
        </p:txBody>
      </p:sp>
      <p:sp>
        <p:nvSpPr>
          <p:cNvPr id="296" name="Text 29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7" name="Text 29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8" name="Text 29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E2D3"/>
        </a:solidFill>
        <a:effectLst/>
      </p:bgPr>
    </p:bg>
    <p:spTree>
      <p:nvGrpSpPr>
        <p:cNvPr id="1" name=""/>
        <p:cNvGrpSpPr/>
        <p:nvPr/>
      </p:nvGrpSpPr>
      <p:grpSpPr>
        <a:xfrm>
          <a:off x="0" y="0"/>
          <a:ext cx="0" cy="0"/>
          <a:chOff x="0" y="0"/>
          <a:chExt cx="0" cy="0"/>
        </a:xfrm>
      </p:grpSpPr>
      <p:sp>
        <p:nvSpPr>
          <p:cNvPr id="2" name="Shape 0"/>
          <p:cNvSpPr/>
          <p:nvPr/>
        </p:nvSpPr>
        <p:spPr>
          <a:xfrm>
            <a:off x="6886516" y="-1523951"/>
            <a:ext cx="4952944" cy="4952944"/>
          </a:xfrm>
          <a:prstGeom prst="ellipse">
            <a:avLst/>
          </a:prstGeom>
          <a:solidFill>
            <a:srgbClr val="CF7446">
              <a:alpha val="10000"/>
            </a:srgbClr>
          </a:solidFill>
          <a:ln/>
        </p:spPr>
        <p:txBody>
          <a:bodyPr/>
          <a:lstStyle/>
          <a:p>
            <a:endParaRPr lang="ko-KR" altLang="en-US"/>
          </a:p>
        </p:txBody>
      </p:sp>
      <p:sp>
        <p:nvSpPr>
          <p:cNvPr id="3" name="Text 1"/>
          <p:cNvSpPr/>
          <p:nvPr/>
        </p:nvSpPr>
        <p:spPr>
          <a:xfrm>
            <a:off x="914371" y="1333447"/>
            <a:ext cx="2446417" cy="603906"/>
          </a:xfrm>
          <a:prstGeom prst="rect">
            <a:avLst/>
          </a:prstGeom>
          <a:noFill/>
          <a:ln/>
        </p:spPr>
        <p:txBody>
          <a:bodyPr wrap="square" lIns="25400" tIns="25400" rIns="25400" bIns="25400" rtlCol="0" anchor="t">
            <a:normAutofit lnSpcReduction="10000"/>
          </a:bodyPr>
          <a:lstStyle/>
          <a:p>
            <a:pPr marL="0" indent="0" algn="l">
              <a:lnSpc>
                <a:spcPct val="95973"/>
              </a:lnSpc>
              <a:buNone/>
            </a:pPr>
            <a:r>
              <a:rPr lang="en-US" sz="4050" b="1" kern="0" spc="-142" dirty="0">
                <a:solidFill>
                  <a:srgbClr val="9A4A27"/>
                </a:solidFill>
                <a:latin typeface="Paperlogy 7 Bold" pitchFamily="2" charset="-127"/>
                <a:ea typeface="Paperlogy 7 Bold" pitchFamily="2" charset="-127"/>
                <a:cs typeface="Arial" pitchFamily="34" charset="-120"/>
              </a:rPr>
              <a:t>2. 손해보험</a:t>
            </a:r>
            <a:endParaRPr lang="en-US" sz="4050" dirty="0"/>
          </a:p>
        </p:txBody>
      </p:sp>
      <p:sp>
        <p:nvSpPr>
          <p:cNvPr id="4" name="Shape 2"/>
          <p:cNvSpPr/>
          <p:nvPr/>
        </p:nvSpPr>
        <p:spPr>
          <a:xfrm>
            <a:off x="914371" y="2590758"/>
            <a:ext cx="8867775" cy="3280796"/>
          </a:xfrm>
          <a:prstGeom prst="roundRect">
            <a:avLst>
              <a:gd name="adj" fmla="val 6968"/>
            </a:avLst>
          </a:prstGeom>
          <a:solidFill>
            <a:srgbClr val="FFFFFF"/>
          </a:solidFill>
          <a:ln/>
        </p:spPr>
        <p:txBody>
          <a:bodyPr/>
          <a:lstStyle/>
          <a:p>
            <a:endParaRPr lang="ko-KR" altLang="en-US"/>
          </a:p>
        </p:txBody>
      </p:sp>
      <p:sp>
        <p:nvSpPr>
          <p:cNvPr id="5" name="Text 3"/>
          <p:cNvSpPr/>
          <p:nvPr/>
        </p:nvSpPr>
        <p:spPr>
          <a:xfrm>
            <a:off x="1447733" y="3115072"/>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01</a:t>
            </a:r>
            <a:endParaRPr lang="en-US" sz="1500" dirty="0"/>
          </a:p>
        </p:txBody>
      </p:sp>
      <p:sp>
        <p:nvSpPr>
          <p:cNvPr id="6" name="Text 4"/>
          <p:cNvSpPr/>
          <p:nvPr/>
        </p:nvSpPr>
        <p:spPr>
          <a:xfrm>
            <a:off x="2076307" y="2952610"/>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보험료는 반값, 비급여 병원비는 '반반’</a:t>
            </a:r>
            <a:endParaRPr lang="en-US" sz="1500" dirty="0"/>
          </a:p>
        </p:txBody>
      </p:sp>
      <p:sp>
        <p:nvSpPr>
          <p:cNvPr id="7" name="Text 5"/>
          <p:cNvSpPr/>
          <p:nvPr/>
        </p:nvSpPr>
        <p:spPr>
          <a:xfrm>
            <a:off x="2076307" y="3215012"/>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KB손해보험 – 5.10.10 Young 플러스건강</a:t>
            </a:r>
            <a:endParaRPr lang="en-US" sz="1875" dirty="0"/>
          </a:p>
        </p:txBody>
      </p:sp>
      <p:sp>
        <p:nvSpPr>
          <p:cNvPr id="8" name="Shape 6"/>
          <p:cNvSpPr/>
          <p:nvPr/>
        </p:nvSpPr>
        <p:spPr>
          <a:xfrm>
            <a:off x="1447733" y="3725305"/>
            <a:ext cx="7801050" cy="9525"/>
          </a:xfrm>
          <a:prstGeom prst="rect">
            <a:avLst/>
          </a:prstGeom>
          <a:solidFill>
            <a:srgbClr val="EADFD3"/>
          </a:solidFill>
          <a:ln/>
        </p:spPr>
        <p:txBody>
          <a:bodyPr/>
          <a:lstStyle/>
          <a:p>
            <a:endParaRPr lang="ko-KR" altLang="en-US"/>
          </a:p>
        </p:txBody>
      </p:sp>
      <p:sp>
        <p:nvSpPr>
          <p:cNvPr id="9" name="Text 7"/>
          <p:cNvSpPr/>
          <p:nvPr/>
        </p:nvSpPr>
        <p:spPr>
          <a:xfrm>
            <a:off x="1447733" y="4121557"/>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02</a:t>
            </a:r>
            <a:endParaRPr lang="en-US" sz="1500" dirty="0"/>
          </a:p>
        </p:txBody>
      </p:sp>
      <p:sp>
        <p:nvSpPr>
          <p:cNvPr id="10" name="Text 8"/>
          <p:cNvSpPr/>
          <p:nvPr/>
        </p:nvSpPr>
        <p:spPr>
          <a:xfrm>
            <a:off x="2076307" y="3959095"/>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허가부터 건보까지 평균 659일… 그 사이 치료비는?</a:t>
            </a:r>
            <a:endParaRPr lang="en-US" sz="1500" dirty="0"/>
          </a:p>
        </p:txBody>
      </p:sp>
      <p:sp>
        <p:nvSpPr>
          <p:cNvPr id="11" name="Text 9"/>
          <p:cNvSpPr/>
          <p:nvPr/>
        </p:nvSpPr>
        <p:spPr>
          <a:xfrm>
            <a:off x="2076307" y="4221496"/>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삼성화재 – New</a:t>
            </a:r>
            <a:r>
              <a:rPr lang="ko-KR" altLang="en-US" sz="1875" b="1" dirty="0">
                <a:solidFill>
                  <a:srgbClr val="3A2C24"/>
                </a:solidFill>
                <a:latin typeface="Paperlogy 7 Bold" pitchFamily="2" charset="-127"/>
                <a:ea typeface="Paperlogy 7 Bold" pitchFamily="2" charset="-127"/>
                <a:cs typeface="Arial" pitchFamily="34" charset="-120"/>
              </a:rPr>
              <a:t> </a:t>
            </a:r>
            <a:r>
              <a:rPr lang="en-US" sz="1875" b="1" dirty="0" err="1">
                <a:solidFill>
                  <a:srgbClr val="3A2C24"/>
                </a:solidFill>
                <a:latin typeface="Paperlogy 7 Bold" pitchFamily="2" charset="-127"/>
                <a:ea typeface="Paperlogy 7 Bold" pitchFamily="2" charset="-127"/>
                <a:cs typeface="Arial" pitchFamily="34" charset="-120"/>
              </a:rPr>
              <a:t>내돈내삼</a:t>
            </a:r>
            <a:endParaRPr lang="en-US" sz="1875" dirty="0"/>
          </a:p>
        </p:txBody>
      </p:sp>
      <p:sp>
        <p:nvSpPr>
          <p:cNvPr id="12" name="Shape 10"/>
          <p:cNvSpPr/>
          <p:nvPr/>
        </p:nvSpPr>
        <p:spPr>
          <a:xfrm>
            <a:off x="1447733" y="4731790"/>
            <a:ext cx="7801050" cy="9525"/>
          </a:xfrm>
          <a:prstGeom prst="rect">
            <a:avLst/>
          </a:prstGeom>
          <a:solidFill>
            <a:srgbClr val="EADFD3"/>
          </a:solidFill>
          <a:ln/>
        </p:spPr>
        <p:txBody>
          <a:bodyPr/>
          <a:lstStyle/>
          <a:p>
            <a:endParaRPr lang="ko-KR" altLang="en-US"/>
          </a:p>
        </p:txBody>
      </p:sp>
      <p:sp>
        <p:nvSpPr>
          <p:cNvPr id="13" name="Text 11"/>
          <p:cNvSpPr/>
          <p:nvPr/>
        </p:nvSpPr>
        <p:spPr>
          <a:xfrm>
            <a:off x="1447733" y="5128042"/>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7446"/>
                </a:solidFill>
                <a:latin typeface="Paperlogy 7 Bold" pitchFamily="2" charset="-127"/>
                <a:ea typeface="Paperlogy 7 Bold" pitchFamily="2" charset="-127"/>
                <a:cs typeface="Arial" pitchFamily="34" charset="-120"/>
              </a:rPr>
              <a:t>03</a:t>
            </a:r>
            <a:endParaRPr lang="en-US" sz="1500" dirty="0"/>
          </a:p>
        </p:txBody>
      </p:sp>
      <p:sp>
        <p:nvSpPr>
          <p:cNvPr id="14" name="Text 12"/>
          <p:cNvSpPr/>
          <p:nvPr/>
        </p:nvSpPr>
        <p:spPr>
          <a:xfrm>
            <a:off x="2076307" y="4965579"/>
            <a:ext cx="7889724" cy="262433"/>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7B6B60"/>
                </a:solidFill>
                <a:latin typeface="Paperlogy 7 Bold" pitchFamily="2" charset="-127"/>
                <a:ea typeface="Paperlogy 7 Bold" pitchFamily="2" charset="-127"/>
                <a:cs typeface="Arial" pitchFamily="34" charset="-120"/>
              </a:rPr>
              <a:t>간병비, 물가보다 두 배 빨리 오른다… 하루 12만~14만원</a:t>
            </a:r>
            <a:endParaRPr lang="en-US" sz="1500" dirty="0"/>
          </a:p>
        </p:txBody>
      </p:sp>
      <p:sp>
        <p:nvSpPr>
          <p:cNvPr id="15" name="Text 13"/>
          <p:cNvSpPr/>
          <p:nvPr/>
        </p:nvSpPr>
        <p:spPr>
          <a:xfrm>
            <a:off x="2076307" y="5227981"/>
            <a:ext cx="7889724" cy="319821"/>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3A2C24"/>
                </a:solidFill>
                <a:latin typeface="Paperlogy 7 Bold" pitchFamily="2" charset="-127"/>
                <a:ea typeface="Paperlogy 7 Bold" pitchFamily="2" charset="-127"/>
                <a:cs typeface="Arial" pitchFamily="34" charset="-120"/>
              </a:rPr>
              <a:t>흥국화재 – 든든한 3N5 초경증</a:t>
            </a:r>
            <a:endParaRPr lang="en-US" sz="1875" dirty="0"/>
          </a:p>
        </p:txBody>
      </p:sp>
      <p:sp>
        <p:nvSpPr>
          <p:cNvPr id="16" name="Text 14"/>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490065"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손해보험 BEST CHOICE</a:t>
            </a:r>
            <a:endParaRPr lang="en-US" sz="2475" dirty="0"/>
          </a:p>
        </p:txBody>
      </p:sp>
      <p:sp>
        <p:nvSpPr>
          <p:cNvPr id="3" name="Shape 1"/>
          <p:cNvSpPr/>
          <p:nvPr/>
        </p:nvSpPr>
        <p:spPr>
          <a:xfrm>
            <a:off x="9402768" y="340821"/>
            <a:ext cx="760386"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555168" y="407496"/>
            <a:ext cx="531786"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손해보험</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1047732" cy="5695967"/>
          </a:xfrm>
          <a:prstGeom prst="roundRect">
            <a:avLst>
              <a:gd name="adj" fmla="val 14546"/>
            </a:avLst>
          </a:prstGeom>
          <a:solidFill>
            <a:srgbClr val="FCF4EE"/>
          </a:solidFill>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790547" y="1304835"/>
            <a:ext cx="533363" cy="1307525"/>
          </a:xfrm>
          <a:prstGeom prst="rect">
            <a:avLst/>
          </a:prstGeom>
        </p:spPr>
      </p:pic>
      <p:sp>
        <p:nvSpPr>
          <p:cNvPr id="8" name="Text 5"/>
          <p:cNvSpPr/>
          <p:nvPr/>
        </p:nvSpPr>
        <p:spPr>
          <a:xfrm>
            <a:off x="942413" y="2783789"/>
            <a:ext cx="305751" cy="2006480"/>
          </a:xfrm>
          <a:prstGeom prst="rect">
            <a:avLst/>
          </a:prstGeom>
          <a:noFill/>
          <a:ln/>
        </p:spPr>
        <p:txBody>
          <a:bodyPr vert="eaVert" wrap="square" lIns="25400" tIns="25400" rIns="25400" bIns="25400" rtlCol="0" anchor="t">
            <a:normAutofit fontScale="92500"/>
          </a:bodyPr>
          <a:lstStyle/>
          <a:p>
            <a:pPr marL="0" indent="0" algn="l">
              <a:buNone/>
            </a:pPr>
            <a:r>
              <a:rPr lang="en-US" sz="1575" b="1" kern="0" spc="441" dirty="0">
                <a:solidFill>
                  <a:srgbClr val="CF7446"/>
                </a:solidFill>
                <a:latin typeface="Paperlogy 7 Bold" pitchFamily="2" charset="-127"/>
                <a:ea typeface="Paperlogy 7 Bold" pitchFamily="2" charset="-127"/>
                <a:cs typeface="Arial" pitchFamily="34" charset="-120"/>
              </a:rPr>
              <a:t>BEST CHOICE</a:t>
            </a:r>
            <a:endParaRPr lang="en-US" sz="1575" dirty="0"/>
          </a:p>
        </p:txBody>
      </p:sp>
      <p:sp>
        <p:nvSpPr>
          <p:cNvPr id="9" name="Shape 6"/>
          <p:cNvSpPr/>
          <p:nvPr/>
        </p:nvSpPr>
        <p:spPr>
          <a:xfrm>
            <a:off x="1733530" y="1095338"/>
            <a:ext cx="1428740" cy="1394503"/>
          </a:xfrm>
          <a:prstGeom prst="roundRect">
            <a:avLst>
              <a:gd name="adj" fmla="val 9563"/>
            </a:avLst>
          </a:prstGeom>
          <a:solidFill>
            <a:srgbClr val="CF7446"/>
          </a:solidFill>
          <a:ln/>
        </p:spPr>
        <p:txBody>
          <a:bodyPr/>
          <a:lstStyle/>
          <a:p>
            <a:endParaRPr lang="ko-KR" altLang="en-US"/>
          </a:p>
        </p:txBody>
      </p:sp>
      <p:sp>
        <p:nvSpPr>
          <p:cNvPr id="10" name="Text 7"/>
          <p:cNvSpPr/>
          <p:nvPr/>
        </p:nvSpPr>
        <p:spPr>
          <a:xfrm>
            <a:off x="1695430" y="1095338"/>
            <a:ext cx="1504940" cy="1432603"/>
          </a:xfrm>
          <a:prstGeom prst="rect">
            <a:avLst/>
          </a:prstGeom>
          <a:noFill/>
          <a:ln/>
        </p:spPr>
        <p:txBody>
          <a:bodyPr wrap="square" lIns="25400" tIns="25400" rIns="25400" bIns="25400" rtlCol="0" anchor="ctr">
            <a:normAutofit/>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수술비</a:t>
            </a:r>
            <a:endParaRPr lang="en-US" sz="1650" dirty="0"/>
          </a:p>
        </p:txBody>
      </p:sp>
      <p:sp>
        <p:nvSpPr>
          <p:cNvPr id="11" name="Shape 8"/>
          <p:cNvSpPr/>
          <p:nvPr/>
        </p:nvSpPr>
        <p:spPr>
          <a:xfrm>
            <a:off x="3257482" y="1095338"/>
            <a:ext cx="6905672" cy="1394503"/>
          </a:xfrm>
          <a:prstGeom prst="roundRect">
            <a:avLst>
              <a:gd name="adj" fmla="val 9563"/>
            </a:avLst>
          </a:prstGeom>
          <a:solidFill>
            <a:srgbClr val="FFFFFF"/>
          </a:solidFill>
          <a:ln w="5217">
            <a:solidFill>
              <a:srgbClr val="EADFD3"/>
            </a:solidFill>
            <a:prstDash val="solid"/>
          </a:ln>
        </p:spPr>
        <p:txBody>
          <a:bodyPr/>
          <a:lstStyle/>
          <a:p>
            <a:endParaRPr lang="ko-KR" altLang="en-US"/>
          </a:p>
        </p:txBody>
      </p:sp>
      <p:sp>
        <p:nvSpPr>
          <p:cNvPr id="12" name="Shape 9"/>
          <p:cNvSpPr/>
          <p:nvPr/>
        </p:nvSpPr>
        <p:spPr>
          <a:xfrm>
            <a:off x="3529340" y="1485476"/>
            <a:ext cx="47606" cy="47606"/>
          </a:xfrm>
          <a:prstGeom prst="ellipse">
            <a:avLst/>
          </a:prstGeom>
          <a:solidFill>
            <a:srgbClr val="CF7446"/>
          </a:solidFill>
          <a:ln/>
        </p:spPr>
        <p:txBody>
          <a:bodyPr/>
          <a:lstStyle/>
          <a:p>
            <a:endParaRPr lang="ko-KR" altLang="en-US"/>
          </a:p>
        </p:txBody>
      </p:sp>
      <p:sp>
        <p:nvSpPr>
          <p:cNvPr id="13" name="Text 10"/>
          <p:cNvSpPr/>
          <p:nvPr/>
        </p:nvSpPr>
        <p:spPr>
          <a:xfrm>
            <a:off x="3672156" y="1386678"/>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KB손해보험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5.10.10 Young 플러스건강보험</a:t>
            </a:r>
            <a:endParaRPr lang="en-US" sz="1350" dirty="0"/>
          </a:p>
        </p:txBody>
      </p:sp>
      <p:sp>
        <p:nvSpPr>
          <p:cNvPr id="14" name="Shape 11"/>
          <p:cNvSpPr/>
          <p:nvPr/>
        </p:nvSpPr>
        <p:spPr>
          <a:xfrm>
            <a:off x="3529340" y="1768746"/>
            <a:ext cx="47606" cy="47606"/>
          </a:xfrm>
          <a:prstGeom prst="ellipse">
            <a:avLst/>
          </a:prstGeom>
          <a:solidFill>
            <a:srgbClr val="CF7446"/>
          </a:solidFill>
          <a:ln/>
        </p:spPr>
        <p:txBody>
          <a:bodyPr/>
          <a:lstStyle/>
          <a:p>
            <a:endParaRPr lang="ko-KR" altLang="en-US"/>
          </a:p>
        </p:txBody>
      </p:sp>
      <p:sp>
        <p:nvSpPr>
          <p:cNvPr id="15" name="Text 12"/>
          <p:cNvSpPr/>
          <p:nvPr/>
        </p:nvSpPr>
        <p:spPr>
          <a:xfrm>
            <a:off x="3672156" y="1669947"/>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삼성화재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New</a:t>
            </a:r>
            <a:r>
              <a:rPr lang="ko-KR" altLang="en-US" sz="1350" b="1" dirty="0">
                <a:solidFill>
                  <a:srgbClr val="3A2C24"/>
                </a:solidFill>
                <a:latin typeface="Paperlogy 7 Bold" pitchFamily="2" charset="-127"/>
                <a:ea typeface="Paperlogy 7 Bold" pitchFamily="2" charset="-127"/>
                <a:cs typeface="Arial" pitchFamily="34" charset="-120"/>
              </a:rPr>
              <a:t> </a:t>
            </a:r>
            <a:r>
              <a:rPr lang="en-US" sz="1350" b="1" dirty="0" err="1">
                <a:solidFill>
                  <a:srgbClr val="3A2C24"/>
                </a:solidFill>
                <a:latin typeface="Paperlogy 7 Bold" pitchFamily="2" charset="-127"/>
                <a:ea typeface="Paperlogy 7 Bold" pitchFamily="2" charset="-127"/>
                <a:cs typeface="Arial" pitchFamily="34" charset="-120"/>
              </a:rPr>
              <a:t>내돈내삼</a:t>
            </a:r>
            <a:endParaRPr lang="en-US" sz="1350" dirty="0"/>
          </a:p>
        </p:txBody>
      </p:sp>
      <p:sp>
        <p:nvSpPr>
          <p:cNvPr id="16" name="Shape 13"/>
          <p:cNvSpPr/>
          <p:nvPr/>
        </p:nvSpPr>
        <p:spPr>
          <a:xfrm>
            <a:off x="3529340" y="2052015"/>
            <a:ext cx="47606" cy="47606"/>
          </a:xfrm>
          <a:prstGeom prst="ellipse">
            <a:avLst/>
          </a:prstGeom>
          <a:solidFill>
            <a:srgbClr val="CF7446"/>
          </a:solidFill>
          <a:ln/>
        </p:spPr>
        <p:txBody>
          <a:bodyPr/>
          <a:lstStyle/>
          <a:p>
            <a:endParaRPr lang="ko-KR" altLang="en-US"/>
          </a:p>
        </p:txBody>
      </p:sp>
      <p:sp>
        <p:nvSpPr>
          <p:cNvPr id="17" name="Text 14"/>
          <p:cNvSpPr/>
          <p:nvPr/>
        </p:nvSpPr>
        <p:spPr>
          <a:xfrm>
            <a:off x="3672156" y="1953217"/>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하나손해보험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더퍼스트5.10.5</a:t>
            </a:r>
            <a:endParaRPr lang="en-US" sz="1350" dirty="0"/>
          </a:p>
        </p:txBody>
      </p:sp>
      <p:pic>
        <p:nvPicPr>
          <p:cNvPr id="18" name="Image 1" descr="preencoded.png"/>
          <p:cNvPicPr>
            <a:picLocks noChangeAspect="1"/>
          </p:cNvPicPr>
          <p:nvPr/>
        </p:nvPicPr>
        <p:blipFill>
          <a:blip r:embed="rId4"/>
          <a:srcRect t="-7167" b="-7167"/>
          <a:stretch/>
        </p:blipFill>
        <p:spPr>
          <a:xfrm>
            <a:off x="9396002" y="1544901"/>
            <a:ext cx="495294" cy="495294"/>
          </a:xfrm>
          <a:prstGeom prst="rect">
            <a:avLst/>
          </a:prstGeom>
        </p:spPr>
      </p:pic>
      <p:sp>
        <p:nvSpPr>
          <p:cNvPr id="19" name="Shape 15"/>
          <p:cNvSpPr/>
          <p:nvPr/>
        </p:nvSpPr>
        <p:spPr>
          <a:xfrm>
            <a:off x="1733530" y="2585052"/>
            <a:ext cx="1428740" cy="1394585"/>
          </a:xfrm>
          <a:prstGeom prst="roundRect">
            <a:avLst>
              <a:gd name="adj" fmla="val 9562"/>
            </a:avLst>
          </a:prstGeom>
          <a:solidFill>
            <a:srgbClr val="CF7446"/>
          </a:solidFill>
          <a:ln/>
        </p:spPr>
        <p:txBody>
          <a:bodyPr/>
          <a:lstStyle/>
          <a:p>
            <a:endParaRPr lang="ko-KR" altLang="en-US"/>
          </a:p>
        </p:txBody>
      </p:sp>
      <p:sp>
        <p:nvSpPr>
          <p:cNvPr id="20" name="Text 16"/>
          <p:cNvSpPr/>
          <p:nvPr/>
        </p:nvSpPr>
        <p:spPr>
          <a:xfrm>
            <a:off x="2176247" y="3020350"/>
            <a:ext cx="619508"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비급여</a:t>
            </a:r>
            <a:endParaRPr lang="en-US" sz="1650" dirty="0"/>
          </a:p>
        </p:txBody>
      </p:sp>
      <p:sp>
        <p:nvSpPr>
          <p:cNvPr id="21" name="Text 17"/>
          <p:cNvSpPr/>
          <p:nvPr/>
        </p:nvSpPr>
        <p:spPr>
          <a:xfrm>
            <a:off x="1966097" y="3303213"/>
            <a:ext cx="1039807"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암 통합치료</a:t>
            </a:r>
            <a:endParaRPr lang="en-US" sz="1650" dirty="0"/>
          </a:p>
        </p:txBody>
      </p:sp>
      <p:sp>
        <p:nvSpPr>
          <p:cNvPr id="22" name="Shape 18"/>
          <p:cNvSpPr/>
          <p:nvPr/>
        </p:nvSpPr>
        <p:spPr>
          <a:xfrm>
            <a:off x="3257482" y="2585052"/>
            <a:ext cx="6905672" cy="1394585"/>
          </a:xfrm>
          <a:prstGeom prst="roundRect">
            <a:avLst>
              <a:gd name="adj" fmla="val 9562"/>
            </a:avLst>
          </a:prstGeom>
          <a:solidFill>
            <a:srgbClr val="FFFFFF"/>
          </a:solidFill>
          <a:ln w="5217">
            <a:solidFill>
              <a:srgbClr val="EADFD3"/>
            </a:solidFill>
            <a:prstDash val="solid"/>
          </a:ln>
        </p:spPr>
        <p:txBody>
          <a:bodyPr/>
          <a:lstStyle/>
          <a:p>
            <a:endParaRPr lang="ko-KR" altLang="en-US"/>
          </a:p>
        </p:txBody>
      </p:sp>
      <p:sp>
        <p:nvSpPr>
          <p:cNvPr id="23" name="Shape 19"/>
          <p:cNvSpPr/>
          <p:nvPr/>
        </p:nvSpPr>
        <p:spPr>
          <a:xfrm>
            <a:off x="3529340" y="2975272"/>
            <a:ext cx="47606" cy="47606"/>
          </a:xfrm>
          <a:prstGeom prst="ellipse">
            <a:avLst/>
          </a:prstGeom>
          <a:solidFill>
            <a:srgbClr val="CF7446"/>
          </a:solidFill>
          <a:ln/>
        </p:spPr>
        <p:txBody>
          <a:bodyPr/>
          <a:lstStyle/>
          <a:p>
            <a:endParaRPr lang="ko-KR" altLang="en-US"/>
          </a:p>
        </p:txBody>
      </p:sp>
      <p:sp>
        <p:nvSpPr>
          <p:cNvPr id="24" name="Text 20"/>
          <p:cNvSpPr/>
          <p:nvPr/>
        </p:nvSpPr>
        <p:spPr>
          <a:xfrm>
            <a:off x="3672156" y="2876474"/>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삼성화재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New</a:t>
            </a:r>
            <a:r>
              <a:rPr lang="ko-KR" altLang="en-US" sz="1350" b="1" dirty="0">
                <a:solidFill>
                  <a:srgbClr val="3A2C24"/>
                </a:solidFill>
                <a:latin typeface="Paperlogy 7 Bold" pitchFamily="2" charset="-127"/>
                <a:ea typeface="Paperlogy 7 Bold" pitchFamily="2" charset="-127"/>
                <a:cs typeface="Arial" pitchFamily="34" charset="-120"/>
              </a:rPr>
              <a:t> </a:t>
            </a:r>
            <a:r>
              <a:rPr lang="en-US" sz="1350" b="1" dirty="0" err="1">
                <a:solidFill>
                  <a:srgbClr val="3A2C24"/>
                </a:solidFill>
                <a:latin typeface="Paperlogy 7 Bold" pitchFamily="2" charset="-127"/>
                <a:ea typeface="Paperlogy 7 Bold" pitchFamily="2" charset="-127"/>
                <a:cs typeface="Arial" pitchFamily="34" charset="-120"/>
              </a:rPr>
              <a:t>내돈내삼</a:t>
            </a:r>
            <a:endParaRPr lang="en-US" sz="1350" dirty="0"/>
          </a:p>
        </p:txBody>
      </p:sp>
      <p:sp>
        <p:nvSpPr>
          <p:cNvPr id="25" name="Shape 21"/>
          <p:cNvSpPr/>
          <p:nvPr/>
        </p:nvSpPr>
        <p:spPr>
          <a:xfrm>
            <a:off x="3529340" y="3258542"/>
            <a:ext cx="47606" cy="47606"/>
          </a:xfrm>
          <a:prstGeom prst="ellipse">
            <a:avLst/>
          </a:prstGeom>
          <a:solidFill>
            <a:srgbClr val="CF7446"/>
          </a:solidFill>
          <a:ln/>
        </p:spPr>
        <p:txBody>
          <a:bodyPr/>
          <a:lstStyle/>
          <a:p>
            <a:endParaRPr lang="ko-KR" altLang="en-US"/>
          </a:p>
        </p:txBody>
      </p:sp>
      <p:sp>
        <p:nvSpPr>
          <p:cNvPr id="26" name="Text 22"/>
          <p:cNvSpPr/>
          <p:nvPr/>
        </p:nvSpPr>
        <p:spPr>
          <a:xfrm>
            <a:off x="3672156" y="3159743"/>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KB손해보험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5.10.10 플러스건강보험</a:t>
            </a:r>
            <a:endParaRPr lang="en-US" sz="1350" dirty="0"/>
          </a:p>
        </p:txBody>
      </p:sp>
      <p:sp>
        <p:nvSpPr>
          <p:cNvPr id="27" name="Shape 23"/>
          <p:cNvSpPr/>
          <p:nvPr/>
        </p:nvSpPr>
        <p:spPr>
          <a:xfrm>
            <a:off x="3529340" y="3541811"/>
            <a:ext cx="47606" cy="47606"/>
          </a:xfrm>
          <a:prstGeom prst="ellipse">
            <a:avLst/>
          </a:prstGeom>
          <a:solidFill>
            <a:srgbClr val="CF7446"/>
          </a:solidFill>
          <a:ln/>
        </p:spPr>
        <p:txBody>
          <a:bodyPr/>
          <a:lstStyle/>
          <a:p>
            <a:endParaRPr lang="ko-KR" altLang="en-US"/>
          </a:p>
        </p:txBody>
      </p:sp>
      <p:sp>
        <p:nvSpPr>
          <p:cNvPr id="28" name="Text 24"/>
          <p:cNvSpPr/>
          <p:nvPr/>
        </p:nvSpPr>
        <p:spPr>
          <a:xfrm>
            <a:off x="3672156" y="3443013"/>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메리츠화재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또걸려도 또받는 암보험</a:t>
            </a:r>
            <a:endParaRPr lang="en-US" sz="1350" dirty="0"/>
          </a:p>
        </p:txBody>
      </p:sp>
      <p:pic>
        <p:nvPicPr>
          <p:cNvPr id="29" name="Image 2" descr="preencoded.png"/>
          <p:cNvPicPr>
            <a:picLocks noChangeAspect="1"/>
          </p:cNvPicPr>
          <p:nvPr/>
        </p:nvPicPr>
        <p:blipFill>
          <a:blip r:embed="rId5"/>
          <a:srcRect l="-5283" r="-5283"/>
          <a:stretch/>
        </p:blipFill>
        <p:spPr>
          <a:xfrm>
            <a:off x="9396002" y="3034697"/>
            <a:ext cx="495294" cy="495294"/>
          </a:xfrm>
          <a:prstGeom prst="rect">
            <a:avLst/>
          </a:prstGeom>
        </p:spPr>
      </p:pic>
      <p:sp>
        <p:nvSpPr>
          <p:cNvPr id="30" name="Shape 25"/>
          <p:cNvSpPr/>
          <p:nvPr/>
        </p:nvSpPr>
        <p:spPr>
          <a:xfrm>
            <a:off x="1733530" y="4074848"/>
            <a:ext cx="1428740" cy="1394585"/>
          </a:xfrm>
          <a:prstGeom prst="roundRect">
            <a:avLst>
              <a:gd name="adj" fmla="val 9562"/>
            </a:avLst>
          </a:prstGeom>
          <a:solidFill>
            <a:srgbClr val="CF7446"/>
          </a:solidFill>
          <a:ln/>
        </p:spPr>
        <p:txBody>
          <a:bodyPr/>
          <a:lstStyle/>
          <a:p>
            <a:endParaRPr lang="ko-KR" altLang="en-US"/>
          </a:p>
        </p:txBody>
      </p:sp>
      <p:sp>
        <p:nvSpPr>
          <p:cNvPr id="31" name="Text 26"/>
          <p:cNvSpPr/>
          <p:nvPr/>
        </p:nvSpPr>
        <p:spPr>
          <a:xfrm>
            <a:off x="2176165" y="4510146"/>
            <a:ext cx="619508"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간병인</a:t>
            </a:r>
            <a:endParaRPr lang="en-US" sz="1650" dirty="0"/>
          </a:p>
        </p:txBody>
      </p:sp>
      <p:sp>
        <p:nvSpPr>
          <p:cNvPr id="32" name="Text 27"/>
          <p:cNvSpPr/>
          <p:nvPr/>
        </p:nvSpPr>
        <p:spPr>
          <a:xfrm>
            <a:off x="2085682" y="4793009"/>
            <a:ext cx="800556" cy="272868"/>
          </a:xfrm>
          <a:prstGeom prst="rect">
            <a:avLst/>
          </a:prstGeom>
          <a:noFill/>
          <a:ln/>
        </p:spPr>
        <p:txBody>
          <a:bodyPr wrap="square" lIns="0" tIns="0" rIns="0" bIns="0" rtlCol="0" anchor="t">
            <a:normAutofit lnSpcReduction="10000"/>
          </a:bodyPr>
          <a:lstStyle/>
          <a:p>
            <a:pPr marL="0" indent="0" algn="ctr">
              <a:lnSpc>
                <a:spcPct val="117879"/>
              </a:lnSpc>
              <a:buNone/>
            </a:pPr>
            <a:r>
              <a:rPr lang="en-US" sz="1650" b="1" dirty="0">
                <a:solidFill>
                  <a:srgbClr val="FFFFFF"/>
                </a:solidFill>
                <a:latin typeface="Paperlogy 7 Bold" pitchFamily="2" charset="-127"/>
                <a:ea typeface="Paperlogy 7 Bold" pitchFamily="2" charset="-127"/>
                <a:cs typeface="Arial" pitchFamily="34" charset="-120"/>
              </a:rPr>
              <a:t>사용일당</a:t>
            </a:r>
            <a:endParaRPr lang="en-US" sz="1650" dirty="0"/>
          </a:p>
        </p:txBody>
      </p:sp>
      <p:sp>
        <p:nvSpPr>
          <p:cNvPr id="33" name="Shape 28"/>
          <p:cNvSpPr/>
          <p:nvPr/>
        </p:nvSpPr>
        <p:spPr>
          <a:xfrm>
            <a:off x="3257482" y="4074848"/>
            <a:ext cx="6905672" cy="1394585"/>
          </a:xfrm>
          <a:prstGeom prst="roundRect">
            <a:avLst>
              <a:gd name="adj" fmla="val 9562"/>
            </a:avLst>
          </a:prstGeom>
          <a:solidFill>
            <a:srgbClr val="FFFFFF"/>
          </a:solidFill>
          <a:ln w="5217">
            <a:solidFill>
              <a:srgbClr val="EADFD3"/>
            </a:solidFill>
            <a:prstDash val="solid"/>
          </a:ln>
        </p:spPr>
        <p:txBody>
          <a:bodyPr/>
          <a:lstStyle/>
          <a:p>
            <a:endParaRPr lang="ko-KR" altLang="en-US"/>
          </a:p>
        </p:txBody>
      </p:sp>
      <p:sp>
        <p:nvSpPr>
          <p:cNvPr id="34" name="Shape 29"/>
          <p:cNvSpPr/>
          <p:nvPr/>
        </p:nvSpPr>
        <p:spPr>
          <a:xfrm>
            <a:off x="3529340" y="4465068"/>
            <a:ext cx="47606" cy="47606"/>
          </a:xfrm>
          <a:prstGeom prst="ellipse">
            <a:avLst/>
          </a:prstGeom>
          <a:solidFill>
            <a:srgbClr val="CF7446"/>
          </a:solidFill>
          <a:ln/>
        </p:spPr>
        <p:txBody>
          <a:bodyPr/>
          <a:lstStyle/>
          <a:p>
            <a:endParaRPr lang="ko-KR" altLang="en-US"/>
          </a:p>
        </p:txBody>
      </p:sp>
      <p:sp>
        <p:nvSpPr>
          <p:cNvPr id="35" name="Text 30"/>
          <p:cNvSpPr/>
          <p:nvPr/>
        </p:nvSpPr>
        <p:spPr>
          <a:xfrm>
            <a:off x="3672156" y="4366270"/>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흥국화재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든든한 3N5 초경증</a:t>
            </a:r>
            <a:endParaRPr lang="en-US" sz="1350" dirty="0"/>
          </a:p>
        </p:txBody>
      </p:sp>
      <p:sp>
        <p:nvSpPr>
          <p:cNvPr id="36" name="Shape 31"/>
          <p:cNvSpPr/>
          <p:nvPr/>
        </p:nvSpPr>
        <p:spPr>
          <a:xfrm>
            <a:off x="3529340" y="4748337"/>
            <a:ext cx="47606" cy="47606"/>
          </a:xfrm>
          <a:prstGeom prst="ellipse">
            <a:avLst/>
          </a:prstGeom>
          <a:solidFill>
            <a:srgbClr val="CF7446"/>
          </a:solidFill>
          <a:ln/>
        </p:spPr>
        <p:txBody>
          <a:bodyPr/>
          <a:lstStyle/>
          <a:p>
            <a:endParaRPr lang="ko-KR" altLang="en-US"/>
          </a:p>
        </p:txBody>
      </p:sp>
      <p:sp>
        <p:nvSpPr>
          <p:cNvPr id="37" name="Text 32"/>
          <p:cNvSpPr/>
          <p:nvPr/>
        </p:nvSpPr>
        <p:spPr>
          <a:xfrm>
            <a:off x="3672156" y="4649539"/>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현대해상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간편한 3.10.10</a:t>
            </a:r>
            <a:endParaRPr lang="en-US" sz="1350" dirty="0"/>
          </a:p>
        </p:txBody>
      </p:sp>
      <p:sp>
        <p:nvSpPr>
          <p:cNvPr id="38" name="Shape 33"/>
          <p:cNvSpPr/>
          <p:nvPr/>
        </p:nvSpPr>
        <p:spPr>
          <a:xfrm>
            <a:off x="3529340" y="5031607"/>
            <a:ext cx="47606" cy="47606"/>
          </a:xfrm>
          <a:prstGeom prst="ellipse">
            <a:avLst/>
          </a:prstGeom>
          <a:solidFill>
            <a:srgbClr val="CF7446"/>
          </a:solidFill>
          <a:ln/>
        </p:spPr>
        <p:txBody>
          <a:bodyPr/>
          <a:lstStyle/>
          <a:p>
            <a:endParaRPr lang="ko-KR" altLang="en-US"/>
          </a:p>
        </p:txBody>
      </p:sp>
      <p:sp>
        <p:nvSpPr>
          <p:cNvPr id="39" name="Text 34"/>
          <p:cNvSpPr/>
          <p:nvPr/>
        </p:nvSpPr>
        <p:spPr>
          <a:xfrm>
            <a:off x="3672156" y="4932809"/>
            <a:ext cx="6086766" cy="283302"/>
          </a:xfrm>
          <a:prstGeom prst="rect">
            <a:avLst/>
          </a:prstGeom>
          <a:noFill/>
          <a:ln/>
        </p:spPr>
        <p:txBody>
          <a:bodyPr wrap="square" lIns="25400" tIns="25400" rIns="25400" bIns="25400" rtlCol="0" anchor="t">
            <a:normAutofit/>
          </a:bodyPr>
          <a:lstStyle/>
          <a:p>
            <a:pPr marL="0" indent="0" algn="l">
              <a:lnSpc>
                <a:spcPct val="121076"/>
              </a:lnSpc>
              <a:buNone/>
            </a:pPr>
            <a:r>
              <a:rPr lang="en-US" sz="1350" b="1" dirty="0">
                <a:solidFill>
                  <a:srgbClr val="9A4A27"/>
                </a:solidFill>
                <a:latin typeface="Paperlogy 7 Bold" pitchFamily="2" charset="-127"/>
                <a:ea typeface="Paperlogy 7 Bold" pitchFamily="2" charset="-127"/>
                <a:cs typeface="Arial" pitchFamily="34" charset="-120"/>
              </a:rPr>
              <a:t>DB손보 </a:t>
            </a:r>
            <a:r>
              <a:rPr lang="en-US" sz="1350" b="1" dirty="0">
                <a:solidFill>
                  <a:srgbClr val="A69687"/>
                </a:solidFill>
                <a:latin typeface="Paperlogy 7 Bold" pitchFamily="2" charset="-127"/>
                <a:ea typeface="Paperlogy 7 Bold" pitchFamily="2" charset="-127"/>
                <a:cs typeface="Arial" pitchFamily="34" charset="-120"/>
              </a:rPr>
              <a:t>– </a:t>
            </a:r>
            <a:r>
              <a:rPr lang="en-US" sz="1350" b="1" dirty="0">
                <a:solidFill>
                  <a:srgbClr val="3A2C24"/>
                </a:solidFill>
                <a:latin typeface="Paperlogy 7 Bold" pitchFamily="2" charset="-127"/>
                <a:ea typeface="Paperlogy 7 Bold" pitchFamily="2" charset="-127"/>
                <a:cs typeface="Arial" pitchFamily="34" charset="-120"/>
              </a:rPr>
              <a:t>나에게 맞춘 초경증 3.8.5</a:t>
            </a:r>
            <a:endParaRPr lang="en-US" sz="1350" dirty="0"/>
          </a:p>
        </p:txBody>
      </p:sp>
      <p:pic>
        <p:nvPicPr>
          <p:cNvPr id="40" name="Image 3" descr="preencoded.png"/>
          <p:cNvPicPr>
            <a:picLocks noChangeAspect="1"/>
          </p:cNvPicPr>
          <p:nvPr/>
        </p:nvPicPr>
        <p:blipFill>
          <a:blip r:embed="rId6"/>
          <a:srcRect l="-9057" r="-9057"/>
          <a:stretch/>
        </p:blipFill>
        <p:spPr>
          <a:xfrm>
            <a:off x="9396002" y="4524493"/>
            <a:ext cx="495294" cy="495294"/>
          </a:xfrm>
          <a:prstGeom prst="rect">
            <a:avLst/>
          </a:prstGeom>
        </p:spPr>
      </p:pic>
      <p:sp>
        <p:nvSpPr>
          <p:cNvPr id="41" name="Shape 35"/>
          <p:cNvSpPr/>
          <p:nvPr/>
        </p:nvSpPr>
        <p:spPr>
          <a:xfrm>
            <a:off x="1733530" y="5564644"/>
            <a:ext cx="8429624" cy="1226661"/>
          </a:xfrm>
          <a:prstGeom prst="roundRect">
            <a:avLst>
              <a:gd name="adj" fmla="val 10871"/>
            </a:avLst>
          </a:prstGeom>
          <a:solidFill>
            <a:srgbClr val="FFFFFF"/>
          </a:solidFill>
          <a:ln w="5217">
            <a:solidFill>
              <a:srgbClr val="EADFD3"/>
            </a:solidFill>
            <a:prstDash val="solid"/>
          </a:ln>
        </p:spPr>
        <p:txBody>
          <a:bodyPr/>
          <a:lstStyle/>
          <a:p>
            <a:endParaRPr lang="ko-KR" altLang="en-US"/>
          </a:p>
        </p:txBody>
      </p:sp>
      <p:sp>
        <p:nvSpPr>
          <p:cNvPr id="42" name="Shape 36"/>
          <p:cNvSpPr/>
          <p:nvPr/>
        </p:nvSpPr>
        <p:spPr>
          <a:xfrm>
            <a:off x="1738748" y="5569861"/>
            <a:ext cx="8419190" cy="315795"/>
          </a:xfrm>
          <a:prstGeom prst="rect">
            <a:avLst/>
          </a:prstGeom>
          <a:solidFill>
            <a:srgbClr val="7E8D4A"/>
          </a:solidFill>
          <a:ln/>
        </p:spPr>
        <p:txBody>
          <a:bodyPr/>
          <a:lstStyle/>
          <a:p>
            <a:endParaRPr lang="ko-KR" altLang="en-US"/>
          </a:p>
        </p:txBody>
      </p:sp>
      <p:sp>
        <p:nvSpPr>
          <p:cNvPr id="43" name="Text 37"/>
          <p:cNvSpPr/>
          <p:nvPr/>
        </p:nvSpPr>
        <p:spPr>
          <a:xfrm>
            <a:off x="1929248" y="5636536"/>
            <a:ext cx="8290765" cy="220545"/>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FFFFFF"/>
                </a:solidFill>
                <a:latin typeface="Paperlogy 7 Bold" pitchFamily="2" charset="-127"/>
                <a:ea typeface="Paperlogy 7 Bold" pitchFamily="2" charset="-127"/>
                <a:cs typeface="Arial" pitchFamily="34" charset="-120"/>
              </a:rPr>
              <a:t>유병자 가성비 상품</a:t>
            </a:r>
            <a:endParaRPr lang="en-US" sz="1200" dirty="0"/>
          </a:p>
        </p:txBody>
      </p:sp>
      <p:sp>
        <p:nvSpPr>
          <p:cNvPr id="44" name="Shape 38"/>
          <p:cNvSpPr/>
          <p:nvPr/>
        </p:nvSpPr>
        <p:spPr>
          <a:xfrm>
            <a:off x="1929170" y="5980867"/>
            <a:ext cx="323784" cy="710009"/>
          </a:xfrm>
          <a:prstGeom prst="roundRect">
            <a:avLst>
              <a:gd name="adj" fmla="val 23534"/>
            </a:avLst>
          </a:prstGeom>
          <a:solidFill>
            <a:srgbClr val="E7EBD4"/>
          </a:solidFill>
          <a:ln/>
        </p:spPr>
        <p:txBody>
          <a:bodyPr/>
          <a:lstStyle/>
          <a:p>
            <a:endParaRPr lang="ko-KR" altLang="en-US"/>
          </a:p>
        </p:txBody>
      </p:sp>
      <p:sp>
        <p:nvSpPr>
          <p:cNvPr id="45" name="Text 39"/>
          <p:cNvSpPr/>
          <p:nvPr/>
        </p:nvSpPr>
        <p:spPr>
          <a:xfrm>
            <a:off x="1891070" y="5980867"/>
            <a:ext cx="399984" cy="748109"/>
          </a:xfrm>
          <a:prstGeom prst="rect">
            <a:avLst/>
          </a:prstGeom>
          <a:noFill/>
          <a:ln/>
        </p:spPr>
        <p:txBody>
          <a:bodyPr vert="eaVert" wrap="square" lIns="25400" tIns="25400" rIns="25400" bIns="25400" rtlCol="0" anchor="ctr">
            <a:normAutofit/>
          </a:bodyPr>
          <a:lstStyle/>
          <a:p>
            <a:pPr marL="0" indent="0" algn="ctr">
              <a:buNone/>
            </a:pPr>
            <a:r>
              <a:rPr lang="en-US" sz="1125" b="1" kern="0" spc="225" dirty="0">
                <a:solidFill>
                  <a:srgbClr val="55612C"/>
                </a:solidFill>
                <a:latin typeface="Paperlogy 7 Bold" pitchFamily="2" charset="-127"/>
                <a:ea typeface="Paperlogy 7 Bold" pitchFamily="2" charset="-127"/>
                <a:cs typeface="Arial" pitchFamily="34" charset="-120"/>
              </a:rPr>
              <a:t>건강체</a:t>
            </a:r>
            <a:endParaRPr lang="en-US" sz="1125" dirty="0"/>
          </a:p>
        </p:txBody>
      </p:sp>
      <p:sp>
        <p:nvSpPr>
          <p:cNvPr id="46" name="Shape 40"/>
          <p:cNvSpPr/>
          <p:nvPr/>
        </p:nvSpPr>
        <p:spPr>
          <a:xfrm>
            <a:off x="2386233" y="6056352"/>
            <a:ext cx="47606" cy="47606"/>
          </a:xfrm>
          <a:prstGeom prst="ellipse">
            <a:avLst/>
          </a:prstGeom>
          <a:solidFill>
            <a:srgbClr val="7E8D4A"/>
          </a:solidFill>
          <a:ln/>
        </p:spPr>
        <p:txBody>
          <a:bodyPr/>
          <a:lstStyle/>
          <a:p>
            <a:endParaRPr lang="ko-KR" altLang="en-US"/>
          </a:p>
        </p:txBody>
      </p:sp>
      <p:sp>
        <p:nvSpPr>
          <p:cNvPr id="47" name="Text 41"/>
          <p:cNvSpPr/>
          <p:nvPr/>
        </p:nvSpPr>
        <p:spPr>
          <a:xfrm>
            <a:off x="2529050" y="5980867"/>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NH농협손해보험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5.10.5 굿플러스</a:t>
            </a:r>
            <a:endParaRPr lang="en-US" sz="1050" dirty="0"/>
          </a:p>
        </p:txBody>
      </p:sp>
      <p:sp>
        <p:nvSpPr>
          <p:cNvPr id="48" name="Shape 42"/>
          <p:cNvSpPr/>
          <p:nvPr/>
        </p:nvSpPr>
        <p:spPr>
          <a:xfrm>
            <a:off x="2386233" y="6312069"/>
            <a:ext cx="47606" cy="47606"/>
          </a:xfrm>
          <a:prstGeom prst="ellipse">
            <a:avLst/>
          </a:prstGeom>
          <a:solidFill>
            <a:srgbClr val="7E8D4A"/>
          </a:solidFill>
          <a:ln/>
        </p:spPr>
        <p:txBody>
          <a:bodyPr/>
          <a:lstStyle/>
          <a:p>
            <a:endParaRPr lang="ko-KR" altLang="en-US"/>
          </a:p>
        </p:txBody>
      </p:sp>
      <p:sp>
        <p:nvSpPr>
          <p:cNvPr id="49" name="Text 43"/>
          <p:cNvSpPr/>
          <p:nvPr/>
        </p:nvSpPr>
        <p:spPr>
          <a:xfrm>
            <a:off x="2529050" y="6236584"/>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메리츠화재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The</a:t>
            </a:r>
            <a:r>
              <a:rPr lang="ko-KR" altLang="en-US" sz="1050" b="1" dirty="0">
                <a:solidFill>
                  <a:srgbClr val="3A2C24"/>
                </a:solidFill>
                <a:latin typeface="Paperlogy 7 Bold" pitchFamily="2" charset="-127"/>
                <a:ea typeface="Paperlogy 7 Bold" pitchFamily="2" charset="-127"/>
                <a:cs typeface="Arial" pitchFamily="34" charset="-120"/>
              </a:rPr>
              <a:t> </a:t>
            </a:r>
            <a:r>
              <a:rPr lang="en-US" sz="1050" b="1" dirty="0" err="1">
                <a:solidFill>
                  <a:srgbClr val="3A2C24"/>
                </a:solidFill>
                <a:latin typeface="Paperlogy 7 Bold" pitchFamily="2" charset="-127"/>
                <a:ea typeface="Paperlogy 7 Bold" pitchFamily="2" charset="-127"/>
                <a:cs typeface="Arial" pitchFamily="34" charset="-120"/>
              </a:rPr>
              <a:t>건강한</a:t>
            </a:r>
            <a:r>
              <a:rPr lang="en-US" sz="1050" b="1" dirty="0">
                <a:solidFill>
                  <a:srgbClr val="3A2C24"/>
                </a:solidFill>
                <a:latin typeface="Paperlogy 7 Bold" pitchFamily="2" charset="-127"/>
                <a:ea typeface="Paperlogy 7 Bold" pitchFamily="2" charset="-127"/>
                <a:cs typeface="Arial" pitchFamily="34" charset="-120"/>
              </a:rPr>
              <a:t> 5.10.5</a:t>
            </a:r>
            <a:endParaRPr lang="en-US" sz="1050" dirty="0"/>
          </a:p>
        </p:txBody>
      </p:sp>
      <p:sp>
        <p:nvSpPr>
          <p:cNvPr id="50" name="Shape 44"/>
          <p:cNvSpPr/>
          <p:nvPr/>
        </p:nvSpPr>
        <p:spPr>
          <a:xfrm>
            <a:off x="2386233" y="6567786"/>
            <a:ext cx="47606" cy="47606"/>
          </a:xfrm>
          <a:prstGeom prst="ellipse">
            <a:avLst/>
          </a:prstGeom>
          <a:solidFill>
            <a:srgbClr val="7E8D4A"/>
          </a:solidFill>
          <a:ln/>
        </p:spPr>
        <p:txBody>
          <a:bodyPr/>
          <a:lstStyle/>
          <a:p>
            <a:endParaRPr lang="ko-KR" altLang="en-US"/>
          </a:p>
        </p:txBody>
      </p:sp>
      <p:sp>
        <p:nvSpPr>
          <p:cNvPr id="51" name="Text 45"/>
          <p:cNvSpPr/>
          <p:nvPr/>
        </p:nvSpPr>
        <p:spPr>
          <a:xfrm>
            <a:off x="2529050" y="6492302"/>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삼성화재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New</a:t>
            </a:r>
            <a:r>
              <a:rPr lang="ko-KR" altLang="en-US" sz="1050" b="1" dirty="0">
                <a:solidFill>
                  <a:srgbClr val="3A2C24"/>
                </a:solidFill>
                <a:latin typeface="Paperlogy 7 Bold" pitchFamily="2" charset="-127"/>
                <a:ea typeface="Paperlogy 7 Bold" pitchFamily="2" charset="-127"/>
                <a:cs typeface="Arial" pitchFamily="34" charset="-120"/>
              </a:rPr>
              <a:t> </a:t>
            </a:r>
            <a:r>
              <a:rPr lang="en-US" sz="1050" b="1" dirty="0" err="1">
                <a:solidFill>
                  <a:srgbClr val="3A2C24"/>
                </a:solidFill>
                <a:latin typeface="Paperlogy 7 Bold" pitchFamily="2" charset="-127"/>
                <a:ea typeface="Paperlogy 7 Bold" pitchFamily="2" charset="-127"/>
                <a:cs typeface="Arial" pitchFamily="34" charset="-120"/>
              </a:rPr>
              <a:t>내돈내삼</a:t>
            </a:r>
            <a:endParaRPr lang="en-US" sz="1050" dirty="0"/>
          </a:p>
        </p:txBody>
      </p:sp>
      <p:sp>
        <p:nvSpPr>
          <p:cNvPr id="52" name="Shape 46"/>
          <p:cNvSpPr/>
          <p:nvPr/>
        </p:nvSpPr>
        <p:spPr>
          <a:xfrm>
            <a:off x="6062628" y="5980867"/>
            <a:ext cx="323784" cy="710009"/>
          </a:xfrm>
          <a:prstGeom prst="roundRect">
            <a:avLst>
              <a:gd name="adj" fmla="val 23534"/>
            </a:avLst>
          </a:prstGeom>
          <a:solidFill>
            <a:srgbClr val="E7EBD4"/>
          </a:solidFill>
          <a:ln/>
        </p:spPr>
        <p:txBody>
          <a:bodyPr/>
          <a:lstStyle/>
          <a:p>
            <a:endParaRPr lang="ko-KR" altLang="en-US"/>
          </a:p>
        </p:txBody>
      </p:sp>
      <p:sp>
        <p:nvSpPr>
          <p:cNvPr id="53" name="Text 47"/>
          <p:cNvSpPr/>
          <p:nvPr/>
        </p:nvSpPr>
        <p:spPr>
          <a:xfrm>
            <a:off x="6024528" y="5980867"/>
            <a:ext cx="399984" cy="748109"/>
          </a:xfrm>
          <a:prstGeom prst="rect">
            <a:avLst/>
          </a:prstGeom>
          <a:noFill/>
          <a:ln/>
        </p:spPr>
        <p:txBody>
          <a:bodyPr vert="eaVert" wrap="square" lIns="25400" tIns="25400" rIns="25400" bIns="25400" rtlCol="0" anchor="ctr">
            <a:normAutofit/>
          </a:bodyPr>
          <a:lstStyle/>
          <a:p>
            <a:pPr marL="0" indent="0" algn="ctr">
              <a:buNone/>
            </a:pPr>
            <a:r>
              <a:rPr lang="en-US" sz="1125" b="1" kern="0" spc="225" dirty="0">
                <a:solidFill>
                  <a:srgbClr val="55612C"/>
                </a:solidFill>
                <a:latin typeface="Paperlogy 7 Bold" pitchFamily="2" charset="-127"/>
                <a:ea typeface="Paperlogy 7 Bold" pitchFamily="2" charset="-127"/>
                <a:cs typeface="Arial" pitchFamily="34" charset="-120"/>
              </a:rPr>
              <a:t>초경증</a:t>
            </a:r>
            <a:endParaRPr lang="en-US" sz="1125" dirty="0"/>
          </a:p>
        </p:txBody>
      </p:sp>
      <p:sp>
        <p:nvSpPr>
          <p:cNvPr id="54" name="Shape 48"/>
          <p:cNvSpPr/>
          <p:nvPr/>
        </p:nvSpPr>
        <p:spPr>
          <a:xfrm>
            <a:off x="6519692" y="6056352"/>
            <a:ext cx="47606" cy="47606"/>
          </a:xfrm>
          <a:prstGeom prst="ellipse">
            <a:avLst/>
          </a:prstGeom>
          <a:solidFill>
            <a:srgbClr val="7E8D4A"/>
          </a:solidFill>
          <a:ln/>
        </p:spPr>
        <p:txBody>
          <a:bodyPr/>
          <a:lstStyle/>
          <a:p>
            <a:endParaRPr lang="ko-KR" altLang="en-US"/>
          </a:p>
        </p:txBody>
      </p:sp>
      <p:sp>
        <p:nvSpPr>
          <p:cNvPr id="55" name="Text 49"/>
          <p:cNvSpPr/>
          <p:nvPr/>
        </p:nvSpPr>
        <p:spPr>
          <a:xfrm>
            <a:off x="6662508" y="5980867"/>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롯데손해보험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let;simple간편 3.10.10</a:t>
            </a:r>
            <a:endParaRPr lang="en-US" sz="1050" dirty="0"/>
          </a:p>
        </p:txBody>
      </p:sp>
      <p:sp>
        <p:nvSpPr>
          <p:cNvPr id="56" name="Shape 50"/>
          <p:cNvSpPr/>
          <p:nvPr/>
        </p:nvSpPr>
        <p:spPr>
          <a:xfrm>
            <a:off x="6519692" y="6312069"/>
            <a:ext cx="47606" cy="47606"/>
          </a:xfrm>
          <a:prstGeom prst="ellipse">
            <a:avLst/>
          </a:prstGeom>
          <a:solidFill>
            <a:srgbClr val="7E8D4A"/>
          </a:solidFill>
          <a:ln/>
        </p:spPr>
        <p:txBody>
          <a:bodyPr/>
          <a:lstStyle/>
          <a:p>
            <a:endParaRPr lang="ko-KR" altLang="en-US"/>
          </a:p>
        </p:txBody>
      </p:sp>
      <p:sp>
        <p:nvSpPr>
          <p:cNvPr id="57" name="Text 51"/>
          <p:cNvSpPr/>
          <p:nvPr/>
        </p:nvSpPr>
        <p:spPr>
          <a:xfrm>
            <a:off x="6662508" y="6236584"/>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메리츠화재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통합간편건강 3.10.5</a:t>
            </a:r>
            <a:endParaRPr lang="en-US" sz="1050" dirty="0"/>
          </a:p>
        </p:txBody>
      </p:sp>
      <p:sp>
        <p:nvSpPr>
          <p:cNvPr id="58" name="Shape 52"/>
          <p:cNvSpPr/>
          <p:nvPr/>
        </p:nvSpPr>
        <p:spPr>
          <a:xfrm>
            <a:off x="6519692" y="6567786"/>
            <a:ext cx="47606" cy="47606"/>
          </a:xfrm>
          <a:prstGeom prst="ellipse">
            <a:avLst/>
          </a:prstGeom>
          <a:solidFill>
            <a:srgbClr val="7E8D4A"/>
          </a:solidFill>
          <a:ln/>
        </p:spPr>
        <p:txBody>
          <a:bodyPr/>
          <a:lstStyle/>
          <a:p>
            <a:endParaRPr lang="ko-KR" altLang="en-US"/>
          </a:p>
        </p:txBody>
      </p:sp>
      <p:sp>
        <p:nvSpPr>
          <p:cNvPr id="59" name="Text 53"/>
          <p:cNvSpPr/>
          <p:nvPr/>
        </p:nvSpPr>
        <p:spPr>
          <a:xfrm>
            <a:off x="6662508" y="6492302"/>
            <a:ext cx="3635506" cy="236674"/>
          </a:xfrm>
          <a:prstGeom prst="rect">
            <a:avLst/>
          </a:prstGeom>
          <a:noFill/>
          <a:ln/>
        </p:spPr>
        <p:txBody>
          <a:bodyPr wrap="square" lIns="25400" tIns="25400" rIns="25400" bIns="25400" rtlCol="0" anchor="t">
            <a:normAutofit lnSpcReduction="10000"/>
          </a:bodyPr>
          <a:lstStyle/>
          <a:p>
            <a:pPr marL="0" indent="0" algn="l">
              <a:lnSpc>
                <a:spcPct val="127802"/>
              </a:lnSpc>
              <a:buNone/>
            </a:pPr>
            <a:r>
              <a:rPr lang="en-US" sz="1050" b="1" dirty="0">
                <a:solidFill>
                  <a:srgbClr val="55612C"/>
                </a:solidFill>
                <a:latin typeface="Paperlogy 7 Bold" pitchFamily="2" charset="-127"/>
                <a:ea typeface="Paperlogy 7 Bold" pitchFamily="2" charset="-127"/>
                <a:cs typeface="Arial" pitchFamily="34" charset="-120"/>
              </a:rPr>
              <a:t>DB손해보험 </a:t>
            </a:r>
            <a:r>
              <a:rPr lang="en-US" sz="1050" b="1" dirty="0">
                <a:solidFill>
                  <a:srgbClr val="A69687"/>
                </a:solidFill>
                <a:latin typeface="Paperlogy 7 Bold" pitchFamily="2" charset="-127"/>
                <a:ea typeface="Paperlogy 7 Bold" pitchFamily="2" charset="-127"/>
                <a:cs typeface="Arial" pitchFamily="34" charset="-120"/>
              </a:rPr>
              <a:t>– </a:t>
            </a:r>
            <a:r>
              <a:rPr lang="en-US" sz="1050" b="1" dirty="0">
                <a:solidFill>
                  <a:srgbClr val="3A2C24"/>
                </a:solidFill>
                <a:latin typeface="Paperlogy 7 Bold" pitchFamily="2" charset="-127"/>
                <a:ea typeface="Paperlogy 7 Bold" pitchFamily="2" charset="-127"/>
                <a:cs typeface="Arial" pitchFamily="34" charset="-120"/>
              </a:rPr>
              <a:t>나에게 맞춘 더좋은 초경증</a:t>
            </a:r>
            <a:endParaRPr lang="en-US" sz="1050" dirty="0"/>
          </a:p>
        </p:txBody>
      </p:sp>
      <p:sp>
        <p:nvSpPr>
          <p:cNvPr id="60" name="Text 5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61" name="Text 5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62" name="Text 5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90377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보험료는 반값, 비급여 병원비는 '반반'</a:t>
            </a:r>
            <a:endParaRPr lang="en-US" sz="2475" dirty="0"/>
          </a:p>
        </p:txBody>
      </p:sp>
      <p:sp>
        <p:nvSpPr>
          <p:cNvPr id="3" name="Shape 1"/>
          <p:cNvSpPr/>
          <p:nvPr/>
        </p:nvSpPr>
        <p:spPr>
          <a:xfrm>
            <a:off x="8937635" y="340821"/>
            <a:ext cx="122551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90035" y="407496"/>
            <a:ext cx="99691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1~5종 + N대수술</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974367" cy="247647"/>
          </a:xfrm>
          <a:prstGeom prst="rect">
            <a:avLst/>
          </a:prstGeom>
        </p:spPr>
      </p:pic>
      <p:sp>
        <p:nvSpPr>
          <p:cNvPr id="8" name="Shape 5"/>
          <p:cNvSpPr/>
          <p:nvPr/>
        </p:nvSpPr>
        <p:spPr>
          <a:xfrm>
            <a:off x="1970091"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2065341"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박민주 기자 입력: 2026.08.27 16:15</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보험료 최대 반값인데…5세대 실손 갈아타기 15% 그친 이유는</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1058279"/>
          </a:xfrm>
          <a:prstGeom prst="rect">
            <a:avLst/>
          </a:prstGeom>
          <a:noFill/>
          <a:ln/>
        </p:spPr>
        <p:txBody>
          <a:bodyPr wrap="square" lIns="25400" tIns="25400" rIns="25400" bIns="25400" rtlCol="0" anchor="t">
            <a:normAutofit lnSpcReduction="10000"/>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5세대 실손의료보험이 출시 초반 18만건 이상 유입됐지만 기존 가입자들의 상품 교체는 기대만큼 빠르지 않은 것으로 나타났다. 5세대가 보험료를 크게 낮췄음에도 비급여 보장이 줄고 본인 부담이 커지는 탓에 기존 실손 가입자들이 전환 여부를 신중히 따지는 것으로 풀이된다.</a:t>
            </a:r>
            <a:endParaRPr lang="en-US" sz="956" dirty="0"/>
          </a:p>
        </p:txBody>
      </p:sp>
      <p:sp>
        <p:nvSpPr>
          <p:cNvPr id="14" name="Text 11"/>
          <p:cNvSpPr/>
          <p:nvPr/>
        </p:nvSpPr>
        <p:spPr>
          <a:xfrm>
            <a:off x="881438" y="3508797"/>
            <a:ext cx="2870997" cy="1670387"/>
          </a:xfrm>
          <a:prstGeom prst="rect">
            <a:avLst/>
          </a:prstGeom>
          <a:noFill/>
          <a:ln/>
        </p:spPr>
        <p:txBody>
          <a:bodyPr wrap="square" lIns="25400" tIns="25400" rIns="25400" bIns="25400" rtlCol="0" anchor="t">
            <a:normAutofit/>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27일 금융계에 따르면 5월 출시 후 7월 말까지 주요 손해보험사 9곳에 들어온 5세대 실손 계약은 총 18만3218건이다. 이 가운데 처음 5세대에 가입한 계약이 13만4315건으로 73.3%를 차지했다. 기존 1~4세대 가입자가 자발적으로 계약을 변경한 사례는 2만7474건으로 15.0%에 그쳤다. 4세대 재가입 주기가 도래해 5세대 가입 절차를 진행한 계약은 2만1429건(11.7%)이었다.</a:t>
            </a:r>
            <a:endParaRPr lang="en-US" sz="956" dirty="0"/>
          </a:p>
        </p:txBody>
      </p:sp>
      <p:sp>
        <p:nvSpPr>
          <p:cNvPr id="15" name="Text 12"/>
          <p:cNvSpPr/>
          <p:nvPr/>
        </p:nvSpPr>
        <p:spPr>
          <a:xfrm>
            <a:off x="881438" y="5213878"/>
            <a:ext cx="2870997" cy="1058279"/>
          </a:xfrm>
          <a:prstGeom prst="rect">
            <a:avLst/>
          </a:prstGeom>
          <a:noFill/>
          <a:ln/>
        </p:spPr>
        <p:txBody>
          <a:bodyPr wrap="square" lIns="25400" tIns="25400" rIns="25400" bIns="25400" rtlCol="0" anchor="t">
            <a:normAutofit lnSpcReduction="10000"/>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5세대는 비중증 비급여 항목을 대폭 조정해 보험료를 낮춘 상품이다. 4세대와 비교하면 보험료는 약 30%, 초기 1·2세대와 비교하면 최소 50% 저렴하다. 대신 비중증 비급여의 자기부담률은 50%로 높아졌다. 도수치료, 비급여 주사제 등 일부 항목은 보장 대상에서 빠졌다.</a:t>
            </a:r>
            <a:endParaRPr lang="en-US" sz="956" dirty="0"/>
          </a:p>
        </p:txBody>
      </p:sp>
      <p:sp>
        <p:nvSpPr>
          <p:cNvPr id="16" name="Text 13"/>
          <p:cNvSpPr/>
          <p:nvPr/>
        </p:nvSpPr>
        <p:spPr>
          <a:xfrm>
            <a:off x="3954611" y="2415824"/>
            <a:ext cx="2870997" cy="1466351"/>
          </a:xfrm>
          <a:prstGeom prst="rect">
            <a:avLst/>
          </a:prstGeom>
          <a:noFill/>
          <a:ln/>
        </p:spPr>
        <p:txBody>
          <a:bodyPr wrap="square" lIns="25400" tIns="25400" rIns="25400" bIns="25400" rtlCol="0" anchor="t">
            <a:normAutofit/>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실제 구세대 가입자의 움직임도 아직 제한적이다. 7월 말 기준 5세대 보유계약은 전체 실손 보유계약의 0.6%였다. 자발적으로 옮긴 2만7474건 중에서는 1·2세대 가입자가 1만9134건으로 69.6%를 차지했다. 보험료 부담이 큰 가입자들이 먼저 움직이고 있지만 폭넓은 보장을 유지해온 구실손 가입자까지 대거 전환하는 모습은 아니라는 분석이다.</a:t>
            </a:r>
            <a:endParaRPr lang="en-US" sz="956" dirty="0"/>
          </a:p>
        </p:txBody>
      </p:sp>
      <p:sp>
        <p:nvSpPr>
          <p:cNvPr id="17" name="Text 14"/>
          <p:cNvSpPr/>
          <p:nvPr/>
        </p:nvSpPr>
        <p:spPr>
          <a:xfrm>
            <a:off x="3954611" y="3916869"/>
            <a:ext cx="2870997" cy="854243"/>
          </a:xfrm>
          <a:prstGeom prst="rect">
            <a:avLst/>
          </a:prstGeom>
          <a:noFill/>
          <a:ln/>
        </p:spPr>
        <p:txBody>
          <a:bodyPr wrap="square" lIns="25400" tIns="25400" rIns="25400" bIns="25400" rtlCol="0" anchor="t">
            <a:normAutofit lnSpcReduction="10000"/>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보험업계 관계자는 “병원을 자주 이용하지 않고 보험료가 부담스러운 가입자에게는 5세대가 선택지가 될 수 있다”면서도 “기존 실손은 보장 범위가 넓기 때문에 보험료 절감만으로 전환을 결정하기는 쉽지 않다”고 말했다.</a:t>
            </a:r>
            <a:endParaRPr lang="en-US" sz="956" dirty="0"/>
          </a:p>
        </p:txBody>
      </p:sp>
      <p:sp>
        <p:nvSpPr>
          <p:cNvPr id="18" name="Text 15"/>
          <p:cNvSpPr/>
          <p:nvPr/>
        </p:nvSpPr>
        <p:spPr>
          <a:xfrm>
            <a:off x="3954611" y="4805807"/>
            <a:ext cx="2870997" cy="1670387"/>
          </a:xfrm>
          <a:prstGeom prst="rect">
            <a:avLst/>
          </a:prstGeom>
          <a:noFill/>
          <a:ln/>
        </p:spPr>
        <p:txBody>
          <a:bodyPr wrap="square" lIns="25400" tIns="25400" rIns="25400" bIns="25400" rtlCol="0" anchor="t">
            <a:normAutofit lnSpcReduction="10000"/>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4세대 재가입 물량은 이달부터 본격적으로 유입되기 시작했다. 2021년 7월 판매된 4세대 실손은 5년마다 재가입해야 하며, 재가입 시점에는 당시 판매 중인 5세대 상품 가입 절차를 밟는다. 이달 13일 현재 재가입 도래 계약은 7만6989건이며 이 중 3만7456건이 청약 절차를 마쳤다. 업계 관계자는 “휴가철이 지나면서 청약 건수가 늘고 있다”며 “재가입하지 않고 실손을 해지하는 가입자도 일부 있는 것으로 안다”고 전했다.</a:t>
            </a:r>
            <a:endParaRPr lang="en-US" sz="956" dirty="0"/>
          </a:p>
        </p:txBody>
      </p:sp>
      <p:sp>
        <p:nvSpPr>
          <p:cNvPr id="19" name="Text 16"/>
          <p:cNvSpPr/>
          <p:nvPr/>
        </p:nvSpPr>
        <p:spPr>
          <a:xfrm>
            <a:off x="7027702" y="2415824"/>
            <a:ext cx="2870997" cy="1670387"/>
          </a:xfrm>
          <a:prstGeom prst="rect">
            <a:avLst/>
          </a:prstGeom>
          <a:noFill/>
          <a:ln/>
        </p:spPr>
        <p:txBody>
          <a:bodyPr wrap="square" lIns="25400" tIns="25400" rIns="25400" bIns="25400" rtlCol="0" anchor="t">
            <a:normAutofit/>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정부가 5세대 안착을 추진하는 것은 누적된 실손 적자와 보험료 상승을 완화하기 위해서다. 실손보험은 1999년 도입 후 낮은 자기부담 구조가 과잉 의료 이용을 부추긴다는 지적을 받으며 네 차례 손질됐다. 지난해 실손보험 보험손익은 1조8700억원 적자였다. 경과손해율도 101.0%로 손익분기점으로 여겨지는 85%를 크게 넘었다. 2022년부터 올해까지 누적 보험료 인상률은 46.3%다.</a:t>
            </a:r>
            <a:endParaRPr lang="en-US" sz="956" dirty="0"/>
          </a:p>
        </p:txBody>
      </p:sp>
      <p:sp>
        <p:nvSpPr>
          <p:cNvPr id="20" name="Text 17"/>
          <p:cNvSpPr/>
          <p:nvPr/>
        </p:nvSpPr>
        <p:spPr>
          <a:xfrm>
            <a:off x="7027702" y="4120905"/>
            <a:ext cx="2870997" cy="1058279"/>
          </a:xfrm>
          <a:prstGeom prst="rect">
            <a:avLst/>
          </a:prstGeom>
          <a:noFill/>
          <a:ln/>
        </p:spPr>
        <p:txBody>
          <a:bodyPr wrap="square" lIns="25400" tIns="25400" rIns="25400" bIns="25400" rtlCol="0" anchor="t">
            <a:normAutofit lnSpcReduction="10000"/>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비급여 진료 이용은 구세대에서 더 높게 나타난다. 지난해 1인당 비급여 치료 사용액은 1세대 44만원, 2세대 35만원으로 3세대 27만원과 4세대 21만원을 웃돌았다. 전체 실손 계약의 41.2%를 차지하는 2세대 가입자(지난해 말 1494만건)의 이동이 중요한 이유다.</a:t>
            </a:r>
            <a:endParaRPr lang="en-US" sz="956" dirty="0"/>
          </a:p>
        </p:txBody>
      </p:sp>
      <p:sp>
        <p:nvSpPr>
          <p:cNvPr id="21" name="Text 18"/>
          <p:cNvSpPr/>
          <p:nvPr/>
        </p:nvSpPr>
        <p:spPr>
          <a:xfrm>
            <a:off x="7027702" y="5213878"/>
            <a:ext cx="2870997" cy="1262315"/>
          </a:xfrm>
          <a:prstGeom prst="rect">
            <a:avLst/>
          </a:prstGeom>
          <a:noFill/>
          <a:ln/>
        </p:spPr>
        <p:txBody>
          <a:bodyPr wrap="square" lIns="25400" tIns="25400" rIns="25400" bIns="25400" rtlCol="0" anchor="t">
            <a:normAutofit/>
          </a:bodyPr>
          <a:lstStyle/>
          <a:p>
            <a:pPr marL="0" indent="0" algn="just">
              <a:lnSpc>
                <a:spcPct val="144842"/>
              </a:lnSpc>
              <a:buNone/>
            </a:pPr>
            <a:r>
              <a:rPr lang="en-US" sz="956" b="1" kern="0" spc="-10" dirty="0">
                <a:solidFill>
                  <a:srgbClr val="4A3B31"/>
                </a:solidFill>
                <a:latin typeface="Paperlogy 7 Bold" pitchFamily="2" charset="-127"/>
                <a:ea typeface="Paperlogy 7 Bold" pitchFamily="2" charset="-127"/>
                <a:cs typeface="Arial" pitchFamily="34" charset="-120"/>
              </a:rPr>
              <a:t>금융당국은 초기 1·2세대 가입자의 전환을 유도하기 위해 11월 계약전환 할인제를 도입한다. 재가입 조건이 없는 초기 가입자가 5세대로 옮기면 3년간 보험료를 50% 깎아준다. 업계에서는 생명보험사 판매분까지 합산하면 5세대 실손 계약이 출시 1년 후 100만건에 이를 수 있다는 전망도 나온다.</a:t>
            </a:r>
            <a:endParaRPr lang="en-US" sz="956" dirty="0"/>
          </a:p>
        </p:txBody>
      </p:sp>
      <p:sp>
        <p:nvSpPr>
          <p:cNvPr id="22" name="Text 19"/>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3" name="Text 20"/>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4" name="Text 21"/>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90377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보험료는 반값, 비급여 병원비는 '반반'</a:t>
            </a:r>
            <a:endParaRPr lang="en-US" sz="2475" dirty="0"/>
          </a:p>
        </p:txBody>
      </p:sp>
      <p:sp>
        <p:nvSpPr>
          <p:cNvPr id="3" name="Shape 1"/>
          <p:cNvSpPr/>
          <p:nvPr/>
        </p:nvSpPr>
        <p:spPr>
          <a:xfrm>
            <a:off x="8937635" y="340821"/>
            <a:ext cx="122551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90035" y="407496"/>
            <a:ext cx="99691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1~5종 + N대수술</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3683895" y="1075611"/>
            <a:ext cx="2875210" cy="325038"/>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3A2C24"/>
                </a:solidFill>
                <a:latin typeface="Paperlogy 7 Bold" pitchFamily="2" charset="-127"/>
                <a:ea typeface="Paperlogy 7 Bold" pitchFamily="2" charset="-127"/>
                <a:cs typeface="Arial" pitchFamily="34" charset="-120"/>
              </a:rPr>
              <a:t>5세대 실손 시대에 달라지는</a:t>
            </a:r>
            <a:endParaRPr lang="en-US" sz="1950" dirty="0"/>
          </a:p>
        </p:txBody>
      </p:sp>
      <p:sp>
        <p:nvSpPr>
          <p:cNvPr id="7" name="Text 5"/>
          <p:cNvSpPr/>
          <p:nvPr/>
        </p:nvSpPr>
        <p:spPr>
          <a:xfrm>
            <a:off x="6392934" y="1073002"/>
            <a:ext cx="695889" cy="330255"/>
          </a:xfrm>
          <a:prstGeom prst="rect">
            <a:avLst/>
          </a:prstGeom>
          <a:noFill/>
          <a:ln/>
        </p:spPr>
        <p:txBody>
          <a:bodyPr wrap="none" lIns="25400" tIns="25400" rIns="25400" bIns="25400" rtlCol="0" anchor="t">
            <a:normAutofit lnSpcReduction="10000"/>
          </a:bodyPr>
          <a:lstStyle/>
          <a:p>
            <a:pPr marL="0" indent="0" algn="l">
              <a:buNone/>
            </a:pPr>
            <a:r>
              <a:rPr lang="en-US" sz="1950" b="1" kern="0" spc="-58" dirty="0">
                <a:solidFill>
                  <a:srgbClr val="CF7446"/>
                </a:solidFill>
                <a:latin typeface="Paperlogy 7 Bold" pitchFamily="2" charset="-127"/>
                <a:ea typeface="Paperlogy 7 Bold" pitchFamily="2" charset="-127"/>
                <a:cs typeface="Arial" pitchFamily="34" charset="-120"/>
              </a:rPr>
              <a:t>수술비</a:t>
            </a:r>
            <a:endParaRPr lang="en-US" sz="1950" dirty="0"/>
          </a:p>
        </p:txBody>
      </p:sp>
      <p:sp>
        <p:nvSpPr>
          <p:cNvPr id="8" name="Shape 6"/>
          <p:cNvSpPr/>
          <p:nvPr/>
        </p:nvSpPr>
        <p:spPr>
          <a:xfrm>
            <a:off x="533363" y="1533489"/>
            <a:ext cx="3095590" cy="4443873"/>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538580" y="1538706"/>
            <a:ext cx="3085156" cy="647486"/>
          </a:xfrm>
          <a:prstGeom prst="rect">
            <a:avLst/>
          </a:prstGeom>
          <a:solidFill>
            <a:srgbClr val="F6EBCF"/>
          </a:solidFill>
          <a:ln/>
        </p:spPr>
        <p:txBody>
          <a:bodyPr/>
          <a:lstStyle/>
          <a:p>
            <a:endParaRPr lang="ko-KR" altLang="en-US"/>
          </a:p>
        </p:txBody>
      </p:sp>
      <p:sp>
        <p:nvSpPr>
          <p:cNvPr id="10" name="Shape 8"/>
          <p:cNvSpPr/>
          <p:nvPr/>
        </p:nvSpPr>
        <p:spPr>
          <a:xfrm>
            <a:off x="710009" y="1671985"/>
            <a:ext cx="380927" cy="380927"/>
          </a:xfrm>
          <a:prstGeom prst="roundRect">
            <a:avLst>
              <a:gd name="adj" fmla="val 27505"/>
            </a:avLst>
          </a:prstGeom>
          <a:solidFill>
            <a:srgbClr val="FFFFFF"/>
          </a:solidFill>
          <a:ln/>
        </p:spPr>
        <p:txBody>
          <a:bodyPr/>
          <a:lstStyle/>
          <a:p>
            <a:endParaRPr lang="ko-KR" altLang="en-US"/>
          </a:p>
        </p:txBody>
      </p:sp>
      <p:sp>
        <p:nvSpPr>
          <p:cNvPr id="11" name="Text 9"/>
          <p:cNvSpPr/>
          <p:nvPr/>
        </p:nvSpPr>
        <p:spPr>
          <a:xfrm>
            <a:off x="671909" y="1671985"/>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C99634"/>
                </a:solidFill>
                <a:latin typeface="Paperlogy 7 Bold" pitchFamily="2" charset="-127"/>
                <a:ea typeface="Paperlogy 7 Bold" pitchFamily="2" charset="-127"/>
                <a:cs typeface="Arial" pitchFamily="34" charset="-120"/>
              </a:rPr>
              <a:t>01</a:t>
            </a:r>
            <a:endParaRPr lang="en-US" sz="1350" dirty="0"/>
          </a:p>
        </p:txBody>
      </p:sp>
      <p:sp>
        <p:nvSpPr>
          <p:cNvPr id="12" name="Text 10"/>
          <p:cNvSpPr/>
          <p:nvPr/>
        </p:nvSpPr>
        <p:spPr>
          <a:xfrm>
            <a:off x="1205222" y="1724156"/>
            <a:ext cx="1373627"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늘어나는 수술</a:t>
            </a:r>
            <a:endParaRPr lang="en-US" sz="1800" dirty="0"/>
          </a:p>
        </p:txBody>
      </p:sp>
      <p:sp>
        <p:nvSpPr>
          <p:cNvPr id="13" name="Text 11"/>
          <p:cNvSpPr/>
          <p:nvPr/>
        </p:nvSpPr>
        <p:spPr>
          <a:xfrm>
            <a:off x="847099" y="2414764"/>
            <a:ext cx="2468116"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35개 주요수술을 받은 사람 (2025년)</a:t>
            </a:r>
            <a:endParaRPr lang="en-US" sz="1200" dirty="0"/>
          </a:p>
        </p:txBody>
      </p:sp>
      <p:sp>
        <p:nvSpPr>
          <p:cNvPr id="14" name="Shape 12"/>
          <p:cNvSpPr/>
          <p:nvPr/>
        </p:nvSpPr>
        <p:spPr>
          <a:xfrm>
            <a:off x="1081072" y="2673498"/>
            <a:ext cx="2000171" cy="516978"/>
          </a:xfrm>
          <a:prstGeom prst="roundRect">
            <a:avLst>
              <a:gd name="adj" fmla="val 25794"/>
            </a:avLst>
          </a:prstGeom>
          <a:ln w="15651">
            <a:solidFill>
              <a:srgbClr val="C99634"/>
            </a:solidFill>
            <a:prstDash val="solid"/>
          </a:ln>
        </p:spPr>
        <p:txBody>
          <a:bodyPr/>
          <a:lstStyle/>
          <a:p>
            <a:endParaRPr lang="ko-KR" altLang="en-US"/>
          </a:p>
        </p:txBody>
      </p:sp>
      <p:sp>
        <p:nvSpPr>
          <p:cNvPr id="15" name="Text 13"/>
          <p:cNvSpPr/>
          <p:nvPr/>
        </p:nvSpPr>
        <p:spPr>
          <a:xfrm>
            <a:off x="996715" y="2717724"/>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C99634"/>
                </a:solidFill>
                <a:latin typeface="Paperlogy 7 Bold" pitchFamily="2" charset="-127"/>
                <a:ea typeface="Paperlogy 7 Bold" pitchFamily="2" charset="-127"/>
                <a:cs typeface="Arial" pitchFamily="34" charset="-120"/>
              </a:rPr>
              <a:t>178만명</a:t>
            </a:r>
            <a:endParaRPr lang="en-US" sz="2700" dirty="0"/>
          </a:p>
        </p:txBody>
      </p:sp>
      <p:sp>
        <p:nvSpPr>
          <p:cNvPr id="16" name="Text 14"/>
          <p:cNvSpPr/>
          <p:nvPr/>
        </p:nvSpPr>
        <p:spPr>
          <a:xfrm>
            <a:off x="748077" y="3323755"/>
            <a:ext cx="72384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백내장</a:t>
            </a:r>
            <a:endParaRPr lang="en-US" sz="1200" dirty="0"/>
          </a:p>
        </p:txBody>
      </p:sp>
      <p:sp>
        <p:nvSpPr>
          <p:cNvPr id="17" name="Shape 15"/>
          <p:cNvSpPr/>
          <p:nvPr/>
        </p:nvSpPr>
        <p:spPr>
          <a:xfrm>
            <a:off x="1490937" y="3357910"/>
            <a:ext cx="1306139" cy="114286"/>
          </a:xfrm>
          <a:prstGeom prst="roundRect">
            <a:avLst>
              <a:gd name="adj" fmla="val 50000"/>
            </a:avLst>
          </a:prstGeom>
          <a:solidFill>
            <a:srgbClr val="C99634"/>
          </a:solidFill>
          <a:ln/>
        </p:spPr>
        <p:txBody>
          <a:bodyPr/>
          <a:lstStyle/>
          <a:p>
            <a:endParaRPr lang="ko-KR" altLang="en-US"/>
          </a:p>
        </p:txBody>
      </p:sp>
      <p:sp>
        <p:nvSpPr>
          <p:cNvPr id="18" name="Text 16"/>
          <p:cNvSpPr/>
          <p:nvPr/>
        </p:nvSpPr>
        <p:spPr>
          <a:xfrm>
            <a:off x="2854220" y="3323755"/>
            <a:ext cx="636219" cy="220697"/>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69.2만건</a:t>
            </a:r>
            <a:endParaRPr lang="en-US" sz="1200" dirty="0"/>
          </a:p>
        </p:txBody>
      </p:sp>
      <p:sp>
        <p:nvSpPr>
          <p:cNvPr id="19" name="Text 17"/>
          <p:cNvSpPr/>
          <p:nvPr/>
        </p:nvSpPr>
        <p:spPr>
          <a:xfrm>
            <a:off x="748077" y="3601563"/>
            <a:ext cx="72384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일반척추</a:t>
            </a:r>
            <a:endParaRPr lang="en-US" sz="1200" dirty="0"/>
          </a:p>
        </p:txBody>
      </p:sp>
      <p:sp>
        <p:nvSpPr>
          <p:cNvPr id="20" name="Shape 18"/>
          <p:cNvSpPr/>
          <p:nvPr/>
        </p:nvSpPr>
        <p:spPr>
          <a:xfrm>
            <a:off x="1490937" y="3635718"/>
            <a:ext cx="403833" cy="114286"/>
          </a:xfrm>
          <a:prstGeom prst="roundRect">
            <a:avLst>
              <a:gd name="adj" fmla="val 50000"/>
            </a:avLst>
          </a:prstGeom>
          <a:solidFill>
            <a:srgbClr val="C99634"/>
          </a:solidFill>
          <a:ln/>
        </p:spPr>
        <p:txBody>
          <a:bodyPr/>
          <a:lstStyle/>
          <a:p>
            <a:endParaRPr lang="ko-KR" altLang="en-US"/>
          </a:p>
        </p:txBody>
      </p:sp>
      <p:sp>
        <p:nvSpPr>
          <p:cNvPr id="21" name="Text 19"/>
          <p:cNvSpPr/>
          <p:nvPr/>
        </p:nvSpPr>
        <p:spPr>
          <a:xfrm>
            <a:off x="1951913" y="3601563"/>
            <a:ext cx="636219" cy="220697"/>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19.9만건</a:t>
            </a:r>
            <a:endParaRPr lang="en-US" sz="1200" dirty="0"/>
          </a:p>
        </p:txBody>
      </p:sp>
      <p:sp>
        <p:nvSpPr>
          <p:cNvPr id="22" name="Text 20"/>
          <p:cNvSpPr/>
          <p:nvPr/>
        </p:nvSpPr>
        <p:spPr>
          <a:xfrm>
            <a:off x="748077" y="3879371"/>
            <a:ext cx="72384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치핵</a:t>
            </a:r>
            <a:endParaRPr lang="en-US" sz="1200" dirty="0"/>
          </a:p>
        </p:txBody>
      </p:sp>
      <p:sp>
        <p:nvSpPr>
          <p:cNvPr id="23" name="Shape 21"/>
          <p:cNvSpPr/>
          <p:nvPr/>
        </p:nvSpPr>
        <p:spPr>
          <a:xfrm>
            <a:off x="1490937" y="3913527"/>
            <a:ext cx="307725" cy="114286"/>
          </a:xfrm>
          <a:prstGeom prst="roundRect">
            <a:avLst>
              <a:gd name="adj" fmla="val 50000"/>
            </a:avLst>
          </a:prstGeom>
          <a:solidFill>
            <a:srgbClr val="C99634"/>
          </a:solidFill>
          <a:ln/>
        </p:spPr>
        <p:txBody>
          <a:bodyPr/>
          <a:lstStyle/>
          <a:p>
            <a:endParaRPr lang="ko-KR" altLang="en-US"/>
          </a:p>
        </p:txBody>
      </p:sp>
      <p:sp>
        <p:nvSpPr>
          <p:cNvPr id="24" name="Text 22"/>
          <p:cNvSpPr/>
          <p:nvPr/>
        </p:nvSpPr>
        <p:spPr>
          <a:xfrm>
            <a:off x="1855805" y="3879371"/>
            <a:ext cx="636219" cy="220697"/>
          </a:xfrm>
          <a:prstGeom prst="rect">
            <a:avLst/>
          </a:prstGeom>
          <a:noFill/>
          <a:ln/>
        </p:spPr>
        <p:txBody>
          <a:bodyPr wrap="none" lIns="25400" tIns="25400" rIns="25400" bIns="25400" rtlCol="0" anchor="t">
            <a:normAutofit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15.2만건</a:t>
            </a:r>
            <a:endParaRPr lang="en-US" sz="1200" dirty="0"/>
          </a:p>
        </p:txBody>
      </p:sp>
      <p:sp>
        <p:nvSpPr>
          <p:cNvPr id="25" name="Shape 23"/>
          <p:cNvSpPr/>
          <p:nvPr/>
        </p:nvSpPr>
        <p:spPr>
          <a:xfrm>
            <a:off x="748077" y="4195248"/>
            <a:ext cx="2666161" cy="9525"/>
          </a:xfrm>
          <a:prstGeom prst="rect">
            <a:avLst/>
          </a:prstGeom>
          <a:solidFill>
            <a:srgbClr val="EADFD3"/>
          </a:solidFill>
          <a:ln/>
        </p:spPr>
        <p:txBody>
          <a:bodyPr/>
          <a:lstStyle/>
          <a:p>
            <a:endParaRPr lang="ko-KR" altLang="en-US"/>
          </a:p>
        </p:txBody>
      </p:sp>
      <p:sp>
        <p:nvSpPr>
          <p:cNvPr id="26" name="Shape 24"/>
          <p:cNvSpPr/>
          <p:nvPr/>
        </p:nvSpPr>
        <p:spPr>
          <a:xfrm>
            <a:off x="748077" y="4426384"/>
            <a:ext cx="47606" cy="47606"/>
          </a:xfrm>
          <a:prstGeom prst="ellipse">
            <a:avLst/>
          </a:prstGeom>
          <a:solidFill>
            <a:srgbClr val="C99634"/>
          </a:solidFill>
          <a:ln/>
        </p:spPr>
        <p:txBody>
          <a:bodyPr/>
          <a:lstStyle/>
          <a:p>
            <a:endParaRPr lang="ko-KR" altLang="en-US"/>
          </a:p>
        </p:txBody>
      </p:sp>
      <p:sp>
        <p:nvSpPr>
          <p:cNvPr id="27" name="Text 25"/>
          <p:cNvSpPr/>
          <p:nvPr/>
        </p:nvSpPr>
        <p:spPr>
          <a:xfrm>
            <a:off x="890894" y="4314751"/>
            <a:ext cx="2599544" cy="550350"/>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주요수술 215만건, </a:t>
            </a:r>
            <a:r>
              <a:rPr lang="ko-KR" altLang="en-US" sz="1275" b="1" dirty="0">
                <a:solidFill>
                  <a:srgbClr val="4A3B31"/>
                </a:solidFill>
                <a:latin typeface="Paperlogy 7 Bold" pitchFamily="2" charset="-127"/>
                <a:ea typeface="Paperlogy 7 Bold" pitchFamily="2" charset="-127"/>
                <a:cs typeface="Arial" pitchFamily="34" charset="-120"/>
              </a:rPr>
              <a:t>                                 </a:t>
            </a:r>
            <a:r>
              <a:rPr lang="en-US" sz="1275" b="1" dirty="0">
                <a:solidFill>
                  <a:srgbClr val="4A3B31"/>
                </a:solidFill>
                <a:latin typeface="Paperlogy 7 Bold" pitchFamily="2" charset="-127"/>
                <a:ea typeface="Paperlogy 7 Bold" pitchFamily="2" charset="-127"/>
                <a:cs typeface="Arial" pitchFamily="34" charset="-120"/>
              </a:rPr>
              <a:t>1년</a:t>
            </a:r>
            <a:r>
              <a:rPr lang="ko-KR" altLang="en-US" sz="1275" b="1" dirty="0">
                <a:solidFill>
                  <a:srgbClr val="4A3B31"/>
                </a:solidFill>
                <a:latin typeface="Paperlogy 7 Bold" pitchFamily="2" charset="-127"/>
                <a:ea typeface="Paperlogy 7 Bold" pitchFamily="2" charset="-127"/>
                <a:cs typeface="Arial" pitchFamily="34" charset="-120"/>
              </a:rPr>
              <a:t> </a:t>
            </a:r>
            <a:r>
              <a:rPr lang="en-US" sz="1275" b="1" dirty="0" err="1">
                <a:solidFill>
                  <a:srgbClr val="4A3B31"/>
                </a:solidFill>
                <a:latin typeface="Paperlogy 7 Bold" pitchFamily="2" charset="-127"/>
                <a:ea typeface="Paperlogy 7 Bold" pitchFamily="2" charset="-127"/>
                <a:cs typeface="Arial" pitchFamily="34" charset="-120"/>
              </a:rPr>
              <a:t>새</a:t>
            </a:r>
            <a:r>
              <a:rPr lang="en-US" sz="1275" b="1" dirty="0">
                <a:solidFill>
                  <a:srgbClr val="4A3B31"/>
                </a:solidFill>
                <a:latin typeface="Paperlogy 7 Bold" pitchFamily="2" charset="-127"/>
                <a:ea typeface="Paperlogy 7 Bold" pitchFamily="2" charset="-127"/>
                <a:cs typeface="Arial" pitchFamily="34" charset="-120"/>
              </a:rPr>
              <a:t> </a:t>
            </a:r>
            <a:r>
              <a:rPr lang="en-US" sz="1275" b="1" dirty="0">
                <a:solidFill>
                  <a:srgbClr val="C99634"/>
                </a:solidFill>
                <a:latin typeface="Paperlogy 7 Bold" pitchFamily="2" charset="-127"/>
                <a:ea typeface="Paperlogy 7 Bold" pitchFamily="2" charset="-127"/>
                <a:cs typeface="Arial" pitchFamily="34" charset="-120"/>
              </a:rPr>
              <a:t>4.8% </a:t>
            </a:r>
            <a:r>
              <a:rPr lang="en-US" sz="1275" b="1" dirty="0">
                <a:solidFill>
                  <a:srgbClr val="4A3B31"/>
                </a:solidFill>
                <a:latin typeface="Paperlogy 7 Bold" pitchFamily="2" charset="-127"/>
                <a:ea typeface="Paperlogy 7 Bold" pitchFamily="2" charset="-127"/>
                <a:cs typeface="Arial" pitchFamily="34" charset="-120"/>
              </a:rPr>
              <a:t>늘었다</a:t>
            </a:r>
            <a:endParaRPr lang="en-US" sz="1275" dirty="0"/>
          </a:p>
        </p:txBody>
      </p:sp>
      <p:sp>
        <p:nvSpPr>
          <p:cNvPr id="28" name="Shape 26"/>
          <p:cNvSpPr/>
          <p:nvPr/>
        </p:nvSpPr>
        <p:spPr>
          <a:xfrm>
            <a:off x="748077" y="4995778"/>
            <a:ext cx="47606" cy="47606"/>
          </a:xfrm>
          <a:prstGeom prst="ellipse">
            <a:avLst/>
          </a:prstGeom>
          <a:solidFill>
            <a:srgbClr val="C99634"/>
          </a:solidFill>
          <a:ln/>
        </p:spPr>
        <p:txBody>
          <a:bodyPr/>
          <a:lstStyle/>
          <a:p>
            <a:endParaRPr lang="ko-KR" altLang="en-US"/>
          </a:p>
        </p:txBody>
      </p:sp>
      <p:sp>
        <p:nvSpPr>
          <p:cNvPr id="29" name="Text 27"/>
          <p:cNvSpPr/>
          <p:nvPr/>
        </p:nvSpPr>
        <p:spPr>
          <a:xfrm>
            <a:off x="890894" y="4884144"/>
            <a:ext cx="2599544"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건당 진료비 평균 </a:t>
            </a:r>
            <a:r>
              <a:rPr lang="en-US" sz="1275" b="1" dirty="0">
                <a:solidFill>
                  <a:srgbClr val="C99634"/>
                </a:solidFill>
                <a:latin typeface="Paperlogy 7 Bold" pitchFamily="2" charset="-127"/>
                <a:ea typeface="Paperlogy 7 Bold" pitchFamily="2" charset="-127"/>
                <a:cs typeface="Arial" pitchFamily="34" charset="-120"/>
              </a:rPr>
              <a:t>496만원</a:t>
            </a:r>
            <a:r>
              <a:rPr lang="en-US" sz="1275" b="1" dirty="0">
                <a:solidFill>
                  <a:srgbClr val="4A3B31"/>
                </a:solidFill>
                <a:latin typeface="Paperlogy 7 Bold" pitchFamily="2" charset="-127"/>
                <a:ea typeface="Paperlogy 7 Bold" pitchFamily="2" charset="-127"/>
                <a:cs typeface="Arial" pitchFamily="34" charset="-120"/>
              </a:rPr>
              <a:t>(+9.5%)</a:t>
            </a:r>
            <a:endParaRPr lang="en-US" sz="1275" dirty="0"/>
          </a:p>
        </p:txBody>
      </p:sp>
      <p:sp>
        <p:nvSpPr>
          <p:cNvPr id="30" name="Shape 28"/>
          <p:cNvSpPr/>
          <p:nvPr/>
        </p:nvSpPr>
        <p:spPr>
          <a:xfrm>
            <a:off x="748077" y="5373977"/>
            <a:ext cx="2666161" cy="369596"/>
          </a:xfrm>
          <a:prstGeom prst="roundRect">
            <a:avLst>
              <a:gd name="adj" fmla="val 25771"/>
            </a:avLst>
          </a:prstGeom>
          <a:solidFill>
            <a:srgbClr val="F6EBCF"/>
          </a:solidFill>
          <a:ln/>
        </p:spPr>
        <p:txBody>
          <a:bodyPr/>
          <a:lstStyle/>
          <a:p>
            <a:endParaRPr lang="ko-KR" altLang="en-US"/>
          </a:p>
        </p:txBody>
      </p:sp>
      <p:sp>
        <p:nvSpPr>
          <p:cNvPr id="31" name="Text 29"/>
          <p:cNvSpPr/>
          <p:nvPr/>
        </p:nvSpPr>
        <p:spPr>
          <a:xfrm>
            <a:off x="822385" y="5459702"/>
            <a:ext cx="2517546"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살면서 꼭 한번은 오는 질환들</a:t>
            </a:r>
            <a:endParaRPr lang="en-US" sz="1313" dirty="0"/>
          </a:p>
        </p:txBody>
      </p:sp>
      <p:sp>
        <p:nvSpPr>
          <p:cNvPr id="32" name="Shape 30"/>
          <p:cNvSpPr/>
          <p:nvPr/>
        </p:nvSpPr>
        <p:spPr>
          <a:xfrm>
            <a:off x="3800382" y="1533489"/>
            <a:ext cx="3095672" cy="4443873"/>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33" name="Shape 31"/>
          <p:cNvSpPr/>
          <p:nvPr/>
        </p:nvSpPr>
        <p:spPr>
          <a:xfrm>
            <a:off x="3805599" y="1538706"/>
            <a:ext cx="3085238" cy="647486"/>
          </a:xfrm>
          <a:prstGeom prst="rect">
            <a:avLst/>
          </a:prstGeom>
          <a:solidFill>
            <a:srgbClr val="F8E3D7"/>
          </a:solidFill>
          <a:ln/>
        </p:spPr>
        <p:txBody>
          <a:bodyPr/>
          <a:lstStyle/>
          <a:p>
            <a:endParaRPr lang="ko-KR" altLang="en-US"/>
          </a:p>
        </p:txBody>
      </p:sp>
      <p:sp>
        <p:nvSpPr>
          <p:cNvPr id="34" name="Shape 32"/>
          <p:cNvSpPr/>
          <p:nvPr/>
        </p:nvSpPr>
        <p:spPr>
          <a:xfrm>
            <a:off x="3977028" y="1671985"/>
            <a:ext cx="380927" cy="380927"/>
          </a:xfrm>
          <a:prstGeom prst="roundRect">
            <a:avLst>
              <a:gd name="adj" fmla="val 27505"/>
            </a:avLst>
          </a:prstGeom>
          <a:solidFill>
            <a:srgbClr val="FFFFFF"/>
          </a:solidFill>
          <a:ln/>
        </p:spPr>
        <p:txBody>
          <a:bodyPr/>
          <a:lstStyle/>
          <a:p>
            <a:endParaRPr lang="ko-KR" altLang="en-US"/>
          </a:p>
        </p:txBody>
      </p:sp>
      <p:sp>
        <p:nvSpPr>
          <p:cNvPr id="35" name="Text 33"/>
          <p:cNvSpPr/>
          <p:nvPr/>
        </p:nvSpPr>
        <p:spPr>
          <a:xfrm>
            <a:off x="3938928" y="1671985"/>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D7774C"/>
                </a:solidFill>
                <a:latin typeface="Paperlogy 7 Bold" pitchFamily="2" charset="-127"/>
                <a:ea typeface="Paperlogy 7 Bold" pitchFamily="2" charset="-127"/>
                <a:cs typeface="Arial" pitchFamily="34" charset="-120"/>
              </a:rPr>
              <a:t>02</a:t>
            </a:r>
            <a:endParaRPr lang="en-US" sz="1350" dirty="0"/>
          </a:p>
        </p:txBody>
      </p:sp>
      <p:sp>
        <p:nvSpPr>
          <p:cNvPr id="36" name="Text 34"/>
          <p:cNvSpPr/>
          <p:nvPr/>
        </p:nvSpPr>
        <p:spPr>
          <a:xfrm>
            <a:off x="4472241" y="1724156"/>
            <a:ext cx="1660744"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절반은 본인 부담</a:t>
            </a:r>
            <a:endParaRPr lang="en-US" sz="1800" dirty="0"/>
          </a:p>
        </p:txBody>
      </p:sp>
      <p:sp>
        <p:nvSpPr>
          <p:cNvPr id="37" name="Text 35"/>
          <p:cNvSpPr/>
          <p:nvPr/>
        </p:nvSpPr>
        <p:spPr>
          <a:xfrm>
            <a:off x="4217775" y="2414764"/>
            <a:ext cx="2260804"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5세대 실손 비중증 비급여 자기부담</a:t>
            </a:r>
            <a:endParaRPr lang="en-US" sz="1200" dirty="0"/>
          </a:p>
        </p:txBody>
      </p:sp>
      <p:sp>
        <p:nvSpPr>
          <p:cNvPr id="38" name="Shape 36"/>
          <p:cNvSpPr/>
          <p:nvPr/>
        </p:nvSpPr>
        <p:spPr>
          <a:xfrm>
            <a:off x="4348091" y="2673498"/>
            <a:ext cx="2000171" cy="516978"/>
          </a:xfrm>
          <a:prstGeom prst="roundRect">
            <a:avLst>
              <a:gd name="adj" fmla="val 25794"/>
            </a:avLst>
          </a:prstGeom>
          <a:ln w="15651">
            <a:solidFill>
              <a:srgbClr val="D7774C"/>
            </a:solidFill>
            <a:prstDash val="solid"/>
          </a:ln>
        </p:spPr>
        <p:txBody>
          <a:bodyPr/>
          <a:lstStyle/>
          <a:p>
            <a:endParaRPr lang="ko-KR" altLang="en-US"/>
          </a:p>
        </p:txBody>
      </p:sp>
      <p:sp>
        <p:nvSpPr>
          <p:cNvPr id="39" name="Text 37"/>
          <p:cNvSpPr/>
          <p:nvPr/>
        </p:nvSpPr>
        <p:spPr>
          <a:xfrm>
            <a:off x="4263734" y="2717724"/>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D7774C"/>
                </a:solidFill>
                <a:latin typeface="Paperlogy 7 Bold" pitchFamily="2" charset="-127"/>
                <a:ea typeface="Paperlogy 7 Bold" pitchFamily="2" charset="-127"/>
                <a:cs typeface="Arial" pitchFamily="34" charset="-120"/>
              </a:rPr>
              <a:t>50%</a:t>
            </a:r>
            <a:endParaRPr lang="en-US" sz="2700" dirty="0"/>
          </a:p>
        </p:txBody>
      </p:sp>
      <p:sp>
        <p:nvSpPr>
          <p:cNvPr id="40" name="Text 38"/>
          <p:cNvSpPr/>
          <p:nvPr/>
        </p:nvSpPr>
        <p:spPr>
          <a:xfrm>
            <a:off x="4728774" y="3323755"/>
            <a:ext cx="1362687" cy="27808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A69687"/>
                </a:solidFill>
                <a:latin typeface="Paperlogy 7 Bold" pitchFamily="2" charset="-127"/>
                <a:ea typeface="Paperlogy 7 Bold" pitchFamily="2" charset="-127"/>
                <a:cs typeface="Arial" pitchFamily="34" charset="-120"/>
              </a:rPr>
              <a:t>30% → </a:t>
            </a:r>
            <a:r>
              <a:rPr lang="en-US" sz="1650" b="1" dirty="0">
                <a:solidFill>
                  <a:srgbClr val="D7774C"/>
                </a:solidFill>
                <a:latin typeface="Paperlogy 7 Bold" pitchFamily="2" charset="-127"/>
                <a:ea typeface="Paperlogy 7 Bold" pitchFamily="2" charset="-127"/>
                <a:cs typeface="Arial" pitchFamily="34" charset="-120"/>
              </a:rPr>
              <a:t>50%</a:t>
            </a:r>
            <a:endParaRPr lang="en-US" sz="1650" dirty="0"/>
          </a:p>
        </p:txBody>
      </p:sp>
      <p:sp>
        <p:nvSpPr>
          <p:cNvPr id="41" name="Text 39"/>
          <p:cNvSpPr/>
          <p:nvPr/>
        </p:nvSpPr>
        <p:spPr>
          <a:xfrm>
            <a:off x="4908354" y="3601808"/>
            <a:ext cx="955845" cy="215480"/>
          </a:xfrm>
          <a:prstGeom prst="rect">
            <a:avLst/>
          </a:prstGeom>
          <a:noFill/>
          <a:ln/>
        </p:spPr>
        <p:txBody>
          <a:bodyPr wrap="none" lIns="25400" tIns="25400" rIns="25400" bIns="25400" rtlCol="0" anchor="t">
            <a:normAutofit lnSpcReduction="10000"/>
          </a:bodyPr>
          <a:lstStyle/>
          <a:p>
            <a:pPr marL="0" indent="0" algn="l">
              <a:buNone/>
            </a:pPr>
            <a:r>
              <a:rPr lang="en-US" sz="1163" b="1" dirty="0">
                <a:solidFill>
                  <a:srgbClr val="A69687"/>
                </a:solidFill>
                <a:latin typeface="Paperlogy 7 Bold" pitchFamily="2" charset="-127"/>
                <a:ea typeface="Paperlogy 7 Bold" pitchFamily="2" charset="-127"/>
                <a:cs typeface="Arial" pitchFamily="34" charset="-120"/>
              </a:rPr>
              <a:t>4세대 → 5세대</a:t>
            </a:r>
            <a:endParaRPr lang="en-US" sz="1163" dirty="0"/>
          </a:p>
        </p:txBody>
      </p:sp>
      <p:sp>
        <p:nvSpPr>
          <p:cNvPr id="42" name="Shape 40"/>
          <p:cNvSpPr/>
          <p:nvPr/>
        </p:nvSpPr>
        <p:spPr>
          <a:xfrm>
            <a:off x="4015096" y="3912467"/>
            <a:ext cx="2666242" cy="9525"/>
          </a:xfrm>
          <a:prstGeom prst="rect">
            <a:avLst/>
          </a:prstGeom>
          <a:solidFill>
            <a:srgbClr val="EADFD3"/>
          </a:solidFill>
          <a:ln/>
        </p:spPr>
        <p:txBody>
          <a:bodyPr/>
          <a:lstStyle/>
          <a:p>
            <a:endParaRPr lang="ko-KR" altLang="en-US"/>
          </a:p>
        </p:txBody>
      </p:sp>
      <p:sp>
        <p:nvSpPr>
          <p:cNvPr id="43" name="Shape 41"/>
          <p:cNvSpPr/>
          <p:nvPr/>
        </p:nvSpPr>
        <p:spPr>
          <a:xfrm>
            <a:off x="4015096" y="4143604"/>
            <a:ext cx="47606" cy="47606"/>
          </a:xfrm>
          <a:prstGeom prst="ellipse">
            <a:avLst/>
          </a:prstGeom>
          <a:solidFill>
            <a:srgbClr val="D7774C"/>
          </a:solidFill>
          <a:ln/>
        </p:spPr>
        <p:txBody>
          <a:bodyPr/>
          <a:lstStyle/>
          <a:p>
            <a:endParaRPr lang="ko-KR" altLang="en-US"/>
          </a:p>
        </p:txBody>
      </p:sp>
      <p:sp>
        <p:nvSpPr>
          <p:cNvPr id="44" name="Text 42"/>
          <p:cNvSpPr/>
          <p:nvPr/>
        </p:nvSpPr>
        <p:spPr>
          <a:xfrm>
            <a:off x="4157913" y="4031970"/>
            <a:ext cx="2599626"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연간 한도 5천만 → </a:t>
            </a:r>
            <a:r>
              <a:rPr lang="en-US" sz="1275" b="1" dirty="0">
                <a:solidFill>
                  <a:srgbClr val="D7774C"/>
                </a:solidFill>
                <a:latin typeface="Paperlogy 7 Bold" pitchFamily="2" charset="-127"/>
                <a:ea typeface="Paperlogy 7 Bold" pitchFamily="2" charset="-127"/>
                <a:cs typeface="Arial" pitchFamily="34" charset="-120"/>
              </a:rPr>
              <a:t>1천만원</a:t>
            </a:r>
            <a:endParaRPr lang="en-US" sz="1275" dirty="0"/>
          </a:p>
        </p:txBody>
      </p:sp>
      <p:sp>
        <p:nvSpPr>
          <p:cNvPr id="45" name="Shape 43"/>
          <p:cNvSpPr/>
          <p:nvPr/>
        </p:nvSpPr>
        <p:spPr>
          <a:xfrm>
            <a:off x="4015096" y="4462089"/>
            <a:ext cx="47606" cy="47606"/>
          </a:xfrm>
          <a:prstGeom prst="ellipse">
            <a:avLst/>
          </a:prstGeom>
          <a:solidFill>
            <a:srgbClr val="D7774C"/>
          </a:solidFill>
          <a:ln/>
        </p:spPr>
        <p:txBody>
          <a:bodyPr/>
          <a:lstStyle/>
          <a:p>
            <a:endParaRPr lang="ko-KR" altLang="en-US"/>
          </a:p>
        </p:txBody>
      </p:sp>
      <p:sp>
        <p:nvSpPr>
          <p:cNvPr id="46" name="Text 44"/>
          <p:cNvSpPr/>
          <p:nvPr/>
        </p:nvSpPr>
        <p:spPr>
          <a:xfrm>
            <a:off x="4157913" y="4350455"/>
            <a:ext cx="2775768" cy="289008"/>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입원 회당 300만원(병·의원)</a:t>
            </a:r>
            <a:endParaRPr lang="en-US" sz="1275" dirty="0"/>
          </a:p>
        </p:txBody>
      </p:sp>
      <p:sp>
        <p:nvSpPr>
          <p:cNvPr id="47" name="Shape 45"/>
          <p:cNvSpPr/>
          <p:nvPr/>
        </p:nvSpPr>
        <p:spPr>
          <a:xfrm>
            <a:off x="4015096" y="5373977"/>
            <a:ext cx="2666242" cy="369596"/>
          </a:xfrm>
          <a:prstGeom prst="roundRect">
            <a:avLst>
              <a:gd name="adj" fmla="val 25771"/>
            </a:avLst>
          </a:prstGeom>
          <a:solidFill>
            <a:srgbClr val="F8E3D7"/>
          </a:solidFill>
          <a:ln/>
        </p:spPr>
        <p:txBody>
          <a:bodyPr/>
          <a:lstStyle/>
          <a:p>
            <a:endParaRPr lang="ko-KR" altLang="en-US"/>
          </a:p>
        </p:txBody>
      </p:sp>
      <p:sp>
        <p:nvSpPr>
          <p:cNvPr id="48" name="Text 46"/>
          <p:cNvSpPr/>
          <p:nvPr/>
        </p:nvSpPr>
        <p:spPr>
          <a:xfrm>
            <a:off x="4089403" y="5459702"/>
            <a:ext cx="2517630"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비중증이라 내가 낼 돈은 늘어나고,</a:t>
            </a:r>
            <a:endParaRPr lang="en-US" sz="1313" dirty="0"/>
          </a:p>
        </p:txBody>
      </p:sp>
      <p:sp>
        <p:nvSpPr>
          <p:cNvPr id="49" name="Shape 47"/>
          <p:cNvSpPr/>
          <p:nvPr/>
        </p:nvSpPr>
        <p:spPr>
          <a:xfrm>
            <a:off x="7067483" y="1533489"/>
            <a:ext cx="3095672" cy="4443873"/>
          </a:xfrm>
          <a:prstGeom prst="roundRect">
            <a:avLst>
              <a:gd name="adj" fmla="val 4923"/>
            </a:avLst>
          </a:prstGeom>
          <a:solidFill>
            <a:srgbClr val="FFFFFF"/>
          </a:solidFill>
          <a:ln w="5217">
            <a:solidFill>
              <a:srgbClr val="EADFD3"/>
            </a:solidFill>
            <a:prstDash val="solid"/>
          </a:ln>
        </p:spPr>
        <p:txBody>
          <a:bodyPr/>
          <a:lstStyle/>
          <a:p>
            <a:endParaRPr lang="ko-KR" altLang="en-US"/>
          </a:p>
        </p:txBody>
      </p:sp>
      <p:sp>
        <p:nvSpPr>
          <p:cNvPr id="50" name="Shape 48"/>
          <p:cNvSpPr/>
          <p:nvPr/>
        </p:nvSpPr>
        <p:spPr>
          <a:xfrm>
            <a:off x="7072700" y="1538706"/>
            <a:ext cx="3085238" cy="647486"/>
          </a:xfrm>
          <a:prstGeom prst="rect">
            <a:avLst/>
          </a:prstGeom>
          <a:solidFill>
            <a:srgbClr val="EEDFD5"/>
          </a:solidFill>
          <a:ln/>
        </p:spPr>
        <p:txBody>
          <a:bodyPr/>
          <a:lstStyle/>
          <a:p>
            <a:endParaRPr lang="ko-KR" altLang="en-US"/>
          </a:p>
        </p:txBody>
      </p:sp>
      <p:sp>
        <p:nvSpPr>
          <p:cNvPr id="51" name="Shape 49"/>
          <p:cNvSpPr/>
          <p:nvPr/>
        </p:nvSpPr>
        <p:spPr>
          <a:xfrm>
            <a:off x="7244129" y="1671985"/>
            <a:ext cx="380927" cy="380927"/>
          </a:xfrm>
          <a:prstGeom prst="roundRect">
            <a:avLst>
              <a:gd name="adj" fmla="val 27505"/>
            </a:avLst>
          </a:prstGeom>
          <a:solidFill>
            <a:srgbClr val="FFFFFF"/>
          </a:solidFill>
          <a:ln/>
        </p:spPr>
        <p:txBody>
          <a:bodyPr/>
          <a:lstStyle/>
          <a:p>
            <a:endParaRPr lang="ko-KR" altLang="en-US"/>
          </a:p>
        </p:txBody>
      </p:sp>
      <p:sp>
        <p:nvSpPr>
          <p:cNvPr id="52" name="Text 50"/>
          <p:cNvSpPr/>
          <p:nvPr/>
        </p:nvSpPr>
        <p:spPr>
          <a:xfrm>
            <a:off x="7206029" y="1671985"/>
            <a:ext cx="457127" cy="419027"/>
          </a:xfrm>
          <a:prstGeom prst="rect">
            <a:avLst/>
          </a:prstGeom>
          <a:noFill/>
          <a:ln/>
        </p:spPr>
        <p:txBody>
          <a:bodyPr wrap="square" lIns="25400" tIns="25400" rIns="25400" bIns="25400" rtlCol="0" anchor="ctr">
            <a:normAutofit/>
          </a:bodyPr>
          <a:lstStyle/>
          <a:p>
            <a:pPr marL="0" indent="0" algn="ctr">
              <a:buNone/>
            </a:pPr>
            <a:r>
              <a:rPr lang="en-US" sz="1350" b="1" dirty="0">
                <a:solidFill>
                  <a:srgbClr val="9B5D3D"/>
                </a:solidFill>
                <a:latin typeface="Paperlogy 7 Bold" pitchFamily="2" charset="-127"/>
                <a:ea typeface="Paperlogy 7 Bold" pitchFamily="2" charset="-127"/>
                <a:cs typeface="Arial" pitchFamily="34" charset="-120"/>
              </a:rPr>
              <a:t>03</a:t>
            </a:r>
            <a:endParaRPr lang="en-US" sz="1350" dirty="0"/>
          </a:p>
        </p:txBody>
      </p:sp>
      <p:sp>
        <p:nvSpPr>
          <p:cNvPr id="53" name="Text 51"/>
          <p:cNvSpPr/>
          <p:nvPr/>
        </p:nvSpPr>
        <p:spPr>
          <a:xfrm>
            <a:off x="7739342" y="1724156"/>
            <a:ext cx="2235069" cy="314604"/>
          </a:xfrm>
          <a:prstGeom prst="rect">
            <a:avLst/>
          </a:prstGeom>
          <a:noFill/>
          <a:ln/>
        </p:spPr>
        <p:txBody>
          <a:bodyPr wrap="none" lIns="25400" tIns="25400" rIns="25400" bIns="25400" rtlCol="0" anchor="t">
            <a:normAutofit lnSpcReduction="10000"/>
          </a:bodyPr>
          <a:lstStyle/>
          <a:p>
            <a:pPr marL="0" indent="0" algn="l">
              <a:buNone/>
            </a:pPr>
            <a:r>
              <a:rPr lang="en-US" sz="1800" b="1" dirty="0">
                <a:solidFill>
                  <a:srgbClr val="3A2C24"/>
                </a:solidFill>
                <a:latin typeface="Paperlogy 7 Bold" pitchFamily="2" charset="-127"/>
                <a:ea typeface="Paperlogy 7 Bold" pitchFamily="2" charset="-127"/>
                <a:cs typeface="Arial" pitchFamily="34" charset="-120"/>
              </a:rPr>
              <a:t>비급여 수술 함께 증가!</a:t>
            </a:r>
            <a:endParaRPr lang="en-US" sz="1800" dirty="0"/>
          </a:p>
        </p:txBody>
      </p:sp>
      <p:sp>
        <p:nvSpPr>
          <p:cNvPr id="54" name="Text 52"/>
          <p:cNvSpPr/>
          <p:nvPr/>
        </p:nvSpPr>
        <p:spPr>
          <a:xfrm>
            <a:off x="7555889" y="2414764"/>
            <a:ext cx="2118859" cy="220697"/>
          </a:xfrm>
          <a:prstGeom prst="rect">
            <a:avLst/>
          </a:prstGeom>
          <a:noFill/>
          <a:ln/>
        </p:spPr>
        <p:txBody>
          <a:bodyPr wrap="none" lIns="25400" tIns="25400" rIns="25400" bIns="25400" rtlCol="0" anchor="t">
            <a:normAutofit lnSpcReduction="10000"/>
          </a:bodyPr>
          <a:lstStyle/>
          <a:p>
            <a:pPr marL="0" indent="0" algn="ctr">
              <a:buNone/>
            </a:pPr>
            <a:r>
              <a:rPr lang="en-US" sz="1200" b="1" kern="0" spc="-24" dirty="0">
                <a:solidFill>
                  <a:srgbClr val="7B6B60"/>
                </a:solidFill>
                <a:latin typeface="Paperlogy 7 Bold" pitchFamily="2" charset="-127"/>
                <a:ea typeface="Paperlogy 7 Bold" pitchFamily="2" charset="-127"/>
                <a:cs typeface="Arial" pitchFamily="34" charset="-120"/>
              </a:rPr>
              <a:t>로봇수술 실손 지급보험금 증가율</a:t>
            </a:r>
            <a:endParaRPr lang="en-US" sz="1200" dirty="0"/>
          </a:p>
        </p:txBody>
      </p:sp>
      <p:sp>
        <p:nvSpPr>
          <p:cNvPr id="55" name="Shape 53"/>
          <p:cNvSpPr/>
          <p:nvPr/>
        </p:nvSpPr>
        <p:spPr>
          <a:xfrm>
            <a:off x="7615192" y="2673498"/>
            <a:ext cx="2000171" cy="516978"/>
          </a:xfrm>
          <a:prstGeom prst="roundRect">
            <a:avLst>
              <a:gd name="adj" fmla="val 25794"/>
            </a:avLst>
          </a:prstGeom>
          <a:ln w="15651">
            <a:solidFill>
              <a:srgbClr val="9B5D3D"/>
            </a:solidFill>
            <a:prstDash val="solid"/>
          </a:ln>
        </p:spPr>
        <p:txBody>
          <a:bodyPr/>
          <a:lstStyle/>
          <a:p>
            <a:endParaRPr lang="ko-KR" altLang="en-US"/>
          </a:p>
        </p:txBody>
      </p:sp>
      <p:sp>
        <p:nvSpPr>
          <p:cNvPr id="56" name="Text 54"/>
          <p:cNvSpPr/>
          <p:nvPr/>
        </p:nvSpPr>
        <p:spPr>
          <a:xfrm>
            <a:off x="7530835" y="2717724"/>
            <a:ext cx="2168886" cy="466625"/>
          </a:xfrm>
          <a:prstGeom prst="rect">
            <a:avLst/>
          </a:prstGeom>
          <a:noFill/>
          <a:ln/>
        </p:spPr>
        <p:txBody>
          <a:bodyPr wrap="none" lIns="25400" tIns="25400" rIns="25400" bIns="25400" rtlCol="0" anchor="t">
            <a:normAutofit lnSpcReduction="10000"/>
          </a:bodyPr>
          <a:lstStyle/>
          <a:p>
            <a:pPr marL="0" indent="0" algn="ctr">
              <a:lnSpc>
                <a:spcPct val="109545"/>
              </a:lnSpc>
              <a:buNone/>
            </a:pPr>
            <a:r>
              <a:rPr lang="en-US" sz="2700" b="1" kern="0" spc="-81" dirty="0">
                <a:solidFill>
                  <a:srgbClr val="9B5D3D"/>
                </a:solidFill>
                <a:latin typeface="Paperlogy 7 Bold" pitchFamily="2" charset="-127"/>
                <a:ea typeface="Paperlogy 7 Bold" pitchFamily="2" charset="-127"/>
                <a:cs typeface="Arial" pitchFamily="34" charset="-120"/>
              </a:rPr>
              <a:t>+72.4%</a:t>
            </a:r>
            <a:endParaRPr lang="en-US" sz="2700" dirty="0"/>
          </a:p>
        </p:txBody>
      </p:sp>
      <p:sp>
        <p:nvSpPr>
          <p:cNvPr id="57" name="Text 55"/>
          <p:cNvSpPr/>
          <p:nvPr/>
        </p:nvSpPr>
        <p:spPr>
          <a:xfrm>
            <a:off x="7282197" y="3323755"/>
            <a:ext cx="102863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로봇수술</a:t>
            </a:r>
            <a:endParaRPr lang="en-US" sz="1200" dirty="0"/>
          </a:p>
        </p:txBody>
      </p:sp>
      <p:sp>
        <p:nvSpPr>
          <p:cNvPr id="58" name="Shape 56"/>
          <p:cNvSpPr/>
          <p:nvPr/>
        </p:nvSpPr>
        <p:spPr>
          <a:xfrm>
            <a:off x="8329847" y="3357910"/>
            <a:ext cx="1040314" cy="114286"/>
          </a:xfrm>
          <a:prstGeom prst="roundRect">
            <a:avLst>
              <a:gd name="adj" fmla="val 50000"/>
            </a:avLst>
          </a:prstGeom>
          <a:solidFill>
            <a:srgbClr val="9B5D3D"/>
          </a:solidFill>
          <a:ln/>
        </p:spPr>
        <p:txBody>
          <a:bodyPr/>
          <a:lstStyle/>
          <a:p>
            <a:endParaRPr lang="ko-KR" altLang="en-US"/>
          </a:p>
        </p:txBody>
      </p:sp>
      <p:sp>
        <p:nvSpPr>
          <p:cNvPr id="59" name="Text 57"/>
          <p:cNvSpPr/>
          <p:nvPr/>
        </p:nvSpPr>
        <p:spPr>
          <a:xfrm>
            <a:off x="9427305" y="3328972"/>
            <a:ext cx="597335"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+72.4%</a:t>
            </a:r>
            <a:endParaRPr lang="en-US" sz="1200" dirty="0"/>
          </a:p>
        </p:txBody>
      </p:sp>
      <p:sp>
        <p:nvSpPr>
          <p:cNvPr id="60" name="Text 58"/>
          <p:cNvSpPr/>
          <p:nvPr/>
        </p:nvSpPr>
        <p:spPr>
          <a:xfrm>
            <a:off x="7282197" y="3601563"/>
            <a:ext cx="102863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전립선결찰술</a:t>
            </a:r>
            <a:endParaRPr lang="en-US" sz="1200" dirty="0"/>
          </a:p>
        </p:txBody>
      </p:sp>
      <p:sp>
        <p:nvSpPr>
          <p:cNvPr id="61" name="Shape 59"/>
          <p:cNvSpPr/>
          <p:nvPr/>
        </p:nvSpPr>
        <p:spPr>
          <a:xfrm>
            <a:off x="8329847" y="3635718"/>
            <a:ext cx="1035830" cy="114286"/>
          </a:xfrm>
          <a:prstGeom prst="roundRect">
            <a:avLst>
              <a:gd name="adj" fmla="val 50000"/>
            </a:avLst>
          </a:prstGeom>
          <a:solidFill>
            <a:srgbClr val="9B5D3D"/>
          </a:solidFill>
          <a:ln/>
        </p:spPr>
        <p:txBody>
          <a:bodyPr/>
          <a:lstStyle/>
          <a:p>
            <a:endParaRPr lang="ko-KR" altLang="en-US"/>
          </a:p>
        </p:txBody>
      </p:sp>
      <p:sp>
        <p:nvSpPr>
          <p:cNvPr id="62" name="Text 60"/>
          <p:cNvSpPr/>
          <p:nvPr/>
        </p:nvSpPr>
        <p:spPr>
          <a:xfrm>
            <a:off x="9422821" y="3606780"/>
            <a:ext cx="597335"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+64.6%</a:t>
            </a:r>
            <a:endParaRPr lang="en-US" sz="1200" dirty="0"/>
          </a:p>
        </p:txBody>
      </p:sp>
      <p:sp>
        <p:nvSpPr>
          <p:cNvPr id="63" name="Text 61"/>
          <p:cNvSpPr/>
          <p:nvPr/>
        </p:nvSpPr>
        <p:spPr>
          <a:xfrm>
            <a:off x="7282197" y="3879371"/>
            <a:ext cx="1028639" cy="220697"/>
          </a:xfrm>
          <a:prstGeom prst="rect">
            <a:avLst/>
          </a:prstGeom>
          <a:noFill/>
          <a:ln/>
        </p:spPr>
        <p:txBody>
          <a:bodyPr wrap="square" lIns="25400" tIns="25400" rIns="25400" bIns="25400" rtlCol="0" anchor="t">
            <a:normAutofit lnSpcReduction="10000"/>
          </a:bodyPr>
          <a:lstStyle/>
          <a:p>
            <a:pPr marL="0" indent="0" algn="l">
              <a:buNone/>
            </a:pPr>
            <a:r>
              <a:rPr lang="en-US" sz="1200" b="1" dirty="0">
                <a:solidFill>
                  <a:srgbClr val="4A3B31"/>
                </a:solidFill>
                <a:latin typeface="Paperlogy 7 Bold" pitchFamily="2" charset="-127"/>
                <a:ea typeface="Paperlogy 7 Bold" pitchFamily="2" charset="-127"/>
                <a:cs typeface="Arial" pitchFamily="34" charset="-120"/>
              </a:rPr>
              <a:t>실손 전체</a:t>
            </a:r>
            <a:endParaRPr lang="en-US" sz="1200" dirty="0"/>
          </a:p>
        </p:txBody>
      </p:sp>
      <p:sp>
        <p:nvSpPr>
          <p:cNvPr id="64" name="Shape 62"/>
          <p:cNvSpPr/>
          <p:nvPr/>
        </p:nvSpPr>
        <p:spPr>
          <a:xfrm>
            <a:off x="8329847" y="3913527"/>
            <a:ext cx="178032" cy="114286"/>
          </a:xfrm>
          <a:prstGeom prst="roundRect">
            <a:avLst>
              <a:gd name="adj" fmla="val 50000"/>
            </a:avLst>
          </a:prstGeom>
          <a:solidFill>
            <a:srgbClr val="DDD2C7"/>
          </a:solidFill>
          <a:ln/>
        </p:spPr>
        <p:txBody>
          <a:bodyPr/>
          <a:lstStyle/>
          <a:p>
            <a:endParaRPr lang="ko-KR" altLang="en-US"/>
          </a:p>
        </p:txBody>
      </p:sp>
      <p:sp>
        <p:nvSpPr>
          <p:cNvPr id="65" name="Text 63"/>
          <p:cNvSpPr/>
          <p:nvPr/>
        </p:nvSpPr>
        <p:spPr>
          <a:xfrm>
            <a:off x="8565023" y="3884588"/>
            <a:ext cx="586004" cy="210263"/>
          </a:xfrm>
          <a:prstGeom prst="rect">
            <a:avLst/>
          </a:prstGeom>
          <a:noFill/>
          <a:ln/>
        </p:spPr>
        <p:txBody>
          <a:bodyPr wrap="none" lIns="25400" tIns="25400" rIns="25400" bIns="25400" rtlCol="0" anchor="t">
            <a:normAutofit fontScale="92500" lnSpcReduction="10000"/>
          </a:bodyPr>
          <a:lstStyle/>
          <a:p>
            <a:pPr marL="0" indent="0" algn="l">
              <a:buNone/>
            </a:pPr>
            <a:r>
              <a:rPr lang="en-US" sz="1200" b="1" dirty="0">
                <a:solidFill>
                  <a:srgbClr val="3A2C24"/>
                </a:solidFill>
                <a:latin typeface="Paperlogy 7 Bold" pitchFamily="2" charset="-127"/>
                <a:ea typeface="Paperlogy 7 Bold" pitchFamily="2" charset="-127"/>
                <a:cs typeface="Arial" pitchFamily="34" charset="-120"/>
              </a:rPr>
              <a:t>+11.4%</a:t>
            </a:r>
            <a:endParaRPr lang="en-US" sz="1200" dirty="0"/>
          </a:p>
        </p:txBody>
      </p:sp>
      <p:sp>
        <p:nvSpPr>
          <p:cNvPr id="66" name="Shape 64"/>
          <p:cNvSpPr/>
          <p:nvPr/>
        </p:nvSpPr>
        <p:spPr>
          <a:xfrm>
            <a:off x="7282197" y="4195248"/>
            <a:ext cx="2666242" cy="9525"/>
          </a:xfrm>
          <a:prstGeom prst="rect">
            <a:avLst/>
          </a:prstGeom>
          <a:solidFill>
            <a:srgbClr val="EADFD3"/>
          </a:solidFill>
          <a:ln/>
        </p:spPr>
        <p:txBody>
          <a:bodyPr/>
          <a:lstStyle/>
          <a:p>
            <a:endParaRPr lang="ko-KR" altLang="en-US"/>
          </a:p>
        </p:txBody>
      </p:sp>
      <p:sp>
        <p:nvSpPr>
          <p:cNvPr id="67" name="Shape 65"/>
          <p:cNvSpPr/>
          <p:nvPr/>
        </p:nvSpPr>
        <p:spPr>
          <a:xfrm>
            <a:off x="7282197" y="4426384"/>
            <a:ext cx="47606" cy="47606"/>
          </a:xfrm>
          <a:prstGeom prst="ellipse">
            <a:avLst/>
          </a:prstGeom>
          <a:solidFill>
            <a:srgbClr val="9B5D3D"/>
          </a:solidFill>
          <a:ln/>
        </p:spPr>
        <p:txBody>
          <a:bodyPr/>
          <a:lstStyle/>
          <a:p>
            <a:endParaRPr lang="ko-KR" altLang="en-US"/>
          </a:p>
        </p:txBody>
      </p:sp>
      <p:sp>
        <p:nvSpPr>
          <p:cNvPr id="68" name="Text 66"/>
          <p:cNvSpPr/>
          <p:nvPr/>
        </p:nvSpPr>
        <p:spPr>
          <a:xfrm>
            <a:off x="7425014" y="4314751"/>
            <a:ext cx="2599626" cy="299442"/>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로봇수술 10년 새 약 1만 → </a:t>
            </a:r>
            <a:r>
              <a:rPr lang="en-US" sz="1275" b="1" dirty="0">
                <a:solidFill>
                  <a:srgbClr val="9B5D3D"/>
                </a:solidFill>
                <a:latin typeface="Paperlogy 7 Bold" pitchFamily="2" charset="-127"/>
                <a:ea typeface="Paperlogy 7 Bold" pitchFamily="2" charset="-127"/>
                <a:cs typeface="Arial" pitchFamily="34" charset="-120"/>
              </a:rPr>
              <a:t>8만건</a:t>
            </a:r>
            <a:endParaRPr lang="en-US" sz="1275" dirty="0"/>
          </a:p>
        </p:txBody>
      </p:sp>
      <p:sp>
        <p:nvSpPr>
          <p:cNvPr id="69" name="Shape 67"/>
          <p:cNvSpPr/>
          <p:nvPr/>
        </p:nvSpPr>
        <p:spPr>
          <a:xfrm>
            <a:off x="7282197" y="4744870"/>
            <a:ext cx="47606" cy="47606"/>
          </a:xfrm>
          <a:prstGeom prst="ellipse">
            <a:avLst/>
          </a:prstGeom>
          <a:solidFill>
            <a:srgbClr val="9B5D3D"/>
          </a:solidFill>
          <a:ln/>
        </p:spPr>
        <p:txBody>
          <a:bodyPr/>
          <a:lstStyle/>
          <a:p>
            <a:endParaRPr lang="ko-KR" altLang="en-US"/>
          </a:p>
        </p:txBody>
      </p:sp>
      <p:sp>
        <p:nvSpPr>
          <p:cNvPr id="70" name="Text 68"/>
          <p:cNvSpPr/>
          <p:nvPr/>
        </p:nvSpPr>
        <p:spPr>
          <a:xfrm>
            <a:off x="7425014" y="4633236"/>
            <a:ext cx="2775768" cy="289008"/>
          </a:xfrm>
          <a:prstGeom prst="rect">
            <a:avLst/>
          </a:prstGeom>
          <a:noFill/>
          <a:ln/>
        </p:spPr>
        <p:txBody>
          <a:bodyPr wrap="square" lIns="25400" tIns="25400" rIns="25400" bIns="25400" rtlCol="0" anchor="t">
            <a:normAutofit/>
          </a:bodyPr>
          <a:lstStyle/>
          <a:p>
            <a:pPr marL="0" indent="0" algn="l">
              <a:lnSpc>
                <a:spcPct val="133634"/>
              </a:lnSpc>
              <a:buNone/>
            </a:pPr>
            <a:r>
              <a:rPr lang="en-US" sz="1275" b="1" dirty="0">
                <a:solidFill>
                  <a:srgbClr val="4A3B31"/>
                </a:solidFill>
                <a:latin typeface="Paperlogy 7 Bold" pitchFamily="2" charset="-127"/>
                <a:ea typeface="Paperlogy 7 Bold" pitchFamily="2" charset="-127"/>
                <a:cs typeface="Arial" pitchFamily="34" charset="-120"/>
              </a:rPr>
              <a:t>수술비 1,000만~2,000만원</a:t>
            </a:r>
            <a:endParaRPr lang="en-US" sz="1275" dirty="0"/>
          </a:p>
        </p:txBody>
      </p:sp>
      <p:sp>
        <p:nvSpPr>
          <p:cNvPr id="71" name="Shape 69"/>
          <p:cNvSpPr/>
          <p:nvPr/>
        </p:nvSpPr>
        <p:spPr>
          <a:xfrm>
            <a:off x="7282197" y="5373977"/>
            <a:ext cx="2666242" cy="369596"/>
          </a:xfrm>
          <a:prstGeom prst="roundRect">
            <a:avLst>
              <a:gd name="adj" fmla="val 25771"/>
            </a:avLst>
          </a:prstGeom>
          <a:solidFill>
            <a:srgbClr val="EEDFD5"/>
          </a:solidFill>
          <a:ln/>
        </p:spPr>
        <p:txBody>
          <a:bodyPr/>
          <a:lstStyle/>
          <a:p>
            <a:endParaRPr lang="ko-KR" altLang="en-US"/>
          </a:p>
        </p:txBody>
      </p:sp>
      <p:sp>
        <p:nvSpPr>
          <p:cNvPr id="72" name="Text 70"/>
          <p:cNvSpPr/>
          <p:nvPr/>
        </p:nvSpPr>
        <p:spPr>
          <a:xfrm>
            <a:off x="7356504" y="5459702"/>
            <a:ext cx="2517630" cy="236246"/>
          </a:xfrm>
          <a:prstGeom prst="rect">
            <a:avLst/>
          </a:prstGeom>
          <a:noFill/>
          <a:ln/>
        </p:spPr>
        <p:txBody>
          <a:bodyPr wrap="square" lIns="25400" tIns="25400" rIns="25400" bIns="25400" rtlCol="0" anchor="t">
            <a:normAutofit lnSpcReduction="10000"/>
          </a:bodyPr>
          <a:lstStyle/>
          <a:p>
            <a:pPr marL="0" indent="0" algn="ctr">
              <a:buNone/>
            </a:pPr>
            <a:r>
              <a:rPr lang="en-US" sz="1313" b="1" dirty="0">
                <a:solidFill>
                  <a:srgbClr val="3A2C24"/>
                </a:solidFill>
                <a:latin typeface="Paperlogy 7 Bold" pitchFamily="2" charset="-127"/>
                <a:ea typeface="Paperlogy 7 Bold" pitchFamily="2" charset="-127"/>
                <a:cs typeface="Arial" pitchFamily="34" charset="-120"/>
              </a:rPr>
              <a:t>비급여수술까지 받으면 치료비 폭탄!</a:t>
            </a:r>
            <a:endParaRPr lang="en-US" sz="1313" dirty="0"/>
          </a:p>
        </p:txBody>
      </p:sp>
      <p:sp>
        <p:nvSpPr>
          <p:cNvPr id="73" name="Shape 71"/>
          <p:cNvSpPr/>
          <p:nvPr/>
        </p:nvSpPr>
        <p:spPr>
          <a:xfrm>
            <a:off x="533363" y="6143574"/>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74" name="Text 72"/>
          <p:cNvSpPr/>
          <p:nvPr/>
        </p:nvSpPr>
        <p:spPr>
          <a:xfrm>
            <a:off x="2737162" y="6311092"/>
            <a:ext cx="2673855"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수술비 1,000만원. 실손에서 절반,</a:t>
            </a:r>
            <a:endParaRPr lang="en-US" sz="1575" dirty="0"/>
          </a:p>
        </p:txBody>
      </p:sp>
      <p:sp>
        <p:nvSpPr>
          <p:cNvPr id="75" name="Text 73"/>
          <p:cNvSpPr/>
          <p:nvPr/>
        </p:nvSpPr>
        <p:spPr>
          <a:xfrm>
            <a:off x="5447110" y="6295440"/>
            <a:ext cx="1192569"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나머지 절반은</a:t>
            </a:r>
            <a:endParaRPr lang="en-US" sz="1575" dirty="0"/>
          </a:p>
        </p:txBody>
      </p:sp>
      <p:sp>
        <p:nvSpPr>
          <p:cNvPr id="76" name="Text 74"/>
          <p:cNvSpPr/>
          <p:nvPr/>
        </p:nvSpPr>
        <p:spPr>
          <a:xfrm>
            <a:off x="6581305" y="6311092"/>
            <a:ext cx="1586049"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부담 가능하신가요?</a:t>
            </a:r>
            <a:endParaRPr lang="en-US" sz="1575" dirty="0"/>
          </a:p>
        </p:txBody>
      </p:sp>
      <p:sp>
        <p:nvSpPr>
          <p:cNvPr id="77" name="Text 75"/>
          <p:cNvSpPr/>
          <p:nvPr/>
        </p:nvSpPr>
        <p:spPr>
          <a:xfrm>
            <a:off x="51873" y="6734162"/>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국민건강보험공단 「2025년 주요수술 통계연보」(2026.8.31) · 금융위·금감원 보도자료 「5세대 실손의료보험 출시」(2026.5.6) · 금감원 2025년 실손보험 사업실적(헤럴드경제 2026.6.3)</a:t>
            </a:r>
            <a:endParaRPr lang="en-US" sz="788" dirty="0"/>
          </a:p>
        </p:txBody>
      </p:sp>
      <p:sp>
        <p:nvSpPr>
          <p:cNvPr id="78" name="Text 76"/>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79" name="Text 77"/>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80" name="Text 78"/>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415020"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KB손해보험 – 5.10.10 Young 플러스건강</a:t>
            </a:r>
            <a:endParaRPr lang="en-US" sz="2475" dirty="0"/>
          </a:p>
        </p:txBody>
      </p:sp>
      <p:sp>
        <p:nvSpPr>
          <p:cNvPr id="3" name="Shape 1"/>
          <p:cNvSpPr/>
          <p:nvPr/>
        </p:nvSpPr>
        <p:spPr>
          <a:xfrm>
            <a:off x="8937635" y="340821"/>
            <a:ext cx="122551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90035" y="407496"/>
            <a:ext cx="99691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1~5종 + N대수술</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2007"/>
            </a:avLst>
          </a:prstGeom>
          <a:solidFill>
            <a:srgbClr val="FFFFFF"/>
          </a:solidFill>
          <a:ln w="5217">
            <a:solidFill>
              <a:srgbClr val="D3B9A5"/>
            </a:solidFill>
            <a:prstDash val="solid"/>
          </a:ln>
        </p:spPr>
        <p:txBody>
          <a:bodyPr/>
          <a:lstStyle/>
          <a:p>
            <a:endParaRPr lang="ko-KR" altLang="en-US"/>
          </a:p>
        </p:txBody>
      </p:sp>
      <p:sp>
        <p:nvSpPr>
          <p:cNvPr id="7" name="Shape 5"/>
          <p:cNvSpPr/>
          <p:nvPr/>
        </p:nvSpPr>
        <p:spPr>
          <a:xfrm>
            <a:off x="538580" y="1100555"/>
            <a:ext cx="2404738" cy="428288"/>
          </a:xfrm>
          <a:prstGeom prst="rect">
            <a:avLst/>
          </a:prstGeom>
          <a:solidFill>
            <a:srgbClr val="CF7446"/>
          </a:solidFill>
          <a:ln/>
        </p:spPr>
        <p:txBody>
          <a:bodyPr/>
          <a:lstStyle/>
          <a:p>
            <a:endParaRPr lang="ko-KR" altLang="en-US"/>
          </a:p>
        </p:txBody>
      </p:sp>
      <p:sp>
        <p:nvSpPr>
          <p:cNvPr id="8" name="Text 6"/>
          <p:cNvSpPr/>
          <p:nvPr/>
        </p:nvSpPr>
        <p:spPr>
          <a:xfrm>
            <a:off x="557630" y="1138655"/>
            <a:ext cx="2366638" cy="39018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9" name="Shape 7"/>
          <p:cNvSpPr/>
          <p:nvPr/>
        </p:nvSpPr>
        <p:spPr>
          <a:xfrm>
            <a:off x="2943317" y="1100555"/>
            <a:ext cx="2404738" cy="428288"/>
          </a:xfrm>
          <a:prstGeom prst="rect">
            <a:avLst/>
          </a:prstGeom>
          <a:solidFill>
            <a:srgbClr val="9A4A27"/>
          </a:solidFill>
          <a:ln/>
        </p:spPr>
        <p:txBody>
          <a:bodyPr/>
          <a:lstStyle/>
          <a:p>
            <a:endParaRPr lang="ko-KR" altLang="en-US"/>
          </a:p>
        </p:txBody>
      </p:sp>
      <p:sp>
        <p:nvSpPr>
          <p:cNvPr id="10" name="Shape 8"/>
          <p:cNvSpPr/>
          <p:nvPr/>
        </p:nvSpPr>
        <p:spPr>
          <a:xfrm>
            <a:off x="2943317" y="1100555"/>
            <a:ext cx="9525" cy="428288"/>
          </a:xfrm>
          <a:prstGeom prst="rect">
            <a:avLst/>
          </a:prstGeom>
          <a:solidFill>
            <a:srgbClr val="FFFFFF">
              <a:alpha val="25000"/>
            </a:srgbClr>
          </a:solidFill>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3515155" y="1143269"/>
            <a:ext cx="239496" cy="342859"/>
          </a:xfrm>
          <a:prstGeom prst="rect">
            <a:avLst/>
          </a:prstGeom>
        </p:spPr>
      </p:pic>
      <p:sp>
        <p:nvSpPr>
          <p:cNvPr id="12" name="Text 9"/>
          <p:cNvSpPr/>
          <p:nvPr/>
        </p:nvSpPr>
        <p:spPr>
          <a:xfrm>
            <a:off x="3792688" y="1194706"/>
            <a:ext cx="1026846"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KB손해보험</a:t>
            </a:r>
            <a:endParaRPr lang="en-US" sz="1575" dirty="0"/>
          </a:p>
        </p:txBody>
      </p:sp>
      <p:sp>
        <p:nvSpPr>
          <p:cNvPr id="13" name="Shape 10"/>
          <p:cNvSpPr/>
          <p:nvPr/>
        </p:nvSpPr>
        <p:spPr>
          <a:xfrm>
            <a:off x="5348054" y="1100555"/>
            <a:ext cx="2404738" cy="428288"/>
          </a:xfrm>
          <a:prstGeom prst="rect">
            <a:avLst/>
          </a:prstGeom>
          <a:solidFill>
            <a:srgbClr val="CF7446"/>
          </a:solidFill>
          <a:ln/>
        </p:spPr>
        <p:txBody>
          <a:bodyPr/>
          <a:lstStyle/>
          <a:p>
            <a:endParaRPr lang="ko-KR" altLang="en-US"/>
          </a:p>
        </p:txBody>
      </p:sp>
      <p:sp>
        <p:nvSpPr>
          <p:cNvPr id="14" name="Shape 11"/>
          <p:cNvSpPr/>
          <p:nvPr/>
        </p:nvSpPr>
        <p:spPr>
          <a:xfrm>
            <a:off x="5348054" y="1100555"/>
            <a:ext cx="9525" cy="428288"/>
          </a:xfrm>
          <a:prstGeom prst="rect">
            <a:avLst/>
          </a:prstGeom>
          <a:solidFill>
            <a:srgbClr val="FFFFFF">
              <a:alpha val="25000"/>
            </a:srgbClr>
          </a:solidFill>
          <a:ln/>
        </p:spPr>
        <p:txBody>
          <a:bodyPr/>
          <a:lstStyle/>
          <a:p>
            <a:endParaRPr lang="ko-KR" altLang="en-US"/>
          </a:p>
        </p:txBody>
      </p:sp>
      <p:sp>
        <p:nvSpPr>
          <p:cNvPr id="15" name="Text 12"/>
          <p:cNvSpPr/>
          <p:nvPr/>
        </p:nvSpPr>
        <p:spPr>
          <a:xfrm>
            <a:off x="5372321" y="1138655"/>
            <a:ext cx="2361420" cy="39018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삼성화재</a:t>
            </a:r>
            <a:endParaRPr lang="en-US" sz="1575" dirty="0"/>
          </a:p>
        </p:txBody>
      </p:sp>
      <p:sp>
        <p:nvSpPr>
          <p:cNvPr id="16" name="Shape 13"/>
          <p:cNvSpPr/>
          <p:nvPr/>
        </p:nvSpPr>
        <p:spPr>
          <a:xfrm>
            <a:off x="7752792" y="1100555"/>
            <a:ext cx="2405145" cy="428288"/>
          </a:xfrm>
          <a:prstGeom prst="rect">
            <a:avLst/>
          </a:prstGeom>
          <a:solidFill>
            <a:srgbClr val="CF7446"/>
          </a:solidFill>
          <a:ln/>
        </p:spPr>
        <p:txBody>
          <a:bodyPr/>
          <a:lstStyle/>
          <a:p>
            <a:endParaRPr lang="ko-KR" altLang="en-US"/>
          </a:p>
        </p:txBody>
      </p:sp>
      <p:sp>
        <p:nvSpPr>
          <p:cNvPr id="17" name="Shape 14"/>
          <p:cNvSpPr/>
          <p:nvPr/>
        </p:nvSpPr>
        <p:spPr>
          <a:xfrm>
            <a:off x="7752792" y="1100555"/>
            <a:ext cx="9525" cy="428288"/>
          </a:xfrm>
          <a:prstGeom prst="rect">
            <a:avLst/>
          </a:prstGeom>
          <a:solidFill>
            <a:srgbClr val="FFFFFF">
              <a:alpha val="25000"/>
            </a:srgbClr>
          </a:solidFill>
          <a:ln/>
        </p:spPr>
        <p:txBody>
          <a:bodyPr/>
          <a:lstStyle/>
          <a:p>
            <a:endParaRPr lang="ko-KR" altLang="en-US"/>
          </a:p>
        </p:txBody>
      </p:sp>
      <p:sp>
        <p:nvSpPr>
          <p:cNvPr id="18" name="Text 15"/>
          <p:cNvSpPr/>
          <p:nvPr/>
        </p:nvSpPr>
        <p:spPr>
          <a:xfrm>
            <a:off x="7777059" y="1138655"/>
            <a:ext cx="2361828" cy="39018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하나손해보험</a:t>
            </a:r>
            <a:endParaRPr lang="en-US" sz="1575" dirty="0"/>
          </a:p>
        </p:txBody>
      </p:sp>
      <p:sp>
        <p:nvSpPr>
          <p:cNvPr id="19" name="Shape 16"/>
          <p:cNvSpPr/>
          <p:nvPr/>
        </p:nvSpPr>
        <p:spPr>
          <a:xfrm>
            <a:off x="538580" y="1528842"/>
            <a:ext cx="2404738" cy="314165"/>
          </a:xfrm>
          <a:prstGeom prst="rect">
            <a:avLst/>
          </a:prstGeom>
          <a:solidFill>
            <a:srgbClr val="FCF4EE"/>
          </a:solidFill>
          <a:ln/>
        </p:spPr>
        <p:txBody>
          <a:bodyPr/>
          <a:lstStyle/>
          <a:p>
            <a:endParaRPr lang="ko-KR" altLang="en-US"/>
          </a:p>
        </p:txBody>
      </p:sp>
      <p:sp>
        <p:nvSpPr>
          <p:cNvPr id="20" name="Shape 17"/>
          <p:cNvSpPr/>
          <p:nvPr/>
        </p:nvSpPr>
        <p:spPr>
          <a:xfrm>
            <a:off x="538580" y="1528842"/>
            <a:ext cx="2404738" cy="9525"/>
          </a:xfrm>
          <a:prstGeom prst="rect">
            <a:avLst/>
          </a:prstGeom>
          <a:solidFill>
            <a:srgbClr val="D3B9A5"/>
          </a:solidFill>
          <a:ln/>
        </p:spPr>
        <p:txBody>
          <a:bodyPr/>
          <a:lstStyle/>
          <a:p>
            <a:endParaRPr lang="ko-KR" altLang="en-US"/>
          </a:p>
        </p:txBody>
      </p:sp>
      <p:sp>
        <p:nvSpPr>
          <p:cNvPr id="21" name="Text 18"/>
          <p:cNvSpPr/>
          <p:nvPr/>
        </p:nvSpPr>
        <p:spPr>
          <a:xfrm>
            <a:off x="557630" y="1562634"/>
            <a:ext cx="236663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상품명</a:t>
            </a:r>
            <a:endParaRPr lang="en-US" sz="1013" dirty="0"/>
          </a:p>
        </p:txBody>
      </p:sp>
      <p:sp>
        <p:nvSpPr>
          <p:cNvPr id="22" name="Shape 19"/>
          <p:cNvSpPr/>
          <p:nvPr/>
        </p:nvSpPr>
        <p:spPr>
          <a:xfrm>
            <a:off x="2943317" y="1528842"/>
            <a:ext cx="2404738" cy="314165"/>
          </a:xfrm>
          <a:prstGeom prst="rect">
            <a:avLst/>
          </a:prstGeom>
          <a:solidFill>
            <a:srgbClr val="F8E1D0"/>
          </a:solidFill>
          <a:ln/>
        </p:spPr>
        <p:txBody>
          <a:bodyPr/>
          <a:lstStyle/>
          <a:p>
            <a:endParaRPr lang="ko-KR" altLang="en-US"/>
          </a:p>
        </p:txBody>
      </p:sp>
      <p:sp>
        <p:nvSpPr>
          <p:cNvPr id="23" name="Shape 20"/>
          <p:cNvSpPr/>
          <p:nvPr/>
        </p:nvSpPr>
        <p:spPr>
          <a:xfrm>
            <a:off x="2943317" y="1528842"/>
            <a:ext cx="2404738" cy="9525"/>
          </a:xfrm>
          <a:prstGeom prst="rect">
            <a:avLst/>
          </a:prstGeom>
          <a:solidFill>
            <a:srgbClr val="D3B9A5"/>
          </a:solidFill>
          <a:ln/>
        </p:spPr>
        <p:txBody>
          <a:bodyPr/>
          <a:lstStyle/>
          <a:p>
            <a:endParaRPr lang="ko-KR" altLang="en-US"/>
          </a:p>
        </p:txBody>
      </p:sp>
      <p:sp>
        <p:nvSpPr>
          <p:cNvPr id="24" name="Shape 21"/>
          <p:cNvSpPr/>
          <p:nvPr/>
        </p:nvSpPr>
        <p:spPr>
          <a:xfrm>
            <a:off x="2943317" y="1528842"/>
            <a:ext cx="9525" cy="314165"/>
          </a:xfrm>
          <a:prstGeom prst="rect">
            <a:avLst/>
          </a:prstGeom>
          <a:solidFill>
            <a:srgbClr val="D3B9A5"/>
          </a:solidFill>
          <a:ln/>
        </p:spPr>
        <p:txBody>
          <a:bodyPr/>
          <a:lstStyle/>
          <a:p>
            <a:endParaRPr lang="ko-KR" altLang="en-US"/>
          </a:p>
        </p:txBody>
      </p:sp>
      <p:sp>
        <p:nvSpPr>
          <p:cNvPr id="25" name="Text 22"/>
          <p:cNvSpPr/>
          <p:nvPr/>
        </p:nvSpPr>
        <p:spPr>
          <a:xfrm>
            <a:off x="2967584" y="1562634"/>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5.10.10 Young 플러스 건강</a:t>
            </a:r>
            <a:endParaRPr lang="en-US" sz="1013" dirty="0"/>
          </a:p>
        </p:txBody>
      </p:sp>
      <p:sp>
        <p:nvSpPr>
          <p:cNvPr id="26" name="Shape 23"/>
          <p:cNvSpPr/>
          <p:nvPr/>
        </p:nvSpPr>
        <p:spPr>
          <a:xfrm>
            <a:off x="5348054" y="1528842"/>
            <a:ext cx="2404738" cy="314165"/>
          </a:xfrm>
          <a:prstGeom prst="rect">
            <a:avLst/>
          </a:prstGeom>
          <a:solidFill>
            <a:srgbClr val="FFFFFF"/>
          </a:solidFill>
          <a:ln/>
        </p:spPr>
        <p:txBody>
          <a:bodyPr/>
          <a:lstStyle/>
          <a:p>
            <a:endParaRPr lang="ko-KR" altLang="en-US"/>
          </a:p>
        </p:txBody>
      </p:sp>
      <p:sp>
        <p:nvSpPr>
          <p:cNvPr id="27" name="Shape 24"/>
          <p:cNvSpPr/>
          <p:nvPr/>
        </p:nvSpPr>
        <p:spPr>
          <a:xfrm>
            <a:off x="5348054" y="1528842"/>
            <a:ext cx="2404738" cy="9525"/>
          </a:xfrm>
          <a:prstGeom prst="rect">
            <a:avLst/>
          </a:prstGeom>
          <a:solidFill>
            <a:srgbClr val="D3B9A5"/>
          </a:solidFill>
          <a:ln/>
        </p:spPr>
        <p:txBody>
          <a:bodyPr/>
          <a:lstStyle/>
          <a:p>
            <a:endParaRPr lang="ko-KR" altLang="en-US"/>
          </a:p>
        </p:txBody>
      </p:sp>
      <p:sp>
        <p:nvSpPr>
          <p:cNvPr id="28" name="Shape 25"/>
          <p:cNvSpPr/>
          <p:nvPr/>
        </p:nvSpPr>
        <p:spPr>
          <a:xfrm>
            <a:off x="5348054" y="1528842"/>
            <a:ext cx="9525" cy="314165"/>
          </a:xfrm>
          <a:prstGeom prst="rect">
            <a:avLst/>
          </a:prstGeom>
          <a:solidFill>
            <a:srgbClr val="D3B9A5"/>
          </a:solidFill>
          <a:ln/>
        </p:spPr>
        <p:txBody>
          <a:bodyPr/>
          <a:lstStyle/>
          <a:p>
            <a:endParaRPr lang="ko-KR" altLang="en-US"/>
          </a:p>
        </p:txBody>
      </p:sp>
      <p:sp>
        <p:nvSpPr>
          <p:cNvPr id="29" name="Text 26"/>
          <p:cNvSpPr/>
          <p:nvPr/>
        </p:nvSpPr>
        <p:spPr>
          <a:xfrm>
            <a:off x="5372321" y="1562634"/>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New내돈내삼</a:t>
            </a:r>
            <a:endParaRPr lang="en-US" sz="1013" dirty="0"/>
          </a:p>
        </p:txBody>
      </p:sp>
      <p:sp>
        <p:nvSpPr>
          <p:cNvPr id="30" name="Shape 27"/>
          <p:cNvSpPr/>
          <p:nvPr/>
        </p:nvSpPr>
        <p:spPr>
          <a:xfrm>
            <a:off x="7752792" y="1528842"/>
            <a:ext cx="2405145" cy="314165"/>
          </a:xfrm>
          <a:prstGeom prst="rect">
            <a:avLst/>
          </a:prstGeom>
          <a:solidFill>
            <a:srgbClr val="FFFFFF"/>
          </a:solidFill>
          <a:ln/>
        </p:spPr>
        <p:txBody>
          <a:bodyPr/>
          <a:lstStyle/>
          <a:p>
            <a:endParaRPr lang="ko-KR" altLang="en-US"/>
          </a:p>
        </p:txBody>
      </p:sp>
      <p:sp>
        <p:nvSpPr>
          <p:cNvPr id="31" name="Shape 28"/>
          <p:cNvSpPr/>
          <p:nvPr/>
        </p:nvSpPr>
        <p:spPr>
          <a:xfrm>
            <a:off x="7752792" y="1528842"/>
            <a:ext cx="2405145" cy="9525"/>
          </a:xfrm>
          <a:prstGeom prst="rect">
            <a:avLst/>
          </a:prstGeom>
          <a:solidFill>
            <a:srgbClr val="D3B9A5"/>
          </a:solidFill>
          <a:ln/>
        </p:spPr>
        <p:txBody>
          <a:bodyPr/>
          <a:lstStyle/>
          <a:p>
            <a:endParaRPr lang="ko-KR" altLang="en-US"/>
          </a:p>
        </p:txBody>
      </p:sp>
      <p:sp>
        <p:nvSpPr>
          <p:cNvPr id="32" name="Shape 29"/>
          <p:cNvSpPr/>
          <p:nvPr/>
        </p:nvSpPr>
        <p:spPr>
          <a:xfrm>
            <a:off x="7752792" y="1528842"/>
            <a:ext cx="9525" cy="314165"/>
          </a:xfrm>
          <a:prstGeom prst="rect">
            <a:avLst/>
          </a:prstGeom>
          <a:solidFill>
            <a:srgbClr val="D3B9A5"/>
          </a:solidFill>
          <a:ln/>
        </p:spPr>
        <p:txBody>
          <a:bodyPr/>
          <a:lstStyle/>
          <a:p>
            <a:endParaRPr lang="ko-KR" altLang="en-US"/>
          </a:p>
        </p:txBody>
      </p:sp>
      <p:sp>
        <p:nvSpPr>
          <p:cNvPr id="33" name="Text 30"/>
          <p:cNvSpPr/>
          <p:nvPr/>
        </p:nvSpPr>
        <p:spPr>
          <a:xfrm>
            <a:off x="7777059" y="1562634"/>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더퍼스트 5.10.5</a:t>
            </a:r>
            <a:endParaRPr lang="en-US" sz="1013" dirty="0"/>
          </a:p>
        </p:txBody>
      </p:sp>
      <p:sp>
        <p:nvSpPr>
          <p:cNvPr id="34" name="Shape 31"/>
          <p:cNvSpPr/>
          <p:nvPr/>
        </p:nvSpPr>
        <p:spPr>
          <a:xfrm>
            <a:off x="538580" y="1843007"/>
            <a:ext cx="1202369" cy="1570823"/>
          </a:xfrm>
          <a:prstGeom prst="rect">
            <a:avLst/>
          </a:prstGeom>
          <a:solidFill>
            <a:srgbClr val="FCF4EE"/>
          </a:solidFill>
          <a:ln/>
        </p:spPr>
        <p:txBody>
          <a:bodyPr/>
          <a:lstStyle/>
          <a:p>
            <a:endParaRPr lang="ko-KR" altLang="en-US"/>
          </a:p>
        </p:txBody>
      </p:sp>
      <p:sp>
        <p:nvSpPr>
          <p:cNvPr id="35" name="Shape 32"/>
          <p:cNvSpPr/>
          <p:nvPr/>
        </p:nvSpPr>
        <p:spPr>
          <a:xfrm>
            <a:off x="538580" y="1843007"/>
            <a:ext cx="1202369" cy="9525"/>
          </a:xfrm>
          <a:prstGeom prst="rect">
            <a:avLst/>
          </a:prstGeom>
          <a:solidFill>
            <a:srgbClr val="D3B9A5"/>
          </a:solidFill>
          <a:ln/>
        </p:spPr>
        <p:txBody>
          <a:bodyPr/>
          <a:lstStyle/>
          <a:p>
            <a:endParaRPr lang="ko-KR" altLang="en-US"/>
          </a:p>
        </p:txBody>
      </p:sp>
      <p:sp>
        <p:nvSpPr>
          <p:cNvPr id="36" name="Text 33"/>
          <p:cNvSpPr/>
          <p:nvPr/>
        </p:nvSpPr>
        <p:spPr>
          <a:xfrm>
            <a:off x="557630" y="1876799"/>
            <a:ext cx="1164269" cy="154655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CF4EE"/>
                </a:highlight>
                <a:latin typeface="Paperlogy 7 Bold" pitchFamily="2" charset="-127"/>
                <a:ea typeface="Paperlogy 7 Bold" pitchFamily="2" charset="-127"/>
                <a:cs typeface="Arial" pitchFamily="34" charset="-120"/>
              </a:rPr>
              <a:t>1-5종 (최대)</a:t>
            </a:r>
            <a:endParaRPr lang="en-US" sz="1013" dirty="0"/>
          </a:p>
        </p:txBody>
      </p:sp>
      <p:sp>
        <p:nvSpPr>
          <p:cNvPr id="37" name="Shape 34"/>
          <p:cNvSpPr/>
          <p:nvPr/>
        </p:nvSpPr>
        <p:spPr>
          <a:xfrm>
            <a:off x="1740948" y="1843007"/>
            <a:ext cx="1202369" cy="314165"/>
          </a:xfrm>
          <a:prstGeom prst="rect">
            <a:avLst/>
          </a:prstGeom>
          <a:solidFill>
            <a:srgbClr val="FCF4EE"/>
          </a:solidFill>
          <a:ln/>
        </p:spPr>
        <p:txBody>
          <a:bodyPr/>
          <a:lstStyle/>
          <a:p>
            <a:endParaRPr lang="ko-KR" altLang="en-US"/>
          </a:p>
        </p:txBody>
      </p:sp>
      <p:sp>
        <p:nvSpPr>
          <p:cNvPr id="38" name="Shape 35"/>
          <p:cNvSpPr/>
          <p:nvPr/>
        </p:nvSpPr>
        <p:spPr>
          <a:xfrm>
            <a:off x="1740948" y="1843007"/>
            <a:ext cx="1202369" cy="9525"/>
          </a:xfrm>
          <a:prstGeom prst="rect">
            <a:avLst/>
          </a:prstGeom>
          <a:solidFill>
            <a:srgbClr val="D3B9A5"/>
          </a:solidFill>
          <a:ln/>
        </p:spPr>
        <p:txBody>
          <a:bodyPr/>
          <a:lstStyle/>
          <a:p>
            <a:endParaRPr lang="ko-KR" altLang="en-US"/>
          </a:p>
        </p:txBody>
      </p:sp>
      <p:sp>
        <p:nvSpPr>
          <p:cNvPr id="39" name="Shape 36"/>
          <p:cNvSpPr/>
          <p:nvPr/>
        </p:nvSpPr>
        <p:spPr>
          <a:xfrm>
            <a:off x="1740948" y="1843007"/>
            <a:ext cx="9525" cy="314165"/>
          </a:xfrm>
          <a:prstGeom prst="rect">
            <a:avLst/>
          </a:prstGeom>
          <a:solidFill>
            <a:srgbClr val="D3B9A5"/>
          </a:solidFill>
          <a:ln/>
        </p:spPr>
        <p:txBody>
          <a:bodyPr/>
          <a:lstStyle/>
          <a:p>
            <a:endParaRPr lang="ko-KR" altLang="en-US"/>
          </a:p>
        </p:txBody>
      </p:sp>
      <p:sp>
        <p:nvSpPr>
          <p:cNvPr id="40" name="Text 37"/>
          <p:cNvSpPr/>
          <p:nvPr/>
        </p:nvSpPr>
        <p:spPr>
          <a:xfrm>
            <a:off x="1765215" y="1876799"/>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1종</a:t>
            </a:r>
            <a:endParaRPr lang="en-US" sz="1013" dirty="0"/>
          </a:p>
        </p:txBody>
      </p:sp>
      <p:sp>
        <p:nvSpPr>
          <p:cNvPr id="41" name="Shape 38"/>
          <p:cNvSpPr/>
          <p:nvPr/>
        </p:nvSpPr>
        <p:spPr>
          <a:xfrm>
            <a:off x="2943317" y="1843007"/>
            <a:ext cx="2404738" cy="314165"/>
          </a:xfrm>
          <a:prstGeom prst="rect">
            <a:avLst/>
          </a:prstGeom>
          <a:solidFill>
            <a:srgbClr val="F8E1D0"/>
          </a:solidFill>
          <a:ln/>
        </p:spPr>
        <p:txBody>
          <a:bodyPr/>
          <a:lstStyle/>
          <a:p>
            <a:endParaRPr lang="ko-KR" altLang="en-US"/>
          </a:p>
        </p:txBody>
      </p:sp>
      <p:sp>
        <p:nvSpPr>
          <p:cNvPr id="42" name="Shape 39"/>
          <p:cNvSpPr/>
          <p:nvPr/>
        </p:nvSpPr>
        <p:spPr>
          <a:xfrm>
            <a:off x="2943317" y="1843007"/>
            <a:ext cx="2404738" cy="9525"/>
          </a:xfrm>
          <a:prstGeom prst="rect">
            <a:avLst/>
          </a:prstGeom>
          <a:solidFill>
            <a:srgbClr val="D3B9A5"/>
          </a:solidFill>
          <a:ln/>
        </p:spPr>
        <p:txBody>
          <a:bodyPr/>
          <a:lstStyle/>
          <a:p>
            <a:endParaRPr lang="ko-KR" altLang="en-US"/>
          </a:p>
        </p:txBody>
      </p:sp>
      <p:sp>
        <p:nvSpPr>
          <p:cNvPr id="43" name="Shape 40"/>
          <p:cNvSpPr/>
          <p:nvPr/>
        </p:nvSpPr>
        <p:spPr>
          <a:xfrm>
            <a:off x="2943317" y="1843007"/>
            <a:ext cx="9525" cy="314165"/>
          </a:xfrm>
          <a:prstGeom prst="rect">
            <a:avLst/>
          </a:prstGeom>
          <a:solidFill>
            <a:srgbClr val="D3B9A5"/>
          </a:solidFill>
          <a:ln/>
        </p:spPr>
        <p:txBody>
          <a:bodyPr/>
          <a:lstStyle/>
          <a:p>
            <a:endParaRPr lang="ko-KR" altLang="en-US"/>
          </a:p>
        </p:txBody>
      </p:sp>
      <p:sp>
        <p:nvSpPr>
          <p:cNvPr id="44" name="Text 41"/>
          <p:cNvSpPr/>
          <p:nvPr/>
        </p:nvSpPr>
        <p:spPr>
          <a:xfrm>
            <a:off x="2967584" y="1876799"/>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20만</a:t>
            </a:r>
            <a:endParaRPr lang="en-US" sz="1013" dirty="0"/>
          </a:p>
        </p:txBody>
      </p:sp>
      <p:sp>
        <p:nvSpPr>
          <p:cNvPr id="45" name="Shape 42"/>
          <p:cNvSpPr/>
          <p:nvPr/>
        </p:nvSpPr>
        <p:spPr>
          <a:xfrm>
            <a:off x="5348054" y="1843007"/>
            <a:ext cx="2404738" cy="314165"/>
          </a:xfrm>
          <a:prstGeom prst="rect">
            <a:avLst/>
          </a:prstGeom>
          <a:solidFill>
            <a:srgbClr val="FFFFFF"/>
          </a:solidFill>
          <a:ln/>
        </p:spPr>
        <p:txBody>
          <a:bodyPr/>
          <a:lstStyle/>
          <a:p>
            <a:endParaRPr lang="ko-KR" altLang="en-US"/>
          </a:p>
        </p:txBody>
      </p:sp>
      <p:sp>
        <p:nvSpPr>
          <p:cNvPr id="46" name="Shape 43"/>
          <p:cNvSpPr/>
          <p:nvPr/>
        </p:nvSpPr>
        <p:spPr>
          <a:xfrm>
            <a:off x="5348054" y="1843007"/>
            <a:ext cx="2404738" cy="9525"/>
          </a:xfrm>
          <a:prstGeom prst="rect">
            <a:avLst/>
          </a:prstGeom>
          <a:solidFill>
            <a:srgbClr val="D3B9A5"/>
          </a:solidFill>
          <a:ln/>
        </p:spPr>
        <p:txBody>
          <a:bodyPr/>
          <a:lstStyle/>
          <a:p>
            <a:endParaRPr lang="ko-KR" altLang="en-US"/>
          </a:p>
        </p:txBody>
      </p:sp>
      <p:sp>
        <p:nvSpPr>
          <p:cNvPr id="47" name="Shape 44"/>
          <p:cNvSpPr/>
          <p:nvPr/>
        </p:nvSpPr>
        <p:spPr>
          <a:xfrm>
            <a:off x="5348054" y="1843007"/>
            <a:ext cx="9525" cy="314165"/>
          </a:xfrm>
          <a:prstGeom prst="rect">
            <a:avLst/>
          </a:prstGeom>
          <a:solidFill>
            <a:srgbClr val="D3B9A5"/>
          </a:solidFill>
          <a:ln/>
        </p:spPr>
        <p:txBody>
          <a:bodyPr/>
          <a:lstStyle/>
          <a:p>
            <a:endParaRPr lang="ko-KR" altLang="en-US"/>
          </a:p>
        </p:txBody>
      </p:sp>
      <p:sp>
        <p:nvSpPr>
          <p:cNvPr id="48" name="Text 45"/>
          <p:cNvSpPr/>
          <p:nvPr/>
        </p:nvSpPr>
        <p:spPr>
          <a:xfrm>
            <a:off x="5372321" y="1876799"/>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30만</a:t>
            </a:r>
            <a:endParaRPr lang="en-US" sz="1013" dirty="0"/>
          </a:p>
        </p:txBody>
      </p:sp>
      <p:sp>
        <p:nvSpPr>
          <p:cNvPr id="49" name="Shape 46"/>
          <p:cNvSpPr/>
          <p:nvPr/>
        </p:nvSpPr>
        <p:spPr>
          <a:xfrm>
            <a:off x="7752792" y="1843007"/>
            <a:ext cx="2405145" cy="314165"/>
          </a:xfrm>
          <a:prstGeom prst="rect">
            <a:avLst/>
          </a:prstGeom>
          <a:solidFill>
            <a:srgbClr val="FFFFFF"/>
          </a:solidFill>
          <a:ln/>
        </p:spPr>
        <p:txBody>
          <a:bodyPr/>
          <a:lstStyle/>
          <a:p>
            <a:endParaRPr lang="ko-KR" altLang="en-US"/>
          </a:p>
        </p:txBody>
      </p:sp>
      <p:sp>
        <p:nvSpPr>
          <p:cNvPr id="50" name="Shape 47"/>
          <p:cNvSpPr/>
          <p:nvPr/>
        </p:nvSpPr>
        <p:spPr>
          <a:xfrm>
            <a:off x="7752792" y="1843007"/>
            <a:ext cx="2405145" cy="9525"/>
          </a:xfrm>
          <a:prstGeom prst="rect">
            <a:avLst/>
          </a:prstGeom>
          <a:solidFill>
            <a:srgbClr val="D3B9A5"/>
          </a:solidFill>
          <a:ln/>
        </p:spPr>
        <p:txBody>
          <a:bodyPr/>
          <a:lstStyle/>
          <a:p>
            <a:endParaRPr lang="ko-KR" altLang="en-US"/>
          </a:p>
        </p:txBody>
      </p:sp>
      <p:sp>
        <p:nvSpPr>
          <p:cNvPr id="51" name="Shape 48"/>
          <p:cNvSpPr/>
          <p:nvPr/>
        </p:nvSpPr>
        <p:spPr>
          <a:xfrm>
            <a:off x="7752792" y="1843007"/>
            <a:ext cx="9525" cy="314165"/>
          </a:xfrm>
          <a:prstGeom prst="rect">
            <a:avLst/>
          </a:prstGeom>
          <a:solidFill>
            <a:srgbClr val="D3B9A5"/>
          </a:solidFill>
          <a:ln/>
        </p:spPr>
        <p:txBody>
          <a:bodyPr/>
          <a:lstStyle/>
          <a:p>
            <a:endParaRPr lang="ko-KR" altLang="en-US"/>
          </a:p>
        </p:txBody>
      </p:sp>
      <p:sp>
        <p:nvSpPr>
          <p:cNvPr id="52" name="Text 49"/>
          <p:cNvSpPr/>
          <p:nvPr/>
        </p:nvSpPr>
        <p:spPr>
          <a:xfrm>
            <a:off x="7777059" y="1876799"/>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30만</a:t>
            </a:r>
            <a:endParaRPr lang="en-US" sz="1013" dirty="0"/>
          </a:p>
        </p:txBody>
      </p:sp>
      <p:sp>
        <p:nvSpPr>
          <p:cNvPr id="53" name="Shape 50"/>
          <p:cNvSpPr/>
          <p:nvPr/>
        </p:nvSpPr>
        <p:spPr>
          <a:xfrm>
            <a:off x="1740948" y="2157172"/>
            <a:ext cx="1202369" cy="314165"/>
          </a:xfrm>
          <a:prstGeom prst="rect">
            <a:avLst/>
          </a:prstGeom>
          <a:solidFill>
            <a:srgbClr val="FCF4EE"/>
          </a:solidFill>
          <a:ln/>
        </p:spPr>
        <p:txBody>
          <a:bodyPr/>
          <a:lstStyle/>
          <a:p>
            <a:endParaRPr lang="ko-KR" altLang="en-US"/>
          </a:p>
        </p:txBody>
      </p:sp>
      <p:sp>
        <p:nvSpPr>
          <p:cNvPr id="54" name="Shape 51"/>
          <p:cNvSpPr/>
          <p:nvPr/>
        </p:nvSpPr>
        <p:spPr>
          <a:xfrm>
            <a:off x="1740948" y="2157172"/>
            <a:ext cx="1202369" cy="9525"/>
          </a:xfrm>
          <a:prstGeom prst="rect">
            <a:avLst/>
          </a:prstGeom>
          <a:solidFill>
            <a:srgbClr val="D3B9A5"/>
          </a:solidFill>
          <a:ln/>
        </p:spPr>
        <p:txBody>
          <a:bodyPr/>
          <a:lstStyle/>
          <a:p>
            <a:endParaRPr lang="ko-KR" altLang="en-US"/>
          </a:p>
        </p:txBody>
      </p:sp>
      <p:sp>
        <p:nvSpPr>
          <p:cNvPr id="55" name="Shape 52"/>
          <p:cNvSpPr/>
          <p:nvPr/>
        </p:nvSpPr>
        <p:spPr>
          <a:xfrm>
            <a:off x="1740948" y="2157172"/>
            <a:ext cx="9525" cy="314165"/>
          </a:xfrm>
          <a:prstGeom prst="rect">
            <a:avLst/>
          </a:prstGeom>
          <a:solidFill>
            <a:srgbClr val="D3B9A5"/>
          </a:solidFill>
          <a:ln/>
        </p:spPr>
        <p:txBody>
          <a:bodyPr/>
          <a:lstStyle/>
          <a:p>
            <a:endParaRPr lang="ko-KR" altLang="en-US"/>
          </a:p>
        </p:txBody>
      </p:sp>
      <p:sp>
        <p:nvSpPr>
          <p:cNvPr id="56" name="Text 53"/>
          <p:cNvSpPr/>
          <p:nvPr/>
        </p:nvSpPr>
        <p:spPr>
          <a:xfrm>
            <a:off x="1765215" y="2190964"/>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2종</a:t>
            </a:r>
            <a:endParaRPr lang="en-US" sz="1013" dirty="0"/>
          </a:p>
        </p:txBody>
      </p:sp>
      <p:sp>
        <p:nvSpPr>
          <p:cNvPr id="57" name="Shape 54"/>
          <p:cNvSpPr/>
          <p:nvPr/>
        </p:nvSpPr>
        <p:spPr>
          <a:xfrm>
            <a:off x="2943317" y="2157172"/>
            <a:ext cx="2404738" cy="314165"/>
          </a:xfrm>
          <a:prstGeom prst="rect">
            <a:avLst/>
          </a:prstGeom>
          <a:solidFill>
            <a:srgbClr val="F8E1D0"/>
          </a:solidFill>
          <a:ln/>
        </p:spPr>
        <p:txBody>
          <a:bodyPr/>
          <a:lstStyle/>
          <a:p>
            <a:endParaRPr lang="ko-KR" altLang="en-US"/>
          </a:p>
        </p:txBody>
      </p:sp>
      <p:sp>
        <p:nvSpPr>
          <p:cNvPr id="58" name="Shape 55"/>
          <p:cNvSpPr/>
          <p:nvPr/>
        </p:nvSpPr>
        <p:spPr>
          <a:xfrm>
            <a:off x="2943317" y="2157172"/>
            <a:ext cx="2404738" cy="9525"/>
          </a:xfrm>
          <a:prstGeom prst="rect">
            <a:avLst/>
          </a:prstGeom>
          <a:solidFill>
            <a:srgbClr val="D3B9A5"/>
          </a:solidFill>
          <a:ln/>
        </p:spPr>
        <p:txBody>
          <a:bodyPr/>
          <a:lstStyle/>
          <a:p>
            <a:endParaRPr lang="ko-KR" altLang="en-US"/>
          </a:p>
        </p:txBody>
      </p:sp>
      <p:sp>
        <p:nvSpPr>
          <p:cNvPr id="59" name="Shape 56"/>
          <p:cNvSpPr/>
          <p:nvPr/>
        </p:nvSpPr>
        <p:spPr>
          <a:xfrm>
            <a:off x="2943317" y="2157172"/>
            <a:ext cx="9525" cy="314165"/>
          </a:xfrm>
          <a:prstGeom prst="rect">
            <a:avLst/>
          </a:prstGeom>
          <a:solidFill>
            <a:srgbClr val="D3B9A5"/>
          </a:solidFill>
          <a:ln/>
        </p:spPr>
        <p:txBody>
          <a:bodyPr/>
          <a:lstStyle/>
          <a:p>
            <a:endParaRPr lang="ko-KR" altLang="en-US"/>
          </a:p>
        </p:txBody>
      </p:sp>
      <p:sp>
        <p:nvSpPr>
          <p:cNvPr id="60" name="Text 57"/>
          <p:cNvSpPr/>
          <p:nvPr/>
        </p:nvSpPr>
        <p:spPr>
          <a:xfrm>
            <a:off x="2967584" y="2190964"/>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50만</a:t>
            </a:r>
            <a:endParaRPr lang="en-US" sz="1013" dirty="0"/>
          </a:p>
        </p:txBody>
      </p:sp>
      <p:sp>
        <p:nvSpPr>
          <p:cNvPr id="61" name="Shape 58"/>
          <p:cNvSpPr/>
          <p:nvPr/>
        </p:nvSpPr>
        <p:spPr>
          <a:xfrm>
            <a:off x="5348054" y="2157172"/>
            <a:ext cx="2404738" cy="314165"/>
          </a:xfrm>
          <a:prstGeom prst="rect">
            <a:avLst/>
          </a:prstGeom>
          <a:solidFill>
            <a:srgbClr val="FFFFFF"/>
          </a:solidFill>
          <a:ln/>
        </p:spPr>
        <p:txBody>
          <a:bodyPr/>
          <a:lstStyle/>
          <a:p>
            <a:endParaRPr lang="ko-KR" altLang="en-US"/>
          </a:p>
        </p:txBody>
      </p:sp>
      <p:sp>
        <p:nvSpPr>
          <p:cNvPr id="62" name="Shape 59"/>
          <p:cNvSpPr/>
          <p:nvPr/>
        </p:nvSpPr>
        <p:spPr>
          <a:xfrm>
            <a:off x="5348054" y="2157172"/>
            <a:ext cx="2404738" cy="9525"/>
          </a:xfrm>
          <a:prstGeom prst="rect">
            <a:avLst/>
          </a:prstGeom>
          <a:solidFill>
            <a:srgbClr val="D3B9A5"/>
          </a:solidFill>
          <a:ln/>
        </p:spPr>
        <p:txBody>
          <a:bodyPr/>
          <a:lstStyle/>
          <a:p>
            <a:endParaRPr lang="ko-KR" altLang="en-US"/>
          </a:p>
        </p:txBody>
      </p:sp>
      <p:sp>
        <p:nvSpPr>
          <p:cNvPr id="63" name="Shape 60"/>
          <p:cNvSpPr/>
          <p:nvPr/>
        </p:nvSpPr>
        <p:spPr>
          <a:xfrm>
            <a:off x="5348054" y="2157172"/>
            <a:ext cx="9525" cy="314165"/>
          </a:xfrm>
          <a:prstGeom prst="rect">
            <a:avLst/>
          </a:prstGeom>
          <a:solidFill>
            <a:srgbClr val="D3B9A5"/>
          </a:solidFill>
          <a:ln/>
        </p:spPr>
        <p:txBody>
          <a:bodyPr/>
          <a:lstStyle/>
          <a:p>
            <a:endParaRPr lang="ko-KR" altLang="en-US"/>
          </a:p>
        </p:txBody>
      </p:sp>
      <p:sp>
        <p:nvSpPr>
          <p:cNvPr id="64" name="Text 61"/>
          <p:cNvSpPr/>
          <p:nvPr/>
        </p:nvSpPr>
        <p:spPr>
          <a:xfrm>
            <a:off x="5372321" y="2190964"/>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50만</a:t>
            </a:r>
            <a:endParaRPr lang="en-US" sz="1013" dirty="0"/>
          </a:p>
        </p:txBody>
      </p:sp>
      <p:sp>
        <p:nvSpPr>
          <p:cNvPr id="65" name="Shape 62"/>
          <p:cNvSpPr/>
          <p:nvPr/>
        </p:nvSpPr>
        <p:spPr>
          <a:xfrm>
            <a:off x="7752792" y="2157172"/>
            <a:ext cx="2405145" cy="314165"/>
          </a:xfrm>
          <a:prstGeom prst="rect">
            <a:avLst/>
          </a:prstGeom>
          <a:solidFill>
            <a:srgbClr val="FFFFFF"/>
          </a:solidFill>
          <a:ln/>
        </p:spPr>
        <p:txBody>
          <a:bodyPr/>
          <a:lstStyle/>
          <a:p>
            <a:endParaRPr lang="ko-KR" altLang="en-US"/>
          </a:p>
        </p:txBody>
      </p:sp>
      <p:sp>
        <p:nvSpPr>
          <p:cNvPr id="66" name="Shape 63"/>
          <p:cNvSpPr/>
          <p:nvPr/>
        </p:nvSpPr>
        <p:spPr>
          <a:xfrm>
            <a:off x="7752792" y="2157172"/>
            <a:ext cx="2405145" cy="9525"/>
          </a:xfrm>
          <a:prstGeom prst="rect">
            <a:avLst/>
          </a:prstGeom>
          <a:solidFill>
            <a:srgbClr val="D3B9A5"/>
          </a:solidFill>
          <a:ln/>
        </p:spPr>
        <p:txBody>
          <a:bodyPr/>
          <a:lstStyle/>
          <a:p>
            <a:endParaRPr lang="ko-KR" altLang="en-US"/>
          </a:p>
        </p:txBody>
      </p:sp>
      <p:sp>
        <p:nvSpPr>
          <p:cNvPr id="67" name="Shape 64"/>
          <p:cNvSpPr/>
          <p:nvPr/>
        </p:nvSpPr>
        <p:spPr>
          <a:xfrm>
            <a:off x="7752792" y="2157172"/>
            <a:ext cx="9525" cy="314165"/>
          </a:xfrm>
          <a:prstGeom prst="rect">
            <a:avLst/>
          </a:prstGeom>
          <a:solidFill>
            <a:srgbClr val="D3B9A5"/>
          </a:solidFill>
          <a:ln/>
        </p:spPr>
        <p:txBody>
          <a:bodyPr/>
          <a:lstStyle/>
          <a:p>
            <a:endParaRPr lang="ko-KR" altLang="en-US"/>
          </a:p>
        </p:txBody>
      </p:sp>
      <p:sp>
        <p:nvSpPr>
          <p:cNvPr id="68" name="Text 65"/>
          <p:cNvSpPr/>
          <p:nvPr/>
        </p:nvSpPr>
        <p:spPr>
          <a:xfrm>
            <a:off x="7777059" y="2190964"/>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50만</a:t>
            </a:r>
            <a:endParaRPr lang="en-US" sz="1013" dirty="0"/>
          </a:p>
        </p:txBody>
      </p:sp>
      <p:sp>
        <p:nvSpPr>
          <p:cNvPr id="69" name="Shape 66"/>
          <p:cNvSpPr/>
          <p:nvPr/>
        </p:nvSpPr>
        <p:spPr>
          <a:xfrm>
            <a:off x="1740948" y="2471336"/>
            <a:ext cx="1202369" cy="314165"/>
          </a:xfrm>
          <a:prstGeom prst="rect">
            <a:avLst/>
          </a:prstGeom>
          <a:solidFill>
            <a:srgbClr val="FCF4EE"/>
          </a:solidFill>
          <a:ln/>
        </p:spPr>
        <p:txBody>
          <a:bodyPr/>
          <a:lstStyle/>
          <a:p>
            <a:endParaRPr lang="ko-KR" altLang="en-US"/>
          </a:p>
        </p:txBody>
      </p:sp>
      <p:sp>
        <p:nvSpPr>
          <p:cNvPr id="70" name="Shape 67"/>
          <p:cNvSpPr/>
          <p:nvPr/>
        </p:nvSpPr>
        <p:spPr>
          <a:xfrm>
            <a:off x="1740948" y="2471336"/>
            <a:ext cx="1202369" cy="9525"/>
          </a:xfrm>
          <a:prstGeom prst="rect">
            <a:avLst/>
          </a:prstGeom>
          <a:solidFill>
            <a:srgbClr val="D3B9A5"/>
          </a:solidFill>
          <a:ln/>
        </p:spPr>
        <p:txBody>
          <a:bodyPr/>
          <a:lstStyle/>
          <a:p>
            <a:endParaRPr lang="ko-KR" altLang="en-US"/>
          </a:p>
        </p:txBody>
      </p:sp>
      <p:sp>
        <p:nvSpPr>
          <p:cNvPr id="71" name="Shape 68"/>
          <p:cNvSpPr/>
          <p:nvPr/>
        </p:nvSpPr>
        <p:spPr>
          <a:xfrm>
            <a:off x="1740948" y="2471336"/>
            <a:ext cx="9525" cy="314165"/>
          </a:xfrm>
          <a:prstGeom prst="rect">
            <a:avLst/>
          </a:prstGeom>
          <a:solidFill>
            <a:srgbClr val="D3B9A5"/>
          </a:solidFill>
          <a:ln/>
        </p:spPr>
        <p:txBody>
          <a:bodyPr/>
          <a:lstStyle/>
          <a:p>
            <a:endParaRPr lang="ko-KR" altLang="en-US"/>
          </a:p>
        </p:txBody>
      </p:sp>
      <p:sp>
        <p:nvSpPr>
          <p:cNvPr id="72" name="Text 69"/>
          <p:cNvSpPr/>
          <p:nvPr/>
        </p:nvSpPr>
        <p:spPr>
          <a:xfrm>
            <a:off x="1765215" y="2505128"/>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3종</a:t>
            </a:r>
            <a:endParaRPr lang="en-US" sz="1013" dirty="0"/>
          </a:p>
        </p:txBody>
      </p:sp>
      <p:sp>
        <p:nvSpPr>
          <p:cNvPr id="73" name="Shape 70"/>
          <p:cNvSpPr/>
          <p:nvPr/>
        </p:nvSpPr>
        <p:spPr>
          <a:xfrm>
            <a:off x="2943317" y="2471336"/>
            <a:ext cx="2404738" cy="314165"/>
          </a:xfrm>
          <a:prstGeom prst="rect">
            <a:avLst/>
          </a:prstGeom>
          <a:solidFill>
            <a:srgbClr val="F8E1D0"/>
          </a:solidFill>
          <a:ln/>
        </p:spPr>
        <p:txBody>
          <a:bodyPr/>
          <a:lstStyle/>
          <a:p>
            <a:endParaRPr lang="ko-KR" altLang="en-US"/>
          </a:p>
        </p:txBody>
      </p:sp>
      <p:sp>
        <p:nvSpPr>
          <p:cNvPr id="74" name="Shape 71"/>
          <p:cNvSpPr/>
          <p:nvPr/>
        </p:nvSpPr>
        <p:spPr>
          <a:xfrm>
            <a:off x="2943317" y="2471336"/>
            <a:ext cx="2404738" cy="9525"/>
          </a:xfrm>
          <a:prstGeom prst="rect">
            <a:avLst/>
          </a:prstGeom>
          <a:solidFill>
            <a:srgbClr val="D3B9A5"/>
          </a:solidFill>
          <a:ln/>
        </p:spPr>
        <p:txBody>
          <a:bodyPr/>
          <a:lstStyle/>
          <a:p>
            <a:endParaRPr lang="ko-KR" altLang="en-US"/>
          </a:p>
        </p:txBody>
      </p:sp>
      <p:sp>
        <p:nvSpPr>
          <p:cNvPr id="75" name="Shape 72"/>
          <p:cNvSpPr/>
          <p:nvPr/>
        </p:nvSpPr>
        <p:spPr>
          <a:xfrm>
            <a:off x="2943317" y="2471336"/>
            <a:ext cx="9525" cy="314165"/>
          </a:xfrm>
          <a:prstGeom prst="rect">
            <a:avLst/>
          </a:prstGeom>
          <a:solidFill>
            <a:srgbClr val="D3B9A5"/>
          </a:solidFill>
          <a:ln/>
        </p:spPr>
        <p:txBody>
          <a:bodyPr/>
          <a:lstStyle/>
          <a:p>
            <a:endParaRPr lang="ko-KR" altLang="en-US"/>
          </a:p>
        </p:txBody>
      </p:sp>
      <p:sp>
        <p:nvSpPr>
          <p:cNvPr id="76" name="Text 73"/>
          <p:cNvSpPr/>
          <p:nvPr/>
        </p:nvSpPr>
        <p:spPr>
          <a:xfrm>
            <a:off x="2967584" y="2505128"/>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100만</a:t>
            </a:r>
            <a:endParaRPr lang="en-US" sz="1013" dirty="0"/>
          </a:p>
        </p:txBody>
      </p:sp>
      <p:sp>
        <p:nvSpPr>
          <p:cNvPr id="77" name="Shape 74"/>
          <p:cNvSpPr/>
          <p:nvPr/>
        </p:nvSpPr>
        <p:spPr>
          <a:xfrm>
            <a:off x="5348054" y="2471336"/>
            <a:ext cx="2404738" cy="314165"/>
          </a:xfrm>
          <a:prstGeom prst="rect">
            <a:avLst/>
          </a:prstGeom>
          <a:solidFill>
            <a:srgbClr val="FFFFFF"/>
          </a:solidFill>
          <a:ln/>
        </p:spPr>
        <p:txBody>
          <a:bodyPr/>
          <a:lstStyle/>
          <a:p>
            <a:endParaRPr lang="ko-KR" altLang="en-US"/>
          </a:p>
        </p:txBody>
      </p:sp>
      <p:sp>
        <p:nvSpPr>
          <p:cNvPr id="78" name="Shape 75"/>
          <p:cNvSpPr/>
          <p:nvPr/>
        </p:nvSpPr>
        <p:spPr>
          <a:xfrm>
            <a:off x="5348054" y="2471336"/>
            <a:ext cx="2404738" cy="9525"/>
          </a:xfrm>
          <a:prstGeom prst="rect">
            <a:avLst/>
          </a:prstGeom>
          <a:solidFill>
            <a:srgbClr val="D3B9A5"/>
          </a:solidFill>
          <a:ln/>
        </p:spPr>
        <p:txBody>
          <a:bodyPr/>
          <a:lstStyle/>
          <a:p>
            <a:endParaRPr lang="ko-KR" altLang="en-US"/>
          </a:p>
        </p:txBody>
      </p:sp>
      <p:sp>
        <p:nvSpPr>
          <p:cNvPr id="79" name="Shape 76"/>
          <p:cNvSpPr/>
          <p:nvPr/>
        </p:nvSpPr>
        <p:spPr>
          <a:xfrm>
            <a:off x="5348054" y="2471336"/>
            <a:ext cx="9525" cy="314165"/>
          </a:xfrm>
          <a:prstGeom prst="rect">
            <a:avLst/>
          </a:prstGeom>
          <a:solidFill>
            <a:srgbClr val="D3B9A5"/>
          </a:solidFill>
          <a:ln/>
        </p:spPr>
        <p:txBody>
          <a:bodyPr/>
          <a:lstStyle/>
          <a:p>
            <a:endParaRPr lang="ko-KR" altLang="en-US"/>
          </a:p>
        </p:txBody>
      </p:sp>
      <p:sp>
        <p:nvSpPr>
          <p:cNvPr id="80" name="Text 77"/>
          <p:cNvSpPr/>
          <p:nvPr/>
        </p:nvSpPr>
        <p:spPr>
          <a:xfrm>
            <a:off x="5372321" y="2505128"/>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300만</a:t>
            </a:r>
            <a:endParaRPr lang="en-US" sz="1013" dirty="0"/>
          </a:p>
        </p:txBody>
      </p:sp>
      <p:sp>
        <p:nvSpPr>
          <p:cNvPr id="81" name="Shape 78"/>
          <p:cNvSpPr/>
          <p:nvPr/>
        </p:nvSpPr>
        <p:spPr>
          <a:xfrm>
            <a:off x="7752792" y="2471336"/>
            <a:ext cx="2405145" cy="314165"/>
          </a:xfrm>
          <a:prstGeom prst="rect">
            <a:avLst/>
          </a:prstGeom>
          <a:solidFill>
            <a:srgbClr val="FFFFFF"/>
          </a:solidFill>
          <a:ln/>
        </p:spPr>
        <p:txBody>
          <a:bodyPr/>
          <a:lstStyle/>
          <a:p>
            <a:endParaRPr lang="ko-KR" altLang="en-US"/>
          </a:p>
        </p:txBody>
      </p:sp>
      <p:sp>
        <p:nvSpPr>
          <p:cNvPr id="82" name="Shape 79"/>
          <p:cNvSpPr/>
          <p:nvPr/>
        </p:nvSpPr>
        <p:spPr>
          <a:xfrm>
            <a:off x="7752792" y="2471336"/>
            <a:ext cx="2405145" cy="9525"/>
          </a:xfrm>
          <a:prstGeom prst="rect">
            <a:avLst/>
          </a:prstGeom>
          <a:solidFill>
            <a:srgbClr val="D3B9A5"/>
          </a:solidFill>
          <a:ln/>
        </p:spPr>
        <p:txBody>
          <a:bodyPr/>
          <a:lstStyle/>
          <a:p>
            <a:endParaRPr lang="ko-KR" altLang="en-US"/>
          </a:p>
        </p:txBody>
      </p:sp>
      <p:sp>
        <p:nvSpPr>
          <p:cNvPr id="83" name="Shape 80"/>
          <p:cNvSpPr/>
          <p:nvPr/>
        </p:nvSpPr>
        <p:spPr>
          <a:xfrm>
            <a:off x="7752792" y="2471336"/>
            <a:ext cx="9525" cy="314165"/>
          </a:xfrm>
          <a:prstGeom prst="rect">
            <a:avLst/>
          </a:prstGeom>
          <a:solidFill>
            <a:srgbClr val="D3B9A5"/>
          </a:solidFill>
          <a:ln/>
        </p:spPr>
        <p:txBody>
          <a:bodyPr/>
          <a:lstStyle/>
          <a:p>
            <a:endParaRPr lang="ko-KR" altLang="en-US"/>
          </a:p>
        </p:txBody>
      </p:sp>
      <p:sp>
        <p:nvSpPr>
          <p:cNvPr id="84" name="Text 81"/>
          <p:cNvSpPr/>
          <p:nvPr/>
        </p:nvSpPr>
        <p:spPr>
          <a:xfrm>
            <a:off x="7777059" y="2505128"/>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400만</a:t>
            </a:r>
            <a:endParaRPr lang="en-US" sz="1013" dirty="0"/>
          </a:p>
        </p:txBody>
      </p:sp>
      <p:sp>
        <p:nvSpPr>
          <p:cNvPr id="85" name="Shape 82"/>
          <p:cNvSpPr/>
          <p:nvPr/>
        </p:nvSpPr>
        <p:spPr>
          <a:xfrm>
            <a:off x="1740948" y="2785501"/>
            <a:ext cx="1202369" cy="314165"/>
          </a:xfrm>
          <a:prstGeom prst="rect">
            <a:avLst/>
          </a:prstGeom>
          <a:solidFill>
            <a:srgbClr val="FCF4EE"/>
          </a:solidFill>
          <a:ln/>
        </p:spPr>
        <p:txBody>
          <a:bodyPr/>
          <a:lstStyle/>
          <a:p>
            <a:endParaRPr lang="ko-KR" altLang="en-US"/>
          </a:p>
        </p:txBody>
      </p:sp>
      <p:sp>
        <p:nvSpPr>
          <p:cNvPr id="86" name="Shape 83"/>
          <p:cNvSpPr/>
          <p:nvPr/>
        </p:nvSpPr>
        <p:spPr>
          <a:xfrm>
            <a:off x="1740948" y="2785501"/>
            <a:ext cx="1202369" cy="9525"/>
          </a:xfrm>
          <a:prstGeom prst="rect">
            <a:avLst/>
          </a:prstGeom>
          <a:solidFill>
            <a:srgbClr val="D3B9A5"/>
          </a:solidFill>
          <a:ln/>
        </p:spPr>
        <p:txBody>
          <a:bodyPr/>
          <a:lstStyle/>
          <a:p>
            <a:endParaRPr lang="ko-KR" altLang="en-US"/>
          </a:p>
        </p:txBody>
      </p:sp>
      <p:sp>
        <p:nvSpPr>
          <p:cNvPr id="87" name="Shape 84"/>
          <p:cNvSpPr/>
          <p:nvPr/>
        </p:nvSpPr>
        <p:spPr>
          <a:xfrm>
            <a:off x="1740948" y="2785501"/>
            <a:ext cx="9525" cy="314165"/>
          </a:xfrm>
          <a:prstGeom prst="rect">
            <a:avLst/>
          </a:prstGeom>
          <a:solidFill>
            <a:srgbClr val="D3B9A5"/>
          </a:solidFill>
          <a:ln/>
        </p:spPr>
        <p:txBody>
          <a:bodyPr/>
          <a:lstStyle/>
          <a:p>
            <a:endParaRPr lang="ko-KR" altLang="en-US"/>
          </a:p>
        </p:txBody>
      </p:sp>
      <p:sp>
        <p:nvSpPr>
          <p:cNvPr id="88" name="Text 85"/>
          <p:cNvSpPr/>
          <p:nvPr/>
        </p:nvSpPr>
        <p:spPr>
          <a:xfrm>
            <a:off x="1765215" y="2819293"/>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4종</a:t>
            </a:r>
            <a:endParaRPr lang="en-US" sz="1013" dirty="0"/>
          </a:p>
        </p:txBody>
      </p:sp>
      <p:sp>
        <p:nvSpPr>
          <p:cNvPr id="89" name="Shape 86"/>
          <p:cNvSpPr/>
          <p:nvPr/>
        </p:nvSpPr>
        <p:spPr>
          <a:xfrm>
            <a:off x="2943317" y="2785501"/>
            <a:ext cx="2404738" cy="314165"/>
          </a:xfrm>
          <a:prstGeom prst="rect">
            <a:avLst/>
          </a:prstGeom>
          <a:solidFill>
            <a:srgbClr val="F8E1D0"/>
          </a:solidFill>
          <a:ln/>
        </p:spPr>
        <p:txBody>
          <a:bodyPr/>
          <a:lstStyle/>
          <a:p>
            <a:endParaRPr lang="ko-KR" altLang="en-US"/>
          </a:p>
        </p:txBody>
      </p:sp>
      <p:sp>
        <p:nvSpPr>
          <p:cNvPr id="90" name="Shape 87"/>
          <p:cNvSpPr/>
          <p:nvPr/>
        </p:nvSpPr>
        <p:spPr>
          <a:xfrm>
            <a:off x="2943317" y="2785501"/>
            <a:ext cx="2404738" cy="9525"/>
          </a:xfrm>
          <a:prstGeom prst="rect">
            <a:avLst/>
          </a:prstGeom>
          <a:solidFill>
            <a:srgbClr val="D3B9A5"/>
          </a:solidFill>
          <a:ln/>
        </p:spPr>
        <p:txBody>
          <a:bodyPr/>
          <a:lstStyle/>
          <a:p>
            <a:endParaRPr lang="ko-KR" altLang="en-US"/>
          </a:p>
        </p:txBody>
      </p:sp>
      <p:sp>
        <p:nvSpPr>
          <p:cNvPr id="91" name="Shape 88"/>
          <p:cNvSpPr/>
          <p:nvPr/>
        </p:nvSpPr>
        <p:spPr>
          <a:xfrm>
            <a:off x="2943317" y="2785501"/>
            <a:ext cx="9525" cy="314165"/>
          </a:xfrm>
          <a:prstGeom prst="rect">
            <a:avLst/>
          </a:prstGeom>
          <a:solidFill>
            <a:srgbClr val="D3B9A5"/>
          </a:solidFill>
          <a:ln/>
        </p:spPr>
        <p:txBody>
          <a:bodyPr/>
          <a:lstStyle/>
          <a:p>
            <a:endParaRPr lang="ko-KR" altLang="en-US"/>
          </a:p>
        </p:txBody>
      </p:sp>
      <p:sp>
        <p:nvSpPr>
          <p:cNvPr id="92" name="Text 89"/>
          <p:cNvSpPr/>
          <p:nvPr/>
        </p:nvSpPr>
        <p:spPr>
          <a:xfrm>
            <a:off x="2967584" y="2819293"/>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500만</a:t>
            </a:r>
            <a:endParaRPr lang="en-US" sz="1013" dirty="0"/>
          </a:p>
        </p:txBody>
      </p:sp>
      <p:sp>
        <p:nvSpPr>
          <p:cNvPr id="93" name="Shape 90"/>
          <p:cNvSpPr/>
          <p:nvPr/>
        </p:nvSpPr>
        <p:spPr>
          <a:xfrm>
            <a:off x="5348054" y="2785501"/>
            <a:ext cx="2404738" cy="314165"/>
          </a:xfrm>
          <a:prstGeom prst="rect">
            <a:avLst/>
          </a:prstGeom>
          <a:solidFill>
            <a:srgbClr val="FFFFFF"/>
          </a:solidFill>
          <a:ln/>
        </p:spPr>
        <p:txBody>
          <a:bodyPr/>
          <a:lstStyle/>
          <a:p>
            <a:endParaRPr lang="ko-KR" altLang="en-US"/>
          </a:p>
        </p:txBody>
      </p:sp>
      <p:sp>
        <p:nvSpPr>
          <p:cNvPr id="94" name="Shape 91"/>
          <p:cNvSpPr/>
          <p:nvPr/>
        </p:nvSpPr>
        <p:spPr>
          <a:xfrm>
            <a:off x="5348054" y="2785501"/>
            <a:ext cx="2404738" cy="9525"/>
          </a:xfrm>
          <a:prstGeom prst="rect">
            <a:avLst/>
          </a:prstGeom>
          <a:solidFill>
            <a:srgbClr val="D3B9A5"/>
          </a:solidFill>
          <a:ln/>
        </p:spPr>
        <p:txBody>
          <a:bodyPr/>
          <a:lstStyle/>
          <a:p>
            <a:endParaRPr lang="ko-KR" altLang="en-US"/>
          </a:p>
        </p:txBody>
      </p:sp>
      <p:sp>
        <p:nvSpPr>
          <p:cNvPr id="95" name="Shape 92"/>
          <p:cNvSpPr/>
          <p:nvPr/>
        </p:nvSpPr>
        <p:spPr>
          <a:xfrm>
            <a:off x="5348054" y="2785501"/>
            <a:ext cx="9525" cy="314165"/>
          </a:xfrm>
          <a:prstGeom prst="rect">
            <a:avLst/>
          </a:prstGeom>
          <a:solidFill>
            <a:srgbClr val="D3B9A5"/>
          </a:solidFill>
          <a:ln/>
        </p:spPr>
        <p:txBody>
          <a:bodyPr/>
          <a:lstStyle/>
          <a:p>
            <a:endParaRPr lang="ko-KR" altLang="en-US"/>
          </a:p>
        </p:txBody>
      </p:sp>
      <p:sp>
        <p:nvSpPr>
          <p:cNvPr id="96" name="Text 93"/>
          <p:cNvSpPr/>
          <p:nvPr/>
        </p:nvSpPr>
        <p:spPr>
          <a:xfrm>
            <a:off x="5372321" y="2819293"/>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1,000만</a:t>
            </a:r>
            <a:endParaRPr lang="en-US" sz="1013" dirty="0"/>
          </a:p>
        </p:txBody>
      </p:sp>
      <p:sp>
        <p:nvSpPr>
          <p:cNvPr id="97" name="Shape 94"/>
          <p:cNvSpPr/>
          <p:nvPr/>
        </p:nvSpPr>
        <p:spPr>
          <a:xfrm>
            <a:off x="7752792" y="2785501"/>
            <a:ext cx="2405145" cy="314165"/>
          </a:xfrm>
          <a:prstGeom prst="rect">
            <a:avLst/>
          </a:prstGeom>
          <a:solidFill>
            <a:srgbClr val="FFFFFF"/>
          </a:solidFill>
          <a:ln/>
        </p:spPr>
        <p:txBody>
          <a:bodyPr/>
          <a:lstStyle/>
          <a:p>
            <a:endParaRPr lang="ko-KR" altLang="en-US"/>
          </a:p>
        </p:txBody>
      </p:sp>
      <p:sp>
        <p:nvSpPr>
          <p:cNvPr id="98" name="Shape 95"/>
          <p:cNvSpPr/>
          <p:nvPr/>
        </p:nvSpPr>
        <p:spPr>
          <a:xfrm>
            <a:off x="7752792" y="2785501"/>
            <a:ext cx="2405145" cy="9525"/>
          </a:xfrm>
          <a:prstGeom prst="rect">
            <a:avLst/>
          </a:prstGeom>
          <a:solidFill>
            <a:srgbClr val="D3B9A5"/>
          </a:solidFill>
          <a:ln/>
        </p:spPr>
        <p:txBody>
          <a:bodyPr/>
          <a:lstStyle/>
          <a:p>
            <a:endParaRPr lang="ko-KR" altLang="en-US"/>
          </a:p>
        </p:txBody>
      </p:sp>
      <p:sp>
        <p:nvSpPr>
          <p:cNvPr id="99" name="Shape 96"/>
          <p:cNvSpPr/>
          <p:nvPr/>
        </p:nvSpPr>
        <p:spPr>
          <a:xfrm>
            <a:off x="7752792" y="2785501"/>
            <a:ext cx="9525" cy="314165"/>
          </a:xfrm>
          <a:prstGeom prst="rect">
            <a:avLst/>
          </a:prstGeom>
          <a:solidFill>
            <a:srgbClr val="D3B9A5"/>
          </a:solidFill>
          <a:ln/>
        </p:spPr>
        <p:txBody>
          <a:bodyPr/>
          <a:lstStyle/>
          <a:p>
            <a:endParaRPr lang="ko-KR" altLang="en-US"/>
          </a:p>
        </p:txBody>
      </p:sp>
      <p:sp>
        <p:nvSpPr>
          <p:cNvPr id="100" name="Text 97"/>
          <p:cNvSpPr/>
          <p:nvPr/>
        </p:nvSpPr>
        <p:spPr>
          <a:xfrm>
            <a:off x="7777059" y="2819293"/>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01" name="Shape 98"/>
          <p:cNvSpPr/>
          <p:nvPr/>
        </p:nvSpPr>
        <p:spPr>
          <a:xfrm>
            <a:off x="1740948" y="3099666"/>
            <a:ext cx="1202369" cy="314165"/>
          </a:xfrm>
          <a:prstGeom prst="rect">
            <a:avLst/>
          </a:prstGeom>
          <a:solidFill>
            <a:srgbClr val="FCF4EE"/>
          </a:solidFill>
          <a:ln/>
        </p:spPr>
        <p:txBody>
          <a:bodyPr/>
          <a:lstStyle/>
          <a:p>
            <a:endParaRPr lang="ko-KR" altLang="en-US"/>
          </a:p>
        </p:txBody>
      </p:sp>
      <p:sp>
        <p:nvSpPr>
          <p:cNvPr id="102" name="Shape 99"/>
          <p:cNvSpPr/>
          <p:nvPr/>
        </p:nvSpPr>
        <p:spPr>
          <a:xfrm>
            <a:off x="1740948" y="3099666"/>
            <a:ext cx="1202369" cy="9525"/>
          </a:xfrm>
          <a:prstGeom prst="rect">
            <a:avLst/>
          </a:prstGeom>
          <a:solidFill>
            <a:srgbClr val="D3B9A5"/>
          </a:solidFill>
          <a:ln/>
        </p:spPr>
        <p:txBody>
          <a:bodyPr/>
          <a:lstStyle/>
          <a:p>
            <a:endParaRPr lang="ko-KR" altLang="en-US"/>
          </a:p>
        </p:txBody>
      </p:sp>
      <p:sp>
        <p:nvSpPr>
          <p:cNvPr id="103" name="Shape 100"/>
          <p:cNvSpPr/>
          <p:nvPr/>
        </p:nvSpPr>
        <p:spPr>
          <a:xfrm>
            <a:off x="1740948" y="3099666"/>
            <a:ext cx="9525" cy="314165"/>
          </a:xfrm>
          <a:prstGeom prst="rect">
            <a:avLst/>
          </a:prstGeom>
          <a:solidFill>
            <a:srgbClr val="D3B9A5"/>
          </a:solidFill>
          <a:ln/>
        </p:spPr>
        <p:txBody>
          <a:bodyPr/>
          <a:lstStyle/>
          <a:p>
            <a:endParaRPr lang="ko-KR" altLang="en-US"/>
          </a:p>
        </p:txBody>
      </p:sp>
      <p:sp>
        <p:nvSpPr>
          <p:cNvPr id="104" name="Text 101"/>
          <p:cNvSpPr/>
          <p:nvPr/>
        </p:nvSpPr>
        <p:spPr>
          <a:xfrm>
            <a:off x="1765215" y="3133458"/>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5종</a:t>
            </a:r>
            <a:endParaRPr lang="en-US" sz="1013" dirty="0"/>
          </a:p>
        </p:txBody>
      </p:sp>
      <p:sp>
        <p:nvSpPr>
          <p:cNvPr id="105" name="Shape 102"/>
          <p:cNvSpPr/>
          <p:nvPr/>
        </p:nvSpPr>
        <p:spPr>
          <a:xfrm>
            <a:off x="2943317" y="3099666"/>
            <a:ext cx="2404738" cy="314165"/>
          </a:xfrm>
          <a:prstGeom prst="rect">
            <a:avLst/>
          </a:prstGeom>
          <a:solidFill>
            <a:srgbClr val="F8E1D0"/>
          </a:solidFill>
          <a:ln/>
        </p:spPr>
        <p:txBody>
          <a:bodyPr/>
          <a:lstStyle/>
          <a:p>
            <a:endParaRPr lang="ko-KR" altLang="en-US"/>
          </a:p>
        </p:txBody>
      </p:sp>
      <p:sp>
        <p:nvSpPr>
          <p:cNvPr id="106" name="Shape 103"/>
          <p:cNvSpPr/>
          <p:nvPr/>
        </p:nvSpPr>
        <p:spPr>
          <a:xfrm>
            <a:off x="2943317" y="3099666"/>
            <a:ext cx="2404738" cy="9525"/>
          </a:xfrm>
          <a:prstGeom prst="rect">
            <a:avLst/>
          </a:prstGeom>
          <a:solidFill>
            <a:srgbClr val="D3B9A5"/>
          </a:solidFill>
          <a:ln/>
        </p:spPr>
        <p:txBody>
          <a:bodyPr/>
          <a:lstStyle/>
          <a:p>
            <a:endParaRPr lang="ko-KR" altLang="en-US"/>
          </a:p>
        </p:txBody>
      </p:sp>
      <p:sp>
        <p:nvSpPr>
          <p:cNvPr id="107" name="Shape 104"/>
          <p:cNvSpPr/>
          <p:nvPr/>
        </p:nvSpPr>
        <p:spPr>
          <a:xfrm>
            <a:off x="2943317" y="3099666"/>
            <a:ext cx="9525" cy="314165"/>
          </a:xfrm>
          <a:prstGeom prst="rect">
            <a:avLst/>
          </a:prstGeom>
          <a:solidFill>
            <a:srgbClr val="D3B9A5"/>
          </a:solidFill>
          <a:ln/>
        </p:spPr>
        <p:txBody>
          <a:bodyPr/>
          <a:lstStyle/>
          <a:p>
            <a:endParaRPr lang="ko-KR" altLang="en-US"/>
          </a:p>
        </p:txBody>
      </p:sp>
      <p:sp>
        <p:nvSpPr>
          <p:cNvPr id="108" name="Text 105"/>
          <p:cNvSpPr/>
          <p:nvPr/>
        </p:nvSpPr>
        <p:spPr>
          <a:xfrm>
            <a:off x="2967584" y="3133458"/>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1,000만</a:t>
            </a:r>
            <a:endParaRPr lang="en-US" sz="1013" dirty="0"/>
          </a:p>
        </p:txBody>
      </p:sp>
      <p:sp>
        <p:nvSpPr>
          <p:cNvPr id="109" name="Shape 106"/>
          <p:cNvSpPr/>
          <p:nvPr/>
        </p:nvSpPr>
        <p:spPr>
          <a:xfrm>
            <a:off x="5348054" y="3099666"/>
            <a:ext cx="2404738" cy="314165"/>
          </a:xfrm>
          <a:prstGeom prst="rect">
            <a:avLst/>
          </a:prstGeom>
          <a:solidFill>
            <a:srgbClr val="FFFFFF"/>
          </a:solidFill>
          <a:ln/>
        </p:spPr>
        <p:txBody>
          <a:bodyPr/>
          <a:lstStyle/>
          <a:p>
            <a:endParaRPr lang="ko-KR" altLang="en-US"/>
          </a:p>
        </p:txBody>
      </p:sp>
      <p:sp>
        <p:nvSpPr>
          <p:cNvPr id="110" name="Shape 107"/>
          <p:cNvSpPr/>
          <p:nvPr/>
        </p:nvSpPr>
        <p:spPr>
          <a:xfrm>
            <a:off x="5348054" y="3099666"/>
            <a:ext cx="2404738" cy="9525"/>
          </a:xfrm>
          <a:prstGeom prst="rect">
            <a:avLst/>
          </a:prstGeom>
          <a:solidFill>
            <a:srgbClr val="D3B9A5"/>
          </a:solidFill>
          <a:ln/>
        </p:spPr>
        <p:txBody>
          <a:bodyPr/>
          <a:lstStyle/>
          <a:p>
            <a:endParaRPr lang="ko-KR" altLang="en-US"/>
          </a:p>
        </p:txBody>
      </p:sp>
      <p:sp>
        <p:nvSpPr>
          <p:cNvPr id="111" name="Shape 108"/>
          <p:cNvSpPr/>
          <p:nvPr/>
        </p:nvSpPr>
        <p:spPr>
          <a:xfrm>
            <a:off x="5348054" y="3099666"/>
            <a:ext cx="9525" cy="314165"/>
          </a:xfrm>
          <a:prstGeom prst="rect">
            <a:avLst/>
          </a:prstGeom>
          <a:solidFill>
            <a:srgbClr val="D3B9A5"/>
          </a:solidFill>
          <a:ln/>
        </p:spPr>
        <p:txBody>
          <a:bodyPr/>
          <a:lstStyle/>
          <a:p>
            <a:endParaRPr lang="ko-KR" altLang="en-US"/>
          </a:p>
        </p:txBody>
      </p:sp>
      <p:sp>
        <p:nvSpPr>
          <p:cNvPr id="112" name="Text 109"/>
          <p:cNvSpPr/>
          <p:nvPr/>
        </p:nvSpPr>
        <p:spPr>
          <a:xfrm>
            <a:off x="5372321" y="3133458"/>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2,000만</a:t>
            </a:r>
            <a:endParaRPr lang="en-US" sz="1013" dirty="0"/>
          </a:p>
        </p:txBody>
      </p:sp>
      <p:sp>
        <p:nvSpPr>
          <p:cNvPr id="113" name="Shape 110"/>
          <p:cNvSpPr/>
          <p:nvPr/>
        </p:nvSpPr>
        <p:spPr>
          <a:xfrm>
            <a:off x="7752792" y="3099666"/>
            <a:ext cx="2405145" cy="314165"/>
          </a:xfrm>
          <a:prstGeom prst="rect">
            <a:avLst/>
          </a:prstGeom>
          <a:solidFill>
            <a:srgbClr val="FFFFFF"/>
          </a:solidFill>
          <a:ln/>
        </p:spPr>
        <p:txBody>
          <a:bodyPr/>
          <a:lstStyle/>
          <a:p>
            <a:endParaRPr lang="ko-KR" altLang="en-US"/>
          </a:p>
        </p:txBody>
      </p:sp>
      <p:sp>
        <p:nvSpPr>
          <p:cNvPr id="114" name="Shape 111"/>
          <p:cNvSpPr/>
          <p:nvPr/>
        </p:nvSpPr>
        <p:spPr>
          <a:xfrm>
            <a:off x="7752792" y="3099666"/>
            <a:ext cx="2405145" cy="9525"/>
          </a:xfrm>
          <a:prstGeom prst="rect">
            <a:avLst/>
          </a:prstGeom>
          <a:solidFill>
            <a:srgbClr val="D3B9A5"/>
          </a:solidFill>
          <a:ln/>
        </p:spPr>
        <p:txBody>
          <a:bodyPr/>
          <a:lstStyle/>
          <a:p>
            <a:endParaRPr lang="ko-KR" altLang="en-US"/>
          </a:p>
        </p:txBody>
      </p:sp>
      <p:sp>
        <p:nvSpPr>
          <p:cNvPr id="115" name="Shape 112"/>
          <p:cNvSpPr/>
          <p:nvPr/>
        </p:nvSpPr>
        <p:spPr>
          <a:xfrm>
            <a:off x="7752792" y="3099666"/>
            <a:ext cx="9525" cy="314165"/>
          </a:xfrm>
          <a:prstGeom prst="rect">
            <a:avLst/>
          </a:prstGeom>
          <a:solidFill>
            <a:srgbClr val="D3B9A5"/>
          </a:solidFill>
          <a:ln/>
        </p:spPr>
        <p:txBody>
          <a:bodyPr/>
          <a:lstStyle/>
          <a:p>
            <a:endParaRPr lang="ko-KR" altLang="en-US"/>
          </a:p>
        </p:txBody>
      </p:sp>
      <p:sp>
        <p:nvSpPr>
          <p:cNvPr id="116" name="Text 113"/>
          <p:cNvSpPr/>
          <p:nvPr/>
        </p:nvSpPr>
        <p:spPr>
          <a:xfrm>
            <a:off x="7777059" y="3133458"/>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1,000만</a:t>
            </a:r>
            <a:endParaRPr lang="en-US" sz="1013" dirty="0"/>
          </a:p>
        </p:txBody>
      </p:sp>
      <p:sp>
        <p:nvSpPr>
          <p:cNvPr id="117" name="Shape 114"/>
          <p:cNvSpPr/>
          <p:nvPr/>
        </p:nvSpPr>
        <p:spPr>
          <a:xfrm>
            <a:off x="538580" y="3413831"/>
            <a:ext cx="2404738" cy="2199153"/>
          </a:xfrm>
          <a:prstGeom prst="rect">
            <a:avLst/>
          </a:prstGeom>
          <a:solidFill>
            <a:srgbClr val="FCF4EE"/>
          </a:solidFill>
          <a:ln/>
        </p:spPr>
        <p:txBody>
          <a:bodyPr/>
          <a:lstStyle/>
          <a:p>
            <a:endParaRPr lang="ko-KR" altLang="en-US"/>
          </a:p>
        </p:txBody>
      </p:sp>
      <p:sp>
        <p:nvSpPr>
          <p:cNvPr id="118" name="Shape 115"/>
          <p:cNvSpPr/>
          <p:nvPr/>
        </p:nvSpPr>
        <p:spPr>
          <a:xfrm>
            <a:off x="538580" y="3413831"/>
            <a:ext cx="2404738" cy="9525"/>
          </a:xfrm>
          <a:prstGeom prst="rect">
            <a:avLst/>
          </a:prstGeom>
          <a:solidFill>
            <a:srgbClr val="D3B9A5"/>
          </a:solidFill>
          <a:ln/>
        </p:spPr>
        <p:txBody>
          <a:bodyPr/>
          <a:lstStyle/>
          <a:p>
            <a:endParaRPr lang="ko-KR" altLang="en-US"/>
          </a:p>
        </p:txBody>
      </p:sp>
      <p:sp>
        <p:nvSpPr>
          <p:cNvPr id="119" name="Text 116"/>
          <p:cNvSpPr/>
          <p:nvPr/>
        </p:nvSpPr>
        <p:spPr>
          <a:xfrm>
            <a:off x="557630" y="3447623"/>
            <a:ext cx="2366638" cy="217488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N대 수술비 (최대)</a:t>
            </a:r>
            <a:endParaRPr lang="en-US" sz="1013" dirty="0"/>
          </a:p>
        </p:txBody>
      </p:sp>
      <p:sp>
        <p:nvSpPr>
          <p:cNvPr id="120" name="Shape 117"/>
          <p:cNvSpPr/>
          <p:nvPr/>
        </p:nvSpPr>
        <p:spPr>
          <a:xfrm>
            <a:off x="2943317" y="3413831"/>
            <a:ext cx="2404738" cy="314165"/>
          </a:xfrm>
          <a:prstGeom prst="rect">
            <a:avLst/>
          </a:prstGeom>
          <a:solidFill>
            <a:srgbClr val="F8E1D0"/>
          </a:solidFill>
          <a:ln/>
        </p:spPr>
        <p:txBody>
          <a:bodyPr/>
          <a:lstStyle/>
          <a:p>
            <a:endParaRPr lang="ko-KR" altLang="en-US"/>
          </a:p>
        </p:txBody>
      </p:sp>
      <p:sp>
        <p:nvSpPr>
          <p:cNvPr id="121" name="Shape 118"/>
          <p:cNvSpPr/>
          <p:nvPr/>
        </p:nvSpPr>
        <p:spPr>
          <a:xfrm>
            <a:off x="2943317" y="3413831"/>
            <a:ext cx="2404738" cy="9525"/>
          </a:xfrm>
          <a:prstGeom prst="rect">
            <a:avLst/>
          </a:prstGeom>
          <a:solidFill>
            <a:srgbClr val="D3B9A5"/>
          </a:solidFill>
          <a:ln/>
        </p:spPr>
        <p:txBody>
          <a:bodyPr/>
          <a:lstStyle/>
          <a:p>
            <a:endParaRPr lang="ko-KR" altLang="en-US"/>
          </a:p>
        </p:txBody>
      </p:sp>
      <p:sp>
        <p:nvSpPr>
          <p:cNvPr id="122" name="Shape 119"/>
          <p:cNvSpPr/>
          <p:nvPr/>
        </p:nvSpPr>
        <p:spPr>
          <a:xfrm>
            <a:off x="2943317" y="3413831"/>
            <a:ext cx="9525" cy="314165"/>
          </a:xfrm>
          <a:prstGeom prst="rect">
            <a:avLst/>
          </a:prstGeom>
          <a:solidFill>
            <a:srgbClr val="D3B9A5"/>
          </a:solidFill>
          <a:ln/>
        </p:spPr>
        <p:txBody>
          <a:bodyPr/>
          <a:lstStyle/>
          <a:p>
            <a:endParaRPr lang="ko-KR" altLang="en-US"/>
          </a:p>
        </p:txBody>
      </p:sp>
      <p:sp>
        <p:nvSpPr>
          <p:cNvPr id="123" name="Text 120"/>
          <p:cNvSpPr/>
          <p:nvPr/>
        </p:nvSpPr>
        <p:spPr>
          <a:xfrm>
            <a:off x="2967584" y="3447623"/>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116대 질병</a:t>
            </a:r>
            <a:endParaRPr lang="en-US" sz="1013" dirty="0"/>
          </a:p>
        </p:txBody>
      </p:sp>
      <p:sp>
        <p:nvSpPr>
          <p:cNvPr id="124" name="Shape 121"/>
          <p:cNvSpPr/>
          <p:nvPr/>
        </p:nvSpPr>
        <p:spPr>
          <a:xfrm>
            <a:off x="5348054" y="3413831"/>
            <a:ext cx="2404738" cy="314165"/>
          </a:xfrm>
          <a:prstGeom prst="rect">
            <a:avLst/>
          </a:prstGeom>
          <a:solidFill>
            <a:srgbClr val="FFFFFF"/>
          </a:solidFill>
          <a:ln/>
        </p:spPr>
        <p:txBody>
          <a:bodyPr/>
          <a:lstStyle/>
          <a:p>
            <a:endParaRPr lang="ko-KR" altLang="en-US"/>
          </a:p>
        </p:txBody>
      </p:sp>
      <p:sp>
        <p:nvSpPr>
          <p:cNvPr id="125" name="Shape 122"/>
          <p:cNvSpPr/>
          <p:nvPr/>
        </p:nvSpPr>
        <p:spPr>
          <a:xfrm>
            <a:off x="5348054" y="3413831"/>
            <a:ext cx="2404738" cy="9525"/>
          </a:xfrm>
          <a:prstGeom prst="rect">
            <a:avLst/>
          </a:prstGeom>
          <a:solidFill>
            <a:srgbClr val="D3B9A5"/>
          </a:solidFill>
          <a:ln/>
        </p:spPr>
        <p:txBody>
          <a:bodyPr/>
          <a:lstStyle/>
          <a:p>
            <a:endParaRPr lang="ko-KR" altLang="en-US"/>
          </a:p>
        </p:txBody>
      </p:sp>
      <p:sp>
        <p:nvSpPr>
          <p:cNvPr id="126" name="Shape 123"/>
          <p:cNvSpPr/>
          <p:nvPr/>
        </p:nvSpPr>
        <p:spPr>
          <a:xfrm>
            <a:off x="5348054" y="3413831"/>
            <a:ext cx="9525" cy="314165"/>
          </a:xfrm>
          <a:prstGeom prst="rect">
            <a:avLst/>
          </a:prstGeom>
          <a:solidFill>
            <a:srgbClr val="D3B9A5"/>
          </a:solidFill>
          <a:ln/>
        </p:spPr>
        <p:txBody>
          <a:bodyPr/>
          <a:lstStyle/>
          <a:p>
            <a:endParaRPr lang="ko-KR" altLang="en-US"/>
          </a:p>
        </p:txBody>
      </p:sp>
      <p:sp>
        <p:nvSpPr>
          <p:cNvPr id="127" name="Text 124"/>
          <p:cNvSpPr/>
          <p:nvPr/>
        </p:nvSpPr>
        <p:spPr>
          <a:xfrm>
            <a:off x="5372321" y="3447623"/>
            <a:ext cx="2361420"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111대 질병</a:t>
            </a:r>
            <a:endParaRPr lang="en-US" sz="1013" dirty="0"/>
          </a:p>
        </p:txBody>
      </p:sp>
      <p:sp>
        <p:nvSpPr>
          <p:cNvPr id="128" name="Shape 125"/>
          <p:cNvSpPr/>
          <p:nvPr/>
        </p:nvSpPr>
        <p:spPr>
          <a:xfrm>
            <a:off x="7752792" y="3413831"/>
            <a:ext cx="2405145" cy="314165"/>
          </a:xfrm>
          <a:prstGeom prst="rect">
            <a:avLst/>
          </a:prstGeom>
          <a:solidFill>
            <a:srgbClr val="FFFFFF"/>
          </a:solidFill>
          <a:ln/>
        </p:spPr>
        <p:txBody>
          <a:bodyPr/>
          <a:lstStyle/>
          <a:p>
            <a:endParaRPr lang="ko-KR" altLang="en-US"/>
          </a:p>
        </p:txBody>
      </p:sp>
      <p:sp>
        <p:nvSpPr>
          <p:cNvPr id="129" name="Shape 126"/>
          <p:cNvSpPr/>
          <p:nvPr/>
        </p:nvSpPr>
        <p:spPr>
          <a:xfrm>
            <a:off x="7752792" y="3413831"/>
            <a:ext cx="2405145" cy="9525"/>
          </a:xfrm>
          <a:prstGeom prst="rect">
            <a:avLst/>
          </a:prstGeom>
          <a:solidFill>
            <a:srgbClr val="D3B9A5"/>
          </a:solidFill>
          <a:ln/>
        </p:spPr>
        <p:txBody>
          <a:bodyPr/>
          <a:lstStyle/>
          <a:p>
            <a:endParaRPr lang="ko-KR" altLang="en-US"/>
          </a:p>
        </p:txBody>
      </p:sp>
      <p:sp>
        <p:nvSpPr>
          <p:cNvPr id="130" name="Shape 127"/>
          <p:cNvSpPr/>
          <p:nvPr/>
        </p:nvSpPr>
        <p:spPr>
          <a:xfrm>
            <a:off x="7752792" y="3413831"/>
            <a:ext cx="9525" cy="314165"/>
          </a:xfrm>
          <a:prstGeom prst="rect">
            <a:avLst/>
          </a:prstGeom>
          <a:solidFill>
            <a:srgbClr val="D3B9A5"/>
          </a:solidFill>
          <a:ln/>
        </p:spPr>
        <p:txBody>
          <a:bodyPr/>
          <a:lstStyle/>
          <a:p>
            <a:endParaRPr lang="ko-KR" altLang="en-US"/>
          </a:p>
        </p:txBody>
      </p:sp>
      <p:sp>
        <p:nvSpPr>
          <p:cNvPr id="131" name="Text 128"/>
          <p:cNvSpPr/>
          <p:nvPr/>
        </p:nvSpPr>
        <p:spPr>
          <a:xfrm>
            <a:off x="7777059" y="3447623"/>
            <a:ext cx="2361828"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136대 질병</a:t>
            </a:r>
            <a:endParaRPr lang="en-US" sz="1013" dirty="0"/>
          </a:p>
        </p:txBody>
      </p:sp>
      <p:sp>
        <p:nvSpPr>
          <p:cNvPr id="132" name="Shape 129"/>
          <p:cNvSpPr/>
          <p:nvPr/>
        </p:nvSpPr>
        <p:spPr>
          <a:xfrm>
            <a:off x="2943317" y="3727995"/>
            <a:ext cx="1202369" cy="314165"/>
          </a:xfrm>
          <a:prstGeom prst="rect">
            <a:avLst/>
          </a:prstGeom>
          <a:solidFill>
            <a:srgbClr val="F8E1D0"/>
          </a:solidFill>
          <a:ln/>
        </p:spPr>
        <p:txBody>
          <a:bodyPr/>
          <a:lstStyle/>
          <a:p>
            <a:endParaRPr lang="ko-KR" altLang="en-US"/>
          </a:p>
        </p:txBody>
      </p:sp>
      <p:sp>
        <p:nvSpPr>
          <p:cNvPr id="133" name="Shape 130"/>
          <p:cNvSpPr/>
          <p:nvPr/>
        </p:nvSpPr>
        <p:spPr>
          <a:xfrm>
            <a:off x="2943317" y="3727995"/>
            <a:ext cx="1202369" cy="9525"/>
          </a:xfrm>
          <a:prstGeom prst="rect">
            <a:avLst/>
          </a:prstGeom>
          <a:solidFill>
            <a:srgbClr val="D3B9A5"/>
          </a:solidFill>
          <a:ln/>
        </p:spPr>
        <p:txBody>
          <a:bodyPr/>
          <a:lstStyle/>
          <a:p>
            <a:endParaRPr lang="ko-KR" altLang="en-US"/>
          </a:p>
        </p:txBody>
      </p:sp>
      <p:sp>
        <p:nvSpPr>
          <p:cNvPr id="134" name="Shape 131"/>
          <p:cNvSpPr/>
          <p:nvPr/>
        </p:nvSpPr>
        <p:spPr>
          <a:xfrm>
            <a:off x="2943317" y="3727995"/>
            <a:ext cx="9525" cy="314165"/>
          </a:xfrm>
          <a:prstGeom prst="rect">
            <a:avLst/>
          </a:prstGeom>
          <a:solidFill>
            <a:srgbClr val="D3B9A5"/>
          </a:solidFill>
          <a:ln/>
        </p:spPr>
        <p:txBody>
          <a:bodyPr/>
          <a:lstStyle/>
          <a:p>
            <a:endParaRPr lang="ko-KR" altLang="en-US"/>
          </a:p>
        </p:txBody>
      </p:sp>
      <p:sp>
        <p:nvSpPr>
          <p:cNvPr id="135" name="Text 132"/>
          <p:cNvSpPr/>
          <p:nvPr/>
        </p:nvSpPr>
        <p:spPr>
          <a:xfrm>
            <a:off x="2967584" y="376178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15대질병</a:t>
            </a:r>
            <a:endParaRPr lang="en-US" sz="1013" dirty="0"/>
          </a:p>
        </p:txBody>
      </p:sp>
      <p:sp>
        <p:nvSpPr>
          <p:cNvPr id="136" name="Shape 133"/>
          <p:cNvSpPr/>
          <p:nvPr/>
        </p:nvSpPr>
        <p:spPr>
          <a:xfrm>
            <a:off x="4145686" y="3727995"/>
            <a:ext cx="1202369" cy="314165"/>
          </a:xfrm>
          <a:prstGeom prst="rect">
            <a:avLst/>
          </a:prstGeom>
          <a:solidFill>
            <a:srgbClr val="F8E1D0"/>
          </a:solidFill>
          <a:ln/>
        </p:spPr>
        <p:txBody>
          <a:bodyPr/>
          <a:lstStyle/>
          <a:p>
            <a:endParaRPr lang="ko-KR" altLang="en-US"/>
          </a:p>
        </p:txBody>
      </p:sp>
      <p:sp>
        <p:nvSpPr>
          <p:cNvPr id="137" name="Shape 134"/>
          <p:cNvSpPr/>
          <p:nvPr/>
        </p:nvSpPr>
        <p:spPr>
          <a:xfrm>
            <a:off x="4145686" y="3727995"/>
            <a:ext cx="1202369" cy="9525"/>
          </a:xfrm>
          <a:prstGeom prst="rect">
            <a:avLst/>
          </a:prstGeom>
          <a:solidFill>
            <a:srgbClr val="D3B9A5"/>
          </a:solidFill>
          <a:ln/>
        </p:spPr>
        <p:txBody>
          <a:bodyPr/>
          <a:lstStyle/>
          <a:p>
            <a:endParaRPr lang="ko-KR" altLang="en-US"/>
          </a:p>
        </p:txBody>
      </p:sp>
      <p:sp>
        <p:nvSpPr>
          <p:cNvPr id="138" name="Shape 135"/>
          <p:cNvSpPr/>
          <p:nvPr/>
        </p:nvSpPr>
        <p:spPr>
          <a:xfrm>
            <a:off x="4145686" y="3727995"/>
            <a:ext cx="9525" cy="314165"/>
          </a:xfrm>
          <a:prstGeom prst="rect">
            <a:avLst/>
          </a:prstGeom>
          <a:solidFill>
            <a:srgbClr val="D3B9A5"/>
          </a:solidFill>
          <a:ln/>
        </p:spPr>
        <p:txBody>
          <a:bodyPr/>
          <a:lstStyle/>
          <a:p>
            <a:endParaRPr lang="ko-KR" altLang="en-US"/>
          </a:p>
        </p:txBody>
      </p:sp>
      <p:sp>
        <p:nvSpPr>
          <p:cNvPr id="139" name="Text 136"/>
          <p:cNvSpPr/>
          <p:nvPr/>
        </p:nvSpPr>
        <p:spPr>
          <a:xfrm>
            <a:off x="4169953" y="376178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2,000만</a:t>
            </a:r>
            <a:endParaRPr lang="en-US" sz="1013" dirty="0"/>
          </a:p>
        </p:txBody>
      </p:sp>
      <p:sp>
        <p:nvSpPr>
          <p:cNvPr id="140" name="Shape 137"/>
          <p:cNvSpPr/>
          <p:nvPr/>
        </p:nvSpPr>
        <p:spPr>
          <a:xfrm>
            <a:off x="5348054" y="3727995"/>
            <a:ext cx="1202369" cy="314165"/>
          </a:xfrm>
          <a:prstGeom prst="rect">
            <a:avLst/>
          </a:prstGeom>
          <a:solidFill>
            <a:srgbClr val="FFFFFF"/>
          </a:solidFill>
          <a:ln/>
        </p:spPr>
        <p:txBody>
          <a:bodyPr/>
          <a:lstStyle/>
          <a:p>
            <a:endParaRPr lang="ko-KR" altLang="en-US"/>
          </a:p>
        </p:txBody>
      </p:sp>
      <p:sp>
        <p:nvSpPr>
          <p:cNvPr id="141" name="Shape 138"/>
          <p:cNvSpPr/>
          <p:nvPr/>
        </p:nvSpPr>
        <p:spPr>
          <a:xfrm>
            <a:off x="5348054" y="3727995"/>
            <a:ext cx="1202369" cy="9525"/>
          </a:xfrm>
          <a:prstGeom prst="rect">
            <a:avLst/>
          </a:prstGeom>
          <a:solidFill>
            <a:srgbClr val="D3B9A5"/>
          </a:solidFill>
          <a:ln/>
        </p:spPr>
        <p:txBody>
          <a:bodyPr/>
          <a:lstStyle/>
          <a:p>
            <a:endParaRPr lang="ko-KR" altLang="en-US"/>
          </a:p>
        </p:txBody>
      </p:sp>
      <p:sp>
        <p:nvSpPr>
          <p:cNvPr id="142" name="Shape 139"/>
          <p:cNvSpPr/>
          <p:nvPr/>
        </p:nvSpPr>
        <p:spPr>
          <a:xfrm>
            <a:off x="5348054" y="3727995"/>
            <a:ext cx="9525" cy="314165"/>
          </a:xfrm>
          <a:prstGeom prst="rect">
            <a:avLst/>
          </a:prstGeom>
          <a:solidFill>
            <a:srgbClr val="D3B9A5"/>
          </a:solidFill>
          <a:ln/>
        </p:spPr>
        <p:txBody>
          <a:bodyPr/>
          <a:lstStyle/>
          <a:p>
            <a:endParaRPr lang="ko-KR" altLang="en-US"/>
          </a:p>
        </p:txBody>
      </p:sp>
      <p:sp>
        <p:nvSpPr>
          <p:cNvPr id="143" name="Text 140"/>
          <p:cNvSpPr/>
          <p:nvPr/>
        </p:nvSpPr>
        <p:spPr>
          <a:xfrm>
            <a:off x="5372321" y="376178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5대기관 관혈</a:t>
            </a:r>
            <a:endParaRPr lang="en-US" sz="1013" dirty="0"/>
          </a:p>
        </p:txBody>
      </p:sp>
      <p:sp>
        <p:nvSpPr>
          <p:cNvPr id="144" name="Shape 141"/>
          <p:cNvSpPr/>
          <p:nvPr/>
        </p:nvSpPr>
        <p:spPr>
          <a:xfrm>
            <a:off x="6550423" y="3727995"/>
            <a:ext cx="1202369" cy="314165"/>
          </a:xfrm>
          <a:prstGeom prst="rect">
            <a:avLst/>
          </a:prstGeom>
          <a:solidFill>
            <a:srgbClr val="FFFFFF"/>
          </a:solidFill>
          <a:ln/>
        </p:spPr>
        <p:txBody>
          <a:bodyPr/>
          <a:lstStyle/>
          <a:p>
            <a:endParaRPr lang="ko-KR" altLang="en-US"/>
          </a:p>
        </p:txBody>
      </p:sp>
      <p:sp>
        <p:nvSpPr>
          <p:cNvPr id="145" name="Shape 142"/>
          <p:cNvSpPr/>
          <p:nvPr/>
        </p:nvSpPr>
        <p:spPr>
          <a:xfrm>
            <a:off x="6550423" y="3727995"/>
            <a:ext cx="1202369" cy="9525"/>
          </a:xfrm>
          <a:prstGeom prst="rect">
            <a:avLst/>
          </a:prstGeom>
          <a:solidFill>
            <a:srgbClr val="D3B9A5"/>
          </a:solidFill>
          <a:ln/>
        </p:spPr>
        <p:txBody>
          <a:bodyPr/>
          <a:lstStyle/>
          <a:p>
            <a:endParaRPr lang="ko-KR" altLang="en-US"/>
          </a:p>
        </p:txBody>
      </p:sp>
      <p:sp>
        <p:nvSpPr>
          <p:cNvPr id="146" name="Shape 143"/>
          <p:cNvSpPr/>
          <p:nvPr/>
        </p:nvSpPr>
        <p:spPr>
          <a:xfrm>
            <a:off x="6550423" y="3727995"/>
            <a:ext cx="9525" cy="314165"/>
          </a:xfrm>
          <a:prstGeom prst="rect">
            <a:avLst/>
          </a:prstGeom>
          <a:solidFill>
            <a:srgbClr val="D3B9A5"/>
          </a:solidFill>
          <a:ln/>
        </p:spPr>
        <p:txBody>
          <a:bodyPr/>
          <a:lstStyle/>
          <a:p>
            <a:endParaRPr lang="ko-KR" altLang="en-US"/>
          </a:p>
        </p:txBody>
      </p:sp>
      <p:sp>
        <p:nvSpPr>
          <p:cNvPr id="147" name="Text 144"/>
          <p:cNvSpPr/>
          <p:nvPr/>
        </p:nvSpPr>
        <p:spPr>
          <a:xfrm>
            <a:off x="6574690" y="376178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5,000만</a:t>
            </a:r>
            <a:endParaRPr lang="en-US" sz="1013" dirty="0"/>
          </a:p>
        </p:txBody>
      </p:sp>
      <p:sp>
        <p:nvSpPr>
          <p:cNvPr id="148" name="Shape 145"/>
          <p:cNvSpPr/>
          <p:nvPr/>
        </p:nvSpPr>
        <p:spPr>
          <a:xfrm>
            <a:off x="7752792" y="3727995"/>
            <a:ext cx="1202369" cy="314165"/>
          </a:xfrm>
          <a:prstGeom prst="rect">
            <a:avLst/>
          </a:prstGeom>
          <a:solidFill>
            <a:srgbClr val="FFFFFF"/>
          </a:solidFill>
          <a:ln/>
        </p:spPr>
        <p:txBody>
          <a:bodyPr/>
          <a:lstStyle/>
          <a:p>
            <a:endParaRPr lang="ko-KR" altLang="en-US"/>
          </a:p>
        </p:txBody>
      </p:sp>
      <p:sp>
        <p:nvSpPr>
          <p:cNvPr id="149" name="Shape 146"/>
          <p:cNvSpPr/>
          <p:nvPr/>
        </p:nvSpPr>
        <p:spPr>
          <a:xfrm>
            <a:off x="7752792" y="3727995"/>
            <a:ext cx="1202369" cy="9525"/>
          </a:xfrm>
          <a:prstGeom prst="rect">
            <a:avLst/>
          </a:prstGeom>
          <a:solidFill>
            <a:srgbClr val="D3B9A5"/>
          </a:solidFill>
          <a:ln/>
        </p:spPr>
        <p:txBody>
          <a:bodyPr/>
          <a:lstStyle/>
          <a:p>
            <a:endParaRPr lang="ko-KR" altLang="en-US"/>
          </a:p>
        </p:txBody>
      </p:sp>
      <p:sp>
        <p:nvSpPr>
          <p:cNvPr id="150" name="Shape 147"/>
          <p:cNvSpPr/>
          <p:nvPr/>
        </p:nvSpPr>
        <p:spPr>
          <a:xfrm>
            <a:off x="7752792" y="3727995"/>
            <a:ext cx="9525" cy="314165"/>
          </a:xfrm>
          <a:prstGeom prst="rect">
            <a:avLst/>
          </a:prstGeom>
          <a:solidFill>
            <a:srgbClr val="D3B9A5"/>
          </a:solidFill>
          <a:ln/>
        </p:spPr>
        <p:txBody>
          <a:bodyPr/>
          <a:lstStyle/>
          <a:p>
            <a:endParaRPr lang="ko-KR" altLang="en-US"/>
          </a:p>
        </p:txBody>
      </p:sp>
      <p:sp>
        <p:nvSpPr>
          <p:cNvPr id="151" name="Text 148"/>
          <p:cNvSpPr/>
          <p:nvPr/>
        </p:nvSpPr>
        <p:spPr>
          <a:xfrm>
            <a:off x="7777059" y="376178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17대질병</a:t>
            </a:r>
            <a:endParaRPr lang="en-US" sz="1013" dirty="0"/>
          </a:p>
        </p:txBody>
      </p:sp>
      <p:sp>
        <p:nvSpPr>
          <p:cNvPr id="152" name="Shape 149"/>
          <p:cNvSpPr/>
          <p:nvPr/>
        </p:nvSpPr>
        <p:spPr>
          <a:xfrm>
            <a:off x="8955161" y="3727995"/>
            <a:ext cx="1202776" cy="314165"/>
          </a:xfrm>
          <a:prstGeom prst="rect">
            <a:avLst/>
          </a:prstGeom>
          <a:solidFill>
            <a:srgbClr val="FFFFFF"/>
          </a:solidFill>
          <a:ln/>
        </p:spPr>
        <p:txBody>
          <a:bodyPr/>
          <a:lstStyle/>
          <a:p>
            <a:endParaRPr lang="ko-KR" altLang="en-US"/>
          </a:p>
        </p:txBody>
      </p:sp>
      <p:sp>
        <p:nvSpPr>
          <p:cNvPr id="153" name="Shape 150"/>
          <p:cNvSpPr/>
          <p:nvPr/>
        </p:nvSpPr>
        <p:spPr>
          <a:xfrm>
            <a:off x="8955161" y="3727995"/>
            <a:ext cx="1202776" cy="9525"/>
          </a:xfrm>
          <a:prstGeom prst="rect">
            <a:avLst/>
          </a:prstGeom>
          <a:solidFill>
            <a:srgbClr val="D3B9A5"/>
          </a:solidFill>
          <a:ln/>
        </p:spPr>
        <p:txBody>
          <a:bodyPr/>
          <a:lstStyle/>
          <a:p>
            <a:endParaRPr lang="ko-KR" altLang="en-US"/>
          </a:p>
        </p:txBody>
      </p:sp>
      <p:sp>
        <p:nvSpPr>
          <p:cNvPr id="154" name="Shape 151"/>
          <p:cNvSpPr/>
          <p:nvPr/>
        </p:nvSpPr>
        <p:spPr>
          <a:xfrm>
            <a:off x="8955161" y="3727995"/>
            <a:ext cx="9525" cy="314165"/>
          </a:xfrm>
          <a:prstGeom prst="rect">
            <a:avLst/>
          </a:prstGeom>
          <a:solidFill>
            <a:srgbClr val="D3B9A5"/>
          </a:solidFill>
          <a:ln/>
        </p:spPr>
        <p:txBody>
          <a:bodyPr/>
          <a:lstStyle/>
          <a:p>
            <a:endParaRPr lang="ko-KR" altLang="en-US"/>
          </a:p>
        </p:txBody>
      </p:sp>
      <p:sp>
        <p:nvSpPr>
          <p:cNvPr id="155" name="Text 152"/>
          <p:cNvSpPr/>
          <p:nvPr/>
        </p:nvSpPr>
        <p:spPr>
          <a:xfrm>
            <a:off x="8979428" y="3761787"/>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1,000만</a:t>
            </a:r>
            <a:endParaRPr lang="en-US" sz="1013" dirty="0"/>
          </a:p>
        </p:txBody>
      </p:sp>
      <p:sp>
        <p:nvSpPr>
          <p:cNvPr id="156" name="Shape 153"/>
          <p:cNvSpPr/>
          <p:nvPr/>
        </p:nvSpPr>
        <p:spPr>
          <a:xfrm>
            <a:off x="2943317" y="4042160"/>
            <a:ext cx="1202369" cy="314165"/>
          </a:xfrm>
          <a:prstGeom prst="rect">
            <a:avLst/>
          </a:prstGeom>
          <a:solidFill>
            <a:srgbClr val="F8E1D0"/>
          </a:solidFill>
          <a:ln/>
        </p:spPr>
        <p:txBody>
          <a:bodyPr/>
          <a:lstStyle/>
          <a:p>
            <a:endParaRPr lang="ko-KR" altLang="en-US"/>
          </a:p>
        </p:txBody>
      </p:sp>
      <p:sp>
        <p:nvSpPr>
          <p:cNvPr id="157" name="Shape 154"/>
          <p:cNvSpPr/>
          <p:nvPr/>
        </p:nvSpPr>
        <p:spPr>
          <a:xfrm>
            <a:off x="2943317" y="4042160"/>
            <a:ext cx="1202369" cy="9525"/>
          </a:xfrm>
          <a:prstGeom prst="rect">
            <a:avLst/>
          </a:prstGeom>
          <a:solidFill>
            <a:srgbClr val="D3B9A5"/>
          </a:solidFill>
          <a:ln/>
        </p:spPr>
        <p:txBody>
          <a:bodyPr/>
          <a:lstStyle/>
          <a:p>
            <a:endParaRPr lang="ko-KR" altLang="en-US"/>
          </a:p>
        </p:txBody>
      </p:sp>
      <p:sp>
        <p:nvSpPr>
          <p:cNvPr id="158" name="Shape 155"/>
          <p:cNvSpPr/>
          <p:nvPr/>
        </p:nvSpPr>
        <p:spPr>
          <a:xfrm>
            <a:off x="2943317" y="4042160"/>
            <a:ext cx="9525" cy="314165"/>
          </a:xfrm>
          <a:prstGeom prst="rect">
            <a:avLst/>
          </a:prstGeom>
          <a:solidFill>
            <a:srgbClr val="D3B9A5"/>
          </a:solidFill>
          <a:ln/>
        </p:spPr>
        <p:txBody>
          <a:bodyPr/>
          <a:lstStyle/>
          <a:p>
            <a:endParaRPr lang="ko-KR" altLang="en-US"/>
          </a:p>
        </p:txBody>
      </p:sp>
      <p:sp>
        <p:nvSpPr>
          <p:cNvPr id="159" name="Text 156"/>
          <p:cNvSpPr/>
          <p:nvPr/>
        </p:nvSpPr>
        <p:spPr>
          <a:xfrm>
            <a:off x="2967584" y="4075952"/>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23대질병</a:t>
            </a:r>
            <a:endParaRPr lang="en-US" sz="1013" dirty="0"/>
          </a:p>
        </p:txBody>
      </p:sp>
      <p:sp>
        <p:nvSpPr>
          <p:cNvPr id="160" name="Shape 157"/>
          <p:cNvSpPr/>
          <p:nvPr/>
        </p:nvSpPr>
        <p:spPr>
          <a:xfrm>
            <a:off x="4145686" y="4042160"/>
            <a:ext cx="1202369" cy="314165"/>
          </a:xfrm>
          <a:prstGeom prst="rect">
            <a:avLst/>
          </a:prstGeom>
          <a:solidFill>
            <a:srgbClr val="F8E1D0"/>
          </a:solidFill>
          <a:ln/>
        </p:spPr>
        <p:txBody>
          <a:bodyPr/>
          <a:lstStyle/>
          <a:p>
            <a:endParaRPr lang="ko-KR" altLang="en-US"/>
          </a:p>
        </p:txBody>
      </p:sp>
      <p:sp>
        <p:nvSpPr>
          <p:cNvPr id="161" name="Shape 158"/>
          <p:cNvSpPr/>
          <p:nvPr/>
        </p:nvSpPr>
        <p:spPr>
          <a:xfrm>
            <a:off x="4145686" y="4042160"/>
            <a:ext cx="1202369" cy="9525"/>
          </a:xfrm>
          <a:prstGeom prst="rect">
            <a:avLst/>
          </a:prstGeom>
          <a:solidFill>
            <a:srgbClr val="D3B9A5"/>
          </a:solidFill>
          <a:ln/>
        </p:spPr>
        <p:txBody>
          <a:bodyPr/>
          <a:lstStyle/>
          <a:p>
            <a:endParaRPr lang="ko-KR" altLang="en-US"/>
          </a:p>
        </p:txBody>
      </p:sp>
      <p:sp>
        <p:nvSpPr>
          <p:cNvPr id="162" name="Shape 159"/>
          <p:cNvSpPr/>
          <p:nvPr/>
        </p:nvSpPr>
        <p:spPr>
          <a:xfrm>
            <a:off x="4145686" y="4042160"/>
            <a:ext cx="9525" cy="314165"/>
          </a:xfrm>
          <a:prstGeom prst="rect">
            <a:avLst/>
          </a:prstGeom>
          <a:solidFill>
            <a:srgbClr val="D3B9A5"/>
          </a:solidFill>
          <a:ln/>
        </p:spPr>
        <p:txBody>
          <a:bodyPr/>
          <a:lstStyle/>
          <a:p>
            <a:endParaRPr lang="ko-KR" altLang="en-US"/>
          </a:p>
        </p:txBody>
      </p:sp>
      <p:sp>
        <p:nvSpPr>
          <p:cNvPr id="163" name="Text 160"/>
          <p:cNvSpPr/>
          <p:nvPr/>
        </p:nvSpPr>
        <p:spPr>
          <a:xfrm>
            <a:off x="4169953" y="4075952"/>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500만</a:t>
            </a:r>
            <a:endParaRPr lang="en-US" sz="1013" dirty="0"/>
          </a:p>
        </p:txBody>
      </p:sp>
      <p:sp>
        <p:nvSpPr>
          <p:cNvPr id="164" name="Shape 161"/>
          <p:cNvSpPr/>
          <p:nvPr/>
        </p:nvSpPr>
        <p:spPr>
          <a:xfrm>
            <a:off x="5348054" y="4042160"/>
            <a:ext cx="1202369" cy="314165"/>
          </a:xfrm>
          <a:prstGeom prst="rect">
            <a:avLst/>
          </a:prstGeom>
          <a:solidFill>
            <a:srgbClr val="FFFFFF"/>
          </a:solidFill>
          <a:ln/>
        </p:spPr>
        <p:txBody>
          <a:bodyPr/>
          <a:lstStyle/>
          <a:p>
            <a:endParaRPr lang="ko-KR" altLang="en-US"/>
          </a:p>
        </p:txBody>
      </p:sp>
      <p:sp>
        <p:nvSpPr>
          <p:cNvPr id="165" name="Shape 162"/>
          <p:cNvSpPr/>
          <p:nvPr/>
        </p:nvSpPr>
        <p:spPr>
          <a:xfrm>
            <a:off x="5348054" y="4042160"/>
            <a:ext cx="1202369" cy="9525"/>
          </a:xfrm>
          <a:prstGeom prst="rect">
            <a:avLst/>
          </a:prstGeom>
          <a:solidFill>
            <a:srgbClr val="D3B9A5"/>
          </a:solidFill>
          <a:ln/>
        </p:spPr>
        <p:txBody>
          <a:bodyPr/>
          <a:lstStyle/>
          <a:p>
            <a:endParaRPr lang="ko-KR" altLang="en-US"/>
          </a:p>
        </p:txBody>
      </p:sp>
      <p:sp>
        <p:nvSpPr>
          <p:cNvPr id="166" name="Shape 163"/>
          <p:cNvSpPr/>
          <p:nvPr/>
        </p:nvSpPr>
        <p:spPr>
          <a:xfrm>
            <a:off x="5348054" y="4042160"/>
            <a:ext cx="9525" cy="314165"/>
          </a:xfrm>
          <a:prstGeom prst="rect">
            <a:avLst/>
          </a:prstGeom>
          <a:solidFill>
            <a:srgbClr val="D3B9A5"/>
          </a:solidFill>
          <a:ln/>
        </p:spPr>
        <p:txBody>
          <a:bodyPr/>
          <a:lstStyle/>
          <a:p>
            <a:endParaRPr lang="ko-KR" altLang="en-US"/>
          </a:p>
        </p:txBody>
      </p:sp>
      <p:sp>
        <p:nvSpPr>
          <p:cNvPr id="167" name="Text 164"/>
          <p:cNvSpPr/>
          <p:nvPr/>
        </p:nvSpPr>
        <p:spPr>
          <a:xfrm>
            <a:off x="5372321" y="4075952"/>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5대기관 비관혈</a:t>
            </a:r>
            <a:endParaRPr lang="en-US" sz="1013" dirty="0"/>
          </a:p>
        </p:txBody>
      </p:sp>
      <p:sp>
        <p:nvSpPr>
          <p:cNvPr id="168" name="Shape 165"/>
          <p:cNvSpPr/>
          <p:nvPr/>
        </p:nvSpPr>
        <p:spPr>
          <a:xfrm>
            <a:off x="6550423" y="4042160"/>
            <a:ext cx="1202369" cy="314165"/>
          </a:xfrm>
          <a:prstGeom prst="rect">
            <a:avLst/>
          </a:prstGeom>
          <a:solidFill>
            <a:srgbClr val="FFFFFF"/>
          </a:solidFill>
          <a:ln/>
        </p:spPr>
        <p:txBody>
          <a:bodyPr/>
          <a:lstStyle/>
          <a:p>
            <a:endParaRPr lang="ko-KR" altLang="en-US"/>
          </a:p>
        </p:txBody>
      </p:sp>
      <p:sp>
        <p:nvSpPr>
          <p:cNvPr id="169" name="Shape 166"/>
          <p:cNvSpPr/>
          <p:nvPr/>
        </p:nvSpPr>
        <p:spPr>
          <a:xfrm>
            <a:off x="6550423" y="4042160"/>
            <a:ext cx="1202369" cy="9525"/>
          </a:xfrm>
          <a:prstGeom prst="rect">
            <a:avLst/>
          </a:prstGeom>
          <a:solidFill>
            <a:srgbClr val="D3B9A5"/>
          </a:solidFill>
          <a:ln/>
        </p:spPr>
        <p:txBody>
          <a:bodyPr/>
          <a:lstStyle/>
          <a:p>
            <a:endParaRPr lang="ko-KR" altLang="en-US"/>
          </a:p>
        </p:txBody>
      </p:sp>
      <p:sp>
        <p:nvSpPr>
          <p:cNvPr id="170" name="Shape 167"/>
          <p:cNvSpPr/>
          <p:nvPr/>
        </p:nvSpPr>
        <p:spPr>
          <a:xfrm>
            <a:off x="6550423" y="4042160"/>
            <a:ext cx="9525" cy="314165"/>
          </a:xfrm>
          <a:prstGeom prst="rect">
            <a:avLst/>
          </a:prstGeom>
          <a:solidFill>
            <a:srgbClr val="D3B9A5"/>
          </a:solidFill>
          <a:ln/>
        </p:spPr>
        <p:txBody>
          <a:bodyPr/>
          <a:lstStyle/>
          <a:p>
            <a:endParaRPr lang="ko-KR" altLang="en-US"/>
          </a:p>
        </p:txBody>
      </p:sp>
      <p:sp>
        <p:nvSpPr>
          <p:cNvPr id="171" name="Text 168"/>
          <p:cNvSpPr/>
          <p:nvPr/>
        </p:nvSpPr>
        <p:spPr>
          <a:xfrm>
            <a:off x="6574690" y="4075952"/>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2,500만</a:t>
            </a:r>
            <a:endParaRPr lang="en-US" sz="1013" dirty="0"/>
          </a:p>
        </p:txBody>
      </p:sp>
      <p:sp>
        <p:nvSpPr>
          <p:cNvPr id="172" name="Shape 169"/>
          <p:cNvSpPr/>
          <p:nvPr/>
        </p:nvSpPr>
        <p:spPr>
          <a:xfrm>
            <a:off x="7752792" y="4042160"/>
            <a:ext cx="1202369" cy="314165"/>
          </a:xfrm>
          <a:prstGeom prst="rect">
            <a:avLst/>
          </a:prstGeom>
          <a:solidFill>
            <a:srgbClr val="FFFFFF"/>
          </a:solidFill>
          <a:ln/>
        </p:spPr>
        <p:txBody>
          <a:bodyPr/>
          <a:lstStyle/>
          <a:p>
            <a:endParaRPr lang="ko-KR" altLang="en-US"/>
          </a:p>
        </p:txBody>
      </p:sp>
      <p:sp>
        <p:nvSpPr>
          <p:cNvPr id="173" name="Shape 170"/>
          <p:cNvSpPr/>
          <p:nvPr/>
        </p:nvSpPr>
        <p:spPr>
          <a:xfrm>
            <a:off x="7752792" y="4042160"/>
            <a:ext cx="1202369" cy="9525"/>
          </a:xfrm>
          <a:prstGeom prst="rect">
            <a:avLst/>
          </a:prstGeom>
          <a:solidFill>
            <a:srgbClr val="D3B9A5"/>
          </a:solidFill>
          <a:ln/>
        </p:spPr>
        <p:txBody>
          <a:bodyPr/>
          <a:lstStyle/>
          <a:p>
            <a:endParaRPr lang="ko-KR" altLang="en-US"/>
          </a:p>
        </p:txBody>
      </p:sp>
      <p:sp>
        <p:nvSpPr>
          <p:cNvPr id="174" name="Shape 171"/>
          <p:cNvSpPr/>
          <p:nvPr/>
        </p:nvSpPr>
        <p:spPr>
          <a:xfrm>
            <a:off x="7752792" y="4042160"/>
            <a:ext cx="9525" cy="314165"/>
          </a:xfrm>
          <a:prstGeom prst="rect">
            <a:avLst/>
          </a:prstGeom>
          <a:solidFill>
            <a:srgbClr val="D3B9A5"/>
          </a:solidFill>
          <a:ln/>
        </p:spPr>
        <p:txBody>
          <a:bodyPr/>
          <a:lstStyle/>
          <a:p>
            <a:endParaRPr lang="ko-KR" altLang="en-US"/>
          </a:p>
        </p:txBody>
      </p:sp>
      <p:sp>
        <p:nvSpPr>
          <p:cNvPr id="175" name="Text 172"/>
          <p:cNvSpPr/>
          <p:nvPr/>
        </p:nvSpPr>
        <p:spPr>
          <a:xfrm>
            <a:off x="7777059" y="4075952"/>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14대질병</a:t>
            </a:r>
            <a:endParaRPr lang="en-US" sz="1013" dirty="0"/>
          </a:p>
        </p:txBody>
      </p:sp>
      <p:sp>
        <p:nvSpPr>
          <p:cNvPr id="176" name="Shape 173"/>
          <p:cNvSpPr/>
          <p:nvPr/>
        </p:nvSpPr>
        <p:spPr>
          <a:xfrm>
            <a:off x="8955161" y="4042160"/>
            <a:ext cx="1202776" cy="314165"/>
          </a:xfrm>
          <a:prstGeom prst="rect">
            <a:avLst/>
          </a:prstGeom>
          <a:solidFill>
            <a:srgbClr val="FFFFFF"/>
          </a:solidFill>
          <a:ln/>
        </p:spPr>
        <p:txBody>
          <a:bodyPr/>
          <a:lstStyle/>
          <a:p>
            <a:endParaRPr lang="ko-KR" altLang="en-US"/>
          </a:p>
        </p:txBody>
      </p:sp>
      <p:sp>
        <p:nvSpPr>
          <p:cNvPr id="177" name="Shape 174"/>
          <p:cNvSpPr/>
          <p:nvPr/>
        </p:nvSpPr>
        <p:spPr>
          <a:xfrm>
            <a:off x="8955161" y="4042160"/>
            <a:ext cx="1202776" cy="9525"/>
          </a:xfrm>
          <a:prstGeom prst="rect">
            <a:avLst/>
          </a:prstGeom>
          <a:solidFill>
            <a:srgbClr val="D3B9A5"/>
          </a:solidFill>
          <a:ln/>
        </p:spPr>
        <p:txBody>
          <a:bodyPr/>
          <a:lstStyle/>
          <a:p>
            <a:endParaRPr lang="ko-KR" altLang="en-US"/>
          </a:p>
        </p:txBody>
      </p:sp>
      <p:sp>
        <p:nvSpPr>
          <p:cNvPr id="178" name="Shape 175"/>
          <p:cNvSpPr/>
          <p:nvPr/>
        </p:nvSpPr>
        <p:spPr>
          <a:xfrm>
            <a:off x="8955161" y="4042160"/>
            <a:ext cx="9525" cy="314165"/>
          </a:xfrm>
          <a:prstGeom prst="rect">
            <a:avLst/>
          </a:prstGeom>
          <a:solidFill>
            <a:srgbClr val="D3B9A5"/>
          </a:solidFill>
          <a:ln/>
        </p:spPr>
        <p:txBody>
          <a:bodyPr/>
          <a:lstStyle/>
          <a:p>
            <a:endParaRPr lang="ko-KR" altLang="en-US"/>
          </a:p>
        </p:txBody>
      </p:sp>
      <p:sp>
        <p:nvSpPr>
          <p:cNvPr id="179" name="Text 176"/>
          <p:cNvSpPr/>
          <p:nvPr/>
        </p:nvSpPr>
        <p:spPr>
          <a:xfrm>
            <a:off x="8979428" y="4075952"/>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300만</a:t>
            </a:r>
            <a:endParaRPr lang="en-US" sz="1013" dirty="0"/>
          </a:p>
        </p:txBody>
      </p:sp>
      <p:sp>
        <p:nvSpPr>
          <p:cNvPr id="180" name="Shape 177"/>
          <p:cNvSpPr/>
          <p:nvPr/>
        </p:nvSpPr>
        <p:spPr>
          <a:xfrm>
            <a:off x="2943317" y="4356325"/>
            <a:ext cx="1202369" cy="314165"/>
          </a:xfrm>
          <a:prstGeom prst="rect">
            <a:avLst/>
          </a:prstGeom>
          <a:solidFill>
            <a:srgbClr val="F8E1D0"/>
          </a:solidFill>
          <a:ln/>
        </p:spPr>
        <p:txBody>
          <a:bodyPr/>
          <a:lstStyle/>
          <a:p>
            <a:endParaRPr lang="ko-KR" altLang="en-US"/>
          </a:p>
        </p:txBody>
      </p:sp>
      <p:sp>
        <p:nvSpPr>
          <p:cNvPr id="181" name="Shape 178"/>
          <p:cNvSpPr/>
          <p:nvPr/>
        </p:nvSpPr>
        <p:spPr>
          <a:xfrm>
            <a:off x="2943317" y="4356325"/>
            <a:ext cx="1202369" cy="9525"/>
          </a:xfrm>
          <a:prstGeom prst="rect">
            <a:avLst/>
          </a:prstGeom>
          <a:solidFill>
            <a:srgbClr val="D3B9A5"/>
          </a:solidFill>
          <a:ln/>
        </p:spPr>
        <p:txBody>
          <a:bodyPr/>
          <a:lstStyle/>
          <a:p>
            <a:endParaRPr lang="ko-KR" altLang="en-US"/>
          </a:p>
        </p:txBody>
      </p:sp>
      <p:sp>
        <p:nvSpPr>
          <p:cNvPr id="182" name="Shape 179"/>
          <p:cNvSpPr/>
          <p:nvPr/>
        </p:nvSpPr>
        <p:spPr>
          <a:xfrm>
            <a:off x="2943317" y="4356325"/>
            <a:ext cx="9525" cy="314165"/>
          </a:xfrm>
          <a:prstGeom prst="rect">
            <a:avLst/>
          </a:prstGeom>
          <a:solidFill>
            <a:srgbClr val="D3B9A5"/>
          </a:solidFill>
          <a:ln/>
        </p:spPr>
        <p:txBody>
          <a:bodyPr/>
          <a:lstStyle/>
          <a:p>
            <a:endParaRPr lang="ko-KR" altLang="en-US"/>
          </a:p>
        </p:txBody>
      </p:sp>
      <p:sp>
        <p:nvSpPr>
          <p:cNvPr id="183" name="Text 180"/>
          <p:cNvSpPr/>
          <p:nvPr/>
        </p:nvSpPr>
        <p:spPr>
          <a:xfrm>
            <a:off x="2967584" y="439011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22대질병</a:t>
            </a:r>
            <a:endParaRPr lang="en-US" sz="1013" dirty="0"/>
          </a:p>
        </p:txBody>
      </p:sp>
      <p:sp>
        <p:nvSpPr>
          <p:cNvPr id="184" name="Shape 181"/>
          <p:cNvSpPr/>
          <p:nvPr/>
        </p:nvSpPr>
        <p:spPr>
          <a:xfrm>
            <a:off x="4145686" y="4356325"/>
            <a:ext cx="1202369" cy="314165"/>
          </a:xfrm>
          <a:prstGeom prst="rect">
            <a:avLst/>
          </a:prstGeom>
          <a:solidFill>
            <a:srgbClr val="F8E1D0"/>
          </a:solidFill>
          <a:ln/>
        </p:spPr>
        <p:txBody>
          <a:bodyPr/>
          <a:lstStyle/>
          <a:p>
            <a:endParaRPr lang="ko-KR" altLang="en-US"/>
          </a:p>
        </p:txBody>
      </p:sp>
      <p:sp>
        <p:nvSpPr>
          <p:cNvPr id="185" name="Shape 182"/>
          <p:cNvSpPr/>
          <p:nvPr/>
        </p:nvSpPr>
        <p:spPr>
          <a:xfrm>
            <a:off x="4145686" y="4356325"/>
            <a:ext cx="1202369" cy="9525"/>
          </a:xfrm>
          <a:prstGeom prst="rect">
            <a:avLst/>
          </a:prstGeom>
          <a:solidFill>
            <a:srgbClr val="D3B9A5"/>
          </a:solidFill>
          <a:ln/>
        </p:spPr>
        <p:txBody>
          <a:bodyPr/>
          <a:lstStyle/>
          <a:p>
            <a:endParaRPr lang="ko-KR" altLang="en-US"/>
          </a:p>
        </p:txBody>
      </p:sp>
      <p:sp>
        <p:nvSpPr>
          <p:cNvPr id="186" name="Shape 183"/>
          <p:cNvSpPr/>
          <p:nvPr/>
        </p:nvSpPr>
        <p:spPr>
          <a:xfrm>
            <a:off x="4145686" y="4356325"/>
            <a:ext cx="9525" cy="314165"/>
          </a:xfrm>
          <a:prstGeom prst="rect">
            <a:avLst/>
          </a:prstGeom>
          <a:solidFill>
            <a:srgbClr val="D3B9A5"/>
          </a:solidFill>
          <a:ln/>
        </p:spPr>
        <p:txBody>
          <a:bodyPr/>
          <a:lstStyle/>
          <a:p>
            <a:endParaRPr lang="ko-KR" altLang="en-US"/>
          </a:p>
        </p:txBody>
      </p:sp>
      <p:sp>
        <p:nvSpPr>
          <p:cNvPr id="187" name="Text 184"/>
          <p:cNvSpPr/>
          <p:nvPr/>
        </p:nvSpPr>
        <p:spPr>
          <a:xfrm>
            <a:off x="4169953" y="439011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200만</a:t>
            </a:r>
            <a:endParaRPr lang="en-US" sz="1013" dirty="0"/>
          </a:p>
        </p:txBody>
      </p:sp>
      <p:sp>
        <p:nvSpPr>
          <p:cNvPr id="188" name="Shape 185"/>
          <p:cNvSpPr/>
          <p:nvPr/>
        </p:nvSpPr>
        <p:spPr>
          <a:xfrm>
            <a:off x="5348054" y="4356325"/>
            <a:ext cx="1202369" cy="314165"/>
          </a:xfrm>
          <a:prstGeom prst="rect">
            <a:avLst/>
          </a:prstGeom>
          <a:solidFill>
            <a:srgbClr val="FFFFFF"/>
          </a:solidFill>
          <a:ln/>
        </p:spPr>
        <p:txBody>
          <a:bodyPr/>
          <a:lstStyle/>
          <a:p>
            <a:endParaRPr lang="ko-KR" altLang="en-US"/>
          </a:p>
        </p:txBody>
      </p:sp>
      <p:sp>
        <p:nvSpPr>
          <p:cNvPr id="189" name="Shape 186"/>
          <p:cNvSpPr/>
          <p:nvPr/>
        </p:nvSpPr>
        <p:spPr>
          <a:xfrm>
            <a:off x="5348054" y="4356325"/>
            <a:ext cx="1202369" cy="9525"/>
          </a:xfrm>
          <a:prstGeom prst="rect">
            <a:avLst/>
          </a:prstGeom>
          <a:solidFill>
            <a:srgbClr val="D3B9A5"/>
          </a:solidFill>
          <a:ln/>
        </p:spPr>
        <p:txBody>
          <a:bodyPr/>
          <a:lstStyle/>
          <a:p>
            <a:endParaRPr lang="ko-KR" altLang="en-US"/>
          </a:p>
        </p:txBody>
      </p:sp>
      <p:sp>
        <p:nvSpPr>
          <p:cNvPr id="190" name="Shape 187"/>
          <p:cNvSpPr/>
          <p:nvPr/>
        </p:nvSpPr>
        <p:spPr>
          <a:xfrm>
            <a:off x="5348054" y="4356325"/>
            <a:ext cx="9525" cy="314165"/>
          </a:xfrm>
          <a:prstGeom prst="rect">
            <a:avLst/>
          </a:prstGeom>
          <a:solidFill>
            <a:srgbClr val="D3B9A5"/>
          </a:solidFill>
          <a:ln/>
        </p:spPr>
        <p:txBody>
          <a:bodyPr/>
          <a:lstStyle/>
          <a:p>
            <a:endParaRPr lang="ko-KR" altLang="en-US"/>
          </a:p>
        </p:txBody>
      </p:sp>
      <p:sp>
        <p:nvSpPr>
          <p:cNvPr id="191" name="Text 188"/>
          <p:cNvSpPr/>
          <p:nvPr/>
        </p:nvSpPr>
        <p:spPr>
          <a:xfrm>
            <a:off x="5372321" y="439011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22대질병</a:t>
            </a:r>
            <a:endParaRPr lang="en-US" sz="1013" dirty="0"/>
          </a:p>
        </p:txBody>
      </p:sp>
      <p:sp>
        <p:nvSpPr>
          <p:cNvPr id="192" name="Shape 189"/>
          <p:cNvSpPr/>
          <p:nvPr/>
        </p:nvSpPr>
        <p:spPr>
          <a:xfrm>
            <a:off x="6550423" y="4356325"/>
            <a:ext cx="1202369" cy="314165"/>
          </a:xfrm>
          <a:prstGeom prst="rect">
            <a:avLst/>
          </a:prstGeom>
          <a:solidFill>
            <a:srgbClr val="FFFFFF"/>
          </a:solidFill>
          <a:ln/>
        </p:spPr>
        <p:txBody>
          <a:bodyPr/>
          <a:lstStyle/>
          <a:p>
            <a:endParaRPr lang="ko-KR" altLang="en-US"/>
          </a:p>
        </p:txBody>
      </p:sp>
      <p:sp>
        <p:nvSpPr>
          <p:cNvPr id="193" name="Shape 190"/>
          <p:cNvSpPr/>
          <p:nvPr/>
        </p:nvSpPr>
        <p:spPr>
          <a:xfrm>
            <a:off x="6550423" y="4356325"/>
            <a:ext cx="1202369" cy="9525"/>
          </a:xfrm>
          <a:prstGeom prst="rect">
            <a:avLst/>
          </a:prstGeom>
          <a:solidFill>
            <a:srgbClr val="D3B9A5"/>
          </a:solidFill>
          <a:ln/>
        </p:spPr>
        <p:txBody>
          <a:bodyPr/>
          <a:lstStyle/>
          <a:p>
            <a:endParaRPr lang="ko-KR" altLang="en-US"/>
          </a:p>
        </p:txBody>
      </p:sp>
      <p:sp>
        <p:nvSpPr>
          <p:cNvPr id="194" name="Shape 191"/>
          <p:cNvSpPr/>
          <p:nvPr/>
        </p:nvSpPr>
        <p:spPr>
          <a:xfrm>
            <a:off x="6550423" y="4356325"/>
            <a:ext cx="9525" cy="314165"/>
          </a:xfrm>
          <a:prstGeom prst="rect">
            <a:avLst/>
          </a:prstGeom>
          <a:solidFill>
            <a:srgbClr val="D3B9A5"/>
          </a:solidFill>
          <a:ln/>
        </p:spPr>
        <p:txBody>
          <a:bodyPr/>
          <a:lstStyle/>
          <a:p>
            <a:endParaRPr lang="ko-KR" altLang="en-US"/>
          </a:p>
        </p:txBody>
      </p:sp>
      <p:sp>
        <p:nvSpPr>
          <p:cNvPr id="195" name="Text 192"/>
          <p:cNvSpPr/>
          <p:nvPr/>
        </p:nvSpPr>
        <p:spPr>
          <a:xfrm>
            <a:off x="6574690" y="439011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500만</a:t>
            </a:r>
            <a:endParaRPr lang="en-US" sz="1013" dirty="0"/>
          </a:p>
        </p:txBody>
      </p:sp>
      <p:sp>
        <p:nvSpPr>
          <p:cNvPr id="196" name="Shape 193"/>
          <p:cNvSpPr/>
          <p:nvPr/>
        </p:nvSpPr>
        <p:spPr>
          <a:xfrm>
            <a:off x="7752792" y="4356325"/>
            <a:ext cx="1202369" cy="314165"/>
          </a:xfrm>
          <a:prstGeom prst="rect">
            <a:avLst/>
          </a:prstGeom>
          <a:solidFill>
            <a:srgbClr val="FFFFFF"/>
          </a:solidFill>
          <a:ln/>
        </p:spPr>
        <p:txBody>
          <a:bodyPr/>
          <a:lstStyle/>
          <a:p>
            <a:endParaRPr lang="ko-KR" altLang="en-US"/>
          </a:p>
        </p:txBody>
      </p:sp>
      <p:sp>
        <p:nvSpPr>
          <p:cNvPr id="197" name="Shape 194"/>
          <p:cNvSpPr/>
          <p:nvPr/>
        </p:nvSpPr>
        <p:spPr>
          <a:xfrm>
            <a:off x="7752792" y="4356325"/>
            <a:ext cx="1202369" cy="9525"/>
          </a:xfrm>
          <a:prstGeom prst="rect">
            <a:avLst/>
          </a:prstGeom>
          <a:solidFill>
            <a:srgbClr val="D3B9A5"/>
          </a:solidFill>
          <a:ln/>
        </p:spPr>
        <p:txBody>
          <a:bodyPr/>
          <a:lstStyle/>
          <a:p>
            <a:endParaRPr lang="ko-KR" altLang="en-US"/>
          </a:p>
        </p:txBody>
      </p:sp>
      <p:sp>
        <p:nvSpPr>
          <p:cNvPr id="198" name="Shape 195"/>
          <p:cNvSpPr/>
          <p:nvPr/>
        </p:nvSpPr>
        <p:spPr>
          <a:xfrm>
            <a:off x="7752792" y="4356325"/>
            <a:ext cx="9525" cy="314165"/>
          </a:xfrm>
          <a:prstGeom prst="rect">
            <a:avLst/>
          </a:prstGeom>
          <a:solidFill>
            <a:srgbClr val="D3B9A5"/>
          </a:solidFill>
          <a:ln/>
        </p:spPr>
        <p:txBody>
          <a:bodyPr/>
          <a:lstStyle/>
          <a:p>
            <a:endParaRPr lang="ko-KR" altLang="en-US"/>
          </a:p>
        </p:txBody>
      </p:sp>
      <p:sp>
        <p:nvSpPr>
          <p:cNvPr id="199" name="Text 196"/>
          <p:cNvSpPr/>
          <p:nvPr/>
        </p:nvSpPr>
        <p:spPr>
          <a:xfrm>
            <a:off x="7777059" y="4390117"/>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26대질병</a:t>
            </a:r>
            <a:endParaRPr lang="en-US" sz="1013" dirty="0"/>
          </a:p>
        </p:txBody>
      </p:sp>
      <p:sp>
        <p:nvSpPr>
          <p:cNvPr id="200" name="Shape 197"/>
          <p:cNvSpPr/>
          <p:nvPr/>
        </p:nvSpPr>
        <p:spPr>
          <a:xfrm>
            <a:off x="8955161" y="4356325"/>
            <a:ext cx="1202776" cy="314165"/>
          </a:xfrm>
          <a:prstGeom prst="rect">
            <a:avLst/>
          </a:prstGeom>
          <a:solidFill>
            <a:srgbClr val="FFFFFF"/>
          </a:solidFill>
          <a:ln/>
        </p:spPr>
        <p:txBody>
          <a:bodyPr/>
          <a:lstStyle/>
          <a:p>
            <a:endParaRPr lang="ko-KR" altLang="en-US"/>
          </a:p>
        </p:txBody>
      </p:sp>
      <p:sp>
        <p:nvSpPr>
          <p:cNvPr id="201" name="Shape 198"/>
          <p:cNvSpPr/>
          <p:nvPr/>
        </p:nvSpPr>
        <p:spPr>
          <a:xfrm>
            <a:off x="8955161" y="4356325"/>
            <a:ext cx="1202776" cy="9525"/>
          </a:xfrm>
          <a:prstGeom prst="rect">
            <a:avLst/>
          </a:prstGeom>
          <a:solidFill>
            <a:srgbClr val="D3B9A5"/>
          </a:solidFill>
          <a:ln/>
        </p:spPr>
        <p:txBody>
          <a:bodyPr/>
          <a:lstStyle/>
          <a:p>
            <a:endParaRPr lang="ko-KR" altLang="en-US"/>
          </a:p>
        </p:txBody>
      </p:sp>
      <p:sp>
        <p:nvSpPr>
          <p:cNvPr id="202" name="Shape 199"/>
          <p:cNvSpPr/>
          <p:nvPr/>
        </p:nvSpPr>
        <p:spPr>
          <a:xfrm>
            <a:off x="8955161" y="4356325"/>
            <a:ext cx="9525" cy="314165"/>
          </a:xfrm>
          <a:prstGeom prst="rect">
            <a:avLst/>
          </a:prstGeom>
          <a:solidFill>
            <a:srgbClr val="D3B9A5"/>
          </a:solidFill>
          <a:ln/>
        </p:spPr>
        <p:txBody>
          <a:bodyPr/>
          <a:lstStyle/>
          <a:p>
            <a:endParaRPr lang="ko-KR" altLang="en-US"/>
          </a:p>
        </p:txBody>
      </p:sp>
      <p:sp>
        <p:nvSpPr>
          <p:cNvPr id="203" name="Text 200"/>
          <p:cNvSpPr/>
          <p:nvPr/>
        </p:nvSpPr>
        <p:spPr>
          <a:xfrm>
            <a:off x="8979428" y="4390117"/>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100만</a:t>
            </a:r>
            <a:endParaRPr lang="en-US" sz="1013" dirty="0"/>
          </a:p>
        </p:txBody>
      </p:sp>
      <p:sp>
        <p:nvSpPr>
          <p:cNvPr id="204" name="Shape 201"/>
          <p:cNvSpPr/>
          <p:nvPr/>
        </p:nvSpPr>
        <p:spPr>
          <a:xfrm>
            <a:off x="2943317" y="4670489"/>
            <a:ext cx="1202369" cy="314165"/>
          </a:xfrm>
          <a:prstGeom prst="rect">
            <a:avLst/>
          </a:prstGeom>
          <a:solidFill>
            <a:srgbClr val="F8E1D0"/>
          </a:solidFill>
          <a:ln/>
        </p:spPr>
        <p:txBody>
          <a:bodyPr/>
          <a:lstStyle/>
          <a:p>
            <a:endParaRPr lang="ko-KR" altLang="en-US"/>
          </a:p>
        </p:txBody>
      </p:sp>
      <p:sp>
        <p:nvSpPr>
          <p:cNvPr id="205" name="Shape 202"/>
          <p:cNvSpPr/>
          <p:nvPr/>
        </p:nvSpPr>
        <p:spPr>
          <a:xfrm>
            <a:off x="2943317" y="4670489"/>
            <a:ext cx="1202369" cy="9525"/>
          </a:xfrm>
          <a:prstGeom prst="rect">
            <a:avLst/>
          </a:prstGeom>
          <a:solidFill>
            <a:srgbClr val="D3B9A5"/>
          </a:solidFill>
          <a:ln/>
        </p:spPr>
        <p:txBody>
          <a:bodyPr/>
          <a:lstStyle/>
          <a:p>
            <a:endParaRPr lang="ko-KR" altLang="en-US"/>
          </a:p>
        </p:txBody>
      </p:sp>
      <p:sp>
        <p:nvSpPr>
          <p:cNvPr id="206" name="Shape 203"/>
          <p:cNvSpPr/>
          <p:nvPr/>
        </p:nvSpPr>
        <p:spPr>
          <a:xfrm>
            <a:off x="2943317" y="4670489"/>
            <a:ext cx="9525" cy="314165"/>
          </a:xfrm>
          <a:prstGeom prst="rect">
            <a:avLst/>
          </a:prstGeom>
          <a:solidFill>
            <a:srgbClr val="D3B9A5"/>
          </a:solidFill>
          <a:ln/>
        </p:spPr>
        <p:txBody>
          <a:bodyPr/>
          <a:lstStyle/>
          <a:p>
            <a:endParaRPr lang="ko-KR" altLang="en-US"/>
          </a:p>
        </p:txBody>
      </p:sp>
      <p:sp>
        <p:nvSpPr>
          <p:cNvPr id="207" name="Text 204"/>
          <p:cNvSpPr/>
          <p:nvPr/>
        </p:nvSpPr>
        <p:spPr>
          <a:xfrm>
            <a:off x="2967584" y="4704281"/>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49대질병</a:t>
            </a:r>
            <a:endParaRPr lang="en-US" sz="1013" dirty="0"/>
          </a:p>
        </p:txBody>
      </p:sp>
      <p:sp>
        <p:nvSpPr>
          <p:cNvPr id="208" name="Shape 205"/>
          <p:cNvSpPr/>
          <p:nvPr/>
        </p:nvSpPr>
        <p:spPr>
          <a:xfrm>
            <a:off x="4145686" y="4670489"/>
            <a:ext cx="1202369" cy="314165"/>
          </a:xfrm>
          <a:prstGeom prst="rect">
            <a:avLst/>
          </a:prstGeom>
          <a:solidFill>
            <a:srgbClr val="F8E1D0"/>
          </a:solidFill>
          <a:ln/>
        </p:spPr>
        <p:txBody>
          <a:bodyPr/>
          <a:lstStyle/>
          <a:p>
            <a:endParaRPr lang="ko-KR" altLang="en-US"/>
          </a:p>
        </p:txBody>
      </p:sp>
      <p:sp>
        <p:nvSpPr>
          <p:cNvPr id="209" name="Shape 206"/>
          <p:cNvSpPr/>
          <p:nvPr/>
        </p:nvSpPr>
        <p:spPr>
          <a:xfrm>
            <a:off x="4145686" y="4670489"/>
            <a:ext cx="1202369" cy="9525"/>
          </a:xfrm>
          <a:prstGeom prst="rect">
            <a:avLst/>
          </a:prstGeom>
          <a:solidFill>
            <a:srgbClr val="D3B9A5"/>
          </a:solidFill>
          <a:ln/>
        </p:spPr>
        <p:txBody>
          <a:bodyPr/>
          <a:lstStyle/>
          <a:p>
            <a:endParaRPr lang="ko-KR" altLang="en-US"/>
          </a:p>
        </p:txBody>
      </p:sp>
      <p:sp>
        <p:nvSpPr>
          <p:cNvPr id="210" name="Shape 207"/>
          <p:cNvSpPr/>
          <p:nvPr/>
        </p:nvSpPr>
        <p:spPr>
          <a:xfrm>
            <a:off x="4145686" y="4670489"/>
            <a:ext cx="9525" cy="314165"/>
          </a:xfrm>
          <a:prstGeom prst="rect">
            <a:avLst/>
          </a:prstGeom>
          <a:solidFill>
            <a:srgbClr val="D3B9A5"/>
          </a:solidFill>
          <a:ln/>
        </p:spPr>
        <p:txBody>
          <a:bodyPr/>
          <a:lstStyle/>
          <a:p>
            <a:endParaRPr lang="ko-KR" altLang="en-US"/>
          </a:p>
        </p:txBody>
      </p:sp>
      <p:sp>
        <p:nvSpPr>
          <p:cNvPr id="211" name="Text 208"/>
          <p:cNvSpPr/>
          <p:nvPr/>
        </p:nvSpPr>
        <p:spPr>
          <a:xfrm>
            <a:off x="4169953" y="4704281"/>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100만</a:t>
            </a:r>
            <a:endParaRPr lang="en-US" sz="1013" dirty="0"/>
          </a:p>
        </p:txBody>
      </p:sp>
      <p:sp>
        <p:nvSpPr>
          <p:cNvPr id="212" name="Shape 209"/>
          <p:cNvSpPr/>
          <p:nvPr/>
        </p:nvSpPr>
        <p:spPr>
          <a:xfrm>
            <a:off x="5348054" y="4670489"/>
            <a:ext cx="1202369" cy="314165"/>
          </a:xfrm>
          <a:prstGeom prst="rect">
            <a:avLst/>
          </a:prstGeom>
          <a:solidFill>
            <a:srgbClr val="FFFFFF"/>
          </a:solidFill>
          <a:ln/>
        </p:spPr>
        <p:txBody>
          <a:bodyPr/>
          <a:lstStyle/>
          <a:p>
            <a:endParaRPr lang="ko-KR" altLang="en-US"/>
          </a:p>
        </p:txBody>
      </p:sp>
      <p:sp>
        <p:nvSpPr>
          <p:cNvPr id="213" name="Shape 210"/>
          <p:cNvSpPr/>
          <p:nvPr/>
        </p:nvSpPr>
        <p:spPr>
          <a:xfrm>
            <a:off x="5348054" y="4670489"/>
            <a:ext cx="1202369" cy="9525"/>
          </a:xfrm>
          <a:prstGeom prst="rect">
            <a:avLst/>
          </a:prstGeom>
          <a:solidFill>
            <a:srgbClr val="D3B9A5"/>
          </a:solidFill>
          <a:ln/>
        </p:spPr>
        <p:txBody>
          <a:bodyPr/>
          <a:lstStyle/>
          <a:p>
            <a:endParaRPr lang="ko-KR" altLang="en-US"/>
          </a:p>
        </p:txBody>
      </p:sp>
      <p:sp>
        <p:nvSpPr>
          <p:cNvPr id="214" name="Shape 211"/>
          <p:cNvSpPr/>
          <p:nvPr/>
        </p:nvSpPr>
        <p:spPr>
          <a:xfrm>
            <a:off x="5348054" y="4670489"/>
            <a:ext cx="9525" cy="314165"/>
          </a:xfrm>
          <a:prstGeom prst="rect">
            <a:avLst/>
          </a:prstGeom>
          <a:solidFill>
            <a:srgbClr val="D3B9A5"/>
          </a:solidFill>
          <a:ln/>
        </p:spPr>
        <p:txBody>
          <a:bodyPr/>
          <a:lstStyle/>
          <a:p>
            <a:endParaRPr lang="ko-KR" altLang="en-US"/>
          </a:p>
        </p:txBody>
      </p:sp>
      <p:sp>
        <p:nvSpPr>
          <p:cNvPr id="215" name="Text 212"/>
          <p:cNvSpPr/>
          <p:nvPr/>
        </p:nvSpPr>
        <p:spPr>
          <a:xfrm>
            <a:off x="5372321" y="4704281"/>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3대질병</a:t>
            </a:r>
            <a:endParaRPr lang="en-US" sz="1013" dirty="0"/>
          </a:p>
        </p:txBody>
      </p:sp>
      <p:sp>
        <p:nvSpPr>
          <p:cNvPr id="216" name="Shape 213"/>
          <p:cNvSpPr/>
          <p:nvPr/>
        </p:nvSpPr>
        <p:spPr>
          <a:xfrm>
            <a:off x="6550423" y="4670489"/>
            <a:ext cx="1202369" cy="314165"/>
          </a:xfrm>
          <a:prstGeom prst="rect">
            <a:avLst/>
          </a:prstGeom>
          <a:solidFill>
            <a:srgbClr val="FFFFFF"/>
          </a:solidFill>
          <a:ln/>
        </p:spPr>
        <p:txBody>
          <a:bodyPr/>
          <a:lstStyle/>
          <a:p>
            <a:endParaRPr lang="ko-KR" altLang="en-US"/>
          </a:p>
        </p:txBody>
      </p:sp>
      <p:sp>
        <p:nvSpPr>
          <p:cNvPr id="217" name="Shape 214"/>
          <p:cNvSpPr/>
          <p:nvPr/>
        </p:nvSpPr>
        <p:spPr>
          <a:xfrm>
            <a:off x="6550423" y="4670489"/>
            <a:ext cx="1202369" cy="9525"/>
          </a:xfrm>
          <a:prstGeom prst="rect">
            <a:avLst/>
          </a:prstGeom>
          <a:solidFill>
            <a:srgbClr val="D3B9A5"/>
          </a:solidFill>
          <a:ln/>
        </p:spPr>
        <p:txBody>
          <a:bodyPr/>
          <a:lstStyle/>
          <a:p>
            <a:endParaRPr lang="ko-KR" altLang="en-US"/>
          </a:p>
        </p:txBody>
      </p:sp>
      <p:sp>
        <p:nvSpPr>
          <p:cNvPr id="218" name="Shape 215"/>
          <p:cNvSpPr/>
          <p:nvPr/>
        </p:nvSpPr>
        <p:spPr>
          <a:xfrm>
            <a:off x="6550423" y="4670489"/>
            <a:ext cx="9525" cy="314165"/>
          </a:xfrm>
          <a:prstGeom prst="rect">
            <a:avLst/>
          </a:prstGeom>
          <a:solidFill>
            <a:srgbClr val="D3B9A5"/>
          </a:solidFill>
          <a:ln/>
        </p:spPr>
        <p:txBody>
          <a:bodyPr/>
          <a:lstStyle/>
          <a:p>
            <a:endParaRPr lang="ko-KR" altLang="en-US"/>
          </a:p>
        </p:txBody>
      </p:sp>
      <p:sp>
        <p:nvSpPr>
          <p:cNvPr id="219" name="Text 216"/>
          <p:cNvSpPr/>
          <p:nvPr/>
        </p:nvSpPr>
        <p:spPr>
          <a:xfrm>
            <a:off x="6574690" y="4704281"/>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200만</a:t>
            </a:r>
            <a:endParaRPr lang="en-US" sz="1013" dirty="0"/>
          </a:p>
        </p:txBody>
      </p:sp>
      <p:sp>
        <p:nvSpPr>
          <p:cNvPr id="220" name="Shape 217"/>
          <p:cNvSpPr/>
          <p:nvPr/>
        </p:nvSpPr>
        <p:spPr>
          <a:xfrm>
            <a:off x="7752792" y="4670489"/>
            <a:ext cx="1202369" cy="314165"/>
          </a:xfrm>
          <a:prstGeom prst="rect">
            <a:avLst/>
          </a:prstGeom>
          <a:solidFill>
            <a:srgbClr val="FFFFFF"/>
          </a:solidFill>
          <a:ln/>
        </p:spPr>
        <p:txBody>
          <a:bodyPr/>
          <a:lstStyle/>
          <a:p>
            <a:endParaRPr lang="ko-KR" altLang="en-US"/>
          </a:p>
        </p:txBody>
      </p:sp>
      <p:sp>
        <p:nvSpPr>
          <p:cNvPr id="221" name="Shape 218"/>
          <p:cNvSpPr/>
          <p:nvPr/>
        </p:nvSpPr>
        <p:spPr>
          <a:xfrm>
            <a:off x="7752792" y="4670489"/>
            <a:ext cx="1202369" cy="9525"/>
          </a:xfrm>
          <a:prstGeom prst="rect">
            <a:avLst/>
          </a:prstGeom>
          <a:solidFill>
            <a:srgbClr val="D3B9A5"/>
          </a:solidFill>
          <a:ln/>
        </p:spPr>
        <p:txBody>
          <a:bodyPr/>
          <a:lstStyle/>
          <a:p>
            <a:endParaRPr lang="ko-KR" altLang="en-US"/>
          </a:p>
        </p:txBody>
      </p:sp>
      <p:sp>
        <p:nvSpPr>
          <p:cNvPr id="222" name="Shape 219"/>
          <p:cNvSpPr/>
          <p:nvPr/>
        </p:nvSpPr>
        <p:spPr>
          <a:xfrm>
            <a:off x="7752792" y="4670489"/>
            <a:ext cx="9525" cy="314165"/>
          </a:xfrm>
          <a:prstGeom prst="rect">
            <a:avLst/>
          </a:prstGeom>
          <a:solidFill>
            <a:srgbClr val="D3B9A5"/>
          </a:solidFill>
          <a:ln/>
        </p:spPr>
        <p:txBody>
          <a:bodyPr/>
          <a:lstStyle/>
          <a:p>
            <a:endParaRPr lang="ko-KR" altLang="en-US"/>
          </a:p>
        </p:txBody>
      </p:sp>
      <p:sp>
        <p:nvSpPr>
          <p:cNvPr id="223" name="Text 220"/>
          <p:cNvSpPr/>
          <p:nvPr/>
        </p:nvSpPr>
        <p:spPr>
          <a:xfrm>
            <a:off x="7777059" y="4704281"/>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40대질병</a:t>
            </a:r>
            <a:endParaRPr lang="en-US" sz="1013" dirty="0"/>
          </a:p>
        </p:txBody>
      </p:sp>
      <p:sp>
        <p:nvSpPr>
          <p:cNvPr id="224" name="Shape 221"/>
          <p:cNvSpPr/>
          <p:nvPr/>
        </p:nvSpPr>
        <p:spPr>
          <a:xfrm>
            <a:off x="8955161" y="4670489"/>
            <a:ext cx="1202776" cy="314165"/>
          </a:xfrm>
          <a:prstGeom prst="rect">
            <a:avLst/>
          </a:prstGeom>
          <a:solidFill>
            <a:srgbClr val="FFFFFF"/>
          </a:solidFill>
          <a:ln/>
        </p:spPr>
        <p:txBody>
          <a:bodyPr/>
          <a:lstStyle/>
          <a:p>
            <a:endParaRPr lang="ko-KR" altLang="en-US"/>
          </a:p>
        </p:txBody>
      </p:sp>
      <p:sp>
        <p:nvSpPr>
          <p:cNvPr id="225" name="Shape 222"/>
          <p:cNvSpPr/>
          <p:nvPr/>
        </p:nvSpPr>
        <p:spPr>
          <a:xfrm>
            <a:off x="8955161" y="4670489"/>
            <a:ext cx="1202776" cy="9525"/>
          </a:xfrm>
          <a:prstGeom prst="rect">
            <a:avLst/>
          </a:prstGeom>
          <a:solidFill>
            <a:srgbClr val="D3B9A5"/>
          </a:solidFill>
          <a:ln/>
        </p:spPr>
        <p:txBody>
          <a:bodyPr/>
          <a:lstStyle/>
          <a:p>
            <a:endParaRPr lang="ko-KR" altLang="en-US"/>
          </a:p>
        </p:txBody>
      </p:sp>
      <p:sp>
        <p:nvSpPr>
          <p:cNvPr id="226" name="Shape 223"/>
          <p:cNvSpPr/>
          <p:nvPr/>
        </p:nvSpPr>
        <p:spPr>
          <a:xfrm>
            <a:off x="8955161" y="4670489"/>
            <a:ext cx="9525" cy="314165"/>
          </a:xfrm>
          <a:prstGeom prst="rect">
            <a:avLst/>
          </a:prstGeom>
          <a:solidFill>
            <a:srgbClr val="D3B9A5"/>
          </a:solidFill>
          <a:ln/>
        </p:spPr>
        <p:txBody>
          <a:bodyPr/>
          <a:lstStyle/>
          <a:p>
            <a:endParaRPr lang="ko-KR" altLang="en-US"/>
          </a:p>
        </p:txBody>
      </p:sp>
      <p:sp>
        <p:nvSpPr>
          <p:cNvPr id="227" name="Text 224"/>
          <p:cNvSpPr/>
          <p:nvPr/>
        </p:nvSpPr>
        <p:spPr>
          <a:xfrm>
            <a:off x="8979428" y="4704281"/>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50만</a:t>
            </a:r>
            <a:endParaRPr lang="en-US" sz="1013" dirty="0"/>
          </a:p>
        </p:txBody>
      </p:sp>
      <p:sp>
        <p:nvSpPr>
          <p:cNvPr id="228" name="Shape 225"/>
          <p:cNvSpPr/>
          <p:nvPr/>
        </p:nvSpPr>
        <p:spPr>
          <a:xfrm>
            <a:off x="2943317" y="4984654"/>
            <a:ext cx="1202369" cy="314165"/>
          </a:xfrm>
          <a:prstGeom prst="rect">
            <a:avLst/>
          </a:prstGeom>
          <a:solidFill>
            <a:srgbClr val="F8E1D0"/>
          </a:solidFill>
          <a:ln/>
        </p:spPr>
        <p:txBody>
          <a:bodyPr/>
          <a:lstStyle/>
          <a:p>
            <a:endParaRPr lang="ko-KR" altLang="en-US"/>
          </a:p>
        </p:txBody>
      </p:sp>
      <p:sp>
        <p:nvSpPr>
          <p:cNvPr id="229" name="Shape 226"/>
          <p:cNvSpPr/>
          <p:nvPr/>
        </p:nvSpPr>
        <p:spPr>
          <a:xfrm>
            <a:off x="2943317" y="4984654"/>
            <a:ext cx="1202369" cy="9525"/>
          </a:xfrm>
          <a:prstGeom prst="rect">
            <a:avLst/>
          </a:prstGeom>
          <a:solidFill>
            <a:srgbClr val="D3B9A5"/>
          </a:solidFill>
          <a:ln/>
        </p:spPr>
        <p:txBody>
          <a:bodyPr/>
          <a:lstStyle/>
          <a:p>
            <a:endParaRPr lang="ko-KR" altLang="en-US"/>
          </a:p>
        </p:txBody>
      </p:sp>
      <p:sp>
        <p:nvSpPr>
          <p:cNvPr id="230" name="Shape 227"/>
          <p:cNvSpPr/>
          <p:nvPr/>
        </p:nvSpPr>
        <p:spPr>
          <a:xfrm>
            <a:off x="2943317" y="4984654"/>
            <a:ext cx="9525" cy="314165"/>
          </a:xfrm>
          <a:prstGeom prst="rect">
            <a:avLst/>
          </a:prstGeom>
          <a:solidFill>
            <a:srgbClr val="D3B9A5"/>
          </a:solidFill>
          <a:ln/>
        </p:spPr>
        <p:txBody>
          <a:bodyPr/>
          <a:lstStyle/>
          <a:p>
            <a:endParaRPr lang="ko-KR" altLang="en-US"/>
          </a:p>
        </p:txBody>
      </p:sp>
      <p:sp>
        <p:nvSpPr>
          <p:cNvPr id="231" name="Text 228"/>
          <p:cNvSpPr/>
          <p:nvPr/>
        </p:nvSpPr>
        <p:spPr>
          <a:xfrm>
            <a:off x="2967584" y="501844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백내장</a:t>
            </a:r>
            <a:endParaRPr lang="en-US" sz="1013" dirty="0"/>
          </a:p>
        </p:txBody>
      </p:sp>
      <p:sp>
        <p:nvSpPr>
          <p:cNvPr id="232" name="Shape 229"/>
          <p:cNvSpPr/>
          <p:nvPr/>
        </p:nvSpPr>
        <p:spPr>
          <a:xfrm>
            <a:off x="4145686" y="4984654"/>
            <a:ext cx="1202369" cy="314165"/>
          </a:xfrm>
          <a:prstGeom prst="rect">
            <a:avLst/>
          </a:prstGeom>
          <a:solidFill>
            <a:srgbClr val="F8E1D0"/>
          </a:solidFill>
          <a:ln/>
        </p:spPr>
        <p:txBody>
          <a:bodyPr/>
          <a:lstStyle/>
          <a:p>
            <a:endParaRPr lang="ko-KR" altLang="en-US"/>
          </a:p>
        </p:txBody>
      </p:sp>
      <p:sp>
        <p:nvSpPr>
          <p:cNvPr id="233" name="Shape 230"/>
          <p:cNvSpPr/>
          <p:nvPr/>
        </p:nvSpPr>
        <p:spPr>
          <a:xfrm>
            <a:off x="4145686" y="4984654"/>
            <a:ext cx="1202369" cy="9525"/>
          </a:xfrm>
          <a:prstGeom prst="rect">
            <a:avLst/>
          </a:prstGeom>
          <a:solidFill>
            <a:srgbClr val="D3B9A5"/>
          </a:solidFill>
          <a:ln/>
        </p:spPr>
        <p:txBody>
          <a:bodyPr/>
          <a:lstStyle/>
          <a:p>
            <a:endParaRPr lang="ko-KR" altLang="en-US"/>
          </a:p>
        </p:txBody>
      </p:sp>
      <p:sp>
        <p:nvSpPr>
          <p:cNvPr id="234" name="Shape 231"/>
          <p:cNvSpPr/>
          <p:nvPr/>
        </p:nvSpPr>
        <p:spPr>
          <a:xfrm>
            <a:off x="4145686" y="4984654"/>
            <a:ext cx="9525" cy="314165"/>
          </a:xfrm>
          <a:prstGeom prst="rect">
            <a:avLst/>
          </a:prstGeom>
          <a:solidFill>
            <a:srgbClr val="D3B9A5"/>
          </a:solidFill>
          <a:ln/>
        </p:spPr>
        <p:txBody>
          <a:bodyPr/>
          <a:lstStyle/>
          <a:p>
            <a:endParaRPr lang="ko-KR" altLang="en-US"/>
          </a:p>
        </p:txBody>
      </p:sp>
      <p:sp>
        <p:nvSpPr>
          <p:cNvPr id="235" name="Text 232"/>
          <p:cNvSpPr/>
          <p:nvPr/>
        </p:nvSpPr>
        <p:spPr>
          <a:xfrm>
            <a:off x="4169953" y="501844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50만</a:t>
            </a:r>
            <a:endParaRPr lang="en-US" sz="1013" dirty="0"/>
          </a:p>
        </p:txBody>
      </p:sp>
      <p:sp>
        <p:nvSpPr>
          <p:cNvPr id="236" name="Shape 233"/>
          <p:cNvSpPr/>
          <p:nvPr/>
        </p:nvSpPr>
        <p:spPr>
          <a:xfrm>
            <a:off x="5348054" y="4984654"/>
            <a:ext cx="1202369" cy="314165"/>
          </a:xfrm>
          <a:prstGeom prst="rect">
            <a:avLst/>
          </a:prstGeom>
          <a:solidFill>
            <a:srgbClr val="FFFFFF"/>
          </a:solidFill>
          <a:ln/>
        </p:spPr>
        <p:txBody>
          <a:bodyPr/>
          <a:lstStyle/>
          <a:p>
            <a:endParaRPr lang="ko-KR" altLang="en-US"/>
          </a:p>
        </p:txBody>
      </p:sp>
      <p:sp>
        <p:nvSpPr>
          <p:cNvPr id="237" name="Shape 234"/>
          <p:cNvSpPr/>
          <p:nvPr/>
        </p:nvSpPr>
        <p:spPr>
          <a:xfrm>
            <a:off x="5348054" y="4984654"/>
            <a:ext cx="1202369" cy="9525"/>
          </a:xfrm>
          <a:prstGeom prst="rect">
            <a:avLst/>
          </a:prstGeom>
          <a:solidFill>
            <a:srgbClr val="D3B9A5"/>
          </a:solidFill>
          <a:ln/>
        </p:spPr>
        <p:txBody>
          <a:bodyPr/>
          <a:lstStyle/>
          <a:p>
            <a:endParaRPr lang="ko-KR" altLang="en-US"/>
          </a:p>
        </p:txBody>
      </p:sp>
      <p:sp>
        <p:nvSpPr>
          <p:cNvPr id="238" name="Shape 235"/>
          <p:cNvSpPr/>
          <p:nvPr/>
        </p:nvSpPr>
        <p:spPr>
          <a:xfrm>
            <a:off x="5348054" y="4984654"/>
            <a:ext cx="9525" cy="314165"/>
          </a:xfrm>
          <a:prstGeom prst="rect">
            <a:avLst/>
          </a:prstGeom>
          <a:solidFill>
            <a:srgbClr val="D3B9A5"/>
          </a:solidFill>
          <a:ln/>
        </p:spPr>
        <p:txBody>
          <a:bodyPr/>
          <a:lstStyle/>
          <a:p>
            <a:endParaRPr lang="ko-KR" altLang="en-US"/>
          </a:p>
        </p:txBody>
      </p:sp>
      <p:sp>
        <p:nvSpPr>
          <p:cNvPr id="239" name="Text 236"/>
          <p:cNvSpPr/>
          <p:nvPr/>
        </p:nvSpPr>
        <p:spPr>
          <a:xfrm>
            <a:off x="5372321" y="501844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19대질병</a:t>
            </a:r>
            <a:endParaRPr lang="en-US" sz="1013" dirty="0"/>
          </a:p>
        </p:txBody>
      </p:sp>
      <p:sp>
        <p:nvSpPr>
          <p:cNvPr id="240" name="Shape 237"/>
          <p:cNvSpPr/>
          <p:nvPr/>
        </p:nvSpPr>
        <p:spPr>
          <a:xfrm>
            <a:off x="6550423" y="4984654"/>
            <a:ext cx="1202369" cy="314165"/>
          </a:xfrm>
          <a:prstGeom prst="rect">
            <a:avLst/>
          </a:prstGeom>
          <a:solidFill>
            <a:srgbClr val="FFFFFF"/>
          </a:solidFill>
          <a:ln/>
        </p:spPr>
        <p:txBody>
          <a:bodyPr/>
          <a:lstStyle/>
          <a:p>
            <a:endParaRPr lang="ko-KR" altLang="en-US"/>
          </a:p>
        </p:txBody>
      </p:sp>
      <p:sp>
        <p:nvSpPr>
          <p:cNvPr id="241" name="Shape 238"/>
          <p:cNvSpPr/>
          <p:nvPr/>
        </p:nvSpPr>
        <p:spPr>
          <a:xfrm>
            <a:off x="6550423" y="4984654"/>
            <a:ext cx="1202369" cy="9525"/>
          </a:xfrm>
          <a:prstGeom prst="rect">
            <a:avLst/>
          </a:prstGeom>
          <a:solidFill>
            <a:srgbClr val="D3B9A5"/>
          </a:solidFill>
          <a:ln/>
        </p:spPr>
        <p:txBody>
          <a:bodyPr/>
          <a:lstStyle/>
          <a:p>
            <a:endParaRPr lang="ko-KR" altLang="en-US"/>
          </a:p>
        </p:txBody>
      </p:sp>
      <p:sp>
        <p:nvSpPr>
          <p:cNvPr id="242" name="Shape 239"/>
          <p:cNvSpPr/>
          <p:nvPr/>
        </p:nvSpPr>
        <p:spPr>
          <a:xfrm>
            <a:off x="6550423" y="4984654"/>
            <a:ext cx="9525" cy="314165"/>
          </a:xfrm>
          <a:prstGeom prst="rect">
            <a:avLst/>
          </a:prstGeom>
          <a:solidFill>
            <a:srgbClr val="D3B9A5"/>
          </a:solidFill>
          <a:ln/>
        </p:spPr>
        <p:txBody>
          <a:bodyPr/>
          <a:lstStyle/>
          <a:p>
            <a:endParaRPr lang="ko-KR" altLang="en-US"/>
          </a:p>
        </p:txBody>
      </p:sp>
      <p:sp>
        <p:nvSpPr>
          <p:cNvPr id="243" name="Text 240"/>
          <p:cNvSpPr/>
          <p:nvPr/>
        </p:nvSpPr>
        <p:spPr>
          <a:xfrm>
            <a:off x="6574690" y="501844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100만</a:t>
            </a:r>
            <a:endParaRPr lang="en-US" sz="1013" dirty="0"/>
          </a:p>
        </p:txBody>
      </p:sp>
      <p:sp>
        <p:nvSpPr>
          <p:cNvPr id="244" name="Shape 241"/>
          <p:cNvSpPr/>
          <p:nvPr/>
        </p:nvSpPr>
        <p:spPr>
          <a:xfrm>
            <a:off x="7752792" y="4984654"/>
            <a:ext cx="1202369" cy="314165"/>
          </a:xfrm>
          <a:prstGeom prst="rect">
            <a:avLst/>
          </a:prstGeom>
          <a:solidFill>
            <a:srgbClr val="FFFFFF"/>
          </a:solidFill>
          <a:ln/>
        </p:spPr>
        <p:txBody>
          <a:bodyPr/>
          <a:lstStyle/>
          <a:p>
            <a:endParaRPr lang="ko-KR" altLang="en-US"/>
          </a:p>
        </p:txBody>
      </p:sp>
      <p:sp>
        <p:nvSpPr>
          <p:cNvPr id="245" name="Shape 242"/>
          <p:cNvSpPr/>
          <p:nvPr/>
        </p:nvSpPr>
        <p:spPr>
          <a:xfrm>
            <a:off x="7752792" y="4984654"/>
            <a:ext cx="1202369" cy="9525"/>
          </a:xfrm>
          <a:prstGeom prst="rect">
            <a:avLst/>
          </a:prstGeom>
          <a:solidFill>
            <a:srgbClr val="D3B9A5"/>
          </a:solidFill>
          <a:ln/>
        </p:spPr>
        <p:txBody>
          <a:bodyPr/>
          <a:lstStyle/>
          <a:p>
            <a:endParaRPr lang="ko-KR" altLang="en-US"/>
          </a:p>
        </p:txBody>
      </p:sp>
      <p:sp>
        <p:nvSpPr>
          <p:cNvPr id="246" name="Shape 243"/>
          <p:cNvSpPr/>
          <p:nvPr/>
        </p:nvSpPr>
        <p:spPr>
          <a:xfrm>
            <a:off x="7752792" y="4984654"/>
            <a:ext cx="9525" cy="314165"/>
          </a:xfrm>
          <a:prstGeom prst="rect">
            <a:avLst/>
          </a:prstGeom>
          <a:solidFill>
            <a:srgbClr val="D3B9A5"/>
          </a:solidFill>
          <a:ln/>
        </p:spPr>
        <p:txBody>
          <a:bodyPr/>
          <a:lstStyle/>
          <a:p>
            <a:endParaRPr lang="ko-KR" altLang="en-US"/>
          </a:p>
        </p:txBody>
      </p:sp>
      <p:sp>
        <p:nvSpPr>
          <p:cNvPr id="247" name="Text 244"/>
          <p:cNvSpPr/>
          <p:nvPr/>
        </p:nvSpPr>
        <p:spPr>
          <a:xfrm>
            <a:off x="7777059" y="501844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38대질병</a:t>
            </a:r>
            <a:endParaRPr lang="en-US" sz="1013" dirty="0"/>
          </a:p>
        </p:txBody>
      </p:sp>
      <p:sp>
        <p:nvSpPr>
          <p:cNvPr id="248" name="Shape 245"/>
          <p:cNvSpPr/>
          <p:nvPr/>
        </p:nvSpPr>
        <p:spPr>
          <a:xfrm>
            <a:off x="8955161" y="4984654"/>
            <a:ext cx="1202776" cy="314165"/>
          </a:xfrm>
          <a:prstGeom prst="rect">
            <a:avLst/>
          </a:prstGeom>
          <a:solidFill>
            <a:srgbClr val="FFFFFF"/>
          </a:solidFill>
          <a:ln/>
        </p:spPr>
        <p:txBody>
          <a:bodyPr/>
          <a:lstStyle/>
          <a:p>
            <a:endParaRPr lang="ko-KR" altLang="en-US"/>
          </a:p>
        </p:txBody>
      </p:sp>
      <p:sp>
        <p:nvSpPr>
          <p:cNvPr id="249" name="Shape 246"/>
          <p:cNvSpPr/>
          <p:nvPr/>
        </p:nvSpPr>
        <p:spPr>
          <a:xfrm>
            <a:off x="8955161" y="4984654"/>
            <a:ext cx="1202776" cy="9525"/>
          </a:xfrm>
          <a:prstGeom prst="rect">
            <a:avLst/>
          </a:prstGeom>
          <a:solidFill>
            <a:srgbClr val="D3B9A5"/>
          </a:solidFill>
          <a:ln/>
        </p:spPr>
        <p:txBody>
          <a:bodyPr/>
          <a:lstStyle/>
          <a:p>
            <a:endParaRPr lang="ko-KR" altLang="en-US"/>
          </a:p>
        </p:txBody>
      </p:sp>
      <p:sp>
        <p:nvSpPr>
          <p:cNvPr id="250" name="Shape 247"/>
          <p:cNvSpPr/>
          <p:nvPr/>
        </p:nvSpPr>
        <p:spPr>
          <a:xfrm>
            <a:off x="8955161" y="4984654"/>
            <a:ext cx="9525" cy="314165"/>
          </a:xfrm>
          <a:prstGeom prst="rect">
            <a:avLst/>
          </a:prstGeom>
          <a:solidFill>
            <a:srgbClr val="D3B9A5"/>
          </a:solidFill>
          <a:ln/>
        </p:spPr>
        <p:txBody>
          <a:bodyPr/>
          <a:lstStyle/>
          <a:p>
            <a:endParaRPr lang="ko-KR" altLang="en-US"/>
          </a:p>
        </p:txBody>
      </p:sp>
      <p:sp>
        <p:nvSpPr>
          <p:cNvPr id="251" name="Text 248"/>
          <p:cNvSpPr/>
          <p:nvPr/>
        </p:nvSpPr>
        <p:spPr>
          <a:xfrm>
            <a:off x="8979428" y="5018446"/>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20만</a:t>
            </a:r>
            <a:endParaRPr lang="en-US" sz="1013" dirty="0"/>
          </a:p>
        </p:txBody>
      </p:sp>
      <p:sp>
        <p:nvSpPr>
          <p:cNvPr id="252" name="Shape 249"/>
          <p:cNvSpPr/>
          <p:nvPr/>
        </p:nvSpPr>
        <p:spPr>
          <a:xfrm>
            <a:off x="2943317" y="5298818"/>
            <a:ext cx="1202369" cy="314165"/>
          </a:xfrm>
          <a:prstGeom prst="rect">
            <a:avLst/>
          </a:prstGeom>
          <a:solidFill>
            <a:srgbClr val="F8E1D0"/>
          </a:solidFill>
          <a:ln/>
        </p:spPr>
        <p:txBody>
          <a:bodyPr/>
          <a:lstStyle/>
          <a:p>
            <a:endParaRPr lang="ko-KR" altLang="en-US"/>
          </a:p>
        </p:txBody>
      </p:sp>
      <p:sp>
        <p:nvSpPr>
          <p:cNvPr id="253" name="Shape 250"/>
          <p:cNvSpPr/>
          <p:nvPr/>
        </p:nvSpPr>
        <p:spPr>
          <a:xfrm>
            <a:off x="2943317" y="5298818"/>
            <a:ext cx="1202369" cy="9525"/>
          </a:xfrm>
          <a:prstGeom prst="rect">
            <a:avLst/>
          </a:prstGeom>
          <a:solidFill>
            <a:srgbClr val="D3B9A5"/>
          </a:solidFill>
          <a:ln/>
        </p:spPr>
        <p:txBody>
          <a:bodyPr/>
          <a:lstStyle/>
          <a:p>
            <a:endParaRPr lang="ko-KR" altLang="en-US"/>
          </a:p>
        </p:txBody>
      </p:sp>
      <p:sp>
        <p:nvSpPr>
          <p:cNvPr id="254" name="Shape 251"/>
          <p:cNvSpPr/>
          <p:nvPr/>
        </p:nvSpPr>
        <p:spPr>
          <a:xfrm>
            <a:off x="2943317" y="5298818"/>
            <a:ext cx="9525" cy="314165"/>
          </a:xfrm>
          <a:prstGeom prst="rect">
            <a:avLst/>
          </a:prstGeom>
          <a:solidFill>
            <a:srgbClr val="D3B9A5"/>
          </a:solidFill>
          <a:ln/>
        </p:spPr>
        <p:txBody>
          <a:bodyPr/>
          <a:lstStyle/>
          <a:p>
            <a:endParaRPr lang="ko-KR" altLang="en-US"/>
          </a:p>
        </p:txBody>
      </p:sp>
      <p:sp>
        <p:nvSpPr>
          <p:cNvPr id="255" name="Text 252"/>
          <p:cNvSpPr/>
          <p:nvPr/>
        </p:nvSpPr>
        <p:spPr>
          <a:xfrm>
            <a:off x="2967584" y="533261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6대질병</a:t>
            </a:r>
            <a:endParaRPr lang="en-US" sz="1013" dirty="0"/>
          </a:p>
        </p:txBody>
      </p:sp>
      <p:sp>
        <p:nvSpPr>
          <p:cNvPr id="256" name="Shape 253"/>
          <p:cNvSpPr/>
          <p:nvPr/>
        </p:nvSpPr>
        <p:spPr>
          <a:xfrm>
            <a:off x="4145686" y="5298818"/>
            <a:ext cx="1202369" cy="314165"/>
          </a:xfrm>
          <a:prstGeom prst="rect">
            <a:avLst/>
          </a:prstGeom>
          <a:solidFill>
            <a:srgbClr val="F8E1D0"/>
          </a:solidFill>
          <a:ln/>
        </p:spPr>
        <p:txBody>
          <a:bodyPr/>
          <a:lstStyle/>
          <a:p>
            <a:endParaRPr lang="ko-KR" altLang="en-US"/>
          </a:p>
        </p:txBody>
      </p:sp>
      <p:sp>
        <p:nvSpPr>
          <p:cNvPr id="257" name="Shape 254"/>
          <p:cNvSpPr/>
          <p:nvPr/>
        </p:nvSpPr>
        <p:spPr>
          <a:xfrm>
            <a:off x="4145686" y="5298818"/>
            <a:ext cx="1202369" cy="9525"/>
          </a:xfrm>
          <a:prstGeom prst="rect">
            <a:avLst/>
          </a:prstGeom>
          <a:solidFill>
            <a:srgbClr val="D3B9A5"/>
          </a:solidFill>
          <a:ln/>
        </p:spPr>
        <p:txBody>
          <a:bodyPr/>
          <a:lstStyle/>
          <a:p>
            <a:endParaRPr lang="ko-KR" altLang="en-US"/>
          </a:p>
        </p:txBody>
      </p:sp>
      <p:sp>
        <p:nvSpPr>
          <p:cNvPr id="258" name="Shape 255"/>
          <p:cNvSpPr/>
          <p:nvPr/>
        </p:nvSpPr>
        <p:spPr>
          <a:xfrm>
            <a:off x="4145686" y="5298818"/>
            <a:ext cx="9525" cy="314165"/>
          </a:xfrm>
          <a:prstGeom prst="rect">
            <a:avLst/>
          </a:prstGeom>
          <a:solidFill>
            <a:srgbClr val="D3B9A5"/>
          </a:solidFill>
          <a:ln/>
        </p:spPr>
        <p:txBody>
          <a:bodyPr/>
          <a:lstStyle/>
          <a:p>
            <a:endParaRPr lang="ko-KR" altLang="en-US"/>
          </a:p>
        </p:txBody>
      </p:sp>
      <p:sp>
        <p:nvSpPr>
          <p:cNvPr id="259" name="Text 256"/>
          <p:cNvSpPr/>
          <p:nvPr/>
        </p:nvSpPr>
        <p:spPr>
          <a:xfrm>
            <a:off x="4169953" y="533261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40만</a:t>
            </a:r>
            <a:endParaRPr lang="en-US" sz="1013" dirty="0"/>
          </a:p>
        </p:txBody>
      </p:sp>
      <p:sp>
        <p:nvSpPr>
          <p:cNvPr id="260" name="Shape 257"/>
          <p:cNvSpPr/>
          <p:nvPr/>
        </p:nvSpPr>
        <p:spPr>
          <a:xfrm>
            <a:off x="5348054" y="5298818"/>
            <a:ext cx="1202369" cy="314165"/>
          </a:xfrm>
          <a:prstGeom prst="rect">
            <a:avLst/>
          </a:prstGeom>
          <a:solidFill>
            <a:srgbClr val="FFFFFF"/>
          </a:solidFill>
          <a:ln/>
        </p:spPr>
        <p:txBody>
          <a:bodyPr/>
          <a:lstStyle/>
          <a:p>
            <a:endParaRPr lang="ko-KR" altLang="en-US"/>
          </a:p>
        </p:txBody>
      </p:sp>
      <p:sp>
        <p:nvSpPr>
          <p:cNvPr id="261" name="Shape 258"/>
          <p:cNvSpPr/>
          <p:nvPr/>
        </p:nvSpPr>
        <p:spPr>
          <a:xfrm>
            <a:off x="5348054" y="5298818"/>
            <a:ext cx="1202369" cy="9525"/>
          </a:xfrm>
          <a:prstGeom prst="rect">
            <a:avLst/>
          </a:prstGeom>
          <a:solidFill>
            <a:srgbClr val="D3B9A5"/>
          </a:solidFill>
          <a:ln/>
        </p:spPr>
        <p:txBody>
          <a:bodyPr/>
          <a:lstStyle/>
          <a:p>
            <a:endParaRPr lang="ko-KR" altLang="en-US"/>
          </a:p>
        </p:txBody>
      </p:sp>
      <p:sp>
        <p:nvSpPr>
          <p:cNvPr id="262" name="Shape 259"/>
          <p:cNvSpPr/>
          <p:nvPr/>
        </p:nvSpPr>
        <p:spPr>
          <a:xfrm>
            <a:off x="5348054" y="5298818"/>
            <a:ext cx="9525" cy="314165"/>
          </a:xfrm>
          <a:prstGeom prst="rect">
            <a:avLst/>
          </a:prstGeom>
          <a:solidFill>
            <a:srgbClr val="D3B9A5"/>
          </a:solidFill>
          <a:ln/>
        </p:spPr>
        <p:txBody>
          <a:bodyPr/>
          <a:lstStyle/>
          <a:p>
            <a:endParaRPr lang="ko-KR" altLang="en-US"/>
          </a:p>
        </p:txBody>
      </p:sp>
      <p:sp>
        <p:nvSpPr>
          <p:cNvPr id="263" name="Text 260"/>
          <p:cNvSpPr/>
          <p:nvPr/>
        </p:nvSpPr>
        <p:spPr>
          <a:xfrm>
            <a:off x="5372321" y="533261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62대질병</a:t>
            </a:r>
            <a:endParaRPr lang="en-US" sz="1013" dirty="0"/>
          </a:p>
        </p:txBody>
      </p:sp>
      <p:sp>
        <p:nvSpPr>
          <p:cNvPr id="264" name="Shape 261"/>
          <p:cNvSpPr/>
          <p:nvPr/>
        </p:nvSpPr>
        <p:spPr>
          <a:xfrm>
            <a:off x="6550423" y="5298818"/>
            <a:ext cx="1202369" cy="314165"/>
          </a:xfrm>
          <a:prstGeom prst="rect">
            <a:avLst/>
          </a:prstGeom>
          <a:solidFill>
            <a:srgbClr val="FFFFFF"/>
          </a:solidFill>
          <a:ln/>
        </p:spPr>
        <p:txBody>
          <a:bodyPr/>
          <a:lstStyle/>
          <a:p>
            <a:endParaRPr lang="ko-KR" altLang="en-US"/>
          </a:p>
        </p:txBody>
      </p:sp>
      <p:sp>
        <p:nvSpPr>
          <p:cNvPr id="265" name="Shape 262"/>
          <p:cNvSpPr/>
          <p:nvPr/>
        </p:nvSpPr>
        <p:spPr>
          <a:xfrm>
            <a:off x="6550423" y="5298818"/>
            <a:ext cx="1202369" cy="9525"/>
          </a:xfrm>
          <a:prstGeom prst="rect">
            <a:avLst/>
          </a:prstGeom>
          <a:solidFill>
            <a:srgbClr val="D3B9A5"/>
          </a:solidFill>
          <a:ln/>
        </p:spPr>
        <p:txBody>
          <a:bodyPr/>
          <a:lstStyle/>
          <a:p>
            <a:endParaRPr lang="ko-KR" altLang="en-US"/>
          </a:p>
        </p:txBody>
      </p:sp>
      <p:sp>
        <p:nvSpPr>
          <p:cNvPr id="266" name="Shape 263"/>
          <p:cNvSpPr/>
          <p:nvPr/>
        </p:nvSpPr>
        <p:spPr>
          <a:xfrm>
            <a:off x="6550423" y="5298818"/>
            <a:ext cx="9525" cy="314165"/>
          </a:xfrm>
          <a:prstGeom prst="rect">
            <a:avLst/>
          </a:prstGeom>
          <a:solidFill>
            <a:srgbClr val="D3B9A5"/>
          </a:solidFill>
          <a:ln/>
        </p:spPr>
        <p:txBody>
          <a:bodyPr/>
          <a:lstStyle/>
          <a:p>
            <a:endParaRPr lang="ko-KR" altLang="en-US"/>
          </a:p>
        </p:txBody>
      </p:sp>
      <p:sp>
        <p:nvSpPr>
          <p:cNvPr id="267" name="Text 264"/>
          <p:cNvSpPr/>
          <p:nvPr/>
        </p:nvSpPr>
        <p:spPr>
          <a:xfrm>
            <a:off x="6574690" y="533261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10만</a:t>
            </a:r>
            <a:endParaRPr lang="en-US" sz="1013" dirty="0"/>
          </a:p>
        </p:txBody>
      </p:sp>
      <p:sp>
        <p:nvSpPr>
          <p:cNvPr id="268" name="Shape 265"/>
          <p:cNvSpPr/>
          <p:nvPr/>
        </p:nvSpPr>
        <p:spPr>
          <a:xfrm>
            <a:off x="7752792" y="5298818"/>
            <a:ext cx="1202369" cy="314165"/>
          </a:xfrm>
          <a:prstGeom prst="rect">
            <a:avLst/>
          </a:prstGeom>
          <a:solidFill>
            <a:srgbClr val="FFFFFF"/>
          </a:solidFill>
          <a:ln/>
        </p:spPr>
        <p:txBody>
          <a:bodyPr/>
          <a:lstStyle/>
          <a:p>
            <a:endParaRPr lang="ko-KR" altLang="en-US"/>
          </a:p>
        </p:txBody>
      </p:sp>
      <p:sp>
        <p:nvSpPr>
          <p:cNvPr id="269" name="Shape 266"/>
          <p:cNvSpPr/>
          <p:nvPr/>
        </p:nvSpPr>
        <p:spPr>
          <a:xfrm>
            <a:off x="7752792" y="5298818"/>
            <a:ext cx="1202369" cy="9525"/>
          </a:xfrm>
          <a:prstGeom prst="rect">
            <a:avLst/>
          </a:prstGeom>
          <a:solidFill>
            <a:srgbClr val="D3B9A5"/>
          </a:solidFill>
          <a:ln/>
        </p:spPr>
        <p:txBody>
          <a:bodyPr/>
          <a:lstStyle/>
          <a:p>
            <a:endParaRPr lang="ko-KR" altLang="en-US"/>
          </a:p>
        </p:txBody>
      </p:sp>
      <p:sp>
        <p:nvSpPr>
          <p:cNvPr id="270" name="Shape 267"/>
          <p:cNvSpPr/>
          <p:nvPr/>
        </p:nvSpPr>
        <p:spPr>
          <a:xfrm>
            <a:off x="7752792" y="5298818"/>
            <a:ext cx="9525" cy="314165"/>
          </a:xfrm>
          <a:prstGeom prst="rect">
            <a:avLst/>
          </a:prstGeom>
          <a:solidFill>
            <a:srgbClr val="D3B9A5"/>
          </a:solidFill>
          <a:ln/>
        </p:spPr>
        <p:txBody>
          <a:bodyPr/>
          <a:lstStyle/>
          <a:p>
            <a:endParaRPr lang="ko-KR" altLang="en-US"/>
          </a:p>
        </p:txBody>
      </p:sp>
      <p:sp>
        <p:nvSpPr>
          <p:cNvPr id="271" name="Text 268"/>
          <p:cNvSpPr/>
          <p:nvPr/>
        </p:nvSpPr>
        <p:spPr>
          <a:xfrm>
            <a:off x="7777059" y="533261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치핵</a:t>
            </a:r>
            <a:endParaRPr lang="en-US" sz="1013" dirty="0"/>
          </a:p>
        </p:txBody>
      </p:sp>
      <p:sp>
        <p:nvSpPr>
          <p:cNvPr id="272" name="Shape 269"/>
          <p:cNvSpPr/>
          <p:nvPr/>
        </p:nvSpPr>
        <p:spPr>
          <a:xfrm>
            <a:off x="8955161" y="5298818"/>
            <a:ext cx="1202776" cy="314165"/>
          </a:xfrm>
          <a:prstGeom prst="rect">
            <a:avLst/>
          </a:prstGeom>
          <a:solidFill>
            <a:srgbClr val="FFFFFF"/>
          </a:solidFill>
          <a:ln/>
        </p:spPr>
        <p:txBody>
          <a:bodyPr/>
          <a:lstStyle/>
          <a:p>
            <a:endParaRPr lang="ko-KR" altLang="en-US"/>
          </a:p>
        </p:txBody>
      </p:sp>
      <p:sp>
        <p:nvSpPr>
          <p:cNvPr id="273" name="Shape 270"/>
          <p:cNvSpPr/>
          <p:nvPr/>
        </p:nvSpPr>
        <p:spPr>
          <a:xfrm>
            <a:off x="8955161" y="5298818"/>
            <a:ext cx="1202776" cy="9525"/>
          </a:xfrm>
          <a:prstGeom prst="rect">
            <a:avLst/>
          </a:prstGeom>
          <a:solidFill>
            <a:srgbClr val="D3B9A5"/>
          </a:solidFill>
          <a:ln/>
        </p:spPr>
        <p:txBody>
          <a:bodyPr/>
          <a:lstStyle/>
          <a:p>
            <a:endParaRPr lang="ko-KR" altLang="en-US"/>
          </a:p>
        </p:txBody>
      </p:sp>
      <p:sp>
        <p:nvSpPr>
          <p:cNvPr id="274" name="Shape 271"/>
          <p:cNvSpPr/>
          <p:nvPr/>
        </p:nvSpPr>
        <p:spPr>
          <a:xfrm>
            <a:off x="8955161" y="5298818"/>
            <a:ext cx="9525" cy="314165"/>
          </a:xfrm>
          <a:prstGeom prst="rect">
            <a:avLst/>
          </a:prstGeom>
          <a:solidFill>
            <a:srgbClr val="D3B9A5"/>
          </a:solidFill>
          <a:ln/>
        </p:spPr>
        <p:txBody>
          <a:bodyPr/>
          <a:lstStyle/>
          <a:p>
            <a:endParaRPr lang="ko-KR" altLang="en-US"/>
          </a:p>
        </p:txBody>
      </p:sp>
      <p:sp>
        <p:nvSpPr>
          <p:cNvPr id="275" name="Text 272"/>
          <p:cNvSpPr/>
          <p:nvPr/>
        </p:nvSpPr>
        <p:spPr>
          <a:xfrm>
            <a:off x="8979428" y="5332610"/>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20만</a:t>
            </a:r>
            <a:endParaRPr lang="en-US" sz="1013" dirty="0"/>
          </a:p>
        </p:txBody>
      </p:sp>
      <p:sp>
        <p:nvSpPr>
          <p:cNvPr id="276" name="Shape 273"/>
          <p:cNvSpPr/>
          <p:nvPr/>
        </p:nvSpPr>
        <p:spPr>
          <a:xfrm>
            <a:off x="538580" y="5612984"/>
            <a:ext cx="2404738" cy="628329"/>
          </a:xfrm>
          <a:prstGeom prst="rect">
            <a:avLst/>
          </a:prstGeom>
          <a:solidFill>
            <a:srgbClr val="FCF4EE"/>
          </a:solidFill>
          <a:ln/>
        </p:spPr>
        <p:txBody>
          <a:bodyPr/>
          <a:lstStyle/>
          <a:p>
            <a:endParaRPr lang="ko-KR" altLang="en-US"/>
          </a:p>
        </p:txBody>
      </p:sp>
      <p:sp>
        <p:nvSpPr>
          <p:cNvPr id="277" name="Shape 274"/>
          <p:cNvSpPr/>
          <p:nvPr/>
        </p:nvSpPr>
        <p:spPr>
          <a:xfrm>
            <a:off x="538580" y="5612984"/>
            <a:ext cx="2404738" cy="9525"/>
          </a:xfrm>
          <a:prstGeom prst="rect">
            <a:avLst/>
          </a:prstGeom>
          <a:solidFill>
            <a:srgbClr val="D3B9A5"/>
          </a:solidFill>
          <a:ln/>
        </p:spPr>
        <p:txBody>
          <a:bodyPr/>
          <a:lstStyle/>
          <a:p>
            <a:endParaRPr lang="ko-KR" altLang="en-US"/>
          </a:p>
        </p:txBody>
      </p:sp>
      <p:sp>
        <p:nvSpPr>
          <p:cNvPr id="278" name="Text 275"/>
          <p:cNvSpPr/>
          <p:nvPr/>
        </p:nvSpPr>
        <p:spPr>
          <a:xfrm>
            <a:off x="557630" y="5646776"/>
            <a:ext cx="2366638" cy="604062"/>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CF4EE"/>
                </a:highlight>
                <a:latin typeface="Paperlogy 7 Bold" pitchFamily="2" charset="-127"/>
                <a:ea typeface="Paperlogy 7 Bold" pitchFamily="2" charset="-127"/>
                <a:cs typeface="Arial" pitchFamily="34" charset="-120"/>
              </a:rPr>
              <a:t>40세 기준 20년납 100세만기</a:t>
            </a:r>
            <a:endParaRPr lang="en-US" sz="1013" dirty="0"/>
          </a:p>
        </p:txBody>
      </p:sp>
      <p:sp>
        <p:nvSpPr>
          <p:cNvPr id="279" name="Shape 276"/>
          <p:cNvSpPr/>
          <p:nvPr/>
        </p:nvSpPr>
        <p:spPr>
          <a:xfrm>
            <a:off x="2943317" y="5612984"/>
            <a:ext cx="1202369" cy="314165"/>
          </a:xfrm>
          <a:prstGeom prst="rect">
            <a:avLst/>
          </a:prstGeom>
          <a:solidFill>
            <a:srgbClr val="F8E1D0"/>
          </a:solidFill>
          <a:ln/>
        </p:spPr>
        <p:txBody>
          <a:bodyPr/>
          <a:lstStyle/>
          <a:p>
            <a:endParaRPr lang="ko-KR" altLang="en-US"/>
          </a:p>
        </p:txBody>
      </p:sp>
      <p:sp>
        <p:nvSpPr>
          <p:cNvPr id="280" name="Shape 277"/>
          <p:cNvSpPr/>
          <p:nvPr/>
        </p:nvSpPr>
        <p:spPr>
          <a:xfrm>
            <a:off x="2943317" y="5612984"/>
            <a:ext cx="1202369" cy="9525"/>
          </a:xfrm>
          <a:prstGeom prst="rect">
            <a:avLst/>
          </a:prstGeom>
          <a:solidFill>
            <a:srgbClr val="D3B9A5"/>
          </a:solidFill>
          <a:ln/>
        </p:spPr>
        <p:txBody>
          <a:bodyPr/>
          <a:lstStyle/>
          <a:p>
            <a:endParaRPr lang="ko-KR" altLang="en-US"/>
          </a:p>
        </p:txBody>
      </p:sp>
      <p:sp>
        <p:nvSpPr>
          <p:cNvPr id="281" name="Shape 278"/>
          <p:cNvSpPr/>
          <p:nvPr/>
        </p:nvSpPr>
        <p:spPr>
          <a:xfrm>
            <a:off x="2943317" y="5612984"/>
            <a:ext cx="9525" cy="314165"/>
          </a:xfrm>
          <a:prstGeom prst="rect">
            <a:avLst/>
          </a:prstGeom>
          <a:solidFill>
            <a:srgbClr val="D3B9A5"/>
          </a:solidFill>
          <a:ln/>
        </p:spPr>
        <p:txBody>
          <a:bodyPr/>
          <a:lstStyle/>
          <a:p>
            <a:endParaRPr lang="ko-KR" altLang="en-US"/>
          </a:p>
        </p:txBody>
      </p:sp>
      <p:sp>
        <p:nvSpPr>
          <p:cNvPr id="282" name="Text 279"/>
          <p:cNvSpPr/>
          <p:nvPr/>
        </p:nvSpPr>
        <p:spPr>
          <a:xfrm>
            <a:off x="2967584" y="564677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남성</a:t>
            </a:r>
            <a:endParaRPr lang="en-US" sz="1013" dirty="0"/>
          </a:p>
        </p:txBody>
      </p:sp>
      <p:sp>
        <p:nvSpPr>
          <p:cNvPr id="283" name="Shape 280"/>
          <p:cNvSpPr/>
          <p:nvPr/>
        </p:nvSpPr>
        <p:spPr>
          <a:xfrm>
            <a:off x="4145686" y="5612984"/>
            <a:ext cx="1202369" cy="314165"/>
          </a:xfrm>
          <a:prstGeom prst="rect">
            <a:avLst/>
          </a:prstGeom>
          <a:solidFill>
            <a:srgbClr val="F8E1D0"/>
          </a:solidFill>
          <a:ln/>
        </p:spPr>
        <p:txBody>
          <a:bodyPr/>
          <a:lstStyle/>
          <a:p>
            <a:endParaRPr lang="ko-KR" altLang="en-US"/>
          </a:p>
        </p:txBody>
      </p:sp>
      <p:sp>
        <p:nvSpPr>
          <p:cNvPr id="284" name="Shape 281"/>
          <p:cNvSpPr/>
          <p:nvPr/>
        </p:nvSpPr>
        <p:spPr>
          <a:xfrm>
            <a:off x="4145686" y="5612984"/>
            <a:ext cx="1202369" cy="9525"/>
          </a:xfrm>
          <a:prstGeom prst="rect">
            <a:avLst/>
          </a:prstGeom>
          <a:solidFill>
            <a:srgbClr val="D3B9A5"/>
          </a:solidFill>
          <a:ln/>
        </p:spPr>
        <p:txBody>
          <a:bodyPr/>
          <a:lstStyle/>
          <a:p>
            <a:endParaRPr lang="ko-KR" altLang="en-US"/>
          </a:p>
        </p:txBody>
      </p:sp>
      <p:sp>
        <p:nvSpPr>
          <p:cNvPr id="285" name="Shape 282"/>
          <p:cNvSpPr/>
          <p:nvPr/>
        </p:nvSpPr>
        <p:spPr>
          <a:xfrm>
            <a:off x="4145686" y="5612984"/>
            <a:ext cx="9525" cy="314165"/>
          </a:xfrm>
          <a:prstGeom prst="rect">
            <a:avLst/>
          </a:prstGeom>
          <a:solidFill>
            <a:srgbClr val="D3B9A5"/>
          </a:solidFill>
          <a:ln/>
        </p:spPr>
        <p:txBody>
          <a:bodyPr/>
          <a:lstStyle/>
          <a:p>
            <a:endParaRPr lang="ko-KR" altLang="en-US"/>
          </a:p>
        </p:txBody>
      </p:sp>
      <p:sp>
        <p:nvSpPr>
          <p:cNvPr id="286" name="Text 283"/>
          <p:cNvSpPr/>
          <p:nvPr/>
        </p:nvSpPr>
        <p:spPr>
          <a:xfrm>
            <a:off x="4169953" y="564677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여성</a:t>
            </a:r>
            <a:endParaRPr lang="en-US" sz="1013" dirty="0"/>
          </a:p>
        </p:txBody>
      </p:sp>
      <p:sp>
        <p:nvSpPr>
          <p:cNvPr id="287" name="Shape 284"/>
          <p:cNvSpPr/>
          <p:nvPr/>
        </p:nvSpPr>
        <p:spPr>
          <a:xfrm>
            <a:off x="5348054" y="5612984"/>
            <a:ext cx="1202369" cy="314165"/>
          </a:xfrm>
          <a:prstGeom prst="rect">
            <a:avLst/>
          </a:prstGeom>
          <a:solidFill>
            <a:srgbClr val="FFFFFF"/>
          </a:solidFill>
          <a:ln/>
        </p:spPr>
        <p:txBody>
          <a:bodyPr/>
          <a:lstStyle/>
          <a:p>
            <a:endParaRPr lang="ko-KR" altLang="en-US"/>
          </a:p>
        </p:txBody>
      </p:sp>
      <p:sp>
        <p:nvSpPr>
          <p:cNvPr id="288" name="Shape 285"/>
          <p:cNvSpPr/>
          <p:nvPr/>
        </p:nvSpPr>
        <p:spPr>
          <a:xfrm>
            <a:off x="5348054" y="5612984"/>
            <a:ext cx="1202369" cy="9525"/>
          </a:xfrm>
          <a:prstGeom prst="rect">
            <a:avLst/>
          </a:prstGeom>
          <a:solidFill>
            <a:srgbClr val="D3B9A5"/>
          </a:solidFill>
          <a:ln/>
        </p:spPr>
        <p:txBody>
          <a:bodyPr/>
          <a:lstStyle/>
          <a:p>
            <a:endParaRPr lang="ko-KR" altLang="en-US"/>
          </a:p>
        </p:txBody>
      </p:sp>
      <p:sp>
        <p:nvSpPr>
          <p:cNvPr id="289" name="Shape 286"/>
          <p:cNvSpPr/>
          <p:nvPr/>
        </p:nvSpPr>
        <p:spPr>
          <a:xfrm>
            <a:off x="5348054" y="5612984"/>
            <a:ext cx="9525" cy="314165"/>
          </a:xfrm>
          <a:prstGeom prst="rect">
            <a:avLst/>
          </a:prstGeom>
          <a:solidFill>
            <a:srgbClr val="D3B9A5"/>
          </a:solidFill>
          <a:ln/>
        </p:spPr>
        <p:txBody>
          <a:bodyPr/>
          <a:lstStyle/>
          <a:p>
            <a:endParaRPr lang="ko-KR" altLang="en-US"/>
          </a:p>
        </p:txBody>
      </p:sp>
      <p:sp>
        <p:nvSpPr>
          <p:cNvPr id="290" name="Text 287"/>
          <p:cNvSpPr/>
          <p:nvPr/>
        </p:nvSpPr>
        <p:spPr>
          <a:xfrm>
            <a:off x="5372321" y="564677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남성</a:t>
            </a:r>
            <a:endParaRPr lang="en-US" sz="1013" dirty="0"/>
          </a:p>
        </p:txBody>
      </p:sp>
      <p:sp>
        <p:nvSpPr>
          <p:cNvPr id="291" name="Shape 288"/>
          <p:cNvSpPr/>
          <p:nvPr/>
        </p:nvSpPr>
        <p:spPr>
          <a:xfrm>
            <a:off x="6550423" y="5612984"/>
            <a:ext cx="1202369" cy="314165"/>
          </a:xfrm>
          <a:prstGeom prst="rect">
            <a:avLst/>
          </a:prstGeom>
          <a:solidFill>
            <a:srgbClr val="FFFFFF"/>
          </a:solidFill>
          <a:ln/>
        </p:spPr>
        <p:txBody>
          <a:bodyPr/>
          <a:lstStyle/>
          <a:p>
            <a:endParaRPr lang="ko-KR" altLang="en-US"/>
          </a:p>
        </p:txBody>
      </p:sp>
      <p:sp>
        <p:nvSpPr>
          <p:cNvPr id="292" name="Shape 289"/>
          <p:cNvSpPr/>
          <p:nvPr/>
        </p:nvSpPr>
        <p:spPr>
          <a:xfrm>
            <a:off x="6550423" y="5612984"/>
            <a:ext cx="1202369" cy="9525"/>
          </a:xfrm>
          <a:prstGeom prst="rect">
            <a:avLst/>
          </a:prstGeom>
          <a:solidFill>
            <a:srgbClr val="D3B9A5"/>
          </a:solidFill>
          <a:ln/>
        </p:spPr>
        <p:txBody>
          <a:bodyPr/>
          <a:lstStyle/>
          <a:p>
            <a:endParaRPr lang="ko-KR" altLang="en-US"/>
          </a:p>
        </p:txBody>
      </p:sp>
      <p:sp>
        <p:nvSpPr>
          <p:cNvPr id="293" name="Shape 290"/>
          <p:cNvSpPr/>
          <p:nvPr/>
        </p:nvSpPr>
        <p:spPr>
          <a:xfrm>
            <a:off x="6550423" y="5612984"/>
            <a:ext cx="9525" cy="314165"/>
          </a:xfrm>
          <a:prstGeom prst="rect">
            <a:avLst/>
          </a:prstGeom>
          <a:solidFill>
            <a:srgbClr val="D3B9A5"/>
          </a:solidFill>
          <a:ln/>
        </p:spPr>
        <p:txBody>
          <a:bodyPr/>
          <a:lstStyle/>
          <a:p>
            <a:endParaRPr lang="ko-KR" altLang="en-US"/>
          </a:p>
        </p:txBody>
      </p:sp>
      <p:sp>
        <p:nvSpPr>
          <p:cNvPr id="294" name="Text 291"/>
          <p:cNvSpPr/>
          <p:nvPr/>
        </p:nvSpPr>
        <p:spPr>
          <a:xfrm>
            <a:off x="6574690" y="564677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여성</a:t>
            </a:r>
            <a:endParaRPr lang="en-US" sz="1013" dirty="0"/>
          </a:p>
        </p:txBody>
      </p:sp>
      <p:sp>
        <p:nvSpPr>
          <p:cNvPr id="295" name="Shape 292"/>
          <p:cNvSpPr/>
          <p:nvPr/>
        </p:nvSpPr>
        <p:spPr>
          <a:xfrm>
            <a:off x="7752792" y="5612984"/>
            <a:ext cx="1202369" cy="314165"/>
          </a:xfrm>
          <a:prstGeom prst="rect">
            <a:avLst/>
          </a:prstGeom>
          <a:solidFill>
            <a:srgbClr val="FFFFFF"/>
          </a:solidFill>
          <a:ln/>
        </p:spPr>
        <p:txBody>
          <a:bodyPr/>
          <a:lstStyle/>
          <a:p>
            <a:endParaRPr lang="ko-KR" altLang="en-US"/>
          </a:p>
        </p:txBody>
      </p:sp>
      <p:sp>
        <p:nvSpPr>
          <p:cNvPr id="296" name="Shape 293"/>
          <p:cNvSpPr/>
          <p:nvPr/>
        </p:nvSpPr>
        <p:spPr>
          <a:xfrm>
            <a:off x="7752792" y="5612984"/>
            <a:ext cx="1202369" cy="9525"/>
          </a:xfrm>
          <a:prstGeom prst="rect">
            <a:avLst/>
          </a:prstGeom>
          <a:solidFill>
            <a:srgbClr val="D3B9A5"/>
          </a:solidFill>
          <a:ln/>
        </p:spPr>
        <p:txBody>
          <a:bodyPr/>
          <a:lstStyle/>
          <a:p>
            <a:endParaRPr lang="ko-KR" altLang="en-US"/>
          </a:p>
        </p:txBody>
      </p:sp>
      <p:sp>
        <p:nvSpPr>
          <p:cNvPr id="297" name="Shape 294"/>
          <p:cNvSpPr/>
          <p:nvPr/>
        </p:nvSpPr>
        <p:spPr>
          <a:xfrm>
            <a:off x="7752792" y="5612984"/>
            <a:ext cx="9525" cy="314165"/>
          </a:xfrm>
          <a:prstGeom prst="rect">
            <a:avLst/>
          </a:prstGeom>
          <a:solidFill>
            <a:srgbClr val="D3B9A5"/>
          </a:solidFill>
          <a:ln/>
        </p:spPr>
        <p:txBody>
          <a:bodyPr/>
          <a:lstStyle/>
          <a:p>
            <a:endParaRPr lang="ko-KR" altLang="en-US"/>
          </a:p>
        </p:txBody>
      </p:sp>
      <p:sp>
        <p:nvSpPr>
          <p:cNvPr id="298" name="Text 295"/>
          <p:cNvSpPr/>
          <p:nvPr/>
        </p:nvSpPr>
        <p:spPr>
          <a:xfrm>
            <a:off x="7777059" y="5646776"/>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남성</a:t>
            </a:r>
            <a:endParaRPr lang="en-US" sz="1013" dirty="0"/>
          </a:p>
        </p:txBody>
      </p:sp>
      <p:sp>
        <p:nvSpPr>
          <p:cNvPr id="299" name="Shape 296"/>
          <p:cNvSpPr/>
          <p:nvPr/>
        </p:nvSpPr>
        <p:spPr>
          <a:xfrm>
            <a:off x="8955161" y="5612984"/>
            <a:ext cx="1202776" cy="314165"/>
          </a:xfrm>
          <a:prstGeom prst="rect">
            <a:avLst/>
          </a:prstGeom>
          <a:solidFill>
            <a:srgbClr val="FFFFFF"/>
          </a:solidFill>
          <a:ln/>
        </p:spPr>
        <p:txBody>
          <a:bodyPr/>
          <a:lstStyle/>
          <a:p>
            <a:endParaRPr lang="ko-KR" altLang="en-US"/>
          </a:p>
        </p:txBody>
      </p:sp>
      <p:sp>
        <p:nvSpPr>
          <p:cNvPr id="300" name="Shape 297"/>
          <p:cNvSpPr/>
          <p:nvPr/>
        </p:nvSpPr>
        <p:spPr>
          <a:xfrm>
            <a:off x="8955161" y="5612984"/>
            <a:ext cx="1202776" cy="9525"/>
          </a:xfrm>
          <a:prstGeom prst="rect">
            <a:avLst/>
          </a:prstGeom>
          <a:solidFill>
            <a:srgbClr val="D3B9A5"/>
          </a:solidFill>
          <a:ln/>
        </p:spPr>
        <p:txBody>
          <a:bodyPr/>
          <a:lstStyle/>
          <a:p>
            <a:endParaRPr lang="ko-KR" altLang="en-US"/>
          </a:p>
        </p:txBody>
      </p:sp>
      <p:sp>
        <p:nvSpPr>
          <p:cNvPr id="301" name="Shape 298"/>
          <p:cNvSpPr/>
          <p:nvPr/>
        </p:nvSpPr>
        <p:spPr>
          <a:xfrm>
            <a:off x="8955161" y="5612984"/>
            <a:ext cx="9525" cy="314165"/>
          </a:xfrm>
          <a:prstGeom prst="rect">
            <a:avLst/>
          </a:prstGeom>
          <a:solidFill>
            <a:srgbClr val="D3B9A5"/>
          </a:solidFill>
          <a:ln/>
        </p:spPr>
        <p:txBody>
          <a:bodyPr/>
          <a:lstStyle/>
          <a:p>
            <a:endParaRPr lang="ko-KR" altLang="en-US"/>
          </a:p>
        </p:txBody>
      </p:sp>
      <p:sp>
        <p:nvSpPr>
          <p:cNvPr id="302" name="Text 299"/>
          <p:cNvSpPr/>
          <p:nvPr/>
        </p:nvSpPr>
        <p:spPr>
          <a:xfrm>
            <a:off x="8979428" y="5646776"/>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여성</a:t>
            </a:r>
            <a:endParaRPr lang="en-US" sz="1013" dirty="0"/>
          </a:p>
        </p:txBody>
      </p:sp>
      <p:sp>
        <p:nvSpPr>
          <p:cNvPr id="303" name="Shape 300"/>
          <p:cNvSpPr/>
          <p:nvPr/>
        </p:nvSpPr>
        <p:spPr>
          <a:xfrm>
            <a:off x="2943317" y="5927148"/>
            <a:ext cx="1202369" cy="314165"/>
          </a:xfrm>
          <a:prstGeom prst="rect">
            <a:avLst/>
          </a:prstGeom>
          <a:solidFill>
            <a:srgbClr val="F8E1D0"/>
          </a:solidFill>
          <a:ln/>
        </p:spPr>
        <p:txBody>
          <a:bodyPr/>
          <a:lstStyle/>
          <a:p>
            <a:endParaRPr lang="ko-KR" altLang="en-US"/>
          </a:p>
        </p:txBody>
      </p:sp>
      <p:sp>
        <p:nvSpPr>
          <p:cNvPr id="304" name="Shape 301"/>
          <p:cNvSpPr/>
          <p:nvPr/>
        </p:nvSpPr>
        <p:spPr>
          <a:xfrm>
            <a:off x="2943317" y="5927148"/>
            <a:ext cx="1202369" cy="9525"/>
          </a:xfrm>
          <a:prstGeom prst="rect">
            <a:avLst/>
          </a:prstGeom>
          <a:solidFill>
            <a:srgbClr val="D3B9A5"/>
          </a:solidFill>
          <a:ln/>
        </p:spPr>
        <p:txBody>
          <a:bodyPr/>
          <a:lstStyle/>
          <a:p>
            <a:endParaRPr lang="ko-KR" altLang="en-US"/>
          </a:p>
        </p:txBody>
      </p:sp>
      <p:sp>
        <p:nvSpPr>
          <p:cNvPr id="305" name="Shape 302"/>
          <p:cNvSpPr/>
          <p:nvPr/>
        </p:nvSpPr>
        <p:spPr>
          <a:xfrm>
            <a:off x="2943317" y="5927148"/>
            <a:ext cx="9525" cy="314165"/>
          </a:xfrm>
          <a:prstGeom prst="rect">
            <a:avLst/>
          </a:prstGeom>
          <a:solidFill>
            <a:srgbClr val="D3B9A5"/>
          </a:solidFill>
          <a:ln/>
        </p:spPr>
        <p:txBody>
          <a:bodyPr/>
          <a:lstStyle/>
          <a:p>
            <a:endParaRPr lang="ko-KR" altLang="en-US"/>
          </a:p>
        </p:txBody>
      </p:sp>
      <p:sp>
        <p:nvSpPr>
          <p:cNvPr id="306" name="Text 303"/>
          <p:cNvSpPr/>
          <p:nvPr/>
        </p:nvSpPr>
        <p:spPr>
          <a:xfrm>
            <a:off x="2967584" y="596094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45,989</a:t>
            </a:r>
            <a:endParaRPr lang="en-US" sz="1013" dirty="0"/>
          </a:p>
        </p:txBody>
      </p:sp>
      <p:sp>
        <p:nvSpPr>
          <p:cNvPr id="307" name="Shape 304"/>
          <p:cNvSpPr/>
          <p:nvPr/>
        </p:nvSpPr>
        <p:spPr>
          <a:xfrm>
            <a:off x="4145686" y="5927148"/>
            <a:ext cx="1202369" cy="314165"/>
          </a:xfrm>
          <a:prstGeom prst="rect">
            <a:avLst/>
          </a:prstGeom>
          <a:solidFill>
            <a:srgbClr val="F8E1D0"/>
          </a:solidFill>
          <a:ln/>
        </p:spPr>
        <p:txBody>
          <a:bodyPr/>
          <a:lstStyle/>
          <a:p>
            <a:endParaRPr lang="ko-KR" altLang="en-US"/>
          </a:p>
        </p:txBody>
      </p:sp>
      <p:sp>
        <p:nvSpPr>
          <p:cNvPr id="308" name="Shape 305"/>
          <p:cNvSpPr/>
          <p:nvPr/>
        </p:nvSpPr>
        <p:spPr>
          <a:xfrm>
            <a:off x="4145686" y="5927148"/>
            <a:ext cx="1202369" cy="9525"/>
          </a:xfrm>
          <a:prstGeom prst="rect">
            <a:avLst/>
          </a:prstGeom>
          <a:solidFill>
            <a:srgbClr val="D3B9A5"/>
          </a:solidFill>
          <a:ln/>
        </p:spPr>
        <p:txBody>
          <a:bodyPr/>
          <a:lstStyle/>
          <a:p>
            <a:endParaRPr lang="ko-KR" altLang="en-US"/>
          </a:p>
        </p:txBody>
      </p:sp>
      <p:sp>
        <p:nvSpPr>
          <p:cNvPr id="309" name="Shape 306"/>
          <p:cNvSpPr/>
          <p:nvPr/>
        </p:nvSpPr>
        <p:spPr>
          <a:xfrm>
            <a:off x="4145686" y="5927148"/>
            <a:ext cx="9525" cy="314165"/>
          </a:xfrm>
          <a:prstGeom prst="rect">
            <a:avLst/>
          </a:prstGeom>
          <a:solidFill>
            <a:srgbClr val="D3B9A5"/>
          </a:solidFill>
          <a:ln/>
        </p:spPr>
        <p:txBody>
          <a:bodyPr/>
          <a:lstStyle/>
          <a:p>
            <a:endParaRPr lang="ko-KR" altLang="en-US"/>
          </a:p>
        </p:txBody>
      </p:sp>
      <p:sp>
        <p:nvSpPr>
          <p:cNvPr id="310" name="Text 307"/>
          <p:cNvSpPr/>
          <p:nvPr/>
        </p:nvSpPr>
        <p:spPr>
          <a:xfrm>
            <a:off x="4169953" y="596094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50,243</a:t>
            </a:r>
            <a:endParaRPr lang="en-US" sz="1013" dirty="0"/>
          </a:p>
        </p:txBody>
      </p:sp>
      <p:sp>
        <p:nvSpPr>
          <p:cNvPr id="311" name="Shape 308"/>
          <p:cNvSpPr/>
          <p:nvPr/>
        </p:nvSpPr>
        <p:spPr>
          <a:xfrm>
            <a:off x="5348054" y="5927148"/>
            <a:ext cx="1202369" cy="314165"/>
          </a:xfrm>
          <a:prstGeom prst="rect">
            <a:avLst/>
          </a:prstGeom>
          <a:solidFill>
            <a:srgbClr val="FFFFFF"/>
          </a:solidFill>
          <a:ln/>
        </p:spPr>
        <p:txBody>
          <a:bodyPr/>
          <a:lstStyle/>
          <a:p>
            <a:endParaRPr lang="ko-KR" altLang="en-US"/>
          </a:p>
        </p:txBody>
      </p:sp>
      <p:sp>
        <p:nvSpPr>
          <p:cNvPr id="312" name="Shape 309"/>
          <p:cNvSpPr/>
          <p:nvPr/>
        </p:nvSpPr>
        <p:spPr>
          <a:xfrm>
            <a:off x="5348054" y="5927148"/>
            <a:ext cx="1202369" cy="9525"/>
          </a:xfrm>
          <a:prstGeom prst="rect">
            <a:avLst/>
          </a:prstGeom>
          <a:solidFill>
            <a:srgbClr val="D3B9A5"/>
          </a:solidFill>
          <a:ln/>
        </p:spPr>
        <p:txBody>
          <a:bodyPr/>
          <a:lstStyle/>
          <a:p>
            <a:endParaRPr lang="ko-KR" altLang="en-US"/>
          </a:p>
        </p:txBody>
      </p:sp>
      <p:sp>
        <p:nvSpPr>
          <p:cNvPr id="313" name="Shape 310"/>
          <p:cNvSpPr/>
          <p:nvPr/>
        </p:nvSpPr>
        <p:spPr>
          <a:xfrm>
            <a:off x="5348054" y="5927148"/>
            <a:ext cx="9525" cy="314165"/>
          </a:xfrm>
          <a:prstGeom prst="rect">
            <a:avLst/>
          </a:prstGeom>
          <a:solidFill>
            <a:srgbClr val="D3B9A5"/>
          </a:solidFill>
          <a:ln/>
        </p:spPr>
        <p:txBody>
          <a:bodyPr/>
          <a:lstStyle/>
          <a:p>
            <a:endParaRPr lang="ko-KR" altLang="en-US"/>
          </a:p>
        </p:txBody>
      </p:sp>
      <p:sp>
        <p:nvSpPr>
          <p:cNvPr id="314" name="Text 311"/>
          <p:cNvSpPr/>
          <p:nvPr/>
        </p:nvSpPr>
        <p:spPr>
          <a:xfrm>
            <a:off x="5372321" y="596094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80,748</a:t>
            </a:r>
            <a:endParaRPr lang="en-US" sz="1013" dirty="0"/>
          </a:p>
        </p:txBody>
      </p:sp>
      <p:sp>
        <p:nvSpPr>
          <p:cNvPr id="315" name="Shape 312"/>
          <p:cNvSpPr/>
          <p:nvPr/>
        </p:nvSpPr>
        <p:spPr>
          <a:xfrm>
            <a:off x="6550423" y="5927148"/>
            <a:ext cx="1202369" cy="314165"/>
          </a:xfrm>
          <a:prstGeom prst="rect">
            <a:avLst/>
          </a:prstGeom>
          <a:solidFill>
            <a:srgbClr val="FFFFFF"/>
          </a:solidFill>
          <a:ln/>
        </p:spPr>
        <p:txBody>
          <a:bodyPr/>
          <a:lstStyle/>
          <a:p>
            <a:endParaRPr lang="ko-KR" altLang="en-US"/>
          </a:p>
        </p:txBody>
      </p:sp>
      <p:sp>
        <p:nvSpPr>
          <p:cNvPr id="316" name="Shape 313"/>
          <p:cNvSpPr/>
          <p:nvPr/>
        </p:nvSpPr>
        <p:spPr>
          <a:xfrm>
            <a:off x="6550423" y="5927148"/>
            <a:ext cx="1202369" cy="9525"/>
          </a:xfrm>
          <a:prstGeom prst="rect">
            <a:avLst/>
          </a:prstGeom>
          <a:solidFill>
            <a:srgbClr val="D3B9A5"/>
          </a:solidFill>
          <a:ln/>
        </p:spPr>
        <p:txBody>
          <a:bodyPr/>
          <a:lstStyle/>
          <a:p>
            <a:endParaRPr lang="ko-KR" altLang="en-US"/>
          </a:p>
        </p:txBody>
      </p:sp>
      <p:sp>
        <p:nvSpPr>
          <p:cNvPr id="317" name="Shape 314"/>
          <p:cNvSpPr/>
          <p:nvPr/>
        </p:nvSpPr>
        <p:spPr>
          <a:xfrm>
            <a:off x="6550423" y="5927148"/>
            <a:ext cx="9525" cy="314165"/>
          </a:xfrm>
          <a:prstGeom prst="rect">
            <a:avLst/>
          </a:prstGeom>
          <a:solidFill>
            <a:srgbClr val="D3B9A5"/>
          </a:solidFill>
          <a:ln/>
        </p:spPr>
        <p:txBody>
          <a:bodyPr/>
          <a:lstStyle/>
          <a:p>
            <a:endParaRPr lang="ko-KR" altLang="en-US"/>
          </a:p>
        </p:txBody>
      </p:sp>
      <p:sp>
        <p:nvSpPr>
          <p:cNvPr id="318" name="Text 315"/>
          <p:cNvSpPr/>
          <p:nvPr/>
        </p:nvSpPr>
        <p:spPr>
          <a:xfrm>
            <a:off x="6574690" y="596094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66,819</a:t>
            </a:r>
            <a:endParaRPr lang="en-US" sz="1013" dirty="0"/>
          </a:p>
        </p:txBody>
      </p:sp>
      <p:sp>
        <p:nvSpPr>
          <p:cNvPr id="319" name="Shape 316"/>
          <p:cNvSpPr/>
          <p:nvPr/>
        </p:nvSpPr>
        <p:spPr>
          <a:xfrm>
            <a:off x="7752792" y="5927148"/>
            <a:ext cx="1202369" cy="314165"/>
          </a:xfrm>
          <a:prstGeom prst="rect">
            <a:avLst/>
          </a:prstGeom>
          <a:solidFill>
            <a:srgbClr val="FFFFFF"/>
          </a:solidFill>
          <a:ln/>
        </p:spPr>
        <p:txBody>
          <a:bodyPr/>
          <a:lstStyle/>
          <a:p>
            <a:endParaRPr lang="ko-KR" altLang="en-US"/>
          </a:p>
        </p:txBody>
      </p:sp>
      <p:sp>
        <p:nvSpPr>
          <p:cNvPr id="320" name="Shape 317"/>
          <p:cNvSpPr/>
          <p:nvPr/>
        </p:nvSpPr>
        <p:spPr>
          <a:xfrm>
            <a:off x="7752792" y="5927148"/>
            <a:ext cx="1202369" cy="9525"/>
          </a:xfrm>
          <a:prstGeom prst="rect">
            <a:avLst/>
          </a:prstGeom>
          <a:solidFill>
            <a:srgbClr val="D3B9A5"/>
          </a:solidFill>
          <a:ln/>
        </p:spPr>
        <p:txBody>
          <a:bodyPr/>
          <a:lstStyle/>
          <a:p>
            <a:endParaRPr lang="ko-KR" altLang="en-US"/>
          </a:p>
        </p:txBody>
      </p:sp>
      <p:sp>
        <p:nvSpPr>
          <p:cNvPr id="321" name="Shape 318"/>
          <p:cNvSpPr/>
          <p:nvPr/>
        </p:nvSpPr>
        <p:spPr>
          <a:xfrm>
            <a:off x="7752792" y="5927148"/>
            <a:ext cx="9525" cy="314165"/>
          </a:xfrm>
          <a:prstGeom prst="rect">
            <a:avLst/>
          </a:prstGeom>
          <a:solidFill>
            <a:srgbClr val="D3B9A5"/>
          </a:solidFill>
          <a:ln/>
        </p:spPr>
        <p:txBody>
          <a:bodyPr/>
          <a:lstStyle/>
          <a:p>
            <a:endParaRPr lang="ko-KR" altLang="en-US"/>
          </a:p>
        </p:txBody>
      </p:sp>
      <p:sp>
        <p:nvSpPr>
          <p:cNvPr id="322" name="Text 319"/>
          <p:cNvSpPr/>
          <p:nvPr/>
        </p:nvSpPr>
        <p:spPr>
          <a:xfrm>
            <a:off x="7777059" y="5960940"/>
            <a:ext cx="1159052"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55,013</a:t>
            </a:r>
            <a:endParaRPr lang="en-US" sz="1013" dirty="0"/>
          </a:p>
        </p:txBody>
      </p:sp>
      <p:sp>
        <p:nvSpPr>
          <p:cNvPr id="323" name="Shape 320"/>
          <p:cNvSpPr/>
          <p:nvPr/>
        </p:nvSpPr>
        <p:spPr>
          <a:xfrm>
            <a:off x="8955161" y="5927148"/>
            <a:ext cx="1202776" cy="314165"/>
          </a:xfrm>
          <a:prstGeom prst="rect">
            <a:avLst/>
          </a:prstGeom>
          <a:solidFill>
            <a:srgbClr val="FFFFFF"/>
          </a:solidFill>
          <a:ln/>
        </p:spPr>
        <p:txBody>
          <a:bodyPr/>
          <a:lstStyle/>
          <a:p>
            <a:endParaRPr lang="ko-KR" altLang="en-US"/>
          </a:p>
        </p:txBody>
      </p:sp>
      <p:sp>
        <p:nvSpPr>
          <p:cNvPr id="324" name="Shape 321"/>
          <p:cNvSpPr/>
          <p:nvPr/>
        </p:nvSpPr>
        <p:spPr>
          <a:xfrm>
            <a:off x="8955161" y="5927148"/>
            <a:ext cx="1202776" cy="9525"/>
          </a:xfrm>
          <a:prstGeom prst="rect">
            <a:avLst/>
          </a:prstGeom>
          <a:solidFill>
            <a:srgbClr val="D3B9A5"/>
          </a:solidFill>
          <a:ln/>
        </p:spPr>
        <p:txBody>
          <a:bodyPr/>
          <a:lstStyle/>
          <a:p>
            <a:endParaRPr lang="ko-KR" altLang="en-US"/>
          </a:p>
        </p:txBody>
      </p:sp>
      <p:sp>
        <p:nvSpPr>
          <p:cNvPr id="325" name="Shape 322"/>
          <p:cNvSpPr/>
          <p:nvPr/>
        </p:nvSpPr>
        <p:spPr>
          <a:xfrm>
            <a:off x="8955161" y="5927148"/>
            <a:ext cx="9525" cy="314165"/>
          </a:xfrm>
          <a:prstGeom prst="rect">
            <a:avLst/>
          </a:prstGeom>
          <a:solidFill>
            <a:srgbClr val="D3B9A5"/>
          </a:solidFill>
          <a:ln/>
        </p:spPr>
        <p:txBody>
          <a:bodyPr/>
          <a:lstStyle/>
          <a:p>
            <a:endParaRPr lang="ko-KR" altLang="en-US"/>
          </a:p>
        </p:txBody>
      </p:sp>
      <p:sp>
        <p:nvSpPr>
          <p:cNvPr id="326" name="Text 323"/>
          <p:cNvSpPr/>
          <p:nvPr/>
        </p:nvSpPr>
        <p:spPr>
          <a:xfrm>
            <a:off x="8979428" y="5960940"/>
            <a:ext cx="1159459" cy="28989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56,169</a:t>
            </a:r>
            <a:endParaRPr lang="en-US" sz="1013" dirty="0"/>
          </a:p>
        </p:txBody>
      </p:sp>
      <p:sp>
        <p:nvSpPr>
          <p:cNvPr id="327" name="Shape 324"/>
          <p:cNvSpPr/>
          <p:nvPr/>
        </p:nvSpPr>
        <p:spPr>
          <a:xfrm>
            <a:off x="538580" y="6241313"/>
            <a:ext cx="2404738" cy="544775"/>
          </a:xfrm>
          <a:prstGeom prst="rect">
            <a:avLst/>
          </a:prstGeom>
          <a:solidFill>
            <a:srgbClr val="FCF4EE"/>
          </a:solidFill>
          <a:ln/>
        </p:spPr>
        <p:txBody>
          <a:bodyPr/>
          <a:lstStyle/>
          <a:p>
            <a:endParaRPr lang="ko-KR" altLang="en-US"/>
          </a:p>
        </p:txBody>
      </p:sp>
      <p:sp>
        <p:nvSpPr>
          <p:cNvPr id="328" name="Shape 325"/>
          <p:cNvSpPr/>
          <p:nvPr/>
        </p:nvSpPr>
        <p:spPr>
          <a:xfrm>
            <a:off x="538580" y="6241313"/>
            <a:ext cx="2404738" cy="9525"/>
          </a:xfrm>
          <a:prstGeom prst="rect">
            <a:avLst/>
          </a:prstGeom>
          <a:solidFill>
            <a:srgbClr val="D3B9A5"/>
          </a:solidFill>
          <a:ln/>
        </p:spPr>
        <p:txBody>
          <a:bodyPr/>
          <a:lstStyle/>
          <a:p>
            <a:endParaRPr lang="ko-KR" altLang="en-US"/>
          </a:p>
        </p:txBody>
      </p:sp>
      <p:sp>
        <p:nvSpPr>
          <p:cNvPr id="329" name="Text 326"/>
          <p:cNvSpPr/>
          <p:nvPr/>
        </p:nvSpPr>
        <p:spPr>
          <a:xfrm>
            <a:off x="557630" y="6275105"/>
            <a:ext cx="2366638" cy="52050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주요 특징</a:t>
            </a:r>
            <a:endParaRPr lang="en-US" sz="1013" dirty="0"/>
          </a:p>
        </p:txBody>
      </p:sp>
      <p:sp>
        <p:nvSpPr>
          <p:cNvPr id="330" name="Shape 327"/>
          <p:cNvSpPr/>
          <p:nvPr/>
        </p:nvSpPr>
        <p:spPr>
          <a:xfrm>
            <a:off x="2943317" y="6241313"/>
            <a:ext cx="2404738" cy="544775"/>
          </a:xfrm>
          <a:prstGeom prst="rect">
            <a:avLst/>
          </a:prstGeom>
          <a:solidFill>
            <a:srgbClr val="F8E1D0"/>
          </a:solidFill>
          <a:ln/>
        </p:spPr>
        <p:txBody>
          <a:bodyPr/>
          <a:lstStyle/>
          <a:p>
            <a:endParaRPr lang="ko-KR" altLang="en-US"/>
          </a:p>
        </p:txBody>
      </p:sp>
      <p:sp>
        <p:nvSpPr>
          <p:cNvPr id="331" name="Shape 328"/>
          <p:cNvSpPr/>
          <p:nvPr/>
        </p:nvSpPr>
        <p:spPr>
          <a:xfrm>
            <a:off x="2943317" y="6241313"/>
            <a:ext cx="2404738" cy="9525"/>
          </a:xfrm>
          <a:prstGeom prst="rect">
            <a:avLst/>
          </a:prstGeom>
          <a:solidFill>
            <a:srgbClr val="D3B9A5"/>
          </a:solidFill>
          <a:ln/>
        </p:spPr>
        <p:txBody>
          <a:bodyPr/>
          <a:lstStyle/>
          <a:p>
            <a:endParaRPr lang="ko-KR" altLang="en-US"/>
          </a:p>
        </p:txBody>
      </p:sp>
      <p:sp>
        <p:nvSpPr>
          <p:cNvPr id="332" name="Shape 329"/>
          <p:cNvSpPr/>
          <p:nvPr/>
        </p:nvSpPr>
        <p:spPr>
          <a:xfrm>
            <a:off x="2943317" y="6241313"/>
            <a:ext cx="9525" cy="544775"/>
          </a:xfrm>
          <a:prstGeom prst="rect">
            <a:avLst/>
          </a:prstGeom>
          <a:solidFill>
            <a:srgbClr val="D3B9A5"/>
          </a:solidFill>
          <a:ln/>
        </p:spPr>
        <p:txBody>
          <a:bodyPr/>
          <a:lstStyle/>
          <a:p>
            <a:endParaRPr lang="ko-KR" altLang="en-US"/>
          </a:p>
        </p:txBody>
      </p:sp>
      <p:sp>
        <p:nvSpPr>
          <p:cNvPr id="333" name="Text 330"/>
          <p:cNvSpPr/>
          <p:nvPr/>
        </p:nvSpPr>
        <p:spPr>
          <a:xfrm>
            <a:off x="2967584" y="6275105"/>
            <a:ext cx="2361420" cy="52050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최소 보험료로 충분한 보장을 가져갈 수 </a:t>
            </a:r>
            <a:r>
              <a:rPr lang="en-US" sz="1013" b="1" kern="0" spc="-10" dirty="0" err="1">
                <a:solidFill>
                  <a:srgbClr val="7E3B1D"/>
                </a:solidFill>
                <a:latin typeface="Paperlogy 7 Bold" pitchFamily="2" charset="-127"/>
                <a:ea typeface="Paperlogy 7 Bold" pitchFamily="2" charset="-127"/>
                <a:cs typeface="Arial" pitchFamily="34" charset="-120"/>
              </a:rPr>
              <a:t>있는</a:t>
            </a:r>
            <a:r>
              <a:rPr lang="en-US" sz="1013" b="1" kern="0" spc="-10" dirty="0">
                <a:solidFill>
                  <a:srgbClr val="7E3B1D"/>
                </a:solidFill>
                <a:latin typeface="Paperlogy 7 Bold" pitchFamily="2" charset="-127"/>
                <a:ea typeface="Paperlogy 7 Bold" pitchFamily="2" charset="-127"/>
                <a:cs typeface="Arial" pitchFamily="34" charset="-120"/>
              </a:rPr>
              <a:t> </a:t>
            </a:r>
          </a:p>
          <a:p>
            <a:pPr marL="0" indent="0" algn="ctr">
              <a:lnSpc>
                <a:spcPct val="116195"/>
              </a:lnSpc>
              <a:buNone/>
            </a:pPr>
            <a:r>
              <a:rPr lang="en-US" sz="1013" b="1" kern="0" spc="-10" dirty="0" err="1">
                <a:solidFill>
                  <a:srgbClr val="7E3B1D"/>
                </a:solidFill>
                <a:latin typeface="Paperlogy 7 Bold" pitchFamily="2" charset="-127"/>
                <a:ea typeface="Paperlogy 7 Bold" pitchFamily="2" charset="-127"/>
                <a:cs typeface="Arial" pitchFamily="34" charset="-120"/>
              </a:rPr>
              <a:t>가성비</a:t>
            </a:r>
            <a:r>
              <a:rPr lang="en-US" sz="1013" b="1" kern="0" spc="-10" dirty="0">
                <a:solidFill>
                  <a:srgbClr val="7E3B1D"/>
                </a:solidFill>
                <a:latin typeface="Paperlogy 7 Bold" pitchFamily="2" charset="-127"/>
                <a:ea typeface="Paperlogy 7 Bold" pitchFamily="2" charset="-127"/>
                <a:cs typeface="Arial" pitchFamily="34" charset="-120"/>
              </a:rPr>
              <a:t> 플랜</a:t>
            </a:r>
            <a:endParaRPr lang="en-US" sz="1013" dirty="0"/>
          </a:p>
        </p:txBody>
      </p:sp>
      <p:sp>
        <p:nvSpPr>
          <p:cNvPr id="334" name="Shape 331"/>
          <p:cNvSpPr/>
          <p:nvPr/>
        </p:nvSpPr>
        <p:spPr>
          <a:xfrm>
            <a:off x="5348054" y="6241313"/>
            <a:ext cx="2404738" cy="544775"/>
          </a:xfrm>
          <a:prstGeom prst="rect">
            <a:avLst/>
          </a:prstGeom>
          <a:solidFill>
            <a:srgbClr val="FFFFFF"/>
          </a:solidFill>
          <a:ln/>
        </p:spPr>
        <p:txBody>
          <a:bodyPr/>
          <a:lstStyle/>
          <a:p>
            <a:endParaRPr lang="ko-KR" altLang="en-US"/>
          </a:p>
        </p:txBody>
      </p:sp>
      <p:sp>
        <p:nvSpPr>
          <p:cNvPr id="335" name="Shape 332"/>
          <p:cNvSpPr/>
          <p:nvPr/>
        </p:nvSpPr>
        <p:spPr>
          <a:xfrm>
            <a:off x="5348054" y="6241313"/>
            <a:ext cx="2404738" cy="9525"/>
          </a:xfrm>
          <a:prstGeom prst="rect">
            <a:avLst/>
          </a:prstGeom>
          <a:solidFill>
            <a:srgbClr val="D3B9A5"/>
          </a:solidFill>
          <a:ln/>
        </p:spPr>
        <p:txBody>
          <a:bodyPr/>
          <a:lstStyle/>
          <a:p>
            <a:endParaRPr lang="ko-KR" altLang="en-US"/>
          </a:p>
        </p:txBody>
      </p:sp>
      <p:sp>
        <p:nvSpPr>
          <p:cNvPr id="336" name="Shape 333"/>
          <p:cNvSpPr/>
          <p:nvPr/>
        </p:nvSpPr>
        <p:spPr>
          <a:xfrm>
            <a:off x="5348054" y="6241313"/>
            <a:ext cx="9525" cy="544775"/>
          </a:xfrm>
          <a:prstGeom prst="rect">
            <a:avLst/>
          </a:prstGeom>
          <a:solidFill>
            <a:srgbClr val="D3B9A5"/>
          </a:solidFill>
          <a:ln/>
        </p:spPr>
        <p:txBody>
          <a:bodyPr/>
          <a:lstStyle/>
          <a:p>
            <a:endParaRPr lang="ko-KR" altLang="en-US"/>
          </a:p>
        </p:txBody>
      </p:sp>
      <p:sp>
        <p:nvSpPr>
          <p:cNvPr id="337" name="Text 334"/>
          <p:cNvSpPr/>
          <p:nvPr/>
        </p:nvSpPr>
        <p:spPr>
          <a:xfrm>
            <a:off x="5372321" y="6275105"/>
            <a:ext cx="2361420" cy="52050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최대 보장금액을 가져갈 수 있는 </a:t>
            </a: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든든한</a:t>
            </a: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 </a:t>
            </a:r>
          </a:p>
          <a:p>
            <a:pPr marL="0" indent="0" algn="ctr">
              <a:lnSpc>
                <a:spcPct val="116195"/>
              </a:lnSpc>
              <a:buNone/>
            </a:pP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보장</a:t>
            </a:r>
            <a:r>
              <a:rPr lang="ko-KR" altLang="en-US" sz="1013" b="1" kern="0" spc="-10" dirty="0">
                <a:solidFill>
                  <a:srgbClr val="3A2C24"/>
                </a:solidFill>
                <a:highlight>
                  <a:srgbClr val="FFFFFF"/>
                </a:highlight>
                <a:latin typeface="Paperlogy 7 Bold" pitchFamily="2" charset="-127"/>
                <a:ea typeface="Paperlogy 7 Bold" pitchFamily="2" charset="-127"/>
                <a:cs typeface="Arial" pitchFamily="34" charset="-120"/>
              </a:rPr>
              <a:t> </a:t>
            </a: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플랜</a:t>
            </a:r>
            <a:endParaRPr lang="en-US" sz="1013" dirty="0"/>
          </a:p>
        </p:txBody>
      </p:sp>
      <p:sp>
        <p:nvSpPr>
          <p:cNvPr id="338" name="Shape 335"/>
          <p:cNvSpPr/>
          <p:nvPr/>
        </p:nvSpPr>
        <p:spPr>
          <a:xfrm>
            <a:off x="7752792" y="6241313"/>
            <a:ext cx="2405145" cy="544775"/>
          </a:xfrm>
          <a:prstGeom prst="rect">
            <a:avLst/>
          </a:prstGeom>
          <a:solidFill>
            <a:srgbClr val="FFFFFF"/>
          </a:solidFill>
          <a:ln/>
        </p:spPr>
        <p:txBody>
          <a:bodyPr/>
          <a:lstStyle/>
          <a:p>
            <a:endParaRPr lang="ko-KR" altLang="en-US"/>
          </a:p>
        </p:txBody>
      </p:sp>
      <p:sp>
        <p:nvSpPr>
          <p:cNvPr id="339" name="Shape 336"/>
          <p:cNvSpPr/>
          <p:nvPr/>
        </p:nvSpPr>
        <p:spPr>
          <a:xfrm>
            <a:off x="7752792" y="6241313"/>
            <a:ext cx="2405145" cy="9525"/>
          </a:xfrm>
          <a:prstGeom prst="rect">
            <a:avLst/>
          </a:prstGeom>
          <a:solidFill>
            <a:srgbClr val="D3B9A5"/>
          </a:solidFill>
          <a:ln/>
        </p:spPr>
        <p:txBody>
          <a:bodyPr/>
          <a:lstStyle/>
          <a:p>
            <a:endParaRPr lang="ko-KR" altLang="en-US"/>
          </a:p>
        </p:txBody>
      </p:sp>
      <p:sp>
        <p:nvSpPr>
          <p:cNvPr id="340" name="Shape 337"/>
          <p:cNvSpPr/>
          <p:nvPr/>
        </p:nvSpPr>
        <p:spPr>
          <a:xfrm>
            <a:off x="7752792" y="6241313"/>
            <a:ext cx="9525" cy="544775"/>
          </a:xfrm>
          <a:prstGeom prst="rect">
            <a:avLst/>
          </a:prstGeom>
          <a:solidFill>
            <a:srgbClr val="D3B9A5"/>
          </a:solidFill>
          <a:ln/>
        </p:spPr>
        <p:txBody>
          <a:bodyPr/>
          <a:lstStyle/>
          <a:p>
            <a:endParaRPr lang="ko-KR" altLang="en-US"/>
          </a:p>
        </p:txBody>
      </p:sp>
      <p:sp>
        <p:nvSpPr>
          <p:cNvPr id="341" name="Text 338"/>
          <p:cNvSpPr/>
          <p:nvPr/>
        </p:nvSpPr>
        <p:spPr>
          <a:xfrm>
            <a:off x="7777059" y="6275105"/>
            <a:ext cx="2361828" cy="52050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2종 50만, 3종 최대 400만 </a:t>
            </a: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경증부터</a:t>
            </a: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 </a:t>
            </a:r>
          </a:p>
          <a:p>
            <a:pPr marL="0" indent="0" algn="ctr">
              <a:lnSpc>
                <a:spcPct val="116195"/>
              </a:lnSpc>
              <a:buNone/>
            </a:pP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중등증질환</a:t>
            </a: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 보장 Best</a:t>
            </a:r>
            <a:endParaRPr lang="en-US" sz="1013" dirty="0"/>
          </a:p>
        </p:txBody>
      </p:sp>
      <p:sp>
        <p:nvSpPr>
          <p:cNvPr id="342" name="Text 339"/>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343" name="Text 340"/>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344" name="Text 341"/>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12485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KB손해보험 – 5.10.10 Young 플러스건강</a:t>
            </a:r>
            <a:endParaRPr lang="en-US" sz="2475" dirty="0"/>
          </a:p>
        </p:txBody>
      </p:sp>
      <p:sp>
        <p:nvSpPr>
          <p:cNvPr id="3" name="Shape 1"/>
          <p:cNvSpPr/>
          <p:nvPr/>
        </p:nvSpPr>
        <p:spPr>
          <a:xfrm>
            <a:off x="8937635" y="340821"/>
            <a:ext cx="122551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90035" y="407496"/>
            <a:ext cx="99691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1~5종 + N대수술</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871538"/>
            <a:ext cx="1428740" cy="884454"/>
          </a:xfrm>
          <a:prstGeom prst="roundRect">
            <a:avLst>
              <a:gd name="adj" fmla="val 17231"/>
            </a:avLst>
          </a:prstGeom>
          <a:solidFill>
            <a:srgbClr val="F6E2D3"/>
          </a:solidFill>
          <a:ln/>
        </p:spPr>
        <p:txBody>
          <a:bodyPr/>
          <a:lstStyle/>
          <a:p>
            <a:endParaRPr lang="ko-KR" altLang="en-US"/>
          </a:p>
        </p:txBody>
      </p:sp>
      <p:sp>
        <p:nvSpPr>
          <p:cNvPr id="7" name="Text 5"/>
          <p:cNvSpPr/>
          <p:nvPr/>
        </p:nvSpPr>
        <p:spPr>
          <a:xfrm>
            <a:off x="495263" y="1871538"/>
            <a:ext cx="1504940" cy="922554"/>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871538"/>
            <a:ext cx="8086765" cy="884454"/>
          </a:xfrm>
          <a:prstGeom prst="roundRect">
            <a:avLst>
              <a:gd name="adj" fmla="val 17231"/>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2315840"/>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2162470"/>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5세 - 40세 (간편상품 90세, 가입한도 상이)</a:t>
            </a:r>
            <a:endParaRPr lang="en-US" sz="1538" dirty="0"/>
          </a:p>
        </p:txBody>
      </p:sp>
      <p:sp>
        <p:nvSpPr>
          <p:cNvPr id="11" name="Shape 9"/>
          <p:cNvSpPr/>
          <p:nvPr/>
        </p:nvSpPr>
        <p:spPr>
          <a:xfrm>
            <a:off x="533363" y="2908347"/>
            <a:ext cx="1428740" cy="1259756"/>
          </a:xfrm>
          <a:prstGeom prst="roundRect">
            <a:avLst>
              <a:gd name="adj" fmla="val 12098"/>
            </a:avLst>
          </a:prstGeom>
          <a:solidFill>
            <a:srgbClr val="CF7446"/>
          </a:solidFill>
          <a:ln/>
        </p:spPr>
        <p:txBody>
          <a:bodyPr/>
          <a:lstStyle/>
          <a:p>
            <a:endParaRPr lang="ko-KR" altLang="en-US"/>
          </a:p>
        </p:txBody>
      </p:sp>
      <p:sp>
        <p:nvSpPr>
          <p:cNvPr id="12" name="Text 10"/>
          <p:cNvSpPr/>
          <p:nvPr/>
        </p:nvSpPr>
        <p:spPr>
          <a:xfrm>
            <a:off x="495263" y="2908347"/>
            <a:ext cx="1504940" cy="1297856"/>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3" name="Shape 11"/>
          <p:cNvSpPr/>
          <p:nvPr/>
        </p:nvSpPr>
        <p:spPr>
          <a:xfrm>
            <a:off x="2076389" y="2908347"/>
            <a:ext cx="8086765" cy="1259756"/>
          </a:xfrm>
          <a:prstGeom prst="roundRect">
            <a:avLst>
              <a:gd name="adj" fmla="val 12098"/>
            </a:avLst>
          </a:prstGeom>
          <a:solidFill>
            <a:srgbClr val="FCF4EE"/>
          </a:solidFill>
          <a:ln w="5217">
            <a:solidFill>
              <a:srgbClr val="F6E2D3"/>
            </a:solidFill>
            <a:prstDash val="solid"/>
          </a:ln>
        </p:spPr>
        <p:txBody>
          <a:bodyPr/>
          <a:lstStyle/>
          <a:p>
            <a:endParaRPr lang="ko-KR" altLang="en-US"/>
          </a:p>
        </p:txBody>
      </p:sp>
      <p:sp>
        <p:nvSpPr>
          <p:cNvPr id="14" name="Shape 12"/>
          <p:cNvSpPr/>
          <p:nvPr/>
        </p:nvSpPr>
        <p:spPr>
          <a:xfrm>
            <a:off x="2424465" y="3368300"/>
            <a:ext cx="47606" cy="47606"/>
          </a:xfrm>
          <a:prstGeom prst="ellipse">
            <a:avLst/>
          </a:prstGeom>
          <a:solidFill>
            <a:srgbClr val="CF7446"/>
          </a:solidFill>
          <a:ln/>
        </p:spPr>
        <p:txBody>
          <a:bodyPr/>
          <a:lstStyle/>
          <a:p>
            <a:endParaRPr lang="ko-KR" altLang="en-US"/>
          </a:p>
        </p:txBody>
      </p:sp>
      <p:sp>
        <p:nvSpPr>
          <p:cNvPr id="15" name="Text 13"/>
          <p:cNvSpPr/>
          <p:nvPr/>
        </p:nvSpPr>
        <p:spPr>
          <a:xfrm>
            <a:off x="2567281" y="3199279"/>
            <a:ext cx="6601934" cy="715991"/>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1~4세대 실손 전환시 절감되는 보험료로 보장의 공백을 준비할 수 있는 가장 우선시 되는 담보 ‘수술비‘를 가성비 있게 준비 할 수 있는 상품</a:t>
            </a:r>
            <a:endParaRPr lang="en-US" sz="1725" dirty="0"/>
          </a:p>
        </p:txBody>
      </p:sp>
      <p:pic>
        <p:nvPicPr>
          <p:cNvPr id="16" name="Image 0" descr="preencoded.png"/>
          <p:cNvPicPr>
            <a:picLocks noChangeAspect="1"/>
          </p:cNvPicPr>
          <p:nvPr/>
        </p:nvPicPr>
        <p:blipFill>
          <a:blip r:embed="rId3"/>
          <a:stretch>
            <a:fillRect/>
          </a:stretch>
        </p:blipFill>
        <p:spPr>
          <a:xfrm>
            <a:off x="9205498" y="3233434"/>
            <a:ext cx="609581" cy="609581"/>
          </a:xfrm>
          <a:prstGeom prst="rect">
            <a:avLst/>
          </a:prstGeom>
        </p:spPr>
      </p:pic>
      <p:sp>
        <p:nvSpPr>
          <p:cNvPr id="17" name="Shape 14"/>
          <p:cNvSpPr/>
          <p:nvPr/>
        </p:nvSpPr>
        <p:spPr>
          <a:xfrm>
            <a:off x="533363" y="4320457"/>
            <a:ext cx="1428740" cy="1694565"/>
          </a:xfrm>
          <a:prstGeom prst="roundRect">
            <a:avLst>
              <a:gd name="adj" fmla="val 10667"/>
            </a:avLst>
          </a:prstGeom>
          <a:solidFill>
            <a:srgbClr val="F6E2D3"/>
          </a:solidFill>
          <a:ln/>
        </p:spPr>
        <p:txBody>
          <a:bodyPr/>
          <a:lstStyle/>
          <a:p>
            <a:endParaRPr lang="ko-KR" altLang="en-US"/>
          </a:p>
        </p:txBody>
      </p:sp>
      <p:sp>
        <p:nvSpPr>
          <p:cNvPr id="18" name="Text 15"/>
          <p:cNvSpPr/>
          <p:nvPr/>
        </p:nvSpPr>
        <p:spPr>
          <a:xfrm>
            <a:off x="963688" y="4892948"/>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19" name="Text 16"/>
          <p:cNvSpPr/>
          <p:nvPr/>
        </p:nvSpPr>
        <p:spPr>
          <a:xfrm>
            <a:off x="963688" y="5188608"/>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0" name="Shape 17"/>
          <p:cNvSpPr/>
          <p:nvPr/>
        </p:nvSpPr>
        <p:spPr>
          <a:xfrm>
            <a:off x="2076389" y="4320457"/>
            <a:ext cx="8086765" cy="1694565"/>
          </a:xfrm>
          <a:prstGeom prst="roundRect">
            <a:avLst>
              <a:gd name="adj" fmla="val 8993"/>
            </a:avLst>
          </a:prstGeom>
          <a:solidFill>
            <a:srgbClr val="FFFFFF"/>
          </a:solidFill>
          <a:ln w="5217">
            <a:solidFill>
              <a:srgbClr val="EADFD3"/>
            </a:solidFill>
            <a:prstDash val="solid"/>
          </a:ln>
        </p:spPr>
        <p:txBody>
          <a:bodyPr/>
          <a:lstStyle/>
          <a:p>
            <a:endParaRPr lang="ko-KR" altLang="en-US"/>
          </a:p>
        </p:txBody>
      </p:sp>
      <p:sp>
        <p:nvSpPr>
          <p:cNvPr id="21" name="Shape 18"/>
          <p:cNvSpPr/>
          <p:nvPr/>
        </p:nvSpPr>
        <p:spPr>
          <a:xfrm>
            <a:off x="2424465" y="4796062"/>
            <a:ext cx="47606" cy="47606"/>
          </a:xfrm>
          <a:prstGeom prst="ellipse">
            <a:avLst/>
          </a:prstGeom>
          <a:solidFill>
            <a:srgbClr val="A69687"/>
          </a:solidFill>
          <a:ln/>
        </p:spPr>
        <p:txBody>
          <a:bodyPr/>
          <a:lstStyle/>
          <a:p>
            <a:endParaRPr lang="ko-KR" altLang="en-US"/>
          </a:p>
        </p:txBody>
      </p:sp>
      <p:sp>
        <p:nvSpPr>
          <p:cNvPr id="22" name="Text 19"/>
          <p:cNvSpPr/>
          <p:nvPr/>
        </p:nvSpPr>
        <p:spPr>
          <a:xfrm>
            <a:off x="2567281" y="4611390"/>
            <a:ext cx="7465231" cy="1150801"/>
          </a:xfrm>
          <a:prstGeom prst="rect">
            <a:avLst/>
          </a:prstGeom>
          <a:noFill/>
          <a:ln/>
        </p:spPr>
        <p:txBody>
          <a:bodyPr wrap="square" lIns="25400" tIns="25400" rIns="25400" bIns="25400" rtlCol="0" anchor="t">
            <a:normAutofit lnSpcReduction="10000"/>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계속해서 증가하는 로봇수술, 비급여수술. 비중증질환은 실손에서는 50% 보상 가능. </a:t>
            </a:r>
            <a:r>
              <a:rPr lang="en-US" sz="1538" b="1" dirty="0" err="1">
                <a:solidFill>
                  <a:srgbClr val="3A2C24"/>
                </a:solidFill>
                <a:latin typeface="Paperlogy 7 Bold" pitchFamily="2" charset="-127"/>
                <a:ea typeface="Paperlogy 7 Bold" pitchFamily="2" charset="-127"/>
                <a:cs typeface="Arial" pitchFamily="34" charset="-120"/>
              </a:rPr>
              <a:t>환자가</a:t>
            </a:r>
            <a:r>
              <a:rPr lang="en-US" sz="1538" b="1" dirty="0">
                <a:solidFill>
                  <a:srgbClr val="3A2C24"/>
                </a:solidFill>
                <a:latin typeface="Paperlogy 7 Bold" pitchFamily="2" charset="-127"/>
                <a:ea typeface="Paperlogy 7 Bold" pitchFamily="2" charset="-127"/>
                <a:cs typeface="Arial" pitchFamily="34" charset="-120"/>
              </a:rPr>
              <a:t> </a:t>
            </a:r>
            <a:r>
              <a:rPr lang="ko-KR" altLang="en-US" sz="1538" b="1" dirty="0">
                <a:solidFill>
                  <a:srgbClr val="3A2C24"/>
                </a:solidFill>
                <a:latin typeface="Paperlogy 7 Bold" pitchFamily="2" charset="-127"/>
                <a:ea typeface="Paperlogy 7 Bold" pitchFamily="2" charset="-127"/>
                <a:cs typeface="Arial" pitchFamily="34" charset="-120"/>
              </a:rPr>
              <a:t>     </a:t>
            </a:r>
            <a:r>
              <a:rPr lang="en-US" sz="1538" b="1" dirty="0" err="1">
                <a:solidFill>
                  <a:srgbClr val="3A2C24"/>
                </a:solidFill>
                <a:latin typeface="Paperlogy 7 Bold" pitchFamily="2" charset="-127"/>
                <a:ea typeface="Paperlogy 7 Bold" pitchFamily="2" charset="-127"/>
                <a:cs typeface="Arial" pitchFamily="34" charset="-120"/>
              </a:rPr>
              <a:t>느끼는</a:t>
            </a:r>
            <a:r>
              <a:rPr lang="en-US" sz="1538" b="1" dirty="0">
                <a:solidFill>
                  <a:srgbClr val="3A2C24"/>
                </a:solidFill>
                <a:latin typeface="Paperlogy 7 Bold" pitchFamily="2" charset="-127"/>
                <a:ea typeface="Paperlogy 7 Bold" pitchFamily="2" charset="-127"/>
                <a:cs typeface="Arial" pitchFamily="34" charset="-120"/>
              </a:rPr>
              <a:t> 고통은 적고 일상생활 복귀도 압도적으로 빨리 할 수 있는 장점을 가진 로봇수술과 비급여수술을 금전적인 사유로 하지 못하는 일이 발생하지 않도록 돕는 상품!</a:t>
            </a:r>
            <a:endParaRPr lang="en-US" sz="1538" dirty="0"/>
          </a:p>
        </p:txBody>
      </p:sp>
      <p:sp>
        <p:nvSpPr>
          <p:cNvPr id="23" name="Text 2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4" name="Text 2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5" name="Text 2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818368"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허가부터 건보까지 평균 659일… 그 사이 치료비는?</a:t>
            </a:r>
            <a:endParaRPr lang="en-US" sz="2475" dirty="0"/>
          </a:p>
        </p:txBody>
      </p:sp>
      <p:sp>
        <p:nvSpPr>
          <p:cNvPr id="3" name="Shape 1"/>
          <p:cNvSpPr/>
          <p:nvPr/>
        </p:nvSpPr>
        <p:spPr>
          <a:xfrm>
            <a:off x="8875682" y="340821"/>
            <a:ext cx="1287472"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비급여 암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807258" cy="247647"/>
          </a:xfrm>
          <a:prstGeom prst="rect">
            <a:avLst/>
          </a:prstGeom>
        </p:spPr>
      </p:pic>
      <p:sp>
        <p:nvSpPr>
          <p:cNvPr id="8" name="Shape 5"/>
          <p:cNvSpPr/>
          <p:nvPr/>
        </p:nvSpPr>
        <p:spPr>
          <a:xfrm>
            <a:off x="1802983"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1898233"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7987967" y="1425806"/>
            <a:ext cx="2009823"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김미경 기자 입력: 2026.03.11 08:52</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신약 허가받아도 건보 적용까지 ‘최대 3년 10개월’…환자단체 “신속등재 조속히 추진해야”</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445357"/>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국내에서 암 환자와 중증·희귀질환 환자들이 신약을 건강보험 급여로 처방받기까지 수년이 걸리는 것으로 나타났다.</a:t>
            </a:r>
            <a:endParaRPr lang="en-US" sz="881" dirty="0"/>
          </a:p>
        </p:txBody>
      </p:sp>
      <p:sp>
        <p:nvSpPr>
          <p:cNvPr id="14" name="Text 11"/>
          <p:cNvSpPr/>
          <p:nvPr/>
        </p:nvSpPr>
        <p:spPr>
          <a:xfrm>
            <a:off x="881438" y="2890168"/>
            <a:ext cx="2870997" cy="1056241"/>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최근 한국환자단체연합회는 2021년부터 2025년까지 5년간 건강보험에 등재된 항암제 32개와 2022년부터 2025년까지 4년간 건강보험 등재된 희귀질환 치료제 20개의 식품의약품 안전처 허가 이후 건강보험 등재까지 소요 기간을 분석한 결과를 공개하고, 신속등재·사후평가 관리체계 도입을 촉구했다.</a:t>
            </a:r>
            <a:endParaRPr lang="en-US" sz="881" dirty="0"/>
          </a:p>
        </p:txBody>
      </p:sp>
      <p:sp>
        <p:nvSpPr>
          <p:cNvPr id="15" name="Text 12"/>
          <p:cNvSpPr/>
          <p:nvPr/>
        </p:nvSpPr>
        <p:spPr>
          <a:xfrm>
            <a:off x="881438" y="3975398"/>
            <a:ext cx="2870997" cy="852613"/>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분석 결과 항암제는 식약처 허가 이후 건강보험 등재까지 평균 1년 10개월(659일)이 걸렸으며, 희귀질환 치료제는 평균 2년 11개월이 소요됐다. 희귀질환 치료제 가운데는 건강보험 등재까지 최대 3년 10개월이 걸린 사례도 확인됐다.</a:t>
            </a:r>
            <a:endParaRPr lang="en-US" sz="881" dirty="0"/>
          </a:p>
        </p:txBody>
      </p:sp>
      <p:sp>
        <p:nvSpPr>
          <p:cNvPr id="16" name="Text 13"/>
          <p:cNvSpPr/>
          <p:nvPr/>
        </p:nvSpPr>
        <p:spPr>
          <a:xfrm>
            <a:off x="881438" y="4856999"/>
            <a:ext cx="2870997" cy="1463498"/>
          </a:xfrm>
          <a:prstGeom prst="rect">
            <a:avLst/>
          </a:prstGeom>
          <a:noFill/>
          <a:ln/>
        </p:spPr>
        <p:txBody>
          <a:bodyPr wrap="square" lIns="25400" tIns="25400" rIns="25400" bIns="25400" rtlCol="0" anchor="t">
            <a:normAutofit/>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신약은 식약처 허가 이후 제약사가 건강보험 등재를 신청하면서 급여 절차가 시작된다. 이후 건강보험심사평가원의 급여 적정성 평가, 국민건강보험공단 약가 협상, 보건복지부 건강보험정책심의위원회 심의·고시를 거쳐 건강보험 적용 여부가 결정된다. 심평원의 급여 적정성 평가는 암질환심의위원회와 약제급여평가위원회에서 신약의 임상적 유용성과 비용효과성 등을 검토하는 단계다.</a:t>
            </a:r>
            <a:endParaRPr lang="en-US" sz="881" dirty="0"/>
          </a:p>
        </p:txBody>
      </p:sp>
      <p:sp>
        <p:nvSpPr>
          <p:cNvPr id="17" name="Text 14"/>
          <p:cNvSpPr/>
          <p:nvPr/>
        </p:nvSpPr>
        <p:spPr>
          <a:xfrm>
            <a:off x="3954611" y="2415824"/>
            <a:ext cx="2870997" cy="1056241"/>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환자단체연합이 단계별 소요 기간을 분석한 결과 항암제는 식약처 허가 이후 건보 등재 신청까지 평균 191일(약 6개월)이 걸렸다. 이후 암질심 심의·통과까지 평균 156일(약 5개월), 약평위 평가·통과까지는 평균 201일(약 6~7개월)이 소요된 것으로 나타났다.</a:t>
            </a:r>
            <a:endParaRPr lang="en-US" sz="881" dirty="0"/>
          </a:p>
        </p:txBody>
      </p:sp>
      <p:sp>
        <p:nvSpPr>
          <p:cNvPr id="18" name="Text 15"/>
          <p:cNvSpPr/>
          <p:nvPr/>
        </p:nvSpPr>
        <p:spPr>
          <a:xfrm>
            <a:off x="3954611" y="3501053"/>
            <a:ext cx="2870997" cy="852613"/>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환자단체연합은 건보 등재 기간 동안 환자가 허가된 치료제가 존재함에도 상당한 기간 고액의 비급여 치료 여부를 결정해야 하는 상황이 발생한다며 “허가된 치료제가 있음에도 건보 적용을 받기까지 긴 시간을 기다려야 하는 현실”이라고 지적했다.</a:t>
            </a:r>
            <a:endParaRPr lang="en-US" sz="881" dirty="0"/>
          </a:p>
        </p:txBody>
      </p:sp>
      <p:sp>
        <p:nvSpPr>
          <p:cNvPr id="19" name="Text 16"/>
          <p:cNvSpPr/>
          <p:nvPr/>
        </p:nvSpPr>
        <p:spPr>
          <a:xfrm>
            <a:off x="3954611" y="4382654"/>
            <a:ext cx="2870997" cy="1259870"/>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이와 관련해 정부는 최근 약가제도 개편방안을 발표하면서 2026년부터 희귀질환 치료제는 건강보험 등재 기간을 현행 최대 240일에서 100일 이내로 단축하는 ‘희귀질환 치료제 신속 등재-사후평가 제도’ 시범사업을 추진하고, 중증질환 치료 성과를 획기적으로 높인 혁신 신약은 ‘신속 등재-後평가·조정 트랙’을 중장기 과제로 추진하겠다고 정책 방향을 제시한 바 있다.</a:t>
            </a:r>
            <a:endParaRPr lang="en-US" sz="881" dirty="0"/>
          </a:p>
        </p:txBody>
      </p:sp>
      <p:sp>
        <p:nvSpPr>
          <p:cNvPr id="20" name="Text 17"/>
          <p:cNvSpPr/>
          <p:nvPr/>
        </p:nvSpPr>
        <p:spPr>
          <a:xfrm>
            <a:off x="3954611" y="5671512"/>
            <a:ext cx="2870997" cy="852613"/>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환자단체연합은 이러한 정책이 실효성을 거두기 위해서는 신약의 임상적 효과의 불확실성에 대한 우려를 초기 단계에서 진입을 차단할 게 아니라, 성과 기반의 정교한 사후평가 및 관리 체계를 갖추는 것이 중요하다고 밝혔다.</a:t>
            </a:r>
            <a:endParaRPr lang="en-US" sz="881" dirty="0"/>
          </a:p>
        </p:txBody>
      </p:sp>
      <p:sp>
        <p:nvSpPr>
          <p:cNvPr id="21" name="Text 18"/>
          <p:cNvSpPr/>
          <p:nvPr/>
        </p:nvSpPr>
        <p:spPr>
          <a:xfrm>
            <a:off x="7027702" y="2415824"/>
            <a:ext cx="2870997" cy="648985"/>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그러면서 “이는 중증질환 환자에게 치료의 길을 우선 열어주면서도 건강보험 재정의 지속가능성을 함께 고려할 수 있는 합리적인 정책 방향이 될 것”이라고 덧붙였다.</a:t>
            </a:r>
            <a:endParaRPr lang="en-US" sz="881" dirty="0"/>
          </a:p>
        </p:txBody>
      </p:sp>
      <p:sp>
        <p:nvSpPr>
          <p:cNvPr id="22" name="Text 19"/>
          <p:cNvSpPr/>
          <p:nvPr/>
        </p:nvSpPr>
        <p:spPr>
          <a:xfrm>
            <a:off x="7027702" y="3093797"/>
            <a:ext cx="2870997" cy="1259870"/>
          </a:xfrm>
          <a:prstGeom prst="rect">
            <a:avLst/>
          </a:prstGeom>
          <a:noFill/>
          <a:ln/>
        </p:spPr>
        <p:txBody>
          <a:bodyPr wrap="square" lIns="25400" tIns="25400" rIns="25400" bIns="25400" rtlCol="0" anchor="t">
            <a:normAutofit/>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아울러 “신약 접근성 개선을 위해서는 정부의 제도 개선뿐만 아니라 제약사의 책임 있는 역할도 중요하다”며 “이번 분석 결과에서도 나타났듯이 식약처 허가 이후에도 제약사의 건강보험 등재 신청 자체가 늦어지거나 자료 보완 과정이 반복되면서 전체 건강보험 등재 절차가 지연되는 사례가 확인되고 있다”고 지적했다.</a:t>
            </a:r>
            <a:endParaRPr lang="en-US" sz="881" dirty="0"/>
          </a:p>
        </p:txBody>
      </p:sp>
      <p:sp>
        <p:nvSpPr>
          <p:cNvPr id="23" name="Text 20"/>
          <p:cNvSpPr/>
          <p:nvPr/>
        </p:nvSpPr>
        <p:spPr>
          <a:xfrm>
            <a:off x="7027702" y="4382654"/>
            <a:ext cx="2870997" cy="1056241"/>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이어 “환자의 치료 접근성을 실질적으로 높이기 위해서는 식약처 허가 이후 신속한 건보 등재 신청과 합리적 약가 수용, 성실한 자료 제출을 통해 제약사가 적극적인 역할을 해야 한다”며 “환자의 치료 시기가 제약사의 이익이나 행정적 절차에 의해 지연되어 치료 기회를 잃는 일이 있어서는 안 된다”고 말했다.</a:t>
            </a:r>
            <a:endParaRPr lang="en-US" sz="881" dirty="0"/>
          </a:p>
        </p:txBody>
      </p:sp>
      <p:sp>
        <p:nvSpPr>
          <p:cNvPr id="24" name="Text 21"/>
          <p:cNvSpPr/>
          <p:nvPr/>
        </p:nvSpPr>
        <p:spPr>
          <a:xfrm>
            <a:off x="7027702" y="5467884"/>
            <a:ext cx="2870997" cy="1056241"/>
          </a:xfrm>
          <a:prstGeom prst="rect">
            <a:avLst/>
          </a:prstGeom>
          <a:noFill/>
          <a:ln/>
        </p:spPr>
        <p:txBody>
          <a:bodyPr wrap="square" lIns="25400" tIns="25400" rIns="25400" bIns="25400" rtlCol="0" anchor="t">
            <a:normAutofit lnSpcReduction="10000"/>
          </a:bodyPr>
          <a:lstStyle/>
          <a:p>
            <a:pPr marL="0" indent="0" algn="just">
              <a:lnSpc>
                <a:spcPct val="156174"/>
              </a:lnSpc>
              <a:buNone/>
            </a:pPr>
            <a:r>
              <a:rPr lang="en-US" sz="881" b="1" kern="0" spc="-9" dirty="0">
                <a:solidFill>
                  <a:srgbClr val="4A3B31"/>
                </a:solidFill>
                <a:latin typeface="Paperlogy 7 Bold" pitchFamily="2" charset="-127"/>
                <a:ea typeface="Paperlogy 7 Bold" pitchFamily="2" charset="-127"/>
                <a:cs typeface="Arial" pitchFamily="34" charset="-120"/>
              </a:rPr>
              <a:t>환자단체연합은 끝으로 “암·희귀질환과 같은 중증질환 환자가 치료제를 기다리는 시간이 치료 기회를 잃는 시간이 되어서는 안 된다”며 “정부는 환자의 생명과 치료 시기를 최우선으로 하는 신속등재·사후평가 관리체계를 조속히 마련하고 실효성 있게 운영해야 한다”고 강조했다.</a:t>
            </a:r>
            <a:endParaRPr lang="en-US" sz="881" dirty="0"/>
          </a:p>
        </p:txBody>
      </p:sp>
      <p:sp>
        <p:nvSpPr>
          <p:cNvPr id="25" name="Text 22"/>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6" name="Text 23"/>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7" name="Text 24"/>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818368"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허가부터 건보까지 평균 659일… 그 사이 치료비는?</a:t>
            </a:r>
            <a:endParaRPr lang="en-US" sz="2475" dirty="0"/>
          </a:p>
        </p:txBody>
      </p:sp>
      <p:sp>
        <p:nvSpPr>
          <p:cNvPr id="3" name="Shape 1"/>
          <p:cNvSpPr/>
          <p:nvPr/>
        </p:nvSpPr>
        <p:spPr>
          <a:xfrm>
            <a:off x="8875682" y="340821"/>
            <a:ext cx="1287472"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비급여 암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51873" y="1095338"/>
            <a:ext cx="10592770" cy="215480"/>
          </a:xfrm>
          <a:prstGeom prst="rect">
            <a:avLst/>
          </a:prstGeom>
          <a:noFill/>
          <a:ln/>
        </p:spPr>
        <p:txBody>
          <a:bodyPr wrap="square" lIns="25400" tIns="25400" rIns="25400" bIns="25400" rtlCol="0" anchor="t">
            <a:normAutofit lnSpcReduction="10000"/>
          </a:bodyPr>
          <a:lstStyle/>
          <a:p>
            <a:pPr marL="0" indent="0" algn="ctr">
              <a:buNone/>
            </a:pPr>
            <a:r>
              <a:rPr lang="en-US" sz="1125" b="1" dirty="0">
                <a:solidFill>
                  <a:srgbClr val="7B6B60"/>
                </a:solidFill>
                <a:latin typeface="Paperlogy 7 Bold" pitchFamily="2" charset="-127"/>
                <a:ea typeface="Paperlogy 7 Bold" pitchFamily="2" charset="-127"/>
                <a:cs typeface="Arial" pitchFamily="34" charset="-120"/>
              </a:rPr>
              <a:t>허가된 항암 신약, 건보 적용까지 </a:t>
            </a:r>
            <a:r>
              <a:rPr lang="en-US" sz="1125" b="1" dirty="0">
                <a:solidFill>
                  <a:srgbClr val="CF7446"/>
                </a:solidFill>
                <a:latin typeface="Paperlogy 7 Bold" pitchFamily="2" charset="-127"/>
                <a:ea typeface="Paperlogy 7 Bold" pitchFamily="2" charset="-127"/>
                <a:cs typeface="Arial" pitchFamily="34" charset="-120"/>
              </a:rPr>
              <a:t>659일</a:t>
            </a:r>
            <a:r>
              <a:rPr lang="en-US" sz="1125" b="1" dirty="0">
                <a:solidFill>
                  <a:srgbClr val="7B6B60"/>
                </a:solidFill>
                <a:latin typeface="Paperlogy 7 Bold" pitchFamily="2" charset="-127"/>
                <a:ea typeface="Paperlogy 7 Bold" pitchFamily="2" charset="-127"/>
                <a:cs typeface="Arial" pitchFamily="34" charset="-120"/>
              </a:rPr>
              <a:t>. 그 사이에 키트루다 1회는 </a:t>
            </a:r>
            <a:r>
              <a:rPr lang="en-US" sz="1125" b="1" dirty="0">
                <a:solidFill>
                  <a:srgbClr val="CF7446"/>
                </a:solidFill>
                <a:latin typeface="Paperlogy 7 Bold" pitchFamily="2" charset="-127"/>
                <a:ea typeface="Paperlogy 7 Bold" pitchFamily="2" charset="-127"/>
                <a:cs typeface="Arial" pitchFamily="34" charset="-120"/>
              </a:rPr>
              <a:t>420만원</a:t>
            </a:r>
            <a:endParaRPr lang="en-US" sz="1125" dirty="0"/>
          </a:p>
        </p:txBody>
      </p:sp>
      <p:sp>
        <p:nvSpPr>
          <p:cNvPr id="7" name="Text 5"/>
          <p:cNvSpPr/>
          <p:nvPr/>
        </p:nvSpPr>
        <p:spPr>
          <a:xfrm>
            <a:off x="51873" y="1323910"/>
            <a:ext cx="10592770" cy="345906"/>
          </a:xfrm>
          <a:prstGeom prst="rect">
            <a:avLst/>
          </a:prstGeom>
          <a:noFill/>
          <a:ln/>
        </p:spPr>
        <p:txBody>
          <a:bodyPr wrap="square" lIns="25400" tIns="25400" rIns="25400" bIns="25400" rtlCol="0" anchor="t">
            <a:normAutofit lnSpcReduction="10000"/>
          </a:bodyPr>
          <a:lstStyle/>
          <a:p>
            <a:pPr marL="0" indent="0" algn="ctr">
              <a:buNone/>
            </a:pPr>
            <a:r>
              <a:rPr lang="en-US" sz="2025" b="1" kern="0" spc="-61" dirty="0">
                <a:solidFill>
                  <a:srgbClr val="3A2C24"/>
                </a:solidFill>
                <a:latin typeface="Paperlogy 7 Bold" pitchFamily="2" charset="-127"/>
                <a:ea typeface="Paperlogy 7 Bold" pitchFamily="2" charset="-127"/>
                <a:cs typeface="Arial" pitchFamily="34" charset="-120"/>
              </a:rPr>
              <a:t>신약 출시는 빠르게 진행되는데, 급여 전환은 느리다!</a:t>
            </a:r>
            <a:endParaRPr lang="en-US" sz="2025" dirty="0"/>
          </a:p>
        </p:txBody>
      </p:sp>
      <p:sp>
        <p:nvSpPr>
          <p:cNvPr id="8" name="Shape 6"/>
          <p:cNvSpPr/>
          <p:nvPr/>
        </p:nvSpPr>
        <p:spPr>
          <a:xfrm>
            <a:off x="533363" y="1800211"/>
            <a:ext cx="4719644" cy="3047984"/>
          </a:xfrm>
          <a:prstGeom prst="roundRect">
            <a:avLst>
              <a:gd name="adj" fmla="val 5000"/>
            </a:avLst>
          </a:prstGeom>
          <a:solidFill>
            <a:srgbClr val="FFFFFF"/>
          </a:solidFill>
          <a:ln w="5217">
            <a:solidFill>
              <a:srgbClr val="EADFD3"/>
            </a:solidFill>
            <a:prstDash val="solid"/>
          </a:ln>
        </p:spPr>
        <p:txBody>
          <a:bodyPr/>
          <a:lstStyle/>
          <a:p>
            <a:endParaRPr lang="ko-KR" altLang="en-US"/>
          </a:p>
        </p:txBody>
      </p:sp>
      <p:sp>
        <p:nvSpPr>
          <p:cNvPr id="9" name="Text 7"/>
          <p:cNvSpPr/>
          <p:nvPr/>
        </p:nvSpPr>
        <p:spPr>
          <a:xfrm>
            <a:off x="786227" y="2014925"/>
            <a:ext cx="4635307" cy="267651"/>
          </a:xfrm>
          <a:prstGeom prst="rect">
            <a:avLst/>
          </a:prstGeom>
          <a:noFill/>
          <a:ln/>
        </p:spPr>
        <p:txBody>
          <a:bodyPr wrap="non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허가에서 급여까지, 단계별 소요일</a:t>
            </a:r>
            <a:endParaRPr lang="en-US" sz="1500" dirty="0"/>
          </a:p>
        </p:txBody>
      </p:sp>
      <p:sp>
        <p:nvSpPr>
          <p:cNvPr id="10" name="Shape 8"/>
          <p:cNvSpPr/>
          <p:nvPr/>
        </p:nvSpPr>
        <p:spPr>
          <a:xfrm>
            <a:off x="786227" y="2555706"/>
            <a:ext cx="1252338" cy="851196"/>
          </a:xfrm>
          <a:prstGeom prst="roundRect">
            <a:avLst>
              <a:gd name="adj" fmla="val 13428"/>
            </a:avLst>
          </a:prstGeom>
          <a:solidFill>
            <a:srgbClr val="FCF4EE"/>
          </a:solidFill>
          <a:ln/>
        </p:spPr>
        <p:txBody>
          <a:bodyPr/>
          <a:lstStyle/>
          <a:p>
            <a:endParaRPr lang="ko-KR" altLang="en-US"/>
          </a:p>
        </p:txBody>
      </p:sp>
      <p:sp>
        <p:nvSpPr>
          <p:cNvPr id="11" name="Text 9"/>
          <p:cNvSpPr/>
          <p:nvPr/>
        </p:nvSpPr>
        <p:spPr>
          <a:xfrm>
            <a:off x="1086697" y="2708061"/>
            <a:ext cx="727517" cy="346722"/>
          </a:xfrm>
          <a:prstGeom prst="rect">
            <a:avLst/>
          </a:prstGeom>
          <a:noFill/>
          <a:ln/>
        </p:spPr>
        <p:txBody>
          <a:bodyPr wrap="none" lIns="25400" tIns="25400" rIns="25400" bIns="25400" rtlCol="0" anchor="t">
            <a:normAutofit lnSpcReduction="10000"/>
          </a:bodyPr>
          <a:lstStyle/>
          <a:p>
            <a:pPr marL="0" indent="0" algn="l">
              <a:lnSpc>
                <a:spcPct val="103779"/>
              </a:lnSpc>
              <a:buNone/>
            </a:pPr>
            <a:r>
              <a:rPr lang="en-US" sz="2025" b="1" dirty="0">
                <a:solidFill>
                  <a:srgbClr val="CF7446"/>
                </a:solidFill>
                <a:latin typeface="Paperlogy 7 Bold" pitchFamily="2" charset="-127"/>
                <a:ea typeface="Paperlogy 7 Bold" pitchFamily="2" charset="-127"/>
                <a:cs typeface="Arial" pitchFamily="34" charset="-120"/>
              </a:rPr>
              <a:t>191일</a:t>
            </a:r>
            <a:endParaRPr lang="en-US" sz="2025" dirty="0"/>
          </a:p>
        </p:txBody>
      </p:sp>
      <p:sp>
        <p:nvSpPr>
          <p:cNvPr id="12" name="Text 10"/>
          <p:cNvSpPr/>
          <p:nvPr/>
        </p:nvSpPr>
        <p:spPr>
          <a:xfrm>
            <a:off x="938794" y="3092818"/>
            <a:ext cx="947123" cy="199829"/>
          </a:xfrm>
          <a:prstGeom prst="rect">
            <a:avLst/>
          </a:prstGeom>
          <a:noFill/>
          <a:ln/>
        </p:spPr>
        <p:txBody>
          <a:bodyPr wrap="none" lIns="25400" tIns="25400" rIns="25400" bIns="25400" rtlCol="0" anchor="t">
            <a:normAutofit fontScale="92500" lnSpcReduction="10000"/>
          </a:bodyPr>
          <a:lstStyle/>
          <a:p>
            <a:pPr marL="0" indent="0" algn="ctr">
              <a:buNone/>
            </a:pPr>
            <a:r>
              <a:rPr lang="en-US" sz="1088" b="1" kern="0" spc="-33" dirty="0">
                <a:solidFill>
                  <a:srgbClr val="4A3B31"/>
                </a:solidFill>
                <a:latin typeface="Paperlogy 7 Bold" pitchFamily="2" charset="-127"/>
                <a:ea typeface="Paperlogy 7 Bold" pitchFamily="2" charset="-127"/>
                <a:cs typeface="Arial" pitchFamily="34" charset="-120"/>
              </a:rPr>
              <a:t>허가 → 등재 신청</a:t>
            </a:r>
            <a:endParaRPr lang="en-US" sz="1088" dirty="0"/>
          </a:p>
        </p:txBody>
      </p:sp>
      <p:sp>
        <p:nvSpPr>
          <p:cNvPr id="13" name="Text 11"/>
          <p:cNvSpPr/>
          <p:nvPr/>
        </p:nvSpPr>
        <p:spPr>
          <a:xfrm>
            <a:off x="2114702" y="2850877"/>
            <a:ext cx="152336" cy="298953"/>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A69687"/>
                </a:solidFill>
                <a:latin typeface="Paperlogy 7 Bold" pitchFamily="2" charset="-127"/>
                <a:ea typeface="Paperlogy 7 Bold" pitchFamily="2" charset="-127"/>
                <a:cs typeface="Arial" pitchFamily="34" charset="-120"/>
              </a:rPr>
              <a:t>›</a:t>
            </a:r>
            <a:endParaRPr lang="en-US" sz="1800" dirty="0"/>
          </a:p>
        </p:txBody>
      </p:sp>
      <p:sp>
        <p:nvSpPr>
          <p:cNvPr id="14" name="Shape 12"/>
          <p:cNvSpPr/>
          <p:nvPr/>
        </p:nvSpPr>
        <p:spPr>
          <a:xfrm>
            <a:off x="2266975" y="2555706"/>
            <a:ext cx="1252420" cy="851196"/>
          </a:xfrm>
          <a:prstGeom prst="roundRect">
            <a:avLst>
              <a:gd name="adj" fmla="val 13428"/>
            </a:avLst>
          </a:prstGeom>
          <a:solidFill>
            <a:srgbClr val="FCF4EE"/>
          </a:solidFill>
          <a:ln/>
        </p:spPr>
        <p:txBody>
          <a:bodyPr/>
          <a:lstStyle/>
          <a:p>
            <a:endParaRPr lang="ko-KR" altLang="en-US"/>
          </a:p>
        </p:txBody>
      </p:sp>
      <p:sp>
        <p:nvSpPr>
          <p:cNvPr id="15" name="Text 13"/>
          <p:cNvSpPr/>
          <p:nvPr/>
        </p:nvSpPr>
        <p:spPr>
          <a:xfrm>
            <a:off x="2567526" y="2708061"/>
            <a:ext cx="727517" cy="346722"/>
          </a:xfrm>
          <a:prstGeom prst="rect">
            <a:avLst/>
          </a:prstGeom>
          <a:noFill/>
          <a:ln/>
        </p:spPr>
        <p:txBody>
          <a:bodyPr wrap="none" lIns="25400" tIns="25400" rIns="25400" bIns="25400" rtlCol="0" anchor="t">
            <a:normAutofit lnSpcReduction="10000"/>
          </a:bodyPr>
          <a:lstStyle/>
          <a:p>
            <a:pPr marL="0" indent="0" algn="l">
              <a:lnSpc>
                <a:spcPct val="103779"/>
              </a:lnSpc>
              <a:buNone/>
            </a:pPr>
            <a:r>
              <a:rPr lang="en-US" sz="2025" b="1" dirty="0">
                <a:solidFill>
                  <a:srgbClr val="CF7446"/>
                </a:solidFill>
                <a:latin typeface="Paperlogy 7 Bold" pitchFamily="2" charset="-127"/>
                <a:ea typeface="Paperlogy 7 Bold" pitchFamily="2" charset="-127"/>
                <a:cs typeface="Arial" pitchFamily="34" charset="-120"/>
              </a:rPr>
              <a:t>156일</a:t>
            </a:r>
            <a:endParaRPr lang="en-US" sz="2025" dirty="0"/>
          </a:p>
        </p:txBody>
      </p:sp>
      <p:sp>
        <p:nvSpPr>
          <p:cNvPr id="16" name="Text 14"/>
          <p:cNvSpPr/>
          <p:nvPr/>
        </p:nvSpPr>
        <p:spPr>
          <a:xfrm>
            <a:off x="2385549" y="3092818"/>
            <a:ext cx="1015270" cy="199829"/>
          </a:xfrm>
          <a:prstGeom prst="rect">
            <a:avLst/>
          </a:prstGeom>
          <a:noFill/>
          <a:ln/>
        </p:spPr>
        <p:txBody>
          <a:bodyPr wrap="none" lIns="25400" tIns="25400" rIns="25400" bIns="25400" rtlCol="0" anchor="t">
            <a:normAutofit fontScale="92500" lnSpcReduction="10000"/>
          </a:bodyPr>
          <a:lstStyle/>
          <a:p>
            <a:pPr marL="0" indent="0" algn="ctr">
              <a:buNone/>
            </a:pPr>
            <a:r>
              <a:rPr lang="en-US" sz="1088" b="1" kern="0" spc="-33" dirty="0">
                <a:solidFill>
                  <a:srgbClr val="4A3B31"/>
                </a:solidFill>
                <a:latin typeface="Paperlogy 7 Bold" pitchFamily="2" charset="-127"/>
                <a:ea typeface="Paperlogy 7 Bold" pitchFamily="2" charset="-127"/>
                <a:cs typeface="Arial" pitchFamily="34" charset="-120"/>
              </a:rPr>
              <a:t>암질환심의위원회</a:t>
            </a:r>
            <a:endParaRPr lang="en-US" sz="1088" dirty="0"/>
          </a:p>
        </p:txBody>
      </p:sp>
      <p:sp>
        <p:nvSpPr>
          <p:cNvPr id="17" name="Text 15"/>
          <p:cNvSpPr/>
          <p:nvPr/>
        </p:nvSpPr>
        <p:spPr>
          <a:xfrm>
            <a:off x="3595531" y="2850877"/>
            <a:ext cx="152336" cy="298953"/>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A69687"/>
                </a:solidFill>
                <a:latin typeface="Paperlogy 7 Bold" pitchFamily="2" charset="-127"/>
                <a:ea typeface="Paperlogy 7 Bold" pitchFamily="2" charset="-127"/>
                <a:cs typeface="Arial" pitchFamily="34" charset="-120"/>
              </a:rPr>
              <a:t>›</a:t>
            </a:r>
            <a:endParaRPr lang="en-US" sz="1800" dirty="0"/>
          </a:p>
        </p:txBody>
      </p:sp>
      <p:sp>
        <p:nvSpPr>
          <p:cNvPr id="18" name="Shape 16"/>
          <p:cNvSpPr/>
          <p:nvPr/>
        </p:nvSpPr>
        <p:spPr>
          <a:xfrm>
            <a:off x="3747804" y="2555706"/>
            <a:ext cx="1252338" cy="851196"/>
          </a:xfrm>
          <a:prstGeom prst="roundRect">
            <a:avLst>
              <a:gd name="adj" fmla="val 13428"/>
            </a:avLst>
          </a:prstGeom>
          <a:solidFill>
            <a:srgbClr val="FCF4EE"/>
          </a:solidFill>
          <a:ln/>
        </p:spPr>
        <p:txBody>
          <a:bodyPr/>
          <a:lstStyle/>
          <a:p>
            <a:endParaRPr lang="ko-KR" altLang="en-US"/>
          </a:p>
        </p:txBody>
      </p:sp>
      <p:sp>
        <p:nvSpPr>
          <p:cNvPr id="19" name="Text 17"/>
          <p:cNvSpPr/>
          <p:nvPr/>
        </p:nvSpPr>
        <p:spPr>
          <a:xfrm>
            <a:off x="4048274" y="2708061"/>
            <a:ext cx="727517" cy="346722"/>
          </a:xfrm>
          <a:prstGeom prst="rect">
            <a:avLst/>
          </a:prstGeom>
          <a:noFill/>
          <a:ln/>
        </p:spPr>
        <p:txBody>
          <a:bodyPr wrap="none" lIns="25400" tIns="25400" rIns="25400" bIns="25400" rtlCol="0" anchor="t">
            <a:normAutofit lnSpcReduction="10000"/>
          </a:bodyPr>
          <a:lstStyle/>
          <a:p>
            <a:pPr marL="0" indent="0" algn="l">
              <a:lnSpc>
                <a:spcPct val="103779"/>
              </a:lnSpc>
              <a:buNone/>
            </a:pPr>
            <a:r>
              <a:rPr lang="en-US" sz="2025" b="1" dirty="0">
                <a:solidFill>
                  <a:srgbClr val="CF7446"/>
                </a:solidFill>
                <a:latin typeface="Paperlogy 7 Bold" pitchFamily="2" charset="-127"/>
                <a:ea typeface="Paperlogy 7 Bold" pitchFamily="2" charset="-127"/>
                <a:cs typeface="Arial" pitchFamily="34" charset="-120"/>
              </a:rPr>
              <a:t>201일</a:t>
            </a:r>
            <a:endParaRPr lang="en-US" sz="2025" dirty="0"/>
          </a:p>
        </p:txBody>
      </p:sp>
      <p:sp>
        <p:nvSpPr>
          <p:cNvPr id="20" name="Text 18"/>
          <p:cNvSpPr/>
          <p:nvPr/>
        </p:nvSpPr>
        <p:spPr>
          <a:xfrm>
            <a:off x="3807605" y="3092818"/>
            <a:ext cx="1132654" cy="199829"/>
          </a:xfrm>
          <a:prstGeom prst="rect">
            <a:avLst/>
          </a:prstGeom>
          <a:noFill/>
          <a:ln/>
        </p:spPr>
        <p:txBody>
          <a:bodyPr wrap="none" lIns="25400" tIns="25400" rIns="25400" bIns="25400" rtlCol="0" anchor="t">
            <a:normAutofit fontScale="92500" lnSpcReduction="10000"/>
          </a:bodyPr>
          <a:lstStyle/>
          <a:p>
            <a:pPr marL="0" indent="0" algn="ctr">
              <a:buNone/>
            </a:pPr>
            <a:r>
              <a:rPr lang="en-US" sz="1088" b="1" kern="0" spc="-33" dirty="0">
                <a:solidFill>
                  <a:srgbClr val="4A3B31"/>
                </a:solidFill>
                <a:latin typeface="Paperlogy 7 Bold" pitchFamily="2" charset="-127"/>
                <a:ea typeface="Paperlogy 7 Bold" pitchFamily="2" charset="-127"/>
                <a:cs typeface="Arial" pitchFamily="34" charset="-120"/>
              </a:rPr>
              <a:t>약제급여평가위원회</a:t>
            </a:r>
            <a:endParaRPr lang="en-US" sz="1088" dirty="0"/>
          </a:p>
        </p:txBody>
      </p:sp>
      <p:sp>
        <p:nvSpPr>
          <p:cNvPr id="21" name="Shape 19"/>
          <p:cNvSpPr/>
          <p:nvPr/>
        </p:nvSpPr>
        <p:spPr>
          <a:xfrm>
            <a:off x="786227" y="3718050"/>
            <a:ext cx="4213915" cy="437255"/>
          </a:xfrm>
          <a:prstGeom prst="roundRect">
            <a:avLst>
              <a:gd name="adj" fmla="val 21784"/>
            </a:avLst>
          </a:prstGeom>
          <a:solidFill>
            <a:srgbClr val="F6E2D3"/>
          </a:solidFill>
          <a:ln/>
        </p:spPr>
        <p:txBody>
          <a:bodyPr/>
          <a:lstStyle/>
          <a:p>
            <a:endParaRPr lang="ko-KR" altLang="en-US"/>
          </a:p>
        </p:txBody>
      </p:sp>
      <p:sp>
        <p:nvSpPr>
          <p:cNvPr id="22" name="Text 20"/>
          <p:cNvSpPr/>
          <p:nvPr/>
        </p:nvSpPr>
        <p:spPr>
          <a:xfrm>
            <a:off x="856368" y="3832350"/>
            <a:ext cx="4073633" cy="246755"/>
          </a:xfrm>
          <a:prstGeom prst="rect">
            <a:avLst/>
          </a:prstGeom>
          <a:noFill/>
          <a:ln/>
        </p:spPr>
        <p:txBody>
          <a:bodyPr wrap="square" lIns="25400" tIns="25400" rIns="25400" bIns="25400" rtlCol="0" anchor="t">
            <a:normAutofit lnSpcReduction="10000"/>
          </a:bodyPr>
          <a:lstStyle/>
          <a:p>
            <a:pPr marL="0" indent="0" algn="ctr">
              <a:buNone/>
            </a:pPr>
            <a:r>
              <a:rPr lang="en-US" sz="1388" b="1" dirty="0">
                <a:solidFill>
                  <a:srgbClr val="3A2C24"/>
                </a:solidFill>
                <a:highlight>
                  <a:srgbClr val="F6E2D3"/>
                </a:highlight>
                <a:latin typeface="Paperlogy 7 Bold" pitchFamily="2" charset="-127"/>
                <a:ea typeface="Paperlogy 7 Bold" pitchFamily="2" charset="-127"/>
                <a:cs typeface="Arial" pitchFamily="34" charset="-120"/>
              </a:rPr>
              <a:t>항암제 32개 평균 </a:t>
            </a:r>
            <a:r>
              <a:rPr lang="en-US" sz="1388" b="1" dirty="0">
                <a:solidFill>
                  <a:srgbClr val="9A4A27"/>
                </a:solidFill>
                <a:latin typeface="Paperlogy 7 Bold" pitchFamily="2" charset="-127"/>
                <a:ea typeface="Paperlogy 7 Bold" pitchFamily="2" charset="-127"/>
                <a:cs typeface="Arial" pitchFamily="34" charset="-120"/>
              </a:rPr>
              <a:t>659일 </a:t>
            </a:r>
            <a:r>
              <a:rPr lang="en-US" sz="1388" b="1" dirty="0">
                <a:solidFill>
                  <a:srgbClr val="3A2C24"/>
                </a:solidFill>
                <a:highlight>
                  <a:srgbClr val="F6E2D3"/>
                </a:highlight>
                <a:latin typeface="Paperlogy 7 Bold" pitchFamily="2" charset="-127"/>
                <a:ea typeface="Paperlogy 7 Bold" pitchFamily="2" charset="-127"/>
                <a:cs typeface="Arial" pitchFamily="34" charset="-120"/>
              </a:rPr>
              <a:t>(1년 10개월)</a:t>
            </a:r>
            <a:endParaRPr lang="en-US" sz="1388" dirty="0"/>
          </a:p>
        </p:txBody>
      </p:sp>
      <p:sp>
        <p:nvSpPr>
          <p:cNvPr id="23" name="Text 21"/>
          <p:cNvSpPr/>
          <p:nvPr/>
        </p:nvSpPr>
        <p:spPr>
          <a:xfrm>
            <a:off x="786227" y="4466535"/>
            <a:ext cx="4635307" cy="205046"/>
          </a:xfrm>
          <a:prstGeom prst="rect">
            <a:avLst/>
          </a:prstGeom>
          <a:noFill/>
          <a:ln/>
        </p:spPr>
        <p:txBody>
          <a:bodyPr wrap="square" lIns="25400" tIns="25400" rIns="25400" bIns="25400" rtlCol="0" anchor="t">
            <a:normAutofit fontScale="92500"/>
          </a:bodyPr>
          <a:lstStyle/>
          <a:p>
            <a:pPr marL="0" indent="0" algn="l">
              <a:buNone/>
            </a:pPr>
            <a:r>
              <a:rPr lang="en-US" sz="1125" b="1" dirty="0">
                <a:solidFill>
                  <a:srgbClr val="7B6B60"/>
                </a:solidFill>
                <a:latin typeface="Paperlogy 7 Bold" pitchFamily="2" charset="-127"/>
                <a:ea typeface="Paperlogy 7 Bold" pitchFamily="2" charset="-127"/>
                <a:cs typeface="Arial" pitchFamily="34" charset="-120"/>
              </a:rPr>
              <a:t>한국환자단체연합회 분석, 2021~2025년 등재 항암제</a:t>
            </a:r>
            <a:endParaRPr lang="en-US" sz="1125" dirty="0"/>
          </a:p>
        </p:txBody>
      </p:sp>
      <p:sp>
        <p:nvSpPr>
          <p:cNvPr id="24" name="Shape 22"/>
          <p:cNvSpPr/>
          <p:nvPr/>
        </p:nvSpPr>
        <p:spPr>
          <a:xfrm>
            <a:off x="5443429" y="1800211"/>
            <a:ext cx="4719725" cy="3047984"/>
          </a:xfrm>
          <a:prstGeom prst="roundRect">
            <a:avLst>
              <a:gd name="adj" fmla="val 5000"/>
            </a:avLst>
          </a:prstGeom>
          <a:solidFill>
            <a:srgbClr val="FFFFFF"/>
          </a:solidFill>
          <a:ln w="5217">
            <a:solidFill>
              <a:srgbClr val="EADFD3"/>
            </a:solidFill>
            <a:prstDash val="solid"/>
          </a:ln>
        </p:spPr>
        <p:txBody>
          <a:bodyPr/>
          <a:lstStyle/>
          <a:p>
            <a:endParaRPr lang="ko-KR" altLang="en-US"/>
          </a:p>
        </p:txBody>
      </p:sp>
      <p:sp>
        <p:nvSpPr>
          <p:cNvPr id="25" name="Text 23"/>
          <p:cNvSpPr/>
          <p:nvPr/>
        </p:nvSpPr>
        <p:spPr>
          <a:xfrm>
            <a:off x="5696293" y="2014925"/>
            <a:ext cx="1804393" cy="267651"/>
          </a:xfrm>
          <a:prstGeom prst="rect">
            <a:avLst/>
          </a:prstGeom>
          <a:noFill/>
          <a:ln/>
        </p:spPr>
        <p:txBody>
          <a:bodyPr wrap="none" lIns="25400" tIns="25400" rIns="25400" bIns="25400" rtlCol="0" anchor="t">
            <a:normAutofit lnSpcReduction="10000"/>
          </a:bodyPr>
          <a:lstStyle/>
          <a:p>
            <a:pPr marL="0" indent="0" algn="l">
              <a:buNone/>
            </a:pPr>
            <a:r>
              <a:rPr lang="en-US" sz="1500" b="1" dirty="0">
                <a:solidFill>
                  <a:srgbClr val="3A2C24"/>
                </a:solidFill>
                <a:latin typeface="Paperlogy 7 Bold" pitchFamily="2" charset="-127"/>
                <a:ea typeface="Paperlogy 7 Bold" pitchFamily="2" charset="-127"/>
                <a:cs typeface="Arial" pitchFamily="34" charset="-120"/>
              </a:rPr>
              <a:t>비급여 암 치료비 예시</a:t>
            </a:r>
            <a:endParaRPr lang="en-US" sz="1500" dirty="0"/>
          </a:p>
        </p:txBody>
      </p:sp>
      <p:sp>
        <p:nvSpPr>
          <p:cNvPr id="26" name="Text 24"/>
          <p:cNvSpPr/>
          <p:nvPr/>
        </p:nvSpPr>
        <p:spPr>
          <a:xfrm>
            <a:off x="7431861" y="2056662"/>
            <a:ext cx="1144719"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A69687"/>
                </a:solidFill>
                <a:latin typeface="Paperlogy 7 Bold" pitchFamily="2" charset="-127"/>
                <a:ea typeface="Paperlogy 7 Bold" pitchFamily="2" charset="-127"/>
                <a:cs typeface="Arial" pitchFamily="34" charset="-120"/>
              </a:rPr>
              <a:t>비급여 적응증 기준</a:t>
            </a:r>
            <a:endParaRPr lang="en-US" sz="1125" dirty="0"/>
          </a:p>
        </p:txBody>
      </p:sp>
      <p:sp>
        <p:nvSpPr>
          <p:cNvPr id="27" name="Text 25"/>
          <p:cNvSpPr/>
          <p:nvPr/>
        </p:nvSpPr>
        <p:spPr>
          <a:xfrm>
            <a:off x="5696293" y="2514540"/>
            <a:ext cx="3293512" cy="246782"/>
          </a:xfrm>
          <a:prstGeom prst="rect">
            <a:avLst/>
          </a:prstGeom>
          <a:noFill/>
          <a:ln/>
        </p:spPr>
        <p:txBody>
          <a:bodyPr wrap="square" lIns="25400" tIns="25400" rIns="25400" bIns="25400" rtlCol="0" anchor="t">
            <a:normAutofit lnSpcReduction="10000"/>
          </a:bodyPr>
          <a:lstStyle/>
          <a:p>
            <a:pPr marL="0" indent="0" algn="l">
              <a:buNone/>
            </a:pPr>
            <a:r>
              <a:rPr lang="en-US" sz="1388" b="1" dirty="0">
                <a:solidFill>
                  <a:srgbClr val="3A2C24"/>
                </a:solidFill>
                <a:latin typeface="Paperlogy 7 Bold" pitchFamily="2" charset="-127"/>
                <a:ea typeface="Paperlogy 7 Bold" pitchFamily="2" charset="-127"/>
                <a:cs typeface="Arial" pitchFamily="34" charset="-120"/>
              </a:rPr>
              <a:t>면역항암제 키트루다</a:t>
            </a:r>
            <a:endParaRPr lang="en-US" sz="1388" dirty="0"/>
          </a:p>
        </p:txBody>
      </p:sp>
      <p:sp>
        <p:nvSpPr>
          <p:cNvPr id="28" name="Text 26"/>
          <p:cNvSpPr/>
          <p:nvPr/>
        </p:nvSpPr>
        <p:spPr>
          <a:xfrm>
            <a:off x="5696293" y="2751753"/>
            <a:ext cx="3293512" cy="199829"/>
          </a:xfrm>
          <a:prstGeom prst="rect">
            <a:avLst/>
          </a:prstGeom>
          <a:noFill/>
          <a:ln/>
        </p:spPr>
        <p:txBody>
          <a:bodyPr wrap="none" lIns="25400" tIns="25400" rIns="25400" bIns="25400" rtlCol="0" anchor="t">
            <a:normAutofit fontScale="92500" lnSpcReduction="10000"/>
          </a:bodyPr>
          <a:lstStyle/>
          <a:p>
            <a:pPr marL="0" indent="0" algn="l">
              <a:buNone/>
            </a:pPr>
            <a:r>
              <a:rPr lang="en-US" sz="1088" b="1" dirty="0">
                <a:solidFill>
                  <a:srgbClr val="7B6B60"/>
                </a:solidFill>
                <a:latin typeface="Paperlogy 7 Bold" pitchFamily="2" charset="-127"/>
                <a:ea typeface="Paperlogy 7 Bold" pitchFamily="2" charset="-127"/>
                <a:cs typeface="Arial" pitchFamily="34" charset="-120"/>
              </a:rPr>
              <a:t>미등재 암종은 연 약 7,000만원</a:t>
            </a:r>
            <a:endParaRPr lang="en-US" sz="1088" dirty="0"/>
          </a:p>
        </p:txBody>
      </p:sp>
      <p:sp>
        <p:nvSpPr>
          <p:cNvPr id="29" name="Text 27"/>
          <p:cNvSpPr/>
          <p:nvPr/>
        </p:nvSpPr>
        <p:spPr>
          <a:xfrm>
            <a:off x="8842750" y="2588802"/>
            <a:ext cx="1143740" cy="288519"/>
          </a:xfrm>
          <a:prstGeom prst="rect">
            <a:avLst/>
          </a:prstGeom>
          <a:noFill/>
          <a:ln/>
        </p:spPr>
        <p:txBody>
          <a:bodyPr wrap="none" lIns="25400" tIns="25400" rIns="25400" bIns="25400" rtlCol="0" anchor="t">
            <a:normAutofit lnSpcReduction="10000"/>
          </a:bodyPr>
          <a:lstStyle/>
          <a:p>
            <a:pPr marL="0" indent="0" algn="l">
              <a:buNone/>
            </a:pPr>
            <a:r>
              <a:rPr lang="en-US" sz="1650" b="1" dirty="0">
                <a:solidFill>
                  <a:srgbClr val="CF7446"/>
                </a:solidFill>
                <a:latin typeface="Paperlogy 7 Bold" pitchFamily="2" charset="-127"/>
                <a:ea typeface="Paperlogy 7 Bold" pitchFamily="2" charset="-127"/>
                <a:cs typeface="Arial" pitchFamily="34" charset="-120"/>
              </a:rPr>
              <a:t>1회 420만원</a:t>
            </a:r>
            <a:endParaRPr lang="en-US" sz="1650" dirty="0"/>
          </a:p>
        </p:txBody>
      </p:sp>
      <p:sp>
        <p:nvSpPr>
          <p:cNvPr id="30" name="Shape 28"/>
          <p:cNvSpPr/>
          <p:nvPr/>
        </p:nvSpPr>
        <p:spPr>
          <a:xfrm>
            <a:off x="5696293" y="3183628"/>
            <a:ext cx="4213997" cy="9525"/>
          </a:xfrm>
          <a:prstGeom prst="rect">
            <a:avLst/>
          </a:prstGeom>
          <a:solidFill>
            <a:srgbClr val="EADFD3"/>
          </a:solidFill>
          <a:ln/>
        </p:spPr>
        <p:txBody>
          <a:bodyPr/>
          <a:lstStyle/>
          <a:p>
            <a:endParaRPr lang="ko-KR" altLang="en-US"/>
          </a:p>
        </p:txBody>
      </p:sp>
      <p:sp>
        <p:nvSpPr>
          <p:cNvPr id="31" name="Text 29"/>
          <p:cNvSpPr/>
          <p:nvPr/>
        </p:nvSpPr>
        <p:spPr>
          <a:xfrm>
            <a:off x="5696293" y="3312668"/>
            <a:ext cx="3030246" cy="246782"/>
          </a:xfrm>
          <a:prstGeom prst="rect">
            <a:avLst/>
          </a:prstGeom>
          <a:noFill/>
          <a:ln/>
        </p:spPr>
        <p:txBody>
          <a:bodyPr wrap="square" lIns="25400" tIns="25400" rIns="25400" bIns="25400" rtlCol="0" anchor="t">
            <a:normAutofit lnSpcReduction="10000"/>
          </a:bodyPr>
          <a:lstStyle/>
          <a:p>
            <a:pPr marL="0" indent="0" algn="l">
              <a:buNone/>
            </a:pPr>
            <a:r>
              <a:rPr lang="en-US" sz="1388" b="1" dirty="0">
                <a:solidFill>
                  <a:srgbClr val="3A2C24"/>
                </a:solidFill>
                <a:latin typeface="Paperlogy 7 Bold" pitchFamily="2" charset="-127"/>
                <a:ea typeface="Paperlogy 7 Bold" pitchFamily="2" charset="-127"/>
                <a:cs typeface="Arial" pitchFamily="34" charset="-120"/>
              </a:rPr>
              <a:t>중입자 치료</a:t>
            </a:r>
            <a:endParaRPr lang="en-US" sz="1388" dirty="0"/>
          </a:p>
        </p:txBody>
      </p:sp>
      <p:sp>
        <p:nvSpPr>
          <p:cNvPr id="32" name="Text 30"/>
          <p:cNvSpPr/>
          <p:nvPr/>
        </p:nvSpPr>
        <p:spPr>
          <a:xfrm>
            <a:off x="5696293" y="3549882"/>
            <a:ext cx="3030246" cy="199829"/>
          </a:xfrm>
          <a:prstGeom prst="rect">
            <a:avLst/>
          </a:prstGeom>
          <a:noFill/>
          <a:ln/>
        </p:spPr>
        <p:txBody>
          <a:bodyPr wrap="none" lIns="25400" tIns="25400" rIns="25400" bIns="25400" rtlCol="0" anchor="t">
            <a:normAutofit fontScale="92500" lnSpcReduction="10000"/>
          </a:bodyPr>
          <a:lstStyle/>
          <a:p>
            <a:pPr marL="0" indent="0" algn="l">
              <a:buNone/>
            </a:pPr>
            <a:r>
              <a:rPr lang="en-US" sz="1088" b="1" dirty="0">
                <a:solidFill>
                  <a:srgbClr val="7B6B60"/>
                </a:solidFill>
                <a:latin typeface="Paperlogy 7 Bold" pitchFamily="2" charset="-127"/>
                <a:ea typeface="Paperlogy 7 Bold" pitchFamily="2" charset="-127"/>
                <a:cs typeface="Arial" pitchFamily="34" charset="-120"/>
              </a:rPr>
              <a:t>건강보험 미적용, 대기 최대 6개월</a:t>
            </a:r>
            <a:endParaRPr lang="en-US" sz="1088" dirty="0"/>
          </a:p>
        </p:txBody>
      </p:sp>
      <p:sp>
        <p:nvSpPr>
          <p:cNvPr id="33" name="Text 31"/>
          <p:cNvSpPr/>
          <p:nvPr/>
        </p:nvSpPr>
        <p:spPr>
          <a:xfrm>
            <a:off x="8603417" y="3386930"/>
            <a:ext cx="1437560" cy="288519"/>
          </a:xfrm>
          <a:prstGeom prst="rect">
            <a:avLst/>
          </a:prstGeom>
          <a:noFill/>
          <a:ln/>
        </p:spPr>
        <p:txBody>
          <a:bodyPr wrap="none" lIns="25400" tIns="25400" rIns="25400" bIns="25400" rtlCol="0" anchor="t">
            <a:normAutofit lnSpcReduction="10000"/>
          </a:bodyPr>
          <a:lstStyle/>
          <a:p>
            <a:pPr marL="0" indent="0" algn="l">
              <a:buNone/>
            </a:pPr>
            <a:r>
              <a:rPr lang="en-US" sz="1650" b="1" dirty="0">
                <a:solidFill>
                  <a:srgbClr val="CF7446"/>
                </a:solidFill>
                <a:latin typeface="Paperlogy 7 Bold" pitchFamily="2" charset="-127"/>
                <a:ea typeface="Paperlogy 7 Bold" pitchFamily="2" charset="-127"/>
                <a:cs typeface="Arial" pitchFamily="34" charset="-120"/>
              </a:rPr>
              <a:t>최소 6,000만원</a:t>
            </a:r>
            <a:endParaRPr lang="en-US" sz="1650" dirty="0"/>
          </a:p>
        </p:txBody>
      </p:sp>
      <p:sp>
        <p:nvSpPr>
          <p:cNvPr id="34" name="Shape 32"/>
          <p:cNvSpPr/>
          <p:nvPr/>
        </p:nvSpPr>
        <p:spPr>
          <a:xfrm>
            <a:off x="5696293" y="3981675"/>
            <a:ext cx="4213997" cy="9525"/>
          </a:xfrm>
          <a:prstGeom prst="rect">
            <a:avLst/>
          </a:prstGeom>
          <a:solidFill>
            <a:srgbClr val="EADFD3"/>
          </a:solidFill>
          <a:ln/>
        </p:spPr>
        <p:txBody>
          <a:bodyPr/>
          <a:lstStyle/>
          <a:p>
            <a:endParaRPr lang="ko-KR" altLang="en-US"/>
          </a:p>
        </p:txBody>
      </p:sp>
      <p:sp>
        <p:nvSpPr>
          <p:cNvPr id="35" name="Text 33"/>
          <p:cNvSpPr/>
          <p:nvPr/>
        </p:nvSpPr>
        <p:spPr>
          <a:xfrm>
            <a:off x="5696293" y="4110715"/>
            <a:ext cx="3678009" cy="246782"/>
          </a:xfrm>
          <a:prstGeom prst="rect">
            <a:avLst/>
          </a:prstGeom>
          <a:noFill/>
          <a:ln/>
        </p:spPr>
        <p:txBody>
          <a:bodyPr wrap="square" lIns="25400" tIns="25400" rIns="25400" bIns="25400" rtlCol="0" anchor="t">
            <a:normAutofit lnSpcReduction="10000"/>
          </a:bodyPr>
          <a:lstStyle/>
          <a:p>
            <a:pPr marL="0" indent="0" algn="l">
              <a:buNone/>
            </a:pPr>
            <a:r>
              <a:rPr lang="en-US" sz="1388" b="1" dirty="0">
                <a:solidFill>
                  <a:srgbClr val="3A2C24"/>
                </a:solidFill>
                <a:latin typeface="Paperlogy 7 Bold" pitchFamily="2" charset="-127"/>
                <a:ea typeface="Paperlogy 7 Bold" pitchFamily="2" charset="-127"/>
                <a:cs typeface="Arial" pitchFamily="34" charset="-120"/>
              </a:rPr>
              <a:t>CAR-T 예스카타</a:t>
            </a:r>
            <a:endParaRPr lang="en-US" sz="1388" dirty="0"/>
          </a:p>
        </p:txBody>
      </p:sp>
      <p:sp>
        <p:nvSpPr>
          <p:cNvPr id="36" name="Text 34"/>
          <p:cNvSpPr/>
          <p:nvPr/>
        </p:nvSpPr>
        <p:spPr>
          <a:xfrm>
            <a:off x="5696293" y="4347929"/>
            <a:ext cx="3678009" cy="199829"/>
          </a:xfrm>
          <a:prstGeom prst="rect">
            <a:avLst/>
          </a:prstGeom>
          <a:noFill/>
          <a:ln/>
        </p:spPr>
        <p:txBody>
          <a:bodyPr wrap="none" lIns="25400" tIns="25400" rIns="25400" bIns="25400" rtlCol="0" anchor="t">
            <a:normAutofit fontScale="92500" lnSpcReduction="10000"/>
          </a:bodyPr>
          <a:lstStyle/>
          <a:p>
            <a:pPr marL="0" indent="0" algn="l">
              <a:buNone/>
            </a:pPr>
            <a:r>
              <a:rPr lang="en-US" sz="1088" b="1" dirty="0">
                <a:solidFill>
                  <a:srgbClr val="7B6B60"/>
                </a:solidFill>
                <a:latin typeface="Paperlogy 7 Bold" pitchFamily="2" charset="-127"/>
                <a:ea typeface="Paperlogy 7 Bold" pitchFamily="2" charset="-127"/>
                <a:cs typeface="Arial" pitchFamily="34" charset="-120"/>
              </a:rPr>
              <a:t>2025년 8월 허가, 비급여</a:t>
            </a:r>
            <a:endParaRPr lang="en-US" sz="1088" dirty="0"/>
          </a:p>
        </p:txBody>
      </p:sp>
      <p:sp>
        <p:nvSpPr>
          <p:cNvPr id="37" name="Text 35"/>
          <p:cNvSpPr/>
          <p:nvPr/>
        </p:nvSpPr>
        <p:spPr>
          <a:xfrm>
            <a:off x="9192292" y="4184977"/>
            <a:ext cx="794198" cy="288519"/>
          </a:xfrm>
          <a:prstGeom prst="rect">
            <a:avLst/>
          </a:prstGeom>
          <a:noFill/>
          <a:ln/>
        </p:spPr>
        <p:txBody>
          <a:bodyPr wrap="none" lIns="25400" tIns="25400" rIns="25400" bIns="25400" rtlCol="0" anchor="t">
            <a:normAutofit lnSpcReduction="10000"/>
          </a:bodyPr>
          <a:lstStyle/>
          <a:p>
            <a:pPr marL="0" indent="0" algn="l">
              <a:buNone/>
            </a:pPr>
            <a:r>
              <a:rPr lang="en-US" sz="1650" b="1" dirty="0">
                <a:solidFill>
                  <a:srgbClr val="CF7446"/>
                </a:solidFill>
                <a:latin typeface="Paperlogy 7 Bold" pitchFamily="2" charset="-127"/>
                <a:ea typeface="Paperlogy 7 Bold" pitchFamily="2" charset="-127"/>
                <a:cs typeface="Arial" pitchFamily="34" charset="-120"/>
              </a:rPr>
              <a:t>약 5억원</a:t>
            </a:r>
            <a:endParaRPr lang="en-US" sz="1650" dirty="0"/>
          </a:p>
        </p:txBody>
      </p:sp>
      <p:sp>
        <p:nvSpPr>
          <p:cNvPr id="38" name="Shape 36"/>
          <p:cNvSpPr/>
          <p:nvPr/>
        </p:nvSpPr>
        <p:spPr>
          <a:xfrm>
            <a:off x="533363" y="5038699"/>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39" name="Shape 37"/>
          <p:cNvSpPr/>
          <p:nvPr/>
        </p:nvSpPr>
        <p:spPr>
          <a:xfrm>
            <a:off x="538580" y="5043917"/>
            <a:ext cx="2297054" cy="286449"/>
          </a:xfrm>
          <a:prstGeom prst="rect">
            <a:avLst/>
          </a:prstGeom>
          <a:solidFill>
            <a:srgbClr val="A08E80"/>
          </a:solidFill>
          <a:ln/>
        </p:spPr>
        <p:txBody>
          <a:bodyPr/>
          <a:lstStyle/>
          <a:p>
            <a:endParaRPr lang="ko-KR" altLang="en-US"/>
          </a:p>
        </p:txBody>
      </p:sp>
      <p:sp>
        <p:nvSpPr>
          <p:cNvPr id="40" name="Text 38"/>
          <p:cNvSpPr/>
          <p:nvPr/>
        </p:nvSpPr>
        <p:spPr>
          <a:xfrm>
            <a:off x="576680" y="5101067"/>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비급여 항암제 권유 경험</a:t>
            </a:r>
            <a:endParaRPr lang="en-US" sz="1125" dirty="0"/>
          </a:p>
        </p:txBody>
      </p:sp>
      <p:sp>
        <p:nvSpPr>
          <p:cNvPr id="41" name="Text 39"/>
          <p:cNvSpPr/>
          <p:nvPr/>
        </p:nvSpPr>
        <p:spPr>
          <a:xfrm>
            <a:off x="1451320" y="5434054"/>
            <a:ext cx="38262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49</a:t>
            </a:r>
            <a:endParaRPr lang="en-US" sz="2250" dirty="0"/>
          </a:p>
        </p:txBody>
      </p:sp>
      <p:sp>
        <p:nvSpPr>
          <p:cNvPr id="42" name="Text 40"/>
          <p:cNvSpPr/>
          <p:nvPr/>
        </p:nvSpPr>
        <p:spPr>
          <a:xfrm>
            <a:off x="1865259" y="5569698"/>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43" name="Shape 41"/>
          <p:cNvSpPr/>
          <p:nvPr/>
        </p:nvSpPr>
        <p:spPr>
          <a:xfrm>
            <a:off x="2974130" y="5038699"/>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44" name="Shape 42"/>
          <p:cNvSpPr/>
          <p:nvPr/>
        </p:nvSpPr>
        <p:spPr>
          <a:xfrm>
            <a:off x="2979348" y="5043917"/>
            <a:ext cx="2297054" cy="286449"/>
          </a:xfrm>
          <a:prstGeom prst="rect">
            <a:avLst/>
          </a:prstGeom>
          <a:solidFill>
            <a:srgbClr val="A08E80"/>
          </a:solidFill>
          <a:ln/>
        </p:spPr>
        <p:txBody>
          <a:bodyPr/>
          <a:lstStyle/>
          <a:p>
            <a:endParaRPr lang="ko-KR" altLang="en-US"/>
          </a:p>
        </p:txBody>
      </p:sp>
      <p:sp>
        <p:nvSpPr>
          <p:cNvPr id="45" name="Text 43"/>
          <p:cNvSpPr/>
          <p:nvPr/>
        </p:nvSpPr>
        <p:spPr>
          <a:xfrm>
            <a:off x="3017448" y="5101067"/>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권유받고 경제적 이유로 포기</a:t>
            </a:r>
            <a:endParaRPr lang="en-US" sz="1125" dirty="0"/>
          </a:p>
        </p:txBody>
      </p:sp>
      <p:sp>
        <p:nvSpPr>
          <p:cNvPr id="46" name="Text 44"/>
          <p:cNvSpPr/>
          <p:nvPr/>
        </p:nvSpPr>
        <p:spPr>
          <a:xfrm>
            <a:off x="3892088" y="5434054"/>
            <a:ext cx="382621" cy="371992"/>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6E5D51"/>
                </a:solidFill>
                <a:latin typeface="Paperlogy 7 Bold" pitchFamily="2" charset="-127"/>
                <a:ea typeface="Paperlogy 7 Bold" pitchFamily="2" charset="-127"/>
                <a:cs typeface="Arial" pitchFamily="34" charset="-120"/>
              </a:rPr>
              <a:t>25</a:t>
            </a:r>
            <a:endParaRPr lang="en-US" sz="2250" dirty="0"/>
          </a:p>
        </p:txBody>
      </p:sp>
      <p:sp>
        <p:nvSpPr>
          <p:cNvPr id="47" name="Text 45"/>
          <p:cNvSpPr/>
          <p:nvPr/>
        </p:nvSpPr>
        <p:spPr>
          <a:xfrm>
            <a:off x="4306027" y="5569698"/>
            <a:ext cx="203284" cy="205046"/>
          </a:xfrm>
          <a:prstGeom prst="rect">
            <a:avLst/>
          </a:prstGeom>
          <a:noFill/>
          <a:ln/>
        </p:spPr>
        <p:txBody>
          <a:bodyPr wrap="none" lIns="25400" tIns="25400" rIns="25400" bIns="25400" rtlCol="0" anchor="t">
            <a:normAutofit fontScale="92500"/>
          </a:bodyPr>
          <a:lstStyle/>
          <a:p>
            <a:pPr marL="0" indent="0" algn="l">
              <a:buNone/>
            </a:pPr>
            <a:r>
              <a:rPr lang="en-US" sz="1125" b="1" dirty="0">
                <a:solidFill>
                  <a:srgbClr val="6E5D51"/>
                </a:solidFill>
                <a:latin typeface="Paperlogy 7 Bold" pitchFamily="2" charset="-127"/>
                <a:ea typeface="Paperlogy 7 Bold" pitchFamily="2" charset="-127"/>
                <a:cs typeface="Arial" pitchFamily="34" charset="-120"/>
              </a:rPr>
              <a:t>%</a:t>
            </a:r>
            <a:endParaRPr lang="en-US" sz="1125" dirty="0"/>
          </a:p>
        </p:txBody>
      </p:sp>
      <p:sp>
        <p:nvSpPr>
          <p:cNvPr id="48" name="Shape 46"/>
          <p:cNvSpPr/>
          <p:nvPr/>
        </p:nvSpPr>
        <p:spPr>
          <a:xfrm>
            <a:off x="5414898" y="5038699"/>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49" name="Shape 47"/>
          <p:cNvSpPr/>
          <p:nvPr/>
        </p:nvSpPr>
        <p:spPr>
          <a:xfrm>
            <a:off x="5420115" y="5043917"/>
            <a:ext cx="2297054" cy="286449"/>
          </a:xfrm>
          <a:prstGeom prst="rect">
            <a:avLst/>
          </a:prstGeom>
          <a:solidFill>
            <a:srgbClr val="CF9C3C"/>
          </a:solidFill>
          <a:ln/>
        </p:spPr>
        <p:txBody>
          <a:bodyPr/>
          <a:lstStyle/>
          <a:p>
            <a:endParaRPr lang="ko-KR" altLang="en-US"/>
          </a:p>
        </p:txBody>
      </p:sp>
      <p:sp>
        <p:nvSpPr>
          <p:cNvPr id="50" name="Text 48"/>
          <p:cNvSpPr/>
          <p:nvPr/>
        </p:nvSpPr>
        <p:spPr>
          <a:xfrm>
            <a:off x="5458215" y="5101067"/>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희귀질환 치료제 평균</a:t>
            </a:r>
            <a:endParaRPr lang="en-US" sz="1125" dirty="0"/>
          </a:p>
        </p:txBody>
      </p:sp>
      <p:sp>
        <p:nvSpPr>
          <p:cNvPr id="51" name="Text 49"/>
          <p:cNvSpPr/>
          <p:nvPr/>
        </p:nvSpPr>
        <p:spPr>
          <a:xfrm>
            <a:off x="6049423" y="5431446"/>
            <a:ext cx="829576" cy="377209"/>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2년 11</a:t>
            </a:r>
            <a:endParaRPr lang="en-US" sz="2250" dirty="0"/>
          </a:p>
        </p:txBody>
      </p:sp>
      <p:sp>
        <p:nvSpPr>
          <p:cNvPr id="52" name="Text 50"/>
          <p:cNvSpPr/>
          <p:nvPr/>
        </p:nvSpPr>
        <p:spPr>
          <a:xfrm>
            <a:off x="6910317" y="5567089"/>
            <a:ext cx="323114"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개월</a:t>
            </a:r>
            <a:endParaRPr lang="en-US" sz="1125" dirty="0"/>
          </a:p>
        </p:txBody>
      </p:sp>
      <p:sp>
        <p:nvSpPr>
          <p:cNvPr id="53" name="Shape 51"/>
          <p:cNvSpPr/>
          <p:nvPr/>
        </p:nvSpPr>
        <p:spPr>
          <a:xfrm>
            <a:off x="7855666" y="5038699"/>
            <a:ext cx="2307488" cy="838153"/>
          </a:xfrm>
          <a:prstGeom prst="roundRect">
            <a:avLst>
              <a:gd name="adj" fmla="val 15910"/>
            </a:avLst>
          </a:prstGeom>
          <a:solidFill>
            <a:srgbClr val="FFFFFF"/>
          </a:solidFill>
          <a:ln w="5217">
            <a:solidFill>
              <a:srgbClr val="EADFD3"/>
            </a:solidFill>
            <a:prstDash val="solid"/>
          </a:ln>
        </p:spPr>
        <p:txBody>
          <a:bodyPr/>
          <a:lstStyle/>
          <a:p>
            <a:endParaRPr lang="ko-KR" altLang="en-US"/>
          </a:p>
        </p:txBody>
      </p:sp>
      <p:sp>
        <p:nvSpPr>
          <p:cNvPr id="54" name="Shape 52"/>
          <p:cNvSpPr/>
          <p:nvPr/>
        </p:nvSpPr>
        <p:spPr>
          <a:xfrm>
            <a:off x="7860883" y="5043917"/>
            <a:ext cx="2297054" cy="286449"/>
          </a:xfrm>
          <a:prstGeom prst="rect">
            <a:avLst/>
          </a:prstGeom>
          <a:solidFill>
            <a:srgbClr val="CF9C3C"/>
          </a:solidFill>
          <a:ln/>
        </p:spPr>
        <p:txBody>
          <a:bodyPr/>
          <a:lstStyle/>
          <a:p>
            <a:endParaRPr lang="ko-KR" altLang="en-US"/>
          </a:p>
        </p:txBody>
      </p:sp>
      <p:sp>
        <p:nvSpPr>
          <p:cNvPr id="55" name="Text 53"/>
          <p:cNvSpPr/>
          <p:nvPr/>
        </p:nvSpPr>
        <p:spPr>
          <a:xfrm>
            <a:off x="7898983" y="5101067"/>
            <a:ext cx="2220854" cy="210249"/>
          </a:xfrm>
          <a:prstGeom prst="rect">
            <a:avLst/>
          </a:prstGeom>
          <a:noFill/>
          <a:ln/>
        </p:spPr>
        <p:txBody>
          <a:bodyPr wrap="none" lIns="25400" tIns="25400" rIns="25400" bIns="25400" rtlCol="0" anchor="t">
            <a:normAutofit lnSpcReduction="10000"/>
          </a:bodyPr>
          <a:lstStyle/>
          <a:p>
            <a:pPr marL="0" indent="0" algn="ctr">
              <a:buNone/>
            </a:pPr>
            <a:r>
              <a:rPr lang="en-US" sz="1125" b="1" kern="0" spc="-22" dirty="0">
                <a:solidFill>
                  <a:srgbClr val="FFFFFF"/>
                </a:solidFill>
                <a:latin typeface="Paperlogy 7 Bold" pitchFamily="2" charset="-127"/>
                <a:ea typeface="Paperlogy 7 Bold" pitchFamily="2" charset="-127"/>
                <a:cs typeface="Arial" pitchFamily="34" charset="-120"/>
              </a:rPr>
              <a:t>희귀질환 치료제 최장</a:t>
            </a:r>
            <a:endParaRPr lang="en-US" sz="1125" dirty="0"/>
          </a:p>
        </p:txBody>
      </p:sp>
      <p:sp>
        <p:nvSpPr>
          <p:cNvPr id="56" name="Text 54"/>
          <p:cNvSpPr/>
          <p:nvPr/>
        </p:nvSpPr>
        <p:spPr>
          <a:xfrm>
            <a:off x="8479593" y="5431446"/>
            <a:ext cx="850770" cy="377209"/>
          </a:xfrm>
          <a:prstGeom prst="rect">
            <a:avLst/>
          </a:prstGeom>
          <a:noFill/>
          <a:ln/>
        </p:spPr>
        <p:txBody>
          <a:bodyPr wrap="none" lIns="25400" tIns="25400" rIns="25400" bIns="25400" rtlCol="0" anchor="t">
            <a:normAutofit lnSpcReduction="10000"/>
          </a:bodyPr>
          <a:lstStyle/>
          <a:p>
            <a:pPr marL="0" indent="0" algn="l">
              <a:buNone/>
            </a:pPr>
            <a:r>
              <a:rPr lang="en-US" sz="2250" b="1" kern="0" spc="-45" dirty="0">
                <a:solidFill>
                  <a:srgbClr val="86641F"/>
                </a:solidFill>
                <a:latin typeface="Paperlogy 7 Bold" pitchFamily="2" charset="-127"/>
                <a:ea typeface="Paperlogy 7 Bold" pitchFamily="2" charset="-127"/>
                <a:cs typeface="Arial" pitchFamily="34" charset="-120"/>
              </a:rPr>
              <a:t>3년 10</a:t>
            </a:r>
            <a:endParaRPr lang="en-US" sz="2250" dirty="0"/>
          </a:p>
        </p:txBody>
      </p:sp>
      <p:sp>
        <p:nvSpPr>
          <p:cNvPr id="57" name="Text 55"/>
          <p:cNvSpPr/>
          <p:nvPr/>
        </p:nvSpPr>
        <p:spPr>
          <a:xfrm>
            <a:off x="9361682" y="5567089"/>
            <a:ext cx="323114"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86641F"/>
                </a:solidFill>
                <a:latin typeface="Paperlogy 7 Bold" pitchFamily="2" charset="-127"/>
                <a:ea typeface="Paperlogy 7 Bold" pitchFamily="2" charset="-127"/>
                <a:cs typeface="Arial" pitchFamily="34" charset="-120"/>
              </a:rPr>
              <a:t>개월</a:t>
            </a:r>
            <a:endParaRPr lang="en-US" sz="1125" dirty="0"/>
          </a:p>
        </p:txBody>
      </p:sp>
      <p:sp>
        <p:nvSpPr>
          <p:cNvPr id="58" name="Shape 56"/>
          <p:cNvSpPr/>
          <p:nvPr/>
        </p:nvSpPr>
        <p:spPr>
          <a:xfrm>
            <a:off x="533363" y="6086431"/>
            <a:ext cx="9629791" cy="543797"/>
          </a:xfrm>
          <a:prstGeom prst="roundRect">
            <a:avLst>
              <a:gd name="adj" fmla="val 24522"/>
            </a:avLst>
          </a:prstGeom>
          <a:solidFill>
            <a:srgbClr val="FCF4EE"/>
          </a:solidFill>
          <a:ln w="5217">
            <a:solidFill>
              <a:srgbClr val="F6E2D3"/>
            </a:solidFill>
            <a:prstDash val="solid"/>
          </a:ln>
        </p:spPr>
        <p:txBody>
          <a:bodyPr/>
          <a:lstStyle/>
          <a:p>
            <a:endParaRPr lang="ko-KR" altLang="en-US"/>
          </a:p>
        </p:txBody>
      </p:sp>
      <p:sp>
        <p:nvSpPr>
          <p:cNvPr id="59" name="Text 57"/>
          <p:cNvSpPr/>
          <p:nvPr/>
        </p:nvSpPr>
        <p:spPr>
          <a:xfrm>
            <a:off x="3730196" y="6248731"/>
            <a:ext cx="1361471"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치료법은 있는데,</a:t>
            </a:r>
            <a:endParaRPr lang="en-US" sz="1575" dirty="0"/>
          </a:p>
        </p:txBody>
      </p:sp>
      <p:sp>
        <p:nvSpPr>
          <p:cNvPr id="60" name="Text 58"/>
          <p:cNvSpPr/>
          <p:nvPr/>
        </p:nvSpPr>
        <p:spPr>
          <a:xfrm>
            <a:off x="5015467" y="6238297"/>
            <a:ext cx="1470558" cy="278085"/>
          </a:xfrm>
          <a:prstGeom prst="rect">
            <a:avLst/>
          </a:prstGeom>
          <a:noFill/>
          <a:ln/>
        </p:spPr>
        <p:txBody>
          <a:bodyPr wrap="none" lIns="25400" tIns="25400" rIns="25400" bIns="25400" rtlCol="0" anchor="t">
            <a:normAutofit lnSpcReduction="10000"/>
          </a:bodyPr>
          <a:lstStyle/>
          <a:p>
            <a:pPr marL="0" indent="0" algn="l">
              <a:buNone/>
            </a:pPr>
            <a:r>
              <a:rPr lang="en-US" sz="1575" b="1" kern="0" spc="-31" dirty="0">
                <a:solidFill>
                  <a:srgbClr val="9A4A27"/>
                </a:solidFill>
                <a:latin typeface="Paperlogy 7 Bold" pitchFamily="2" charset="-127"/>
                <a:ea typeface="Paperlogy 7 Bold" pitchFamily="2" charset="-127"/>
                <a:cs typeface="Arial" pitchFamily="34" charset="-120"/>
              </a:rPr>
              <a:t>비용 때문에 포기</a:t>
            </a:r>
            <a:endParaRPr lang="en-US" sz="1575" dirty="0"/>
          </a:p>
        </p:txBody>
      </p:sp>
      <p:sp>
        <p:nvSpPr>
          <p:cNvPr id="61" name="Text 59"/>
          <p:cNvSpPr/>
          <p:nvPr/>
        </p:nvSpPr>
        <p:spPr>
          <a:xfrm>
            <a:off x="6352338" y="6248731"/>
            <a:ext cx="690101" cy="262433"/>
          </a:xfrm>
          <a:prstGeom prst="rect">
            <a:avLst/>
          </a:prstGeom>
          <a:noFill/>
          <a:ln/>
        </p:spPr>
        <p:txBody>
          <a:bodyPr wrap="none" lIns="0" tIns="0" rIns="0" bIns="0" rtlCol="0" anchor="t">
            <a:normAutofit/>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한다면?</a:t>
            </a:r>
            <a:endParaRPr lang="en-US" sz="1575" dirty="0"/>
          </a:p>
        </p:txBody>
      </p:sp>
      <p:sp>
        <p:nvSpPr>
          <p:cNvPr id="62" name="Text 60"/>
          <p:cNvSpPr/>
          <p:nvPr/>
        </p:nvSpPr>
        <p:spPr>
          <a:xfrm>
            <a:off x="51873" y="6686474"/>
            <a:ext cx="10592770" cy="178064"/>
          </a:xfrm>
          <a:prstGeom prst="rect">
            <a:avLst/>
          </a:prstGeom>
          <a:noFill/>
          <a:ln/>
        </p:spPr>
        <p:txBody>
          <a:bodyPr wrap="none" lIns="25400" tIns="25400" rIns="25400" bIns="25400" rtlCol="0" anchor="t">
            <a:normAutofit lnSpcReduction="10000"/>
          </a:bodyPr>
          <a:lstStyle/>
          <a:p>
            <a:pPr marL="0" indent="0" algn="ctr">
              <a:lnSpc>
                <a:spcPct val="121993"/>
              </a:lnSpc>
              <a:buNone/>
            </a:pPr>
            <a:r>
              <a:rPr lang="en-US" sz="788" b="1" kern="0" spc="-8" dirty="0">
                <a:solidFill>
                  <a:srgbClr val="7B6B60"/>
                </a:solidFill>
                <a:latin typeface="Paperlogy 7 Bold" pitchFamily="2" charset="-127"/>
                <a:ea typeface="Paperlogy 7 Bold" pitchFamily="2" charset="-127"/>
                <a:cs typeface="Arial" pitchFamily="34" charset="-120"/>
              </a:rPr>
              <a:t>출처 : 한국환자단체연합회(메디컬투데이 2026.3.11) · 뉴스타파 [항암비용의 진실]①(2026.4.17) · 대한종양내과학회 설문(연합뉴스 2026.5.19)</a:t>
            </a:r>
            <a:endParaRPr lang="en-US" sz="788" dirty="0"/>
          </a:p>
        </p:txBody>
      </p:sp>
      <p:sp>
        <p:nvSpPr>
          <p:cNvPr id="63" name="Text 61"/>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64" name="Text 62"/>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65" name="Text 63"/>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432587"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삼성화재 – New 내돈내삼</a:t>
            </a:r>
            <a:endParaRPr lang="en-US" sz="2475" dirty="0"/>
          </a:p>
        </p:txBody>
      </p:sp>
      <p:sp>
        <p:nvSpPr>
          <p:cNvPr id="3" name="Shape 1"/>
          <p:cNvSpPr/>
          <p:nvPr/>
        </p:nvSpPr>
        <p:spPr>
          <a:xfrm>
            <a:off x="8875682" y="340821"/>
            <a:ext cx="1287472"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비급여 암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628655" y="1310052"/>
            <a:ext cx="2981304" cy="5266538"/>
          </a:xfrm>
          <a:prstGeom prst="roundRect">
            <a:avLst>
              <a:gd name="adj" fmla="val 2556"/>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t="-10238" b="-10238"/>
          <a:stretch/>
        </p:blipFill>
        <p:spPr>
          <a:xfrm>
            <a:off x="628655" y="1310052"/>
            <a:ext cx="2981304" cy="5266538"/>
          </a:xfrm>
          <a:prstGeom prst="rect">
            <a:avLst/>
          </a:prstGeom>
        </p:spPr>
      </p:pic>
      <p:sp>
        <p:nvSpPr>
          <p:cNvPr id="9" name="Shape 6"/>
          <p:cNvSpPr/>
          <p:nvPr/>
        </p:nvSpPr>
        <p:spPr>
          <a:xfrm>
            <a:off x="3857606" y="1310052"/>
            <a:ext cx="2981304" cy="5266538"/>
          </a:xfrm>
          <a:prstGeom prst="roundRect">
            <a:avLst>
              <a:gd name="adj" fmla="val 2556"/>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0" name="Image 1" descr="preencoded.png"/>
          <p:cNvPicPr>
            <a:picLocks noChangeAspect="1"/>
          </p:cNvPicPr>
          <p:nvPr/>
        </p:nvPicPr>
        <p:blipFill>
          <a:blip r:embed="rId4"/>
          <a:srcRect t="-13504" b="-13504"/>
          <a:stretch/>
        </p:blipFill>
        <p:spPr>
          <a:xfrm>
            <a:off x="3857606" y="1310052"/>
            <a:ext cx="2981304" cy="5266538"/>
          </a:xfrm>
          <a:prstGeom prst="rect">
            <a:avLst/>
          </a:prstGeom>
        </p:spPr>
      </p:pic>
      <p:sp>
        <p:nvSpPr>
          <p:cNvPr id="11" name="Shape 7"/>
          <p:cNvSpPr/>
          <p:nvPr/>
        </p:nvSpPr>
        <p:spPr>
          <a:xfrm>
            <a:off x="7086558" y="1310052"/>
            <a:ext cx="2981304" cy="5266538"/>
          </a:xfrm>
          <a:prstGeom prst="roundRect">
            <a:avLst>
              <a:gd name="adj" fmla="val 2556"/>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12" name="Image 2" descr="preencoded.png"/>
          <p:cNvPicPr>
            <a:picLocks noChangeAspect="1"/>
          </p:cNvPicPr>
          <p:nvPr/>
        </p:nvPicPr>
        <p:blipFill>
          <a:blip r:embed="rId5"/>
          <a:srcRect t="-13518" b="-13518"/>
          <a:stretch/>
        </p:blipFill>
        <p:spPr>
          <a:xfrm>
            <a:off x="7086558" y="1310052"/>
            <a:ext cx="2981304" cy="5266538"/>
          </a:xfrm>
          <a:prstGeom prst="rect">
            <a:avLst/>
          </a:prstGeom>
        </p:spPr>
      </p:pic>
      <p:sp>
        <p:nvSpPr>
          <p:cNvPr id="13" name="Text 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4" name="Text 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5" name="Text 1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24164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삼성화재 – New 내돈내삼</a:t>
            </a:r>
            <a:endParaRPr lang="en-US" sz="2475" dirty="0"/>
          </a:p>
        </p:txBody>
      </p:sp>
      <p:sp>
        <p:nvSpPr>
          <p:cNvPr id="3" name="Shape 1"/>
          <p:cNvSpPr/>
          <p:nvPr/>
        </p:nvSpPr>
        <p:spPr>
          <a:xfrm>
            <a:off x="8875682" y="340821"/>
            <a:ext cx="1287472"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비급여 암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2007"/>
            </a:avLst>
          </a:prstGeom>
          <a:solidFill>
            <a:srgbClr val="FFFFFF"/>
          </a:solidFill>
          <a:ln w="5217">
            <a:solidFill>
              <a:srgbClr val="D3B9A5"/>
            </a:solidFill>
            <a:prstDash val="solid"/>
          </a:ln>
        </p:spPr>
        <p:txBody>
          <a:bodyPr/>
          <a:lstStyle/>
          <a:p>
            <a:endParaRPr lang="ko-KR" altLang="en-US"/>
          </a:p>
        </p:txBody>
      </p:sp>
      <p:sp>
        <p:nvSpPr>
          <p:cNvPr id="7" name="Shape 5"/>
          <p:cNvSpPr/>
          <p:nvPr/>
        </p:nvSpPr>
        <p:spPr>
          <a:xfrm>
            <a:off x="538580" y="1100555"/>
            <a:ext cx="2404738" cy="487958"/>
          </a:xfrm>
          <a:prstGeom prst="rect">
            <a:avLst/>
          </a:prstGeom>
          <a:solidFill>
            <a:srgbClr val="CF7446"/>
          </a:solidFill>
          <a:ln/>
        </p:spPr>
        <p:txBody>
          <a:bodyPr/>
          <a:lstStyle/>
          <a:p>
            <a:endParaRPr lang="ko-KR" altLang="en-US"/>
          </a:p>
        </p:txBody>
      </p:sp>
      <p:sp>
        <p:nvSpPr>
          <p:cNvPr id="8" name="Text 6"/>
          <p:cNvSpPr/>
          <p:nvPr/>
        </p:nvSpPr>
        <p:spPr>
          <a:xfrm>
            <a:off x="557630" y="1138655"/>
            <a:ext cx="2366638"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9" name="Shape 7"/>
          <p:cNvSpPr/>
          <p:nvPr/>
        </p:nvSpPr>
        <p:spPr>
          <a:xfrm>
            <a:off x="2943317" y="1100555"/>
            <a:ext cx="2404738" cy="487958"/>
          </a:xfrm>
          <a:prstGeom prst="rect">
            <a:avLst/>
          </a:prstGeom>
          <a:solidFill>
            <a:srgbClr val="9A4A27"/>
          </a:solidFill>
          <a:ln/>
        </p:spPr>
        <p:txBody>
          <a:bodyPr/>
          <a:lstStyle/>
          <a:p>
            <a:endParaRPr lang="ko-KR" altLang="en-US"/>
          </a:p>
        </p:txBody>
      </p:sp>
      <p:sp>
        <p:nvSpPr>
          <p:cNvPr id="10" name="Shape 8"/>
          <p:cNvSpPr/>
          <p:nvPr/>
        </p:nvSpPr>
        <p:spPr>
          <a:xfrm>
            <a:off x="2943317" y="1100555"/>
            <a:ext cx="9525" cy="487958"/>
          </a:xfrm>
          <a:prstGeom prst="rect">
            <a:avLst/>
          </a:prstGeom>
          <a:solidFill>
            <a:srgbClr val="FFFFFF">
              <a:alpha val="25000"/>
            </a:srgbClr>
          </a:solidFill>
          <a:ln/>
        </p:spPr>
        <p:txBody>
          <a:bodyPr/>
          <a:lstStyle/>
          <a:p>
            <a:endParaRPr lang="ko-KR" altLang="en-US"/>
          </a:p>
        </p:txBody>
      </p:sp>
      <p:pic>
        <p:nvPicPr>
          <p:cNvPr id="11" name="Image 0" descr="preencoded.png"/>
          <p:cNvPicPr>
            <a:picLocks noChangeAspect="1"/>
          </p:cNvPicPr>
          <p:nvPr/>
        </p:nvPicPr>
        <p:blipFill>
          <a:blip r:embed="rId3"/>
          <a:stretch>
            <a:fillRect/>
          </a:stretch>
        </p:blipFill>
        <p:spPr>
          <a:xfrm>
            <a:off x="3647457" y="1173104"/>
            <a:ext cx="239496" cy="342859"/>
          </a:xfrm>
          <a:prstGeom prst="rect">
            <a:avLst/>
          </a:prstGeom>
        </p:spPr>
      </p:pic>
      <p:sp>
        <p:nvSpPr>
          <p:cNvPr id="12" name="Text 9"/>
          <p:cNvSpPr/>
          <p:nvPr/>
        </p:nvSpPr>
        <p:spPr>
          <a:xfrm>
            <a:off x="3924989" y="1224541"/>
            <a:ext cx="762162"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삼성화재</a:t>
            </a:r>
            <a:endParaRPr lang="en-US" sz="1575" dirty="0"/>
          </a:p>
        </p:txBody>
      </p:sp>
      <p:sp>
        <p:nvSpPr>
          <p:cNvPr id="13" name="Shape 10"/>
          <p:cNvSpPr/>
          <p:nvPr/>
        </p:nvSpPr>
        <p:spPr>
          <a:xfrm>
            <a:off x="5348054" y="1100555"/>
            <a:ext cx="2404738" cy="487958"/>
          </a:xfrm>
          <a:prstGeom prst="rect">
            <a:avLst/>
          </a:prstGeom>
          <a:solidFill>
            <a:srgbClr val="CF7446"/>
          </a:solidFill>
          <a:ln/>
        </p:spPr>
        <p:txBody>
          <a:bodyPr/>
          <a:lstStyle/>
          <a:p>
            <a:endParaRPr lang="ko-KR" altLang="en-US"/>
          </a:p>
        </p:txBody>
      </p:sp>
      <p:sp>
        <p:nvSpPr>
          <p:cNvPr id="14" name="Shape 11"/>
          <p:cNvSpPr/>
          <p:nvPr/>
        </p:nvSpPr>
        <p:spPr>
          <a:xfrm>
            <a:off x="5348054" y="1100555"/>
            <a:ext cx="9525" cy="487958"/>
          </a:xfrm>
          <a:prstGeom prst="rect">
            <a:avLst/>
          </a:prstGeom>
          <a:solidFill>
            <a:srgbClr val="FFFFFF">
              <a:alpha val="25000"/>
            </a:srgbClr>
          </a:solidFill>
          <a:ln/>
        </p:spPr>
        <p:txBody>
          <a:bodyPr/>
          <a:lstStyle/>
          <a:p>
            <a:endParaRPr lang="ko-KR" altLang="en-US"/>
          </a:p>
        </p:txBody>
      </p:sp>
      <p:sp>
        <p:nvSpPr>
          <p:cNvPr id="15" name="Text 12"/>
          <p:cNvSpPr/>
          <p:nvPr/>
        </p:nvSpPr>
        <p:spPr>
          <a:xfrm>
            <a:off x="5372321" y="1138655"/>
            <a:ext cx="2361420"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KB손해보험</a:t>
            </a:r>
            <a:endParaRPr lang="en-US" sz="1575" dirty="0"/>
          </a:p>
        </p:txBody>
      </p:sp>
      <p:sp>
        <p:nvSpPr>
          <p:cNvPr id="16" name="Shape 13"/>
          <p:cNvSpPr/>
          <p:nvPr/>
        </p:nvSpPr>
        <p:spPr>
          <a:xfrm>
            <a:off x="7752792" y="1100555"/>
            <a:ext cx="2405145" cy="487958"/>
          </a:xfrm>
          <a:prstGeom prst="rect">
            <a:avLst/>
          </a:prstGeom>
          <a:solidFill>
            <a:srgbClr val="CF7446"/>
          </a:solidFill>
          <a:ln/>
        </p:spPr>
        <p:txBody>
          <a:bodyPr/>
          <a:lstStyle/>
          <a:p>
            <a:endParaRPr lang="ko-KR" altLang="en-US"/>
          </a:p>
        </p:txBody>
      </p:sp>
      <p:sp>
        <p:nvSpPr>
          <p:cNvPr id="17" name="Shape 14"/>
          <p:cNvSpPr/>
          <p:nvPr/>
        </p:nvSpPr>
        <p:spPr>
          <a:xfrm>
            <a:off x="7752792" y="1100555"/>
            <a:ext cx="9525" cy="487958"/>
          </a:xfrm>
          <a:prstGeom prst="rect">
            <a:avLst/>
          </a:prstGeom>
          <a:solidFill>
            <a:srgbClr val="FFFFFF">
              <a:alpha val="25000"/>
            </a:srgbClr>
          </a:solidFill>
          <a:ln/>
        </p:spPr>
        <p:txBody>
          <a:bodyPr/>
          <a:lstStyle/>
          <a:p>
            <a:endParaRPr lang="ko-KR" altLang="en-US"/>
          </a:p>
        </p:txBody>
      </p:sp>
      <p:sp>
        <p:nvSpPr>
          <p:cNvPr id="18" name="Text 15"/>
          <p:cNvSpPr/>
          <p:nvPr/>
        </p:nvSpPr>
        <p:spPr>
          <a:xfrm>
            <a:off x="7777059" y="1138655"/>
            <a:ext cx="2361828" cy="449858"/>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1" dirty="0">
                <a:solidFill>
                  <a:srgbClr val="FFFFFF"/>
                </a:solidFill>
                <a:latin typeface="Paperlogy 7 Bold" pitchFamily="2" charset="-127"/>
                <a:ea typeface="Paperlogy 7 Bold" pitchFamily="2" charset="-127"/>
                <a:cs typeface="Arial" pitchFamily="34" charset="-120"/>
              </a:rPr>
              <a:t>메리츠화재</a:t>
            </a:r>
            <a:endParaRPr lang="en-US" sz="1575" dirty="0"/>
          </a:p>
        </p:txBody>
      </p:sp>
      <p:sp>
        <p:nvSpPr>
          <p:cNvPr id="19" name="Shape 16"/>
          <p:cNvSpPr/>
          <p:nvPr/>
        </p:nvSpPr>
        <p:spPr>
          <a:xfrm>
            <a:off x="538580" y="1588512"/>
            <a:ext cx="2404738" cy="377503"/>
          </a:xfrm>
          <a:prstGeom prst="rect">
            <a:avLst/>
          </a:prstGeom>
          <a:solidFill>
            <a:srgbClr val="FCF4EE"/>
          </a:solidFill>
          <a:ln/>
        </p:spPr>
        <p:txBody>
          <a:bodyPr/>
          <a:lstStyle/>
          <a:p>
            <a:endParaRPr lang="ko-KR" altLang="en-US"/>
          </a:p>
        </p:txBody>
      </p:sp>
      <p:sp>
        <p:nvSpPr>
          <p:cNvPr id="20" name="Shape 17"/>
          <p:cNvSpPr/>
          <p:nvPr/>
        </p:nvSpPr>
        <p:spPr>
          <a:xfrm>
            <a:off x="538580" y="1588512"/>
            <a:ext cx="2404738" cy="9525"/>
          </a:xfrm>
          <a:prstGeom prst="rect">
            <a:avLst/>
          </a:prstGeom>
          <a:solidFill>
            <a:srgbClr val="D3B9A5"/>
          </a:solidFill>
          <a:ln/>
        </p:spPr>
        <p:txBody>
          <a:bodyPr/>
          <a:lstStyle/>
          <a:p>
            <a:endParaRPr lang="ko-KR" altLang="en-US"/>
          </a:p>
        </p:txBody>
      </p:sp>
      <p:sp>
        <p:nvSpPr>
          <p:cNvPr id="21" name="Text 18"/>
          <p:cNvSpPr/>
          <p:nvPr/>
        </p:nvSpPr>
        <p:spPr>
          <a:xfrm>
            <a:off x="557630" y="1622305"/>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상품명</a:t>
            </a:r>
            <a:endParaRPr lang="en-US" sz="1088" dirty="0"/>
          </a:p>
        </p:txBody>
      </p:sp>
      <p:sp>
        <p:nvSpPr>
          <p:cNvPr id="22" name="Shape 19"/>
          <p:cNvSpPr/>
          <p:nvPr/>
        </p:nvSpPr>
        <p:spPr>
          <a:xfrm>
            <a:off x="2943317" y="1588512"/>
            <a:ext cx="2404738" cy="377503"/>
          </a:xfrm>
          <a:prstGeom prst="rect">
            <a:avLst/>
          </a:prstGeom>
          <a:solidFill>
            <a:srgbClr val="F8E1D0"/>
          </a:solidFill>
          <a:ln/>
        </p:spPr>
        <p:txBody>
          <a:bodyPr/>
          <a:lstStyle/>
          <a:p>
            <a:endParaRPr lang="ko-KR" altLang="en-US"/>
          </a:p>
        </p:txBody>
      </p:sp>
      <p:sp>
        <p:nvSpPr>
          <p:cNvPr id="23" name="Shape 20"/>
          <p:cNvSpPr/>
          <p:nvPr/>
        </p:nvSpPr>
        <p:spPr>
          <a:xfrm>
            <a:off x="2943317" y="1588512"/>
            <a:ext cx="2404738" cy="9525"/>
          </a:xfrm>
          <a:prstGeom prst="rect">
            <a:avLst/>
          </a:prstGeom>
          <a:solidFill>
            <a:srgbClr val="D3B9A5"/>
          </a:solidFill>
          <a:ln/>
        </p:spPr>
        <p:txBody>
          <a:bodyPr/>
          <a:lstStyle/>
          <a:p>
            <a:endParaRPr lang="ko-KR" altLang="en-US"/>
          </a:p>
        </p:txBody>
      </p:sp>
      <p:sp>
        <p:nvSpPr>
          <p:cNvPr id="24" name="Shape 21"/>
          <p:cNvSpPr/>
          <p:nvPr/>
        </p:nvSpPr>
        <p:spPr>
          <a:xfrm>
            <a:off x="2943317" y="1588512"/>
            <a:ext cx="9525" cy="377503"/>
          </a:xfrm>
          <a:prstGeom prst="rect">
            <a:avLst/>
          </a:prstGeom>
          <a:solidFill>
            <a:srgbClr val="D3B9A5"/>
          </a:solidFill>
          <a:ln/>
        </p:spPr>
        <p:txBody>
          <a:bodyPr/>
          <a:lstStyle/>
          <a:p>
            <a:endParaRPr lang="ko-KR" altLang="en-US"/>
          </a:p>
        </p:txBody>
      </p:sp>
      <p:sp>
        <p:nvSpPr>
          <p:cNvPr id="25" name="Text 22"/>
          <p:cNvSpPr/>
          <p:nvPr/>
        </p:nvSpPr>
        <p:spPr>
          <a:xfrm>
            <a:off x="2967584" y="1622305"/>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New 내돈내삼</a:t>
            </a:r>
            <a:endParaRPr lang="en-US" sz="1088" dirty="0"/>
          </a:p>
        </p:txBody>
      </p:sp>
      <p:sp>
        <p:nvSpPr>
          <p:cNvPr id="26" name="Shape 23"/>
          <p:cNvSpPr/>
          <p:nvPr/>
        </p:nvSpPr>
        <p:spPr>
          <a:xfrm>
            <a:off x="5348054" y="1588512"/>
            <a:ext cx="2404738" cy="377503"/>
          </a:xfrm>
          <a:prstGeom prst="rect">
            <a:avLst/>
          </a:prstGeom>
          <a:solidFill>
            <a:srgbClr val="FFFFFF"/>
          </a:solidFill>
          <a:ln/>
        </p:spPr>
        <p:txBody>
          <a:bodyPr/>
          <a:lstStyle/>
          <a:p>
            <a:endParaRPr lang="ko-KR" altLang="en-US"/>
          </a:p>
        </p:txBody>
      </p:sp>
      <p:sp>
        <p:nvSpPr>
          <p:cNvPr id="27" name="Shape 24"/>
          <p:cNvSpPr/>
          <p:nvPr/>
        </p:nvSpPr>
        <p:spPr>
          <a:xfrm>
            <a:off x="5348054" y="1588512"/>
            <a:ext cx="2404738" cy="9525"/>
          </a:xfrm>
          <a:prstGeom prst="rect">
            <a:avLst/>
          </a:prstGeom>
          <a:solidFill>
            <a:srgbClr val="D3B9A5"/>
          </a:solidFill>
          <a:ln/>
        </p:spPr>
        <p:txBody>
          <a:bodyPr/>
          <a:lstStyle/>
          <a:p>
            <a:endParaRPr lang="ko-KR" altLang="en-US"/>
          </a:p>
        </p:txBody>
      </p:sp>
      <p:sp>
        <p:nvSpPr>
          <p:cNvPr id="28" name="Shape 25"/>
          <p:cNvSpPr/>
          <p:nvPr/>
        </p:nvSpPr>
        <p:spPr>
          <a:xfrm>
            <a:off x="5348054" y="1588512"/>
            <a:ext cx="9525" cy="377503"/>
          </a:xfrm>
          <a:prstGeom prst="rect">
            <a:avLst/>
          </a:prstGeom>
          <a:solidFill>
            <a:srgbClr val="D3B9A5"/>
          </a:solidFill>
          <a:ln/>
        </p:spPr>
        <p:txBody>
          <a:bodyPr/>
          <a:lstStyle/>
          <a:p>
            <a:endParaRPr lang="ko-KR" altLang="en-US"/>
          </a:p>
        </p:txBody>
      </p:sp>
      <p:sp>
        <p:nvSpPr>
          <p:cNvPr id="29" name="Text 26"/>
          <p:cNvSpPr/>
          <p:nvPr/>
        </p:nvSpPr>
        <p:spPr>
          <a:xfrm>
            <a:off x="5372321" y="1622305"/>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5.10.10 플러스 건강</a:t>
            </a:r>
            <a:endParaRPr lang="en-US" sz="1088" dirty="0"/>
          </a:p>
        </p:txBody>
      </p:sp>
      <p:sp>
        <p:nvSpPr>
          <p:cNvPr id="30" name="Shape 27"/>
          <p:cNvSpPr/>
          <p:nvPr/>
        </p:nvSpPr>
        <p:spPr>
          <a:xfrm>
            <a:off x="7752792" y="1588512"/>
            <a:ext cx="2405145" cy="377503"/>
          </a:xfrm>
          <a:prstGeom prst="rect">
            <a:avLst/>
          </a:prstGeom>
          <a:solidFill>
            <a:srgbClr val="FFFFFF"/>
          </a:solidFill>
          <a:ln/>
        </p:spPr>
        <p:txBody>
          <a:bodyPr/>
          <a:lstStyle/>
          <a:p>
            <a:endParaRPr lang="ko-KR" altLang="en-US"/>
          </a:p>
        </p:txBody>
      </p:sp>
      <p:sp>
        <p:nvSpPr>
          <p:cNvPr id="31" name="Shape 28"/>
          <p:cNvSpPr/>
          <p:nvPr/>
        </p:nvSpPr>
        <p:spPr>
          <a:xfrm>
            <a:off x="7752792" y="1588512"/>
            <a:ext cx="2405145" cy="9525"/>
          </a:xfrm>
          <a:prstGeom prst="rect">
            <a:avLst/>
          </a:prstGeom>
          <a:solidFill>
            <a:srgbClr val="D3B9A5"/>
          </a:solidFill>
          <a:ln/>
        </p:spPr>
        <p:txBody>
          <a:bodyPr/>
          <a:lstStyle/>
          <a:p>
            <a:endParaRPr lang="ko-KR" altLang="en-US"/>
          </a:p>
        </p:txBody>
      </p:sp>
      <p:sp>
        <p:nvSpPr>
          <p:cNvPr id="32" name="Shape 29"/>
          <p:cNvSpPr/>
          <p:nvPr/>
        </p:nvSpPr>
        <p:spPr>
          <a:xfrm>
            <a:off x="7752792" y="1588512"/>
            <a:ext cx="9525" cy="377503"/>
          </a:xfrm>
          <a:prstGeom prst="rect">
            <a:avLst/>
          </a:prstGeom>
          <a:solidFill>
            <a:srgbClr val="D3B9A5"/>
          </a:solidFill>
          <a:ln/>
        </p:spPr>
        <p:txBody>
          <a:bodyPr/>
          <a:lstStyle/>
          <a:p>
            <a:endParaRPr lang="ko-KR" altLang="en-US"/>
          </a:p>
        </p:txBody>
      </p:sp>
      <p:sp>
        <p:nvSpPr>
          <p:cNvPr id="33" name="Text 30"/>
          <p:cNvSpPr/>
          <p:nvPr/>
        </p:nvSpPr>
        <p:spPr>
          <a:xfrm>
            <a:off x="7777059" y="1622305"/>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또걸료도 또받는 암보험</a:t>
            </a:r>
            <a:endParaRPr lang="en-US" sz="1088" dirty="0"/>
          </a:p>
        </p:txBody>
      </p:sp>
      <p:sp>
        <p:nvSpPr>
          <p:cNvPr id="34" name="Shape 31"/>
          <p:cNvSpPr/>
          <p:nvPr/>
        </p:nvSpPr>
        <p:spPr>
          <a:xfrm>
            <a:off x="538580" y="1966015"/>
            <a:ext cx="2404738" cy="385573"/>
          </a:xfrm>
          <a:prstGeom prst="rect">
            <a:avLst/>
          </a:prstGeom>
          <a:solidFill>
            <a:srgbClr val="FCF4EE"/>
          </a:solidFill>
          <a:ln/>
        </p:spPr>
        <p:txBody>
          <a:bodyPr/>
          <a:lstStyle/>
          <a:p>
            <a:endParaRPr lang="ko-KR" altLang="en-US"/>
          </a:p>
        </p:txBody>
      </p:sp>
      <p:sp>
        <p:nvSpPr>
          <p:cNvPr id="35" name="Shape 32"/>
          <p:cNvSpPr/>
          <p:nvPr/>
        </p:nvSpPr>
        <p:spPr>
          <a:xfrm>
            <a:off x="538580" y="1966015"/>
            <a:ext cx="2404738" cy="9525"/>
          </a:xfrm>
          <a:prstGeom prst="rect">
            <a:avLst/>
          </a:prstGeom>
          <a:solidFill>
            <a:srgbClr val="D3B9A5"/>
          </a:solidFill>
          <a:ln/>
        </p:spPr>
        <p:txBody>
          <a:bodyPr/>
          <a:lstStyle/>
          <a:p>
            <a:endParaRPr lang="ko-KR" altLang="en-US"/>
          </a:p>
        </p:txBody>
      </p:sp>
      <p:sp>
        <p:nvSpPr>
          <p:cNvPr id="36" name="Text 33"/>
          <p:cNvSpPr/>
          <p:nvPr/>
        </p:nvSpPr>
        <p:spPr>
          <a:xfrm>
            <a:off x="557630" y="1999808"/>
            <a:ext cx="2366638"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보장횟수</a:t>
            </a:r>
            <a:endParaRPr lang="en-US" sz="1088" dirty="0"/>
          </a:p>
        </p:txBody>
      </p:sp>
      <p:sp>
        <p:nvSpPr>
          <p:cNvPr id="37" name="Shape 34"/>
          <p:cNvSpPr/>
          <p:nvPr/>
        </p:nvSpPr>
        <p:spPr>
          <a:xfrm>
            <a:off x="2943317" y="1966015"/>
            <a:ext cx="2404738" cy="385573"/>
          </a:xfrm>
          <a:prstGeom prst="rect">
            <a:avLst/>
          </a:prstGeom>
          <a:solidFill>
            <a:srgbClr val="F8E1D0"/>
          </a:solidFill>
          <a:ln/>
        </p:spPr>
        <p:txBody>
          <a:bodyPr/>
          <a:lstStyle/>
          <a:p>
            <a:endParaRPr lang="ko-KR" altLang="en-US"/>
          </a:p>
        </p:txBody>
      </p:sp>
      <p:sp>
        <p:nvSpPr>
          <p:cNvPr id="38" name="Shape 35"/>
          <p:cNvSpPr/>
          <p:nvPr/>
        </p:nvSpPr>
        <p:spPr>
          <a:xfrm>
            <a:off x="2943317" y="1966015"/>
            <a:ext cx="2404738" cy="9525"/>
          </a:xfrm>
          <a:prstGeom prst="rect">
            <a:avLst/>
          </a:prstGeom>
          <a:solidFill>
            <a:srgbClr val="D3B9A5"/>
          </a:solidFill>
          <a:ln/>
        </p:spPr>
        <p:txBody>
          <a:bodyPr/>
          <a:lstStyle/>
          <a:p>
            <a:endParaRPr lang="ko-KR" altLang="en-US"/>
          </a:p>
        </p:txBody>
      </p:sp>
      <p:sp>
        <p:nvSpPr>
          <p:cNvPr id="39" name="Shape 36"/>
          <p:cNvSpPr/>
          <p:nvPr/>
        </p:nvSpPr>
        <p:spPr>
          <a:xfrm>
            <a:off x="2943317" y="1966015"/>
            <a:ext cx="9525" cy="385573"/>
          </a:xfrm>
          <a:prstGeom prst="rect">
            <a:avLst/>
          </a:prstGeom>
          <a:solidFill>
            <a:srgbClr val="D3B9A5"/>
          </a:solidFill>
          <a:ln/>
        </p:spPr>
        <p:txBody>
          <a:bodyPr/>
          <a:lstStyle/>
          <a:p>
            <a:endParaRPr lang="ko-KR" altLang="en-US"/>
          </a:p>
        </p:txBody>
      </p:sp>
      <p:sp>
        <p:nvSpPr>
          <p:cNvPr id="40" name="Text 37"/>
          <p:cNvSpPr/>
          <p:nvPr/>
        </p:nvSpPr>
        <p:spPr>
          <a:xfrm>
            <a:off x="2967584" y="1999808"/>
            <a:ext cx="2361420"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수술 회당, 이외 연 1회</a:t>
            </a:r>
            <a:endParaRPr lang="en-US" sz="1088" dirty="0"/>
          </a:p>
        </p:txBody>
      </p:sp>
      <p:sp>
        <p:nvSpPr>
          <p:cNvPr id="41" name="Shape 38"/>
          <p:cNvSpPr/>
          <p:nvPr/>
        </p:nvSpPr>
        <p:spPr>
          <a:xfrm>
            <a:off x="5348054" y="1966015"/>
            <a:ext cx="2404738" cy="385573"/>
          </a:xfrm>
          <a:prstGeom prst="rect">
            <a:avLst/>
          </a:prstGeom>
          <a:solidFill>
            <a:srgbClr val="FFFFFF"/>
          </a:solidFill>
          <a:ln/>
        </p:spPr>
        <p:txBody>
          <a:bodyPr/>
          <a:lstStyle/>
          <a:p>
            <a:endParaRPr lang="ko-KR" altLang="en-US"/>
          </a:p>
        </p:txBody>
      </p:sp>
      <p:sp>
        <p:nvSpPr>
          <p:cNvPr id="42" name="Shape 39"/>
          <p:cNvSpPr/>
          <p:nvPr/>
        </p:nvSpPr>
        <p:spPr>
          <a:xfrm>
            <a:off x="5348054" y="1966015"/>
            <a:ext cx="2404738" cy="9525"/>
          </a:xfrm>
          <a:prstGeom prst="rect">
            <a:avLst/>
          </a:prstGeom>
          <a:solidFill>
            <a:srgbClr val="D3B9A5"/>
          </a:solidFill>
          <a:ln/>
        </p:spPr>
        <p:txBody>
          <a:bodyPr/>
          <a:lstStyle/>
          <a:p>
            <a:endParaRPr lang="ko-KR" altLang="en-US"/>
          </a:p>
        </p:txBody>
      </p:sp>
      <p:sp>
        <p:nvSpPr>
          <p:cNvPr id="43" name="Shape 40"/>
          <p:cNvSpPr/>
          <p:nvPr/>
        </p:nvSpPr>
        <p:spPr>
          <a:xfrm>
            <a:off x="5348054" y="1966015"/>
            <a:ext cx="9525" cy="385573"/>
          </a:xfrm>
          <a:prstGeom prst="rect">
            <a:avLst/>
          </a:prstGeom>
          <a:solidFill>
            <a:srgbClr val="D3B9A5"/>
          </a:solidFill>
          <a:ln/>
        </p:spPr>
        <p:txBody>
          <a:bodyPr/>
          <a:lstStyle/>
          <a:p>
            <a:endParaRPr lang="ko-KR" altLang="en-US"/>
          </a:p>
        </p:txBody>
      </p:sp>
      <p:sp>
        <p:nvSpPr>
          <p:cNvPr id="44" name="Text 41"/>
          <p:cNvSpPr/>
          <p:nvPr/>
        </p:nvSpPr>
        <p:spPr>
          <a:xfrm>
            <a:off x="5372321" y="1999808"/>
            <a:ext cx="2361420"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수술 회당, 이외 연 1회</a:t>
            </a:r>
            <a:endParaRPr lang="en-US" sz="1088" dirty="0"/>
          </a:p>
        </p:txBody>
      </p:sp>
      <p:sp>
        <p:nvSpPr>
          <p:cNvPr id="45" name="Shape 42"/>
          <p:cNvSpPr/>
          <p:nvPr/>
        </p:nvSpPr>
        <p:spPr>
          <a:xfrm>
            <a:off x="7752792" y="1966015"/>
            <a:ext cx="2405145" cy="385573"/>
          </a:xfrm>
          <a:prstGeom prst="rect">
            <a:avLst/>
          </a:prstGeom>
          <a:solidFill>
            <a:srgbClr val="FFFFFF"/>
          </a:solidFill>
          <a:ln/>
        </p:spPr>
        <p:txBody>
          <a:bodyPr/>
          <a:lstStyle/>
          <a:p>
            <a:endParaRPr lang="ko-KR" altLang="en-US"/>
          </a:p>
        </p:txBody>
      </p:sp>
      <p:sp>
        <p:nvSpPr>
          <p:cNvPr id="46" name="Shape 43"/>
          <p:cNvSpPr/>
          <p:nvPr/>
        </p:nvSpPr>
        <p:spPr>
          <a:xfrm>
            <a:off x="7752792" y="1966015"/>
            <a:ext cx="2405145" cy="9525"/>
          </a:xfrm>
          <a:prstGeom prst="rect">
            <a:avLst/>
          </a:prstGeom>
          <a:solidFill>
            <a:srgbClr val="D3B9A5"/>
          </a:solidFill>
          <a:ln/>
        </p:spPr>
        <p:txBody>
          <a:bodyPr/>
          <a:lstStyle/>
          <a:p>
            <a:endParaRPr lang="ko-KR" altLang="en-US"/>
          </a:p>
        </p:txBody>
      </p:sp>
      <p:sp>
        <p:nvSpPr>
          <p:cNvPr id="47" name="Shape 44"/>
          <p:cNvSpPr/>
          <p:nvPr/>
        </p:nvSpPr>
        <p:spPr>
          <a:xfrm>
            <a:off x="7752792" y="1966015"/>
            <a:ext cx="9525" cy="385573"/>
          </a:xfrm>
          <a:prstGeom prst="rect">
            <a:avLst/>
          </a:prstGeom>
          <a:solidFill>
            <a:srgbClr val="D3B9A5"/>
          </a:solidFill>
          <a:ln/>
        </p:spPr>
        <p:txBody>
          <a:bodyPr/>
          <a:lstStyle/>
          <a:p>
            <a:endParaRPr lang="ko-KR" altLang="en-US"/>
          </a:p>
        </p:txBody>
      </p:sp>
      <p:sp>
        <p:nvSpPr>
          <p:cNvPr id="48" name="Text 45"/>
          <p:cNvSpPr/>
          <p:nvPr/>
        </p:nvSpPr>
        <p:spPr>
          <a:xfrm>
            <a:off x="7777059" y="1999808"/>
            <a:ext cx="2361828" cy="36130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수술 회당, 이외 연 1회</a:t>
            </a:r>
            <a:endParaRPr lang="en-US" sz="1088" dirty="0"/>
          </a:p>
        </p:txBody>
      </p:sp>
      <p:sp>
        <p:nvSpPr>
          <p:cNvPr id="49" name="Shape 46"/>
          <p:cNvSpPr/>
          <p:nvPr/>
        </p:nvSpPr>
        <p:spPr>
          <a:xfrm>
            <a:off x="538580" y="2351589"/>
            <a:ext cx="2404738" cy="377503"/>
          </a:xfrm>
          <a:prstGeom prst="rect">
            <a:avLst/>
          </a:prstGeom>
          <a:solidFill>
            <a:srgbClr val="FCF4EE"/>
          </a:solidFill>
          <a:ln/>
        </p:spPr>
        <p:txBody>
          <a:bodyPr/>
          <a:lstStyle/>
          <a:p>
            <a:endParaRPr lang="ko-KR" altLang="en-US"/>
          </a:p>
        </p:txBody>
      </p:sp>
      <p:sp>
        <p:nvSpPr>
          <p:cNvPr id="50" name="Shape 47"/>
          <p:cNvSpPr/>
          <p:nvPr/>
        </p:nvSpPr>
        <p:spPr>
          <a:xfrm>
            <a:off x="538580" y="2351589"/>
            <a:ext cx="2404738" cy="9525"/>
          </a:xfrm>
          <a:prstGeom prst="rect">
            <a:avLst/>
          </a:prstGeom>
          <a:solidFill>
            <a:srgbClr val="D3B9A5"/>
          </a:solidFill>
          <a:ln/>
        </p:spPr>
        <p:txBody>
          <a:bodyPr/>
          <a:lstStyle/>
          <a:p>
            <a:endParaRPr lang="ko-KR" altLang="en-US"/>
          </a:p>
        </p:txBody>
      </p:sp>
      <p:sp>
        <p:nvSpPr>
          <p:cNvPr id="51" name="Text 48"/>
          <p:cNvSpPr/>
          <p:nvPr/>
        </p:nvSpPr>
        <p:spPr>
          <a:xfrm>
            <a:off x="557630" y="2385381"/>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수술(일반/기갑)</a:t>
            </a:r>
            <a:endParaRPr lang="en-US" sz="1088" dirty="0"/>
          </a:p>
        </p:txBody>
      </p:sp>
      <p:sp>
        <p:nvSpPr>
          <p:cNvPr id="52" name="Shape 49"/>
          <p:cNvSpPr/>
          <p:nvPr/>
        </p:nvSpPr>
        <p:spPr>
          <a:xfrm>
            <a:off x="2943317" y="2351589"/>
            <a:ext cx="2404738" cy="377503"/>
          </a:xfrm>
          <a:prstGeom prst="rect">
            <a:avLst/>
          </a:prstGeom>
          <a:solidFill>
            <a:srgbClr val="F8E1D0"/>
          </a:solidFill>
          <a:ln/>
        </p:spPr>
        <p:txBody>
          <a:bodyPr/>
          <a:lstStyle/>
          <a:p>
            <a:endParaRPr lang="ko-KR" altLang="en-US"/>
          </a:p>
        </p:txBody>
      </p:sp>
      <p:sp>
        <p:nvSpPr>
          <p:cNvPr id="53" name="Shape 50"/>
          <p:cNvSpPr/>
          <p:nvPr/>
        </p:nvSpPr>
        <p:spPr>
          <a:xfrm>
            <a:off x="2943317" y="2351589"/>
            <a:ext cx="2404738" cy="9525"/>
          </a:xfrm>
          <a:prstGeom prst="rect">
            <a:avLst/>
          </a:prstGeom>
          <a:solidFill>
            <a:srgbClr val="D3B9A5"/>
          </a:solidFill>
          <a:ln/>
        </p:spPr>
        <p:txBody>
          <a:bodyPr/>
          <a:lstStyle/>
          <a:p>
            <a:endParaRPr lang="ko-KR" altLang="en-US"/>
          </a:p>
        </p:txBody>
      </p:sp>
      <p:sp>
        <p:nvSpPr>
          <p:cNvPr id="54" name="Shape 51"/>
          <p:cNvSpPr/>
          <p:nvPr/>
        </p:nvSpPr>
        <p:spPr>
          <a:xfrm>
            <a:off x="2943317" y="2351589"/>
            <a:ext cx="9525" cy="377503"/>
          </a:xfrm>
          <a:prstGeom prst="rect">
            <a:avLst/>
          </a:prstGeom>
          <a:solidFill>
            <a:srgbClr val="D3B9A5"/>
          </a:solidFill>
          <a:ln/>
        </p:spPr>
        <p:txBody>
          <a:bodyPr/>
          <a:lstStyle/>
          <a:p>
            <a:endParaRPr lang="ko-KR" altLang="en-US"/>
          </a:p>
        </p:txBody>
      </p:sp>
      <p:sp>
        <p:nvSpPr>
          <p:cNvPr id="55" name="Text 52"/>
          <p:cNvSpPr/>
          <p:nvPr/>
        </p:nvSpPr>
        <p:spPr>
          <a:xfrm>
            <a:off x="2967584" y="2385381"/>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1,000만 / 1,000만</a:t>
            </a:r>
            <a:endParaRPr lang="en-US" sz="1088" dirty="0"/>
          </a:p>
        </p:txBody>
      </p:sp>
      <p:sp>
        <p:nvSpPr>
          <p:cNvPr id="56" name="Shape 53"/>
          <p:cNvSpPr/>
          <p:nvPr/>
        </p:nvSpPr>
        <p:spPr>
          <a:xfrm>
            <a:off x="5348054" y="2351589"/>
            <a:ext cx="2404738" cy="377503"/>
          </a:xfrm>
          <a:prstGeom prst="rect">
            <a:avLst/>
          </a:prstGeom>
          <a:solidFill>
            <a:srgbClr val="FFFFFF"/>
          </a:solidFill>
          <a:ln/>
        </p:spPr>
        <p:txBody>
          <a:bodyPr/>
          <a:lstStyle/>
          <a:p>
            <a:endParaRPr lang="ko-KR" altLang="en-US"/>
          </a:p>
        </p:txBody>
      </p:sp>
      <p:sp>
        <p:nvSpPr>
          <p:cNvPr id="57" name="Shape 54"/>
          <p:cNvSpPr/>
          <p:nvPr/>
        </p:nvSpPr>
        <p:spPr>
          <a:xfrm>
            <a:off x="5348054" y="2351589"/>
            <a:ext cx="2404738" cy="9525"/>
          </a:xfrm>
          <a:prstGeom prst="rect">
            <a:avLst/>
          </a:prstGeom>
          <a:solidFill>
            <a:srgbClr val="D3B9A5"/>
          </a:solidFill>
          <a:ln/>
        </p:spPr>
        <p:txBody>
          <a:bodyPr/>
          <a:lstStyle/>
          <a:p>
            <a:endParaRPr lang="ko-KR" altLang="en-US"/>
          </a:p>
        </p:txBody>
      </p:sp>
      <p:sp>
        <p:nvSpPr>
          <p:cNvPr id="58" name="Shape 55"/>
          <p:cNvSpPr/>
          <p:nvPr/>
        </p:nvSpPr>
        <p:spPr>
          <a:xfrm>
            <a:off x="5348054" y="2351589"/>
            <a:ext cx="9525" cy="377503"/>
          </a:xfrm>
          <a:prstGeom prst="rect">
            <a:avLst/>
          </a:prstGeom>
          <a:solidFill>
            <a:srgbClr val="D3B9A5"/>
          </a:solidFill>
          <a:ln/>
        </p:spPr>
        <p:txBody>
          <a:bodyPr/>
          <a:lstStyle/>
          <a:p>
            <a:endParaRPr lang="ko-KR" altLang="en-US"/>
          </a:p>
        </p:txBody>
      </p:sp>
      <p:sp>
        <p:nvSpPr>
          <p:cNvPr id="59" name="Text 56"/>
          <p:cNvSpPr/>
          <p:nvPr/>
        </p:nvSpPr>
        <p:spPr>
          <a:xfrm>
            <a:off x="5372321" y="2385381"/>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60" name="Shape 57"/>
          <p:cNvSpPr/>
          <p:nvPr/>
        </p:nvSpPr>
        <p:spPr>
          <a:xfrm>
            <a:off x="7752792" y="2351589"/>
            <a:ext cx="2405145" cy="377503"/>
          </a:xfrm>
          <a:prstGeom prst="rect">
            <a:avLst/>
          </a:prstGeom>
          <a:solidFill>
            <a:srgbClr val="FFFFFF"/>
          </a:solidFill>
          <a:ln/>
        </p:spPr>
        <p:txBody>
          <a:bodyPr/>
          <a:lstStyle/>
          <a:p>
            <a:endParaRPr lang="ko-KR" altLang="en-US"/>
          </a:p>
        </p:txBody>
      </p:sp>
      <p:sp>
        <p:nvSpPr>
          <p:cNvPr id="61" name="Shape 58"/>
          <p:cNvSpPr/>
          <p:nvPr/>
        </p:nvSpPr>
        <p:spPr>
          <a:xfrm>
            <a:off x="7752792" y="2351589"/>
            <a:ext cx="2405145" cy="9525"/>
          </a:xfrm>
          <a:prstGeom prst="rect">
            <a:avLst/>
          </a:prstGeom>
          <a:solidFill>
            <a:srgbClr val="D3B9A5"/>
          </a:solidFill>
          <a:ln/>
        </p:spPr>
        <p:txBody>
          <a:bodyPr/>
          <a:lstStyle/>
          <a:p>
            <a:endParaRPr lang="ko-KR" altLang="en-US"/>
          </a:p>
        </p:txBody>
      </p:sp>
      <p:sp>
        <p:nvSpPr>
          <p:cNvPr id="62" name="Shape 59"/>
          <p:cNvSpPr/>
          <p:nvPr/>
        </p:nvSpPr>
        <p:spPr>
          <a:xfrm>
            <a:off x="7752792" y="2351589"/>
            <a:ext cx="9525" cy="377503"/>
          </a:xfrm>
          <a:prstGeom prst="rect">
            <a:avLst/>
          </a:prstGeom>
          <a:solidFill>
            <a:srgbClr val="D3B9A5"/>
          </a:solidFill>
          <a:ln/>
        </p:spPr>
        <p:txBody>
          <a:bodyPr/>
          <a:lstStyle/>
          <a:p>
            <a:endParaRPr lang="ko-KR" altLang="en-US"/>
          </a:p>
        </p:txBody>
      </p:sp>
      <p:sp>
        <p:nvSpPr>
          <p:cNvPr id="63" name="Text 60"/>
          <p:cNvSpPr/>
          <p:nvPr/>
        </p:nvSpPr>
        <p:spPr>
          <a:xfrm>
            <a:off x="7777059" y="2385381"/>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64" name="Shape 61"/>
          <p:cNvSpPr/>
          <p:nvPr/>
        </p:nvSpPr>
        <p:spPr>
          <a:xfrm>
            <a:off x="538580" y="2729092"/>
            <a:ext cx="2404738" cy="377503"/>
          </a:xfrm>
          <a:prstGeom prst="rect">
            <a:avLst/>
          </a:prstGeom>
          <a:solidFill>
            <a:srgbClr val="FCF4EE"/>
          </a:solidFill>
          <a:ln/>
        </p:spPr>
        <p:txBody>
          <a:bodyPr/>
          <a:lstStyle/>
          <a:p>
            <a:endParaRPr lang="ko-KR" altLang="en-US"/>
          </a:p>
        </p:txBody>
      </p:sp>
      <p:sp>
        <p:nvSpPr>
          <p:cNvPr id="65" name="Shape 62"/>
          <p:cNvSpPr/>
          <p:nvPr/>
        </p:nvSpPr>
        <p:spPr>
          <a:xfrm>
            <a:off x="538580" y="2729092"/>
            <a:ext cx="2404738" cy="9525"/>
          </a:xfrm>
          <a:prstGeom prst="rect">
            <a:avLst/>
          </a:prstGeom>
          <a:solidFill>
            <a:srgbClr val="D3B9A5"/>
          </a:solidFill>
          <a:ln/>
        </p:spPr>
        <p:txBody>
          <a:bodyPr/>
          <a:lstStyle/>
          <a:p>
            <a:endParaRPr lang="ko-KR" altLang="en-US"/>
          </a:p>
        </p:txBody>
      </p:sp>
      <p:sp>
        <p:nvSpPr>
          <p:cNvPr id="66" name="Text 63"/>
          <p:cNvSpPr/>
          <p:nvPr/>
        </p:nvSpPr>
        <p:spPr>
          <a:xfrm>
            <a:off x="557630" y="2762884"/>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약물(일반/기갑)</a:t>
            </a:r>
            <a:endParaRPr lang="en-US" sz="1088" dirty="0"/>
          </a:p>
        </p:txBody>
      </p:sp>
      <p:sp>
        <p:nvSpPr>
          <p:cNvPr id="67" name="Shape 64"/>
          <p:cNvSpPr/>
          <p:nvPr/>
        </p:nvSpPr>
        <p:spPr>
          <a:xfrm>
            <a:off x="2943317" y="2729092"/>
            <a:ext cx="2404738" cy="377503"/>
          </a:xfrm>
          <a:prstGeom prst="rect">
            <a:avLst/>
          </a:prstGeom>
          <a:solidFill>
            <a:srgbClr val="F8E1D0"/>
          </a:solidFill>
          <a:ln/>
        </p:spPr>
        <p:txBody>
          <a:bodyPr/>
          <a:lstStyle/>
          <a:p>
            <a:endParaRPr lang="ko-KR" altLang="en-US"/>
          </a:p>
        </p:txBody>
      </p:sp>
      <p:sp>
        <p:nvSpPr>
          <p:cNvPr id="68" name="Shape 65"/>
          <p:cNvSpPr/>
          <p:nvPr/>
        </p:nvSpPr>
        <p:spPr>
          <a:xfrm>
            <a:off x="2943317" y="2729092"/>
            <a:ext cx="2404738" cy="9525"/>
          </a:xfrm>
          <a:prstGeom prst="rect">
            <a:avLst/>
          </a:prstGeom>
          <a:solidFill>
            <a:srgbClr val="D3B9A5"/>
          </a:solidFill>
          <a:ln/>
        </p:spPr>
        <p:txBody>
          <a:bodyPr/>
          <a:lstStyle/>
          <a:p>
            <a:endParaRPr lang="ko-KR" altLang="en-US"/>
          </a:p>
        </p:txBody>
      </p:sp>
      <p:sp>
        <p:nvSpPr>
          <p:cNvPr id="69" name="Shape 66"/>
          <p:cNvSpPr/>
          <p:nvPr/>
        </p:nvSpPr>
        <p:spPr>
          <a:xfrm>
            <a:off x="2943317" y="2729092"/>
            <a:ext cx="9525" cy="377503"/>
          </a:xfrm>
          <a:prstGeom prst="rect">
            <a:avLst/>
          </a:prstGeom>
          <a:solidFill>
            <a:srgbClr val="D3B9A5"/>
          </a:solidFill>
          <a:ln/>
        </p:spPr>
        <p:txBody>
          <a:bodyPr/>
          <a:lstStyle/>
          <a:p>
            <a:endParaRPr lang="ko-KR" altLang="en-US"/>
          </a:p>
        </p:txBody>
      </p:sp>
      <p:sp>
        <p:nvSpPr>
          <p:cNvPr id="70" name="Text 67"/>
          <p:cNvSpPr/>
          <p:nvPr/>
        </p:nvSpPr>
        <p:spPr>
          <a:xfrm>
            <a:off x="2967584" y="2762884"/>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1,000만 / 1,000만</a:t>
            </a:r>
            <a:endParaRPr lang="en-US" sz="1088" dirty="0"/>
          </a:p>
        </p:txBody>
      </p:sp>
      <p:sp>
        <p:nvSpPr>
          <p:cNvPr id="71" name="Shape 68"/>
          <p:cNvSpPr/>
          <p:nvPr/>
        </p:nvSpPr>
        <p:spPr>
          <a:xfrm>
            <a:off x="5348054" y="2729092"/>
            <a:ext cx="2404738" cy="377503"/>
          </a:xfrm>
          <a:prstGeom prst="rect">
            <a:avLst/>
          </a:prstGeom>
          <a:solidFill>
            <a:srgbClr val="FFFFFF"/>
          </a:solidFill>
          <a:ln/>
        </p:spPr>
        <p:txBody>
          <a:bodyPr/>
          <a:lstStyle/>
          <a:p>
            <a:endParaRPr lang="ko-KR" altLang="en-US"/>
          </a:p>
        </p:txBody>
      </p:sp>
      <p:sp>
        <p:nvSpPr>
          <p:cNvPr id="72" name="Shape 69"/>
          <p:cNvSpPr/>
          <p:nvPr/>
        </p:nvSpPr>
        <p:spPr>
          <a:xfrm>
            <a:off x="5348054" y="2729092"/>
            <a:ext cx="2404738" cy="9525"/>
          </a:xfrm>
          <a:prstGeom prst="rect">
            <a:avLst/>
          </a:prstGeom>
          <a:solidFill>
            <a:srgbClr val="D3B9A5"/>
          </a:solidFill>
          <a:ln/>
        </p:spPr>
        <p:txBody>
          <a:bodyPr/>
          <a:lstStyle/>
          <a:p>
            <a:endParaRPr lang="ko-KR" altLang="en-US"/>
          </a:p>
        </p:txBody>
      </p:sp>
      <p:sp>
        <p:nvSpPr>
          <p:cNvPr id="73" name="Shape 70"/>
          <p:cNvSpPr/>
          <p:nvPr/>
        </p:nvSpPr>
        <p:spPr>
          <a:xfrm>
            <a:off x="5348054" y="2729092"/>
            <a:ext cx="9525" cy="377503"/>
          </a:xfrm>
          <a:prstGeom prst="rect">
            <a:avLst/>
          </a:prstGeom>
          <a:solidFill>
            <a:srgbClr val="D3B9A5"/>
          </a:solidFill>
          <a:ln/>
        </p:spPr>
        <p:txBody>
          <a:bodyPr/>
          <a:lstStyle/>
          <a:p>
            <a:endParaRPr lang="ko-KR" altLang="en-US"/>
          </a:p>
        </p:txBody>
      </p:sp>
      <p:sp>
        <p:nvSpPr>
          <p:cNvPr id="74" name="Text 71"/>
          <p:cNvSpPr/>
          <p:nvPr/>
        </p:nvSpPr>
        <p:spPr>
          <a:xfrm>
            <a:off x="5372321" y="2762884"/>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75" name="Shape 72"/>
          <p:cNvSpPr/>
          <p:nvPr/>
        </p:nvSpPr>
        <p:spPr>
          <a:xfrm>
            <a:off x="7752792" y="2729092"/>
            <a:ext cx="2405145" cy="377503"/>
          </a:xfrm>
          <a:prstGeom prst="rect">
            <a:avLst/>
          </a:prstGeom>
          <a:solidFill>
            <a:srgbClr val="FFFFFF"/>
          </a:solidFill>
          <a:ln/>
        </p:spPr>
        <p:txBody>
          <a:bodyPr/>
          <a:lstStyle/>
          <a:p>
            <a:endParaRPr lang="ko-KR" altLang="en-US"/>
          </a:p>
        </p:txBody>
      </p:sp>
      <p:sp>
        <p:nvSpPr>
          <p:cNvPr id="76" name="Shape 73"/>
          <p:cNvSpPr/>
          <p:nvPr/>
        </p:nvSpPr>
        <p:spPr>
          <a:xfrm>
            <a:off x="7752792" y="2729092"/>
            <a:ext cx="2405145" cy="9525"/>
          </a:xfrm>
          <a:prstGeom prst="rect">
            <a:avLst/>
          </a:prstGeom>
          <a:solidFill>
            <a:srgbClr val="D3B9A5"/>
          </a:solidFill>
          <a:ln/>
        </p:spPr>
        <p:txBody>
          <a:bodyPr/>
          <a:lstStyle/>
          <a:p>
            <a:endParaRPr lang="ko-KR" altLang="en-US"/>
          </a:p>
        </p:txBody>
      </p:sp>
      <p:sp>
        <p:nvSpPr>
          <p:cNvPr id="77" name="Shape 74"/>
          <p:cNvSpPr/>
          <p:nvPr/>
        </p:nvSpPr>
        <p:spPr>
          <a:xfrm>
            <a:off x="7752792" y="2729092"/>
            <a:ext cx="9525" cy="377503"/>
          </a:xfrm>
          <a:prstGeom prst="rect">
            <a:avLst/>
          </a:prstGeom>
          <a:solidFill>
            <a:srgbClr val="D3B9A5"/>
          </a:solidFill>
          <a:ln/>
        </p:spPr>
        <p:txBody>
          <a:bodyPr/>
          <a:lstStyle/>
          <a:p>
            <a:endParaRPr lang="ko-KR" altLang="en-US"/>
          </a:p>
        </p:txBody>
      </p:sp>
      <p:sp>
        <p:nvSpPr>
          <p:cNvPr id="78" name="Text 75"/>
          <p:cNvSpPr/>
          <p:nvPr/>
        </p:nvSpPr>
        <p:spPr>
          <a:xfrm>
            <a:off x="7777059" y="2762884"/>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79" name="Shape 76"/>
          <p:cNvSpPr/>
          <p:nvPr/>
        </p:nvSpPr>
        <p:spPr>
          <a:xfrm>
            <a:off x="538580" y="3106595"/>
            <a:ext cx="2404738" cy="377503"/>
          </a:xfrm>
          <a:prstGeom prst="rect">
            <a:avLst/>
          </a:prstGeom>
          <a:solidFill>
            <a:srgbClr val="FCF4EE"/>
          </a:solidFill>
          <a:ln/>
        </p:spPr>
        <p:txBody>
          <a:bodyPr/>
          <a:lstStyle/>
          <a:p>
            <a:endParaRPr lang="ko-KR" altLang="en-US"/>
          </a:p>
        </p:txBody>
      </p:sp>
      <p:sp>
        <p:nvSpPr>
          <p:cNvPr id="80" name="Shape 77"/>
          <p:cNvSpPr/>
          <p:nvPr/>
        </p:nvSpPr>
        <p:spPr>
          <a:xfrm>
            <a:off x="538580" y="3106595"/>
            <a:ext cx="2404738" cy="9525"/>
          </a:xfrm>
          <a:prstGeom prst="rect">
            <a:avLst/>
          </a:prstGeom>
          <a:solidFill>
            <a:srgbClr val="D3B9A5"/>
          </a:solidFill>
          <a:ln/>
        </p:spPr>
        <p:txBody>
          <a:bodyPr/>
          <a:lstStyle/>
          <a:p>
            <a:endParaRPr lang="ko-KR" altLang="en-US"/>
          </a:p>
        </p:txBody>
      </p:sp>
      <p:sp>
        <p:nvSpPr>
          <p:cNvPr id="81" name="Text 78"/>
          <p:cNvSpPr/>
          <p:nvPr/>
        </p:nvSpPr>
        <p:spPr>
          <a:xfrm>
            <a:off x="557630" y="3140387"/>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방사선(일반/기갑)</a:t>
            </a:r>
            <a:endParaRPr lang="en-US" sz="1088" dirty="0"/>
          </a:p>
        </p:txBody>
      </p:sp>
      <p:sp>
        <p:nvSpPr>
          <p:cNvPr id="82" name="Shape 79"/>
          <p:cNvSpPr/>
          <p:nvPr/>
        </p:nvSpPr>
        <p:spPr>
          <a:xfrm>
            <a:off x="2943317" y="3106595"/>
            <a:ext cx="2404738" cy="377503"/>
          </a:xfrm>
          <a:prstGeom prst="rect">
            <a:avLst/>
          </a:prstGeom>
          <a:solidFill>
            <a:srgbClr val="F8E1D0"/>
          </a:solidFill>
          <a:ln/>
        </p:spPr>
        <p:txBody>
          <a:bodyPr/>
          <a:lstStyle/>
          <a:p>
            <a:endParaRPr lang="ko-KR" altLang="en-US"/>
          </a:p>
        </p:txBody>
      </p:sp>
      <p:sp>
        <p:nvSpPr>
          <p:cNvPr id="83" name="Shape 80"/>
          <p:cNvSpPr/>
          <p:nvPr/>
        </p:nvSpPr>
        <p:spPr>
          <a:xfrm>
            <a:off x="2943317" y="3106595"/>
            <a:ext cx="2404738" cy="9525"/>
          </a:xfrm>
          <a:prstGeom prst="rect">
            <a:avLst/>
          </a:prstGeom>
          <a:solidFill>
            <a:srgbClr val="D3B9A5"/>
          </a:solidFill>
          <a:ln/>
        </p:spPr>
        <p:txBody>
          <a:bodyPr/>
          <a:lstStyle/>
          <a:p>
            <a:endParaRPr lang="ko-KR" altLang="en-US"/>
          </a:p>
        </p:txBody>
      </p:sp>
      <p:sp>
        <p:nvSpPr>
          <p:cNvPr id="84" name="Shape 81"/>
          <p:cNvSpPr/>
          <p:nvPr/>
        </p:nvSpPr>
        <p:spPr>
          <a:xfrm>
            <a:off x="2943317" y="3106595"/>
            <a:ext cx="9525" cy="377503"/>
          </a:xfrm>
          <a:prstGeom prst="rect">
            <a:avLst/>
          </a:prstGeom>
          <a:solidFill>
            <a:srgbClr val="D3B9A5"/>
          </a:solidFill>
          <a:ln/>
        </p:spPr>
        <p:txBody>
          <a:bodyPr/>
          <a:lstStyle/>
          <a:p>
            <a:endParaRPr lang="ko-KR" altLang="en-US"/>
          </a:p>
        </p:txBody>
      </p:sp>
      <p:sp>
        <p:nvSpPr>
          <p:cNvPr id="85" name="Text 82"/>
          <p:cNvSpPr/>
          <p:nvPr/>
        </p:nvSpPr>
        <p:spPr>
          <a:xfrm>
            <a:off x="2967584" y="3140387"/>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1,000만 / 1,000만</a:t>
            </a:r>
            <a:endParaRPr lang="en-US" sz="1088" dirty="0"/>
          </a:p>
        </p:txBody>
      </p:sp>
      <p:sp>
        <p:nvSpPr>
          <p:cNvPr id="86" name="Shape 83"/>
          <p:cNvSpPr/>
          <p:nvPr/>
        </p:nvSpPr>
        <p:spPr>
          <a:xfrm>
            <a:off x="5348054" y="3106595"/>
            <a:ext cx="2404738" cy="377503"/>
          </a:xfrm>
          <a:prstGeom prst="rect">
            <a:avLst/>
          </a:prstGeom>
          <a:solidFill>
            <a:srgbClr val="FFFFFF"/>
          </a:solidFill>
          <a:ln/>
        </p:spPr>
        <p:txBody>
          <a:bodyPr/>
          <a:lstStyle/>
          <a:p>
            <a:endParaRPr lang="ko-KR" altLang="en-US"/>
          </a:p>
        </p:txBody>
      </p:sp>
      <p:sp>
        <p:nvSpPr>
          <p:cNvPr id="87" name="Shape 84"/>
          <p:cNvSpPr/>
          <p:nvPr/>
        </p:nvSpPr>
        <p:spPr>
          <a:xfrm>
            <a:off x="5348054" y="3106595"/>
            <a:ext cx="2404738" cy="9525"/>
          </a:xfrm>
          <a:prstGeom prst="rect">
            <a:avLst/>
          </a:prstGeom>
          <a:solidFill>
            <a:srgbClr val="D3B9A5"/>
          </a:solidFill>
          <a:ln/>
        </p:spPr>
        <p:txBody>
          <a:bodyPr/>
          <a:lstStyle/>
          <a:p>
            <a:endParaRPr lang="ko-KR" altLang="en-US"/>
          </a:p>
        </p:txBody>
      </p:sp>
      <p:sp>
        <p:nvSpPr>
          <p:cNvPr id="88" name="Shape 85"/>
          <p:cNvSpPr/>
          <p:nvPr/>
        </p:nvSpPr>
        <p:spPr>
          <a:xfrm>
            <a:off x="5348054" y="3106595"/>
            <a:ext cx="9525" cy="377503"/>
          </a:xfrm>
          <a:prstGeom prst="rect">
            <a:avLst/>
          </a:prstGeom>
          <a:solidFill>
            <a:srgbClr val="D3B9A5"/>
          </a:solidFill>
          <a:ln/>
        </p:spPr>
        <p:txBody>
          <a:bodyPr/>
          <a:lstStyle/>
          <a:p>
            <a:endParaRPr lang="ko-KR" altLang="en-US"/>
          </a:p>
        </p:txBody>
      </p:sp>
      <p:sp>
        <p:nvSpPr>
          <p:cNvPr id="89" name="Text 86"/>
          <p:cNvSpPr/>
          <p:nvPr/>
        </p:nvSpPr>
        <p:spPr>
          <a:xfrm>
            <a:off x="5372321" y="3140387"/>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90" name="Shape 87"/>
          <p:cNvSpPr/>
          <p:nvPr/>
        </p:nvSpPr>
        <p:spPr>
          <a:xfrm>
            <a:off x="7752792" y="3106595"/>
            <a:ext cx="2405145" cy="377503"/>
          </a:xfrm>
          <a:prstGeom prst="rect">
            <a:avLst/>
          </a:prstGeom>
          <a:solidFill>
            <a:srgbClr val="FFFFFF"/>
          </a:solidFill>
          <a:ln/>
        </p:spPr>
        <p:txBody>
          <a:bodyPr/>
          <a:lstStyle/>
          <a:p>
            <a:endParaRPr lang="ko-KR" altLang="en-US"/>
          </a:p>
        </p:txBody>
      </p:sp>
      <p:sp>
        <p:nvSpPr>
          <p:cNvPr id="91" name="Shape 88"/>
          <p:cNvSpPr/>
          <p:nvPr/>
        </p:nvSpPr>
        <p:spPr>
          <a:xfrm>
            <a:off x="7752792" y="3106595"/>
            <a:ext cx="2405145" cy="9525"/>
          </a:xfrm>
          <a:prstGeom prst="rect">
            <a:avLst/>
          </a:prstGeom>
          <a:solidFill>
            <a:srgbClr val="D3B9A5"/>
          </a:solidFill>
          <a:ln/>
        </p:spPr>
        <p:txBody>
          <a:bodyPr/>
          <a:lstStyle/>
          <a:p>
            <a:endParaRPr lang="ko-KR" altLang="en-US"/>
          </a:p>
        </p:txBody>
      </p:sp>
      <p:sp>
        <p:nvSpPr>
          <p:cNvPr id="92" name="Shape 89"/>
          <p:cNvSpPr/>
          <p:nvPr/>
        </p:nvSpPr>
        <p:spPr>
          <a:xfrm>
            <a:off x="7752792" y="3106595"/>
            <a:ext cx="9525" cy="377503"/>
          </a:xfrm>
          <a:prstGeom prst="rect">
            <a:avLst/>
          </a:prstGeom>
          <a:solidFill>
            <a:srgbClr val="D3B9A5"/>
          </a:solidFill>
          <a:ln/>
        </p:spPr>
        <p:txBody>
          <a:bodyPr/>
          <a:lstStyle/>
          <a:p>
            <a:endParaRPr lang="ko-KR" altLang="en-US"/>
          </a:p>
        </p:txBody>
      </p:sp>
      <p:sp>
        <p:nvSpPr>
          <p:cNvPr id="93" name="Text 90"/>
          <p:cNvSpPr/>
          <p:nvPr/>
        </p:nvSpPr>
        <p:spPr>
          <a:xfrm>
            <a:off x="7777059" y="3140387"/>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 / 200만</a:t>
            </a:r>
            <a:endParaRPr lang="en-US" sz="1088" dirty="0"/>
          </a:p>
        </p:txBody>
      </p:sp>
      <p:sp>
        <p:nvSpPr>
          <p:cNvPr id="94" name="Shape 91"/>
          <p:cNvSpPr/>
          <p:nvPr/>
        </p:nvSpPr>
        <p:spPr>
          <a:xfrm>
            <a:off x="538580" y="3484098"/>
            <a:ext cx="1202369" cy="755006"/>
          </a:xfrm>
          <a:prstGeom prst="rect">
            <a:avLst/>
          </a:prstGeom>
          <a:solidFill>
            <a:srgbClr val="FCF4EE"/>
          </a:solidFill>
          <a:ln/>
        </p:spPr>
        <p:txBody>
          <a:bodyPr/>
          <a:lstStyle/>
          <a:p>
            <a:endParaRPr lang="ko-KR" altLang="en-US"/>
          </a:p>
        </p:txBody>
      </p:sp>
      <p:sp>
        <p:nvSpPr>
          <p:cNvPr id="95" name="Shape 92"/>
          <p:cNvSpPr/>
          <p:nvPr/>
        </p:nvSpPr>
        <p:spPr>
          <a:xfrm>
            <a:off x="538580" y="3484098"/>
            <a:ext cx="1202369" cy="9525"/>
          </a:xfrm>
          <a:prstGeom prst="rect">
            <a:avLst/>
          </a:prstGeom>
          <a:solidFill>
            <a:srgbClr val="D3B9A5"/>
          </a:solidFill>
          <a:ln/>
        </p:spPr>
        <p:txBody>
          <a:bodyPr/>
          <a:lstStyle/>
          <a:p>
            <a:endParaRPr lang="ko-KR" altLang="en-US"/>
          </a:p>
        </p:txBody>
      </p:sp>
      <p:sp>
        <p:nvSpPr>
          <p:cNvPr id="96" name="Text 93"/>
          <p:cNvSpPr/>
          <p:nvPr/>
        </p:nvSpPr>
        <p:spPr>
          <a:xfrm>
            <a:off x="557630" y="3517890"/>
            <a:ext cx="1164269" cy="730739"/>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다빈치</a:t>
            </a:r>
            <a:endParaRPr lang="en-US" sz="1088" dirty="0"/>
          </a:p>
        </p:txBody>
      </p:sp>
      <p:sp>
        <p:nvSpPr>
          <p:cNvPr id="97" name="Shape 94"/>
          <p:cNvSpPr/>
          <p:nvPr/>
        </p:nvSpPr>
        <p:spPr>
          <a:xfrm>
            <a:off x="1740948" y="3484098"/>
            <a:ext cx="1202369" cy="377503"/>
          </a:xfrm>
          <a:prstGeom prst="rect">
            <a:avLst/>
          </a:prstGeom>
          <a:solidFill>
            <a:srgbClr val="FCF4EE"/>
          </a:solidFill>
          <a:ln/>
        </p:spPr>
        <p:txBody>
          <a:bodyPr/>
          <a:lstStyle/>
          <a:p>
            <a:endParaRPr lang="ko-KR" altLang="en-US"/>
          </a:p>
        </p:txBody>
      </p:sp>
      <p:sp>
        <p:nvSpPr>
          <p:cNvPr id="98" name="Shape 95"/>
          <p:cNvSpPr/>
          <p:nvPr/>
        </p:nvSpPr>
        <p:spPr>
          <a:xfrm>
            <a:off x="1740948" y="3484098"/>
            <a:ext cx="1202369" cy="9525"/>
          </a:xfrm>
          <a:prstGeom prst="rect">
            <a:avLst/>
          </a:prstGeom>
          <a:solidFill>
            <a:srgbClr val="D3B9A5"/>
          </a:solidFill>
          <a:ln/>
        </p:spPr>
        <p:txBody>
          <a:bodyPr/>
          <a:lstStyle/>
          <a:p>
            <a:endParaRPr lang="ko-KR" altLang="en-US"/>
          </a:p>
        </p:txBody>
      </p:sp>
      <p:sp>
        <p:nvSpPr>
          <p:cNvPr id="99" name="Shape 96"/>
          <p:cNvSpPr/>
          <p:nvPr/>
        </p:nvSpPr>
        <p:spPr>
          <a:xfrm>
            <a:off x="1740948" y="3484098"/>
            <a:ext cx="9525" cy="377503"/>
          </a:xfrm>
          <a:prstGeom prst="rect">
            <a:avLst/>
          </a:prstGeom>
          <a:solidFill>
            <a:srgbClr val="D3B9A5"/>
          </a:solidFill>
          <a:ln/>
        </p:spPr>
        <p:txBody>
          <a:bodyPr/>
          <a:lstStyle/>
          <a:p>
            <a:endParaRPr lang="ko-KR" altLang="en-US"/>
          </a:p>
        </p:txBody>
      </p:sp>
      <p:sp>
        <p:nvSpPr>
          <p:cNvPr id="100" name="Text 97"/>
          <p:cNvSpPr/>
          <p:nvPr/>
        </p:nvSpPr>
        <p:spPr>
          <a:xfrm>
            <a:off x="1765215" y="3517890"/>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일반암</a:t>
            </a:r>
            <a:endParaRPr lang="en-US" sz="1088" dirty="0"/>
          </a:p>
        </p:txBody>
      </p:sp>
      <p:sp>
        <p:nvSpPr>
          <p:cNvPr id="101" name="Shape 98"/>
          <p:cNvSpPr/>
          <p:nvPr/>
        </p:nvSpPr>
        <p:spPr>
          <a:xfrm>
            <a:off x="2943317" y="3484098"/>
            <a:ext cx="2404738" cy="377503"/>
          </a:xfrm>
          <a:prstGeom prst="rect">
            <a:avLst/>
          </a:prstGeom>
          <a:solidFill>
            <a:srgbClr val="F8E1D0"/>
          </a:solidFill>
          <a:ln/>
        </p:spPr>
        <p:txBody>
          <a:bodyPr/>
          <a:lstStyle/>
          <a:p>
            <a:endParaRPr lang="ko-KR" altLang="en-US"/>
          </a:p>
        </p:txBody>
      </p:sp>
      <p:sp>
        <p:nvSpPr>
          <p:cNvPr id="102" name="Shape 99"/>
          <p:cNvSpPr/>
          <p:nvPr/>
        </p:nvSpPr>
        <p:spPr>
          <a:xfrm>
            <a:off x="2943317" y="3484098"/>
            <a:ext cx="2404738" cy="9525"/>
          </a:xfrm>
          <a:prstGeom prst="rect">
            <a:avLst/>
          </a:prstGeom>
          <a:solidFill>
            <a:srgbClr val="D3B9A5"/>
          </a:solidFill>
          <a:ln/>
        </p:spPr>
        <p:txBody>
          <a:bodyPr/>
          <a:lstStyle/>
          <a:p>
            <a:endParaRPr lang="ko-KR" altLang="en-US"/>
          </a:p>
        </p:txBody>
      </p:sp>
      <p:sp>
        <p:nvSpPr>
          <p:cNvPr id="103" name="Shape 100"/>
          <p:cNvSpPr/>
          <p:nvPr/>
        </p:nvSpPr>
        <p:spPr>
          <a:xfrm>
            <a:off x="2943317" y="3484098"/>
            <a:ext cx="9525" cy="377503"/>
          </a:xfrm>
          <a:prstGeom prst="rect">
            <a:avLst/>
          </a:prstGeom>
          <a:solidFill>
            <a:srgbClr val="D3B9A5"/>
          </a:solidFill>
          <a:ln/>
        </p:spPr>
        <p:txBody>
          <a:bodyPr/>
          <a:lstStyle/>
          <a:p>
            <a:endParaRPr lang="ko-KR" altLang="en-US"/>
          </a:p>
        </p:txBody>
      </p:sp>
      <p:sp>
        <p:nvSpPr>
          <p:cNvPr id="104" name="Text 101"/>
          <p:cNvSpPr/>
          <p:nvPr/>
        </p:nvSpPr>
        <p:spPr>
          <a:xfrm>
            <a:off x="2967584" y="3517890"/>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1,000만</a:t>
            </a:r>
            <a:endParaRPr lang="en-US" sz="1088" dirty="0"/>
          </a:p>
        </p:txBody>
      </p:sp>
      <p:sp>
        <p:nvSpPr>
          <p:cNvPr id="105" name="Shape 102"/>
          <p:cNvSpPr/>
          <p:nvPr/>
        </p:nvSpPr>
        <p:spPr>
          <a:xfrm>
            <a:off x="5348054" y="3484098"/>
            <a:ext cx="2404738" cy="377503"/>
          </a:xfrm>
          <a:prstGeom prst="rect">
            <a:avLst/>
          </a:prstGeom>
          <a:solidFill>
            <a:srgbClr val="FFFFFF"/>
          </a:solidFill>
          <a:ln/>
        </p:spPr>
        <p:txBody>
          <a:bodyPr/>
          <a:lstStyle/>
          <a:p>
            <a:endParaRPr lang="ko-KR" altLang="en-US"/>
          </a:p>
        </p:txBody>
      </p:sp>
      <p:sp>
        <p:nvSpPr>
          <p:cNvPr id="106" name="Shape 103"/>
          <p:cNvSpPr/>
          <p:nvPr/>
        </p:nvSpPr>
        <p:spPr>
          <a:xfrm>
            <a:off x="5348054" y="3484098"/>
            <a:ext cx="2404738" cy="9525"/>
          </a:xfrm>
          <a:prstGeom prst="rect">
            <a:avLst/>
          </a:prstGeom>
          <a:solidFill>
            <a:srgbClr val="D3B9A5"/>
          </a:solidFill>
          <a:ln/>
        </p:spPr>
        <p:txBody>
          <a:bodyPr/>
          <a:lstStyle/>
          <a:p>
            <a:endParaRPr lang="ko-KR" altLang="en-US"/>
          </a:p>
        </p:txBody>
      </p:sp>
      <p:sp>
        <p:nvSpPr>
          <p:cNvPr id="107" name="Shape 104"/>
          <p:cNvSpPr/>
          <p:nvPr/>
        </p:nvSpPr>
        <p:spPr>
          <a:xfrm>
            <a:off x="5348054" y="3484098"/>
            <a:ext cx="9525" cy="377503"/>
          </a:xfrm>
          <a:prstGeom prst="rect">
            <a:avLst/>
          </a:prstGeom>
          <a:solidFill>
            <a:srgbClr val="D3B9A5"/>
          </a:solidFill>
          <a:ln/>
        </p:spPr>
        <p:txBody>
          <a:bodyPr/>
          <a:lstStyle/>
          <a:p>
            <a:endParaRPr lang="ko-KR" altLang="en-US"/>
          </a:p>
        </p:txBody>
      </p:sp>
      <p:sp>
        <p:nvSpPr>
          <p:cNvPr id="108" name="Text 105"/>
          <p:cNvSpPr/>
          <p:nvPr/>
        </p:nvSpPr>
        <p:spPr>
          <a:xfrm>
            <a:off x="5372321" y="3517890"/>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09" name="Shape 106"/>
          <p:cNvSpPr/>
          <p:nvPr/>
        </p:nvSpPr>
        <p:spPr>
          <a:xfrm>
            <a:off x="7752792" y="3484098"/>
            <a:ext cx="2405145" cy="377503"/>
          </a:xfrm>
          <a:prstGeom prst="rect">
            <a:avLst/>
          </a:prstGeom>
          <a:solidFill>
            <a:srgbClr val="FFFFFF"/>
          </a:solidFill>
          <a:ln/>
        </p:spPr>
        <p:txBody>
          <a:bodyPr/>
          <a:lstStyle/>
          <a:p>
            <a:endParaRPr lang="ko-KR" altLang="en-US"/>
          </a:p>
        </p:txBody>
      </p:sp>
      <p:sp>
        <p:nvSpPr>
          <p:cNvPr id="110" name="Shape 107"/>
          <p:cNvSpPr/>
          <p:nvPr/>
        </p:nvSpPr>
        <p:spPr>
          <a:xfrm>
            <a:off x="7752792" y="3484098"/>
            <a:ext cx="2405145" cy="9525"/>
          </a:xfrm>
          <a:prstGeom prst="rect">
            <a:avLst/>
          </a:prstGeom>
          <a:solidFill>
            <a:srgbClr val="D3B9A5"/>
          </a:solidFill>
          <a:ln/>
        </p:spPr>
        <p:txBody>
          <a:bodyPr/>
          <a:lstStyle/>
          <a:p>
            <a:endParaRPr lang="ko-KR" altLang="en-US"/>
          </a:p>
        </p:txBody>
      </p:sp>
      <p:sp>
        <p:nvSpPr>
          <p:cNvPr id="111" name="Shape 108"/>
          <p:cNvSpPr/>
          <p:nvPr/>
        </p:nvSpPr>
        <p:spPr>
          <a:xfrm>
            <a:off x="7752792" y="3484098"/>
            <a:ext cx="9525" cy="377503"/>
          </a:xfrm>
          <a:prstGeom prst="rect">
            <a:avLst/>
          </a:prstGeom>
          <a:solidFill>
            <a:srgbClr val="D3B9A5"/>
          </a:solidFill>
          <a:ln/>
        </p:spPr>
        <p:txBody>
          <a:bodyPr/>
          <a:lstStyle/>
          <a:p>
            <a:endParaRPr lang="ko-KR" altLang="en-US"/>
          </a:p>
        </p:txBody>
      </p:sp>
      <p:sp>
        <p:nvSpPr>
          <p:cNvPr id="112" name="Text 109"/>
          <p:cNvSpPr/>
          <p:nvPr/>
        </p:nvSpPr>
        <p:spPr>
          <a:xfrm>
            <a:off x="7777059" y="3517890"/>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1,000만</a:t>
            </a:r>
            <a:endParaRPr lang="en-US" sz="1088" dirty="0"/>
          </a:p>
        </p:txBody>
      </p:sp>
      <p:sp>
        <p:nvSpPr>
          <p:cNvPr id="113" name="Shape 110"/>
          <p:cNvSpPr/>
          <p:nvPr/>
        </p:nvSpPr>
        <p:spPr>
          <a:xfrm>
            <a:off x="1740948" y="3861601"/>
            <a:ext cx="1202369" cy="377503"/>
          </a:xfrm>
          <a:prstGeom prst="rect">
            <a:avLst/>
          </a:prstGeom>
          <a:solidFill>
            <a:srgbClr val="FCF4EE"/>
          </a:solidFill>
          <a:ln/>
        </p:spPr>
        <p:txBody>
          <a:bodyPr/>
          <a:lstStyle/>
          <a:p>
            <a:endParaRPr lang="ko-KR" altLang="en-US"/>
          </a:p>
        </p:txBody>
      </p:sp>
      <p:sp>
        <p:nvSpPr>
          <p:cNvPr id="114" name="Shape 111"/>
          <p:cNvSpPr/>
          <p:nvPr/>
        </p:nvSpPr>
        <p:spPr>
          <a:xfrm>
            <a:off x="1740948" y="3861601"/>
            <a:ext cx="1202369" cy="9525"/>
          </a:xfrm>
          <a:prstGeom prst="rect">
            <a:avLst/>
          </a:prstGeom>
          <a:solidFill>
            <a:srgbClr val="D3B9A5"/>
          </a:solidFill>
          <a:ln/>
        </p:spPr>
        <p:txBody>
          <a:bodyPr/>
          <a:lstStyle/>
          <a:p>
            <a:endParaRPr lang="ko-KR" altLang="en-US"/>
          </a:p>
        </p:txBody>
      </p:sp>
      <p:sp>
        <p:nvSpPr>
          <p:cNvPr id="115" name="Shape 112"/>
          <p:cNvSpPr/>
          <p:nvPr/>
        </p:nvSpPr>
        <p:spPr>
          <a:xfrm>
            <a:off x="1740948" y="3861601"/>
            <a:ext cx="9525" cy="377503"/>
          </a:xfrm>
          <a:prstGeom prst="rect">
            <a:avLst/>
          </a:prstGeom>
          <a:solidFill>
            <a:srgbClr val="D3B9A5"/>
          </a:solidFill>
          <a:ln/>
        </p:spPr>
        <p:txBody>
          <a:bodyPr/>
          <a:lstStyle/>
          <a:p>
            <a:endParaRPr lang="ko-KR" altLang="en-US"/>
          </a:p>
        </p:txBody>
      </p:sp>
      <p:sp>
        <p:nvSpPr>
          <p:cNvPr id="116" name="Text 113"/>
          <p:cNvSpPr/>
          <p:nvPr/>
        </p:nvSpPr>
        <p:spPr>
          <a:xfrm>
            <a:off x="1765215" y="3895393"/>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갑/전</a:t>
            </a:r>
            <a:endParaRPr lang="en-US" sz="1088" dirty="0"/>
          </a:p>
        </p:txBody>
      </p:sp>
      <p:sp>
        <p:nvSpPr>
          <p:cNvPr id="117" name="Shape 114"/>
          <p:cNvSpPr/>
          <p:nvPr/>
        </p:nvSpPr>
        <p:spPr>
          <a:xfrm>
            <a:off x="2943317" y="3861601"/>
            <a:ext cx="2404738" cy="377503"/>
          </a:xfrm>
          <a:prstGeom prst="rect">
            <a:avLst/>
          </a:prstGeom>
          <a:solidFill>
            <a:srgbClr val="F8E1D0"/>
          </a:solidFill>
          <a:ln/>
        </p:spPr>
        <p:txBody>
          <a:bodyPr/>
          <a:lstStyle/>
          <a:p>
            <a:endParaRPr lang="ko-KR" altLang="en-US"/>
          </a:p>
        </p:txBody>
      </p:sp>
      <p:sp>
        <p:nvSpPr>
          <p:cNvPr id="118" name="Shape 115"/>
          <p:cNvSpPr/>
          <p:nvPr/>
        </p:nvSpPr>
        <p:spPr>
          <a:xfrm>
            <a:off x="2943317" y="3861601"/>
            <a:ext cx="2404738" cy="9525"/>
          </a:xfrm>
          <a:prstGeom prst="rect">
            <a:avLst/>
          </a:prstGeom>
          <a:solidFill>
            <a:srgbClr val="D3B9A5"/>
          </a:solidFill>
          <a:ln/>
        </p:spPr>
        <p:txBody>
          <a:bodyPr/>
          <a:lstStyle/>
          <a:p>
            <a:endParaRPr lang="ko-KR" altLang="en-US"/>
          </a:p>
        </p:txBody>
      </p:sp>
      <p:sp>
        <p:nvSpPr>
          <p:cNvPr id="119" name="Shape 116"/>
          <p:cNvSpPr/>
          <p:nvPr/>
        </p:nvSpPr>
        <p:spPr>
          <a:xfrm>
            <a:off x="2943317" y="3861601"/>
            <a:ext cx="9525" cy="377503"/>
          </a:xfrm>
          <a:prstGeom prst="rect">
            <a:avLst/>
          </a:prstGeom>
          <a:solidFill>
            <a:srgbClr val="D3B9A5"/>
          </a:solidFill>
          <a:ln/>
        </p:spPr>
        <p:txBody>
          <a:bodyPr/>
          <a:lstStyle/>
          <a:p>
            <a:endParaRPr lang="ko-KR" altLang="en-US"/>
          </a:p>
        </p:txBody>
      </p:sp>
      <p:sp>
        <p:nvSpPr>
          <p:cNvPr id="120" name="Text 117"/>
          <p:cNvSpPr/>
          <p:nvPr/>
        </p:nvSpPr>
        <p:spPr>
          <a:xfrm>
            <a:off x="2967584" y="3895393"/>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500만</a:t>
            </a:r>
            <a:endParaRPr lang="en-US" sz="1088" dirty="0"/>
          </a:p>
        </p:txBody>
      </p:sp>
      <p:sp>
        <p:nvSpPr>
          <p:cNvPr id="121" name="Shape 118"/>
          <p:cNvSpPr/>
          <p:nvPr/>
        </p:nvSpPr>
        <p:spPr>
          <a:xfrm>
            <a:off x="5348054" y="3861601"/>
            <a:ext cx="2404738" cy="377503"/>
          </a:xfrm>
          <a:prstGeom prst="rect">
            <a:avLst/>
          </a:prstGeom>
          <a:solidFill>
            <a:srgbClr val="FFFFFF"/>
          </a:solidFill>
          <a:ln/>
        </p:spPr>
        <p:txBody>
          <a:bodyPr/>
          <a:lstStyle/>
          <a:p>
            <a:endParaRPr lang="ko-KR" altLang="en-US"/>
          </a:p>
        </p:txBody>
      </p:sp>
      <p:sp>
        <p:nvSpPr>
          <p:cNvPr id="122" name="Shape 119"/>
          <p:cNvSpPr/>
          <p:nvPr/>
        </p:nvSpPr>
        <p:spPr>
          <a:xfrm>
            <a:off x="5348054" y="3861601"/>
            <a:ext cx="2404738" cy="9525"/>
          </a:xfrm>
          <a:prstGeom prst="rect">
            <a:avLst/>
          </a:prstGeom>
          <a:solidFill>
            <a:srgbClr val="D3B9A5"/>
          </a:solidFill>
          <a:ln/>
        </p:spPr>
        <p:txBody>
          <a:bodyPr/>
          <a:lstStyle/>
          <a:p>
            <a:endParaRPr lang="ko-KR" altLang="en-US"/>
          </a:p>
        </p:txBody>
      </p:sp>
      <p:sp>
        <p:nvSpPr>
          <p:cNvPr id="123" name="Shape 120"/>
          <p:cNvSpPr/>
          <p:nvPr/>
        </p:nvSpPr>
        <p:spPr>
          <a:xfrm>
            <a:off x="5348054" y="3861601"/>
            <a:ext cx="9525" cy="377503"/>
          </a:xfrm>
          <a:prstGeom prst="rect">
            <a:avLst/>
          </a:prstGeom>
          <a:solidFill>
            <a:srgbClr val="D3B9A5"/>
          </a:solidFill>
          <a:ln/>
        </p:spPr>
        <p:txBody>
          <a:bodyPr/>
          <a:lstStyle/>
          <a:p>
            <a:endParaRPr lang="ko-KR" altLang="en-US"/>
          </a:p>
        </p:txBody>
      </p:sp>
      <p:sp>
        <p:nvSpPr>
          <p:cNvPr id="124" name="Text 121"/>
          <p:cNvSpPr/>
          <p:nvPr/>
        </p:nvSpPr>
        <p:spPr>
          <a:xfrm>
            <a:off x="5372321" y="3895393"/>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200만</a:t>
            </a:r>
            <a:endParaRPr lang="en-US" sz="1088" dirty="0"/>
          </a:p>
        </p:txBody>
      </p:sp>
      <p:sp>
        <p:nvSpPr>
          <p:cNvPr id="125" name="Shape 122"/>
          <p:cNvSpPr/>
          <p:nvPr/>
        </p:nvSpPr>
        <p:spPr>
          <a:xfrm>
            <a:off x="7752792" y="3861601"/>
            <a:ext cx="2405145" cy="377503"/>
          </a:xfrm>
          <a:prstGeom prst="rect">
            <a:avLst/>
          </a:prstGeom>
          <a:solidFill>
            <a:srgbClr val="FFFFFF"/>
          </a:solidFill>
          <a:ln/>
        </p:spPr>
        <p:txBody>
          <a:bodyPr/>
          <a:lstStyle/>
          <a:p>
            <a:endParaRPr lang="ko-KR" altLang="en-US"/>
          </a:p>
        </p:txBody>
      </p:sp>
      <p:sp>
        <p:nvSpPr>
          <p:cNvPr id="126" name="Shape 123"/>
          <p:cNvSpPr/>
          <p:nvPr/>
        </p:nvSpPr>
        <p:spPr>
          <a:xfrm>
            <a:off x="7752792" y="3861601"/>
            <a:ext cx="2405145" cy="9525"/>
          </a:xfrm>
          <a:prstGeom prst="rect">
            <a:avLst/>
          </a:prstGeom>
          <a:solidFill>
            <a:srgbClr val="D3B9A5"/>
          </a:solidFill>
          <a:ln/>
        </p:spPr>
        <p:txBody>
          <a:bodyPr/>
          <a:lstStyle/>
          <a:p>
            <a:endParaRPr lang="ko-KR" altLang="en-US"/>
          </a:p>
        </p:txBody>
      </p:sp>
      <p:sp>
        <p:nvSpPr>
          <p:cNvPr id="127" name="Shape 124"/>
          <p:cNvSpPr/>
          <p:nvPr/>
        </p:nvSpPr>
        <p:spPr>
          <a:xfrm>
            <a:off x="7752792" y="3861601"/>
            <a:ext cx="9525" cy="377503"/>
          </a:xfrm>
          <a:prstGeom prst="rect">
            <a:avLst/>
          </a:prstGeom>
          <a:solidFill>
            <a:srgbClr val="D3B9A5"/>
          </a:solidFill>
          <a:ln/>
        </p:spPr>
        <p:txBody>
          <a:bodyPr/>
          <a:lstStyle/>
          <a:p>
            <a:endParaRPr lang="ko-KR" altLang="en-US"/>
          </a:p>
        </p:txBody>
      </p:sp>
      <p:sp>
        <p:nvSpPr>
          <p:cNvPr id="128" name="Text 125"/>
          <p:cNvSpPr/>
          <p:nvPr/>
        </p:nvSpPr>
        <p:spPr>
          <a:xfrm>
            <a:off x="7777059" y="3895393"/>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200만</a:t>
            </a:r>
            <a:endParaRPr lang="en-US" sz="1088" dirty="0"/>
          </a:p>
        </p:txBody>
      </p:sp>
      <p:sp>
        <p:nvSpPr>
          <p:cNvPr id="129" name="Shape 126"/>
          <p:cNvSpPr/>
          <p:nvPr/>
        </p:nvSpPr>
        <p:spPr>
          <a:xfrm>
            <a:off x="538580" y="4239104"/>
            <a:ext cx="2404738" cy="377503"/>
          </a:xfrm>
          <a:prstGeom prst="rect">
            <a:avLst/>
          </a:prstGeom>
          <a:solidFill>
            <a:srgbClr val="FCF4EE"/>
          </a:solidFill>
          <a:ln/>
        </p:spPr>
        <p:txBody>
          <a:bodyPr/>
          <a:lstStyle/>
          <a:p>
            <a:endParaRPr lang="ko-KR" altLang="en-US"/>
          </a:p>
        </p:txBody>
      </p:sp>
      <p:sp>
        <p:nvSpPr>
          <p:cNvPr id="130" name="Shape 127"/>
          <p:cNvSpPr/>
          <p:nvPr/>
        </p:nvSpPr>
        <p:spPr>
          <a:xfrm>
            <a:off x="538580" y="4239104"/>
            <a:ext cx="2404738" cy="9525"/>
          </a:xfrm>
          <a:prstGeom prst="rect">
            <a:avLst/>
          </a:prstGeom>
          <a:solidFill>
            <a:srgbClr val="D3B9A5"/>
          </a:solidFill>
          <a:ln/>
        </p:spPr>
        <p:txBody>
          <a:bodyPr/>
          <a:lstStyle/>
          <a:p>
            <a:endParaRPr lang="ko-KR" altLang="en-US"/>
          </a:p>
        </p:txBody>
      </p:sp>
      <p:sp>
        <p:nvSpPr>
          <p:cNvPr id="131" name="Text 128"/>
          <p:cNvSpPr/>
          <p:nvPr/>
        </p:nvSpPr>
        <p:spPr>
          <a:xfrm>
            <a:off x="557630" y="4272896"/>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표적항암(일반/기갑)</a:t>
            </a:r>
            <a:endParaRPr lang="en-US" sz="1088" dirty="0"/>
          </a:p>
        </p:txBody>
      </p:sp>
      <p:sp>
        <p:nvSpPr>
          <p:cNvPr id="132" name="Shape 129"/>
          <p:cNvSpPr/>
          <p:nvPr/>
        </p:nvSpPr>
        <p:spPr>
          <a:xfrm>
            <a:off x="2943317" y="4239104"/>
            <a:ext cx="2404738" cy="377503"/>
          </a:xfrm>
          <a:prstGeom prst="rect">
            <a:avLst/>
          </a:prstGeom>
          <a:solidFill>
            <a:srgbClr val="F8E1D0"/>
          </a:solidFill>
          <a:ln/>
        </p:spPr>
        <p:txBody>
          <a:bodyPr/>
          <a:lstStyle/>
          <a:p>
            <a:endParaRPr lang="ko-KR" altLang="en-US"/>
          </a:p>
        </p:txBody>
      </p:sp>
      <p:sp>
        <p:nvSpPr>
          <p:cNvPr id="133" name="Shape 130"/>
          <p:cNvSpPr/>
          <p:nvPr/>
        </p:nvSpPr>
        <p:spPr>
          <a:xfrm>
            <a:off x="2943317" y="4239104"/>
            <a:ext cx="2404738" cy="9525"/>
          </a:xfrm>
          <a:prstGeom prst="rect">
            <a:avLst/>
          </a:prstGeom>
          <a:solidFill>
            <a:srgbClr val="D3B9A5"/>
          </a:solidFill>
          <a:ln/>
        </p:spPr>
        <p:txBody>
          <a:bodyPr/>
          <a:lstStyle/>
          <a:p>
            <a:endParaRPr lang="ko-KR" altLang="en-US"/>
          </a:p>
        </p:txBody>
      </p:sp>
      <p:sp>
        <p:nvSpPr>
          <p:cNvPr id="134" name="Shape 131"/>
          <p:cNvSpPr/>
          <p:nvPr/>
        </p:nvSpPr>
        <p:spPr>
          <a:xfrm>
            <a:off x="2943317" y="4239104"/>
            <a:ext cx="9525" cy="377503"/>
          </a:xfrm>
          <a:prstGeom prst="rect">
            <a:avLst/>
          </a:prstGeom>
          <a:solidFill>
            <a:srgbClr val="D3B9A5"/>
          </a:solidFill>
          <a:ln/>
        </p:spPr>
        <p:txBody>
          <a:bodyPr/>
          <a:lstStyle/>
          <a:p>
            <a:endParaRPr lang="ko-KR" altLang="en-US"/>
          </a:p>
        </p:txBody>
      </p:sp>
      <p:sp>
        <p:nvSpPr>
          <p:cNvPr id="135" name="Text 132"/>
          <p:cNvSpPr/>
          <p:nvPr/>
        </p:nvSpPr>
        <p:spPr>
          <a:xfrm>
            <a:off x="2967584" y="4272896"/>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3,000만 / 3,000만</a:t>
            </a:r>
            <a:endParaRPr lang="en-US" sz="1088" dirty="0"/>
          </a:p>
        </p:txBody>
      </p:sp>
      <p:sp>
        <p:nvSpPr>
          <p:cNvPr id="136" name="Shape 133"/>
          <p:cNvSpPr/>
          <p:nvPr/>
        </p:nvSpPr>
        <p:spPr>
          <a:xfrm>
            <a:off x="5348054" y="4239104"/>
            <a:ext cx="2404738" cy="377503"/>
          </a:xfrm>
          <a:prstGeom prst="rect">
            <a:avLst/>
          </a:prstGeom>
          <a:solidFill>
            <a:srgbClr val="FFFFFF"/>
          </a:solidFill>
          <a:ln/>
        </p:spPr>
        <p:txBody>
          <a:bodyPr/>
          <a:lstStyle/>
          <a:p>
            <a:endParaRPr lang="ko-KR" altLang="en-US"/>
          </a:p>
        </p:txBody>
      </p:sp>
      <p:sp>
        <p:nvSpPr>
          <p:cNvPr id="137" name="Shape 134"/>
          <p:cNvSpPr/>
          <p:nvPr/>
        </p:nvSpPr>
        <p:spPr>
          <a:xfrm>
            <a:off x="5348054" y="4239104"/>
            <a:ext cx="2404738" cy="9525"/>
          </a:xfrm>
          <a:prstGeom prst="rect">
            <a:avLst/>
          </a:prstGeom>
          <a:solidFill>
            <a:srgbClr val="D3B9A5"/>
          </a:solidFill>
          <a:ln/>
        </p:spPr>
        <p:txBody>
          <a:bodyPr/>
          <a:lstStyle/>
          <a:p>
            <a:endParaRPr lang="ko-KR" altLang="en-US"/>
          </a:p>
        </p:txBody>
      </p:sp>
      <p:sp>
        <p:nvSpPr>
          <p:cNvPr id="138" name="Shape 135"/>
          <p:cNvSpPr/>
          <p:nvPr/>
        </p:nvSpPr>
        <p:spPr>
          <a:xfrm>
            <a:off x="5348054" y="4239104"/>
            <a:ext cx="9525" cy="377503"/>
          </a:xfrm>
          <a:prstGeom prst="rect">
            <a:avLst/>
          </a:prstGeom>
          <a:solidFill>
            <a:srgbClr val="D3B9A5"/>
          </a:solidFill>
          <a:ln/>
        </p:spPr>
        <p:txBody>
          <a:bodyPr/>
          <a:lstStyle/>
          <a:p>
            <a:endParaRPr lang="ko-KR" altLang="en-US"/>
          </a:p>
        </p:txBody>
      </p:sp>
      <p:sp>
        <p:nvSpPr>
          <p:cNvPr id="139" name="Text 136"/>
          <p:cNvSpPr/>
          <p:nvPr/>
        </p:nvSpPr>
        <p:spPr>
          <a:xfrm>
            <a:off x="5372321" y="4272896"/>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600만</a:t>
            </a:r>
            <a:endParaRPr lang="en-US" sz="1088" dirty="0"/>
          </a:p>
        </p:txBody>
      </p:sp>
      <p:sp>
        <p:nvSpPr>
          <p:cNvPr id="140" name="Shape 137"/>
          <p:cNvSpPr/>
          <p:nvPr/>
        </p:nvSpPr>
        <p:spPr>
          <a:xfrm>
            <a:off x="7752792" y="4239104"/>
            <a:ext cx="2405145" cy="377503"/>
          </a:xfrm>
          <a:prstGeom prst="rect">
            <a:avLst/>
          </a:prstGeom>
          <a:solidFill>
            <a:srgbClr val="FFFFFF"/>
          </a:solidFill>
          <a:ln/>
        </p:spPr>
        <p:txBody>
          <a:bodyPr/>
          <a:lstStyle/>
          <a:p>
            <a:endParaRPr lang="ko-KR" altLang="en-US"/>
          </a:p>
        </p:txBody>
      </p:sp>
      <p:sp>
        <p:nvSpPr>
          <p:cNvPr id="141" name="Shape 138"/>
          <p:cNvSpPr/>
          <p:nvPr/>
        </p:nvSpPr>
        <p:spPr>
          <a:xfrm>
            <a:off x="7752792" y="4239104"/>
            <a:ext cx="2405145" cy="9525"/>
          </a:xfrm>
          <a:prstGeom prst="rect">
            <a:avLst/>
          </a:prstGeom>
          <a:solidFill>
            <a:srgbClr val="D3B9A5"/>
          </a:solidFill>
          <a:ln/>
        </p:spPr>
        <p:txBody>
          <a:bodyPr/>
          <a:lstStyle/>
          <a:p>
            <a:endParaRPr lang="ko-KR" altLang="en-US"/>
          </a:p>
        </p:txBody>
      </p:sp>
      <p:sp>
        <p:nvSpPr>
          <p:cNvPr id="142" name="Shape 139"/>
          <p:cNvSpPr/>
          <p:nvPr/>
        </p:nvSpPr>
        <p:spPr>
          <a:xfrm>
            <a:off x="7752792" y="4239104"/>
            <a:ext cx="9525" cy="377503"/>
          </a:xfrm>
          <a:prstGeom prst="rect">
            <a:avLst/>
          </a:prstGeom>
          <a:solidFill>
            <a:srgbClr val="D3B9A5"/>
          </a:solidFill>
          <a:ln/>
        </p:spPr>
        <p:txBody>
          <a:bodyPr/>
          <a:lstStyle/>
          <a:p>
            <a:endParaRPr lang="ko-KR" altLang="en-US"/>
          </a:p>
        </p:txBody>
      </p:sp>
      <p:sp>
        <p:nvSpPr>
          <p:cNvPr id="143" name="Text 140"/>
          <p:cNvSpPr/>
          <p:nvPr/>
        </p:nvSpPr>
        <p:spPr>
          <a:xfrm>
            <a:off x="7777059" y="4272896"/>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3,000만</a:t>
            </a:r>
            <a:endParaRPr lang="en-US" sz="1088" dirty="0"/>
          </a:p>
        </p:txBody>
      </p:sp>
      <p:sp>
        <p:nvSpPr>
          <p:cNvPr id="144" name="Shape 141"/>
          <p:cNvSpPr/>
          <p:nvPr/>
        </p:nvSpPr>
        <p:spPr>
          <a:xfrm>
            <a:off x="538580" y="4616607"/>
            <a:ext cx="2404738" cy="377503"/>
          </a:xfrm>
          <a:prstGeom prst="rect">
            <a:avLst/>
          </a:prstGeom>
          <a:solidFill>
            <a:srgbClr val="FCF4EE"/>
          </a:solidFill>
          <a:ln/>
        </p:spPr>
        <p:txBody>
          <a:bodyPr/>
          <a:lstStyle/>
          <a:p>
            <a:endParaRPr lang="ko-KR" altLang="en-US"/>
          </a:p>
        </p:txBody>
      </p:sp>
      <p:sp>
        <p:nvSpPr>
          <p:cNvPr id="145" name="Shape 142"/>
          <p:cNvSpPr/>
          <p:nvPr/>
        </p:nvSpPr>
        <p:spPr>
          <a:xfrm>
            <a:off x="538580" y="4616607"/>
            <a:ext cx="2404738" cy="9525"/>
          </a:xfrm>
          <a:prstGeom prst="rect">
            <a:avLst/>
          </a:prstGeom>
          <a:solidFill>
            <a:srgbClr val="D3B9A5"/>
          </a:solidFill>
          <a:ln/>
        </p:spPr>
        <p:txBody>
          <a:bodyPr/>
          <a:lstStyle/>
          <a:p>
            <a:endParaRPr lang="ko-KR" altLang="en-US"/>
          </a:p>
        </p:txBody>
      </p:sp>
      <p:sp>
        <p:nvSpPr>
          <p:cNvPr id="146" name="Text 143"/>
          <p:cNvSpPr/>
          <p:nvPr/>
        </p:nvSpPr>
        <p:spPr>
          <a:xfrm>
            <a:off x="557630" y="4650399"/>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면역항암(일반/기갑)</a:t>
            </a:r>
            <a:endParaRPr lang="en-US" sz="1088" dirty="0"/>
          </a:p>
        </p:txBody>
      </p:sp>
      <p:sp>
        <p:nvSpPr>
          <p:cNvPr id="147" name="Shape 144"/>
          <p:cNvSpPr/>
          <p:nvPr/>
        </p:nvSpPr>
        <p:spPr>
          <a:xfrm>
            <a:off x="2943317" y="4616607"/>
            <a:ext cx="2404738" cy="377503"/>
          </a:xfrm>
          <a:prstGeom prst="rect">
            <a:avLst/>
          </a:prstGeom>
          <a:solidFill>
            <a:srgbClr val="F8E1D0"/>
          </a:solidFill>
          <a:ln/>
        </p:spPr>
        <p:txBody>
          <a:bodyPr/>
          <a:lstStyle/>
          <a:p>
            <a:endParaRPr lang="ko-KR" altLang="en-US"/>
          </a:p>
        </p:txBody>
      </p:sp>
      <p:sp>
        <p:nvSpPr>
          <p:cNvPr id="148" name="Shape 145"/>
          <p:cNvSpPr/>
          <p:nvPr/>
        </p:nvSpPr>
        <p:spPr>
          <a:xfrm>
            <a:off x="2943317" y="4616607"/>
            <a:ext cx="2404738" cy="9525"/>
          </a:xfrm>
          <a:prstGeom prst="rect">
            <a:avLst/>
          </a:prstGeom>
          <a:solidFill>
            <a:srgbClr val="D3B9A5"/>
          </a:solidFill>
          <a:ln/>
        </p:spPr>
        <p:txBody>
          <a:bodyPr/>
          <a:lstStyle/>
          <a:p>
            <a:endParaRPr lang="ko-KR" altLang="en-US"/>
          </a:p>
        </p:txBody>
      </p:sp>
      <p:sp>
        <p:nvSpPr>
          <p:cNvPr id="149" name="Shape 146"/>
          <p:cNvSpPr/>
          <p:nvPr/>
        </p:nvSpPr>
        <p:spPr>
          <a:xfrm>
            <a:off x="2943317" y="4616607"/>
            <a:ext cx="9525" cy="377503"/>
          </a:xfrm>
          <a:prstGeom prst="rect">
            <a:avLst/>
          </a:prstGeom>
          <a:solidFill>
            <a:srgbClr val="D3B9A5"/>
          </a:solidFill>
          <a:ln/>
        </p:spPr>
        <p:txBody>
          <a:bodyPr/>
          <a:lstStyle/>
          <a:p>
            <a:endParaRPr lang="ko-KR" altLang="en-US"/>
          </a:p>
        </p:txBody>
      </p:sp>
      <p:sp>
        <p:nvSpPr>
          <p:cNvPr id="150" name="Text 147"/>
          <p:cNvSpPr/>
          <p:nvPr/>
        </p:nvSpPr>
        <p:spPr>
          <a:xfrm>
            <a:off x="2967584" y="4650399"/>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3,000만 / 3,000만</a:t>
            </a:r>
            <a:endParaRPr lang="en-US" sz="1088" dirty="0"/>
          </a:p>
        </p:txBody>
      </p:sp>
      <p:sp>
        <p:nvSpPr>
          <p:cNvPr id="151" name="Shape 148"/>
          <p:cNvSpPr/>
          <p:nvPr/>
        </p:nvSpPr>
        <p:spPr>
          <a:xfrm>
            <a:off x="5348054" y="4616607"/>
            <a:ext cx="2404738" cy="377503"/>
          </a:xfrm>
          <a:prstGeom prst="rect">
            <a:avLst/>
          </a:prstGeom>
          <a:solidFill>
            <a:srgbClr val="FFFFFF"/>
          </a:solidFill>
          <a:ln/>
        </p:spPr>
        <p:txBody>
          <a:bodyPr/>
          <a:lstStyle/>
          <a:p>
            <a:endParaRPr lang="ko-KR" altLang="en-US"/>
          </a:p>
        </p:txBody>
      </p:sp>
      <p:sp>
        <p:nvSpPr>
          <p:cNvPr id="152" name="Shape 149"/>
          <p:cNvSpPr/>
          <p:nvPr/>
        </p:nvSpPr>
        <p:spPr>
          <a:xfrm>
            <a:off x="5348054" y="4616607"/>
            <a:ext cx="2404738" cy="9525"/>
          </a:xfrm>
          <a:prstGeom prst="rect">
            <a:avLst/>
          </a:prstGeom>
          <a:solidFill>
            <a:srgbClr val="D3B9A5"/>
          </a:solidFill>
          <a:ln/>
        </p:spPr>
        <p:txBody>
          <a:bodyPr/>
          <a:lstStyle/>
          <a:p>
            <a:endParaRPr lang="ko-KR" altLang="en-US"/>
          </a:p>
        </p:txBody>
      </p:sp>
      <p:sp>
        <p:nvSpPr>
          <p:cNvPr id="153" name="Shape 150"/>
          <p:cNvSpPr/>
          <p:nvPr/>
        </p:nvSpPr>
        <p:spPr>
          <a:xfrm>
            <a:off x="5348054" y="4616607"/>
            <a:ext cx="9525" cy="377503"/>
          </a:xfrm>
          <a:prstGeom prst="rect">
            <a:avLst/>
          </a:prstGeom>
          <a:solidFill>
            <a:srgbClr val="D3B9A5"/>
          </a:solidFill>
          <a:ln/>
        </p:spPr>
        <p:txBody>
          <a:bodyPr/>
          <a:lstStyle/>
          <a:p>
            <a:endParaRPr lang="ko-KR" altLang="en-US"/>
          </a:p>
        </p:txBody>
      </p:sp>
      <p:sp>
        <p:nvSpPr>
          <p:cNvPr id="154" name="Text 151"/>
          <p:cNvSpPr/>
          <p:nvPr/>
        </p:nvSpPr>
        <p:spPr>
          <a:xfrm>
            <a:off x="5372321" y="4650399"/>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600만</a:t>
            </a:r>
            <a:endParaRPr lang="en-US" sz="1088" dirty="0"/>
          </a:p>
        </p:txBody>
      </p:sp>
      <p:sp>
        <p:nvSpPr>
          <p:cNvPr id="155" name="Shape 152"/>
          <p:cNvSpPr/>
          <p:nvPr/>
        </p:nvSpPr>
        <p:spPr>
          <a:xfrm>
            <a:off x="7752792" y="4616607"/>
            <a:ext cx="2405145" cy="377503"/>
          </a:xfrm>
          <a:prstGeom prst="rect">
            <a:avLst/>
          </a:prstGeom>
          <a:solidFill>
            <a:srgbClr val="FFFFFF"/>
          </a:solidFill>
          <a:ln/>
        </p:spPr>
        <p:txBody>
          <a:bodyPr/>
          <a:lstStyle/>
          <a:p>
            <a:endParaRPr lang="ko-KR" altLang="en-US"/>
          </a:p>
        </p:txBody>
      </p:sp>
      <p:sp>
        <p:nvSpPr>
          <p:cNvPr id="156" name="Shape 153"/>
          <p:cNvSpPr/>
          <p:nvPr/>
        </p:nvSpPr>
        <p:spPr>
          <a:xfrm>
            <a:off x="7752792" y="4616607"/>
            <a:ext cx="2405145" cy="9525"/>
          </a:xfrm>
          <a:prstGeom prst="rect">
            <a:avLst/>
          </a:prstGeom>
          <a:solidFill>
            <a:srgbClr val="D3B9A5"/>
          </a:solidFill>
          <a:ln/>
        </p:spPr>
        <p:txBody>
          <a:bodyPr/>
          <a:lstStyle/>
          <a:p>
            <a:endParaRPr lang="ko-KR" altLang="en-US"/>
          </a:p>
        </p:txBody>
      </p:sp>
      <p:sp>
        <p:nvSpPr>
          <p:cNvPr id="157" name="Shape 154"/>
          <p:cNvSpPr/>
          <p:nvPr/>
        </p:nvSpPr>
        <p:spPr>
          <a:xfrm>
            <a:off x="7752792" y="4616607"/>
            <a:ext cx="9525" cy="377503"/>
          </a:xfrm>
          <a:prstGeom prst="rect">
            <a:avLst/>
          </a:prstGeom>
          <a:solidFill>
            <a:srgbClr val="D3B9A5"/>
          </a:solidFill>
          <a:ln/>
        </p:spPr>
        <p:txBody>
          <a:bodyPr/>
          <a:lstStyle/>
          <a:p>
            <a:endParaRPr lang="ko-KR" altLang="en-US"/>
          </a:p>
        </p:txBody>
      </p:sp>
      <p:sp>
        <p:nvSpPr>
          <p:cNvPr id="158" name="Text 155"/>
          <p:cNvSpPr/>
          <p:nvPr/>
        </p:nvSpPr>
        <p:spPr>
          <a:xfrm>
            <a:off x="7777059" y="4650399"/>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3,000만</a:t>
            </a:r>
            <a:endParaRPr lang="en-US" sz="1088" dirty="0"/>
          </a:p>
        </p:txBody>
      </p:sp>
      <p:sp>
        <p:nvSpPr>
          <p:cNvPr id="159" name="Shape 156"/>
          <p:cNvSpPr/>
          <p:nvPr/>
        </p:nvSpPr>
        <p:spPr>
          <a:xfrm>
            <a:off x="538580" y="4994110"/>
            <a:ext cx="2404738" cy="377503"/>
          </a:xfrm>
          <a:prstGeom prst="rect">
            <a:avLst/>
          </a:prstGeom>
          <a:solidFill>
            <a:srgbClr val="FCF4EE"/>
          </a:solidFill>
          <a:ln/>
        </p:spPr>
        <p:txBody>
          <a:bodyPr/>
          <a:lstStyle/>
          <a:p>
            <a:endParaRPr lang="ko-KR" altLang="en-US"/>
          </a:p>
        </p:txBody>
      </p:sp>
      <p:sp>
        <p:nvSpPr>
          <p:cNvPr id="160" name="Shape 157"/>
          <p:cNvSpPr/>
          <p:nvPr/>
        </p:nvSpPr>
        <p:spPr>
          <a:xfrm>
            <a:off x="538580" y="4994110"/>
            <a:ext cx="2404738" cy="9525"/>
          </a:xfrm>
          <a:prstGeom prst="rect">
            <a:avLst/>
          </a:prstGeom>
          <a:solidFill>
            <a:srgbClr val="D3B9A5"/>
          </a:solidFill>
          <a:ln/>
        </p:spPr>
        <p:txBody>
          <a:bodyPr/>
          <a:lstStyle/>
          <a:p>
            <a:endParaRPr lang="ko-KR" altLang="en-US"/>
          </a:p>
        </p:txBody>
      </p:sp>
      <p:sp>
        <p:nvSpPr>
          <p:cNvPr id="161" name="Text 158"/>
          <p:cNvSpPr/>
          <p:nvPr/>
        </p:nvSpPr>
        <p:spPr>
          <a:xfrm>
            <a:off x="557630" y="5027902"/>
            <a:ext cx="236663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양성자(일반/기갑)</a:t>
            </a:r>
            <a:endParaRPr lang="en-US" sz="1088" dirty="0"/>
          </a:p>
        </p:txBody>
      </p:sp>
      <p:sp>
        <p:nvSpPr>
          <p:cNvPr id="162" name="Shape 159"/>
          <p:cNvSpPr/>
          <p:nvPr/>
        </p:nvSpPr>
        <p:spPr>
          <a:xfrm>
            <a:off x="2943317" y="4994110"/>
            <a:ext cx="2404738" cy="377503"/>
          </a:xfrm>
          <a:prstGeom prst="rect">
            <a:avLst/>
          </a:prstGeom>
          <a:solidFill>
            <a:srgbClr val="F8E1D0"/>
          </a:solidFill>
          <a:ln/>
        </p:spPr>
        <p:txBody>
          <a:bodyPr/>
          <a:lstStyle/>
          <a:p>
            <a:endParaRPr lang="ko-KR" altLang="en-US"/>
          </a:p>
        </p:txBody>
      </p:sp>
      <p:sp>
        <p:nvSpPr>
          <p:cNvPr id="163" name="Shape 160"/>
          <p:cNvSpPr/>
          <p:nvPr/>
        </p:nvSpPr>
        <p:spPr>
          <a:xfrm>
            <a:off x="2943317" y="4994110"/>
            <a:ext cx="2404738" cy="9525"/>
          </a:xfrm>
          <a:prstGeom prst="rect">
            <a:avLst/>
          </a:prstGeom>
          <a:solidFill>
            <a:srgbClr val="D3B9A5"/>
          </a:solidFill>
          <a:ln/>
        </p:spPr>
        <p:txBody>
          <a:bodyPr/>
          <a:lstStyle/>
          <a:p>
            <a:endParaRPr lang="ko-KR" altLang="en-US"/>
          </a:p>
        </p:txBody>
      </p:sp>
      <p:sp>
        <p:nvSpPr>
          <p:cNvPr id="164" name="Shape 161"/>
          <p:cNvSpPr/>
          <p:nvPr/>
        </p:nvSpPr>
        <p:spPr>
          <a:xfrm>
            <a:off x="2943317" y="4994110"/>
            <a:ext cx="9525" cy="377503"/>
          </a:xfrm>
          <a:prstGeom prst="rect">
            <a:avLst/>
          </a:prstGeom>
          <a:solidFill>
            <a:srgbClr val="D3B9A5"/>
          </a:solidFill>
          <a:ln/>
        </p:spPr>
        <p:txBody>
          <a:bodyPr/>
          <a:lstStyle/>
          <a:p>
            <a:endParaRPr lang="ko-KR" altLang="en-US"/>
          </a:p>
        </p:txBody>
      </p:sp>
      <p:sp>
        <p:nvSpPr>
          <p:cNvPr id="165" name="Text 162"/>
          <p:cNvSpPr/>
          <p:nvPr/>
        </p:nvSpPr>
        <p:spPr>
          <a:xfrm>
            <a:off x="2967584" y="5027902"/>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3,000만 / 3,000만</a:t>
            </a:r>
            <a:endParaRPr lang="en-US" sz="1088" dirty="0"/>
          </a:p>
        </p:txBody>
      </p:sp>
      <p:sp>
        <p:nvSpPr>
          <p:cNvPr id="166" name="Shape 163"/>
          <p:cNvSpPr/>
          <p:nvPr/>
        </p:nvSpPr>
        <p:spPr>
          <a:xfrm>
            <a:off x="5348054" y="4994110"/>
            <a:ext cx="2404738" cy="377503"/>
          </a:xfrm>
          <a:prstGeom prst="rect">
            <a:avLst/>
          </a:prstGeom>
          <a:solidFill>
            <a:srgbClr val="FFFFFF"/>
          </a:solidFill>
          <a:ln/>
        </p:spPr>
        <p:txBody>
          <a:bodyPr/>
          <a:lstStyle/>
          <a:p>
            <a:endParaRPr lang="ko-KR" altLang="en-US"/>
          </a:p>
        </p:txBody>
      </p:sp>
      <p:sp>
        <p:nvSpPr>
          <p:cNvPr id="167" name="Shape 164"/>
          <p:cNvSpPr/>
          <p:nvPr/>
        </p:nvSpPr>
        <p:spPr>
          <a:xfrm>
            <a:off x="5348054" y="4994110"/>
            <a:ext cx="2404738" cy="9525"/>
          </a:xfrm>
          <a:prstGeom prst="rect">
            <a:avLst/>
          </a:prstGeom>
          <a:solidFill>
            <a:srgbClr val="D3B9A5"/>
          </a:solidFill>
          <a:ln/>
        </p:spPr>
        <p:txBody>
          <a:bodyPr/>
          <a:lstStyle/>
          <a:p>
            <a:endParaRPr lang="ko-KR" altLang="en-US"/>
          </a:p>
        </p:txBody>
      </p:sp>
      <p:sp>
        <p:nvSpPr>
          <p:cNvPr id="168" name="Shape 165"/>
          <p:cNvSpPr/>
          <p:nvPr/>
        </p:nvSpPr>
        <p:spPr>
          <a:xfrm>
            <a:off x="5348054" y="4994110"/>
            <a:ext cx="9525" cy="377503"/>
          </a:xfrm>
          <a:prstGeom prst="rect">
            <a:avLst/>
          </a:prstGeom>
          <a:solidFill>
            <a:srgbClr val="D3B9A5"/>
          </a:solidFill>
          <a:ln/>
        </p:spPr>
        <p:txBody>
          <a:bodyPr/>
          <a:lstStyle/>
          <a:p>
            <a:endParaRPr lang="ko-KR" altLang="en-US"/>
          </a:p>
        </p:txBody>
      </p:sp>
      <p:sp>
        <p:nvSpPr>
          <p:cNvPr id="169" name="Text 166"/>
          <p:cNvSpPr/>
          <p:nvPr/>
        </p:nvSpPr>
        <p:spPr>
          <a:xfrm>
            <a:off x="5372321" y="5027902"/>
            <a:ext cx="2361420"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600만</a:t>
            </a:r>
            <a:endParaRPr lang="en-US" sz="1088" dirty="0"/>
          </a:p>
        </p:txBody>
      </p:sp>
      <p:sp>
        <p:nvSpPr>
          <p:cNvPr id="170" name="Shape 167"/>
          <p:cNvSpPr/>
          <p:nvPr/>
        </p:nvSpPr>
        <p:spPr>
          <a:xfrm>
            <a:off x="7752792" y="4994110"/>
            <a:ext cx="2405145" cy="377503"/>
          </a:xfrm>
          <a:prstGeom prst="rect">
            <a:avLst/>
          </a:prstGeom>
          <a:solidFill>
            <a:srgbClr val="FFFFFF"/>
          </a:solidFill>
          <a:ln/>
        </p:spPr>
        <p:txBody>
          <a:bodyPr/>
          <a:lstStyle/>
          <a:p>
            <a:endParaRPr lang="ko-KR" altLang="en-US"/>
          </a:p>
        </p:txBody>
      </p:sp>
      <p:sp>
        <p:nvSpPr>
          <p:cNvPr id="171" name="Shape 168"/>
          <p:cNvSpPr/>
          <p:nvPr/>
        </p:nvSpPr>
        <p:spPr>
          <a:xfrm>
            <a:off x="7752792" y="4994110"/>
            <a:ext cx="2405145" cy="9525"/>
          </a:xfrm>
          <a:prstGeom prst="rect">
            <a:avLst/>
          </a:prstGeom>
          <a:solidFill>
            <a:srgbClr val="D3B9A5"/>
          </a:solidFill>
          <a:ln/>
        </p:spPr>
        <p:txBody>
          <a:bodyPr/>
          <a:lstStyle/>
          <a:p>
            <a:endParaRPr lang="ko-KR" altLang="en-US"/>
          </a:p>
        </p:txBody>
      </p:sp>
      <p:sp>
        <p:nvSpPr>
          <p:cNvPr id="172" name="Shape 169"/>
          <p:cNvSpPr/>
          <p:nvPr/>
        </p:nvSpPr>
        <p:spPr>
          <a:xfrm>
            <a:off x="7752792" y="4994110"/>
            <a:ext cx="9525" cy="377503"/>
          </a:xfrm>
          <a:prstGeom prst="rect">
            <a:avLst/>
          </a:prstGeom>
          <a:solidFill>
            <a:srgbClr val="D3B9A5"/>
          </a:solidFill>
          <a:ln/>
        </p:spPr>
        <p:txBody>
          <a:bodyPr/>
          <a:lstStyle/>
          <a:p>
            <a:endParaRPr lang="ko-KR" altLang="en-US"/>
          </a:p>
        </p:txBody>
      </p:sp>
      <p:sp>
        <p:nvSpPr>
          <p:cNvPr id="173" name="Text 170"/>
          <p:cNvSpPr/>
          <p:nvPr/>
        </p:nvSpPr>
        <p:spPr>
          <a:xfrm>
            <a:off x="7777059" y="5027902"/>
            <a:ext cx="2361828"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3,000만 / 3,000만</a:t>
            </a:r>
            <a:endParaRPr lang="en-US" sz="1088" dirty="0"/>
          </a:p>
        </p:txBody>
      </p:sp>
      <p:sp>
        <p:nvSpPr>
          <p:cNvPr id="174" name="Shape 171"/>
          <p:cNvSpPr/>
          <p:nvPr/>
        </p:nvSpPr>
        <p:spPr>
          <a:xfrm>
            <a:off x="538580" y="5371613"/>
            <a:ext cx="2404738" cy="755006"/>
          </a:xfrm>
          <a:prstGeom prst="rect">
            <a:avLst/>
          </a:prstGeom>
          <a:solidFill>
            <a:srgbClr val="FCF4EE"/>
          </a:solidFill>
          <a:ln/>
        </p:spPr>
        <p:txBody>
          <a:bodyPr/>
          <a:lstStyle/>
          <a:p>
            <a:endParaRPr lang="ko-KR" altLang="en-US"/>
          </a:p>
        </p:txBody>
      </p:sp>
      <p:sp>
        <p:nvSpPr>
          <p:cNvPr id="175" name="Shape 172"/>
          <p:cNvSpPr/>
          <p:nvPr/>
        </p:nvSpPr>
        <p:spPr>
          <a:xfrm>
            <a:off x="538580" y="5371613"/>
            <a:ext cx="2404738" cy="9525"/>
          </a:xfrm>
          <a:prstGeom prst="rect">
            <a:avLst/>
          </a:prstGeom>
          <a:solidFill>
            <a:srgbClr val="D3B9A5"/>
          </a:solidFill>
          <a:ln/>
        </p:spPr>
        <p:txBody>
          <a:bodyPr/>
          <a:lstStyle/>
          <a:p>
            <a:endParaRPr lang="ko-KR" altLang="en-US"/>
          </a:p>
        </p:txBody>
      </p:sp>
      <p:sp>
        <p:nvSpPr>
          <p:cNvPr id="176" name="Text 173"/>
          <p:cNvSpPr/>
          <p:nvPr/>
        </p:nvSpPr>
        <p:spPr>
          <a:xfrm>
            <a:off x="557630" y="5405405"/>
            <a:ext cx="2366638" cy="730739"/>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20년납 100세만기</a:t>
            </a:r>
            <a:endParaRPr lang="en-US" sz="1088" dirty="0"/>
          </a:p>
        </p:txBody>
      </p:sp>
      <p:sp>
        <p:nvSpPr>
          <p:cNvPr id="177" name="Shape 174"/>
          <p:cNvSpPr/>
          <p:nvPr/>
        </p:nvSpPr>
        <p:spPr>
          <a:xfrm>
            <a:off x="2943317" y="5371613"/>
            <a:ext cx="1202369" cy="377503"/>
          </a:xfrm>
          <a:prstGeom prst="rect">
            <a:avLst/>
          </a:prstGeom>
          <a:solidFill>
            <a:srgbClr val="F8E1D0"/>
          </a:solidFill>
          <a:ln/>
        </p:spPr>
        <p:txBody>
          <a:bodyPr/>
          <a:lstStyle/>
          <a:p>
            <a:endParaRPr lang="ko-KR" altLang="en-US"/>
          </a:p>
        </p:txBody>
      </p:sp>
      <p:sp>
        <p:nvSpPr>
          <p:cNvPr id="178" name="Shape 175"/>
          <p:cNvSpPr/>
          <p:nvPr/>
        </p:nvSpPr>
        <p:spPr>
          <a:xfrm>
            <a:off x="2943317" y="5371613"/>
            <a:ext cx="1202369" cy="9525"/>
          </a:xfrm>
          <a:prstGeom prst="rect">
            <a:avLst/>
          </a:prstGeom>
          <a:solidFill>
            <a:srgbClr val="D3B9A5"/>
          </a:solidFill>
          <a:ln/>
        </p:spPr>
        <p:txBody>
          <a:bodyPr/>
          <a:lstStyle/>
          <a:p>
            <a:endParaRPr lang="ko-KR" altLang="en-US"/>
          </a:p>
        </p:txBody>
      </p:sp>
      <p:sp>
        <p:nvSpPr>
          <p:cNvPr id="179" name="Shape 176"/>
          <p:cNvSpPr/>
          <p:nvPr/>
        </p:nvSpPr>
        <p:spPr>
          <a:xfrm>
            <a:off x="2943317" y="5371613"/>
            <a:ext cx="9525" cy="377503"/>
          </a:xfrm>
          <a:prstGeom prst="rect">
            <a:avLst/>
          </a:prstGeom>
          <a:solidFill>
            <a:srgbClr val="D3B9A5"/>
          </a:solidFill>
          <a:ln/>
        </p:spPr>
        <p:txBody>
          <a:bodyPr/>
          <a:lstStyle/>
          <a:p>
            <a:endParaRPr lang="ko-KR" altLang="en-US"/>
          </a:p>
        </p:txBody>
      </p:sp>
      <p:sp>
        <p:nvSpPr>
          <p:cNvPr id="180" name="Text 177"/>
          <p:cNvSpPr/>
          <p:nvPr/>
        </p:nvSpPr>
        <p:spPr>
          <a:xfrm>
            <a:off x="2967584"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40세 남</a:t>
            </a:r>
            <a:endParaRPr lang="en-US" sz="1088" dirty="0"/>
          </a:p>
        </p:txBody>
      </p:sp>
      <p:sp>
        <p:nvSpPr>
          <p:cNvPr id="181" name="Shape 178"/>
          <p:cNvSpPr/>
          <p:nvPr/>
        </p:nvSpPr>
        <p:spPr>
          <a:xfrm>
            <a:off x="4145686" y="5371613"/>
            <a:ext cx="1202369" cy="377503"/>
          </a:xfrm>
          <a:prstGeom prst="rect">
            <a:avLst/>
          </a:prstGeom>
          <a:solidFill>
            <a:srgbClr val="F8E1D0"/>
          </a:solidFill>
          <a:ln/>
        </p:spPr>
        <p:txBody>
          <a:bodyPr/>
          <a:lstStyle/>
          <a:p>
            <a:endParaRPr lang="ko-KR" altLang="en-US"/>
          </a:p>
        </p:txBody>
      </p:sp>
      <p:sp>
        <p:nvSpPr>
          <p:cNvPr id="182" name="Shape 179"/>
          <p:cNvSpPr/>
          <p:nvPr/>
        </p:nvSpPr>
        <p:spPr>
          <a:xfrm>
            <a:off x="4145686" y="5371613"/>
            <a:ext cx="1202369" cy="9525"/>
          </a:xfrm>
          <a:prstGeom prst="rect">
            <a:avLst/>
          </a:prstGeom>
          <a:solidFill>
            <a:srgbClr val="D3B9A5"/>
          </a:solidFill>
          <a:ln/>
        </p:spPr>
        <p:txBody>
          <a:bodyPr/>
          <a:lstStyle/>
          <a:p>
            <a:endParaRPr lang="ko-KR" altLang="en-US"/>
          </a:p>
        </p:txBody>
      </p:sp>
      <p:sp>
        <p:nvSpPr>
          <p:cNvPr id="183" name="Shape 180"/>
          <p:cNvSpPr/>
          <p:nvPr/>
        </p:nvSpPr>
        <p:spPr>
          <a:xfrm>
            <a:off x="4145686" y="5371613"/>
            <a:ext cx="9525" cy="377503"/>
          </a:xfrm>
          <a:prstGeom prst="rect">
            <a:avLst/>
          </a:prstGeom>
          <a:solidFill>
            <a:srgbClr val="D3B9A5"/>
          </a:solidFill>
          <a:ln/>
        </p:spPr>
        <p:txBody>
          <a:bodyPr/>
          <a:lstStyle/>
          <a:p>
            <a:endParaRPr lang="ko-KR" altLang="en-US"/>
          </a:p>
        </p:txBody>
      </p:sp>
      <p:sp>
        <p:nvSpPr>
          <p:cNvPr id="184" name="Text 181"/>
          <p:cNvSpPr/>
          <p:nvPr/>
        </p:nvSpPr>
        <p:spPr>
          <a:xfrm>
            <a:off x="4169953"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40세 여</a:t>
            </a:r>
            <a:endParaRPr lang="en-US" sz="1088" dirty="0"/>
          </a:p>
        </p:txBody>
      </p:sp>
      <p:sp>
        <p:nvSpPr>
          <p:cNvPr id="185" name="Shape 182"/>
          <p:cNvSpPr/>
          <p:nvPr/>
        </p:nvSpPr>
        <p:spPr>
          <a:xfrm>
            <a:off x="5348054" y="5371613"/>
            <a:ext cx="1202369" cy="377503"/>
          </a:xfrm>
          <a:prstGeom prst="rect">
            <a:avLst/>
          </a:prstGeom>
          <a:solidFill>
            <a:srgbClr val="FFFFFF"/>
          </a:solidFill>
          <a:ln/>
        </p:spPr>
        <p:txBody>
          <a:bodyPr/>
          <a:lstStyle/>
          <a:p>
            <a:endParaRPr lang="ko-KR" altLang="en-US"/>
          </a:p>
        </p:txBody>
      </p:sp>
      <p:sp>
        <p:nvSpPr>
          <p:cNvPr id="186" name="Shape 183"/>
          <p:cNvSpPr/>
          <p:nvPr/>
        </p:nvSpPr>
        <p:spPr>
          <a:xfrm>
            <a:off x="5348054" y="5371613"/>
            <a:ext cx="1202369" cy="9525"/>
          </a:xfrm>
          <a:prstGeom prst="rect">
            <a:avLst/>
          </a:prstGeom>
          <a:solidFill>
            <a:srgbClr val="D3B9A5"/>
          </a:solidFill>
          <a:ln/>
        </p:spPr>
        <p:txBody>
          <a:bodyPr/>
          <a:lstStyle/>
          <a:p>
            <a:endParaRPr lang="ko-KR" altLang="en-US"/>
          </a:p>
        </p:txBody>
      </p:sp>
      <p:sp>
        <p:nvSpPr>
          <p:cNvPr id="187" name="Shape 184"/>
          <p:cNvSpPr/>
          <p:nvPr/>
        </p:nvSpPr>
        <p:spPr>
          <a:xfrm>
            <a:off x="5348054" y="5371613"/>
            <a:ext cx="9525" cy="377503"/>
          </a:xfrm>
          <a:prstGeom prst="rect">
            <a:avLst/>
          </a:prstGeom>
          <a:solidFill>
            <a:srgbClr val="D3B9A5"/>
          </a:solidFill>
          <a:ln/>
        </p:spPr>
        <p:txBody>
          <a:bodyPr/>
          <a:lstStyle/>
          <a:p>
            <a:endParaRPr lang="ko-KR" altLang="en-US"/>
          </a:p>
        </p:txBody>
      </p:sp>
      <p:sp>
        <p:nvSpPr>
          <p:cNvPr id="188" name="Text 185"/>
          <p:cNvSpPr/>
          <p:nvPr/>
        </p:nvSpPr>
        <p:spPr>
          <a:xfrm>
            <a:off x="5372321"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40세 남</a:t>
            </a:r>
            <a:endParaRPr lang="en-US" sz="1088" dirty="0"/>
          </a:p>
        </p:txBody>
      </p:sp>
      <p:sp>
        <p:nvSpPr>
          <p:cNvPr id="189" name="Shape 186"/>
          <p:cNvSpPr/>
          <p:nvPr/>
        </p:nvSpPr>
        <p:spPr>
          <a:xfrm>
            <a:off x="6550423" y="5371613"/>
            <a:ext cx="1202369" cy="377503"/>
          </a:xfrm>
          <a:prstGeom prst="rect">
            <a:avLst/>
          </a:prstGeom>
          <a:solidFill>
            <a:srgbClr val="FFFFFF"/>
          </a:solidFill>
          <a:ln/>
        </p:spPr>
        <p:txBody>
          <a:bodyPr/>
          <a:lstStyle/>
          <a:p>
            <a:endParaRPr lang="ko-KR" altLang="en-US"/>
          </a:p>
        </p:txBody>
      </p:sp>
      <p:sp>
        <p:nvSpPr>
          <p:cNvPr id="190" name="Shape 187"/>
          <p:cNvSpPr/>
          <p:nvPr/>
        </p:nvSpPr>
        <p:spPr>
          <a:xfrm>
            <a:off x="6550423" y="5371613"/>
            <a:ext cx="1202369" cy="9525"/>
          </a:xfrm>
          <a:prstGeom prst="rect">
            <a:avLst/>
          </a:prstGeom>
          <a:solidFill>
            <a:srgbClr val="D3B9A5"/>
          </a:solidFill>
          <a:ln/>
        </p:spPr>
        <p:txBody>
          <a:bodyPr/>
          <a:lstStyle/>
          <a:p>
            <a:endParaRPr lang="ko-KR" altLang="en-US"/>
          </a:p>
        </p:txBody>
      </p:sp>
      <p:sp>
        <p:nvSpPr>
          <p:cNvPr id="191" name="Shape 188"/>
          <p:cNvSpPr/>
          <p:nvPr/>
        </p:nvSpPr>
        <p:spPr>
          <a:xfrm>
            <a:off x="6550423" y="5371613"/>
            <a:ext cx="9525" cy="377503"/>
          </a:xfrm>
          <a:prstGeom prst="rect">
            <a:avLst/>
          </a:prstGeom>
          <a:solidFill>
            <a:srgbClr val="D3B9A5"/>
          </a:solidFill>
          <a:ln/>
        </p:spPr>
        <p:txBody>
          <a:bodyPr/>
          <a:lstStyle/>
          <a:p>
            <a:endParaRPr lang="ko-KR" altLang="en-US"/>
          </a:p>
        </p:txBody>
      </p:sp>
      <p:sp>
        <p:nvSpPr>
          <p:cNvPr id="192" name="Text 189"/>
          <p:cNvSpPr/>
          <p:nvPr/>
        </p:nvSpPr>
        <p:spPr>
          <a:xfrm>
            <a:off x="6574690"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40세 여</a:t>
            </a:r>
            <a:endParaRPr lang="en-US" sz="1088" dirty="0"/>
          </a:p>
        </p:txBody>
      </p:sp>
      <p:sp>
        <p:nvSpPr>
          <p:cNvPr id="193" name="Shape 190"/>
          <p:cNvSpPr/>
          <p:nvPr/>
        </p:nvSpPr>
        <p:spPr>
          <a:xfrm>
            <a:off x="7752792" y="5371613"/>
            <a:ext cx="1202369" cy="377503"/>
          </a:xfrm>
          <a:prstGeom prst="rect">
            <a:avLst/>
          </a:prstGeom>
          <a:solidFill>
            <a:srgbClr val="FFFFFF"/>
          </a:solidFill>
          <a:ln/>
        </p:spPr>
        <p:txBody>
          <a:bodyPr/>
          <a:lstStyle/>
          <a:p>
            <a:endParaRPr lang="ko-KR" altLang="en-US"/>
          </a:p>
        </p:txBody>
      </p:sp>
      <p:sp>
        <p:nvSpPr>
          <p:cNvPr id="194" name="Shape 191"/>
          <p:cNvSpPr/>
          <p:nvPr/>
        </p:nvSpPr>
        <p:spPr>
          <a:xfrm>
            <a:off x="7752792" y="5371613"/>
            <a:ext cx="1202369" cy="9525"/>
          </a:xfrm>
          <a:prstGeom prst="rect">
            <a:avLst/>
          </a:prstGeom>
          <a:solidFill>
            <a:srgbClr val="D3B9A5"/>
          </a:solidFill>
          <a:ln/>
        </p:spPr>
        <p:txBody>
          <a:bodyPr/>
          <a:lstStyle/>
          <a:p>
            <a:endParaRPr lang="ko-KR" altLang="en-US"/>
          </a:p>
        </p:txBody>
      </p:sp>
      <p:sp>
        <p:nvSpPr>
          <p:cNvPr id="195" name="Shape 192"/>
          <p:cNvSpPr/>
          <p:nvPr/>
        </p:nvSpPr>
        <p:spPr>
          <a:xfrm>
            <a:off x="7752792" y="5371613"/>
            <a:ext cx="9525" cy="377503"/>
          </a:xfrm>
          <a:prstGeom prst="rect">
            <a:avLst/>
          </a:prstGeom>
          <a:solidFill>
            <a:srgbClr val="D3B9A5"/>
          </a:solidFill>
          <a:ln/>
        </p:spPr>
        <p:txBody>
          <a:bodyPr/>
          <a:lstStyle/>
          <a:p>
            <a:endParaRPr lang="ko-KR" altLang="en-US"/>
          </a:p>
        </p:txBody>
      </p:sp>
      <p:sp>
        <p:nvSpPr>
          <p:cNvPr id="196" name="Text 193"/>
          <p:cNvSpPr/>
          <p:nvPr/>
        </p:nvSpPr>
        <p:spPr>
          <a:xfrm>
            <a:off x="7777059" y="5405405"/>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40세 남</a:t>
            </a:r>
            <a:endParaRPr lang="en-US" sz="1088" dirty="0"/>
          </a:p>
        </p:txBody>
      </p:sp>
      <p:sp>
        <p:nvSpPr>
          <p:cNvPr id="197" name="Shape 194"/>
          <p:cNvSpPr/>
          <p:nvPr/>
        </p:nvSpPr>
        <p:spPr>
          <a:xfrm>
            <a:off x="8955161" y="5371613"/>
            <a:ext cx="1202776" cy="377503"/>
          </a:xfrm>
          <a:prstGeom prst="rect">
            <a:avLst/>
          </a:prstGeom>
          <a:solidFill>
            <a:srgbClr val="FFFFFF"/>
          </a:solidFill>
          <a:ln/>
        </p:spPr>
        <p:txBody>
          <a:bodyPr/>
          <a:lstStyle/>
          <a:p>
            <a:endParaRPr lang="ko-KR" altLang="en-US"/>
          </a:p>
        </p:txBody>
      </p:sp>
      <p:sp>
        <p:nvSpPr>
          <p:cNvPr id="198" name="Shape 195"/>
          <p:cNvSpPr/>
          <p:nvPr/>
        </p:nvSpPr>
        <p:spPr>
          <a:xfrm>
            <a:off x="8955161" y="5371613"/>
            <a:ext cx="1202776" cy="9525"/>
          </a:xfrm>
          <a:prstGeom prst="rect">
            <a:avLst/>
          </a:prstGeom>
          <a:solidFill>
            <a:srgbClr val="D3B9A5"/>
          </a:solidFill>
          <a:ln/>
        </p:spPr>
        <p:txBody>
          <a:bodyPr/>
          <a:lstStyle/>
          <a:p>
            <a:endParaRPr lang="ko-KR" altLang="en-US"/>
          </a:p>
        </p:txBody>
      </p:sp>
      <p:sp>
        <p:nvSpPr>
          <p:cNvPr id="199" name="Shape 196"/>
          <p:cNvSpPr/>
          <p:nvPr/>
        </p:nvSpPr>
        <p:spPr>
          <a:xfrm>
            <a:off x="8955161" y="5371613"/>
            <a:ext cx="9525" cy="377503"/>
          </a:xfrm>
          <a:prstGeom prst="rect">
            <a:avLst/>
          </a:prstGeom>
          <a:solidFill>
            <a:srgbClr val="D3B9A5"/>
          </a:solidFill>
          <a:ln/>
        </p:spPr>
        <p:txBody>
          <a:bodyPr/>
          <a:lstStyle/>
          <a:p>
            <a:endParaRPr lang="ko-KR" altLang="en-US"/>
          </a:p>
        </p:txBody>
      </p:sp>
      <p:sp>
        <p:nvSpPr>
          <p:cNvPr id="200" name="Text 197"/>
          <p:cNvSpPr/>
          <p:nvPr/>
        </p:nvSpPr>
        <p:spPr>
          <a:xfrm>
            <a:off x="8979428" y="5405405"/>
            <a:ext cx="1159459"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40세 여</a:t>
            </a:r>
            <a:endParaRPr lang="en-US" sz="1088" dirty="0"/>
          </a:p>
        </p:txBody>
      </p:sp>
      <p:sp>
        <p:nvSpPr>
          <p:cNvPr id="201" name="Shape 198"/>
          <p:cNvSpPr/>
          <p:nvPr/>
        </p:nvSpPr>
        <p:spPr>
          <a:xfrm>
            <a:off x="2943317" y="5749116"/>
            <a:ext cx="1202369" cy="377503"/>
          </a:xfrm>
          <a:prstGeom prst="rect">
            <a:avLst/>
          </a:prstGeom>
          <a:solidFill>
            <a:srgbClr val="F8E1D0"/>
          </a:solidFill>
          <a:ln/>
        </p:spPr>
        <p:txBody>
          <a:bodyPr/>
          <a:lstStyle/>
          <a:p>
            <a:endParaRPr lang="ko-KR" altLang="en-US"/>
          </a:p>
        </p:txBody>
      </p:sp>
      <p:sp>
        <p:nvSpPr>
          <p:cNvPr id="202" name="Shape 199"/>
          <p:cNvSpPr/>
          <p:nvPr/>
        </p:nvSpPr>
        <p:spPr>
          <a:xfrm>
            <a:off x="2943317" y="5749116"/>
            <a:ext cx="1202369" cy="9525"/>
          </a:xfrm>
          <a:prstGeom prst="rect">
            <a:avLst/>
          </a:prstGeom>
          <a:solidFill>
            <a:srgbClr val="D3B9A5"/>
          </a:solidFill>
          <a:ln/>
        </p:spPr>
        <p:txBody>
          <a:bodyPr/>
          <a:lstStyle/>
          <a:p>
            <a:endParaRPr lang="ko-KR" altLang="en-US"/>
          </a:p>
        </p:txBody>
      </p:sp>
      <p:sp>
        <p:nvSpPr>
          <p:cNvPr id="203" name="Shape 200"/>
          <p:cNvSpPr/>
          <p:nvPr/>
        </p:nvSpPr>
        <p:spPr>
          <a:xfrm>
            <a:off x="2943317" y="5749116"/>
            <a:ext cx="9525" cy="377503"/>
          </a:xfrm>
          <a:prstGeom prst="rect">
            <a:avLst/>
          </a:prstGeom>
          <a:solidFill>
            <a:srgbClr val="D3B9A5"/>
          </a:solidFill>
          <a:ln/>
        </p:spPr>
        <p:txBody>
          <a:bodyPr/>
          <a:lstStyle/>
          <a:p>
            <a:endParaRPr lang="ko-KR" altLang="en-US"/>
          </a:p>
        </p:txBody>
      </p:sp>
      <p:sp>
        <p:nvSpPr>
          <p:cNvPr id="204" name="Text 201"/>
          <p:cNvSpPr/>
          <p:nvPr/>
        </p:nvSpPr>
        <p:spPr>
          <a:xfrm>
            <a:off x="2967584"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25,647</a:t>
            </a:r>
            <a:endParaRPr lang="en-US" sz="1088" dirty="0"/>
          </a:p>
        </p:txBody>
      </p:sp>
      <p:sp>
        <p:nvSpPr>
          <p:cNvPr id="205" name="Shape 202"/>
          <p:cNvSpPr/>
          <p:nvPr/>
        </p:nvSpPr>
        <p:spPr>
          <a:xfrm>
            <a:off x="4145686" y="5749116"/>
            <a:ext cx="1202369" cy="377503"/>
          </a:xfrm>
          <a:prstGeom prst="rect">
            <a:avLst/>
          </a:prstGeom>
          <a:solidFill>
            <a:srgbClr val="F8E1D0"/>
          </a:solidFill>
          <a:ln/>
        </p:spPr>
        <p:txBody>
          <a:bodyPr/>
          <a:lstStyle/>
          <a:p>
            <a:endParaRPr lang="ko-KR" altLang="en-US"/>
          </a:p>
        </p:txBody>
      </p:sp>
      <p:sp>
        <p:nvSpPr>
          <p:cNvPr id="206" name="Shape 203"/>
          <p:cNvSpPr/>
          <p:nvPr/>
        </p:nvSpPr>
        <p:spPr>
          <a:xfrm>
            <a:off x="4145686" y="5749116"/>
            <a:ext cx="1202369" cy="9525"/>
          </a:xfrm>
          <a:prstGeom prst="rect">
            <a:avLst/>
          </a:prstGeom>
          <a:solidFill>
            <a:srgbClr val="D3B9A5"/>
          </a:solidFill>
          <a:ln/>
        </p:spPr>
        <p:txBody>
          <a:bodyPr/>
          <a:lstStyle/>
          <a:p>
            <a:endParaRPr lang="ko-KR" altLang="en-US"/>
          </a:p>
        </p:txBody>
      </p:sp>
      <p:sp>
        <p:nvSpPr>
          <p:cNvPr id="207" name="Shape 204"/>
          <p:cNvSpPr/>
          <p:nvPr/>
        </p:nvSpPr>
        <p:spPr>
          <a:xfrm>
            <a:off x="4145686" y="5749116"/>
            <a:ext cx="9525" cy="377503"/>
          </a:xfrm>
          <a:prstGeom prst="rect">
            <a:avLst/>
          </a:prstGeom>
          <a:solidFill>
            <a:srgbClr val="D3B9A5"/>
          </a:solidFill>
          <a:ln/>
        </p:spPr>
        <p:txBody>
          <a:bodyPr/>
          <a:lstStyle/>
          <a:p>
            <a:endParaRPr lang="ko-KR" altLang="en-US"/>
          </a:p>
        </p:txBody>
      </p:sp>
      <p:sp>
        <p:nvSpPr>
          <p:cNvPr id="208" name="Text 205"/>
          <p:cNvSpPr/>
          <p:nvPr/>
        </p:nvSpPr>
        <p:spPr>
          <a:xfrm>
            <a:off x="4169953"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18,022</a:t>
            </a:r>
            <a:endParaRPr lang="en-US" sz="1088" dirty="0"/>
          </a:p>
        </p:txBody>
      </p:sp>
      <p:sp>
        <p:nvSpPr>
          <p:cNvPr id="209" name="Shape 206"/>
          <p:cNvSpPr/>
          <p:nvPr/>
        </p:nvSpPr>
        <p:spPr>
          <a:xfrm>
            <a:off x="5348054" y="5749116"/>
            <a:ext cx="1202369" cy="377503"/>
          </a:xfrm>
          <a:prstGeom prst="rect">
            <a:avLst/>
          </a:prstGeom>
          <a:solidFill>
            <a:srgbClr val="FFFFFF"/>
          </a:solidFill>
          <a:ln/>
        </p:spPr>
        <p:txBody>
          <a:bodyPr/>
          <a:lstStyle/>
          <a:p>
            <a:endParaRPr lang="ko-KR" altLang="en-US"/>
          </a:p>
        </p:txBody>
      </p:sp>
      <p:sp>
        <p:nvSpPr>
          <p:cNvPr id="210" name="Shape 207"/>
          <p:cNvSpPr/>
          <p:nvPr/>
        </p:nvSpPr>
        <p:spPr>
          <a:xfrm>
            <a:off x="5348054" y="5749116"/>
            <a:ext cx="1202369" cy="9525"/>
          </a:xfrm>
          <a:prstGeom prst="rect">
            <a:avLst/>
          </a:prstGeom>
          <a:solidFill>
            <a:srgbClr val="D3B9A5"/>
          </a:solidFill>
          <a:ln/>
        </p:spPr>
        <p:txBody>
          <a:bodyPr/>
          <a:lstStyle/>
          <a:p>
            <a:endParaRPr lang="ko-KR" altLang="en-US"/>
          </a:p>
        </p:txBody>
      </p:sp>
      <p:sp>
        <p:nvSpPr>
          <p:cNvPr id="211" name="Shape 208"/>
          <p:cNvSpPr/>
          <p:nvPr/>
        </p:nvSpPr>
        <p:spPr>
          <a:xfrm>
            <a:off x="5348054" y="5749116"/>
            <a:ext cx="9525" cy="377503"/>
          </a:xfrm>
          <a:prstGeom prst="rect">
            <a:avLst/>
          </a:prstGeom>
          <a:solidFill>
            <a:srgbClr val="D3B9A5"/>
          </a:solidFill>
          <a:ln/>
        </p:spPr>
        <p:txBody>
          <a:bodyPr/>
          <a:lstStyle/>
          <a:p>
            <a:endParaRPr lang="ko-KR" altLang="en-US"/>
          </a:p>
        </p:txBody>
      </p:sp>
      <p:sp>
        <p:nvSpPr>
          <p:cNvPr id="212" name="Text 209"/>
          <p:cNvSpPr/>
          <p:nvPr/>
        </p:nvSpPr>
        <p:spPr>
          <a:xfrm>
            <a:off x="5372321"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20,395</a:t>
            </a:r>
            <a:endParaRPr lang="en-US" sz="1088" dirty="0"/>
          </a:p>
        </p:txBody>
      </p:sp>
      <p:sp>
        <p:nvSpPr>
          <p:cNvPr id="213" name="Shape 210"/>
          <p:cNvSpPr/>
          <p:nvPr/>
        </p:nvSpPr>
        <p:spPr>
          <a:xfrm>
            <a:off x="6550423" y="5749116"/>
            <a:ext cx="1202369" cy="377503"/>
          </a:xfrm>
          <a:prstGeom prst="rect">
            <a:avLst/>
          </a:prstGeom>
          <a:solidFill>
            <a:srgbClr val="FFFFFF"/>
          </a:solidFill>
          <a:ln/>
        </p:spPr>
        <p:txBody>
          <a:bodyPr/>
          <a:lstStyle/>
          <a:p>
            <a:endParaRPr lang="ko-KR" altLang="en-US"/>
          </a:p>
        </p:txBody>
      </p:sp>
      <p:sp>
        <p:nvSpPr>
          <p:cNvPr id="214" name="Shape 211"/>
          <p:cNvSpPr/>
          <p:nvPr/>
        </p:nvSpPr>
        <p:spPr>
          <a:xfrm>
            <a:off x="6550423" y="5749116"/>
            <a:ext cx="1202369" cy="9525"/>
          </a:xfrm>
          <a:prstGeom prst="rect">
            <a:avLst/>
          </a:prstGeom>
          <a:solidFill>
            <a:srgbClr val="D3B9A5"/>
          </a:solidFill>
          <a:ln/>
        </p:spPr>
        <p:txBody>
          <a:bodyPr/>
          <a:lstStyle/>
          <a:p>
            <a:endParaRPr lang="ko-KR" altLang="en-US"/>
          </a:p>
        </p:txBody>
      </p:sp>
      <p:sp>
        <p:nvSpPr>
          <p:cNvPr id="215" name="Shape 212"/>
          <p:cNvSpPr/>
          <p:nvPr/>
        </p:nvSpPr>
        <p:spPr>
          <a:xfrm>
            <a:off x="6550423" y="5749116"/>
            <a:ext cx="9525" cy="377503"/>
          </a:xfrm>
          <a:prstGeom prst="rect">
            <a:avLst/>
          </a:prstGeom>
          <a:solidFill>
            <a:srgbClr val="D3B9A5"/>
          </a:solidFill>
          <a:ln/>
        </p:spPr>
        <p:txBody>
          <a:bodyPr/>
          <a:lstStyle/>
          <a:p>
            <a:endParaRPr lang="ko-KR" altLang="en-US"/>
          </a:p>
        </p:txBody>
      </p:sp>
      <p:sp>
        <p:nvSpPr>
          <p:cNvPr id="216" name="Text 213"/>
          <p:cNvSpPr/>
          <p:nvPr/>
        </p:nvSpPr>
        <p:spPr>
          <a:xfrm>
            <a:off x="6574690"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12,672</a:t>
            </a:r>
            <a:endParaRPr lang="en-US" sz="1088" dirty="0"/>
          </a:p>
        </p:txBody>
      </p:sp>
      <p:sp>
        <p:nvSpPr>
          <p:cNvPr id="217" name="Shape 214"/>
          <p:cNvSpPr/>
          <p:nvPr/>
        </p:nvSpPr>
        <p:spPr>
          <a:xfrm>
            <a:off x="7752792" y="5749116"/>
            <a:ext cx="1202369" cy="377503"/>
          </a:xfrm>
          <a:prstGeom prst="rect">
            <a:avLst/>
          </a:prstGeom>
          <a:solidFill>
            <a:srgbClr val="FFFFFF"/>
          </a:solidFill>
          <a:ln/>
        </p:spPr>
        <p:txBody>
          <a:bodyPr/>
          <a:lstStyle/>
          <a:p>
            <a:endParaRPr lang="ko-KR" altLang="en-US"/>
          </a:p>
        </p:txBody>
      </p:sp>
      <p:sp>
        <p:nvSpPr>
          <p:cNvPr id="218" name="Shape 215"/>
          <p:cNvSpPr/>
          <p:nvPr/>
        </p:nvSpPr>
        <p:spPr>
          <a:xfrm>
            <a:off x="7752792" y="5749116"/>
            <a:ext cx="1202369" cy="9525"/>
          </a:xfrm>
          <a:prstGeom prst="rect">
            <a:avLst/>
          </a:prstGeom>
          <a:solidFill>
            <a:srgbClr val="D3B9A5"/>
          </a:solidFill>
          <a:ln/>
        </p:spPr>
        <p:txBody>
          <a:bodyPr/>
          <a:lstStyle/>
          <a:p>
            <a:endParaRPr lang="ko-KR" altLang="en-US"/>
          </a:p>
        </p:txBody>
      </p:sp>
      <p:sp>
        <p:nvSpPr>
          <p:cNvPr id="219" name="Shape 216"/>
          <p:cNvSpPr/>
          <p:nvPr/>
        </p:nvSpPr>
        <p:spPr>
          <a:xfrm>
            <a:off x="7752792" y="5749116"/>
            <a:ext cx="9525" cy="377503"/>
          </a:xfrm>
          <a:prstGeom prst="rect">
            <a:avLst/>
          </a:prstGeom>
          <a:solidFill>
            <a:srgbClr val="D3B9A5"/>
          </a:solidFill>
          <a:ln/>
        </p:spPr>
        <p:txBody>
          <a:bodyPr/>
          <a:lstStyle/>
          <a:p>
            <a:endParaRPr lang="ko-KR" altLang="en-US"/>
          </a:p>
        </p:txBody>
      </p:sp>
      <p:sp>
        <p:nvSpPr>
          <p:cNvPr id="220" name="Text 217"/>
          <p:cNvSpPr/>
          <p:nvPr/>
        </p:nvSpPr>
        <p:spPr>
          <a:xfrm>
            <a:off x="7777059" y="5782908"/>
            <a:ext cx="1159052"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22,840</a:t>
            </a:r>
            <a:endParaRPr lang="en-US" sz="1088" dirty="0"/>
          </a:p>
        </p:txBody>
      </p:sp>
      <p:sp>
        <p:nvSpPr>
          <p:cNvPr id="221" name="Shape 218"/>
          <p:cNvSpPr/>
          <p:nvPr/>
        </p:nvSpPr>
        <p:spPr>
          <a:xfrm>
            <a:off x="8955161" y="5749116"/>
            <a:ext cx="1202776" cy="377503"/>
          </a:xfrm>
          <a:prstGeom prst="rect">
            <a:avLst/>
          </a:prstGeom>
          <a:solidFill>
            <a:srgbClr val="FFFFFF"/>
          </a:solidFill>
          <a:ln/>
        </p:spPr>
        <p:txBody>
          <a:bodyPr/>
          <a:lstStyle/>
          <a:p>
            <a:endParaRPr lang="ko-KR" altLang="en-US"/>
          </a:p>
        </p:txBody>
      </p:sp>
      <p:sp>
        <p:nvSpPr>
          <p:cNvPr id="222" name="Shape 219"/>
          <p:cNvSpPr/>
          <p:nvPr/>
        </p:nvSpPr>
        <p:spPr>
          <a:xfrm>
            <a:off x="8955161" y="5749116"/>
            <a:ext cx="1202776" cy="9525"/>
          </a:xfrm>
          <a:prstGeom prst="rect">
            <a:avLst/>
          </a:prstGeom>
          <a:solidFill>
            <a:srgbClr val="D3B9A5"/>
          </a:solidFill>
          <a:ln/>
        </p:spPr>
        <p:txBody>
          <a:bodyPr/>
          <a:lstStyle/>
          <a:p>
            <a:endParaRPr lang="ko-KR" altLang="en-US"/>
          </a:p>
        </p:txBody>
      </p:sp>
      <p:sp>
        <p:nvSpPr>
          <p:cNvPr id="223" name="Shape 220"/>
          <p:cNvSpPr/>
          <p:nvPr/>
        </p:nvSpPr>
        <p:spPr>
          <a:xfrm>
            <a:off x="8955161" y="5749116"/>
            <a:ext cx="9525" cy="377503"/>
          </a:xfrm>
          <a:prstGeom prst="rect">
            <a:avLst/>
          </a:prstGeom>
          <a:solidFill>
            <a:srgbClr val="D3B9A5"/>
          </a:solidFill>
          <a:ln/>
        </p:spPr>
        <p:txBody>
          <a:bodyPr/>
          <a:lstStyle/>
          <a:p>
            <a:endParaRPr lang="ko-KR" altLang="en-US"/>
          </a:p>
        </p:txBody>
      </p:sp>
      <p:sp>
        <p:nvSpPr>
          <p:cNvPr id="224" name="Text 221"/>
          <p:cNvSpPr/>
          <p:nvPr/>
        </p:nvSpPr>
        <p:spPr>
          <a:xfrm>
            <a:off x="8979428" y="5782908"/>
            <a:ext cx="1159459" cy="353236"/>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16,950</a:t>
            </a:r>
            <a:endParaRPr lang="en-US" sz="1088" dirty="0"/>
          </a:p>
        </p:txBody>
      </p:sp>
      <p:sp>
        <p:nvSpPr>
          <p:cNvPr id="225" name="Shape 222"/>
          <p:cNvSpPr/>
          <p:nvPr/>
        </p:nvSpPr>
        <p:spPr>
          <a:xfrm>
            <a:off x="538580" y="6126619"/>
            <a:ext cx="2404738" cy="659469"/>
          </a:xfrm>
          <a:prstGeom prst="rect">
            <a:avLst/>
          </a:prstGeom>
          <a:solidFill>
            <a:srgbClr val="FCF4EE"/>
          </a:solidFill>
          <a:ln/>
        </p:spPr>
        <p:txBody>
          <a:bodyPr/>
          <a:lstStyle/>
          <a:p>
            <a:endParaRPr lang="ko-KR" altLang="en-US"/>
          </a:p>
        </p:txBody>
      </p:sp>
      <p:sp>
        <p:nvSpPr>
          <p:cNvPr id="226" name="Shape 223"/>
          <p:cNvSpPr/>
          <p:nvPr/>
        </p:nvSpPr>
        <p:spPr>
          <a:xfrm>
            <a:off x="538580" y="6126619"/>
            <a:ext cx="2404738" cy="9525"/>
          </a:xfrm>
          <a:prstGeom prst="rect">
            <a:avLst/>
          </a:prstGeom>
          <a:solidFill>
            <a:srgbClr val="D3B9A5"/>
          </a:solidFill>
          <a:ln/>
        </p:spPr>
        <p:txBody>
          <a:bodyPr/>
          <a:lstStyle/>
          <a:p>
            <a:endParaRPr lang="ko-KR" altLang="en-US"/>
          </a:p>
        </p:txBody>
      </p:sp>
      <p:sp>
        <p:nvSpPr>
          <p:cNvPr id="227" name="Text 224"/>
          <p:cNvSpPr/>
          <p:nvPr/>
        </p:nvSpPr>
        <p:spPr>
          <a:xfrm>
            <a:off x="557630" y="6160411"/>
            <a:ext cx="2366638"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주요 특징</a:t>
            </a:r>
            <a:endParaRPr lang="en-US" sz="1088" dirty="0"/>
          </a:p>
        </p:txBody>
      </p:sp>
      <p:sp>
        <p:nvSpPr>
          <p:cNvPr id="228" name="Shape 225"/>
          <p:cNvSpPr/>
          <p:nvPr/>
        </p:nvSpPr>
        <p:spPr>
          <a:xfrm>
            <a:off x="2943317" y="6126619"/>
            <a:ext cx="2404738" cy="659469"/>
          </a:xfrm>
          <a:prstGeom prst="rect">
            <a:avLst/>
          </a:prstGeom>
          <a:solidFill>
            <a:srgbClr val="F8E1D0"/>
          </a:solidFill>
          <a:ln/>
        </p:spPr>
        <p:txBody>
          <a:bodyPr/>
          <a:lstStyle/>
          <a:p>
            <a:endParaRPr lang="ko-KR" altLang="en-US"/>
          </a:p>
        </p:txBody>
      </p:sp>
      <p:sp>
        <p:nvSpPr>
          <p:cNvPr id="229" name="Shape 226"/>
          <p:cNvSpPr/>
          <p:nvPr/>
        </p:nvSpPr>
        <p:spPr>
          <a:xfrm>
            <a:off x="2943317" y="6126619"/>
            <a:ext cx="2404738" cy="9525"/>
          </a:xfrm>
          <a:prstGeom prst="rect">
            <a:avLst/>
          </a:prstGeom>
          <a:solidFill>
            <a:srgbClr val="D3B9A5"/>
          </a:solidFill>
          <a:ln/>
        </p:spPr>
        <p:txBody>
          <a:bodyPr/>
          <a:lstStyle/>
          <a:p>
            <a:endParaRPr lang="ko-KR" altLang="en-US"/>
          </a:p>
        </p:txBody>
      </p:sp>
      <p:sp>
        <p:nvSpPr>
          <p:cNvPr id="230" name="Shape 227"/>
          <p:cNvSpPr/>
          <p:nvPr/>
        </p:nvSpPr>
        <p:spPr>
          <a:xfrm>
            <a:off x="2943317" y="6126619"/>
            <a:ext cx="9525" cy="659469"/>
          </a:xfrm>
          <a:prstGeom prst="rect">
            <a:avLst/>
          </a:prstGeom>
          <a:solidFill>
            <a:srgbClr val="D3B9A5"/>
          </a:solidFill>
          <a:ln/>
        </p:spPr>
        <p:txBody>
          <a:bodyPr/>
          <a:lstStyle/>
          <a:p>
            <a:endParaRPr lang="ko-KR" altLang="en-US"/>
          </a:p>
        </p:txBody>
      </p:sp>
      <p:sp>
        <p:nvSpPr>
          <p:cNvPr id="231" name="Text 228"/>
          <p:cNvSpPr/>
          <p:nvPr/>
        </p:nvSpPr>
        <p:spPr>
          <a:xfrm>
            <a:off x="3288287" y="6287125"/>
            <a:ext cx="1720015" cy="194612"/>
          </a:xfrm>
          <a:prstGeom prst="rect">
            <a:avLst/>
          </a:prstGeom>
          <a:noFill/>
          <a:ln/>
        </p:spPr>
        <p:txBody>
          <a:bodyPr wrap="square" lIns="25400" tIns="25400" rIns="25400" bIns="25400" rtlCol="0" anchor="t">
            <a:normAutofit fontScale="92500" lnSpcReduction="20000"/>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수술 회당지급, 기갑 동일보장</a:t>
            </a:r>
            <a:endParaRPr lang="en-US" sz="1088" dirty="0"/>
          </a:p>
        </p:txBody>
      </p:sp>
      <p:sp>
        <p:nvSpPr>
          <p:cNvPr id="232" name="Text 229"/>
          <p:cNvSpPr/>
          <p:nvPr/>
        </p:nvSpPr>
        <p:spPr>
          <a:xfrm>
            <a:off x="3411222" y="6469396"/>
            <a:ext cx="1447878" cy="194612"/>
          </a:xfrm>
          <a:prstGeom prst="rect">
            <a:avLst/>
          </a:prstGeom>
          <a:noFill/>
          <a:ln/>
        </p:spPr>
        <p:txBody>
          <a:bodyPr wrap="square" lIns="0" tIns="0" rIns="0" bIns="0" rtlCol="0" anchor="t">
            <a:normAutofit/>
          </a:bodyPr>
          <a:lstStyle/>
          <a:p>
            <a:pPr marL="0" indent="0" algn="ctr">
              <a:lnSpc>
                <a:spcPct val="112725"/>
              </a:lnSpc>
              <a:buNone/>
            </a:pPr>
            <a:r>
              <a:rPr lang="en-US" sz="1088" b="1" kern="0" spc="-11" dirty="0">
                <a:solidFill>
                  <a:srgbClr val="7E3B1D"/>
                </a:solidFill>
                <a:latin typeface="Paperlogy 7 Bold" pitchFamily="2" charset="-127"/>
                <a:ea typeface="Paperlogy 7 Bold" pitchFamily="2" charset="-127"/>
                <a:cs typeface="Arial" pitchFamily="34" charset="-120"/>
              </a:rPr>
              <a:t>갑상선/전립선 다빈치수술</a:t>
            </a:r>
            <a:endParaRPr lang="en-US" sz="1088" dirty="0"/>
          </a:p>
        </p:txBody>
      </p:sp>
      <p:pic>
        <p:nvPicPr>
          <p:cNvPr id="23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96677" y="6478607"/>
            <a:ext cx="88690" cy="124231"/>
          </a:xfrm>
          <a:prstGeom prst="rect">
            <a:avLst/>
          </a:prstGeom>
        </p:spPr>
      </p:pic>
      <p:sp>
        <p:nvSpPr>
          <p:cNvPr id="234" name="Shape 230"/>
          <p:cNvSpPr/>
          <p:nvPr/>
        </p:nvSpPr>
        <p:spPr>
          <a:xfrm>
            <a:off x="5348054" y="6126619"/>
            <a:ext cx="2404738" cy="659469"/>
          </a:xfrm>
          <a:prstGeom prst="rect">
            <a:avLst/>
          </a:prstGeom>
          <a:solidFill>
            <a:srgbClr val="FFFFFF"/>
          </a:solidFill>
          <a:ln/>
        </p:spPr>
        <p:txBody>
          <a:bodyPr/>
          <a:lstStyle/>
          <a:p>
            <a:endParaRPr lang="ko-KR" altLang="en-US"/>
          </a:p>
        </p:txBody>
      </p:sp>
      <p:sp>
        <p:nvSpPr>
          <p:cNvPr id="235" name="Shape 231"/>
          <p:cNvSpPr/>
          <p:nvPr/>
        </p:nvSpPr>
        <p:spPr>
          <a:xfrm>
            <a:off x="5348054" y="6126619"/>
            <a:ext cx="2404738" cy="9525"/>
          </a:xfrm>
          <a:prstGeom prst="rect">
            <a:avLst/>
          </a:prstGeom>
          <a:solidFill>
            <a:srgbClr val="D3B9A5"/>
          </a:solidFill>
          <a:ln/>
        </p:spPr>
        <p:txBody>
          <a:bodyPr/>
          <a:lstStyle/>
          <a:p>
            <a:endParaRPr lang="ko-KR" altLang="en-US"/>
          </a:p>
        </p:txBody>
      </p:sp>
      <p:sp>
        <p:nvSpPr>
          <p:cNvPr id="236" name="Shape 232"/>
          <p:cNvSpPr/>
          <p:nvPr/>
        </p:nvSpPr>
        <p:spPr>
          <a:xfrm>
            <a:off x="5348054" y="6126619"/>
            <a:ext cx="9525" cy="659469"/>
          </a:xfrm>
          <a:prstGeom prst="rect">
            <a:avLst/>
          </a:prstGeom>
          <a:solidFill>
            <a:srgbClr val="D3B9A5"/>
          </a:solidFill>
          <a:ln/>
        </p:spPr>
        <p:txBody>
          <a:bodyPr/>
          <a:lstStyle/>
          <a:p>
            <a:endParaRPr lang="ko-KR" altLang="en-US"/>
          </a:p>
        </p:txBody>
      </p:sp>
      <p:sp>
        <p:nvSpPr>
          <p:cNvPr id="237" name="Text 233"/>
          <p:cNvSpPr/>
          <p:nvPr/>
        </p:nvSpPr>
        <p:spPr>
          <a:xfrm>
            <a:off x="5372321" y="6160411"/>
            <a:ext cx="2361420"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암담보 가성비 TOP 상품</a:t>
            </a:r>
            <a:endParaRPr lang="en-US" sz="1088" dirty="0"/>
          </a:p>
        </p:txBody>
      </p:sp>
      <p:sp>
        <p:nvSpPr>
          <p:cNvPr id="238" name="Shape 234"/>
          <p:cNvSpPr/>
          <p:nvPr/>
        </p:nvSpPr>
        <p:spPr>
          <a:xfrm>
            <a:off x="7752792" y="6126619"/>
            <a:ext cx="2405145" cy="659469"/>
          </a:xfrm>
          <a:prstGeom prst="rect">
            <a:avLst/>
          </a:prstGeom>
          <a:solidFill>
            <a:srgbClr val="FFFFFF"/>
          </a:solidFill>
          <a:ln/>
        </p:spPr>
        <p:txBody>
          <a:bodyPr/>
          <a:lstStyle/>
          <a:p>
            <a:endParaRPr lang="ko-KR" altLang="en-US"/>
          </a:p>
        </p:txBody>
      </p:sp>
      <p:sp>
        <p:nvSpPr>
          <p:cNvPr id="239" name="Shape 235"/>
          <p:cNvSpPr/>
          <p:nvPr/>
        </p:nvSpPr>
        <p:spPr>
          <a:xfrm>
            <a:off x="7752792" y="6126619"/>
            <a:ext cx="2405145" cy="9525"/>
          </a:xfrm>
          <a:prstGeom prst="rect">
            <a:avLst/>
          </a:prstGeom>
          <a:solidFill>
            <a:srgbClr val="D3B9A5"/>
          </a:solidFill>
          <a:ln/>
        </p:spPr>
        <p:txBody>
          <a:bodyPr/>
          <a:lstStyle/>
          <a:p>
            <a:endParaRPr lang="ko-KR" altLang="en-US"/>
          </a:p>
        </p:txBody>
      </p:sp>
      <p:sp>
        <p:nvSpPr>
          <p:cNvPr id="240" name="Shape 236"/>
          <p:cNvSpPr/>
          <p:nvPr/>
        </p:nvSpPr>
        <p:spPr>
          <a:xfrm>
            <a:off x="7752792" y="6126619"/>
            <a:ext cx="9525" cy="659469"/>
          </a:xfrm>
          <a:prstGeom prst="rect">
            <a:avLst/>
          </a:prstGeom>
          <a:solidFill>
            <a:srgbClr val="D3B9A5"/>
          </a:solidFill>
          <a:ln/>
        </p:spPr>
        <p:txBody>
          <a:bodyPr/>
          <a:lstStyle/>
          <a:p>
            <a:endParaRPr lang="ko-KR" altLang="en-US"/>
          </a:p>
        </p:txBody>
      </p:sp>
      <p:sp>
        <p:nvSpPr>
          <p:cNvPr id="241" name="Text 237"/>
          <p:cNvSpPr/>
          <p:nvPr/>
        </p:nvSpPr>
        <p:spPr>
          <a:xfrm>
            <a:off x="7777059" y="6160411"/>
            <a:ext cx="2361828" cy="635202"/>
          </a:xfrm>
          <a:prstGeom prst="rect">
            <a:avLst/>
          </a:prstGeom>
          <a:noFill/>
          <a:ln/>
        </p:spPr>
        <p:txBody>
          <a:bodyPr wrap="square" lIns="25400" tIns="25400" rIns="25400" bIns="25400" rtlCol="0" anchor="ctr">
            <a:normAutofit/>
          </a:bodyPr>
          <a:lstStyle/>
          <a:p>
            <a:pPr marL="0" indent="0" algn="ctr">
              <a:lnSpc>
                <a:spcPct val="112725"/>
              </a:lnSpc>
              <a:buNone/>
            </a:pPr>
            <a:r>
              <a:rPr lang="en-US" sz="1088" b="1" kern="0" spc="-11" dirty="0">
                <a:solidFill>
                  <a:srgbClr val="3A2C24"/>
                </a:solidFill>
                <a:latin typeface="Paperlogy 7 Bold" pitchFamily="2" charset="-127"/>
                <a:ea typeface="Paperlogy 7 Bold" pitchFamily="2" charset="-127"/>
                <a:cs typeface="Arial" pitchFamily="34" charset="-120"/>
              </a:rPr>
              <a:t>암진단치료비 등 가성비 담보와 </a:t>
            </a:r>
            <a:r>
              <a:rPr lang="en-US" sz="1088" b="1" kern="0" spc="-11" dirty="0" err="1">
                <a:solidFill>
                  <a:srgbClr val="3A2C24"/>
                </a:solidFill>
                <a:latin typeface="Paperlogy 7 Bold" pitchFamily="2" charset="-127"/>
                <a:ea typeface="Paperlogy 7 Bold" pitchFamily="2" charset="-127"/>
                <a:cs typeface="Arial" pitchFamily="34" charset="-120"/>
              </a:rPr>
              <a:t>함께</a:t>
            </a:r>
            <a:r>
              <a:rPr lang="en-US" sz="1088" b="1" kern="0" spc="-11" dirty="0">
                <a:solidFill>
                  <a:srgbClr val="3A2C24"/>
                </a:solidFill>
                <a:latin typeface="Paperlogy 7 Bold" pitchFamily="2" charset="-127"/>
                <a:ea typeface="Paperlogy 7 Bold" pitchFamily="2" charset="-127"/>
                <a:cs typeface="Arial" pitchFamily="34" charset="-120"/>
              </a:rPr>
              <a:t> </a:t>
            </a:r>
          </a:p>
          <a:p>
            <a:pPr marL="0" indent="0" algn="ctr">
              <a:lnSpc>
                <a:spcPct val="112725"/>
              </a:lnSpc>
              <a:buNone/>
            </a:pPr>
            <a:r>
              <a:rPr lang="en-US" sz="1088" b="1" kern="0" spc="-11" dirty="0" err="1">
                <a:solidFill>
                  <a:srgbClr val="3A2C24"/>
                </a:solidFill>
                <a:latin typeface="Paperlogy 7 Bold" pitchFamily="2" charset="-127"/>
                <a:ea typeface="Paperlogy 7 Bold" pitchFamily="2" charset="-127"/>
                <a:cs typeface="Arial" pitchFamily="34" charset="-120"/>
              </a:rPr>
              <a:t>가입하기</a:t>
            </a:r>
            <a:r>
              <a:rPr lang="en-US" sz="1088" b="1" kern="0" spc="-11" dirty="0">
                <a:solidFill>
                  <a:srgbClr val="3A2C24"/>
                </a:solidFill>
                <a:latin typeface="Paperlogy 7 Bold" pitchFamily="2" charset="-127"/>
                <a:ea typeface="Paperlogy 7 Bold" pitchFamily="2" charset="-127"/>
                <a:cs typeface="Arial" pitchFamily="34" charset="-120"/>
              </a:rPr>
              <a:t> 좋은 상품</a:t>
            </a:r>
            <a:endParaRPr lang="en-US" sz="1088" dirty="0"/>
          </a:p>
        </p:txBody>
      </p:sp>
      <p:sp>
        <p:nvSpPr>
          <p:cNvPr id="242" name="Text 23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43" name="Text 23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44" name="Text 24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951566"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이유_ 삼성화재 – New 내돈내삼</a:t>
            </a:r>
            <a:endParaRPr lang="en-US" sz="2475" dirty="0"/>
          </a:p>
        </p:txBody>
      </p:sp>
      <p:sp>
        <p:nvSpPr>
          <p:cNvPr id="3" name="Shape 1"/>
          <p:cNvSpPr/>
          <p:nvPr/>
        </p:nvSpPr>
        <p:spPr>
          <a:xfrm>
            <a:off x="8875682" y="340821"/>
            <a:ext cx="1287472"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비급여 암 통합치료</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458657"/>
            <a:ext cx="1428740" cy="1263180"/>
          </a:xfrm>
          <a:prstGeom prst="roundRect">
            <a:avLst>
              <a:gd name="adj" fmla="val 12065"/>
            </a:avLst>
          </a:prstGeom>
          <a:solidFill>
            <a:srgbClr val="F6E2D3"/>
          </a:solidFill>
          <a:ln/>
        </p:spPr>
        <p:txBody>
          <a:bodyPr/>
          <a:lstStyle/>
          <a:p>
            <a:endParaRPr lang="ko-KR" altLang="en-US"/>
          </a:p>
        </p:txBody>
      </p:sp>
      <p:sp>
        <p:nvSpPr>
          <p:cNvPr id="7" name="Text 5"/>
          <p:cNvSpPr/>
          <p:nvPr/>
        </p:nvSpPr>
        <p:spPr>
          <a:xfrm>
            <a:off x="495263" y="1458657"/>
            <a:ext cx="1504940" cy="1301280"/>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458657"/>
            <a:ext cx="8086765" cy="1263180"/>
          </a:xfrm>
          <a:prstGeom prst="roundRect">
            <a:avLst>
              <a:gd name="adj" fmla="val 12065"/>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1902959"/>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749589"/>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 연령 – 16세 - 70세</a:t>
            </a:r>
            <a:endParaRPr lang="en-US" sz="1538" dirty="0"/>
          </a:p>
        </p:txBody>
      </p:sp>
      <p:sp>
        <p:nvSpPr>
          <p:cNvPr id="11" name="Shape 9"/>
          <p:cNvSpPr/>
          <p:nvPr/>
        </p:nvSpPr>
        <p:spPr>
          <a:xfrm>
            <a:off x="2424465" y="2281685"/>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2128315"/>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일반 납면요건 + 뇌혈관질환수술, 허혈성심장질환수술 추가</a:t>
            </a:r>
            <a:endParaRPr lang="en-US" sz="1538" dirty="0"/>
          </a:p>
        </p:txBody>
      </p:sp>
      <p:sp>
        <p:nvSpPr>
          <p:cNvPr id="13" name="Shape 11"/>
          <p:cNvSpPr/>
          <p:nvPr/>
        </p:nvSpPr>
        <p:spPr>
          <a:xfrm>
            <a:off x="533363" y="2874191"/>
            <a:ext cx="1428740" cy="1335893"/>
          </a:xfrm>
          <a:prstGeom prst="roundRect">
            <a:avLst>
              <a:gd name="adj" fmla="val 11408"/>
            </a:avLst>
          </a:prstGeom>
          <a:solidFill>
            <a:srgbClr val="CF7446"/>
          </a:solidFill>
          <a:ln/>
        </p:spPr>
        <p:txBody>
          <a:bodyPr/>
          <a:lstStyle/>
          <a:p>
            <a:endParaRPr lang="ko-KR" altLang="en-US"/>
          </a:p>
        </p:txBody>
      </p:sp>
      <p:sp>
        <p:nvSpPr>
          <p:cNvPr id="14" name="Text 12"/>
          <p:cNvSpPr/>
          <p:nvPr/>
        </p:nvSpPr>
        <p:spPr>
          <a:xfrm>
            <a:off x="495263" y="2874191"/>
            <a:ext cx="1504940" cy="1373993"/>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5" name="Shape 13"/>
          <p:cNvSpPr/>
          <p:nvPr/>
        </p:nvSpPr>
        <p:spPr>
          <a:xfrm>
            <a:off x="2076389" y="2874191"/>
            <a:ext cx="8086765" cy="1335893"/>
          </a:xfrm>
          <a:prstGeom prst="roundRect">
            <a:avLst>
              <a:gd name="adj" fmla="val 11408"/>
            </a:avLst>
          </a:prstGeom>
          <a:solidFill>
            <a:srgbClr val="FCF4EE"/>
          </a:solidFill>
          <a:ln w="5217">
            <a:solidFill>
              <a:srgbClr val="F6E2D3"/>
            </a:solidFill>
            <a:prstDash val="solid"/>
          </a:ln>
        </p:spPr>
        <p:txBody>
          <a:bodyPr/>
          <a:lstStyle/>
          <a:p>
            <a:endParaRPr lang="ko-KR" altLang="en-US"/>
          </a:p>
        </p:txBody>
      </p:sp>
      <p:sp>
        <p:nvSpPr>
          <p:cNvPr id="16" name="Shape 14"/>
          <p:cNvSpPr/>
          <p:nvPr/>
        </p:nvSpPr>
        <p:spPr>
          <a:xfrm>
            <a:off x="2424465" y="3334145"/>
            <a:ext cx="47606" cy="47606"/>
          </a:xfrm>
          <a:prstGeom prst="ellipse">
            <a:avLst/>
          </a:prstGeom>
          <a:solidFill>
            <a:srgbClr val="CF7446"/>
          </a:solidFill>
          <a:ln/>
        </p:spPr>
        <p:txBody>
          <a:bodyPr/>
          <a:lstStyle/>
          <a:p>
            <a:endParaRPr lang="ko-KR" altLang="en-US"/>
          </a:p>
        </p:txBody>
      </p:sp>
      <p:sp>
        <p:nvSpPr>
          <p:cNvPr id="17" name="Text 15"/>
          <p:cNvSpPr/>
          <p:nvPr/>
        </p:nvSpPr>
        <p:spPr>
          <a:xfrm>
            <a:off x="2567281" y="3165124"/>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타사와 달리 주요치료에서 기타피부암, 갑상선암도 동일 가입금액 보장</a:t>
            </a:r>
            <a:endParaRPr lang="en-US" sz="1725" dirty="0"/>
          </a:p>
        </p:txBody>
      </p:sp>
      <p:sp>
        <p:nvSpPr>
          <p:cNvPr id="18" name="Shape 16"/>
          <p:cNvSpPr/>
          <p:nvPr/>
        </p:nvSpPr>
        <p:spPr>
          <a:xfrm>
            <a:off x="2424465" y="3749227"/>
            <a:ext cx="47606" cy="47606"/>
          </a:xfrm>
          <a:prstGeom prst="ellipse">
            <a:avLst/>
          </a:prstGeom>
          <a:solidFill>
            <a:srgbClr val="CF7446"/>
          </a:solidFill>
          <a:ln/>
        </p:spPr>
        <p:txBody>
          <a:bodyPr/>
          <a:lstStyle/>
          <a:p>
            <a:endParaRPr lang="ko-KR" altLang="en-US"/>
          </a:p>
        </p:txBody>
      </p:sp>
      <p:sp>
        <p:nvSpPr>
          <p:cNvPr id="19" name="Text 17"/>
          <p:cNvSpPr/>
          <p:nvPr/>
        </p:nvSpPr>
        <p:spPr>
          <a:xfrm>
            <a:off x="2567281" y="3580206"/>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전립선/갑상선도 타사대비 2배 보장</a:t>
            </a:r>
            <a:endParaRPr lang="en-US" sz="1725" dirty="0"/>
          </a:p>
        </p:txBody>
      </p:sp>
      <p:pic>
        <p:nvPicPr>
          <p:cNvPr id="20" name="Image 0" descr="preencoded.png"/>
          <p:cNvPicPr>
            <a:picLocks noChangeAspect="1"/>
          </p:cNvPicPr>
          <p:nvPr/>
        </p:nvPicPr>
        <p:blipFill>
          <a:blip r:embed="rId3"/>
          <a:stretch>
            <a:fillRect/>
          </a:stretch>
        </p:blipFill>
        <p:spPr>
          <a:xfrm>
            <a:off x="9205498" y="3237347"/>
            <a:ext cx="609581" cy="609581"/>
          </a:xfrm>
          <a:prstGeom prst="rect">
            <a:avLst/>
          </a:prstGeom>
        </p:spPr>
      </p:pic>
      <p:sp>
        <p:nvSpPr>
          <p:cNvPr id="21" name="Shape 18"/>
          <p:cNvSpPr/>
          <p:nvPr/>
        </p:nvSpPr>
        <p:spPr>
          <a:xfrm>
            <a:off x="533363" y="4362438"/>
            <a:ext cx="1428740" cy="2065466"/>
          </a:xfrm>
          <a:prstGeom prst="roundRect">
            <a:avLst>
              <a:gd name="adj" fmla="val 10667"/>
            </a:avLst>
          </a:prstGeom>
          <a:solidFill>
            <a:srgbClr val="F6E2D3"/>
          </a:solidFill>
          <a:ln/>
        </p:spPr>
        <p:txBody>
          <a:bodyPr/>
          <a:lstStyle/>
          <a:p>
            <a:endParaRPr lang="ko-KR" altLang="en-US"/>
          </a:p>
        </p:txBody>
      </p:sp>
      <p:sp>
        <p:nvSpPr>
          <p:cNvPr id="22" name="Text 19"/>
          <p:cNvSpPr/>
          <p:nvPr/>
        </p:nvSpPr>
        <p:spPr>
          <a:xfrm>
            <a:off x="963688" y="5120379"/>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3" name="Text 20"/>
          <p:cNvSpPr/>
          <p:nvPr/>
        </p:nvSpPr>
        <p:spPr>
          <a:xfrm>
            <a:off x="963688" y="5416039"/>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4" name="Shape 21"/>
          <p:cNvSpPr/>
          <p:nvPr/>
        </p:nvSpPr>
        <p:spPr>
          <a:xfrm>
            <a:off x="2076389" y="4362438"/>
            <a:ext cx="8086765" cy="2065466"/>
          </a:xfrm>
          <a:prstGeom prst="roundRect">
            <a:avLst>
              <a:gd name="adj" fmla="val 7378"/>
            </a:avLst>
          </a:prstGeom>
          <a:solidFill>
            <a:srgbClr val="FFFFFF"/>
          </a:solidFill>
          <a:ln w="5217">
            <a:solidFill>
              <a:srgbClr val="EADFD3"/>
            </a:solidFill>
            <a:prstDash val="solid"/>
          </a:ln>
        </p:spPr>
        <p:txBody>
          <a:bodyPr/>
          <a:lstStyle/>
          <a:p>
            <a:endParaRPr lang="ko-KR" altLang="en-US"/>
          </a:p>
        </p:txBody>
      </p:sp>
      <p:sp>
        <p:nvSpPr>
          <p:cNvPr id="25" name="Shape 22"/>
          <p:cNvSpPr/>
          <p:nvPr/>
        </p:nvSpPr>
        <p:spPr>
          <a:xfrm>
            <a:off x="2424465" y="4838043"/>
            <a:ext cx="47606" cy="47606"/>
          </a:xfrm>
          <a:prstGeom prst="ellipse">
            <a:avLst/>
          </a:prstGeom>
          <a:solidFill>
            <a:srgbClr val="A69687"/>
          </a:solidFill>
          <a:ln/>
        </p:spPr>
        <p:txBody>
          <a:bodyPr/>
          <a:lstStyle/>
          <a:p>
            <a:endParaRPr lang="ko-KR" altLang="en-US"/>
          </a:p>
        </p:txBody>
      </p:sp>
      <p:sp>
        <p:nvSpPr>
          <p:cNvPr id="26" name="Text 23"/>
          <p:cNvSpPr/>
          <p:nvPr/>
        </p:nvSpPr>
        <p:spPr>
          <a:xfrm>
            <a:off x="2567281" y="4653371"/>
            <a:ext cx="7465231" cy="1521701"/>
          </a:xfrm>
          <a:prstGeom prst="rect">
            <a:avLst/>
          </a:prstGeom>
          <a:noFill/>
          <a:ln/>
        </p:spPr>
        <p:txBody>
          <a:bodyPr wrap="square" lIns="25400" tIns="25400" rIns="25400" bIns="25400" rtlCol="0" anchor="t">
            <a:normAutofit lnSpcReduction="10000"/>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지금 볼 때는 대부분의 치료가 급여화 되어있다고 생각할 수 있지만, 만약 내가 걸렸을 때 치료제가 아직 비급여라면, 돈 때문에 치료를 포기할 수 있을까요? 내가 돈이 없다면, 가족들은 </a:t>
            </a:r>
            <a:r>
              <a:rPr lang="en-US" sz="1538" b="1" dirty="0" err="1">
                <a:solidFill>
                  <a:srgbClr val="3A2C24"/>
                </a:solidFill>
                <a:latin typeface="Paperlogy 7 Bold" pitchFamily="2" charset="-127"/>
                <a:ea typeface="Paperlogy 7 Bold" pitchFamily="2" charset="-127"/>
                <a:cs typeface="Arial" pitchFamily="34" charset="-120"/>
              </a:rPr>
              <a:t>빚을</a:t>
            </a:r>
            <a:r>
              <a:rPr lang="en-US" sz="1538" b="1" dirty="0">
                <a:solidFill>
                  <a:srgbClr val="3A2C24"/>
                </a:solidFill>
                <a:latin typeface="Paperlogy 7 Bold" pitchFamily="2" charset="-127"/>
                <a:ea typeface="Paperlogy 7 Bold" pitchFamily="2" charset="-127"/>
                <a:cs typeface="Arial" pitchFamily="34" charset="-120"/>
              </a:rPr>
              <a:t> </a:t>
            </a:r>
            <a:r>
              <a:rPr lang="en-US" sz="1538" b="1" dirty="0" err="1">
                <a:solidFill>
                  <a:srgbClr val="3A2C24"/>
                </a:solidFill>
                <a:latin typeface="Paperlogy 7 Bold" pitchFamily="2" charset="-127"/>
                <a:ea typeface="Paperlogy 7 Bold" pitchFamily="2" charset="-127"/>
                <a:cs typeface="Arial" pitchFamily="34" charset="-120"/>
              </a:rPr>
              <a:t>져서</a:t>
            </a:r>
            <a:r>
              <a:rPr lang="ko-KR" altLang="en-US" sz="1538" b="1" dirty="0">
                <a:solidFill>
                  <a:srgbClr val="3A2C24"/>
                </a:solidFill>
                <a:latin typeface="Paperlogy 7 Bold" pitchFamily="2" charset="-127"/>
                <a:ea typeface="Paperlogy 7 Bold" pitchFamily="2" charset="-127"/>
                <a:cs typeface="Arial" pitchFamily="34" charset="-120"/>
              </a:rPr>
              <a:t>   </a:t>
            </a:r>
            <a:r>
              <a:rPr lang="en-US" sz="1538" b="1" dirty="0" err="1">
                <a:solidFill>
                  <a:srgbClr val="3A2C24"/>
                </a:solidFill>
                <a:latin typeface="Paperlogy 7 Bold" pitchFamily="2" charset="-127"/>
                <a:ea typeface="Paperlogy 7 Bold" pitchFamily="2" charset="-127"/>
                <a:cs typeface="Arial" pitchFamily="34" charset="-120"/>
              </a:rPr>
              <a:t>라도</a:t>
            </a:r>
            <a:r>
              <a:rPr lang="en-US" sz="1538" b="1" dirty="0">
                <a:solidFill>
                  <a:srgbClr val="3A2C24"/>
                </a:solidFill>
                <a:latin typeface="Paperlogy 7 Bold" pitchFamily="2" charset="-127"/>
                <a:ea typeface="Paperlogy 7 Bold" pitchFamily="2" charset="-127"/>
                <a:cs typeface="Arial" pitchFamily="34" charset="-120"/>
              </a:rPr>
              <a:t> 치료를 시키겠죠. 그런 재난적 상황을 단 돈 2만원 수준으로 준비를 할 수 있는 플랜, 비급여 통합치료비!</a:t>
            </a:r>
            <a:endParaRPr lang="en-US" sz="1538" dirty="0"/>
          </a:p>
        </p:txBody>
      </p:sp>
      <p:sp>
        <p:nvSpPr>
          <p:cNvPr id="27" name="Text 24"/>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8" name="Text 25"/>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 name="Text 26"/>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47653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간병비, 물가보다 두 배 빨리 오른다… 하루 12만~14만원</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간병인 사용일당</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FFFFF"/>
          </a:solidFill>
          <a:ln w="5217">
            <a:solidFill>
              <a:srgbClr val="EADFD3"/>
            </a:solidFill>
            <a:prstDash val="solid"/>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881438" y="1367195"/>
            <a:ext cx="1196907" cy="247647"/>
          </a:xfrm>
          <a:prstGeom prst="rect">
            <a:avLst/>
          </a:prstGeom>
        </p:spPr>
      </p:pic>
      <p:sp>
        <p:nvSpPr>
          <p:cNvPr id="8" name="Shape 5"/>
          <p:cNvSpPr/>
          <p:nvPr/>
        </p:nvSpPr>
        <p:spPr>
          <a:xfrm>
            <a:off x="2192631" y="1385129"/>
            <a:ext cx="533200" cy="211780"/>
          </a:xfrm>
          <a:prstGeom prst="roundRect">
            <a:avLst>
              <a:gd name="adj" fmla="val 26986"/>
            </a:avLst>
          </a:prstGeom>
          <a:solidFill>
            <a:srgbClr val="F6E2D3"/>
          </a:solidFill>
          <a:ln/>
        </p:spPr>
        <p:txBody>
          <a:bodyPr/>
          <a:lstStyle/>
          <a:p>
            <a:endParaRPr lang="ko-KR" altLang="en-US"/>
          </a:p>
        </p:txBody>
      </p:sp>
      <p:sp>
        <p:nvSpPr>
          <p:cNvPr id="9" name="Text 6"/>
          <p:cNvSpPr/>
          <p:nvPr/>
        </p:nvSpPr>
        <p:spPr>
          <a:xfrm>
            <a:off x="2287881" y="1423229"/>
            <a:ext cx="418900" cy="173680"/>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9A4A27"/>
                </a:solidFill>
                <a:latin typeface="Paperlogy 7 Bold" pitchFamily="2" charset="-127"/>
                <a:ea typeface="Paperlogy 7 Bold" pitchFamily="2" charset="-127"/>
                <a:cs typeface="Arial" pitchFamily="34" charset="-120"/>
              </a:rPr>
              <a:t>NEWS</a:t>
            </a:r>
            <a:endParaRPr lang="en-US" sz="900" dirty="0"/>
          </a:p>
        </p:txBody>
      </p:sp>
      <p:sp>
        <p:nvSpPr>
          <p:cNvPr id="10" name="Text 7"/>
          <p:cNvSpPr/>
          <p:nvPr/>
        </p:nvSpPr>
        <p:spPr>
          <a:xfrm>
            <a:off x="8088559" y="1425806"/>
            <a:ext cx="1899172"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배희 기자 입력: 2026.08.31 14:49</a:t>
            </a:r>
            <a:endParaRPr lang="en-US" sz="900" dirty="0"/>
          </a:p>
        </p:txBody>
      </p:sp>
      <p:sp>
        <p:nvSpPr>
          <p:cNvPr id="11" name="Text 8"/>
          <p:cNvSpPr/>
          <p:nvPr/>
        </p:nvSpPr>
        <p:spPr>
          <a:xfrm>
            <a:off x="881438" y="1767197"/>
            <a:ext cx="9827004" cy="353487"/>
          </a:xfrm>
          <a:prstGeom prst="rect">
            <a:avLst/>
          </a:prstGeom>
          <a:noFill/>
          <a:ln/>
        </p:spPr>
        <p:txBody>
          <a:bodyPr wrap="square" lIns="25400" tIns="25400" rIns="25400" bIns="25400" rtlCol="0" anchor="t">
            <a:normAutofit lnSpcReduction="10000"/>
          </a:bodyPr>
          <a:lstStyle/>
          <a:p>
            <a:pPr marL="0" indent="0" algn="l">
              <a:lnSpc>
                <a:spcPct val="120937"/>
              </a:lnSpc>
              <a:buNone/>
            </a:pPr>
            <a:r>
              <a:rPr lang="en-US" sz="1800" b="1" kern="0" spc="-45" dirty="0">
                <a:solidFill>
                  <a:srgbClr val="3A2C24"/>
                </a:solidFill>
                <a:latin typeface="Paperlogy 7 Bold" pitchFamily="2" charset="-127"/>
                <a:ea typeface="Paperlogy 7 Bold" pitchFamily="2" charset="-127"/>
                <a:cs typeface="Arial" pitchFamily="34" charset="-120"/>
              </a:rPr>
              <a:t>급등하는 간병비…노후 대비 전략은</a:t>
            </a:r>
            <a:endParaRPr lang="en-US" sz="1800" dirty="0"/>
          </a:p>
        </p:txBody>
      </p:sp>
      <p:sp>
        <p:nvSpPr>
          <p:cNvPr id="12" name="Shape 9"/>
          <p:cNvSpPr/>
          <p:nvPr/>
        </p:nvSpPr>
        <p:spPr>
          <a:xfrm>
            <a:off x="881438" y="2234939"/>
            <a:ext cx="8933640" cy="9525"/>
          </a:xfrm>
          <a:prstGeom prst="rect">
            <a:avLst/>
          </a:prstGeom>
          <a:solidFill>
            <a:srgbClr val="EADFD3"/>
          </a:solidFill>
          <a:ln/>
        </p:spPr>
        <p:txBody>
          <a:bodyPr/>
          <a:lstStyle/>
          <a:p>
            <a:endParaRPr lang="ko-KR" altLang="en-US"/>
          </a:p>
        </p:txBody>
      </p:sp>
      <p:sp>
        <p:nvSpPr>
          <p:cNvPr id="13" name="Text 10"/>
          <p:cNvSpPr/>
          <p:nvPr/>
        </p:nvSpPr>
        <p:spPr>
          <a:xfrm>
            <a:off x="881438" y="2415824"/>
            <a:ext cx="2870997" cy="869895"/>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초고령사회에 접어들면서 간병비 부담이 노후 준비의 주요 변수로 떠오르고 있습니다. 간병비가 일반 물가보다 빠르게 오르는 가운데 보장 금액과 서비스를 잘 따져봐야 한다는 조언이 나옵니다.</a:t>
            </a:r>
            <a:endParaRPr lang="en-US" sz="975" dirty="0"/>
          </a:p>
        </p:txBody>
      </p:sp>
      <p:sp>
        <p:nvSpPr>
          <p:cNvPr id="14" name="Text 11"/>
          <p:cNvSpPr/>
          <p:nvPr/>
        </p:nvSpPr>
        <p:spPr>
          <a:xfrm>
            <a:off x="881438" y="3321880"/>
            <a:ext cx="2870997" cy="869895"/>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31일 국가데이터처에 따르면 지난 7월 기준 간병도우미료 지수는 2020년과 비교해 45% 상승했습니다. 같은 기간 소비자물가지수가 19.77% 오르면서 간병비가 일반 물가보다 두 배 이상 빠르게 올랐습니다.</a:t>
            </a:r>
            <a:endParaRPr lang="en-US" sz="975" dirty="0"/>
          </a:p>
        </p:txBody>
      </p:sp>
      <p:sp>
        <p:nvSpPr>
          <p:cNvPr id="15" name="Text 12"/>
          <p:cNvSpPr/>
          <p:nvPr/>
        </p:nvSpPr>
        <p:spPr>
          <a:xfrm>
            <a:off x="881438" y="4227936"/>
            <a:ext cx="2870997" cy="1909638"/>
          </a:xfrm>
          <a:prstGeom prst="rect">
            <a:avLst/>
          </a:prstGeom>
          <a:noFill/>
          <a:ln/>
        </p:spPr>
        <p:txBody>
          <a:bodyPr wrap="square" lIns="25400" tIns="25400" rIns="25400" bIns="25400" rtlCol="0" anchor="t">
            <a:normAutofit/>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늘어나는 고령층 돌봄 수요에 보험업계에서도 간병비를 보장하는 상품이 주요 상품군으로 자리 잡았습니다. 현재 보험사들의 간병인 사용일당 보장은 15만~20만원 수준입니다. 한때 최대 30만원까지 보장하는 상품도 나왔지만 금융당국이 국민건강보험 재정과 과당경쟁 등을 우려하면서 보장 한도를 낮추게 했습니다. 이후 주요 보험사들이 10만~15만원 수준으로 보장액을 낮췄지만, 한시적으로 최대 20만원까지 보장하는 등 경쟁을 이어가고 있습니다.</a:t>
            </a:r>
            <a:endParaRPr lang="en-US" sz="975" dirty="0"/>
          </a:p>
        </p:txBody>
      </p:sp>
      <p:sp>
        <p:nvSpPr>
          <p:cNvPr id="16" name="Text 13"/>
          <p:cNvSpPr/>
          <p:nvPr/>
        </p:nvSpPr>
        <p:spPr>
          <a:xfrm>
            <a:off x="3954611" y="2415824"/>
            <a:ext cx="2870997" cy="1909638"/>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다만 지금 최대 한도로 가입한다고 해도 노후에 충분한 보장을 받을 수 있을지 불확실합니다. 서울간병인협회에 따르면 하루 평균 간병인 사용일당은 12만~14만원 수준으로, 한 달이면 300만~400만원에 달합니다. 추후 간병비가 급격하게 상승할 경우 가입한 금액으로 충분한 보장이 어려울 수 있습니다. 보험업계 관계자는 "간병비가 상당히 많이 올랐다"며 "지금 가입한 간병 보험을 20~30년 뒤에 사용한다고 하면 지금 가입한 15만~20만원 금액을 상회할 가능성이 높다"고 말했습니다.</a:t>
            </a:r>
            <a:endParaRPr lang="en-US" sz="975" dirty="0"/>
          </a:p>
        </p:txBody>
      </p:sp>
      <p:sp>
        <p:nvSpPr>
          <p:cNvPr id="17" name="Text 14"/>
          <p:cNvSpPr/>
          <p:nvPr/>
        </p:nvSpPr>
        <p:spPr>
          <a:xfrm>
            <a:off x="3954611" y="4361623"/>
            <a:ext cx="2870997" cy="1285792"/>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간병인을 직접 지원하는 현물 급부형 담보도 대안으로 거론됩니다. 메리츠화재는 2012년 처음으로 보험금 지급 대신 실제 간병인을 파견하는 간병인 지원 서비스를 개발해 운영하고 있습니다. 질병이나 상해로 병원에 입원해 치료를 받을 경우 가입한 보험에 따라 간병인 지원 서비스를 신청하면 보험사가 직접 간병인을 파견하는 방식입니다.</a:t>
            </a:r>
            <a:endParaRPr lang="en-US" sz="975" dirty="0"/>
          </a:p>
        </p:txBody>
      </p:sp>
      <p:sp>
        <p:nvSpPr>
          <p:cNvPr id="18" name="Text 15"/>
          <p:cNvSpPr/>
          <p:nvPr/>
        </p:nvSpPr>
        <p:spPr>
          <a:xfrm>
            <a:off x="7058882" y="2415824"/>
            <a:ext cx="2870997" cy="734306"/>
          </a:xfrm>
          <a:prstGeom prst="rect">
            <a:avLst/>
          </a:prstGeom>
          <a:noFill/>
          <a:ln/>
        </p:spPr>
        <p:txBody>
          <a:bodyPr wrap="square" lIns="25400" tIns="25400" rIns="25400" bIns="25400" rtlCol="0" anchor="t">
            <a:normAutofit/>
          </a:bodyPr>
          <a:lstStyle/>
          <a:p>
            <a:pPr marL="0" indent="0" algn="just">
              <a:lnSpc>
                <a:spcPct val="147682"/>
              </a:lnSpc>
              <a:buNone/>
            </a:pPr>
            <a:r>
              <a:rPr lang="en-US" sz="975" b="1" kern="0" spc="-10" dirty="0" err="1">
                <a:solidFill>
                  <a:srgbClr val="4A3B31"/>
                </a:solidFill>
                <a:latin typeface="Paperlogy 7 Bold" pitchFamily="2" charset="-127"/>
                <a:ea typeface="Paperlogy 7 Bold" pitchFamily="2" charset="-127"/>
                <a:cs typeface="Arial" pitchFamily="34" charset="-120"/>
              </a:rPr>
              <a:t>보험업계</a:t>
            </a:r>
            <a:r>
              <a:rPr lang="en-US" sz="975" b="1" kern="0" spc="-10" dirty="0">
                <a:solidFill>
                  <a:srgbClr val="4A3B31"/>
                </a:solidFill>
                <a:latin typeface="Paperlogy 7 Bold" pitchFamily="2" charset="-127"/>
                <a:ea typeface="Paperlogy 7 Bold" pitchFamily="2" charset="-127"/>
                <a:cs typeface="Arial" pitchFamily="34" charset="-120"/>
              </a:rPr>
              <a:t> 관계자는 "물가상승률을 고려하면 가입 금액이 아닌 간병인을 직접 파견해 주는 방식도 고려해볼 만하다"고 말했습니다.</a:t>
            </a:r>
            <a:endParaRPr lang="en-US" sz="975" dirty="0"/>
          </a:p>
        </p:txBody>
      </p:sp>
      <p:sp>
        <p:nvSpPr>
          <p:cNvPr id="19" name="Text 16"/>
          <p:cNvSpPr/>
          <p:nvPr/>
        </p:nvSpPr>
        <p:spPr>
          <a:xfrm>
            <a:off x="7027702" y="3150130"/>
            <a:ext cx="2870997" cy="1493741"/>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이런 가운데 간병비 부담을 낮추기 위한 공적 지원도 확대되고 있습니다. 보건당국은 내년 상반기부터 100병상 이상 요양병원을 중심으로 간병비 급여화 시범사업을 진행하는데요. 대상과 기관을 단계적으로 확대해 2030년까지 요양병원 중증환자 8만5000명에게 간병급여를 적용해 간병비 본인 부담률을 현행 100%에서 30% 안팎으로 경감한다는 계획입니다.</a:t>
            </a:r>
            <a:endParaRPr lang="en-US" sz="975" dirty="0"/>
          </a:p>
        </p:txBody>
      </p:sp>
      <p:sp>
        <p:nvSpPr>
          <p:cNvPr id="20" name="Text 17"/>
          <p:cNvSpPr/>
          <p:nvPr/>
        </p:nvSpPr>
        <p:spPr>
          <a:xfrm>
            <a:off x="7027702" y="4680032"/>
            <a:ext cx="2870997" cy="1285792"/>
          </a:xfrm>
          <a:prstGeom prst="rect">
            <a:avLst/>
          </a:prstGeom>
          <a:noFill/>
          <a:ln/>
        </p:spPr>
        <p:txBody>
          <a:bodyPr wrap="square" lIns="25400" tIns="25400" rIns="25400" bIns="25400" rtlCol="0" anchor="t">
            <a:normAutofit lnSpcReduction="10000"/>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다만 가정에서 이뤄지는 일상적인 재가 돌봄이나 일반 종합병원 입원 과정에서 발생하는 간병 공백까지 폭넓게 지원하기에는 한계가 있는 만큼 민간 간병보험은 유효한 보완책이라는 평가입니다. 보험 가입 시에는 보장 금액과 보험료, 실제 간병 서비스 제공 방식, 간병 체계 등을 종합적으로 고려해야 합니다.</a:t>
            </a:r>
            <a:endParaRPr lang="en-US" sz="975" dirty="0"/>
          </a:p>
        </p:txBody>
      </p:sp>
      <p:sp>
        <p:nvSpPr>
          <p:cNvPr id="21" name="Text 18"/>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2" name="Text 19"/>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3" name="Text 20"/>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39</a:t>
            </a:r>
            <a:endParaRPr lang="en-US" sz="900" dirty="0"/>
          </a:p>
        </p:txBody>
      </p:sp>
      <p:sp>
        <p:nvSpPr>
          <p:cNvPr id="24" name="Text 15">
            <a:extLst>
              <a:ext uri="{FF2B5EF4-FFF2-40B4-BE49-F238E27FC236}">
                <a16:creationId xmlns:a16="http://schemas.microsoft.com/office/drawing/2014/main" id="{2AABA72F-D848-0C0F-B90B-2F0B76A7E7E7}"/>
              </a:ext>
            </a:extLst>
          </p:cNvPr>
          <p:cNvSpPr/>
          <p:nvPr/>
        </p:nvSpPr>
        <p:spPr>
          <a:xfrm>
            <a:off x="3954611" y="5650581"/>
            <a:ext cx="2870997" cy="946989"/>
          </a:xfrm>
          <a:prstGeom prst="rect">
            <a:avLst/>
          </a:prstGeom>
          <a:noFill/>
          <a:ln/>
        </p:spPr>
        <p:txBody>
          <a:bodyPr wrap="square" lIns="25400" tIns="25400" rIns="25400" bIns="25400" rtlCol="0" anchor="t">
            <a:normAutofit/>
          </a:bodyPr>
          <a:lstStyle/>
          <a:p>
            <a:pPr marL="0" indent="0" algn="just">
              <a:lnSpc>
                <a:spcPct val="147682"/>
              </a:lnSpc>
              <a:buNone/>
            </a:pPr>
            <a:r>
              <a:rPr lang="en-US" sz="975" b="1" kern="0" spc="-10" dirty="0">
                <a:solidFill>
                  <a:srgbClr val="4A3B31"/>
                </a:solidFill>
                <a:latin typeface="Paperlogy 7 Bold" pitchFamily="2" charset="-127"/>
                <a:ea typeface="Paperlogy 7 Bold" pitchFamily="2" charset="-127"/>
                <a:cs typeface="Arial" pitchFamily="34" charset="-120"/>
              </a:rPr>
              <a:t>삼성화재(000810)도 최근 인건비 상승 부담이 없다는 점을 강조한 간병인 지원 특약을 내놓았는데요. 보험기간 중 상해나 질병으로 간병이 필요할 때 삼성화재 제휴 간병업체를 통해 간병인을 지원받을 수 있도록 했습니다. </a:t>
            </a:r>
            <a:endParaRPr lang="en-US" sz="975"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747653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간병비, 물가보다 두 배 빨리 오른다… 하루 12만~14만원</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간병인 사용일당</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95338"/>
            <a:ext cx="9629791" cy="5695967"/>
          </a:xfrm>
          <a:prstGeom prst="roundRect">
            <a:avLst>
              <a:gd name="adj" fmla="val 3010"/>
            </a:avLst>
          </a:prstGeom>
          <a:solidFill>
            <a:srgbClr val="FCF4EE"/>
          </a:solidFill>
          <a:ln w="5217">
            <a:solidFill>
              <a:srgbClr val="F6E2D3"/>
            </a:solidFill>
            <a:prstDash val="solid"/>
          </a:ln>
        </p:spPr>
        <p:txBody>
          <a:bodyPr/>
          <a:lstStyle/>
          <a:p>
            <a:endParaRPr lang="ko-KR" altLang="en-US"/>
          </a:p>
        </p:txBody>
      </p:sp>
      <p:sp>
        <p:nvSpPr>
          <p:cNvPr id="7" name="Shape 5"/>
          <p:cNvSpPr/>
          <p:nvPr/>
        </p:nvSpPr>
        <p:spPr>
          <a:xfrm>
            <a:off x="1112456" y="1310052"/>
            <a:ext cx="4223534" cy="5266538"/>
          </a:xfrm>
          <a:prstGeom prst="roundRect">
            <a:avLst>
              <a:gd name="adj" fmla="val 1804"/>
            </a:avLst>
          </a:prstGeom>
          <a:solidFill>
            <a:srgbClr val="FFFFFF"/>
          </a:solidFill>
          <a:ln/>
          <a:effectLst>
            <a:outerShdw blurRad="228600" dist="76200" dir="5400000" algn="bl" rotWithShape="0">
              <a:srgbClr val="5A3C28">
                <a:alpha val="12000"/>
              </a:srgbClr>
            </a:outerShdw>
          </a:effectLst>
        </p:spPr>
        <p:txBody>
          <a:bodyPr/>
          <a:lstStyle/>
          <a:p>
            <a:endParaRPr lang="ko-KR" altLang="en-US"/>
          </a:p>
        </p:txBody>
      </p:sp>
      <p:pic>
        <p:nvPicPr>
          <p:cNvPr id="8" name="Image 0" descr="preencoded.png"/>
          <p:cNvPicPr>
            <a:picLocks noChangeAspect="1"/>
          </p:cNvPicPr>
          <p:nvPr/>
        </p:nvPicPr>
        <p:blipFill>
          <a:blip r:embed="rId3"/>
          <a:srcRect t="-1" b="-1"/>
          <a:stretch/>
        </p:blipFill>
        <p:spPr>
          <a:xfrm>
            <a:off x="1112456" y="1310052"/>
            <a:ext cx="4223534" cy="5266538"/>
          </a:xfrm>
          <a:prstGeom prst="rect">
            <a:avLst/>
          </a:prstGeom>
        </p:spPr>
      </p:pic>
      <p:sp>
        <p:nvSpPr>
          <p:cNvPr id="9" name="Shape 6"/>
          <p:cNvSpPr/>
          <p:nvPr/>
        </p:nvSpPr>
        <p:spPr>
          <a:xfrm>
            <a:off x="5583637" y="1310052"/>
            <a:ext cx="4000424" cy="5266538"/>
          </a:xfrm>
          <a:prstGeom prst="rect">
            <a:avLst/>
          </a:prstGeom>
          <a:solidFill>
            <a:srgbClr val="7F7F7F">
              <a:alpha val="8000"/>
            </a:srgbClr>
          </a:solidFill>
          <a:ln/>
        </p:spPr>
        <p:txBody>
          <a:bodyPr/>
          <a:lstStyle/>
          <a:p>
            <a:endParaRPr lang="ko-KR" altLang="en-US"/>
          </a:p>
        </p:txBody>
      </p:sp>
      <p:pic>
        <p:nvPicPr>
          <p:cNvPr id="10" name="Image 1" descr="preencoded.png"/>
          <p:cNvPicPr>
            <a:picLocks noChangeAspect="1"/>
          </p:cNvPicPr>
          <p:nvPr/>
        </p:nvPicPr>
        <p:blipFill>
          <a:blip r:embed="rId4"/>
          <a:srcRect l="-882" r="-882"/>
          <a:stretch/>
        </p:blipFill>
        <p:spPr>
          <a:xfrm>
            <a:off x="5583637" y="1310052"/>
            <a:ext cx="4000424" cy="5266538"/>
          </a:xfrm>
          <a:prstGeom prst="rect">
            <a:avLst/>
          </a:prstGeom>
        </p:spPr>
      </p:pic>
      <p:sp>
        <p:nvSpPr>
          <p:cNvPr id="11" name="Text 7"/>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2" name="Text 8"/>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3" name="Text 9"/>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851925"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 흥국화재 – 든든한 3N5 초경증</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간병인 사용일당</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4123758" y="1095338"/>
            <a:ext cx="5282890"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9월 25일 기준 가입한도 및 보험료, 가입한도는 요양병원 외/요양병원/간호간병통합(실손 가입자 기준) 순서</a:t>
            </a:r>
            <a:endParaRPr lang="en-US" sz="900" dirty="0"/>
          </a:p>
        </p:txBody>
      </p:sp>
      <p:sp>
        <p:nvSpPr>
          <p:cNvPr id="7" name="Text 5"/>
          <p:cNvSpPr/>
          <p:nvPr/>
        </p:nvSpPr>
        <p:spPr>
          <a:xfrm>
            <a:off x="9078740" y="1095338"/>
            <a:ext cx="1160614"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*보험료 15/5/7만 기준</a:t>
            </a:r>
            <a:endParaRPr lang="en-US" sz="900" dirty="0"/>
          </a:p>
        </p:txBody>
      </p:sp>
      <p:sp>
        <p:nvSpPr>
          <p:cNvPr id="8" name="Shape 6"/>
          <p:cNvSpPr/>
          <p:nvPr/>
        </p:nvSpPr>
        <p:spPr>
          <a:xfrm>
            <a:off x="533363" y="1301900"/>
            <a:ext cx="9629791" cy="5489404"/>
          </a:xfrm>
          <a:prstGeom prst="roundRect">
            <a:avLst>
              <a:gd name="adj" fmla="val 2082"/>
            </a:avLst>
          </a:prstGeom>
          <a:solidFill>
            <a:srgbClr val="FFFFFF"/>
          </a:solidFill>
          <a:ln w="5217">
            <a:solidFill>
              <a:srgbClr val="D3B9A5"/>
            </a:solidFill>
            <a:prstDash val="solid"/>
          </a:ln>
        </p:spPr>
        <p:txBody>
          <a:bodyPr/>
          <a:lstStyle/>
          <a:p>
            <a:endParaRPr lang="ko-KR" altLang="en-US"/>
          </a:p>
        </p:txBody>
      </p:sp>
      <p:sp>
        <p:nvSpPr>
          <p:cNvPr id="9" name="Shape 7"/>
          <p:cNvSpPr/>
          <p:nvPr/>
        </p:nvSpPr>
        <p:spPr>
          <a:xfrm>
            <a:off x="538580" y="1307117"/>
            <a:ext cx="2404738" cy="381823"/>
          </a:xfrm>
          <a:prstGeom prst="rect">
            <a:avLst/>
          </a:prstGeom>
          <a:solidFill>
            <a:srgbClr val="CF7446"/>
          </a:solidFill>
          <a:ln/>
        </p:spPr>
        <p:txBody>
          <a:bodyPr/>
          <a:lstStyle/>
          <a:p>
            <a:endParaRPr lang="ko-KR" altLang="en-US"/>
          </a:p>
        </p:txBody>
      </p:sp>
      <p:sp>
        <p:nvSpPr>
          <p:cNvPr id="10" name="Text 8"/>
          <p:cNvSpPr/>
          <p:nvPr/>
        </p:nvSpPr>
        <p:spPr>
          <a:xfrm>
            <a:off x="557630" y="1345217"/>
            <a:ext cx="2366638" cy="34372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1" name="Shape 9"/>
          <p:cNvSpPr/>
          <p:nvPr/>
        </p:nvSpPr>
        <p:spPr>
          <a:xfrm>
            <a:off x="2943317" y="1307117"/>
            <a:ext cx="2404738" cy="381823"/>
          </a:xfrm>
          <a:prstGeom prst="rect">
            <a:avLst/>
          </a:prstGeom>
          <a:solidFill>
            <a:srgbClr val="9A4A27"/>
          </a:solidFill>
          <a:ln/>
        </p:spPr>
        <p:txBody>
          <a:bodyPr/>
          <a:lstStyle/>
          <a:p>
            <a:endParaRPr lang="ko-KR" altLang="en-US"/>
          </a:p>
        </p:txBody>
      </p:sp>
      <p:sp>
        <p:nvSpPr>
          <p:cNvPr id="12" name="Shape 10"/>
          <p:cNvSpPr/>
          <p:nvPr/>
        </p:nvSpPr>
        <p:spPr>
          <a:xfrm>
            <a:off x="2943317" y="1307117"/>
            <a:ext cx="9525" cy="381823"/>
          </a:xfrm>
          <a:prstGeom prst="rect">
            <a:avLst/>
          </a:prstGeom>
          <a:solidFill>
            <a:srgbClr val="FFFFFF">
              <a:alpha val="25000"/>
            </a:srgbClr>
          </a:solidFill>
          <a:ln/>
        </p:spPr>
        <p:txBody>
          <a:bodyPr/>
          <a:lstStyle/>
          <a:p>
            <a:endParaRPr lang="ko-KR" altLang="en-US"/>
          </a:p>
        </p:txBody>
      </p:sp>
      <p:pic>
        <p:nvPicPr>
          <p:cNvPr id="13" name="Image 0" descr="preencoded.png"/>
          <p:cNvPicPr>
            <a:picLocks noChangeAspect="1"/>
          </p:cNvPicPr>
          <p:nvPr/>
        </p:nvPicPr>
        <p:blipFill>
          <a:blip r:embed="rId3"/>
          <a:stretch>
            <a:fillRect/>
          </a:stretch>
        </p:blipFill>
        <p:spPr>
          <a:xfrm>
            <a:off x="3647294" y="1326600"/>
            <a:ext cx="239496" cy="342859"/>
          </a:xfrm>
          <a:prstGeom prst="rect">
            <a:avLst/>
          </a:prstGeom>
        </p:spPr>
      </p:pic>
      <p:sp>
        <p:nvSpPr>
          <p:cNvPr id="14" name="Text 11"/>
          <p:cNvSpPr/>
          <p:nvPr/>
        </p:nvSpPr>
        <p:spPr>
          <a:xfrm>
            <a:off x="3924826" y="1378037"/>
            <a:ext cx="762569" cy="278085"/>
          </a:xfrm>
          <a:prstGeom prst="rect">
            <a:avLst/>
          </a:prstGeom>
          <a:noFill/>
          <a:ln/>
        </p:spPr>
        <p:txBody>
          <a:bodyPr wrap="square" lIns="25400" tIns="25400" rIns="25400" bIns="25400" rtlCol="0" anchor="t">
            <a:normAutofit fontScale="92500" lnSpcReduction="10000"/>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흥국화재</a:t>
            </a:r>
            <a:endParaRPr lang="en-US" sz="1575" dirty="0"/>
          </a:p>
        </p:txBody>
      </p:sp>
      <p:sp>
        <p:nvSpPr>
          <p:cNvPr id="15" name="Shape 12"/>
          <p:cNvSpPr/>
          <p:nvPr/>
        </p:nvSpPr>
        <p:spPr>
          <a:xfrm>
            <a:off x="5348054" y="1307117"/>
            <a:ext cx="2404738" cy="381823"/>
          </a:xfrm>
          <a:prstGeom prst="rect">
            <a:avLst/>
          </a:prstGeom>
          <a:solidFill>
            <a:srgbClr val="CF7446"/>
          </a:solidFill>
          <a:ln/>
        </p:spPr>
        <p:txBody>
          <a:bodyPr/>
          <a:lstStyle/>
          <a:p>
            <a:endParaRPr lang="ko-KR" altLang="en-US"/>
          </a:p>
        </p:txBody>
      </p:sp>
      <p:sp>
        <p:nvSpPr>
          <p:cNvPr id="16" name="Shape 13"/>
          <p:cNvSpPr/>
          <p:nvPr/>
        </p:nvSpPr>
        <p:spPr>
          <a:xfrm>
            <a:off x="5348054" y="1307117"/>
            <a:ext cx="9525" cy="381823"/>
          </a:xfrm>
          <a:prstGeom prst="rect">
            <a:avLst/>
          </a:prstGeom>
          <a:solidFill>
            <a:srgbClr val="FFFFFF">
              <a:alpha val="25000"/>
            </a:srgbClr>
          </a:solidFill>
          <a:ln/>
        </p:spPr>
        <p:txBody>
          <a:bodyPr/>
          <a:lstStyle/>
          <a:p>
            <a:endParaRPr lang="ko-KR" altLang="en-US"/>
          </a:p>
        </p:txBody>
      </p:sp>
      <p:sp>
        <p:nvSpPr>
          <p:cNvPr id="17" name="Text 14"/>
          <p:cNvSpPr/>
          <p:nvPr/>
        </p:nvSpPr>
        <p:spPr>
          <a:xfrm>
            <a:off x="5372321" y="1345217"/>
            <a:ext cx="2361420" cy="34372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현대해상</a:t>
            </a:r>
            <a:endParaRPr lang="en-US" sz="1575" dirty="0"/>
          </a:p>
        </p:txBody>
      </p:sp>
      <p:sp>
        <p:nvSpPr>
          <p:cNvPr id="18" name="Shape 15"/>
          <p:cNvSpPr/>
          <p:nvPr/>
        </p:nvSpPr>
        <p:spPr>
          <a:xfrm>
            <a:off x="7752792" y="1307117"/>
            <a:ext cx="2405145" cy="381823"/>
          </a:xfrm>
          <a:prstGeom prst="rect">
            <a:avLst/>
          </a:prstGeom>
          <a:solidFill>
            <a:srgbClr val="CF7446"/>
          </a:solidFill>
          <a:ln/>
        </p:spPr>
        <p:txBody>
          <a:bodyPr/>
          <a:lstStyle/>
          <a:p>
            <a:endParaRPr lang="ko-KR" altLang="en-US"/>
          </a:p>
        </p:txBody>
      </p:sp>
      <p:sp>
        <p:nvSpPr>
          <p:cNvPr id="19" name="Shape 16"/>
          <p:cNvSpPr/>
          <p:nvPr/>
        </p:nvSpPr>
        <p:spPr>
          <a:xfrm>
            <a:off x="7752792" y="1307117"/>
            <a:ext cx="9525" cy="381823"/>
          </a:xfrm>
          <a:prstGeom prst="rect">
            <a:avLst/>
          </a:prstGeom>
          <a:solidFill>
            <a:srgbClr val="FFFFFF">
              <a:alpha val="25000"/>
            </a:srgbClr>
          </a:solidFill>
          <a:ln/>
        </p:spPr>
        <p:txBody>
          <a:bodyPr/>
          <a:lstStyle/>
          <a:p>
            <a:endParaRPr lang="ko-KR" altLang="en-US"/>
          </a:p>
        </p:txBody>
      </p:sp>
      <p:sp>
        <p:nvSpPr>
          <p:cNvPr id="20" name="Text 17"/>
          <p:cNvSpPr/>
          <p:nvPr/>
        </p:nvSpPr>
        <p:spPr>
          <a:xfrm>
            <a:off x="7777059" y="1345217"/>
            <a:ext cx="2361828" cy="343723"/>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0" dirty="0">
                <a:solidFill>
                  <a:srgbClr val="FFFFFF"/>
                </a:solidFill>
                <a:latin typeface="Paperlogy 7 Bold" pitchFamily="2" charset="-127"/>
                <a:ea typeface="Paperlogy 7 Bold" pitchFamily="2" charset="-127"/>
                <a:cs typeface="Arial" pitchFamily="34" charset="-120"/>
              </a:rPr>
              <a:t>DB손해보험</a:t>
            </a:r>
            <a:endParaRPr lang="en-US" sz="1575" dirty="0"/>
          </a:p>
        </p:txBody>
      </p:sp>
      <p:sp>
        <p:nvSpPr>
          <p:cNvPr id="21" name="Shape 18"/>
          <p:cNvSpPr/>
          <p:nvPr/>
        </p:nvSpPr>
        <p:spPr>
          <a:xfrm>
            <a:off x="538580" y="1688941"/>
            <a:ext cx="2404738" cy="280091"/>
          </a:xfrm>
          <a:prstGeom prst="rect">
            <a:avLst/>
          </a:prstGeom>
          <a:solidFill>
            <a:srgbClr val="FCF4EE"/>
          </a:solidFill>
          <a:ln/>
        </p:spPr>
        <p:txBody>
          <a:bodyPr/>
          <a:lstStyle/>
          <a:p>
            <a:endParaRPr lang="ko-KR" altLang="en-US"/>
          </a:p>
        </p:txBody>
      </p:sp>
      <p:sp>
        <p:nvSpPr>
          <p:cNvPr id="22" name="Shape 19"/>
          <p:cNvSpPr/>
          <p:nvPr/>
        </p:nvSpPr>
        <p:spPr>
          <a:xfrm>
            <a:off x="538580" y="1688941"/>
            <a:ext cx="2404738" cy="9525"/>
          </a:xfrm>
          <a:prstGeom prst="rect">
            <a:avLst/>
          </a:prstGeom>
          <a:solidFill>
            <a:srgbClr val="D3B9A5"/>
          </a:solidFill>
          <a:ln/>
        </p:spPr>
        <p:txBody>
          <a:bodyPr/>
          <a:lstStyle/>
          <a:p>
            <a:endParaRPr lang="ko-KR" altLang="en-US"/>
          </a:p>
        </p:txBody>
      </p:sp>
      <p:sp>
        <p:nvSpPr>
          <p:cNvPr id="23" name="Text 20"/>
          <p:cNvSpPr/>
          <p:nvPr/>
        </p:nvSpPr>
        <p:spPr>
          <a:xfrm>
            <a:off x="557630" y="1722733"/>
            <a:ext cx="236663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상품명</a:t>
            </a:r>
            <a:endParaRPr lang="en-US" sz="1013" dirty="0"/>
          </a:p>
        </p:txBody>
      </p:sp>
      <p:sp>
        <p:nvSpPr>
          <p:cNvPr id="24" name="Shape 21"/>
          <p:cNvSpPr/>
          <p:nvPr/>
        </p:nvSpPr>
        <p:spPr>
          <a:xfrm>
            <a:off x="2943317" y="1688941"/>
            <a:ext cx="2404738" cy="280091"/>
          </a:xfrm>
          <a:prstGeom prst="rect">
            <a:avLst/>
          </a:prstGeom>
          <a:solidFill>
            <a:srgbClr val="F8E1D0"/>
          </a:solidFill>
          <a:ln/>
        </p:spPr>
        <p:txBody>
          <a:bodyPr/>
          <a:lstStyle/>
          <a:p>
            <a:endParaRPr lang="ko-KR" altLang="en-US"/>
          </a:p>
        </p:txBody>
      </p:sp>
      <p:sp>
        <p:nvSpPr>
          <p:cNvPr id="25" name="Shape 22"/>
          <p:cNvSpPr/>
          <p:nvPr/>
        </p:nvSpPr>
        <p:spPr>
          <a:xfrm>
            <a:off x="2943317" y="1688941"/>
            <a:ext cx="2404738" cy="9525"/>
          </a:xfrm>
          <a:prstGeom prst="rect">
            <a:avLst/>
          </a:prstGeom>
          <a:solidFill>
            <a:srgbClr val="D3B9A5"/>
          </a:solidFill>
          <a:ln/>
        </p:spPr>
        <p:txBody>
          <a:bodyPr/>
          <a:lstStyle/>
          <a:p>
            <a:endParaRPr lang="ko-KR" altLang="en-US"/>
          </a:p>
        </p:txBody>
      </p:sp>
      <p:sp>
        <p:nvSpPr>
          <p:cNvPr id="26" name="Shape 23"/>
          <p:cNvSpPr/>
          <p:nvPr/>
        </p:nvSpPr>
        <p:spPr>
          <a:xfrm>
            <a:off x="2943317" y="1688941"/>
            <a:ext cx="9525" cy="280091"/>
          </a:xfrm>
          <a:prstGeom prst="rect">
            <a:avLst/>
          </a:prstGeom>
          <a:solidFill>
            <a:srgbClr val="D3B9A5"/>
          </a:solidFill>
          <a:ln/>
        </p:spPr>
        <p:txBody>
          <a:bodyPr/>
          <a:lstStyle/>
          <a:p>
            <a:endParaRPr lang="ko-KR" altLang="en-US"/>
          </a:p>
        </p:txBody>
      </p:sp>
      <p:sp>
        <p:nvSpPr>
          <p:cNvPr id="27" name="Text 24"/>
          <p:cNvSpPr/>
          <p:nvPr/>
        </p:nvSpPr>
        <p:spPr>
          <a:xfrm>
            <a:off x="2967584" y="1722733"/>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든든한 3N5 초경증</a:t>
            </a:r>
            <a:endParaRPr lang="en-US" sz="1013" dirty="0"/>
          </a:p>
        </p:txBody>
      </p:sp>
      <p:sp>
        <p:nvSpPr>
          <p:cNvPr id="28" name="Shape 25"/>
          <p:cNvSpPr/>
          <p:nvPr/>
        </p:nvSpPr>
        <p:spPr>
          <a:xfrm>
            <a:off x="5348054" y="1688941"/>
            <a:ext cx="2404738" cy="280091"/>
          </a:xfrm>
          <a:prstGeom prst="rect">
            <a:avLst/>
          </a:prstGeom>
          <a:solidFill>
            <a:srgbClr val="FFFFFF"/>
          </a:solidFill>
          <a:ln/>
        </p:spPr>
        <p:txBody>
          <a:bodyPr/>
          <a:lstStyle/>
          <a:p>
            <a:endParaRPr lang="ko-KR" altLang="en-US"/>
          </a:p>
        </p:txBody>
      </p:sp>
      <p:sp>
        <p:nvSpPr>
          <p:cNvPr id="29" name="Shape 26"/>
          <p:cNvSpPr/>
          <p:nvPr/>
        </p:nvSpPr>
        <p:spPr>
          <a:xfrm>
            <a:off x="5348054" y="1688941"/>
            <a:ext cx="2404738" cy="9525"/>
          </a:xfrm>
          <a:prstGeom prst="rect">
            <a:avLst/>
          </a:prstGeom>
          <a:solidFill>
            <a:srgbClr val="D3B9A5"/>
          </a:solidFill>
          <a:ln/>
        </p:spPr>
        <p:txBody>
          <a:bodyPr/>
          <a:lstStyle/>
          <a:p>
            <a:endParaRPr lang="ko-KR" altLang="en-US"/>
          </a:p>
        </p:txBody>
      </p:sp>
      <p:sp>
        <p:nvSpPr>
          <p:cNvPr id="30" name="Shape 27"/>
          <p:cNvSpPr/>
          <p:nvPr/>
        </p:nvSpPr>
        <p:spPr>
          <a:xfrm>
            <a:off x="5348054" y="1688941"/>
            <a:ext cx="9525" cy="280091"/>
          </a:xfrm>
          <a:prstGeom prst="rect">
            <a:avLst/>
          </a:prstGeom>
          <a:solidFill>
            <a:srgbClr val="D3B9A5"/>
          </a:solidFill>
          <a:ln/>
        </p:spPr>
        <p:txBody>
          <a:bodyPr/>
          <a:lstStyle/>
          <a:p>
            <a:endParaRPr lang="ko-KR" altLang="en-US"/>
          </a:p>
        </p:txBody>
      </p:sp>
      <p:sp>
        <p:nvSpPr>
          <p:cNvPr id="31" name="Text 28"/>
          <p:cNvSpPr/>
          <p:nvPr/>
        </p:nvSpPr>
        <p:spPr>
          <a:xfrm>
            <a:off x="5372321" y="1722733"/>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간편한 3.10.10</a:t>
            </a:r>
            <a:endParaRPr lang="en-US" sz="1013" dirty="0"/>
          </a:p>
        </p:txBody>
      </p:sp>
      <p:sp>
        <p:nvSpPr>
          <p:cNvPr id="32" name="Shape 29"/>
          <p:cNvSpPr/>
          <p:nvPr/>
        </p:nvSpPr>
        <p:spPr>
          <a:xfrm>
            <a:off x="7752792" y="1688941"/>
            <a:ext cx="2405145" cy="280091"/>
          </a:xfrm>
          <a:prstGeom prst="rect">
            <a:avLst/>
          </a:prstGeom>
          <a:solidFill>
            <a:srgbClr val="FFFFFF"/>
          </a:solidFill>
          <a:ln/>
        </p:spPr>
        <p:txBody>
          <a:bodyPr/>
          <a:lstStyle/>
          <a:p>
            <a:endParaRPr lang="ko-KR" altLang="en-US"/>
          </a:p>
        </p:txBody>
      </p:sp>
      <p:sp>
        <p:nvSpPr>
          <p:cNvPr id="33" name="Shape 30"/>
          <p:cNvSpPr/>
          <p:nvPr/>
        </p:nvSpPr>
        <p:spPr>
          <a:xfrm>
            <a:off x="7752792" y="1688941"/>
            <a:ext cx="2405145" cy="9525"/>
          </a:xfrm>
          <a:prstGeom prst="rect">
            <a:avLst/>
          </a:prstGeom>
          <a:solidFill>
            <a:srgbClr val="D3B9A5"/>
          </a:solidFill>
          <a:ln/>
        </p:spPr>
        <p:txBody>
          <a:bodyPr/>
          <a:lstStyle/>
          <a:p>
            <a:endParaRPr lang="ko-KR" altLang="en-US"/>
          </a:p>
        </p:txBody>
      </p:sp>
      <p:sp>
        <p:nvSpPr>
          <p:cNvPr id="34" name="Shape 31"/>
          <p:cNvSpPr/>
          <p:nvPr/>
        </p:nvSpPr>
        <p:spPr>
          <a:xfrm>
            <a:off x="7752792" y="1688941"/>
            <a:ext cx="9525" cy="280091"/>
          </a:xfrm>
          <a:prstGeom prst="rect">
            <a:avLst/>
          </a:prstGeom>
          <a:solidFill>
            <a:srgbClr val="D3B9A5"/>
          </a:solidFill>
          <a:ln/>
        </p:spPr>
        <p:txBody>
          <a:bodyPr/>
          <a:lstStyle/>
          <a:p>
            <a:endParaRPr lang="ko-KR" altLang="en-US"/>
          </a:p>
        </p:txBody>
      </p:sp>
      <p:sp>
        <p:nvSpPr>
          <p:cNvPr id="35" name="Text 32"/>
          <p:cNvSpPr/>
          <p:nvPr/>
        </p:nvSpPr>
        <p:spPr>
          <a:xfrm>
            <a:off x="7777059" y="1722733"/>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나에게 맞춘 초경증 3.8.5</a:t>
            </a:r>
            <a:endParaRPr lang="en-US" sz="1013" dirty="0"/>
          </a:p>
        </p:txBody>
      </p:sp>
      <p:sp>
        <p:nvSpPr>
          <p:cNvPr id="36" name="Shape 33"/>
          <p:cNvSpPr/>
          <p:nvPr/>
        </p:nvSpPr>
        <p:spPr>
          <a:xfrm>
            <a:off x="538580" y="1969032"/>
            <a:ext cx="2404738" cy="280091"/>
          </a:xfrm>
          <a:prstGeom prst="rect">
            <a:avLst/>
          </a:prstGeom>
          <a:solidFill>
            <a:srgbClr val="FCF4EE"/>
          </a:solidFill>
          <a:ln/>
        </p:spPr>
        <p:txBody>
          <a:bodyPr/>
          <a:lstStyle/>
          <a:p>
            <a:endParaRPr lang="ko-KR" altLang="en-US"/>
          </a:p>
        </p:txBody>
      </p:sp>
      <p:sp>
        <p:nvSpPr>
          <p:cNvPr id="37" name="Shape 34"/>
          <p:cNvSpPr/>
          <p:nvPr/>
        </p:nvSpPr>
        <p:spPr>
          <a:xfrm>
            <a:off x="538580" y="1969032"/>
            <a:ext cx="2404738" cy="9525"/>
          </a:xfrm>
          <a:prstGeom prst="rect">
            <a:avLst/>
          </a:prstGeom>
          <a:solidFill>
            <a:srgbClr val="D3B9A5"/>
          </a:solidFill>
          <a:ln/>
        </p:spPr>
        <p:txBody>
          <a:bodyPr/>
          <a:lstStyle/>
          <a:p>
            <a:endParaRPr lang="ko-KR" altLang="en-US"/>
          </a:p>
        </p:txBody>
      </p:sp>
      <p:sp>
        <p:nvSpPr>
          <p:cNvPr id="38" name="Text 35"/>
          <p:cNvSpPr/>
          <p:nvPr/>
        </p:nvSpPr>
        <p:spPr>
          <a:xfrm>
            <a:off x="557630" y="2002824"/>
            <a:ext cx="236663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최대 가입연령</a:t>
            </a:r>
            <a:endParaRPr lang="en-US" sz="1013" dirty="0"/>
          </a:p>
        </p:txBody>
      </p:sp>
      <p:sp>
        <p:nvSpPr>
          <p:cNvPr id="39" name="Shape 36"/>
          <p:cNvSpPr/>
          <p:nvPr/>
        </p:nvSpPr>
        <p:spPr>
          <a:xfrm>
            <a:off x="2943317" y="1969032"/>
            <a:ext cx="2404738" cy="280091"/>
          </a:xfrm>
          <a:prstGeom prst="rect">
            <a:avLst/>
          </a:prstGeom>
          <a:solidFill>
            <a:srgbClr val="F8E1D0"/>
          </a:solidFill>
          <a:ln/>
        </p:spPr>
        <p:txBody>
          <a:bodyPr/>
          <a:lstStyle/>
          <a:p>
            <a:endParaRPr lang="ko-KR" altLang="en-US"/>
          </a:p>
        </p:txBody>
      </p:sp>
      <p:sp>
        <p:nvSpPr>
          <p:cNvPr id="40" name="Shape 37"/>
          <p:cNvSpPr/>
          <p:nvPr/>
        </p:nvSpPr>
        <p:spPr>
          <a:xfrm>
            <a:off x="2943317" y="1969032"/>
            <a:ext cx="2404738" cy="9525"/>
          </a:xfrm>
          <a:prstGeom prst="rect">
            <a:avLst/>
          </a:prstGeom>
          <a:solidFill>
            <a:srgbClr val="D3B9A5"/>
          </a:solidFill>
          <a:ln/>
        </p:spPr>
        <p:txBody>
          <a:bodyPr/>
          <a:lstStyle/>
          <a:p>
            <a:endParaRPr lang="ko-KR" altLang="en-US"/>
          </a:p>
        </p:txBody>
      </p:sp>
      <p:sp>
        <p:nvSpPr>
          <p:cNvPr id="41" name="Shape 38"/>
          <p:cNvSpPr/>
          <p:nvPr/>
        </p:nvSpPr>
        <p:spPr>
          <a:xfrm>
            <a:off x="2943317" y="1969032"/>
            <a:ext cx="9525" cy="280091"/>
          </a:xfrm>
          <a:prstGeom prst="rect">
            <a:avLst/>
          </a:prstGeom>
          <a:solidFill>
            <a:srgbClr val="D3B9A5"/>
          </a:solidFill>
          <a:ln/>
        </p:spPr>
        <p:txBody>
          <a:bodyPr/>
          <a:lstStyle/>
          <a:p>
            <a:endParaRPr lang="ko-KR" altLang="en-US"/>
          </a:p>
        </p:txBody>
      </p:sp>
      <p:sp>
        <p:nvSpPr>
          <p:cNvPr id="42" name="Text 39"/>
          <p:cNvSpPr/>
          <p:nvPr/>
        </p:nvSpPr>
        <p:spPr>
          <a:xfrm>
            <a:off x="2967584" y="2002824"/>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75세</a:t>
            </a:r>
            <a:endParaRPr lang="en-US" sz="1013" dirty="0"/>
          </a:p>
        </p:txBody>
      </p:sp>
      <p:sp>
        <p:nvSpPr>
          <p:cNvPr id="43" name="Shape 40"/>
          <p:cNvSpPr/>
          <p:nvPr/>
        </p:nvSpPr>
        <p:spPr>
          <a:xfrm>
            <a:off x="5348054" y="1969032"/>
            <a:ext cx="2404738" cy="280091"/>
          </a:xfrm>
          <a:prstGeom prst="rect">
            <a:avLst/>
          </a:prstGeom>
          <a:solidFill>
            <a:srgbClr val="FFFFFF"/>
          </a:solidFill>
          <a:ln/>
        </p:spPr>
        <p:txBody>
          <a:bodyPr/>
          <a:lstStyle/>
          <a:p>
            <a:endParaRPr lang="ko-KR" altLang="en-US"/>
          </a:p>
        </p:txBody>
      </p:sp>
      <p:sp>
        <p:nvSpPr>
          <p:cNvPr id="44" name="Shape 41"/>
          <p:cNvSpPr/>
          <p:nvPr/>
        </p:nvSpPr>
        <p:spPr>
          <a:xfrm>
            <a:off x="5348054" y="1969032"/>
            <a:ext cx="2404738" cy="9525"/>
          </a:xfrm>
          <a:prstGeom prst="rect">
            <a:avLst/>
          </a:prstGeom>
          <a:solidFill>
            <a:srgbClr val="D3B9A5"/>
          </a:solidFill>
          <a:ln/>
        </p:spPr>
        <p:txBody>
          <a:bodyPr/>
          <a:lstStyle/>
          <a:p>
            <a:endParaRPr lang="ko-KR" altLang="en-US"/>
          </a:p>
        </p:txBody>
      </p:sp>
      <p:sp>
        <p:nvSpPr>
          <p:cNvPr id="45" name="Shape 42"/>
          <p:cNvSpPr/>
          <p:nvPr/>
        </p:nvSpPr>
        <p:spPr>
          <a:xfrm>
            <a:off x="5348054" y="1969032"/>
            <a:ext cx="9525" cy="280091"/>
          </a:xfrm>
          <a:prstGeom prst="rect">
            <a:avLst/>
          </a:prstGeom>
          <a:solidFill>
            <a:srgbClr val="D3B9A5"/>
          </a:solidFill>
          <a:ln/>
        </p:spPr>
        <p:txBody>
          <a:bodyPr/>
          <a:lstStyle/>
          <a:p>
            <a:endParaRPr lang="ko-KR" altLang="en-US"/>
          </a:p>
        </p:txBody>
      </p:sp>
      <p:sp>
        <p:nvSpPr>
          <p:cNvPr id="46" name="Text 43"/>
          <p:cNvSpPr/>
          <p:nvPr/>
        </p:nvSpPr>
        <p:spPr>
          <a:xfrm>
            <a:off x="5372321" y="2002824"/>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90세</a:t>
            </a:r>
            <a:endParaRPr lang="en-US" sz="1013" dirty="0"/>
          </a:p>
        </p:txBody>
      </p:sp>
      <p:sp>
        <p:nvSpPr>
          <p:cNvPr id="47" name="Shape 44"/>
          <p:cNvSpPr/>
          <p:nvPr/>
        </p:nvSpPr>
        <p:spPr>
          <a:xfrm>
            <a:off x="7752792" y="1969032"/>
            <a:ext cx="2405145" cy="280091"/>
          </a:xfrm>
          <a:prstGeom prst="rect">
            <a:avLst/>
          </a:prstGeom>
          <a:solidFill>
            <a:srgbClr val="FFFFFF"/>
          </a:solidFill>
          <a:ln/>
        </p:spPr>
        <p:txBody>
          <a:bodyPr/>
          <a:lstStyle/>
          <a:p>
            <a:endParaRPr lang="ko-KR" altLang="en-US"/>
          </a:p>
        </p:txBody>
      </p:sp>
      <p:sp>
        <p:nvSpPr>
          <p:cNvPr id="48" name="Shape 45"/>
          <p:cNvSpPr/>
          <p:nvPr/>
        </p:nvSpPr>
        <p:spPr>
          <a:xfrm>
            <a:off x="7752792" y="1969032"/>
            <a:ext cx="2405145" cy="9525"/>
          </a:xfrm>
          <a:prstGeom prst="rect">
            <a:avLst/>
          </a:prstGeom>
          <a:solidFill>
            <a:srgbClr val="D3B9A5"/>
          </a:solidFill>
          <a:ln/>
        </p:spPr>
        <p:txBody>
          <a:bodyPr/>
          <a:lstStyle/>
          <a:p>
            <a:endParaRPr lang="ko-KR" altLang="en-US"/>
          </a:p>
        </p:txBody>
      </p:sp>
      <p:sp>
        <p:nvSpPr>
          <p:cNvPr id="49" name="Shape 46"/>
          <p:cNvSpPr/>
          <p:nvPr/>
        </p:nvSpPr>
        <p:spPr>
          <a:xfrm>
            <a:off x="7752792" y="1969032"/>
            <a:ext cx="9525" cy="280091"/>
          </a:xfrm>
          <a:prstGeom prst="rect">
            <a:avLst/>
          </a:prstGeom>
          <a:solidFill>
            <a:srgbClr val="D3B9A5"/>
          </a:solidFill>
          <a:ln/>
        </p:spPr>
        <p:txBody>
          <a:bodyPr/>
          <a:lstStyle/>
          <a:p>
            <a:endParaRPr lang="ko-KR" altLang="en-US"/>
          </a:p>
        </p:txBody>
      </p:sp>
      <p:sp>
        <p:nvSpPr>
          <p:cNvPr id="50" name="Text 47"/>
          <p:cNvSpPr/>
          <p:nvPr/>
        </p:nvSpPr>
        <p:spPr>
          <a:xfrm>
            <a:off x="7777059" y="2002824"/>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80세</a:t>
            </a:r>
            <a:endParaRPr lang="en-US" sz="1013" dirty="0"/>
          </a:p>
        </p:txBody>
      </p:sp>
      <p:sp>
        <p:nvSpPr>
          <p:cNvPr id="51" name="Shape 48"/>
          <p:cNvSpPr/>
          <p:nvPr/>
        </p:nvSpPr>
        <p:spPr>
          <a:xfrm>
            <a:off x="538580" y="2249122"/>
            <a:ext cx="1202369" cy="1045205"/>
          </a:xfrm>
          <a:prstGeom prst="rect">
            <a:avLst/>
          </a:prstGeom>
          <a:solidFill>
            <a:srgbClr val="FCF4EE"/>
          </a:solidFill>
          <a:ln/>
        </p:spPr>
        <p:txBody>
          <a:bodyPr/>
          <a:lstStyle/>
          <a:p>
            <a:endParaRPr lang="ko-KR" altLang="en-US"/>
          </a:p>
        </p:txBody>
      </p:sp>
      <p:sp>
        <p:nvSpPr>
          <p:cNvPr id="52" name="Shape 49"/>
          <p:cNvSpPr/>
          <p:nvPr/>
        </p:nvSpPr>
        <p:spPr>
          <a:xfrm>
            <a:off x="538580" y="2249122"/>
            <a:ext cx="1202369" cy="9525"/>
          </a:xfrm>
          <a:prstGeom prst="rect">
            <a:avLst/>
          </a:prstGeom>
          <a:solidFill>
            <a:srgbClr val="D3B9A5"/>
          </a:solidFill>
          <a:ln/>
        </p:spPr>
        <p:txBody>
          <a:bodyPr/>
          <a:lstStyle/>
          <a:p>
            <a:endParaRPr lang="ko-KR" altLang="en-US"/>
          </a:p>
        </p:txBody>
      </p:sp>
      <p:sp>
        <p:nvSpPr>
          <p:cNvPr id="53" name="Text 50"/>
          <p:cNvSpPr/>
          <p:nvPr/>
        </p:nvSpPr>
        <p:spPr>
          <a:xfrm>
            <a:off x="557630" y="2282915"/>
            <a:ext cx="1164269" cy="1020938"/>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CF4EE"/>
                </a:highlight>
                <a:latin typeface="Paperlogy 7 Bold" pitchFamily="2" charset="-127"/>
                <a:ea typeface="Paperlogy 7 Bold" pitchFamily="2" charset="-127"/>
                <a:cs typeface="Arial" pitchFamily="34" charset="-120"/>
              </a:rPr>
              <a:t>가입 한도</a:t>
            </a:r>
            <a:endParaRPr lang="en-US" sz="1013" dirty="0"/>
          </a:p>
        </p:txBody>
      </p:sp>
      <p:sp>
        <p:nvSpPr>
          <p:cNvPr id="54" name="Shape 51"/>
          <p:cNvSpPr/>
          <p:nvPr/>
        </p:nvSpPr>
        <p:spPr>
          <a:xfrm>
            <a:off x="1740948" y="2249122"/>
            <a:ext cx="1202369" cy="485023"/>
          </a:xfrm>
          <a:prstGeom prst="rect">
            <a:avLst/>
          </a:prstGeom>
          <a:solidFill>
            <a:srgbClr val="FCF4EE"/>
          </a:solidFill>
          <a:ln/>
        </p:spPr>
        <p:txBody>
          <a:bodyPr/>
          <a:lstStyle/>
          <a:p>
            <a:endParaRPr lang="ko-KR" altLang="en-US"/>
          </a:p>
        </p:txBody>
      </p:sp>
      <p:sp>
        <p:nvSpPr>
          <p:cNvPr id="55" name="Shape 52"/>
          <p:cNvSpPr/>
          <p:nvPr/>
        </p:nvSpPr>
        <p:spPr>
          <a:xfrm>
            <a:off x="1740948" y="2249122"/>
            <a:ext cx="1202369" cy="9525"/>
          </a:xfrm>
          <a:prstGeom prst="rect">
            <a:avLst/>
          </a:prstGeom>
          <a:solidFill>
            <a:srgbClr val="D3B9A5"/>
          </a:solidFill>
          <a:ln/>
        </p:spPr>
        <p:txBody>
          <a:bodyPr/>
          <a:lstStyle/>
          <a:p>
            <a:endParaRPr lang="ko-KR" altLang="en-US"/>
          </a:p>
        </p:txBody>
      </p:sp>
      <p:sp>
        <p:nvSpPr>
          <p:cNvPr id="56" name="Shape 53"/>
          <p:cNvSpPr/>
          <p:nvPr/>
        </p:nvSpPr>
        <p:spPr>
          <a:xfrm>
            <a:off x="1740948" y="2249122"/>
            <a:ext cx="9525" cy="485023"/>
          </a:xfrm>
          <a:prstGeom prst="rect">
            <a:avLst/>
          </a:prstGeom>
          <a:solidFill>
            <a:srgbClr val="D3B9A5"/>
          </a:solidFill>
          <a:ln/>
        </p:spPr>
        <p:txBody>
          <a:bodyPr/>
          <a:lstStyle/>
          <a:p>
            <a:endParaRPr lang="ko-KR" altLang="en-US"/>
          </a:p>
        </p:txBody>
      </p:sp>
      <p:sp>
        <p:nvSpPr>
          <p:cNvPr id="57" name="Text 54"/>
          <p:cNvSpPr/>
          <p:nvPr/>
        </p:nvSpPr>
        <p:spPr>
          <a:xfrm>
            <a:off x="1765215" y="2282915"/>
            <a:ext cx="1159052" cy="46075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요양병원 외</a:t>
            </a:r>
            <a:endParaRPr lang="en-US" sz="1013" dirty="0"/>
          </a:p>
        </p:txBody>
      </p:sp>
      <p:sp>
        <p:nvSpPr>
          <p:cNvPr id="58" name="Shape 55"/>
          <p:cNvSpPr/>
          <p:nvPr/>
        </p:nvSpPr>
        <p:spPr>
          <a:xfrm>
            <a:off x="2943317" y="2249122"/>
            <a:ext cx="2404738" cy="485023"/>
          </a:xfrm>
          <a:prstGeom prst="rect">
            <a:avLst/>
          </a:prstGeom>
          <a:solidFill>
            <a:srgbClr val="F8E1D0"/>
          </a:solidFill>
          <a:ln/>
        </p:spPr>
        <p:txBody>
          <a:bodyPr/>
          <a:lstStyle/>
          <a:p>
            <a:endParaRPr lang="ko-KR" altLang="en-US"/>
          </a:p>
        </p:txBody>
      </p:sp>
      <p:sp>
        <p:nvSpPr>
          <p:cNvPr id="59" name="Shape 56"/>
          <p:cNvSpPr/>
          <p:nvPr/>
        </p:nvSpPr>
        <p:spPr>
          <a:xfrm>
            <a:off x="2943317" y="2249122"/>
            <a:ext cx="2404738" cy="9525"/>
          </a:xfrm>
          <a:prstGeom prst="rect">
            <a:avLst/>
          </a:prstGeom>
          <a:solidFill>
            <a:srgbClr val="D3B9A5"/>
          </a:solidFill>
          <a:ln/>
        </p:spPr>
        <p:txBody>
          <a:bodyPr/>
          <a:lstStyle/>
          <a:p>
            <a:endParaRPr lang="ko-KR" altLang="en-US"/>
          </a:p>
        </p:txBody>
      </p:sp>
      <p:sp>
        <p:nvSpPr>
          <p:cNvPr id="60" name="Shape 57"/>
          <p:cNvSpPr/>
          <p:nvPr/>
        </p:nvSpPr>
        <p:spPr>
          <a:xfrm>
            <a:off x="2943317" y="2249122"/>
            <a:ext cx="9525" cy="485023"/>
          </a:xfrm>
          <a:prstGeom prst="rect">
            <a:avLst/>
          </a:prstGeom>
          <a:solidFill>
            <a:srgbClr val="D3B9A5"/>
          </a:solidFill>
          <a:ln/>
        </p:spPr>
        <p:txBody>
          <a:bodyPr/>
          <a:lstStyle/>
          <a:p>
            <a:endParaRPr lang="ko-KR" altLang="en-US"/>
          </a:p>
        </p:txBody>
      </p:sp>
      <p:sp>
        <p:nvSpPr>
          <p:cNvPr id="61" name="Text 58"/>
          <p:cNvSpPr/>
          <p:nvPr/>
        </p:nvSpPr>
        <p:spPr>
          <a:xfrm>
            <a:off x="2967584" y="2282915"/>
            <a:ext cx="2361420" cy="46075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20만</a:t>
            </a:r>
            <a:endParaRPr lang="en-US" sz="1013" dirty="0"/>
          </a:p>
        </p:txBody>
      </p:sp>
      <p:sp>
        <p:nvSpPr>
          <p:cNvPr id="62" name="Shape 59"/>
          <p:cNvSpPr/>
          <p:nvPr/>
        </p:nvSpPr>
        <p:spPr>
          <a:xfrm>
            <a:off x="5348054" y="2249122"/>
            <a:ext cx="2404738" cy="485023"/>
          </a:xfrm>
          <a:prstGeom prst="rect">
            <a:avLst/>
          </a:prstGeom>
          <a:solidFill>
            <a:srgbClr val="FFFFFF"/>
          </a:solidFill>
          <a:ln/>
        </p:spPr>
        <p:txBody>
          <a:bodyPr/>
          <a:lstStyle/>
          <a:p>
            <a:endParaRPr lang="ko-KR" altLang="en-US"/>
          </a:p>
        </p:txBody>
      </p:sp>
      <p:sp>
        <p:nvSpPr>
          <p:cNvPr id="63" name="Shape 60"/>
          <p:cNvSpPr/>
          <p:nvPr/>
        </p:nvSpPr>
        <p:spPr>
          <a:xfrm>
            <a:off x="5348054" y="2249122"/>
            <a:ext cx="2404738" cy="9525"/>
          </a:xfrm>
          <a:prstGeom prst="rect">
            <a:avLst/>
          </a:prstGeom>
          <a:solidFill>
            <a:srgbClr val="D3B9A5"/>
          </a:solidFill>
          <a:ln/>
        </p:spPr>
        <p:txBody>
          <a:bodyPr/>
          <a:lstStyle/>
          <a:p>
            <a:endParaRPr lang="ko-KR" altLang="en-US"/>
          </a:p>
        </p:txBody>
      </p:sp>
      <p:sp>
        <p:nvSpPr>
          <p:cNvPr id="64" name="Shape 61"/>
          <p:cNvSpPr/>
          <p:nvPr/>
        </p:nvSpPr>
        <p:spPr>
          <a:xfrm>
            <a:off x="5348054" y="2249122"/>
            <a:ext cx="9525" cy="485023"/>
          </a:xfrm>
          <a:prstGeom prst="rect">
            <a:avLst/>
          </a:prstGeom>
          <a:solidFill>
            <a:srgbClr val="D3B9A5"/>
          </a:solidFill>
          <a:ln/>
        </p:spPr>
        <p:txBody>
          <a:bodyPr/>
          <a:lstStyle/>
          <a:p>
            <a:endParaRPr lang="ko-KR" altLang="en-US"/>
          </a:p>
        </p:txBody>
      </p:sp>
      <p:sp>
        <p:nvSpPr>
          <p:cNvPr id="65" name="Text 62"/>
          <p:cNvSpPr/>
          <p:nvPr/>
        </p:nvSpPr>
        <p:spPr>
          <a:xfrm>
            <a:off x="5372321" y="2282915"/>
            <a:ext cx="2361420" cy="46075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15만 (2Q-Pass 20만)</a:t>
            </a:r>
            <a:endParaRPr lang="en-US" sz="1013" dirty="0"/>
          </a:p>
        </p:txBody>
      </p:sp>
      <p:sp>
        <p:nvSpPr>
          <p:cNvPr id="66" name="Shape 63"/>
          <p:cNvSpPr/>
          <p:nvPr/>
        </p:nvSpPr>
        <p:spPr>
          <a:xfrm>
            <a:off x="7752792" y="2249122"/>
            <a:ext cx="2405145" cy="485023"/>
          </a:xfrm>
          <a:prstGeom prst="rect">
            <a:avLst/>
          </a:prstGeom>
          <a:solidFill>
            <a:srgbClr val="FFFFFF"/>
          </a:solidFill>
          <a:ln/>
        </p:spPr>
        <p:txBody>
          <a:bodyPr/>
          <a:lstStyle/>
          <a:p>
            <a:endParaRPr lang="ko-KR" altLang="en-US"/>
          </a:p>
        </p:txBody>
      </p:sp>
      <p:sp>
        <p:nvSpPr>
          <p:cNvPr id="67" name="Shape 64"/>
          <p:cNvSpPr/>
          <p:nvPr/>
        </p:nvSpPr>
        <p:spPr>
          <a:xfrm>
            <a:off x="7752792" y="2249122"/>
            <a:ext cx="2405145" cy="9525"/>
          </a:xfrm>
          <a:prstGeom prst="rect">
            <a:avLst/>
          </a:prstGeom>
          <a:solidFill>
            <a:srgbClr val="D3B9A5"/>
          </a:solidFill>
          <a:ln/>
        </p:spPr>
        <p:txBody>
          <a:bodyPr/>
          <a:lstStyle/>
          <a:p>
            <a:endParaRPr lang="ko-KR" altLang="en-US"/>
          </a:p>
        </p:txBody>
      </p:sp>
      <p:sp>
        <p:nvSpPr>
          <p:cNvPr id="68" name="Shape 65"/>
          <p:cNvSpPr/>
          <p:nvPr/>
        </p:nvSpPr>
        <p:spPr>
          <a:xfrm>
            <a:off x="7752792" y="2249122"/>
            <a:ext cx="9525" cy="485023"/>
          </a:xfrm>
          <a:prstGeom prst="rect">
            <a:avLst/>
          </a:prstGeom>
          <a:solidFill>
            <a:srgbClr val="D3B9A5"/>
          </a:solidFill>
          <a:ln/>
        </p:spPr>
        <p:txBody>
          <a:bodyPr/>
          <a:lstStyle/>
          <a:p>
            <a:endParaRPr lang="ko-KR" altLang="en-US"/>
          </a:p>
        </p:txBody>
      </p:sp>
      <p:sp>
        <p:nvSpPr>
          <p:cNvPr id="69" name="Text 66"/>
          <p:cNvSpPr/>
          <p:nvPr/>
        </p:nvSpPr>
        <p:spPr>
          <a:xfrm>
            <a:off x="7777059" y="2282915"/>
            <a:ext cx="2361828" cy="460756"/>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질병 20만 / 상해 15만</a:t>
            </a:r>
            <a:endParaRPr lang="en-US" sz="1013" dirty="0"/>
          </a:p>
        </p:txBody>
      </p:sp>
      <p:sp>
        <p:nvSpPr>
          <p:cNvPr id="70" name="Shape 67"/>
          <p:cNvSpPr/>
          <p:nvPr/>
        </p:nvSpPr>
        <p:spPr>
          <a:xfrm>
            <a:off x="1740948" y="2734146"/>
            <a:ext cx="1202369" cy="280091"/>
          </a:xfrm>
          <a:prstGeom prst="rect">
            <a:avLst/>
          </a:prstGeom>
          <a:solidFill>
            <a:srgbClr val="FCF4EE"/>
          </a:solidFill>
          <a:ln/>
        </p:spPr>
        <p:txBody>
          <a:bodyPr/>
          <a:lstStyle/>
          <a:p>
            <a:endParaRPr lang="ko-KR" altLang="en-US"/>
          </a:p>
        </p:txBody>
      </p:sp>
      <p:sp>
        <p:nvSpPr>
          <p:cNvPr id="71" name="Shape 68"/>
          <p:cNvSpPr/>
          <p:nvPr/>
        </p:nvSpPr>
        <p:spPr>
          <a:xfrm>
            <a:off x="1740948" y="2734146"/>
            <a:ext cx="1202369" cy="9525"/>
          </a:xfrm>
          <a:prstGeom prst="rect">
            <a:avLst/>
          </a:prstGeom>
          <a:solidFill>
            <a:srgbClr val="D3B9A5"/>
          </a:solidFill>
          <a:ln/>
        </p:spPr>
        <p:txBody>
          <a:bodyPr/>
          <a:lstStyle/>
          <a:p>
            <a:endParaRPr lang="ko-KR" altLang="en-US"/>
          </a:p>
        </p:txBody>
      </p:sp>
      <p:sp>
        <p:nvSpPr>
          <p:cNvPr id="72" name="Shape 69"/>
          <p:cNvSpPr/>
          <p:nvPr/>
        </p:nvSpPr>
        <p:spPr>
          <a:xfrm>
            <a:off x="1740948" y="2734146"/>
            <a:ext cx="9525" cy="280091"/>
          </a:xfrm>
          <a:prstGeom prst="rect">
            <a:avLst/>
          </a:prstGeom>
          <a:solidFill>
            <a:srgbClr val="D3B9A5"/>
          </a:solidFill>
          <a:ln/>
        </p:spPr>
        <p:txBody>
          <a:bodyPr/>
          <a:lstStyle/>
          <a:p>
            <a:endParaRPr lang="ko-KR" altLang="en-US"/>
          </a:p>
        </p:txBody>
      </p:sp>
      <p:sp>
        <p:nvSpPr>
          <p:cNvPr id="73" name="Text 70"/>
          <p:cNvSpPr/>
          <p:nvPr/>
        </p:nvSpPr>
        <p:spPr>
          <a:xfrm>
            <a:off x="1765215" y="2767938"/>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요양병원</a:t>
            </a:r>
            <a:endParaRPr lang="en-US" sz="1013" dirty="0"/>
          </a:p>
        </p:txBody>
      </p:sp>
      <p:sp>
        <p:nvSpPr>
          <p:cNvPr id="74" name="Shape 71"/>
          <p:cNvSpPr/>
          <p:nvPr/>
        </p:nvSpPr>
        <p:spPr>
          <a:xfrm>
            <a:off x="2943317" y="2734146"/>
            <a:ext cx="2404738" cy="280091"/>
          </a:xfrm>
          <a:prstGeom prst="rect">
            <a:avLst/>
          </a:prstGeom>
          <a:solidFill>
            <a:srgbClr val="F8E1D0"/>
          </a:solidFill>
          <a:ln/>
        </p:spPr>
        <p:txBody>
          <a:bodyPr/>
          <a:lstStyle/>
          <a:p>
            <a:endParaRPr lang="ko-KR" altLang="en-US"/>
          </a:p>
        </p:txBody>
      </p:sp>
      <p:sp>
        <p:nvSpPr>
          <p:cNvPr id="75" name="Shape 72"/>
          <p:cNvSpPr/>
          <p:nvPr/>
        </p:nvSpPr>
        <p:spPr>
          <a:xfrm>
            <a:off x="2943317" y="2734146"/>
            <a:ext cx="2404738" cy="9525"/>
          </a:xfrm>
          <a:prstGeom prst="rect">
            <a:avLst/>
          </a:prstGeom>
          <a:solidFill>
            <a:srgbClr val="D3B9A5"/>
          </a:solidFill>
          <a:ln/>
        </p:spPr>
        <p:txBody>
          <a:bodyPr/>
          <a:lstStyle/>
          <a:p>
            <a:endParaRPr lang="ko-KR" altLang="en-US"/>
          </a:p>
        </p:txBody>
      </p:sp>
      <p:sp>
        <p:nvSpPr>
          <p:cNvPr id="76" name="Shape 73"/>
          <p:cNvSpPr/>
          <p:nvPr/>
        </p:nvSpPr>
        <p:spPr>
          <a:xfrm>
            <a:off x="2943317" y="2734146"/>
            <a:ext cx="9525" cy="280091"/>
          </a:xfrm>
          <a:prstGeom prst="rect">
            <a:avLst/>
          </a:prstGeom>
          <a:solidFill>
            <a:srgbClr val="D3B9A5"/>
          </a:solidFill>
          <a:ln/>
        </p:spPr>
        <p:txBody>
          <a:bodyPr/>
          <a:lstStyle/>
          <a:p>
            <a:endParaRPr lang="ko-KR" altLang="en-US"/>
          </a:p>
        </p:txBody>
      </p:sp>
      <p:sp>
        <p:nvSpPr>
          <p:cNvPr id="77" name="Text 74"/>
          <p:cNvSpPr/>
          <p:nvPr/>
        </p:nvSpPr>
        <p:spPr>
          <a:xfrm>
            <a:off x="2967584" y="2767938"/>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6만</a:t>
            </a:r>
            <a:endParaRPr lang="en-US" sz="1013" dirty="0"/>
          </a:p>
        </p:txBody>
      </p:sp>
      <p:sp>
        <p:nvSpPr>
          <p:cNvPr id="78" name="Shape 75"/>
          <p:cNvSpPr/>
          <p:nvPr/>
        </p:nvSpPr>
        <p:spPr>
          <a:xfrm>
            <a:off x="5348054" y="2734146"/>
            <a:ext cx="2404738" cy="280091"/>
          </a:xfrm>
          <a:prstGeom prst="rect">
            <a:avLst/>
          </a:prstGeom>
          <a:solidFill>
            <a:srgbClr val="FFFFFF"/>
          </a:solidFill>
          <a:ln/>
        </p:spPr>
        <p:txBody>
          <a:bodyPr/>
          <a:lstStyle/>
          <a:p>
            <a:endParaRPr lang="ko-KR" altLang="en-US"/>
          </a:p>
        </p:txBody>
      </p:sp>
      <p:sp>
        <p:nvSpPr>
          <p:cNvPr id="79" name="Shape 76"/>
          <p:cNvSpPr/>
          <p:nvPr/>
        </p:nvSpPr>
        <p:spPr>
          <a:xfrm>
            <a:off x="5348054" y="2734146"/>
            <a:ext cx="2404738" cy="9525"/>
          </a:xfrm>
          <a:prstGeom prst="rect">
            <a:avLst/>
          </a:prstGeom>
          <a:solidFill>
            <a:srgbClr val="D3B9A5"/>
          </a:solidFill>
          <a:ln/>
        </p:spPr>
        <p:txBody>
          <a:bodyPr/>
          <a:lstStyle/>
          <a:p>
            <a:endParaRPr lang="ko-KR" altLang="en-US"/>
          </a:p>
        </p:txBody>
      </p:sp>
      <p:sp>
        <p:nvSpPr>
          <p:cNvPr id="80" name="Shape 77"/>
          <p:cNvSpPr/>
          <p:nvPr/>
        </p:nvSpPr>
        <p:spPr>
          <a:xfrm>
            <a:off x="5348054" y="2734146"/>
            <a:ext cx="9525" cy="280091"/>
          </a:xfrm>
          <a:prstGeom prst="rect">
            <a:avLst/>
          </a:prstGeom>
          <a:solidFill>
            <a:srgbClr val="D3B9A5"/>
          </a:solidFill>
          <a:ln/>
        </p:spPr>
        <p:txBody>
          <a:bodyPr/>
          <a:lstStyle/>
          <a:p>
            <a:endParaRPr lang="ko-KR" altLang="en-US"/>
          </a:p>
        </p:txBody>
      </p:sp>
      <p:sp>
        <p:nvSpPr>
          <p:cNvPr id="81" name="Text 78"/>
          <p:cNvSpPr/>
          <p:nvPr/>
        </p:nvSpPr>
        <p:spPr>
          <a:xfrm>
            <a:off x="5372321" y="2767938"/>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5만</a:t>
            </a:r>
            <a:endParaRPr lang="en-US" sz="1013" dirty="0"/>
          </a:p>
        </p:txBody>
      </p:sp>
      <p:sp>
        <p:nvSpPr>
          <p:cNvPr id="82" name="Shape 79"/>
          <p:cNvSpPr/>
          <p:nvPr/>
        </p:nvSpPr>
        <p:spPr>
          <a:xfrm>
            <a:off x="7752792" y="2734146"/>
            <a:ext cx="2405145" cy="280091"/>
          </a:xfrm>
          <a:prstGeom prst="rect">
            <a:avLst/>
          </a:prstGeom>
          <a:solidFill>
            <a:srgbClr val="FFFFFF"/>
          </a:solidFill>
          <a:ln/>
        </p:spPr>
        <p:txBody>
          <a:bodyPr/>
          <a:lstStyle/>
          <a:p>
            <a:endParaRPr lang="ko-KR" altLang="en-US"/>
          </a:p>
        </p:txBody>
      </p:sp>
      <p:sp>
        <p:nvSpPr>
          <p:cNvPr id="83" name="Shape 80"/>
          <p:cNvSpPr/>
          <p:nvPr/>
        </p:nvSpPr>
        <p:spPr>
          <a:xfrm>
            <a:off x="7752792" y="2734146"/>
            <a:ext cx="2405145" cy="9525"/>
          </a:xfrm>
          <a:prstGeom prst="rect">
            <a:avLst/>
          </a:prstGeom>
          <a:solidFill>
            <a:srgbClr val="D3B9A5"/>
          </a:solidFill>
          <a:ln/>
        </p:spPr>
        <p:txBody>
          <a:bodyPr/>
          <a:lstStyle/>
          <a:p>
            <a:endParaRPr lang="ko-KR" altLang="en-US"/>
          </a:p>
        </p:txBody>
      </p:sp>
      <p:sp>
        <p:nvSpPr>
          <p:cNvPr id="84" name="Shape 81"/>
          <p:cNvSpPr/>
          <p:nvPr/>
        </p:nvSpPr>
        <p:spPr>
          <a:xfrm>
            <a:off x="7752792" y="2734146"/>
            <a:ext cx="9525" cy="280091"/>
          </a:xfrm>
          <a:prstGeom prst="rect">
            <a:avLst/>
          </a:prstGeom>
          <a:solidFill>
            <a:srgbClr val="D3B9A5"/>
          </a:solidFill>
          <a:ln/>
        </p:spPr>
        <p:txBody>
          <a:bodyPr/>
          <a:lstStyle/>
          <a:p>
            <a:endParaRPr lang="ko-KR" altLang="en-US"/>
          </a:p>
        </p:txBody>
      </p:sp>
      <p:sp>
        <p:nvSpPr>
          <p:cNvPr id="85" name="Text 82"/>
          <p:cNvSpPr/>
          <p:nvPr/>
        </p:nvSpPr>
        <p:spPr>
          <a:xfrm>
            <a:off x="7777059" y="2767938"/>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5만</a:t>
            </a:r>
            <a:endParaRPr lang="en-US" sz="1013" dirty="0"/>
          </a:p>
        </p:txBody>
      </p:sp>
      <p:sp>
        <p:nvSpPr>
          <p:cNvPr id="86" name="Shape 83"/>
          <p:cNvSpPr/>
          <p:nvPr/>
        </p:nvSpPr>
        <p:spPr>
          <a:xfrm>
            <a:off x="1740948" y="3014237"/>
            <a:ext cx="1202369" cy="280091"/>
          </a:xfrm>
          <a:prstGeom prst="rect">
            <a:avLst/>
          </a:prstGeom>
          <a:solidFill>
            <a:srgbClr val="FCF4EE"/>
          </a:solidFill>
          <a:ln/>
        </p:spPr>
        <p:txBody>
          <a:bodyPr/>
          <a:lstStyle/>
          <a:p>
            <a:endParaRPr lang="ko-KR" altLang="en-US"/>
          </a:p>
        </p:txBody>
      </p:sp>
      <p:sp>
        <p:nvSpPr>
          <p:cNvPr id="87" name="Shape 84"/>
          <p:cNvSpPr/>
          <p:nvPr/>
        </p:nvSpPr>
        <p:spPr>
          <a:xfrm>
            <a:off x="1740948" y="3014237"/>
            <a:ext cx="1202369" cy="9525"/>
          </a:xfrm>
          <a:prstGeom prst="rect">
            <a:avLst/>
          </a:prstGeom>
          <a:solidFill>
            <a:srgbClr val="D3B9A5"/>
          </a:solidFill>
          <a:ln/>
        </p:spPr>
        <p:txBody>
          <a:bodyPr/>
          <a:lstStyle/>
          <a:p>
            <a:endParaRPr lang="ko-KR" altLang="en-US"/>
          </a:p>
        </p:txBody>
      </p:sp>
      <p:sp>
        <p:nvSpPr>
          <p:cNvPr id="88" name="Shape 85"/>
          <p:cNvSpPr/>
          <p:nvPr/>
        </p:nvSpPr>
        <p:spPr>
          <a:xfrm>
            <a:off x="1740948" y="3014237"/>
            <a:ext cx="9525" cy="280091"/>
          </a:xfrm>
          <a:prstGeom prst="rect">
            <a:avLst/>
          </a:prstGeom>
          <a:solidFill>
            <a:srgbClr val="D3B9A5"/>
          </a:solidFill>
          <a:ln/>
        </p:spPr>
        <p:txBody>
          <a:bodyPr/>
          <a:lstStyle/>
          <a:p>
            <a:endParaRPr lang="ko-KR" altLang="en-US"/>
          </a:p>
        </p:txBody>
      </p:sp>
      <p:sp>
        <p:nvSpPr>
          <p:cNvPr id="89" name="Text 86"/>
          <p:cNvSpPr/>
          <p:nvPr/>
        </p:nvSpPr>
        <p:spPr>
          <a:xfrm>
            <a:off x="1765215" y="3048029"/>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감액 기준</a:t>
            </a:r>
            <a:endParaRPr lang="en-US" sz="1013" dirty="0"/>
          </a:p>
        </p:txBody>
      </p:sp>
      <p:sp>
        <p:nvSpPr>
          <p:cNvPr id="90" name="Shape 87"/>
          <p:cNvSpPr/>
          <p:nvPr/>
        </p:nvSpPr>
        <p:spPr>
          <a:xfrm>
            <a:off x="2943317" y="3014237"/>
            <a:ext cx="2404738" cy="280091"/>
          </a:xfrm>
          <a:prstGeom prst="rect">
            <a:avLst/>
          </a:prstGeom>
          <a:solidFill>
            <a:srgbClr val="F8E1D0"/>
          </a:solidFill>
          <a:ln/>
        </p:spPr>
        <p:txBody>
          <a:bodyPr/>
          <a:lstStyle/>
          <a:p>
            <a:endParaRPr lang="ko-KR" altLang="en-US"/>
          </a:p>
        </p:txBody>
      </p:sp>
      <p:sp>
        <p:nvSpPr>
          <p:cNvPr id="91" name="Shape 88"/>
          <p:cNvSpPr/>
          <p:nvPr/>
        </p:nvSpPr>
        <p:spPr>
          <a:xfrm>
            <a:off x="2943317" y="3014237"/>
            <a:ext cx="2404738" cy="9525"/>
          </a:xfrm>
          <a:prstGeom prst="rect">
            <a:avLst/>
          </a:prstGeom>
          <a:solidFill>
            <a:srgbClr val="D3B9A5"/>
          </a:solidFill>
          <a:ln/>
        </p:spPr>
        <p:txBody>
          <a:bodyPr/>
          <a:lstStyle/>
          <a:p>
            <a:endParaRPr lang="ko-KR" altLang="en-US"/>
          </a:p>
        </p:txBody>
      </p:sp>
      <p:sp>
        <p:nvSpPr>
          <p:cNvPr id="92" name="Shape 89"/>
          <p:cNvSpPr/>
          <p:nvPr/>
        </p:nvSpPr>
        <p:spPr>
          <a:xfrm>
            <a:off x="2943317" y="3014237"/>
            <a:ext cx="9525" cy="280091"/>
          </a:xfrm>
          <a:prstGeom prst="rect">
            <a:avLst/>
          </a:prstGeom>
          <a:solidFill>
            <a:srgbClr val="D3B9A5"/>
          </a:solidFill>
          <a:ln/>
        </p:spPr>
        <p:txBody>
          <a:bodyPr/>
          <a:lstStyle/>
          <a:p>
            <a:endParaRPr lang="ko-KR" altLang="en-US"/>
          </a:p>
        </p:txBody>
      </p:sp>
      <p:sp>
        <p:nvSpPr>
          <p:cNvPr id="93" name="Text 90"/>
          <p:cNvSpPr/>
          <p:nvPr/>
        </p:nvSpPr>
        <p:spPr>
          <a:xfrm>
            <a:off x="2967584" y="3048029"/>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8시간 미만 이용시 50%</a:t>
            </a:r>
            <a:endParaRPr lang="en-US" sz="1013" dirty="0"/>
          </a:p>
        </p:txBody>
      </p:sp>
      <p:sp>
        <p:nvSpPr>
          <p:cNvPr id="94" name="Shape 91"/>
          <p:cNvSpPr/>
          <p:nvPr/>
        </p:nvSpPr>
        <p:spPr>
          <a:xfrm>
            <a:off x="5348054" y="3014237"/>
            <a:ext cx="2404738" cy="280091"/>
          </a:xfrm>
          <a:prstGeom prst="rect">
            <a:avLst/>
          </a:prstGeom>
          <a:solidFill>
            <a:srgbClr val="FFFFFF"/>
          </a:solidFill>
          <a:ln/>
        </p:spPr>
        <p:txBody>
          <a:bodyPr/>
          <a:lstStyle/>
          <a:p>
            <a:endParaRPr lang="ko-KR" altLang="en-US"/>
          </a:p>
        </p:txBody>
      </p:sp>
      <p:sp>
        <p:nvSpPr>
          <p:cNvPr id="95" name="Shape 92"/>
          <p:cNvSpPr/>
          <p:nvPr/>
        </p:nvSpPr>
        <p:spPr>
          <a:xfrm>
            <a:off x="5348054" y="3014237"/>
            <a:ext cx="2404738" cy="9525"/>
          </a:xfrm>
          <a:prstGeom prst="rect">
            <a:avLst/>
          </a:prstGeom>
          <a:solidFill>
            <a:srgbClr val="D3B9A5"/>
          </a:solidFill>
          <a:ln/>
        </p:spPr>
        <p:txBody>
          <a:bodyPr/>
          <a:lstStyle/>
          <a:p>
            <a:endParaRPr lang="ko-KR" altLang="en-US"/>
          </a:p>
        </p:txBody>
      </p:sp>
      <p:sp>
        <p:nvSpPr>
          <p:cNvPr id="96" name="Shape 93"/>
          <p:cNvSpPr/>
          <p:nvPr/>
        </p:nvSpPr>
        <p:spPr>
          <a:xfrm>
            <a:off x="5348054" y="3014237"/>
            <a:ext cx="9525" cy="280091"/>
          </a:xfrm>
          <a:prstGeom prst="rect">
            <a:avLst/>
          </a:prstGeom>
          <a:solidFill>
            <a:srgbClr val="D3B9A5"/>
          </a:solidFill>
          <a:ln/>
        </p:spPr>
        <p:txBody>
          <a:bodyPr/>
          <a:lstStyle/>
          <a:p>
            <a:endParaRPr lang="ko-KR" altLang="en-US"/>
          </a:p>
        </p:txBody>
      </p:sp>
      <p:sp>
        <p:nvSpPr>
          <p:cNvPr id="97" name="Text 94"/>
          <p:cNvSpPr/>
          <p:nvPr/>
        </p:nvSpPr>
        <p:spPr>
          <a:xfrm>
            <a:off x="5372321" y="3048029"/>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6시간 미만 이용시 50%</a:t>
            </a:r>
            <a:endParaRPr lang="en-US" sz="1013" dirty="0"/>
          </a:p>
        </p:txBody>
      </p:sp>
      <p:sp>
        <p:nvSpPr>
          <p:cNvPr id="98" name="Shape 95"/>
          <p:cNvSpPr/>
          <p:nvPr/>
        </p:nvSpPr>
        <p:spPr>
          <a:xfrm>
            <a:off x="7752792" y="3014237"/>
            <a:ext cx="2405145" cy="280091"/>
          </a:xfrm>
          <a:prstGeom prst="rect">
            <a:avLst/>
          </a:prstGeom>
          <a:solidFill>
            <a:srgbClr val="FFFFFF"/>
          </a:solidFill>
          <a:ln/>
        </p:spPr>
        <p:txBody>
          <a:bodyPr/>
          <a:lstStyle/>
          <a:p>
            <a:endParaRPr lang="ko-KR" altLang="en-US"/>
          </a:p>
        </p:txBody>
      </p:sp>
      <p:sp>
        <p:nvSpPr>
          <p:cNvPr id="99" name="Shape 96"/>
          <p:cNvSpPr/>
          <p:nvPr/>
        </p:nvSpPr>
        <p:spPr>
          <a:xfrm>
            <a:off x="7752792" y="3014237"/>
            <a:ext cx="2405145" cy="9525"/>
          </a:xfrm>
          <a:prstGeom prst="rect">
            <a:avLst/>
          </a:prstGeom>
          <a:solidFill>
            <a:srgbClr val="D3B9A5"/>
          </a:solidFill>
          <a:ln/>
        </p:spPr>
        <p:txBody>
          <a:bodyPr/>
          <a:lstStyle/>
          <a:p>
            <a:endParaRPr lang="ko-KR" altLang="en-US"/>
          </a:p>
        </p:txBody>
      </p:sp>
      <p:sp>
        <p:nvSpPr>
          <p:cNvPr id="100" name="Shape 97"/>
          <p:cNvSpPr/>
          <p:nvPr/>
        </p:nvSpPr>
        <p:spPr>
          <a:xfrm>
            <a:off x="7752792" y="3014237"/>
            <a:ext cx="9525" cy="280091"/>
          </a:xfrm>
          <a:prstGeom prst="rect">
            <a:avLst/>
          </a:prstGeom>
          <a:solidFill>
            <a:srgbClr val="D3B9A5"/>
          </a:solidFill>
          <a:ln/>
        </p:spPr>
        <p:txBody>
          <a:bodyPr/>
          <a:lstStyle/>
          <a:p>
            <a:endParaRPr lang="ko-KR" altLang="en-US"/>
          </a:p>
        </p:txBody>
      </p:sp>
      <p:sp>
        <p:nvSpPr>
          <p:cNvPr id="101" name="Text 98"/>
          <p:cNvSpPr/>
          <p:nvPr/>
        </p:nvSpPr>
        <p:spPr>
          <a:xfrm>
            <a:off x="7777059" y="3048029"/>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8시간 미만 이용시 50%</a:t>
            </a:r>
            <a:endParaRPr lang="en-US" sz="1013" dirty="0"/>
          </a:p>
        </p:txBody>
      </p:sp>
      <p:sp>
        <p:nvSpPr>
          <p:cNvPr id="102" name="Shape 99"/>
          <p:cNvSpPr/>
          <p:nvPr/>
        </p:nvSpPr>
        <p:spPr>
          <a:xfrm>
            <a:off x="538580" y="3294327"/>
            <a:ext cx="1202369" cy="840272"/>
          </a:xfrm>
          <a:prstGeom prst="rect">
            <a:avLst/>
          </a:prstGeom>
          <a:solidFill>
            <a:srgbClr val="FCF4EE"/>
          </a:solidFill>
          <a:ln/>
        </p:spPr>
        <p:txBody>
          <a:bodyPr/>
          <a:lstStyle/>
          <a:p>
            <a:endParaRPr lang="ko-KR" altLang="en-US"/>
          </a:p>
        </p:txBody>
      </p:sp>
      <p:sp>
        <p:nvSpPr>
          <p:cNvPr id="103" name="Shape 100"/>
          <p:cNvSpPr/>
          <p:nvPr/>
        </p:nvSpPr>
        <p:spPr>
          <a:xfrm>
            <a:off x="538580" y="3294327"/>
            <a:ext cx="1202369" cy="9525"/>
          </a:xfrm>
          <a:prstGeom prst="rect">
            <a:avLst/>
          </a:prstGeom>
          <a:solidFill>
            <a:srgbClr val="D3B9A5"/>
          </a:solidFill>
          <a:ln/>
        </p:spPr>
        <p:txBody>
          <a:bodyPr/>
          <a:lstStyle/>
          <a:p>
            <a:endParaRPr lang="ko-KR" altLang="en-US"/>
          </a:p>
        </p:txBody>
      </p:sp>
      <p:sp>
        <p:nvSpPr>
          <p:cNvPr id="104" name="Text 101"/>
          <p:cNvSpPr/>
          <p:nvPr/>
        </p:nvSpPr>
        <p:spPr>
          <a:xfrm>
            <a:off x="557630" y="3328119"/>
            <a:ext cx="1164269" cy="81600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CF4EE"/>
                </a:highlight>
                <a:latin typeface="Paperlogy 7 Bold" pitchFamily="2" charset="-127"/>
                <a:ea typeface="Paperlogy 7 Bold" pitchFamily="2" charset="-127"/>
                <a:cs typeface="Arial" pitchFamily="34" charset="-120"/>
              </a:rPr>
              <a:t>181일 이상</a:t>
            </a:r>
            <a:endParaRPr lang="en-US" sz="1013" dirty="0"/>
          </a:p>
        </p:txBody>
      </p:sp>
      <p:sp>
        <p:nvSpPr>
          <p:cNvPr id="105" name="Shape 102"/>
          <p:cNvSpPr/>
          <p:nvPr/>
        </p:nvSpPr>
        <p:spPr>
          <a:xfrm>
            <a:off x="1740948" y="3294327"/>
            <a:ext cx="1202369" cy="280091"/>
          </a:xfrm>
          <a:prstGeom prst="rect">
            <a:avLst/>
          </a:prstGeom>
          <a:solidFill>
            <a:srgbClr val="FCF4EE"/>
          </a:solidFill>
          <a:ln/>
        </p:spPr>
        <p:txBody>
          <a:bodyPr/>
          <a:lstStyle/>
          <a:p>
            <a:endParaRPr lang="ko-KR" altLang="en-US"/>
          </a:p>
        </p:txBody>
      </p:sp>
      <p:sp>
        <p:nvSpPr>
          <p:cNvPr id="106" name="Shape 103"/>
          <p:cNvSpPr/>
          <p:nvPr/>
        </p:nvSpPr>
        <p:spPr>
          <a:xfrm>
            <a:off x="1740948" y="3294327"/>
            <a:ext cx="1202369" cy="9525"/>
          </a:xfrm>
          <a:prstGeom prst="rect">
            <a:avLst/>
          </a:prstGeom>
          <a:solidFill>
            <a:srgbClr val="D3B9A5"/>
          </a:solidFill>
          <a:ln/>
        </p:spPr>
        <p:txBody>
          <a:bodyPr/>
          <a:lstStyle/>
          <a:p>
            <a:endParaRPr lang="ko-KR" altLang="en-US"/>
          </a:p>
        </p:txBody>
      </p:sp>
      <p:sp>
        <p:nvSpPr>
          <p:cNvPr id="107" name="Shape 104"/>
          <p:cNvSpPr/>
          <p:nvPr/>
        </p:nvSpPr>
        <p:spPr>
          <a:xfrm>
            <a:off x="1740948" y="3294327"/>
            <a:ext cx="9525" cy="280091"/>
          </a:xfrm>
          <a:prstGeom prst="rect">
            <a:avLst/>
          </a:prstGeom>
          <a:solidFill>
            <a:srgbClr val="D3B9A5"/>
          </a:solidFill>
          <a:ln/>
        </p:spPr>
        <p:txBody>
          <a:bodyPr/>
          <a:lstStyle/>
          <a:p>
            <a:endParaRPr lang="ko-KR" altLang="en-US"/>
          </a:p>
        </p:txBody>
      </p:sp>
      <p:sp>
        <p:nvSpPr>
          <p:cNvPr id="108" name="Text 105"/>
          <p:cNvSpPr/>
          <p:nvPr/>
        </p:nvSpPr>
        <p:spPr>
          <a:xfrm>
            <a:off x="1765215" y="3328119"/>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요양병원 외</a:t>
            </a:r>
            <a:endParaRPr lang="en-US" sz="1013" dirty="0"/>
          </a:p>
        </p:txBody>
      </p:sp>
      <p:sp>
        <p:nvSpPr>
          <p:cNvPr id="109" name="Shape 106"/>
          <p:cNvSpPr/>
          <p:nvPr/>
        </p:nvSpPr>
        <p:spPr>
          <a:xfrm>
            <a:off x="2943317" y="3294327"/>
            <a:ext cx="2404738" cy="280091"/>
          </a:xfrm>
          <a:prstGeom prst="rect">
            <a:avLst/>
          </a:prstGeom>
          <a:solidFill>
            <a:srgbClr val="F8E1D0"/>
          </a:solidFill>
          <a:ln/>
        </p:spPr>
        <p:txBody>
          <a:bodyPr/>
          <a:lstStyle/>
          <a:p>
            <a:endParaRPr lang="ko-KR" altLang="en-US"/>
          </a:p>
        </p:txBody>
      </p:sp>
      <p:sp>
        <p:nvSpPr>
          <p:cNvPr id="110" name="Shape 107"/>
          <p:cNvSpPr/>
          <p:nvPr/>
        </p:nvSpPr>
        <p:spPr>
          <a:xfrm>
            <a:off x="2943317" y="3294327"/>
            <a:ext cx="2404738" cy="9525"/>
          </a:xfrm>
          <a:prstGeom prst="rect">
            <a:avLst/>
          </a:prstGeom>
          <a:solidFill>
            <a:srgbClr val="D3B9A5"/>
          </a:solidFill>
          <a:ln/>
        </p:spPr>
        <p:txBody>
          <a:bodyPr/>
          <a:lstStyle/>
          <a:p>
            <a:endParaRPr lang="ko-KR" altLang="en-US"/>
          </a:p>
        </p:txBody>
      </p:sp>
      <p:sp>
        <p:nvSpPr>
          <p:cNvPr id="111" name="Shape 108"/>
          <p:cNvSpPr/>
          <p:nvPr/>
        </p:nvSpPr>
        <p:spPr>
          <a:xfrm>
            <a:off x="2943317" y="3294327"/>
            <a:ext cx="9525" cy="280091"/>
          </a:xfrm>
          <a:prstGeom prst="rect">
            <a:avLst/>
          </a:prstGeom>
          <a:solidFill>
            <a:srgbClr val="D3B9A5"/>
          </a:solidFill>
          <a:ln/>
        </p:spPr>
        <p:txBody>
          <a:bodyPr/>
          <a:lstStyle/>
          <a:p>
            <a:endParaRPr lang="ko-KR" altLang="en-US"/>
          </a:p>
        </p:txBody>
      </p:sp>
      <p:sp>
        <p:nvSpPr>
          <p:cNvPr id="112" name="Text 109"/>
          <p:cNvSpPr/>
          <p:nvPr/>
        </p:nvSpPr>
        <p:spPr>
          <a:xfrm>
            <a:off x="2967584" y="3328119"/>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O</a:t>
            </a:r>
            <a:endParaRPr lang="en-US" sz="1013" dirty="0"/>
          </a:p>
        </p:txBody>
      </p:sp>
      <p:sp>
        <p:nvSpPr>
          <p:cNvPr id="113" name="Shape 110"/>
          <p:cNvSpPr/>
          <p:nvPr/>
        </p:nvSpPr>
        <p:spPr>
          <a:xfrm>
            <a:off x="5348054" y="3294327"/>
            <a:ext cx="2404738" cy="280091"/>
          </a:xfrm>
          <a:prstGeom prst="rect">
            <a:avLst/>
          </a:prstGeom>
          <a:solidFill>
            <a:srgbClr val="FFFFFF"/>
          </a:solidFill>
          <a:ln/>
        </p:spPr>
        <p:txBody>
          <a:bodyPr/>
          <a:lstStyle/>
          <a:p>
            <a:endParaRPr lang="ko-KR" altLang="en-US"/>
          </a:p>
        </p:txBody>
      </p:sp>
      <p:sp>
        <p:nvSpPr>
          <p:cNvPr id="114" name="Shape 111"/>
          <p:cNvSpPr/>
          <p:nvPr/>
        </p:nvSpPr>
        <p:spPr>
          <a:xfrm>
            <a:off x="5348054" y="3294327"/>
            <a:ext cx="2404738" cy="9525"/>
          </a:xfrm>
          <a:prstGeom prst="rect">
            <a:avLst/>
          </a:prstGeom>
          <a:solidFill>
            <a:srgbClr val="D3B9A5"/>
          </a:solidFill>
          <a:ln/>
        </p:spPr>
        <p:txBody>
          <a:bodyPr/>
          <a:lstStyle/>
          <a:p>
            <a:endParaRPr lang="ko-KR" altLang="en-US"/>
          </a:p>
        </p:txBody>
      </p:sp>
      <p:sp>
        <p:nvSpPr>
          <p:cNvPr id="115" name="Shape 112"/>
          <p:cNvSpPr/>
          <p:nvPr/>
        </p:nvSpPr>
        <p:spPr>
          <a:xfrm>
            <a:off x="5348054" y="3294327"/>
            <a:ext cx="9525" cy="280091"/>
          </a:xfrm>
          <a:prstGeom prst="rect">
            <a:avLst/>
          </a:prstGeom>
          <a:solidFill>
            <a:srgbClr val="D3B9A5"/>
          </a:solidFill>
          <a:ln/>
        </p:spPr>
        <p:txBody>
          <a:bodyPr/>
          <a:lstStyle/>
          <a:p>
            <a:endParaRPr lang="ko-KR" altLang="en-US"/>
          </a:p>
        </p:txBody>
      </p:sp>
      <p:sp>
        <p:nvSpPr>
          <p:cNvPr id="116" name="Text 113"/>
          <p:cNvSpPr/>
          <p:nvPr/>
        </p:nvSpPr>
        <p:spPr>
          <a:xfrm>
            <a:off x="5372321" y="3328119"/>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O</a:t>
            </a:r>
            <a:endParaRPr lang="en-US" sz="1013" dirty="0"/>
          </a:p>
        </p:txBody>
      </p:sp>
      <p:sp>
        <p:nvSpPr>
          <p:cNvPr id="117" name="Shape 114"/>
          <p:cNvSpPr/>
          <p:nvPr/>
        </p:nvSpPr>
        <p:spPr>
          <a:xfrm>
            <a:off x="7752792" y="3294327"/>
            <a:ext cx="2405145" cy="280091"/>
          </a:xfrm>
          <a:prstGeom prst="rect">
            <a:avLst/>
          </a:prstGeom>
          <a:solidFill>
            <a:srgbClr val="FFFFFF"/>
          </a:solidFill>
          <a:ln/>
        </p:spPr>
        <p:txBody>
          <a:bodyPr/>
          <a:lstStyle/>
          <a:p>
            <a:endParaRPr lang="ko-KR" altLang="en-US"/>
          </a:p>
        </p:txBody>
      </p:sp>
      <p:sp>
        <p:nvSpPr>
          <p:cNvPr id="118" name="Shape 115"/>
          <p:cNvSpPr/>
          <p:nvPr/>
        </p:nvSpPr>
        <p:spPr>
          <a:xfrm>
            <a:off x="7752792" y="3294327"/>
            <a:ext cx="2405145" cy="9525"/>
          </a:xfrm>
          <a:prstGeom prst="rect">
            <a:avLst/>
          </a:prstGeom>
          <a:solidFill>
            <a:srgbClr val="D3B9A5"/>
          </a:solidFill>
          <a:ln/>
        </p:spPr>
        <p:txBody>
          <a:bodyPr/>
          <a:lstStyle/>
          <a:p>
            <a:endParaRPr lang="ko-KR" altLang="en-US"/>
          </a:p>
        </p:txBody>
      </p:sp>
      <p:sp>
        <p:nvSpPr>
          <p:cNvPr id="119" name="Shape 116"/>
          <p:cNvSpPr/>
          <p:nvPr/>
        </p:nvSpPr>
        <p:spPr>
          <a:xfrm>
            <a:off x="7752792" y="3294327"/>
            <a:ext cx="9525" cy="280091"/>
          </a:xfrm>
          <a:prstGeom prst="rect">
            <a:avLst/>
          </a:prstGeom>
          <a:solidFill>
            <a:srgbClr val="D3B9A5"/>
          </a:solidFill>
          <a:ln/>
        </p:spPr>
        <p:txBody>
          <a:bodyPr/>
          <a:lstStyle/>
          <a:p>
            <a:endParaRPr lang="ko-KR" altLang="en-US"/>
          </a:p>
        </p:txBody>
      </p:sp>
      <p:sp>
        <p:nvSpPr>
          <p:cNvPr id="120" name="Text 117"/>
          <p:cNvSpPr/>
          <p:nvPr/>
        </p:nvSpPr>
        <p:spPr>
          <a:xfrm>
            <a:off x="7777059" y="3328119"/>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O</a:t>
            </a:r>
            <a:endParaRPr lang="en-US" sz="1013" dirty="0"/>
          </a:p>
        </p:txBody>
      </p:sp>
      <p:sp>
        <p:nvSpPr>
          <p:cNvPr id="121" name="Shape 118"/>
          <p:cNvSpPr/>
          <p:nvPr/>
        </p:nvSpPr>
        <p:spPr>
          <a:xfrm>
            <a:off x="1740948" y="3574418"/>
            <a:ext cx="1202369" cy="280091"/>
          </a:xfrm>
          <a:prstGeom prst="rect">
            <a:avLst/>
          </a:prstGeom>
          <a:solidFill>
            <a:srgbClr val="FCF4EE"/>
          </a:solidFill>
          <a:ln/>
        </p:spPr>
        <p:txBody>
          <a:bodyPr/>
          <a:lstStyle/>
          <a:p>
            <a:endParaRPr lang="ko-KR" altLang="en-US"/>
          </a:p>
        </p:txBody>
      </p:sp>
      <p:sp>
        <p:nvSpPr>
          <p:cNvPr id="122" name="Shape 119"/>
          <p:cNvSpPr/>
          <p:nvPr/>
        </p:nvSpPr>
        <p:spPr>
          <a:xfrm>
            <a:off x="1740948" y="3574418"/>
            <a:ext cx="1202369" cy="9525"/>
          </a:xfrm>
          <a:prstGeom prst="rect">
            <a:avLst/>
          </a:prstGeom>
          <a:solidFill>
            <a:srgbClr val="D3B9A5"/>
          </a:solidFill>
          <a:ln/>
        </p:spPr>
        <p:txBody>
          <a:bodyPr/>
          <a:lstStyle/>
          <a:p>
            <a:endParaRPr lang="ko-KR" altLang="en-US"/>
          </a:p>
        </p:txBody>
      </p:sp>
      <p:sp>
        <p:nvSpPr>
          <p:cNvPr id="123" name="Shape 120"/>
          <p:cNvSpPr/>
          <p:nvPr/>
        </p:nvSpPr>
        <p:spPr>
          <a:xfrm>
            <a:off x="1740948" y="3574418"/>
            <a:ext cx="9525" cy="280091"/>
          </a:xfrm>
          <a:prstGeom prst="rect">
            <a:avLst/>
          </a:prstGeom>
          <a:solidFill>
            <a:srgbClr val="D3B9A5"/>
          </a:solidFill>
          <a:ln/>
        </p:spPr>
        <p:txBody>
          <a:bodyPr/>
          <a:lstStyle/>
          <a:p>
            <a:endParaRPr lang="ko-KR" altLang="en-US"/>
          </a:p>
        </p:txBody>
      </p:sp>
      <p:sp>
        <p:nvSpPr>
          <p:cNvPr id="124" name="Text 121"/>
          <p:cNvSpPr/>
          <p:nvPr/>
        </p:nvSpPr>
        <p:spPr>
          <a:xfrm>
            <a:off x="1765215" y="3608210"/>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요양병원</a:t>
            </a:r>
            <a:endParaRPr lang="en-US" sz="1013" dirty="0"/>
          </a:p>
        </p:txBody>
      </p:sp>
      <p:sp>
        <p:nvSpPr>
          <p:cNvPr id="125" name="Shape 122"/>
          <p:cNvSpPr/>
          <p:nvPr/>
        </p:nvSpPr>
        <p:spPr>
          <a:xfrm>
            <a:off x="2943317" y="3574418"/>
            <a:ext cx="2404738" cy="280091"/>
          </a:xfrm>
          <a:prstGeom prst="rect">
            <a:avLst/>
          </a:prstGeom>
          <a:solidFill>
            <a:srgbClr val="F8E1D0"/>
          </a:solidFill>
          <a:ln/>
        </p:spPr>
        <p:txBody>
          <a:bodyPr/>
          <a:lstStyle/>
          <a:p>
            <a:endParaRPr lang="ko-KR" altLang="en-US"/>
          </a:p>
        </p:txBody>
      </p:sp>
      <p:sp>
        <p:nvSpPr>
          <p:cNvPr id="126" name="Shape 123"/>
          <p:cNvSpPr/>
          <p:nvPr/>
        </p:nvSpPr>
        <p:spPr>
          <a:xfrm>
            <a:off x="2943317" y="3574418"/>
            <a:ext cx="2404738" cy="9525"/>
          </a:xfrm>
          <a:prstGeom prst="rect">
            <a:avLst/>
          </a:prstGeom>
          <a:solidFill>
            <a:srgbClr val="D3B9A5"/>
          </a:solidFill>
          <a:ln/>
        </p:spPr>
        <p:txBody>
          <a:bodyPr/>
          <a:lstStyle/>
          <a:p>
            <a:endParaRPr lang="ko-KR" altLang="en-US"/>
          </a:p>
        </p:txBody>
      </p:sp>
      <p:sp>
        <p:nvSpPr>
          <p:cNvPr id="127" name="Shape 124"/>
          <p:cNvSpPr/>
          <p:nvPr/>
        </p:nvSpPr>
        <p:spPr>
          <a:xfrm>
            <a:off x="2943317" y="3574418"/>
            <a:ext cx="9525" cy="280091"/>
          </a:xfrm>
          <a:prstGeom prst="rect">
            <a:avLst/>
          </a:prstGeom>
          <a:solidFill>
            <a:srgbClr val="D3B9A5"/>
          </a:solidFill>
          <a:ln/>
        </p:spPr>
        <p:txBody>
          <a:bodyPr/>
          <a:lstStyle/>
          <a:p>
            <a:endParaRPr lang="ko-KR" altLang="en-US"/>
          </a:p>
        </p:txBody>
      </p:sp>
      <p:sp>
        <p:nvSpPr>
          <p:cNvPr id="128" name="Text 125"/>
          <p:cNvSpPr/>
          <p:nvPr/>
        </p:nvSpPr>
        <p:spPr>
          <a:xfrm>
            <a:off x="2967584" y="3608210"/>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O</a:t>
            </a:r>
            <a:endParaRPr lang="en-US" sz="1013" dirty="0"/>
          </a:p>
        </p:txBody>
      </p:sp>
      <p:sp>
        <p:nvSpPr>
          <p:cNvPr id="129" name="Shape 126"/>
          <p:cNvSpPr/>
          <p:nvPr/>
        </p:nvSpPr>
        <p:spPr>
          <a:xfrm>
            <a:off x="5348054" y="3574418"/>
            <a:ext cx="2404738" cy="280091"/>
          </a:xfrm>
          <a:prstGeom prst="rect">
            <a:avLst/>
          </a:prstGeom>
          <a:solidFill>
            <a:srgbClr val="FFFFFF"/>
          </a:solidFill>
          <a:ln/>
        </p:spPr>
        <p:txBody>
          <a:bodyPr/>
          <a:lstStyle/>
          <a:p>
            <a:endParaRPr lang="ko-KR" altLang="en-US"/>
          </a:p>
        </p:txBody>
      </p:sp>
      <p:sp>
        <p:nvSpPr>
          <p:cNvPr id="130" name="Shape 127"/>
          <p:cNvSpPr/>
          <p:nvPr/>
        </p:nvSpPr>
        <p:spPr>
          <a:xfrm>
            <a:off x="5348054" y="3574418"/>
            <a:ext cx="2404738" cy="9525"/>
          </a:xfrm>
          <a:prstGeom prst="rect">
            <a:avLst/>
          </a:prstGeom>
          <a:solidFill>
            <a:srgbClr val="D3B9A5"/>
          </a:solidFill>
          <a:ln/>
        </p:spPr>
        <p:txBody>
          <a:bodyPr/>
          <a:lstStyle/>
          <a:p>
            <a:endParaRPr lang="ko-KR" altLang="en-US"/>
          </a:p>
        </p:txBody>
      </p:sp>
      <p:sp>
        <p:nvSpPr>
          <p:cNvPr id="131" name="Shape 128"/>
          <p:cNvSpPr/>
          <p:nvPr/>
        </p:nvSpPr>
        <p:spPr>
          <a:xfrm>
            <a:off x="5348054" y="3574418"/>
            <a:ext cx="9525" cy="280091"/>
          </a:xfrm>
          <a:prstGeom prst="rect">
            <a:avLst/>
          </a:prstGeom>
          <a:solidFill>
            <a:srgbClr val="D3B9A5"/>
          </a:solidFill>
          <a:ln/>
        </p:spPr>
        <p:txBody>
          <a:bodyPr/>
          <a:lstStyle/>
          <a:p>
            <a:endParaRPr lang="ko-KR" altLang="en-US"/>
          </a:p>
        </p:txBody>
      </p:sp>
      <p:sp>
        <p:nvSpPr>
          <p:cNvPr id="132" name="Text 129"/>
          <p:cNvSpPr/>
          <p:nvPr/>
        </p:nvSpPr>
        <p:spPr>
          <a:xfrm>
            <a:off x="5372321" y="3608210"/>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X</a:t>
            </a:r>
            <a:endParaRPr lang="en-US" sz="1013" dirty="0"/>
          </a:p>
        </p:txBody>
      </p:sp>
      <p:sp>
        <p:nvSpPr>
          <p:cNvPr id="133" name="Shape 130"/>
          <p:cNvSpPr/>
          <p:nvPr/>
        </p:nvSpPr>
        <p:spPr>
          <a:xfrm>
            <a:off x="7752792" y="3574418"/>
            <a:ext cx="2405145" cy="280091"/>
          </a:xfrm>
          <a:prstGeom prst="rect">
            <a:avLst/>
          </a:prstGeom>
          <a:solidFill>
            <a:srgbClr val="FFFFFF"/>
          </a:solidFill>
          <a:ln/>
        </p:spPr>
        <p:txBody>
          <a:bodyPr/>
          <a:lstStyle/>
          <a:p>
            <a:endParaRPr lang="ko-KR" altLang="en-US"/>
          </a:p>
        </p:txBody>
      </p:sp>
      <p:sp>
        <p:nvSpPr>
          <p:cNvPr id="134" name="Shape 131"/>
          <p:cNvSpPr/>
          <p:nvPr/>
        </p:nvSpPr>
        <p:spPr>
          <a:xfrm>
            <a:off x="7752792" y="3574418"/>
            <a:ext cx="2405145" cy="9525"/>
          </a:xfrm>
          <a:prstGeom prst="rect">
            <a:avLst/>
          </a:prstGeom>
          <a:solidFill>
            <a:srgbClr val="D3B9A5"/>
          </a:solidFill>
          <a:ln/>
        </p:spPr>
        <p:txBody>
          <a:bodyPr/>
          <a:lstStyle/>
          <a:p>
            <a:endParaRPr lang="ko-KR" altLang="en-US"/>
          </a:p>
        </p:txBody>
      </p:sp>
      <p:sp>
        <p:nvSpPr>
          <p:cNvPr id="135" name="Shape 132"/>
          <p:cNvSpPr/>
          <p:nvPr/>
        </p:nvSpPr>
        <p:spPr>
          <a:xfrm>
            <a:off x="7752792" y="3574418"/>
            <a:ext cx="9525" cy="280091"/>
          </a:xfrm>
          <a:prstGeom prst="rect">
            <a:avLst/>
          </a:prstGeom>
          <a:solidFill>
            <a:srgbClr val="D3B9A5"/>
          </a:solidFill>
          <a:ln/>
        </p:spPr>
        <p:txBody>
          <a:bodyPr/>
          <a:lstStyle/>
          <a:p>
            <a:endParaRPr lang="ko-KR" altLang="en-US"/>
          </a:p>
        </p:txBody>
      </p:sp>
      <p:sp>
        <p:nvSpPr>
          <p:cNvPr id="136" name="Text 133"/>
          <p:cNvSpPr/>
          <p:nvPr/>
        </p:nvSpPr>
        <p:spPr>
          <a:xfrm>
            <a:off x="7777059" y="3608210"/>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X</a:t>
            </a:r>
            <a:endParaRPr lang="en-US" sz="1013" dirty="0"/>
          </a:p>
        </p:txBody>
      </p:sp>
      <p:sp>
        <p:nvSpPr>
          <p:cNvPr id="137" name="Shape 134"/>
          <p:cNvSpPr/>
          <p:nvPr/>
        </p:nvSpPr>
        <p:spPr>
          <a:xfrm>
            <a:off x="1740948" y="3854509"/>
            <a:ext cx="1202369" cy="280091"/>
          </a:xfrm>
          <a:prstGeom prst="rect">
            <a:avLst/>
          </a:prstGeom>
          <a:solidFill>
            <a:srgbClr val="FCF4EE"/>
          </a:solidFill>
          <a:ln/>
        </p:spPr>
        <p:txBody>
          <a:bodyPr/>
          <a:lstStyle/>
          <a:p>
            <a:endParaRPr lang="ko-KR" altLang="en-US"/>
          </a:p>
        </p:txBody>
      </p:sp>
      <p:sp>
        <p:nvSpPr>
          <p:cNvPr id="138" name="Shape 135"/>
          <p:cNvSpPr/>
          <p:nvPr/>
        </p:nvSpPr>
        <p:spPr>
          <a:xfrm>
            <a:off x="1740948" y="3854509"/>
            <a:ext cx="1202369" cy="9525"/>
          </a:xfrm>
          <a:prstGeom prst="rect">
            <a:avLst/>
          </a:prstGeom>
          <a:solidFill>
            <a:srgbClr val="D3B9A5"/>
          </a:solidFill>
          <a:ln/>
        </p:spPr>
        <p:txBody>
          <a:bodyPr/>
          <a:lstStyle/>
          <a:p>
            <a:endParaRPr lang="ko-KR" altLang="en-US"/>
          </a:p>
        </p:txBody>
      </p:sp>
      <p:sp>
        <p:nvSpPr>
          <p:cNvPr id="139" name="Shape 136"/>
          <p:cNvSpPr/>
          <p:nvPr/>
        </p:nvSpPr>
        <p:spPr>
          <a:xfrm>
            <a:off x="1740948" y="3854509"/>
            <a:ext cx="9525" cy="280091"/>
          </a:xfrm>
          <a:prstGeom prst="rect">
            <a:avLst/>
          </a:prstGeom>
          <a:solidFill>
            <a:srgbClr val="D3B9A5"/>
          </a:solidFill>
          <a:ln/>
        </p:spPr>
        <p:txBody>
          <a:bodyPr/>
          <a:lstStyle/>
          <a:p>
            <a:endParaRPr lang="ko-KR" altLang="en-US"/>
          </a:p>
        </p:txBody>
      </p:sp>
      <p:sp>
        <p:nvSpPr>
          <p:cNvPr id="140" name="Text 137"/>
          <p:cNvSpPr/>
          <p:nvPr/>
        </p:nvSpPr>
        <p:spPr>
          <a:xfrm>
            <a:off x="1765215" y="3888301"/>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간호간병</a:t>
            </a:r>
            <a:endParaRPr lang="en-US" sz="1013" dirty="0"/>
          </a:p>
        </p:txBody>
      </p:sp>
      <p:sp>
        <p:nvSpPr>
          <p:cNvPr id="141" name="Shape 138"/>
          <p:cNvSpPr/>
          <p:nvPr/>
        </p:nvSpPr>
        <p:spPr>
          <a:xfrm>
            <a:off x="2943317" y="3854509"/>
            <a:ext cx="2404738" cy="280091"/>
          </a:xfrm>
          <a:prstGeom prst="rect">
            <a:avLst/>
          </a:prstGeom>
          <a:solidFill>
            <a:srgbClr val="F8E1D0"/>
          </a:solidFill>
          <a:ln/>
        </p:spPr>
        <p:txBody>
          <a:bodyPr/>
          <a:lstStyle/>
          <a:p>
            <a:endParaRPr lang="ko-KR" altLang="en-US"/>
          </a:p>
        </p:txBody>
      </p:sp>
      <p:sp>
        <p:nvSpPr>
          <p:cNvPr id="142" name="Shape 139"/>
          <p:cNvSpPr/>
          <p:nvPr/>
        </p:nvSpPr>
        <p:spPr>
          <a:xfrm>
            <a:off x="2943317" y="3854509"/>
            <a:ext cx="2404738" cy="9525"/>
          </a:xfrm>
          <a:prstGeom prst="rect">
            <a:avLst/>
          </a:prstGeom>
          <a:solidFill>
            <a:srgbClr val="D3B9A5"/>
          </a:solidFill>
          <a:ln/>
        </p:spPr>
        <p:txBody>
          <a:bodyPr/>
          <a:lstStyle/>
          <a:p>
            <a:endParaRPr lang="ko-KR" altLang="en-US"/>
          </a:p>
        </p:txBody>
      </p:sp>
      <p:sp>
        <p:nvSpPr>
          <p:cNvPr id="143" name="Shape 140"/>
          <p:cNvSpPr/>
          <p:nvPr/>
        </p:nvSpPr>
        <p:spPr>
          <a:xfrm>
            <a:off x="2943317" y="3854509"/>
            <a:ext cx="9525" cy="280091"/>
          </a:xfrm>
          <a:prstGeom prst="rect">
            <a:avLst/>
          </a:prstGeom>
          <a:solidFill>
            <a:srgbClr val="D3B9A5"/>
          </a:solidFill>
          <a:ln/>
        </p:spPr>
        <p:txBody>
          <a:bodyPr/>
          <a:lstStyle/>
          <a:p>
            <a:endParaRPr lang="ko-KR" altLang="en-US"/>
          </a:p>
        </p:txBody>
      </p:sp>
      <p:sp>
        <p:nvSpPr>
          <p:cNvPr id="144" name="Text 141"/>
          <p:cNvSpPr/>
          <p:nvPr/>
        </p:nvSpPr>
        <p:spPr>
          <a:xfrm>
            <a:off x="2967584" y="3888301"/>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O</a:t>
            </a:r>
            <a:endParaRPr lang="en-US" sz="1013" dirty="0"/>
          </a:p>
        </p:txBody>
      </p:sp>
      <p:sp>
        <p:nvSpPr>
          <p:cNvPr id="145" name="Shape 142"/>
          <p:cNvSpPr/>
          <p:nvPr/>
        </p:nvSpPr>
        <p:spPr>
          <a:xfrm>
            <a:off x="5348054" y="3854509"/>
            <a:ext cx="2404738" cy="280091"/>
          </a:xfrm>
          <a:prstGeom prst="rect">
            <a:avLst/>
          </a:prstGeom>
          <a:solidFill>
            <a:srgbClr val="FFFFFF"/>
          </a:solidFill>
          <a:ln/>
        </p:spPr>
        <p:txBody>
          <a:bodyPr/>
          <a:lstStyle/>
          <a:p>
            <a:endParaRPr lang="ko-KR" altLang="en-US"/>
          </a:p>
        </p:txBody>
      </p:sp>
      <p:sp>
        <p:nvSpPr>
          <p:cNvPr id="146" name="Shape 143"/>
          <p:cNvSpPr/>
          <p:nvPr/>
        </p:nvSpPr>
        <p:spPr>
          <a:xfrm>
            <a:off x="5348054" y="3854509"/>
            <a:ext cx="2404738" cy="9525"/>
          </a:xfrm>
          <a:prstGeom prst="rect">
            <a:avLst/>
          </a:prstGeom>
          <a:solidFill>
            <a:srgbClr val="D3B9A5"/>
          </a:solidFill>
          <a:ln/>
        </p:spPr>
        <p:txBody>
          <a:bodyPr/>
          <a:lstStyle/>
          <a:p>
            <a:endParaRPr lang="ko-KR" altLang="en-US"/>
          </a:p>
        </p:txBody>
      </p:sp>
      <p:sp>
        <p:nvSpPr>
          <p:cNvPr id="147" name="Shape 144"/>
          <p:cNvSpPr/>
          <p:nvPr/>
        </p:nvSpPr>
        <p:spPr>
          <a:xfrm>
            <a:off x="5348054" y="3854509"/>
            <a:ext cx="9525" cy="280091"/>
          </a:xfrm>
          <a:prstGeom prst="rect">
            <a:avLst/>
          </a:prstGeom>
          <a:solidFill>
            <a:srgbClr val="D3B9A5"/>
          </a:solidFill>
          <a:ln/>
        </p:spPr>
        <p:txBody>
          <a:bodyPr/>
          <a:lstStyle/>
          <a:p>
            <a:endParaRPr lang="ko-KR" altLang="en-US"/>
          </a:p>
        </p:txBody>
      </p:sp>
      <p:sp>
        <p:nvSpPr>
          <p:cNvPr id="148" name="Text 145"/>
          <p:cNvSpPr/>
          <p:nvPr/>
        </p:nvSpPr>
        <p:spPr>
          <a:xfrm>
            <a:off x="5372321" y="3888301"/>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O</a:t>
            </a:r>
            <a:endParaRPr lang="en-US" sz="1013" dirty="0"/>
          </a:p>
        </p:txBody>
      </p:sp>
      <p:sp>
        <p:nvSpPr>
          <p:cNvPr id="149" name="Shape 146"/>
          <p:cNvSpPr/>
          <p:nvPr/>
        </p:nvSpPr>
        <p:spPr>
          <a:xfrm>
            <a:off x="7752792" y="3854509"/>
            <a:ext cx="2405145" cy="280091"/>
          </a:xfrm>
          <a:prstGeom prst="rect">
            <a:avLst/>
          </a:prstGeom>
          <a:solidFill>
            <a:srgbClr val="FFFFFF"/>
          </a:solidFill>
          <a:ln/>
        </p:spPr>
        <p:txBody>
          <a:bodyPr/>
          <a:lstStyle/>
          <a:p>
            <a:endParaRPr lang="ko-KR" altLang="en-US"/>
          </a:p>
        </p:txBody>
      </p:sp>
      <p:sp>
        <p:nvSpPr>
          <p:cNvPr id="150" name="Shape 147"/>
          <p:cNvSpPr/>
          <p:nvPr/>
        </p:nvSpPr>
        <p:spPr>
          <a:xfrm>
            <a:off x="7752792" y="3854509"/>
            <a:ext cx="2405145" cy="9525"/>
          </a:xfrm>
          <a:prstGeom prst="rect">
            <a:avLst/>
          </a:prstGeom>
          <a:solidFill>
            <a:srgbClr val="D3B9A5"/>
          </a:solidFill>
          <a:ln/>
        </p:spPr>
        <p:txBody>
          <a:bodyPr/>
          <a:lstStyle/>
          <a:p>
            <a:endParaRPr lang="ko-KR" altLang="en-US"/>
          </a:p>
        </p:txBody>
      </p:sp>
      <p:sp>
        <p:nvSpPr>
          <p:cNvPr id="151" name="Shape 148"/>
          <p:cNvSpPr/>
          <p:nvPr/>
        </p:nvSpPr>
        <p:spPr>
          <a:xfrm>
            <a:off x="7752792" y="3854509"/>
            <a:ext cx="9525" cy="280091"/>
          </a:xfrm>
          <a:prstGeom prst="rect">
            <a:avLst/>
          </a:prstGeom>
          <a:solidFill>
            <a:srgbClr val="D3B9A5"/>
          </a:solidFill>
          <a:ln/>
        </p:spPr>
        <p:txBody>
          <a:bodyPr/>
          <a:lstStyle/>
          <a:p>
            <a:endParaRPr lang="ko-KR" altLang="en-US"/>
          </a:p>
        </p:txBody>
      </p:sp>
      <p:sp>
        <p:nvSpPr>
          <p:cNvPr id="152" name="Text 149"/>
          <p:cNvSpPr/>
          <p:nvPr/>
        </p:nvSpPr>
        <p:spPr>
          <a:xfrm>
            <a:off x="7777059" y="3888301"/>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O</a:t>
            </a:r>
            <a:endParaRPr lang="en-US" sz="1013" dirty="0"/>
          </a:p>
        </p:txBody>
      </p:sp>
      <p:sp>
        <p:nvSpPr>
          <p:cNvPr id="153" name="Shape 150"/>
          <p:cNvSpPr/>
          <p:nvPr/>
        </p:nvSpPr>
        <p:spPr>
          <a:xfrm>
            <a:off x="538580" y="4134600"/>
            <a:ext cx="1202369" cy="1400454"/>
          </a:xfrm>
          <a:prstGeom prst="rect">
            <a:avLst/>
          </a:prstGeom>
          <a:solidFill>
            <a:srgbClr val="FCF4EE"/>
          </a:solidFill>
          <a:ln/>
        </p:spPr>
        <p:txBody>
          <a:bodyPr/>
          <a:lstStyle/>
          <a:p>
            <a:endParaRPr lang="ko-KR" altLang="en-US"/>
          </a:p>
        </p:txBody>
      </p:sp>
      <p:sp>
        <p:nvSpPr>
          <p:cNvPr id="154" name="Shape 151"/>
          <p:cNvSpPr/>
          <p:nvPr/>
        </p:nvSpPr>
        <p:spPr>
          <a:xfrm>
            <a:off x="538580" y="4134600"/>
            <a:ext cx="1202369" cy="9525"/>
          </a:xfrm>
          <a:prstGeom prst="rect">
            <a:avLst/>
          </a:prstGeom>
          <a:solidFill>
            <a:srgbClr val="D3B9A5"/>
          </a:solidFill>
          <a:ln/>
        </p:spPr>
        <p:txBody>
          <a:bodyPr/>
          <a:lstStyle/>
          <a:p>
            <a:endParaRPr lang="ko-KR" altLang="en-US"/>
          </a:p>
        </p:txBody>
      </p:sp>
      <p:sp>
        <p:nvSpPr>
          <p:cNvPr id="155" name="Text 152"/>
          <p:cNvSpPr/>
          <p:nvPr/>
        </p:nvSpPr>
        <p:spPr>
          <a:xfrm>
            <a:off x="557630" y="4168392"/>
            <a:ext cx="1164269" cy="1376187"/>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CF4EE"/>
                </a:highlight>
                <a:latin typeface="Paperlogy 7 Bold" pitchFamily="2" charset="-127"/>
                <a:ea typeface="Paperlogy 7 Bold" pitchFamily="2" charset="-127"/>
                <a:cs typeface="Arial" pitchFamily="34" charset="-120"/>
              </a:rPr>
              <a:t>가입 한도</a:t>
            </a:r>
            <a:endParaRPr lang="en-US" sz="1013" dirty="0"/>
          </a:p>
        </p:txBody>
      </p:sp>
      <p:sp>
        <p:nvSpPr>
          <p:cNvPr id="156" name="Shape 153"/>
          <p:cNvSpPr/>
          <p:nvPr/>
        </p:nvSpPr>
        <p:spPr>
          <a:xfrm>
            <a:off x="1740948" y="4134600"/>
            <a:ext cx="1202369" cy="280091"/>
          </a:xfrm>
          <a:prstGeom prst="rect">
            <a:avLst/>
          </a:prstGeom>
          <a:solidFill>
            <a:srgbClr val="FCF4EE"/>
          </a:solidFill>
          <a:ln/>
        </p:spPr>
        <p:txBody>
          <a:bodyPr/>
          <a:lstStyle/>
          <a:p>
            <a:endParaRPr lang="ko-KR" altLang="en-US"/>
          </a:p>
        </p:txBody>
      </p:sp>
      <p:sp>
        <p:nvSpPr>
          <p:cNvPr id="157" name="Shape 154"/>
          <p:cNvSpPr/>
          <p:nvPr/>
        </p:nvSpPr>
        <p:spPr>
          <a:xfrm>
            <a:off x="1740948" y="4134600"/>
            <a:ext cx="1202369" cy="9525"/>
          </a:xfrm>
          <a:prstGeom prst="rect">
            <a:avLst/>
          </a:prstGeom>
          <a:solidFill>
            <a:srgbClr val="D3B9A5"/>
          </a:solidFill>
          <a:ln/>
        </p:spPr>
        <p:txBody>
          <a:bodyPr/>
          <a:lstStyle/>
          <a:p>
            <a:endParaRPr lang="ko-KR" altLang="en-US"/>
          </a:p>
        </p:txBody>
      </p:sp>
      <p:sp>
        <p:nvSpPr>
          <p:cNvPr id="158" name="Shape 155"/>
          <p:cNvSpPr/>
          <p:nvPr/>
        </p:nvSpPr>
        <p:spPr>
          <a:xfrm>
            <a:off x="1740948" y="4134600"/>
            <a:ext cx="9525" cy="280091"/>
          </a:xfrm>
          <a:prstGeom prst="rect">
            <a:avLst/>
          </a:prstGeom>
          <a:solidFill>
            <a:srgbClr val="D3B9A5"/>
          </a:solidFill>
          <a:ln/>
        </p:spPr>
        <p:txBody>
          <a:bodyPr/>
          <a:lstStyle/>
          <a:p>
            <a:endParaRPr lang="ko-KR" altLang="en-US"/>
          </a:p>
        </p:txBody>
      </p:sp>
      <p:sp>
        <p:nvSpPr>
          <p:cNvPr id="159" name="Text 156"/>
          <p:cNvSpPr/>
          <p:nvPr/>
        </p:nvSpPr>
        <p:spPr>
          <a:xfrm>
            <a:off x="1765215" y="4168392"/>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65세</a:t>
            </a:r>
            <a:endParaRPr lang="en-US" sz="1013" dirty="0"/>
          </a:p>
        </p:txBody>
      </p:sp>
      <p:sp>
        <p:nvSpPr>
          <p:cNvPr id="160" name="Shape 157"/>
          <p:cNvSpPr/>
          <p:nvPr/>
        </p:nvSpPr>
        <p:spPr>
          <a:xfrm>
            <a:off x="2943317" y="4134600"/>
            <a:ext cx="2404738" cy="560182"/>
          </a:xfrm>
          <a:prstGeom prst="rect">
            <a:avLst/>
          </a:prstGeom>
          <a:solidFill>
            <a:srgbClr val="F8E1D0"/>
          </a:solidFill>
          <a:ln/>
        </p:spPr>
        <p:txBody>
          <a:bodyPr/>
          <a:lstStyle/>
          <a:p>
            <a:endParaRPr lang="ko-KR" altLang="en-US"/>
          </a:p>
        </p:txBody>
      </p:sp>
      <p:sp>
        <p:nvSpPr>
          <p:cNvPr id="161" name="Shape 158"/>
          <p:cNvSpPr/>
          <p:nvPr/>
        </p:nvSpPr>
        <p:spPr>
          <a:xfrm>
            <a:off x="2943317" y="4134600"/>
            <a:ext cx="2404738" cy="9525"/>
          </a:xfrm>
          <a:prstGeom prst="rect">
            <a:avLst/>
          </a:prstGeom>
          <a:solidFill>
            <a:srgbClr val="D3B9A5"/>
          </a:solidFill>
          <a:ln/>
        </p:spPr>
        <p:txBody>
          <a:bodyPr/>
          <a:lstStyle/>
          <a:p>
            <a:endParaRPr lang="ko-KR" altLang="en-US"/>
          </a:p>
        </p:txBody>
      </p:sp>
      <p:sp>
        <p:nvSpPr>
          <p:cNvPr id="162" name="Shape 159"/>
          <p:cNvSpPr/>
          <p:nvPr/>
        </p:nvSpPr>
        <p:spPr>
          <a:xfrm>
            <a:off x="2943317" y="4134600"/>
            <a:ext cx="9525" cy="560182"/>
          </a:xfrm>
          <a:prstGeom prst="rect">
            <a:avLst/>
          </a:prstGeom>
          <a:solidFill>
            <a:srgbClr val="D3B9A5"/>
          </a:solidFill>
          <a:ln/>
        </p:spPr>
        <p:txBody>
          <a:bodyPr/>
          <a:lstStyle/>
          <a:p>
            <a:endParaRPr lang="ko-KR" altLang="en-US"/>
          </a:p>
        </p:txBody>
      </p:sp>
      <p:sp>
        <p:nvSpPr>
          <p:cNvPr id="163" name="Text 160"/>
          <p:cNvSpPr/>
          <p:nvPr/>
        </p:nvSpPr>
        <p:spPr>
          <a:xfrm>
            <a:off x="2967584" y="4168392"/>
            <a:ext cx="2361420"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20/6/7</a:t>
            </a:r>
            <a:endParaRPr lang="en-US" sz="1013" dirty="0"/>
          </a:p>
        </p:txBody>
      </p:sp>
      <p:sp>
        <p:nvSpPr>
          <p:cNvPr id="164" name="Shape 161"/>
          <p:cNvSpPr/>
          <p:nvPr/>
        </p:nvSpPr>
        <p:spPr>
          <a:xfrm>
            <a:off x="5348054" y="4134600"/>
            <a:ext cx="2404738" cy="560182"/>
          </a:xfrm>
          <a:prstGeom prst="rect">
            <a:avLst/>
          </a:prstGeom>
          <a:solidFill>
            <a:srgbClr val="FFFFFF"/>
          </a:solidFill>
          <a:ln/>
        </p:spPr>
        <p:txBody>
          <a:bodyPr/>
          <a:lstStyle/>
          <a:p>
            <a:endParaRPr lang="ko-KR" altLang="en-US"/>
          </a:p>
        </p:txBody>
      </p:sp>
      <p:sp>
        <p:nvSpPr>
          <p:cNvPr id="165" name="Shape 162"/>
          <p:cNvSpPr/>
          <p:nvPr/>
        </p:nvSpPr>
        <p:spPr>
          <a:xfrm>
            <a:off x="5348054" y="4134600"/>
            <a:ext cx="2404738" cy="9525"/>
          </a:xfrm>
          <a:prstGeom prst="rect">
            <a:avLst/>
          </a:prstGeom>
          <a:solidFill>
            <a:srgbClr val="D3B9A5"/>
          </a:solidFill>
          <a:ln/>
        </p:spPr>
        <p:txBody>
          <a:bodyPr/>
          <a:lstStyle/>
          <a:p>
            <a:endParaRPr lang="ko-KR" altLang="en-US"/>
          </a:p>
        </p:txBody>
      </p:sp>
      <p:sp>
        <p:nvSpPr>
          <p:cNvPr id="166" name="Shape 163"/>
          <p:cNvSpPr/>
          <p:nvPr/>
        </p:nvSpPr>
        <p:spPr>
          <a:xfrm>
            <a:off x="5348054" y="4134600"/>
            <a:ext cx="9525" cy="560182"/>
          </a:xfrm>
          <a:prstGeom prst="rect">
            <a:avLst/>
          </a:prstGeom>
          <a:solidFill>
            <a:srgbClr val="D3B9A5"/>
          </a:solidFill>
          <a:ln/>
        </p:spPr>
        <p:txBody>
          <a:bodyPr/>
          <a:lstStyle/>
          <a:p>
            <a:endParaRPr lang="ko-KR" altLang="en-US"/>
          </a:p>
        </p:txBody>
      </p:sp>
      <p:sp>
        <p:nvSpPr>
          <p:cNvPr id="167" name="Text 164"/>
          <p:cNvSpPr/>
          <p:nvPr/>
        </p:nvSpPr>
        <p:spPr>
          <a:xfrm>
            <a:off x="5372321" y="4168392"/>
            <a:ext cx="2361420"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20/5/7</a:t>
            </a:r>
            <a:endParaRPr lang="en-US" sz="1013" dirty="0"/>
          </a:p>
        </p:txBody>
      </p:sp>
      <p:sp>
        <p:nvSpPr>
          <p:cNvPr id="168" name="Shape 165"/>
          <p:cNvSpPr/>
          <p:nvPr/>
        </p:nvSpPr>
        <p:spPr>
          <a:xfrm>
            <a:off x="7752792" y="4134600"/>
            <a:ext cx="2405145" cy="560182"/>
          </a:xfrm>
          <a:prstGeom prst="rect">
            <a:avLst/>
          </a:prstGeom>
          <a:solidFill>
            <a:srgbClr val="FFFFFF"/>
          </a:solidFill>
          <a:ln/>
        </p:spPr>
        <p:txBody>
          <a:bodyPr/>
          <a:lstStyle/>
          <a:p>
            <a:endParaRPr lang="ko-KR" altLang="en-US"/>
          </a:p>
        </p:txBody>
      </p:sp>
      <p:sp>
        <p:nvSpPr>
          <p:cNvPr id="169" name="Shape 166"/>
          <p:cNvSpPr/>
          <p:nvPr/>
        </p:nvSpPr>
        <p:spPr>
          <a:xfrm>
            <a:off x="7752792" y="4134600"/>
            <a:ext cx="2405145" cy="9525"/>
          </a:xfrm>
          <a:prstGeom prst="rect">
            <a:avLst/>
          </a:prstGeom>
          <a:solidFill>
            <a:srgbClr val="D3B9A5"/>
          </a:solidFill>
          <a:ln/>
        </p:spPr>
        <p:txBody>
          <a:bodyPr/>
          <a:lstStyle/>
          <a:p>
            <a:endParaRPr lang="ko-KR" altLang="en-US"/>
          </a:p>
        </p:txBody>
      </p:sp>
      <p:sp>
        <p:nvSpPr>
          <p:cNvPr id="170" name="Shape 167"/>
          <p:cNvSpPr/>
          <p:nvPr/>
        </p:nvSpPr>
        <p:spPr>
          <a:xfrm>
            <a:off x="7752792" y="4134600"/>
            <a:ext cx="9525" cy="560182"/>
          </a:xfrm>
          <a:prstGeom prst="rect">
            <a:avLst/>
          </a:prstGeom>
          <a:solidFill>
            <a:srgbClr val="D3B9A5"/>
          </a:solidFill>
          <a:ln/>
        </p:spPr>
        <p:txBody>
          <a:bodyPr/>
          <a:lstStyle/>
          <a:p>
            <a:endParaRPr lang="ko-KR" altLang="en-US"/>
          </a:p>
        </p:txBody>
      </p:sp>
      <p:sp>
        <p:nvSpPr>
          <p:cNvPr id="171" name="Text 168"/>
          <p:cNvSpPr/>
          <p:nvPr/>
        </p:nvSpPr>
        <p:spPr>
          <a:xfrm>
            <a:off x="7777059" y="4168392"/>
            <a:ext cx="2361828"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15/5/7</a:t>
            </a:r>
            <a:endParaRPr lang="en-US" sz="1013" dirty="0"/>
          </a:p>
        </p:txBody>
      </p:sp>
      <p:sp>
        <p:nvSpPr>
          <p:cNvPr id="172" name="Shape 169"/>
          <p:cNvSpPr/>
          <p:nvPr/>
        </p:nvSpPr>
        <p:spPr>
          <a:xfrm>
            <a:off x="1740948" y="4414690"/>
            <a:ext cx="1202369" cy="280091"/>
          </a:xfrm>
          <a:prstGeom prst="rect">
            <a:avLst/>
          </a:prstGeom>
          <a:solidFill>
            <a:srgbClr val="FCF4EE"/>
          </a:solidFill>
          <a:ln/>
        </p:spPr>
        <p:txBody>
          <a:bodyPr/>
          <a:lstStyle/>
          <a:p>
            <a:endParaRPr lang="ko-KR" altLang="en-US"/>
          </a:p>
        </p:txBody>
      </p:sp>
      <p:sp>
        <p:nvSpPr>
          <p:cNvPr id="173" name="Shape 170"/>
          <p:cNvSpPr/>
          <p:nvPr/>
        </p:nvSpPr>
        <p:spPr>
          <a:xfrm>
            <a:off x="1740948" y="4414690"/>
            <a:ext cx="1202369" cy="9525"/>
          </a:xfrm>
          <a:prstGeom prst="rect">
            <a:avLst/>
          </a:prstGeom>
          <a:solidFill>
            <a:srgbClr val="D3B9A5"/>
          </a:solidFill>
          <a:ln/>
        </p:spPr>
        <p:txBody>
          <a:bodyPr/>
          <a:lstStyle/>
          <a:p>
            <a:endParaRPr lang="ko-KR" altLang="en-US"/>
          </a:p>
        </p:txBody>
      </p:sp>
      <p:sp>
        <p:nvSpPr>
          <p:cNvPr id="174" name="Shape 171"/>
          <p:cNvSpPr/>
          <p:nvPr/>
        </p:nvSpPr>
        <p:spPr>
          <a:xfrm>
            <a:off x="1740948" y="4414690"/>
            <a:ext cx="9525" cy="280091"/>
          </a:xfrm>
          <a:prstGeom prst="rect">
            <a:avLst/>
          </a:prstGeom>
          <a:solidFill>
            <a:srgbClr val="D3B9A5"/>
          </a:solidFill>
          <a:ln/>
        </p:spPr>
        <p:txBody>
          <a:bodyPr/>
          <a:lstStyle/>
          <a:p>
            <a:endParaRPr lang="ko-KR" altLang="en-US"/>
          </a:p>
        </p:txBody>
      </p:sp>
      <p:sp>
        <p:nvSpPr>
          <p:cNvPr id="175" name="Text 172"/>
          <p:cNvSpPr/>
          <p:nvPr/>
        </p:nvSpPr>
        <p:spPr>
          <a:xfrm>
            <a:off x="1765215" y="4448482"/>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70세</a:t>
            </a:r>
            <a:endParaRPr lang="en-US" sz="1013" dirty="0"/>
          </a:p>
        </p:txBody>
      </p:sp>
      <p:sp>
        <p:nvSpPr>
          <p:cNvPr id="176" name="Shape 173"/>
          <p:cNvSpPr/>
          <p:nvPr/>
        </p:nvSpPr>
        <p:spPr>
          <a:xfrm>
            <a:off x="1740948" y="4694781"/>
            <a:ext cx="1202369" cy="280091"/>
          </a:xfrm>
          <a:prstGeom prst="rect">
            <a:avLst/>
          </a:prstGeom>
          <a:solidFill>
            <a:srgbClr val="FCF4EE"/>
          </a:solidFill>
          <a:ln/>
        </p:spPr>
        <p:txBody>
          <a:bodyPr/>
          <a:lstStyle/>
          <a:p>
            <a:endParaRPr lang="ko-KR" altLang="en-US"/>
          </a:p>
        </p:txBody>
      </p:sp>
      <p:sp>
        <p:nvSpPr>
          <p:cNvPr id="177" name="Shape 174"/>
          <p:cNvSpPr/>
          <p:nvPr/>
        </p:nvSpPr>
        <p:spPr>
          <a:xfrm>
            <a:off x="1740948" y="4694781"/>
            <a:ext cx="1202369" cy="9525"/>
          </a:xfrm>
          <a:prstGeom prst="rect">
            <a:avLst/>
          </a:prstGeom>
          <a:solidFill>
            <a:srgbClr val="D3B9A5"/>
          </a:solidFill>
          <a:ln/>
        </p:spPr>
        <p:txBody>
          <a:bodyPr/>
          <a:lstStyle/>
          <a:p>
            <a:endParaRPr lang="ko-KR" altLang="en-US"/>
          </a:p>
        </p:txBody>
      </p:sp>
      <p:sp>
        <p:nvSpPr>
          <p:cNvPr id="178" name="Shape 175"/>
          <p:cNvSpPr/>
          <p:nvPr/>
        </p:nvSpPr>
        <p:spPr>
          <a:xfrm>
            <a:off x="1740948" y="4694781"/>
            <a:ext cx="9525" cy="280091"/>
          </a:xfrm>
          <a:prstGeom prst="rect">
            <a:avLst/>
          </a:prstGeom>
          <a:solidFill>
            <a:srgbClr val="D3B9A5"/>
          </a:solidFill>
          <a:ln/>
        </p:spPr>
        <p:txBody>
          <a:bodyPr/>
          <a:lstStyle/>
          <a:p>
            <a:endParaRPr lang="ko-KR" altLang="en-US"/>
          </a:p>
        </p:txBody>
      </p:sp>
      <p:sp>
        <p:nvSpPr>
          <p:cNvPr id="179" name="Text 176"/>
          <p:cNvSpPr/>
          <p:nvPr/>
        </p:nvSpPr>
        <p:spPr>
          <a:xfrm>
            <a:off x="1765215" y="4728573"/>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75세</a:t>
            </a:r>
            <a:endParaRPr lang="en-US" sz="1013" dirty="0"/>
          </a:p>
        </p:txBody>
      </p:sp>
      <p:sp>
        <p:nvSpPr>
          <p:cNvPr id="180" name="Shape 177"/>
          <p:cNvSpPr/>
          <p:nvPr/>
        </p:nvSpPr>
        <p:spPr>
          <a:xfrm>
            <a:off x="2943317" y="4694781"/>
            <a:ext cx="2404738" cy="280091"/>
          </a:xfrm>
          <a:prstGeom prst="rect">
            <a:avLst/>
          </a:prstGeom>
          <a:solidFill>
            <a:srgbClr val="F8E1D0"/>
          </a:solidFill>
          <a:ln/>
        </p:spPr>
        <p:txBody>
          <a:bodyPr/>
          <a:lstStyle/>
          <a:p>
            <a:endParaRPr lang="ko-KR" altLang="en-US"/>
          </a:p>
        </p:txBody>
      </p:sp>
      <p:sp>
        <p:nvSpPr>
          <p:cNvPr id="181" name="Shape 178"/>
          <p:cNvSpPr/>
          <p:nvPr/>
        </p:nvSpPr>
        <p:spPr>
          <a:xfrm>
            <a:off x="2943317" y="4694781"/>
            <a:ext cx="2404738" cy="9525"/>
          </a:xfrm>
          <a:prstGeom prst="rect">
            <a:avLst/>
          </a:prstGeom>
          <a:solidFill>
            <a:srgbClr val="D3B9A5"/>
          </a:solidFill>
          <a:ln/>
        </p:spPr>
        <p:txBody>
          <a:bodyPr/>
          <a:lstStyle/>
          <a:p>
            <a:endParaRPr lang="ko-KR" altLang="en-US"/>
          </a:p>
        </p:txBody>
      </p:sp>
      <p:sp>
        <p:nvSpPr>
          <p:cNvPr id="182" name="Shape 179"/>
          <p:cNvSpPr/>
          <p:nvPr/>
        </p:nvSpPr>
        <p:spPr>
          <a:xfrm>
            <a:off x="2943317" y="4694781"/>
            <a:ext cx="9525" cy="280091"/>
          </a:xfrm>
          <a:prstGeom prst="rect">
            <a:avLst/>
          </a:prstGeom>
          <a:solidFill>
            <a:srgbClr val="D3B9A5"/>
          </a:solidFill>
          <a:ln/>
        </p:spPr>
        <p:txBody>
          <a:bodyPr/>
          <a:lstStyle/>
          <a:p>
            <a:endParaRPr lang="ko-KR" altLang="en-US"/>
          </a:p>
        </p:txBody>
      </p:sp>
      <p:sp>
        <p:nvSpPr>
          <p:cNvPr id="183" name="Text 180"/>
          <p:cNvSpPr/>
          <p:nvPr/>
        </p:nvSpPr>
        <p:spPr>
          <a:xfrm>
            <a:off x="2967584" y="4728573"/>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15/5/7</a:t>
            </a:r>
            <a:endParaRPr lang="en-US" sz="1013" dirty="0"/>
          </a:p>
        </p:txBody>
      </p:sp>
      <p:sp>
        <p:nvSpPr>
          <p:cNvPr id="184" name="Shape 181"/>
          <p:cNvSpPr/>
          <p:nvPr/>
        </p:nvSpPr>
        <p:spPr>
          <a:xfrm>
            <a:off x="5348054" y="4694781"/>
            <a:ext cx="2404738" cy="560182"/>
          </a:xfrm>
          <a:prstGeom prst="rect">
            <a:avLst/>
          </a:prstGeom>
          <a:solidFill>
            <a:srgbClr val="FFFFFF"/>
          </a:solidFill>
          <a:ln/>
        </p:spPr>
        <p:txBody>
          <a:bodyPr/>
          <a:lstStyle/>
          <a:p>
            <a:endParaRPr lang="ko-KR" altLang="en-US"/>
          </a:p>
        </p:txBody>
      </p:sp>
      <p:sp>
        <p:nvSpPr>
          <p:cNvPr id="185" name="Shape 182"/>
          <p:cNvSpPr/>
          <p:nvPr/>
        </p:nvSpPr>
        <p:spPr>
          <a:xfrm>
            <a:off x="5348054" y="4694781"/>
            <a:ext cx="2404738" cy="9525"/>
          </a:xfrm>
          <a:prstGeom prst="rect">
            <a:avLst/>
          </a:prstGeom>
          <a:solidFill>
            <a:srgbClr val="D3B9A5"/>
          </a:solidFill>
          <a:ln/>
        </p:spPr>
        <p:txBody>
          <a:bodyPr/>
          <a:lstStyle/>
          <a:p>
            <a:endParaRPr lang="ko-KR" altLang="en-US"/>
          </a:p>
        </p:txBody>
      </p:sp>
      <p:sp>
        <p:nvSpPr>
          <p:cNvPr id="186" name="Shape 183"/>
          <p:cNvSpPr/>
          <p:nvPr/>
        </p:nvSpPr>
        <p:spPr>
          <a:xfrm>
            <a:off x="5348054" y="4694781"/>
            <a:ext cx="9525" cy="560182"/>
          </a:xfrm>
          <a:prstGeom prst="rect">
            <a:avLst/>
          </a:prstGeom>
          <a:solidFill>
            <a:srgbClr val="D3B9A5"/>
          </a:solidFill>
          <a:ln/>
        </p:spPr>
        <p:txBody>
          <a:bodyPr/>
          <a:lstStyle/>
          <a:p>
            <a:endParaRPr lang="ko-KR" altLang="en-US"/>
          </a:p>
        </p:txBody>
      </p:sp>
      <p:sp>
        <p:nvSpPr>
          <p:cNvPr id="187" name="Text 184"/>
          <p:cNvSpPr/>
          <p:nvPr/>
        </p:nvSpPr>
        <p:spPr>
          <a:xfrm>
            <a:off x="5372321" y="4728573"/>
            <a:ext cx="2361420"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10/5/4</a:t>
            </a:r>
            <a:endParaRPr lang="en-US" sz="1013" dirty="0"/>
          </a:p>
        </p:txBody>
      </p:sp>
      <p:sp>
        <p:nvSpPr>
          <p:cNvPr id="188" name="Shape 185"/>
          <p:cNvSpPr/>
          <p:nvPr/>
        </p:nvSpPr>
        <p:spPr>
          <a:xfrm>
            <a:off x="7752792" y="4694781"/>
            <a:ext cx="2405145" cy="560182"/>
          </a:xfrm>
          <a:prstGeom prst="rect">
            <a:avLst/>
          </a:prstGeom>
          <a:solidFill>
            <a:srgbClr val="FFFFFF"/>
          </a:solidFill>
          <a:ln/>
        </p:spPr>
        <p:txBody>
          <a:bodyPr/>
          <a:lstStyle/>
          <a:p>
            <a:endParaRPr lang="ko-KR" altLang="en-US"/>
          </a:p>
        </p:txBody>
      </p:sp>
      <p:sp>
        <p:nvSpPr>
          <p:cNvPr id="189" name="Shape 186"/>
          <p:cNvSpPr/>
          <p:nvPr/>
        </p:nvSpPr>
        <p:spPr>
          <a:xfrm>
            <a:off x="7752792" y="4694781"/>
            <a:ext cx="2405145" cy="9525"/>
          </a:xfrm>
          <a:prstGeom prst="rect">
            <a:avLst/>
          </a:prstGeom>
          <a:solidFill>
            <a:srgbClr val="D3B9A5"/>
          </a:solidFill>
          <a:ln/>
        </p:spPr>
        <p:txBody>
          <a:bodyPr/>
          <a:lstStyle/>
          <a:p>
            <a:endParaRPr lang="ko-KR" altLang="en-US"/>
          </a:p>
        </p:txBody>
      </p:sp>
      <p:sp>
        <p:nvSpPr>
          <p:cNvPr id="190" name="Shape 187"/>
          <p:cNvSpPr/>
          <p:nvPr/>
        </p:nvSpPr>
        <p:spPr>
          <a:xfrm>
            <a:off x="7752792" y="4694781"/>
            <a:ext cx="9525" cy="560182"/>
          </a:xfrm>
          <a:prstGeom prst="rect">
            <a:avLst/>
          </a:prstGeom>
          <a:solidFill>
            <a:srgbClr val="D3B9A5"/>
          </a:solidFill>
          <a:ln/>
        </p:spPr>
        <p:txBody>
          <a:bodyPr/>
          <a:lstStyle/>
          <a:p>
            <a:endParaRPr lang="ko-KR" altLang="en-US"/>
          </a:p>
        </p:txBody>
      </p:sp>
      <p:sp>
        <p:nvSpPr>
          <p:cNvPr id="191" name="Text 188"/>
          <p:cNvSpPr/>
          <p:nvPr/>
        </p:nvSpPr>
        <p:spPr>
          <a:xfrm>
            <a:off x="7777059" y="4728573"/>
            <a:ext cx="2361828"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10/5/3</a:t>
            </a:r>
            <a:endParaRPr lang="en-US" sz="1013" dirty="0"/>
          </a:p>
        </p:txBody>
      </p:sp>
      <p:sp>
        <p:nvSpPr>
          <p:cNvPr id="192" name="Shape 189"/>
          <p:cNvSpPr/>
          <p:nvPr/>
        </p:nvSpPr>
        <p:spPr>
          <a:xfrm>
            <a:off x="1740948" y="4974872"/>
            <a:ext cx="1202369" cy="280091"/>
          </a:xfrm>
          <a:prstGeom prst="rect">
            <a:avLst/>
          </a:prstGeom>
          <a:solidFill>
            <a:srgbClr val="FCF4EE"/>
          </a:solidFill>
          <a:ln/>
        </p:spPr>
        <p:txBody>
          <a:bodyPr/>
          <a:lstStyle/>
          <a:p>
            <a:endParaRPr lang="ko-KR" altLang="en-US"/>
          </a:p>
        </p:txBody>
      </p:sp>
      <p:sp>
        <p:nvSpPr>
          <p:cNvPr id="193" name="Shape 190"/>
          <p:cNvSpPr/>
          <p:nvPr/>
        </p:nvSpPr>
        <p:spPr>
          <a:xfrm>
            <a:off x="1740948" y="4974872"/>
            <a:ext cx="1202369" cy="9525"/>
          </a:xfrm>
          <a:prstGeom prst="rect">
            <a:avLst/>
          </a:prstGeom>
          <a:solidFill>
            <a:srgbClr val="D3B9A5"/>
          </a:solidFill>
          <a:ln/>
        </p:spPr>
        <p:txBody>
          <a:bodyPr/>
          <a:lstStyle/>
          <a:p>
            <a:endParaRPr lang="ko-KR" altLang="en-US"/>
          </a:p>
        </p:txBody>
      </p:sp>
      <p:sp>
        <p:nvSpPr>
          <p:cNvPr id="194" name="Shape 191"/>
          <p:cNvSpPr/>
          <p:nvPr/>
        </p:nvSpPr>
        <p:spPr>
          <a:xfrm>
            <a:off x="1740948" y="4974872"/>
            <a:ext cx="9525" cy="280091"/>
          </a:xfrm>
          <a:prstGeom prst="rect">
            <a:avLst/>
          </a:prstGeom>
          <a:solidFill>
            <a:srgbClr val="D3B9A5"/>
          </a:solidFill>
          <a:ln/>
        </p:spPr>
        <p:txBody>
          <a:bodyPr/>
          <a:lstStyle/>
          <a:p>
            <a:endParaRPr lang="ko-KR" altLang="en-US"/>
          </a:p>
        </p:txBody>
      </p:sp>
      <p:sp>
        <p:nvSpPr>
          <p:cNvPr id="195" name="Text 192"/>
          <p:cNvSpPr/>
          <p:nvPr/>
        </p:nvSpPr>
        <p:spPr>
          <a:xfrm>
            <a:off x="1765215" y="5008664"/>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80세</a:t>
            </a:r>
            <a:endParaRPr lang="en-US" sz="1013" dirty="0"/>
          </a:p>
        </p:txBody>
      </p:sp>
      <p:sp>
        <p:nvSpPr>
          <p:cNvPr id="196" name="Shape 193"/>
          <p:cNvSpPr/>
          <p:nvPr/>
        </p:nvSpPr>
        <p:spPr>
          <a:xfrm>
            <a:off x="2943317" y="4974872"/>
            <a:ext cx="2404738" cy="280091"/>
          </a:xfrm>
          <a:prstGeom prst="rect">
            <a:avLst/>
          </a:prstGeom>
          <a:solidFill>
            <a:srgbClr val="F8E1D0"/>
          </a:solidFill>
          <a:ln/>
        </p:spPr>
        <p:txBody>
          <a:bodyPr/>
          <a:lstStyle/>
          <a:p>
            <a:endParaRPr lang="ko-KR" altLang="en-US"/>
          </a:p>
        </p:txBody>
      </p:sp>
      <p:sp>
        <p:nvSpPr>
          <p:cNvPr id="197" name="Shape 194"/>
          <p:cNvSpPr/>
          <p:nvPr/>
        </p:nvSpPr>
        <p:spPr>
          <a:xfrm>
            <a:off x="2943317" y="4974872"/>
            <a:ext cx="2404738" cy="9525"/>
          </a:xfrm>
          <a:prstGeom prst="rect">
            <a:avLst/>
          </a:prstGeom>
          <a:solidFill>
            <a:srgbClr val="D3B9A5"/>
          </a:solidFill>
          <a:ln/>
        </p:spPr>
        <p:txBody>
          <a:bodyPr/>
          <a:lstStyle/>
          <a:p>
            <a:endParaRPr lang="ko-KR" altLang="en-US"/>
          </a:p>
        </p:txBody>
      </p:sp>
      <p:sp>
        <p:nvSpPr>
          <p:cNvPr id="198" name="Shape 195"/>
          <p:cNvSpPr/>
          <p:nvPr/>
        </p:nvSpPr>
        <p:spPr>
          <a:xfrm>
            <a:off x="2943317" y="4974872"/>
            <a:ext cx="9525" cy="280091"/>
          </a:xfrm>
          <a:prstGeom prst="rect">
            <a:avLst/>
          </a:prstGeom>
          <a:solidFill>
            <a:srgbClr val="D3B9A5"/>
          </a:solidFill>
          <a:ln/>
        </p:spPr>
        <p:txBody>
          <a:bodyPr/>
          <a:lstStyle/>
          <a:p>
            <a:endParaRPr lang="ko-KR" altLang="en-US"/>
          </a:p>
        </p:txBody>
      </p:sp>
      <p:sp>
        <p:nvSpPr>
          <p:cNvPr id="199" name="Text 196"/>
          <p:cNvSpPr/>
          <p:nvPr/>
        </p:nvSpPr>
        <p:spPr>
          <a:xfrm>
            <a:off x="2967584" y="5008664"/>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15/3/7</a:t>
            </a:r>
            <a:endParaRPr lang="en-US" sz="1013" dirty="0"/>
          </a:p>
        </p:txBody>
      </p:sp>
      <p:sp>
        <p:nvSpPr>
          <p:cNvPr id="200" name="Shape 197"/>
          <p:cNvSpPr/>
          <p:nvPr/>
        </p:nvSpPr>
        <p:spPr>
          <a:xfrm>
            <a:off x="1740948" y="5254963"/>
            <a:ext cx="1202369" cy="280091"/>
          </a:xfrm>
          <a:prstGeom prst="rect">
            <a:avLst/>
          </a:prstGeom>
          <a:solidFill>
            <a:srgbClr val="FCF4EE"/>
          </a:solidFill>
          <a:ln/>
        </p:spPr>
        <p:txBody>
          <a:bodyPr/>
          <a:lstStyle/>
          <a:p>
            <a:endParaRPr lang="ko-KR" altLang="en-US"/>
          </a:p>
        </p:txBody>
      </p:sp>
      <p:sp>
        <p:nvSpPr>
          <p:cNvPr id="201" name="Shape 198"/>
          <p:cNvSpPr/>
          <p:nvPr/>
        </p:nvSpPr>
        <p:spPr>
          <a:xfrm>
            <a:off x="1740948" y="5254963"/>
            <a:ext cx="1202369" cy="9525"/>
          </a:xfrm>
          <a:prstGeom prst="rect">
            <a:avLst/>
          </a:prstGeom>
          <a:solidFill>
            <a:srgbClr val="D3B9A5"/>
          </a:solidFill>
          <a:ln/>
        </p:spPr>
        <p:txBody>
          <a:bodyPr/>
          <a:lstStyle/>
          <a:p>
            <a:endParaRPr lang="ko-KR" altLang="en-US"/>
          </a:p>
        </p:txBody>
      </p:sp>
      <p:sp>
        <p:nvSpPr>
          <p:cNvPr id="202" name="Shape 199"/>
          <p:cNvSpPr/>
          <p:nvPr/>
        </p:nvSpPr>
        <p:spPr>
          <a:xfrm>
            <a:off x="1740948" y="5254963"/>
            <a:ext cx="9525" cy="280091"/>
          </a:xfrm>
          <a:prstGeom prst="rect">
            <a:avLst/>
          </a:prstGeom>
          <a:solidFill>
            <a:srgbClr val="D3B9A5"/>
          </a:solidFill>
          <a:ln/>
        </p:spPr>
        <p:txBody>
          <a:bodyPr/>
          <a:lstStyle/>
          <a:p>
            <a:endParaRPr lang="ko-KR" altLang="en-US"/>
          </a:p>
        </p:txBody>
      </p:sp>
      <p:sp>
        <p:nvSpPr>
          <p:cNvPr id="203" name="Text 200"/>
          <p:cNvSpPr/>
          <p:nvPr/>
        </p:nvSpPr>
        <p:spPr>
          <a:xfrm>
            <a:off x="2171926" y="5323192"/>
            <a:ext cx="326456" cy="178961"/>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80세</a:t>
            </a:r>
            <a:endParaRPr lang="en-US" sz="1013" dirty="0"/>
          </a:p>
        </p:txBody>
      </p:sp>
      <p:pic>
        <p:nvPicPr>
          <p:cNvPr id="20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4980" y="5329958"/>
            <a:ext cx="82576" cy="115672"/>
          </a:xfrm>
          <a:prstGeom prst="rect">
            <a:avLst/>
          </a:prstGeom>
        </p:spPr>
      </p:pic>
      <p:sp>
        <p:nvSpPr>
          <p:cNvPr id="205" name="Shape 201"/>
          <p:cNvSpPr/>
          <p:nvPr/>
        </p:nvSpPr>
        <p:spPr>
          <a:xfrm>
            <a:off x="2943317" y="5254963"/>
            <a:ext cx="2404738" cy="280091"/>
          </a:xfrm>
          <a:prstGeom prst="rect">
            <a:avLst/>
          </a:prstGeom>
          <a:solidFill>
            <a:srgbClr val="F8E1D0"/>
          </a:solidFill>
          <a:ln/>
        </p:spPr>
        <p:txBody>
          <a:bodyPr/>
          <a:lstStyle/>
          <a:p>
            <a:endParaRPr lang="ko-KR" altLang="en-US"/>
          </a:p>
        </p:txBody>
      </p:sp>
      <p:sp>
        <p:nvSpPr>
          <p:cNvPr id="206" name="Shape 202"/>
          <p:cNvSpPr/>
          <p:nvPr/>
        </p:nvSpPr>
        <p:spPr>
          <a:xfrm>
            <a:off x="2943317" y="5254963"/>
            <a:ext cx="2404738" cy="9525"/>
          </a:xfrm>
          <a:prstGeom prst="rect">
            <a:avLst/>
          </a:prstGeom>
          <a:solidFill>
            <a:srgbClr val="D3B9A5"/>
          </a:solidFill>
          <a:ln/>
        </p:spPr>
        <p:txBody>
          <a:bodyPr/>
          <a:lstStyle/>
          <a:p>
            <a:endParaRPr lang="ko-KR" altLang="en-US"/>
          </a:p>
        </p:txBody>
      </p:sp>
      <p:sp>
        <p:nvSpPr>
          <p:cNvPr id="207" name="Shape 203"/>
          <p:cNvSpPr/>
          <p:nvPr/>
        </p:nvSpPr>
        <p:spPr>
          <a:xfrm>
            <a:off x="2943317" y="5254963"/>
            <a:ext cx="9525" cy="280091"/>
          </a:xfrm>
          <a:prstGeom prst="rect">
            <a:avLst/>
          </a:prstGeom>
          <a:solidFill>
            <a:srgbClr val="D3B9A5"/>
          </a:solidFill>
          <a:ln/>
        </p:spPr>
        <p:txBody>
          <a:bodyPr/>
          <a:lstStyle/>
          <a:p>
            <a:endParaRPr lang="ko-KR" altLang="en-US"/>
          </a:p>
        </p:txBody>
      </p:sp>
      <p:sp>
        <p:nvSpPr>
          <p:cNvPr id="208" name="Text 204"/>
          <p:cNvSpPr/>
          <p:nvPr/>
        </p:nvSpPr>
        <p:spPr>
          <a:xfrm>
            <a:off x="2967584" y="5288755"/>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a:t>
            </a:r>
            <a:endParaRPr lang="en-US" sz="1013" dirty="0"/>
          </a:p>
        </p:txBody>
      </p:sp>
      <p:sp>
        <p:nvSpPr>
          <p:cNvPr id="209" name="Shape 205"/>
          <p:cNvSpPr/>
          <p:nvPr/>
        </p:nvSpPr>
        <p:spPr>
          <a:xfrm>
            <a:off x="5348054" y="5254963"/>
            <a:ext cx="2404738" cy="280091"/>
          </a:xfrm>
          <a:prstGeom prst="rect">
            <a:avLst/>
          </a:prstGeom>
          <a:solidFill>
            <a:srgbClr val="FFFFFF"/>
          </a:solidFill>
          <a:ln/>
        </p:spPr>
        <p:txBody>
          <a:bodyPr/>
          <a:lstStyle/>
          <a:p>
            <a:endParaRPr lang="ko-KR" altLang="en-US"/>
          </a:p>
        </p:txBody>
      </p:sp>
      <p:sp>
        <p:nvSpPr>
          <p:cNvPr id="210" name="Shape 206"/>
          <p:cNvSpPr/>
          <p:nvPr/>
        </p:nvSpPr>
        <p:spPr>
          <a:xfrm>
            <a:off x="5348054" y="5254963"/>
            <a:ext cx="2404738" cy="9525"/>
          </a:xfrm>
          <a:prstGeom prst="rect">
            <a:avLst/>
          </a:prstGeom>
          <a:solidFill>
            <a:srgbClr val="D3B9A5"/>
          </a:solidFill>
          <a:ln/>
        </p:spPr>
        <p:txBody>
          <a:bodyPr/>
          <a:lstStyle/>
          <a:p>
            <a:endParaRPr lang="ko-KR" altLang="en-US"/>
          </a:p>
        </p:txBody>
      </p:sp>
      <p:sp>
        <p:nvSpPr>
          <p:cNvPr id="211" name="Shape 207"/>
          <p:cNvSpPr/>
          <p:nvPr/>
        </p:nvSpPr>
        <p:spPr>
          <a:xfrm>
            <a:off x="5348054" y="5254963"/>
            <a:ext cx="9525" cy="280091"/>
          </a:xfrm>
          <a:prstGeom prst="rect">
            <a:avLst/>
          </a:prstGeom>
          <a:solidFill>
            <a:srgbClr val="D3B9A5"/>
          </a:solidFill>
          <a:ln/>
        </p:spPr>
        <p:txBody>
          <a:bodyPr/>
          <a:lstStyle/>
          <a:p>
            <a:endParaRPr lang="ko-KR" altLang="en-US"/>
          </a:p>
        </p:txBody>
      </p:sp>
      <p:sp>
        <p:nvSpPr>
          <p:cNvPr id="212" name="Text 208"/>
          <p:cNvSpPr/>
          <p:nvPr/>
        </p:nvSpPr>
        <p:spPr>
          <a:xfrm>
            <a:off x="5372321" y="5288755"/>
            <a:ext cx="2361420"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2/1/2</a:t>
            </a:r>
            <a:endParaRPr lang="en-US" sz="1013" dirty="0"/>
          </a:p>
        </p:txBody>
      </p:sp>
      <p:sp>
        <p:nvSpPr>
          <p:cNvPr id="213" name="Shape 209"/>
          <p:cNvSpPr/>
          <p:nvPr/>
        </p:nvSpPr>
        <p:spPr>
          <a:xfrm>
            <a:off x="7752792" y="5254963"/>
            <a:ext cx="2405145" cy="280091"/>
          </a:xfrm>
          <a:prstGeom prst="rect">
            <a:avLst/>
          </a:prstGeom>
          <a:solidFill>
            <a:srgbClr val="FFFFFF"/>
          </a:solidFill>
          <a:ln/>
        </p:spPr>
        <p:txBody>
          <a:bodyPr/>
          <a:lstStyle/>
          <a:p>
            <a:endParaRPr lang="ko-KR" altLang="en-US"/>
          </a:p>
        </p:txBody>
      </p:sp>
      <p:sp>
        <p:nvSpPr>
          <p:cNvPr id="214" name="Shape 210"/>
          <p:cNvSpPr/>
          <p:nvPr/>
        </p:nvSpPr>
        <p:spPr>
          <a:xfrm>
            <a:off x="7752792" y="5254963"/>
            <a:ext cx="2405145" cy="9525"/>
          </a:xfrm>
          <a:prstGeom prst="rect">
            <a:avLst/>
          </a:prstGeom>
          <a:solidFill>
            <a:srgbClr val="D3B9A5"/>
          </a:solidFill>
          <a:ln/>
        </p:spPr>
        <p:txBody>
          <a:bodyPr/>
          <a:lstStyle/>
          <a:p>
            <a:endParaRPr lang="ko-KR" altLang="en-US"/>
          </a:p>
        </p:txBody>
      </p:sp>
      <p:sp>
        <p:nvSpPr>
          <p:cNvPr id="215" name="Shape 211"/>
          <p:cNvSpPr/>
          <p:nvPr/>
        </p:nvSpPr>
        <p:spPr>
          <a:xfrm>
            <a:off x="7752792" y="5254963"/>
            <a:ext cx="9525" cy="280091"/>
          </a:xfrm>
          <a:prstGeom prst="rect">
            <a:avLst/>
          </a:prstGeom>
          <a:solidFill>
            <a:srgbClr val="D3B9A5"/>
          </a:solidFill>
          <a:ln/>
        </p:spPr>
        <p:txBody>
          <a:bodyPr/>
          <a:lstStyle/>
          <a:p>
            <a:endParaRPr lang="ko-KR" altLang="en-US"/>
          </a:p>
        </p:txBody>
      </p:sp>
      <p:sp>
        <p:nvSpPr>
          <p:cNvPr id="216" name="Text 212"/>
          <p:cNvSpPr/>
          <p:nvPr/>
        </p:nvSpPr>
        <p:spPr>
          <a:xfrm>
            <a:off x="7777059" y="5288755"/>
            <a:ext cx="2361828"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a:t>
            </a:r>
            <a:endParaRPr lang="en-US" sz="1013" dirty="0"/>
          </a:p>
        </p:txBody>
      </p:sp>
      <p:sp>
        <p:nvSpPr>
          <p:cNvPr id="217" name="Shape 213"/>
          <p:cNvSpPr/>
          <p:nvPr/>
        </p:nvSpPr>
        <p:spPr>
          <a:xfrm>
            <a:off x="538580" y="5535053"/>
            <a:ext cx="1202369" cy="560182"/>
          </a:xfrm>
          <a:prstGeom prst="rect">
            <a:avLst/>
          </a:prstGeom>
          <a:solidFill>
            <a:srgbClr val="FCF4EE"/>
          </a:solidFill>
          <a:ln/>
        </p:spPr>
        <p:txBody>
          <a:bodyPr/>
          <a:lstStyle/>
          <a:p>
            <a:endParaRPr lang="ko-KR" altLang="en-US"/>
          </a:p>
        </p:txBody>
      </p:sp>
      <p:sp>
        <p:nvSpPr>
          <p:cNvPr id="218" name="Shape 214"/>
          <p:cNvSpPr/>
          <p:nvPr/>
        </p:nvSpPr>
        <p:spPr>
          <a:xfrm>
            <a:off x="538580" y="5535053"/>
            <a:ext cx="1202369" cy="9525"/>
          </a:xfrm>
          <a:prstGeom prst="rect">
            <a:avLst/>
          </a:prstGeom>
          <a:solidFill>
            <a:srgbClr val="D3B9A5"/>
          </a:solidFill>
          <a:ln/>
        </p:spPr>
        <p:txBody>
          <a:bodyPr/>
          <a:lstStyle/>
          <a:p>
            <a:endParaRPr lang="ko-KR" altLang="en-US"/>
          </a:p>
        </p:txBody>
      </p:sp>
      <p:sp>
        <p:nvSpPr>
          <p:cNvPr id="219" name="Text 215"/>
          <p:cNvSpPr/>
          <p:nvPr/>
        </p:nvSpPr>
        <p:spPr>
          <a:xfrm>
            <a:off x="557630" y="5568845"/>
            <a:ext cx="1164269" cy="53591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보험료</a:t>
            </a:r>
            <a:endParaRPr lang="en-US" sz="1013" dirty="0"/>
          </a:p>
        </p:txBody>
      </p:sp>
      <p:sp>
        <p:nvSpPr>
          <p:cNvPr id="220" name="Shape 216"/>
          <p:cNvSpPr/>
          <p:nvPr/>
        </p:nvSpPr>
        <p:spPr>
          <a:xfrm>
            <a:off x="1740948" y="5535053"/>
            <a:ext cx="1202369" cy="280091"/>
          </a:xfrm>
          <a:prstGeom prst="rect">
            <a:avLst/>
          </a:prstGeom>
          <a:solidFill>
            <a:srgbClr val="FCF4EE"/>
          </a:solidFill>
          <a:ln/>
        </p:spPr>
        <p:txBody>
          <a:bodyPr/>
          <a:lstStyle/>
          <a:p>
            <a:endParaRPr lang="ko-KR" altLang="en-US"/>
          </a:p>
        </p:txBody>
      </p:sp>
      <p:sp>
        <p:nvSpPr>
          <p:cNvPr id="221" name="Shape 217"/>
          <p:cNvSpPr/>
          <p:nvPr/>
        </p:nvSpPr>
        <p:spPr>
          <a:xfrm>
            <a:off x="1740948" y="5535053"/>
            <a:ext cx="1202369" cy="9525"/>
          </a:xfrm>
          <a:prstGeom prst="rect">
            <a:avLst/>
          </a:prstGeom>
          <a:solidFill>
            <a:srgbClr val="D3B9A5"/>
          </a:solidFill>
          <a:ln/>
        </p:spPr>
        <p:txBody>
          <a:bodyPr/>
          <a:lstStyle/>
          <a:p>
            <a:endParaRPr lang="ko-KR" altLang="en-US"/>
          </a:p>
        </p:txBody>
      </p:sp>
      <p:sp>
        <p:nvSpPr>
          <p:cNvPr id="222" name="Shape 218"/>
          <p:cNvSpPr/>
          <p:nvPr/>
        </p:nvSpPr>
        <p:spPr>
          <a:xfrm>
            <a:off x="1740948" y="5535053"/>
            <a:ext cx="9525" cy="280091"/>
          </a:xfrm>
          <a:prstGeom prst="rect">
            <a:avLst/>
          </a:prstGeom>
          <a:solidFill>
            <a:srgbClr val="D3B9A5"/>
          </a:solidFill>
          <a:ln/>
        </p:spPr>
        <p:txBody>
          <a:bodyPr/>
          <a:lstStyle/>
          <a:p>
            <a:endParaRPr lang="ko-KR" altLang="en-US"/>
          </a:p>
        </p:txBody>
      </p:sp>
      <p:sp>
        <p:nvSpPr>
          <p:cNvPr id="223" name="Text 219"/>
          <p:cNvSpPr/>
          <p:nvPr/>
        </p:nvSpPr>
        <p:spPr>
          <a:xfrm>
            <a:off x="1765215"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구분</a:t>
            </a:r>
            <a:endParaRPr lang="en-US" sz="1013" dirty="0"/>
          </a:p>
        </p:txBody>
      </p:sp>
      <p:sp>
        <p:nvSpPr>
          <p:cNvPr id="224" name="Shape 220"/>
          <p:cNvSpPr/>
          <p:nvPr/>
        </p:nvSpPr>
        <p:spPr>
          <a:xfrm>
            <a:off x="2943317" y="5535053"/>
            <a:ext cx="1202369" cy="280091"/>
          </a:xfrm>
          <a:prstGeom prst="rect">
            <a:avLst/>
          </a:prstGeom>
          <a:solidFill>
            <a:srgbClr val="F8E1D0"/>
          </a:solidFill>
          <a:ln/>
        </p:spPr>
        <p:txBody>
          <a:bodyPr/>
          <a:lstStyle/>
          <a:p>
            <a:endParaRPr lang="ko-KR" altLang="en-US"/>
          </a:p>
        </p:txBody>
      </p:sp>
      <p:sp>
        <p:nvSpPr>
          <p:cNvPr id="225" name="Shape 221"/>
          <p:cNvSpPr/>
          <p:nvPr/>
        </p:nvSpPr>
        <p:spPr>
          <a:xfrm>
            <a:off x="2943317" y="5535053"/>
            <a:ext cx="1202369" cy="9525"/>
          </a:xfrm>
          <a:prstGeom prst="rect">
            <a:avLst/>
          </a:prstGeom>
          <a:solidFill>
            <a:srgbClr val="D3B9A5"/>
          </a:solidFill>
          <a:ln/>
        </p:spPr>
        <p:txBody>
          <a:bodyPr/>
          <a:lstStyle/>
          <a:p>
            <a:endParaRPr lang="ko-KR" altLang="en-US"/>
          </a:p>
        </p:txBody>
      </p:sp>
      <p:sp>
        <p:nvSpPr>
          <p:cNvPr id="226" name="Shape 222"/>
          <p:cNvSpPr/>
          <p:nvPr/>
        </p:nvSpPr>
        <p:spPr>
          <a:xfrm>
            <a:off x="2943317" y="5535053"/>
            <a:ext cx="9525" cy="280091"/>
          </a:xfrm>
          <a:prstGeom prst="rect">
            <a:avLst/>
          </a:prstGeom>
          <a:solidFill>
            <a:srgbClr val="D3B9A5"/>
          </a:solidFill>
          <a:ln/>
        </p:spPr>
        <p:txBody>
          <a:bodyPr/>
          <a:lstStyle/>
          <a:p>
            <a:endParaRPr lang="ko-KR" altLang="en-US"/>
          </a:p>
        </p:txBody>
      </p:sp>
      <p:sp>
        <p:nvSpPr>
          <p:cNvPr id="227" name="Text 223"/>
          <p:cNvSpPr/>
          <p:nvPr/>
        </p:nvSpPr>
        <p:spPr>
          <a:xfrm>
            <a:off x="2967584"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남</a:t>
            </a:r>
            <a:endParaRPr lang="en-US" sz="1013" dirty="0"/>
          </a:p>
        </p:txBody>
      </p:sp>
      <p:sp>
        <p:nvSpPr>
          <p:cNvPr id="228" name="Shape 224"/>
          <p:cNvSpPr/>
          <p:nvPr/>
        </p:nvSpPr>
        <p:spPr>
          <a:xfrm>
            <a:off x="4145686" y="5535053"/>
            <a:ext cx="1202369" cy="280091"/>
          </a:xfrm>
          <a:prstGeom prst="rect">
            <a:avLst/>
          </a:prstGeom>
          <a:solidFill>
            <a:srgbClr val="F8E1D0"/>
          </a:solidFill>
          <a:ln/>
        </p:spPr>
        <p:txBody>
          <a:bodyPr/>
          <a:lstStyle/>
          <a:p>
            <a:endParaRPr lang="ko-KR" altLang="en-US"/>
          </a:p>
        </p:txBody>
      </p:sp>
      <p:sp>
        <p:nvSpPr>
          <p:cNvPr id="229" name="Shape 225"/>
          <p:cNvSpPr/>
          <p:nvPr/>
        </p:nvSpPr>
        <p:spPr>
          <a:xfrm>
            <a:off x="4145686" y="5535053"/>
            <a:ext cx="1202369" cy="9525"/>
          </a:xfrm>
          <a:prstGeom prst="rect">
            <a:avLst/>
          </a:prstGeom>
          <a:solidFill>
            <a:srgbClr val="D3B9A5"/>
          </a:solidFill>
          <a:ln/>
        </p:spPr>
        <p:txBody>
          <a:bodyPr/>
          <a:lstStyle/>
          <a:p>
            <a:endParaRPr lang="ko-KR" altLang="en-US"/>
          </a:p>
        </p:txBody>
      </p:sp>
      <p:sp>
        <p:nvSpPr>
          <p:cNvPr id="230" name="Shape 226"/>
          <p:cNvSpPr/>
          <p:nvPr/>
        </p:nvSpPr>
        <p:spPr>
          <a:xfrm>
            <a:off x="4145686" y="5535053"/>
            <a:ext cx="9525" cy="280091"/>
          </a:xfrm>
          <a:prstGeom prst="rect">
            <a:avLst/>
          </a:prstGeom>
          <a:solidFill>
            <a:srgbClr val="D3B9A5"/>
          </a:solidFill>
          <a:ln/>
        </p:spPr>
        <p:txBody>
          <a:bodyPr/>
          <a:lstStyle/>
          <a:p>
            <a:endParaRPr lang="ko-KR" altLang="en-US"/>
          </a:p>
        </p:txBody>
      </p:sp>
      <p:sp>
        <p:nvSpPr>
          <p:cNvPr id="231" name="Text 227"/>
          <p:cNvSpPr/>
          <p:nvPr/>
        </p:nvSpPr>
        <p:spPr>
          <a:xfrm>
            <a:off x="4169953"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여</a:t>
            </a:r>
            <a:endParaRPr lang="en-US" sz="1013" dirty="0"/>
          </a:p>
        </p:txBody>
      </p:sp>
      <p:sp>
        <p:nvSpPr>
          <p:cNvPr id="232" name="Shape 228"/>
          <p:cNvSpPr/>
          <p:nvPr/>
        </p:nvSpPr>
        <p:spPr>
          <a:xfrm>
            <a:off x="5348054" y="5535053"/>
            <a:ext cx="1202369" cy="280091"/>
          </a:xfrm>
          <a:prstGeom prst="rect">
            <a:avLst/>
          </a:prstGeom>
          <a:solidFill>
            <a:srgbClr val="FFFFFF"/>
          </a:solidFill>
          <a:ln/>
        </p:spPr>
        <p:txBody>
          <a:bodyPr/>
          <a:lstStyle/>
          <a:p>
            <a:endParaRPr lang="ko-KR" altLang="en-US"/>
          </a:p>
        </p:txBody>
      </p:sp>
      <p:sp>
        <p:nvSpPr>
          <p:cNvPr id="233" name="Shape 229"/>
          <p:cNvSpPr/>
          <p:nvPr/>
        </p:nvSpPr>
        <p:spPr>
          <a:xfrm>
            <a:off x="5348054" y="5535053"/>
            <a:ext cx="1202369" cy="9525"/>
          </a:xfrm>
          <a:prstGeom prst="rect">
            <a:avLst/>
          </a:prstGeom>
          <a:solidFill>
            <a:srgbClr val="D3B9A5"/>
          </a:solidFill>
          <a:ln/>
        </p:spPr>
        <p:txBody>
          <a:bodyPr/>
          <a:lstStyle/>
          <a:p>
            <a:endParaRPr lang="ko-KR" altLang="en-US"/>
          </a:p>
        </p:txBody>
      </p:sp>
      <p:sp>
        <p:nvSpPr>
          <p:cNvPr id="234" name="Shape 230"/>
          <p:cNvSpPr/>
          <p:nvPr/>
        </p:nvSpPr>
        <p:spPr>
          <a:xfrm>
            <a:off x="5348054" y="5535053"/>
            <a:ext cx="9525" cy="280091"/>
          </a:xfrm>
          <a:prstGeom prst="rect">
            <a:avLst/>
          </a:prstGeom>
          <a:solidFill>
            <a:srgbClr val="D3B9A5"/>
          </a:solidFill>
          <a:ln/>
        </p:spPr>
        <p:txBody>
          <a:bodyPr/>
          <a:lstStyle/>
          <a:p>
            <a:endParaRPr lang="ko-KR" altLang="en-US"/>
          </a:p>
        </p:txBody>
      </p:sp>
      <p:sp>
        <p:nvSpPr>
          <p:cNvPr id="235" name="Text 231"/>
          <p:cNvSpPr/>
          <p:nvPr/>
        </p:nvSpPr>
        <p:spPr>
          <a:xfrm>
            <a:off x="5372321"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a:t>
            </a:r>
            <a:endParaRPr lang="en-US" sz="1013" dirty="0"/>
          </a:p>
        </p:txBody>
      </p:sp>
      <p:sp>
        <p:nvSpPr>
          <p:cNvPr id="236" name="Shape 232"/>
          <p:cNvSpPr/>
          <p:nvPr/>
        </p:nvSpPr>
        <p:spPr>
          <a:xfrm>
            <a:off x="6550423" y="5535053"/>
            <a:ext cx="1202369" cy="280091"/>
          </a:xfrm>
          <a:prstGeom prst="rect">
            <a:avLst/>
          </a:prstGeom>
          <a:solidFill>
            <a:srgbClr val="FFFFFF"/>
          </a:solidFill>
          <a:ln/>
        </p:spPr>
        <p:txBody>
          <a:bodyPr/>
          <a:lstStyle/>
          <a:p>
            <a:endParaRPr lang="ko-KR" altLang="en-US"/>
          </a:p>
        </p:txBody>
      </p:sp>
      <p:sp>
        <p:nvSpPr>
          <p:cNvPr id="237" name="Shape 233"/>
          <p:cNvSpPr/>
          <p:nvPr/>
        </p:nvSpPr>
        <p:spPr>
          <a:xfrm>
            <a:off x="6550423" y="5535053"/>
            <a:ext cx="1202369" cy="9525"/>
          </a:xfrm>
          <a:prstGeom prst="rect">
            <a:avLst/>
          </a:prstGeom>
          <a:solidFill>
            <a:srgbClr val="D3B9A5"/>
          </a:solidFill>
          <a:ln/>
        </p:spPr>
        <p:txBody>
          <a:bodyPr/>
          <a:lstStyle/>
          <a:p>
            <a:endParaRPr lang="ko-KR" altLang="en-US"/>
          </a:p>
        </p:txBody>
      </p:sp>
      <p:sp>
        <p:nvSpPr>
          <p:cNvPr id="238" name="Shape 234"/>
          <p:cNvSpPr/>
          <p:nvPr/>
        </p:nvSpPr>
        <p:spPr>
          <a:xfrm>
            <a:off x="6550423" y="5535053"/>
            <a:ext cx="9525" cy="280091"/>
          </a:xfrm>
          <a:prstGeom prst="rect">
            <a:avLst/>
          </a:prstGeom>
          <a:solidFill>
            <a:srgbClr val="D3B9A5"/>
          </a:solidFill>
          <a:ln/>
        </p:spPr>
        <p:txBody>
          <a:bodyPr/>
          <a:lstStyle/>
          <a:p>
            <a:endParaRPr lang="ko-KR" altLang="en-US"/>
          </a:p>
        </p:txBody>
      </p:sp>
      <p:sp>
        <p:nvSpPr>
          <p:cNvPr id="239" name="Text 235"/>
          <p:cNvSpPr/>
          <p:nvPr/>
        </p:nvSpPr>
        <p:spPr>
          <a:xfrm>
            <a:off x="6574690"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a:t>
            </a:r>
            <a:endParaRPr lang="en-US" sz="1013" dirty="0"/>
          </a:p>
        </p:txBody>
      </p:sp>
      <p:sp>
        <p:nvSpPr>
          <p:cNvPr id="240" name="Shape 236"/>
          <p:cNvSpPr/>
          <p:nvPr/>
        </p:nvSpPr>
        <p:spPr>
          <a:xfrm>
            <a:off x="7752792" y="5535053"/>
            <a:ext cx="1202369" cy="280091"/>
          </a:xfrm>
          <a:prstGeom prst="rect">
            <a:avLst/>
          </a:prstGeom>
          <a:solidFill>
            <a:srgbClr val="FFFFFF"/>
          </a:solidFill>
          <a:ln/>
        </p:spPr>
        <p:txBody>
          <a:bodyPr/>
          <a:lstStyle/>
          <a:p>
            <a:endParaRPr lang="ko-KR" altLang="en-US"/>
          </a:p>
        </p:txBody>
      </p:sp>
      <p:sp>
        <p:nvSpPr>
          <p:cNvPr id="241" name="Shape 237"/>
          <p:cNvSpPr/>
          <p:nvPr/>
        </p:nvSpPr>
        <p:spPr>
          <a:xfrm>
            <a:off x="7752792" y="5535053"/>
            <a:ext cx="1202369" cy="9525"/>
          </a:xfrm>
          <a:prstGeom prst="rect">
            <a:avLst/>
          </a:prstGeom>
          <a:solidFill>
            <a:srgbClr val="D3B9A5"/>
          </a:solidFill>
          <a:ln/>
        </p:spPr>
        <p:txBody>
          <a:bodyPr/>
          <a:lstStyle/>
          <a:p>
            <a:endParaRPr lang="ko-KR" altLang="en-US"/>
          </a:p>
        </p:txBody>
      </p:sp>
      <p:sp>
        <p:nvSpPr>
          <p:cNvPr id="242" name="Shape 238"/>
          <p:cNvSpPr/>
          <p:nvPr/>
        </p:nvSpPr>
        <p:spPr>
          <a:xfrm>
            <a:off x="7752792" y="5535053"/>
            <a:ext cx="9525" cy="280091"/>
          </a:xfrm>
          <a:prstGeom prst="rect">
            <a:avLst/>
          </a:prstGeom>
          <a:solidFill>
            <a:srgbClr val="D3B9A5"/>
          </a:solidFill>
          <a:ln/>
        </p:spPr>
        <p:txBody>
          <a:bodyPr/>
          <a:lstStyle/>
          <a:p>
            <a:endParaRPr lang="ko-KR" altLang="en-US"/>
          </a:p>
        </p:txBody>
      </p:sp>
      <p:sp>
        <p:nvSpPr>
          <p:cNvPr id="243" name="Text 239"/>
          <p:cNvSpPr/>
          <p:nvPr/>
        </p:nvSpPr>
        <p:spPr>
          <a:xfrm>
            <a:off x="7777059" y="5568845"/>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남</a:t>
            </a:r>
            <a:endParaRPr lang="en-US" sz="1013" dirty="0"/>
          </a:p>
        </p:txBody>
      </p:sp>
      <p:sp>
        <p:nvSpPr>
          <p:cNvPr id="244" name="Shape 240"/>
          <p:cNvSpPr/>
          <p:nvPr/>
        </p:nvSpPr>
        <p:spPr>
          <a:xfrm>
            <a:off x="8955161" y="5535053"/>
            <a:ext cx="1202776" cy="280091"/>
          </a:xfrm>
          <a:prstGeom prst="rect">
            <a:avLst/>
          </a:prstGeom>
          <a:solidFill>
            <a:srgbClr val="FFFFFF"/>
          </a:solidFill>
          <a:ln/>
        </p:spPr>
        <p:txBody>
          <a:bodyPr/>
          <a:lstStyle/>
          <a:p>
            <a:endParaRPr lang="ko-KR" altLang="en-US"/>
          </a:p>
        </p:txBody>
      </p:sp>
      <p:sp>
        <p:nvSpPr>
          <p:cNvPr id="245" name="Shape 241"/>
          <p:cNvSpPr/>
          <p:nvPr/>
        </p:nvSpPr>
        <p:spPr>
          <a:xfrm>
            <a:off x="8955161" y="5535053"/>
            <a:ext cx="1202776" cy="9525"/>
          </a:xfrm>
          <a:prstGeom prst="rect">
            <a:avLst/>
          </a:prstGeom>
          <a:solidFill>
            <a:srgbClr val="D3B9A5"/>
          </a:solidFill>
          <a:ln/>
        </p:spPr>
        <p:txBody>
          <a:bodyPr/>
          <a:lstStyle/>
          <a:p>
            <a:endParaRPr lang="ko-KR" altLang="en-US"/>
          </a:p>
        </p:txBody>
      </p:sp>
      <p:sp>
        <p:nvSpPr>
          <p:cNvPr id="246" name="Shape 242"/>
          <p:cNvSpPr/>
          <p:nvPr/>
        </p:nvSpPr>
        <p:spPr>
          <a:xfrm>
            <a:off x="8955161" y="5535053"/>
            <a:ext cx="9525" cy="280091"/>
          </a:xfrm>
          <a:prstGeom prst="rect">
            <a:avLst/>
          </a:prstGeom>
          <a:solidFill>
            <a:srgbClr val="D3B9A5"/>
          </a:solidFill>
          <a:ln/>
        </p:spPr>
        <p:txBody>
          <a:bodyPr/>
          <a:lstStyle/>
          <a:p>
            <a:endParaRPr lang="ko-KR" altLang="en-US"/>
          </a:p>
        </p:txBody>
      </p:sp>
      <p:sp>
        <p:nvSpPr>
          <p:cNvPr id="247" name="Text 243"/>
          <p:cNvSpPr/>
          <p:nvPr/>
        </p:nvSpPr>
        <p:spPr>
          <a:xfrm>
            <a:off x="8979428" y="5568845"/>
            <a:ext cx="1159459"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a:t>
            </a:r>
            <a:endParaRPr lang="en-US" sz="1013" dirty="0"/>
          </a:p>
        </p:txBody>
      </p:sp>
      <p:sp>
        <p:nvSpPr>
          <p:cNvPr id="248" name="Shape 244"/>
          <p:cNvSpPr/>
          <p:nvPr/>
        </p:nvSpPr>
        <p:spPr>
          <a:xfrm>
            <a:off x="1740948" y="5815144"/>
            <a:ext cx="1202369" cy="280091"/>
          </a:xfrm>
          <a:prstGeom prst="rect">
            <a:avLst/>
          </a:prstGeom>
          <a:solidFill>
            <a:srgbClr val="FCF4EE"/>
          </a:solidFill>
          <a:ln/>
        </p:spPr>
        <p:txBody>
          <a:bodyPr/>
          <a:lstStyle/>
          <a:p>
            <a:endParaRPr lang="ko-KR" altLang="en-US"/>
          </a:p>
        </p:txBody>
      </p:sp>
      <p:sp>
        <p:nvSpPr>
          <p:cNvPr id="249" name="Shape 245"/>
          <p:cNvSpPr/>
          <p:nvPr/>
        </p:nvSpPr>
        <p:spPr>
          <a:xfrm>
            <a:off x="1740948" y="5815144"/>
            <a:ext cx="1202369" cy="9525"/>
          </a:xfrm>
          <a:prstGeom prst="rect">
            <a:avLst/>
          </a:prstGeom>
          <a:solidFill>
            <a:srgbClr val="D3B9A5"/>
          </a:solidFill>
          <a:ln/>
        </p:spPr>
        <p:txBody>
          <a:bodyPr/>
          <a:lstStyle/>
          <a:p>
            <a:endParaRPr lang="ko-KR" altLang="en-US"/>
          </a:p>
        </p:txBody>
      </p:sp>
      <p:sp>
        <p:nvSpPr>
          <p:cNvPr id="250" name="Shape 246"/>
          <p:cNvSpPr/>
          <p:nvPr/>
        </p:nvSpPr>
        <p:spPr>
          <a:xfrm>
            <a:off x="1740948" y="5815144"/>
            <a:ext cx="9525" cy="280091"/>
          </a:xfrm>
          <a:prstGeom prst="rect">
            <a:avLst/>
          </a:prstGeom>
          <a:solidFill>
            <a:srgbClr val="D3B9A5"/>
          </a:solidFill>
          <a:ln/>
        </p:spPr>
        <p:txBody>
          <a:bodyPr/>
          <a:lstStyle/>
          <a:p>
            <a:endParaRPr lang="ko-KR" altLang="en-US"/>
          </a:p>
        </p:txBody>
      </p:sp>
      <p:sp>
        <p:nvSpPr>
          <p:cNvPr id="251" name="Text 247"/>
          <p:cNvSpPr/>
          <p:nvPr/>
        </p:nvSpPr>
        <p:spPr>
          <a:xfrm>
            <a:off x="1765215"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50세</a:t>
            </a:r>
            <a:endParaRPr lang="en-US" sz="1013" dirty="0"/>
          </a:p>
        </p:txBody>
      </p:sp>
      <p:sp>
        <p:nvSpPr>
          <p:cNvPr id="252" name="Shape 248"/>
          <p:cNvSpPr/>
          <p:nvPr/>
        </p:nvSpPr>
        <p:spPr>
          <a:xfrm>
            <a:off x="2943317" y="5815144"/>
            <a:ext cx="1202369" cy="280091"/>
          </a:xfrm>
          <a:prstGeom prst="rect">
            <a:avLst/>
          </a:prstGeom>
          <a:solidFill>
            <a:srgbClr val="F8E1D0"/>
          </a:solidFill>
          <a:ln/>
        </p:spPr>
        <p:txBody>
          <a:bodyPr/>
          <a:lstStyle/>
          <a:p>
            <a:endParaRPr lang="ko-KR" altLang="en-US"/>
          </a:p>
        </p:txBody>
      </p:sp>
      <p:sp>
        <p:nvSpPr>
          <p:cNvPr id="253" name="Shape 249"/>
          <p:cNvSpPr/>
          <p:nvPr/>
        </p:nvSpPr>
        <p:spPr>
          <a:xfrm>
            <a:off x="2943317" y="5815144"/>
            <a:ext cx="1202369" cy="9525"/>
          </a:xfrm>
          <a:prstGeom prst="rect">
            <a:avLst/>
          </a:prstGeom>
          <a:solidFill>
            <a:srgbClr val="D3B9A5"/>
          </a:solidFill>
          <a:ln/>
        </p:spPr>
        <p:txBody>
          <a:bodyPr/>
          <a:lstStyle/>
          <a:p>
            <a:endParaRPr lang="ko-KR" altLang="en-US"/>
          </a:p>
        </p:txBody>
      </p:sp>
      <p:sp>
        <p:nvSpPr>
          <p:cNvPr id="254" name="Shape 250"/>
          <p:cNvSpPr/>
          <p:nvPr/>
        </p:nvSpPr>
        <p:spPr>
          <a:xfrm>
            <a:off x="2943317" y="5815144"/>
            <a:ext cx="9525" cy="280091"/>
          </a:xfrm>
          <a:prstGeom prst="rect">
            <a:avLst/>
          </a:prstGeom>
          <a:solidFill>
            <a:srgbClr val="D3B9A5"/>
          </a:solidFill>
          <a:ln/>
        </p:spPr>
        <p:txBody>
          <a:bodyPr/>
          <a:lstStyle/>
          <a:p>
            <a:endParaRPr lang="ko-KR" altLang="en-US"/>
          </a:p>
        </p:txBody>
      </p:sp>
      <p:sp>
        <p:nvSpPr>
          <p:cNvPr id="255" name="Text 251"/>
          <p:cNvSpPr/>
          <p:nvPr/>
        </p:nvSpPr>
        <p:spPr>
          <a:xfrm>
            <a:off x="2967584"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33,774</a:t>
            </a:r>
            <a:endParaRPr lang="en-US" sz="1013" dirty="0"/>
          </a:p>
        </p:txBody>
      </p:sp>
      <p:sp>
        <p:nvSpPr>
          <p:cNvPr id="256" name="Shape 252"/>
          <p:cNvSpPr/>
          <p:nvPr/>
        </p:nvSpPr>
        <p:spPr>
          <a:xfrm>
            <a:off x="4145686" y="5815144"/>
            <a:ext cx="1202369" cy="280091"/>
          </a:xfrm>
          <a:prstGeom prst="rect">
            <a:avLst/>
          </a:prstGeom>
          <a:solidFill>
            <a:srgbClr val="F8E1D0"/>
          </a:solidFill>
          <a:ln/>
        </p:spPr>
        <p:txBody>
          <a:bodyPr/>
          <a:lstStyle/>
          <a:p>
            <a:endParaRPr lang="ko-KR" altLang="en-US"/>
          </a:p>
        </p:txBody>
      </p:sp>
      <p:sp>
        <p:nvSpPr>
          <p:cNvPr id="257" name="Shape 253"/>
          <p:cNvSpPr/>
          <p:nvPr/>
        </p:nvSpPr>
        <p:spPr>
          <a:xfrm>
            <a:off x="4145686" y="5815144"/>
            <a:ext cx="1202369" cy="9525"/>
          </a:xfrm>
          <a:prstGeom prst="rect">
            <a:avLst/>
          </a:prstGeom>
          <a:solidFill>
            <a:srgbClr val="D3B9A5"/>
          </a:solidFill>
          <a:ln/>
        </p:spPr>
        <p:txBody>
          <a:bodyPr/>
          <a:lstStyle/>
          <a:p>
            <a:endParaRPr lang="ko-KR" altLang="en-US"/>
          </a:p>
        </p:txBody>
      </p:sp>
      <p:sp>
        <p:nvSpPr>
          <p:cNvPr id="258" name="Shape 254"/>
          <p:cNvSpPr/>
          <p:nvPr/>
        </p:nvSpPr>
        <p:spPr>
          <a:xfrm>
            <a:off x="4145686" y="5815144"/>
            <a:ext cx="9525" cy="280091"/>
          </a:xfrm>
          <a:prstGeom prst="rect">
            <a:avLst/>
          </a:prstGeom>
          <a:solidFill>
            <a:srgbClr val="D3B9A5"/>
          </a:solidFill>
          <a:ln/>
        </p:spPr>
        <p:txBody>
          <a:bodyPr/>
          <a:lstStyle/>
          <a:p>
            <a:endParaRPr lang="ko-KR" altLang="en-US"/>
          </a:p>
        </p:txBody>
      </p:sp>
      <p:sp>
        <p:nvSpPr>
          <p:cNvPr id="259" name="Text 255"/>
          <p:cNvSpPr/>
          <p:nvPr/>
        </p:nvSpPr>
        <p:spPr>
          <a:xfrm>
            <a:off x="4169953"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48,597</a:t>
            </a:r>
            <a:endParaRPr lang="en-US" sz="1013" dirty="0"/>
          </a:p>
        </p:txBody>
      </p:sp>
      <p:sp>
        <p:nvSpPr>
          <p:cNvPr id="260" name="Shape 256"/>
          <p:cNvSpPr/>
          <p:nvPr/>
        </p:nvSpPr>
        <p:spPr>
          <a:xfrm>
            <a:off x="5348054" y="5815144"/>
            <a:ext cx="1202369" cy="280091"/>
          </a:xfrm>
          <a:prstGeom prst="rect">
            <a:avLst/>
          </a:prstGeom>
          <a:solidFill>
            <a:srgbClr val="FFFFFF"/>
          </a:solidFill>
          <a:ln/>
        </p:spPr>
        <p:txBody>
          <a:bodyPr/>
          <a:lstStyle/>
          <a:p>
            <a:endParaRPr lang="ko-KR" altLang="en-US"/>
          </a:p>
        </p:txBody>
      </p:sp>
      <p:sp>
        <p:nvSpPr>
          <p:cNvPr id="261" name="Shape 257"/>
          <p:cNvSpPr/>
          <p:nvPr/>
        </p:nvSpPr>
        <p:spPr>
          <a:xfrm>
            <a:off x="5348054" y="5815144"/>
            <a:ext cx="1202369" cy="9525"/>
          </a:xfrm>
          <a:prstGeom prst="rect">
            <a:avLst/>
          </a:prstGeom>
          <a:solidFill>
            <a:srgbClr val="D3B9A5"/>
          </a:solidFill>
          <a:ln/>
        </p:spPr>
        <p:txBody>
          <a:bodyPr/>
          <a:lstStyle/>
          <a:p>
            <a:endParaRPr lang="ko-KR" altLang="en-US"/>
          </a:p>
        </p:txBody>
      </p:sp>
      <p:sp>
        <p:nvSpPr>
          <p:cNvPr id="262" name="Shape 258"/>
          <p:cNvSpPr/>
          <p:nvPr/>
        </p:nvSpPr>
        <p:spPr>
          <a:xfrm>
            <a:off x="5348054" y="5815144"/>
            <a:ext cx="9525" cy="280091"/>
          </a:xfrm>
          <a:prstGeom prst="rect">
            <a:avLst/>
          </a:prstGeom>
          <a:solidFill>
            <a:srgbClr val="D3B9A5"/>
          </a:solidFill>
          <a:ln/>
        </p:spPr>
        <p:txBody>
          <a:bodyPr/>
          <a:lstStyle/>
          <a:p>
            <a:endParaRPr lang="ko-KR" altLang="en-US"/>
          </a:p>
        </p:txBody>
      </p:sp>
      <p:sp>
        <p:nvSpPr>
          <p:cNvPr id="263" name="Text 259"/>
          <p:cNvSpPr/>
          <p:nvPr/>
        </p:nvSpPr>
        <p:spPr>
          <a:xfrm>
            <a:off x="5372321"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37,790</a:t>
            </a:r>
            <a:endParaRPr lang="en-US" sz="1013" dirty="0"/>
          </a:p>
        </p:txBody>
      </p:sp>
      <p:sp>
        <p:nvSpPr>
          <p:cNvPr id="264" name="Shape 260"/>
          <p:cNvSpPr/>
          <p:nvPr/>
        </p:nvSpPr>
        <p:spPr>
          <a:xfrm>
            <a:off x="6550423" y="5815144"/>
            <a:ext cx="1202369" cy="280091"/>
          </a:xfrm>
          <a:prstGeom prst="rect">
            <a:avLst/>
          </a:prstGeom>
          <a:solidFill>
            <a:srgbClr val="FFFFFF"/>
          </a:solidFill>
          <a:ln/>
        </p:spPr>
        <p:txBody>
          <a:bodyPr/>
          <a:lstStyle/>
          <a:p>
            <a:endParaRPr lang="ko-KR" altLang="en-US"/>
          </a:p>
        </p:txBody>
      </p:sp>
      <p:sp>
        <p:nvSpPr>
          <p:cNvPr id="265" name="Shape 261"/>
          <p:cNvSpPr/>
          <p:nvPr/>
        </p:nvSpPr>
        <p:spPr>
          <a:xfrm>
            <a:off x="6550423" y="5815144"/>
            <a:ext cx="1202369" cy="9525"/>
          </a:xfrm>
          <a:prstGeom prst="rect">
            <a:avLst/>
          </a:prstGeom>
          <a:solidFill>
            <a:srgbClr val="D3B9A5"/>
          </a:solidFill>
          <a:ln/>
        </p:spPr>
        <p:txBody>
          <a:bodyPr/>
          <a:lstStyle/>
          <a:p>
            <a:endParaRPr lang="ko-KR" altLang="en-US"/>
          </a:p>
        </p:txBody>
      </p:sp>
      <p:sp>
        <p:nvSpPr>
          <p:cNvPr id="266" name="Shape 262"/>
          <p:cNvSpPr/>
          <p:nvPr/>
        </p:nvSpPr>
        <p:spPr>
          <a:xfrm>
            <a:off x="6550423" y="5815144"/>
            <a:ext cx="9525" cy="280091"/>
          </a:xfrm>
          <a:prstGeom prst="rect">
            <a:avLst/>
          </a:prstGeom>
          <a:solidFill>
            <a:srgbClr val="D3B9A5"/>
          </a:solidFill>
          <a:ln/>
        </p:spPr>
        <p:txBody>
          <a:bodyPr/>
          <a:lstStyle/>
          <a:p>
            <a:endParaRPr lang="ko-KR" altLang="en-US"/>
          </a:p>
        </p:txBody>
      </p:sp>
      <p:sp>
        <p:nvSpPr>
          <p:cNvPr id="267" name="Text 263"/>
          <p:cNvSpPr/>
          <p:nvPr/>
        </p:nvSpPr>
        <p:spPr>
          <a:xfrm>
            <a:off x="6574690"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41,950</a:t>
            </a:r>
            <a:endParaRPr lang="en-US" sz="1013" dirty="0"/>
          </a:p>
        </p:txBody>
      </p:sp>
      <p:sp>
        <p:nvSpPr>
          <p:cNvPr id="268" name="Shape 264"/>
          <p:cNvSpPr/>
          <p:nvPr/>
        </p:nvSpPr>
        <p:spPr>
          <a:xfrm>
            <a:off x="7752792" y="5815144"/>
            <a:ext cx="1202369" cy="280091"/>
          </a:xfrm>
          <a:prstGeom prst="rect">
            <a:avLst/>
          </a:prstGeom>
          <a:solidFill>
            <a:srgbClr val="FFFFFF"/>
          </a:solidFill>
          <a:ln/>
        </p:spPr>
        <p:txBody>
          <a:bodyPr/>
          <a:lstStyle/>
          <a:p>
            <a:endParaRPr lang="ko-KR" altLang="en-US"/>
          </a:p>
        </p:txBody>
      </p:sp>
      <p:sp>
        <p:nvSpPr>
          <p:cNvPr id="269" name="Shape 265"/>
          <p:cNvSpPr/>
          <p:nvPr/>
        </p:nvSpPr>
        <p:spPr>
          <a:xfrm>
            <a:off x="7752792" y="5815144"/>
            <a:ext cx="1202369" cy="9525"/>
          </a:xfrm>
          <a:prstGeom prst="rect">
            <a:avLst/>
          </a:prstGeom>
          <a:solidFill>
            <a:srgbClr val="D3B9A5"/>
          </a:solidFill>
          <a:ln/>
        </p:spPr>
        <p:txBody>
          <a:bodyPr/>
          <a:lstStyle/>
          <a:p>
            <a:endParaRPr lang="ko-KR" altLang="en-US"/>
          </a:p>
        </p:txBody>
      </p:sp>
      <p:sp>
        <p:nvSpPr>
          <p:cNvPr id="270" name="Shape 266"/>
          <p:cNvSpPr/>
          <p:nvPr/>
        </p:nvSpPr>
        <p:spPr>
          <a:xfrm>
            <a:off x="7752792" y="5815144"/>
            <a:ext cx="9525" cy="280091"/>
          </a:xfrm>
          <a:prstGeom prst="rect">
            <a:avLst/>
          </a:prstGeom>
          <a:solidFill>
            <a:srgbClr val="D3B9A5"/>
          </a:solidFill>
          <a:ln/>
        </p:spPr>
        <p:txBody>
          <a:bodyPr/>
          <a:lstStyle/>
          <a:p>
            <a:endParaRPr lang="ko-KR" altLang="en-US"/>
          </a:p>
        </p:txBody>
      </p:sp>
      <p:sp>
        <p:nvSpPr>
          <p:cNvPr id="271" name="Text 267"/>
          <p:cNvSpPr/>
          <p:nvPr/>
        </p:nvSpPr>
        <p:spPr>
          <a:xfrm>
            <a:off x="7777059" y="5848937"/>
            <a:ext cx="1159052"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42,111</a:t>
            </a:r>
            <a:endParaRPr lang="en-US" sz="1013" dirty="0"/>
          </a:p>
        </p:txBody>
      </p:sp>
      <p:sp>
        <p:nvSpPr>
          <p:cNvPr id="272" name="Shape 268"/>
          <p:cNvSpPr/>
          <p:nvPr/>
        </p:nvSpPr>
        <p:spPr>
          <a:xfrm>
            <a:off x="8955161" y="5815144"/>
            <a:ext cx="1202776" cy="280091"/>
          </a:xfrm>
          <a:prstGeom prst="rect">
            <a:avLst/>
          </a:prstGeom>
          <a:solidFill>
            <a:srgbClr val="FFFFFF"/>
          </a:solidFill>
          <a:ln/>
        </p:spPr>
        <p:txBody>
          <a:bodyPr/>
          <a:lstStyle/>
          <a:p>
            <a:endParaRPr lang="ko-KR" altLang="en-US"/>
          </a:p>
        </p:txBody>
      </p:sp>
      <p:sp>
        <p:nvSpPr>
          <p:cNvPr id="273" name="Shape 269"/>
          <p:cNvSpPr/>
          <p:nvPr/>
        </p:nvSpPr>
        <p:spPr>
          <a:xfrm>
            <a:off x="8955161" y="5815144"/>
            <a:ext cx="1202776" cy="9525"/>
          </a:xfrm>
          <a:prstGeom prst="rect">
            <a:avLst/>
          </a:prstGeom>
          <a:solidFill>
            <a:srgbClr val="D3B9A5"/>
          </a:solidFill>
          <a:ln/>
        </p:spPr>
        <p:txBody>
          <a:bodyPr/>
          <a:lstStyle/>
          <a:p>
            <a:endParaRPr lang="ko-KR" altLang="en-US"/>
          </a:p>
        </p:txBody>
      </p:sp>
      <p:sp>
        <p:nvSpPr>
          <p:cNvPr id="274" name="Shape 270"/>
          <p:cNvSpPr/>
          <p:nvPr/>
        </p:nvSpPr>
        <p:spPr>
          <a:xfrm>
            <a:off x="8955161" y="5815144"/>
            <a:ext cx="9525" cy="280091"/>
          </a:xfrm>
          <a:prstGeom prst="rect">
            <a:avLst/>
          </a:prstGeom>
          <a:solidFill>
            <a:srgbClr val="D3B9A5"/>
          </a:solidFill>
          <a:ln/>
        </p:spPr>
        <p:txBody>
          <a:bodyPr/>
          <a:lstStyle/>
          <a:p>
            <a:endParaRPr lang="ko-KR" altLang="en-US"/>
          </a:p>
        </p:txBody>
      </p:sp>
      <p:sp>
        <p:nvSpPr>
          <p:cNvPr id="275" name="Text 271"/>
          <p:cNvSpPr/>
          <p:nvPr/>
        </p:nvSpPr>
        <p:spPr>
          <a:xfrm>
            <a:off x="8979428" y="5848937"/>
            <a:ext cx="1159459" cy="255824"/>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37,536</a:t>
            </a:r>
            <a:endParaRPr lang="en-US" sz="1013" dirty="0"/>
          </a:p>
        </p:txBody>
      </p:sp>
      <p:sp>
        <p:nvSpPr>
          <p:cNvPr id="276" name="Shape 272"/>
          <p:cNvSpPr/>
          <p:nvPr/>
        </p:nvSpPr>
        <p:spPr>
          <a:xfrm>
            <a:off x="538580" y="6095235"/>
            <a:ext cx="2404738" cy="690853"/>
          </a:xfrm>
          <a:prstGeom prst="rect">
            <a:avLst/>
          </a:prstGeom>
          <a:solidFill>
            <a:srgbClr val="FCF4EE"/>
          </a:solidFill>
          <a:ln/>
        </p:spPr>
        <p:txBody>
          <a:bodyPr/>
          <a:lstStyle/>
          <a:p>
            <a:endParaRPr lang="ko-KR" altLang="en-US"/>
          </a:p>
        </p:txBody>
      </p:sp>
      <p:sp>
        <p:nvSpPr>
          <p:cNvPr id="277" name="Shape 273"/>
          <p:cNvSpPr/>
          <p:nvPr/>
        </p:nvSpPr>
        <p:spPr>
          <a:xfrm>
            <a:off x="538580" y="6095235"/>
            <a:ext cx="2404738" cy="9525"/>
          </a:xfrm>
          <a:prstGeom prst="rect">
            <a:avLst/>
          </a:prstGeom>
          <a:solidFill>
            <a:srgbClr val="D3B9A5"/>
          </a:solidFill>
          <a:ln/>
        </p:spPr>
        <p:txBody>
          <a:bodyPr/>
          <a:lstStyle/>
          <a:p>
            <a:endParaRPr lang="ko-KR" altLang="en-US"/>
          </a:p>
        </p:txBody>
      </p:sp>
      <p:sp>
        <p:nvSpPr>
          <p:cNvPr id="278" name="Text 274"/>
          <p:cNvSpPr/>
          <p:nvPr/>
        </p:nvSpPr>
        <p:spPr>
          <a:xfrm>
            <a:off x="557630" y="6129027"/>
            <a:ext cx="2366638" cy="66658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주요 특징</a:t>
            </a:r>
            <a:endParaRPr lang="en-US" sz="1013" dirty="0"/>
          </a:p>
        </p:txBody>
      </p:sp>
      <p:sp>
        <p:nvSpPr>
          <p:cNvPr id="279" name="Shape 275"/>
          <p:cNvSpPr/>
          <p:nvPr/>
        </p:nvSpPr>
        <p:spPr>
          <a:xfrm>
            <a:off x="2943317" y="6095235"/>
            <a:ext cx="2404738" cy="690853"/>
          </a:xfrm>
          <a:prstGeom prst="rect">
            <a:avLst/>
          </a:prstGeom>
          <a:solidFill>
            <a:srgbClr val="F8E1D0"/>
          </a:solidFill>
          <a:ln/>
        </p:spPr>
        <p:txBody>
          <a:bodyPr/>
          <a:lstStyle/>
          <a:p>
            <a:endParaRPr lang="ko-KR" altLang="en-US"/>
          </a:p>
        </p:txBody>
      </p:sp>
      <p:sp>
        <p:nvSpPr>
          <p:cNvPr id="280" name="Shape 276"/>
          <p:cNvSpPr/>
          <p:nvPr/>
        </p:nvSpPr>
        <p:spPr>
          <a:xfrm>
            <a:off x="2943317" y="6095235"/>
            <a:ext cx="2404738" cy="9525"/>
          </a:xfrm>
          <a:prstGeom prst="rect">
            <a:avLst/>
          </a:prstGeom>
          <a:solidFill>
            <a:srgbClr val="D3B9A5"/>
          </a:solidFill>
          <a:ln/>
        </p:spPr>
        <p:txBody>
          <a:bodyPr/>
          <a:lstStyle/>
          <a:p>
            <a:endParaRPr lang="ko-KR" altLang="en-US"/>
          </a:p>
        </p:txBody>
      </p:sp>
      <p:sp>
        <p:nvSpPr>
          <p:cNvPr id="281" name="Shape 277"/>
          <p:cNvSpPr/>
          <p:nvPr/>
        </p:nvSpPr>
        <p:spPr>
          <a:xfrm>
            <a:off x="2943317" y="6095235"/>
            <a:ext cx="9525" cy="690853"/>
          </a:xfrm>
          <a:prstGeom prst="rect">
            <a:avLst/>
          </a:prstGeom>
          <a:solidFill>
            <a:srgbClr val="D3B9A5"/>
          </a:solidFill>
          <a:ln/>
        </p:spPr>
        <p:txBody>
          <a:bodyPr/>
          <a:lstStyle/>
          <a:p>
            <a:endParaRPr lang="ko-KR" altLang="en-US"/>
          </a:p>
        </p:txBody>
      </p:sp>
      <p:sp>
        <p:nvSpPr>
          <p:cNvPr id="282" name="Text 278"/>
          <p:cNvSpPr/>
          <p:nvPr/>
        </p:nvSpPr>
        <p:spPr>
          <a:xfrm>
            <a:off x="3509857" y="6199250"/>
            <a:ext cx="1353075" cy="178961"/>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간병인 상해질병 통합으로</a:t>
            </a:r>
            <a:endParaRPr lang="en-US" sz="1013" dirty="0"/>
          </a:p>
        </p:txBody>
      </p:sp>
      <p:sp>
        <p:nvSpPr>
          <p:cNvPr id="283" name="Text 279"/>
          <p:cNvSpPr/>
          <p:nvPr/>
        </p:nvSpPr>
        <p:spPr>
          <a:xfrm>
            <a:off x="3753917" y="6368886"/>
            <a:ext cx="769580" cy="178961"/>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보험료 경쟁력</a:t>
            </a:r>
            <a:endParaRPr lang="en-US" sz="1013" dirty="0"/>
          </a:p>
        </p:txBody>
      </p:sp>
      <p:pic>
        <p:nvPicPr>
          <p:cNvPr id="28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0095" y="6375652"/>
            <a:ext cx="82576" cy="115672"/>
          </a:xfrm>
          <a:prstGeom prst="rect">
            <a:avLst/>
          </a:prstGeom>
        </p:spPr>
      </p:pic>
      <p:sp>
        <p:nvSpPr>
          <p:cNvPr id="285" name="Text 280"/>
          <p:cNvSpPr/>
          <p:nvPr/>
        </p:nvSpPr>
        <p:spPr>
          <a:xfrm>
            <a:off x="3624143" y="6538522"/>
            <a:ext cx="1124421" cy="178961"/>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7E3B1D"/>
                </a:solidFill>
                <a:latin typeface="Paperlogy 7 Bold" pitchFamily="2" charset="-127"/>
                <a:ea typeface="Paperlogy 7 Bold" pitchFamily="2" charset="-127"/>
                <a:cs typeface="Arial" pitchFamily="34" charset="-120"/>
              </a:rPr>
              <a:t>요양병원 365일 보장</a:t>
            </a:r>
            <a:endParaRPr lang="en-US" sz="1013" dirty="0"/>
          </a:p>
        </p:txBody>
      </p:sp>
      <p:sp>
        <p:nvSpPr>
          <p:cNvPr id="286" name="Shape 281"/>
          <p:cNvSpPr/>
          <p:nvPr/>
        </p:nvSpPr>
        <p:spPr>
          <a:xfrm>
            <a:off x="5348054" y="6095235"/>
            <a:ext cx="2404738" cy="690853"/>
          </a:xfrm>
          <a:prstGeom prst="rect">
            <a:avLst/>
          </a:prstGeom>
          <a:solidFill>
            <a:srgbClr val="FFFFFF"/>
          </a:solidFill>
          <a:ln/>
        </p:spPr>
        <p:txBody>
          <a:bodyPr/>
          <a:lstStyle/>
          <a:p>
            <a:endParaRPr lang="ko-KR" altLang="en-US"/>
          </a:p>
        </p:txBody>
      </p:sp>
      <p:sp>
        <p:nvSpPr>
          <p:cNvPr id="287" name="Shape 282"/>
          <p:cNvSpPr/>
          <p:nvPr/>
        </p:nvSpPr>
        <p:spPr>
          <a:xfrm>
            <a:off x="5348054" y="6095235"/>
            <a:ext cx="2404738" cy="9525"/>
          </a:xfrm>
          <a:prstGeom prst="rect">
            <a:avLst/>
          </a:prstGeom>
          <a:solidFill>
            <a:srgbClr val="D3B9A5"/>
          </a:solidFill>
          <a:ln/>
        </p:spPr>
        <p:txBody>
          <a:bodyPr/>
          <a:lstStyle/>
          <a:p>
            <a:endParaRPr lang="ko-KR" altLang="en-US"/>
          </a:p>
        </p:txBody>
      </p:sp>
      <p:sp>
        <p:nvSpPr>
          <p:cNvPr id="288" name="Shape 283"/>
          <p:cNvSpPr/>
          <p:nvPr/>
        </p:nvSpPr>
        <p:spPr>
          <a:xfrm>
            <a:off x="5348054" y="6095235"/>
            <a:ext cx="9525" cy="690853"/>
          </a:xfrm>
          <a:prstGeom prst="rect">
            <a:avLst/>
          </a:prstGeom>
          <a:solidFill>
            <a:srgbClr val="D3B9A5"/>
          </a:solidFill>
          <a:ln/>
        </p:spPr>
        <p:txBody>
          <a:bodyPr/>
          <a:lstStyle/>
          <a:p>
            <a:endParaRPr lang="ko-KR" altLang="en-US"/>
          </a:p>
        </p:txBody>
      </p:sp>
      <p:sp>
        <p:nvSpPr>
          <p:cNvPr id="289" name="Text 284"/>
          <p:cNvSpPr/>
          <p:nvPr/>
        </p:nvSpPr>
        <p:spPr>
          <a:xfrm>
            <a:off x="5372321" y="6129027"/>
            <a:ext cx="2361420" cy="666585"/>
          </a:xfrm>
          <a:prstGeom prst="rect">
            <a:avLst/>
          </a:prstGeom>
          <a:noFill/>
          <a:ln/>
        </p:spPr>
        <p:txBody>
          <a:bodyPr wrap="square" lIns="25400" tIns="25400" rIns="25400" bIns="25400" rtlCol="0" anchor="ctr">
            <a:normAutofit/>
          </a:bodyPr>
          <a:lstStyle/>
          <a:p>
            <a:pPr marL="0" indent="0" algn="ctr">
              <a:lnSpc>
                <a:spcPct val="116195"/>
              </a:lnSpc>
              <a:buNone/>
            </a:pPr>
            <a:r>
              <a:rPr lang="en-US" sz="1013" b="1" kern="0" spc="-10" dirty="0">
                <a:solidFill>
                  <a:srgbClr val="3A2C24"/>
                </a:solidFill>
                <a:highlight>
                  <a:srgbClr val="FFFFFF"/>
                </a:highlight>
                <a:latin typeface="Paperlogy 7 Bold" pitchFamily="2" charset="-127"/>
                <a:ea typeface="Paperlogy 7 Bold" pitchFamily="2" charset="-127"/>
                <a:cs typeface="Arial" pitchFamily="34" charset="-120"/>
              </a:rPr>
              <a:t>2Q-PASS 적용시 요양병원 외 20만 </a:t>
            </a:r>
          </a:p>
          <a:p>
            <a:pPr marL="0" indent="0" algn="ctr">
              <a:lnSpc>
                <a:spcPct val="116195"/>
              </a:lnSpc>
              <a:buNone/>
            </a:pPr>
            <a:r>
              <a:rPr lang="en-US" sz="1013" b="1" kern="0" spc="-10" dirty="0" err="1">
                <a:solidFill>
                  <a:srgbClr val="3A2C24"/>
                </a:solidFill>
                <a:highlight>
                  <a:srgbClr val="FFFFFF"/>
                </a:highlight>
                <a:latin typeface="Paperlogy 7 Bold" pitchFamily="2" charset="-127"/>
                <a:ea typeface="Paperlogy 7 Bold" pitchFamily="2" charset="-127"/>
                <a:cs typeface="Arial" pitchFamily="34" charset="-120"/>
              </a:rPr>
              <a:t>가입가능</a:t>
            </a:r>
            <a:endParaRPr lang="en-US" sz="1013" dirty="0"/>
          </a:p>
        </p:txBody>
      </p:sp>
      <p:sp>
        <p:nvSpPr>
          <p:cNvPr id="290" name="Shape 285"/>
          <p:cNvSpPr/>
          <p:nvPr/>
        </p:nvSpPr>
        <p:spPr>
          <a:xfrm>
            <a:off x="7752792" y="6095235"/>
            <a:ext cx="2405145" cy="690853"/>
          </a:xfrm>
          <a:prstGeom prst="rect">
            <a:avLst/>
          </a:prstGeom>
          <a:solidFill>
            <a:srgbClr val="FFFFFF"/>
          </a:solidFill>
          <a:ln/>
        </p:spPr>
        <p:txBody>
          <a:bodyPr/>
          <a:lstStyle/>
          <a:p>
            <a:endParaRPr lang="ko-KR" altLang="en-US"/>
          </a:p>
        </p:txBody>
      </p:sp>
      <p:sp>
        <p:nvSpPr>
          <p:cNvPr id="291" name="Shape 286"/>
          <p:cNvSpPr/>
          <p:nvPr/>
        </p:nvSpPr>
        <p:spPr>
          <a:xfrm>
            <a:off x="7752792" y="6095235"/>
            <a:ext cx="2405145" cy="9525"/>
          </a:xfrm>
          <a:prstGeom prst="rect">
            <a:avLst/>
          </a:prstGeom>
          <a:solidFill>
            <a:srgbClr val="D3B9A5"/>
          </a:solidFill>
          <a:ln/>
        </p:spPr>
        <p:txBody>
          <a:bodyPr/>
          <a:lstStyle/>
          <a:p>
            <a:endParaRPr lang="ko-KR" altLang="en-US"/>
          </a:p>
        </p:txBody>
      </p:sp>
      <p:sp>
        <p:nvSpPr>
          <p:cNvPr id="292" name="Shape 287"/>
          <p:cNvSpPr/>
          <p:nvPr/>
        </p:nvSpPr>
        <p:spPr>
          <a:xfrm>
            <a:off x="7752792" y="6095235"/>
            <a:ext cx="9525" cy="690853"/>
          </a:xfrm>
          <a:prstGeom prst="rect">
            <a:avLst/>
          </a:prstGeom>
          <a:solidFill>
            <a:srgbClr val="D3B9A5"/>
          </a:solidFill>
          <a:ln/>
        </p:spPr>
        <p:txBody>
          <a:bodyPr/>
          <a:lstStyle/>
          <a:p>
            <a:endParaRPr lang="ko-KR" altLang="en-US"/>
          </a:p>
        </p:txBody>
      </p:sp>
      <p:sp>
        <p:nvSpPr>
          <p:cNvPr id="293" name="Text 288"/>
          <p:cNvSpPr/>
          <p:nvPr/>
        </p:nvSpPr>
        <p:spPr>
          <a:xfrm>
            <a:off x="8435901" y="6278810"/>
            <a:ext cx="1024889" cy="189395"/>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여성 간병비 가성비</a:t>
            </a:r>
            <a:endParaRPr lang="en-US" sz="1013" dirty="0"/>
          </a:p>
        </p:txBody>
      </p:sp>
      <p:pic>
        <p:nvPicPr>
          <p:cNvPr id="29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97388" y="6296010"/>
            <a:ext cx="82576" cy="115672"/>
          </a:xfrm>
          <a:prstGeom prst="rect">
            <a:avLst/>
          </a:prstGeom>
        </p:spPr>
      </p:pic>
      <p:sp>
        <p:nvSpPr>
          <p:cNvPr id="295" name="Text 289"/>
          <p:cNvSpPr/>
          <p:nvPr/>
        </p:nvSpPr>
        <p:spPr>
          <a:xfrm>
            <a:off x="8203986" y="6448446"/>
            <a:ext cx="1584093" cy="189395"/>
          </a:xfrm>
          <a:prstGeom prst="rect">
            <a:avLst/>
          </a:prstGeom>
          <a:noFill/>
          <a:ln/>
        </p:spPr>
        <p:txBody>
          <a:bodyPr wrap="square" lIns="0" tIns="0" rIns="0" bIns="0" rtlCol="0" anchor="t">
            <a:normAutofit/>
          </a:bodyPr>
          <a:lstStyle/>
          <a:p>
            <a:pPr marL="0" indent="0" algn="ctr">
              <a:lnSpc>
                <a:spcPct val="116195"/>
              </a:lnSpc>
              <a:buNone/>
            </a:pPr>
            <a:r>
              <a:rPr lang="en-US" sz="1013" b="1" kern="0" spc="-10" dirty="0">
                <a:solidFill>
                  <a:srgbClr val="3A2C24"/>
                </a:solidFill>
                <a:latin typeface="Paperlogy 7 Bold" pitchFamily="2" charset="-127"/>
                <a:ea typeface="Paperlogy 7 Bold" pitchFamily="2" charset="-127"/>
                <a:cs typeface="Arial" pitchFamily="34" charset="-120"/>
              </a:rPr>
              <a:t>종합보험으로 가져가기에 적합</a:t>
            </a:r>
            <a:endParaRPr lang="en-US" sz="1013" dirty="0"/>
          </a:p>
        </p:txBody>
      </p:sp>
      <p:sp>
        <p:nvSpPr>
          <p:cNvPr id="296" name="Text 29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7" name="Text 29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8" name="Text 29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5649185"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선정 이유 _ 흥국화재 – 든든한 3N5 초경증</a:t>
            </a:r>
            <a:endParaRPr lang="en-US" sz="2475" dirty="0"/>
          </a:p>
        </p:txBody>
      </p:sp>
      <p:sp>
        <p:nvSpPr>
          <p:cNvPr id="3" name="Shape 1"/>
          <p:cNvSpPr/>
          <p:nvPr/>
        </p:nvSpPr>
        <p:spPr>
          <a:xfrm>
            <a:off x="9025265" y="340821"/>
            <a:ext cx="1137889" cy="289710"/>
          </a:xfrm>
          <a:prstGeom prst="roundRect">
            <a:avLst>
              <a:gd name="adj" fmla="val 50000"/>
            </a:avLst>
          </a:prstGeom>
          <a:solidFill>
            <a:srgbClr val="F6E2D3"/>
          </a:solidFill>
          <a:ln/>
        </p:spPr>
        <p:txBody>
          <a:bodyPr/>
          <a:lstStyle/>
          <a:p>
            <a:endParaRPr lang="ko-KR" altLang="en-US"/>
          </a:p>
        </p:txBody>
      </p:sp>
      <p:sp>
        <p:nvSpPr>
          <p:cNvPr id="4" name="Text 2"/>
          <p:cNvSpPr/>
          <p:nvPr/>
        </p:nvSpPr>
        <p:spPr>
          <a:xfrm>
            <a:off x="9177665" y="407496"/>
            <a:ext cx="909289"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9A4A27"/>
                </a:solidFill>
                <a:latin typeface="Paperlogy 7 Bold" pitchFamily="2" charset="-127"/>
                <a:ea typeface="Paperlogy 7 Bold" pitchFamily="2" charset="-127"/>
                <a:cs typeface="Arial" pitchFamily="34" charset="-120"/>
              </a:rPr>
              <a:t>간병인 사용일당</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Shape 4"/>
          <p:cNvSpPr/>
          <p:nvPr/>
        </p:nvSpPr>
        <p:spPr>
          <a:xfrm>
            <a:off x="533363" y="1005588"/>
            <a:ext cx="1428740" cy="1263180"/>
          </a:xfrm>
          <a:prstGeom prst="roundRect">
            <a:avLst>
              <a:gd name="adj" fmla="val 12065"/>
            </a:avLst>
          </a:prstGeom>
          <a:solidFill>
            <a:srgbClr val="F6E2D3"/>
          </a:solidFill>
          <a:ln/>
        </p:spPr>
        <p:txBody>
          <a:bodyPr/>
          <a:lstStyle/>
          <a:p>
            <a:endParaRPr lang="ko-KR" altLang="en-US"/>
          </a:p>
        </p:txBody>
      </p:sp>
      <p:sp>
        <p:nvSpPr>
          <p:cNvPr id="7" name="Text 5"/>
          <p:cNvSpPr/>
          <p:nvPr/>
        </p:nvSpPr>
        <p:spPr>
          <a:xfrm>
            <a:off x="495263" y="1005588"/>
            <a:ext cx="1504940" cy="1301280"/>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상품 특징</a:t>
            </a:r>
            <a:endParaRPr lang="en-US" sz="1725" dirty="0"/>
          </a:p>
        </p:txBody>
      </p:sp>
      <p:sp>
        <p:nvSpPr>
          <p:cNvPr id="8" name="Shape 6"/>
          <p:cNvSpPr/>
          <p:nvPr/>
        </p:nvSpPr>
        <p:spPr>
          <a:xfrm>
            <a:off x="2076389" y="1005588"/>
            <a:ext cx="8086765" cy="1263180"/>
          </a:xfrm>
          <a:prstGeom prst="roundRect">
            <a:avLst>
              <a:gd name="adj" fmla="val 12065"/>
            </a:avLst>
          </a:prstGeom>
          <a:solidFill>
            <a:srgbClr val="FFFFFF"/>
          </a:solidFill>
          <a:ln w="5217">
            <a:solidFill>
              <a:srgbClr val="EADFD3"/>
            </a:solidFill>
            <a:prstDash val="solid"/>
          </a:ln>
        </p:spPr>
        <p:txBody>
          <a:bodyPr/>
          <a:lstStyle/>
          <a:p>
            <a:endParaRPr lang="ko-KR" altLang="en-US"/>
          </a:p>
        </p:txBody>
      </p:sp>
      <p:sp>
        <p:nvSpPr>
          <p:cNvPr id="9" name="Shape 7"/>
          <p:cNvSpPr/>
          <p:nvPr/>
        </p:nvSpPr>
        <p:spPr>
          <a:xfrm>
            <a:off x="2424465" y="1449890"/>
            <a:ext cx="47606" cy="47606"/>
          </a:xfrm>
          <a:prstGeom prst="ellipse">
            <a:avLst/>
          </a:prstGeom>
          <a:solidFill>
            <a:srgbClr val="A69687"/>
          </a:solidFill>
          <a:ln/>
        </p:spPr>
        <p:txBody>
          <a:bodyPr/>
          <a:lstStyle/>
          <a:p>
            <a:endParaRPr lang="ko-KR" altLang="en-US"/>
          </a:p>
        </p:txBody>
      </p:sp>
      <p:sp>
        <p:nvSpPr>
          <p:cNvPr id="10" name="Text 8"/>
          <p:cNvSpPr/>
          <p:nvPr/>
        </p:nvSpPr>
        <p:spPr>
          <a:xfrm>
            <a:off x="2567281" y="1296520"/>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가입연령 : 15세 - 90세</a:t>
            </a:r>
            <a:endParaRPr lang="en-US" sz="1538" dirty="0"/>
          </a:p>
        </p:txBody>
      </p:sp>
      <p:sp>
        <p:nvSpPr>
          <p:cNvPr id="11" name="Shape 9"/>
          <p:cNvSpPr/>
          <p:nvPr/>
        </p:nvSpPr>
        <p:spPr>
          <a:xfrm>
            <a:off x="2424465" y="1828616"/>
            <a:ext cx="47606" cy="47606"/>
          </a:xfrm>
          <a:prstGeom prst="ellipse">
            <a:avLst/>
          </a:prstGeom>
          <a:solidFill>
            <a:srgbClr val="A69687"/>
          </a:solidFill>
          <a:ln/>
        </p:spPr>
        <p:txBody>
          <a:bodyPr/>
          <a:lstStyle/>
          <a:p>
            <a:endParaRPr lang="ko-KR" altLang="en-US"/>
          </a:p>
        </p:txBody>
      </p:sp>
      <p:sp>
        <p:nvSpPr>
          <p:cNvPr id="12" name="Text 10"/>
          <p:cNvSpPr/>
          <p:nvPr/>
        </p:nvSpPr>
        <p:spPr>
          <a:xfrm>
            <a:off x="2567281" y="1675246"/>
            <a:ext cx="7972577" cy="340689"/>
          </a:xfrm>
          <a:prstGeom prst="rect">
            <a:avLst/>
          </a:prstGeom>
          <a:noFill/>
          <a:ln/>
        </p:spPr>
        <p:txBody>
          <a:bodyPr wrap="square" lIns="25400" tIns="25400" rIns="25400" bIns="25400" rtlCol="0" anchor="t">
            <a:normAutofit/>
          </a:bodyPr>
          <a:lstStyle/>
          <a:p>
            <a:pPr marL="0" indent="0" algn="l">
              <a:lnSpc>
                <a:spcPct val="134914"/>
              </a:lnSpc>
              <a:buNone/>
            </a:pPr>
            <a:r>
              <a:rPr lang="en-US" sz="1538" b="1" dirty="0">
                <a:solidFill>
                  <a:srgbClr val="3A2C24"/>
                </a:solidFill>
                <a:latin typeface="Paperlogy 7 Bold" pitchFamily="2" charset="-127"/>
                <a:ea typeface="Paperlogy 7 Bold" pitchFamily="2" charset="-127"/>
                <a:cs typeface="Arial" pitchFamily="34" charset="-120"/>
              </a:rPr>
              <a:t>요양병원 외 담보 20만 및 요양병원 365일 보장</a:t>
            </a:r>
            <a:endParaRPr lang="en-US" sz="1538" dirty="0"/>
          </a:p>
        </p:txBody>
      </p:sp>
      <p:sp>
        <p:nvSpPr>
          <p:cNvPr id="13" name="Shape 11"/>
          <p:cNvSpPr/>
          <p:nvPr/>
        </p:nvSpPr>
        <p:spPr>
          <a:xfrm>
            <a:off x="533363" y="2421122"/>
            <a:ext cx="1428740" cy="2089921"/>
          </a:xfrm>
          <a:prstGeom prst="roundRect">
            <a:avLst>
              <a:gd name="adj" fmla="val 10667"/>
            </a:avLst>
          </a:prstGeom>
          <a:solidFill>
            <a:srgbClr val="CF7446"/>
          </a:solidFill>
          <a:ln/>
        </p:spPr>
        <p:txBody>
          <a:bodyPr/>
          <a:lstStyle/>
          <a:p>
            <a:endParaRPr lang="ko-KR" altLang="en-US"/>
          </a:p>
        </p:txBody>
      </p:sp>
      <p:sp>
        <p:nvSpPr>
          <p:cNvPr id="14" name="Text 12"/>
          <p:cNvSpPr/>
          <p:nvPr/>
        </p:nvSpPr>
        <p:spPr>
          <a:xfrm>
            <a:off x="495263" y="2421122"/>
            <a:ext cx="1504940" cy="2128021"/>
          </a:xfrm>
          <a:prstGeom prst="rect">
            <a:avLst/>
          </a:prstGeom>
          <a:noFill/>
          <a:ln/>
        </p:spPr>
        <p:txBody>
          <a:bodyPr wrap="square" lIns="25400" tIns="25400" rIns="25400" bIns="25400" rtlCol="0" anchor="ctr">
            <a:normAutofit/>
          </a:bodyPr>
          <a:lstStyle/>
          <a:p>
            <a:pPr marL="0" indent="0" algn="ctr">
              <a:lnSpc>
                <a:spcPct val="118103"/>
              </a:lnSpc>
              <a:buNone/>
            </a:pPr>
            <a:r>
              <a:rPr lang="en-US" sz="1725" b="1" dirty="0">
                <a:solidFill>
                  <a:srgbClr val="FFFFFF"/>
                </a:solidFill>
                <a:latin typeface="Paperlogy 7 Bold" pitchFamily="2" charset="-127"/>
                <a:ea typeface="Paperlogy 7 Bold" pitchFamily="2" charset="-127"/>
                <a:cs typeface="Arial" pitchFamily="34" charset="-120"/>
              </a:rPr>
              <a:t>선정 이유</a:t>
            </a:r>
            <a:endParaRPr lang="en-US" sz="1725" dirty="0"/>
          </a:p>
        </p:txBody>
      </p:sp>
      <p:sp>
        <p:nvSpPr>
          <p:cNvPr id="15" name="Shape 13"/>
          <p:cNvSpPr/>
          <p:nvPr/>
        </p:nvSpPr>
        <p:spPr>
          <a:xfrm>
            <a:off x="2076389" y="2421122"/>
            <a:ext cx="8086765" cy="2089921"/>
          </a:xfrm>
          <a:prstGeom prst="roundRect">
            <a:avLst>
              <a:gd name="adj" fmla="val 7292"/>
            </a:avLst>
          </a:prstGeom>
          <a:solidFill>
            <a:srgbClr val="FCF4EE"/>
          </a:solidFill>
          <a:ln w="5217">
            <a:solidFill>
              <a:srgbClr val="F6E2D3"/>
            </a:solidFill>
            <a:prstDash val="solid"/>
          </a:ln>
        </p:spPr>
        <p:txBody>
          <a:bodyPr/>
          <a:lstStyle/>
          <a:p>
            <a:endParaRPr lang="ko-KR" altLang="en-US"/>
          </a:p>
        </p:txBody>
      </p:sp>
      <p:sp>
        <p:nvSpPr>
          <p:cNvPr id="16" name="Shape 14"/>
          <p:cNvSpPr/>
          <p:nvPr/>
        </p:nvSpPr>
        <p:spPr>
          <a:xfrm>
            <a:off x="2424465" y="2881076"/>
            <a:ext cx="47606" cy="47606"/>
          </a:xfrm>
          <a:prstGeom prst="ellipse">
            <a:avLst/>
          </a:prstGeom>
          <a:solidFill>
            <a:srgbClr val="CF7446"/>
          </a:solidFill>
          <a:ln/>
        </p:spPr>
        <p:txBody>
          <a:bodyPr/>
          <a:lstStyle/>
          <a:p>
            <a:endParaRPr lang="ko-KR" altLang="en-US"/>
          </a:p>
        </p:txBody>
      </p:sp>
      <p:sp>
        <p:nvSpPr>
          <p:cNvPr id="17" name="Text 15"/>
          <p:cNvSpPr/>
          <p:nvPr/>
        </p:nvSpPr>
        <p:spPr>
          <a:xfrm>
            <a:off x="2567281" y="2712055"/>
            <a:ext cx="7050609" cy="377046"/>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요양병원 가입금액 6만 및 365일 보장으로 업계 경쟁력 TOP 수준</a:t>
            </a:r>
            <a:endParaRPr lang="en-US" sz="1725" dirty="0"/>
          </a:p>
        </p:txBody>
      </p:sp>
      <p:sp>
        <p:nvSpPr>
          <p:cNvPr id="18" name="Shape 16"/>
          <p:cNvSpPr/>
          <p:nvPr/>
        </p:nvSpPr>
        <p:spPr>
          <a:xfrm>
            <a:off x="2424465" y="3296158"/>
            <a:ext cx="47606" cy="47606"/>
          </a:xfrm>
          <a:prstGeom prst="ellipse">
            <a:avLst/>
          </a:prstGeom>
          <a:solidFill>
            <a:srgbClr val="CF7446"/>
          </a:solidFill>
          <a:ln/>
        </p:spPr>
        <p:txBody>
          <a:bodyPr/>
          <a:lstStyle/>
          <a:p>
            <a:endParaRPr lang="ko-KR" altLang="en-US"/>
          </a:p>
        </p:txBody>
      </p:sp>
      <p:sp>
        <p:nvSpPr>
          <p:cNvPr id="19" name="Text 17"/>
          <p:cNvSpPr/>
          <p:nvPr/>
        </p:nvSpPr>
        <p:spPr>
          <a:xfrm>
            <a:off x="2567281" y="3174091"/>
            <a:ext cx="4345958" cy="283302"/>
          </a:xfrm>
          <a:prstGeom prst="rect">
            <a:avLst/>
          </a:prstGeom>
          <a:noFill/>
          <a:ln/>
        </p:spPr>
        <p:txBody>
          <a:bodyPr wrap="square" lIns="0" tIns="0" rIns="0" bIns="0" rtlCol="0" anchor="t">
            <a:normAutofit fontScale="92500" lnSpcReduction="10000"/>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간병인일당 질병상해 통합운영으로 보험료 경쟁력</a:t>
            </a:r>
            <a:endParaRPr lang="en-US" sz="1725" dirty="0"/>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08505" y="3188356"/>
            <a:ext cx="140779" cy="197107"/>
          </a:xfrm>
          <a:prstGeom prst="rect">
            <a:avLst/>
          </a:prstGeom>
        </p:spPr>
      </p:pic>
      <p:sp>
        <p:nvSpPr>
          <p:cNvPr id="21" name="Shape 18"/>
          <p:cNvSpPr/>
          <p:nvPr/>
        </p:nvSpPr>
        <p:spPr>
          <a:xfrm>
            <a:off x="2424465" y="3711240"/>
            <a:ext cx="47606" cy="47606"/>
          </a:xfrm>
          <a:prstGeom prst="ellipse">
            <a:avLst/>
          </a:prstGeom>
          <a:solidFill>
            <a:srgbClr val="CF7446"/>
          </a:solidFill>
          <a:ln/>
        </p:spPr>
        <p:txBody>
          <a:bodyPr/>
          <a:lstStyle/>
          <a:p>
            <a:endParaRPr lang="ko-KR" altLang="en-US"/>
          </a:p>
        </p:txBody>
      </p:sp>
      <p:sp>
        <p:nvSpPr>
          <p:cNvPr id="22" name="Text 19"/>
          <p:cNvSpPr/>
          <p:nvPr/>
        </p:nvSpPr>
        <p:spPr>
          <a:xfrm>
            <a:off x="2567281" y="3542219"/>
            <a:ext cx="6601934" cy="715991"/>
          </a:xfrm>
          <a:prstGeom prst="rect">
            <a:avLst/>
          </a:prstGeom>
          <a:noFill/>
          <a:ln/>
        </p:spPr>
        <p:txBody>
          <a:bodyPr wrap="square" lIns="25400" tIns="25400" rIns="25400" bIns="25400" rtlCol="0" anchor="t">
            <a:normAutofit/>
          </a:bodyPr>
          <a:lstStyle/>
          <a:p>
            <a:pPr marL="0" indent="0" algn="l">
              <a:lnSpc>
                <a:spcPct val="131225"/>
              </a:lnSpc>
              <a:buNone/>
            </a:pPr>
            <a:r>
              <a:rPr lang="en-US" sz="1725" b="1" dirty="0">
                <a:solidFill>
                  <a:srgbClr val="9A4A27"/>
                </a:solidFill>
                <a:latin typeface="Paperlogy 7 Bold" pitchFamily="2" charset="-127"/>
                <a:ea typeface="Paperlogy 7 Bold" pitchFamily="2" charset="-127"/>
                <a:cs typeface="Arial" pitchFamily="34" charset="-120"/>
              </a:rPr>
              <a:t>경쟁사 실손가입 5년시 가능한 2Q-Pass와 같은 조건 없이, 사용일당 20만 가입 가능</a:t>
            </a:r>
            <a:endParaRPr lang="en-US" sz="1725" dirty="0"/>
          </a:p>
        </p:txBody>
      </p:sp>
      <p:pic>
        <p:nvPicPr>
          <p:cNvPr id="23" name="Image 1" descr="preencoded.png"/>
          <p:cNvPicPr>
            <a:picLocks noChangeAspect="1"/>
          </p:cNvPicPr>
          <p:nvPr/>
        </p:nvPicPr>
        <p:blipFill>
          <a:blip r:embed="rId4"/>
          <a:stretch>
            <a:fillRect/>
          </a:stretch>
        </p:blipFill>
        <p:spPr>
          <a:xfrm>
            <a:off x="9205498" y="3161292"/>
            <a:ext cx="609581" cy="609581"/>
          </a:xfrm>
          <a:prstGeom prst="rect">
            <a:avLst/>
          </a:prstGeom>
        </p:spPr>
      </p:pic>
      <p:sp>
        <p:nvSpPr>
          <p:cNvPr id="24" name="Shape 20"/>
          <p:cNvSpPr/>
          <p:nvPr/>
        </p:nvSpPr>
        <p:spPr>
          <a:xfrm>
            <a:off x="533363" y="4663397"/>
            <a:ext cx="1428740" cy="2217739"/>
          </a:xfrm>
          <a:prstGeom prst="roundRect">
            <a:avLst>
              <a:gd name="adj" fmla="val 10667"/>
            </a:avLst>
          </a:prstGeom>
          <a:solidFill>
            <a:srgbClr val="F6E2D3"/>
          </a:solidFill>
          <a:ln/>
        </p:spPr>
        <p:txBody>
          <a:bodyPr/>
          <a:lstStyle/>
          <a:p>
            <a:endParaRPr lang="ko-KR" altLang="en-US"/>
          </a:p>
        </p:txBody>
      </p:sp>
      <p:sp>
        <p:nvSpPr>
          <p:cNvPr id="25" name="Text 21"/>
          <p:cNvSpPr/>
          <p:nvPr/>
        </p:nvSpPr>
        <p:spPr>
          <a:xfrm>
            <a:off x="963688" y="5497474"/>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세일즈</a:t>
            </a:r>
            <a:endParaRPr lang="en-US" sz="1725" dirty="0"/>
          </a:p>
        </p:txBody>
      </p:sp>
      <p:sp>
        <p:nvSpPr>
          <p:cNvPr id="26" name="Text 22"/>
          <p:cNvSpPr/>
          <p:nvPr/>
        </p:nvSpPr>
        <p:spPr>
          <a:xfrm>
            <a:off x="963688" y="5793135"/>
            <a:ext cx="644207" cy="283302"/>
          </a:xfrm>
          <a:prstGeom prst="rect">
            <a:avLst/>
          </a:prstGeom>
          <a:noFill/>
          <a:ln/>
        </p:spPr>
        <p:txBody>
          <a:bodyPr wrap="square" lIns="0" tIns="0" rIns="0" bIns="0" rtlCol="0" anchor="t">
            <a:normAutofit lnSpcReduction="10000"/>
          </a:bodyPr>
          <a:lstStyle/>
          <a:p>
            <a:pPr marL="0" indent="0" algn="ctr">
              <a:lnSpc>
                <a:spcPct val="118103"/>
              </a:lnSpc>
              <a:buNone/>
            </a:pPr>
            <a:r>
              <a:rPr lang="en-US" sz="1725" b="1" dirty="0">
                <a:solidFill>
                  <a:srgbClr val="9A4A27"/>
                </a:solidFill>
                <a:latin typeface="Paperlogy 7 Bold" pitchFamily="2" charset="-127"/>
                <a:ea typeface="Paperlogy 7 Bold" pitchFamily="2" charset="-127"/>
                <a:cs typeface="Arial" pitchFamily="34" charset="-120"/>
              </a:rPr>
              <a:t>포인트</a:t>
            </a:r>
            <a:endParaRPr lang="en-US" sz="1725" dirty="0"/>
          </a:p>
        </p:txBody>
      </p:sp>
      <p:sp>
        <p:nvSpPr>
          <p:cNvPr id="27" name="Shape 23"/>
          <p:cNvSpPr/>
          <p:nvPr/>
        </p:nvSpPr>
        <p:spPr>
          <a:xfrm>
            <a:off x="2076389" y="4663397"/>
            <a:ext cx="8086765" cy="2217739"/>
          </a:xfrm>
          <a:prstGeom prst="roundRect">
            <a:avLst>
              <a:gd name="adj" fmla="val 6872"/>
            </a:avLst>
          </a:prstGeom>
          <a:solidFill>
            <a:srgbClr val="FFFFFF"/>
          </a:solidFill>
          <a:ln w="5217">
            <a:solidFill>
              <a:srgbClr val="EADFD3"/>
            </a:solidFill>
            <a:prstDash val="solid"/>
          </a:ln>
        </p:spPr>
        <p:txBody>
          <a:bodyPr/>
          <a:lstStyle/>
          <a:p>
            <a:endParaRPr lang="ko-KR" altLang="en-US"/>
          </a:p>
        </p:txBody>
      </p:sp>
      <p:sp>
        <p:nvSpPr>
          <p:cNvPr id="28" name="Shape 24"/>
          <p:cNvSpPr/>
          <p:nvPr/>
        </p:nvSpPr>
        <p:spPr>
          <a:xfrm>
            <a:off x="2424465" y="5139002"/>
            <a:ext cx="47606" cy="47606"/>
          </a:xfrm>
          <a:prstGeom prst="ellipse">
            <a:avLst/>
          </a:prstGeom>
          <a:solidFill>
            <a:srgbClr val="A69687"/>
          </a:solidFill>
          <a:ln/>
        </p:spPr>
        <p:txBody>
          <a:bodyPr/>
          <a:lstStyle/>
          <a:p>
            <a:endParaRPr lang="ko-KR" altLang="en-US"/>
          </a:p>
        </p:txBody>
      </p:sp>
      <p:sp>
        <p:nvSpPr>
          <p:cNvPr id="29" name="Text 25"/>
          <p:cNvSpPr/>
          <p:nvPr/>
        </p:nvSpPr>
        <p:spPr>
          <a:xfrm>
            <a:off x="2567281" y="4954330"/>
            <a:ext cx="7465231" cy="409000"/>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물가보다 가파르게 급증하는 간병인 비용, 하루 12~14만원, 한달이면 약 300만원</a:t>
            </a:r>
            <a:endParaRPr lang="en-US" sz="1538" dirty="0"/>
          </a:p>
        </p:txBody>
      </p:sp>
      <p:sp>
        <p:nvSpPr>
          <p:cNvPr id="30" name="Shape 26"/>
          <p:cNvSpPr/>
          <p:nvPr/>
        </p:nvSpPr>
        <p:spPr>
          <a:xfrm>
            <a:off x="2424465" y="5586039"/>
            <a:ext cx="47606" cy="47606"/>
          </a:xfrm>
          <a:prstGeom prst="ellipse">
            <a:avLst/>
          </a:prstGeom>
          <a:solidFill>
            <a:srgbClr val="A69687"/>
          </a:solidFill>
          <a:ln/>
        </p:spPr>
        <p:txBody>
          <a:bodyPr/>
          <a:lstStyle/>
          <a:p>
            <a:endParaRPr lang="ko-KR" altLang="en-US"/>
          </a:p>
        </p:txBody>
      </p:sp>
      <p:sp>
        <p:nvSpPr>
          <p:cNvPr id="31" name="Text 27"/>
          <p:cNvSpPr/>
          <p:nvPr/>
        </p:nvSpPr>
        <p:spPr>
          <a:xfrm>
            <a:off x="2567281" y="5401366"/>
            <a:ext cx="7465231" cy="779900"/>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입원환자 10명 중 6명은 간병인을 사용하거나 가족이 직접 돌보는 형태로 간병비가 </a:t>
            </a:r>
            <a:r>
              <a:rPr lang="en-US" sz="1538" b="1" dirty="0" err="1">
                <a:solidFill>
                  <a:srgbClr val="3A2C24"/>
                </a:solidFill>
                <a:latin typeface="Paperlogy 7 Bold" pitchFamily="2" charset="-127"/>
                <a:ea typeface="Paperlogy 7 Bold" pitchFamily="2" charset="-127"/>
                <a:cs typeface="Arial" pitchFamily="34" charset="-120"/>
              </a:rPr>
              <a:t>없다면</a:t>
            </a:r>
            <a:r>
              <a:rPr lang="en-US" sz="1538" b="1" dirty="0">
                <a:solidFill>
                  <a:srgbClr val="3A2C24"/>
                </a:solidFill>
                <a:latin typeface="Paperlogy 7 Bold" pitchFamily="2" charset="-127"/>
                <a:ea typeface="Paperlogy 7 Bold" pitchFamily="2" charset="-127"/>
                <a:cs typeface="Arial" pitchFamily="34" charset="-120"/>
              </a:rPr>
              <a:t> </a:t>
            </a:r>
            <a:r>
              <a:rPr lang="ko-KR" altLang="en-US" sz="1538" b="1" dirty="0">
                <a:solidFill>
                  <a:srgbClr val="3A2C24"/>
                </a:solidFill>
                <a:latin typeface="Paperlogy 7 Bold" pitchFamily="2" charset="-127"/>
                <a:ea typeface="Paperlogy 7 Bold" pitchFamily="2" charset="-127"/>
                <a:cs typeface="Arial" pitchFamily="34" charset="-120"/>
              </a:rPr>
              <a:t>        </a:t>
            </a:r>
            <a:r>
              <a:rPr lang="en-US" sz="1538" b="1" dirty="0" err="1">
                <a:solidFill>
                  <a:srgbClr val="3A2C24"/>
                </a:solidFill>
                <a:latin typeface="Paperlogy 7 Bold" pitchFamily="2" charset="-127"/>
                <a:ea typeface="Paperlogy 7 Bold" pitchFamily="2" charset="-127"/>
                <a:cs typeface="Arial" pitchFamily="34" charset="-120"/>
              </a:rPr>
              <a:t>가족이</a:t>
            </a:r>
            <a:r>
              <a:rPr lang="en-US" sz="1538" b="1" dirty="0">
                <a:solidFill>
                  <a:srgbClr val="3A2C24"/>
                </a:solidFill>
                <a:latin typeface="Paperlogy 7 Bold" pitchFamily="2" charset="-127"/>
                <a:ea typeface="Paperlogy 7 Bold" pitchFamily="2" charset="-127"/>
                <a:cs typeface="Arial" pitchFamily="34" charset="-120"/>
              </a:rPr>
              <a:t> 하루종일 간병을 해야하는 상황.</a:t>
            </a:r>
            <a:endParaRPr lang="en-US" sz="1538" dirty="0"/>
          </a:p>
        </p:txBody>
      </p:sp>
      <p:sp>
        <p:nvSpPr>
          <p:cNvPr id="32" name="Shape 28"/>
          <p:cNvSpPr/>
          <p:nvPr/>
        </p:nvSpPr>
        <p:spPr>
          <a:xfrm>
            <a:off x="2424465" y="6403976"/>
            <a:ext cx="47606" cy="47606"/>
          </a:xfrm>
          <a:prstGeom prst="ellipse">
            <a:avLst/>
          </a:prstGeom>
          <a:solidFill>
            <a:srgbClr val="A69687"/>
          </a:solidFill>
          <a:ln/>
        </p:spPr>
        <p:txBody>
          <a:bodyPr/>
          <a:lstStyle/>
          <a:p>
            <a:endParaRPr lang="ko-KR" altLang="en-US"/>
          </a:p>
        </p:txBody>
      </p:sp>
      <p:sp>
        <p:nvSpPr>
          <p:cNvPr id="33" name="Text 29"/>
          <p:cNvSpPr/>
          <p:nvPr/>
        </p:nvSpPr>
        <p:spPr>
          <a:xfrm>
            <a:off x="2567281" y="6219303"/>
            <a:ext cx="7465231" cy="409000"/>
          </a:xfrm>
          <a:prstGeom prst="rect">
            <a:avLst/>
          </a:prstGeom>
          <a:noFill/>
          <a:ln/>
        </p:spPr>
        <p:txBody>
          <a:bodyPr wrap="square" lIns="25400" tIns="25400" rIns="25400" bIns="25400" rtlCol="0" anchor="t">
            <a:normAutofit/>
          </a:bodyPr>
          <a:lstStyle/>
          <a:p>
            <a:pPr marL="0" indent="0" algn="l">
              <a:lnSpc>
                <a:spcPct val="165378"/>
              </a:lnSpc>
              <a:buNone/>
            </a:pPr>
            <a:r>
              <a:rPr lang="en-US" sz="1538" b="1" dirty="0">
                <a:solidFill>
                  <a:srgbClr val="3A2C24"/>
                </a:solidFill>
                <a:latin typeface="Paperlogy 7 Bold" pitchFamily="2" charset="-127"/>
                <a:ea typeface="Paperlogy 7 Bold" pitchFamily="2" charset="-127"/>
                <a:cs typeface="Arial" pitchFamily="34" charset="-120"/>
              </a:rPr>
              <a:t>1인가구가 늘어나고 독거노인이 급증하는 지금 당장 필요한건 간병인 사용일당!</a:t>
            </a:r>
            <a:endParaRPr lang="en-US" sz="1538" dirty="0"/>
          </a:p>
        </p:txBody>
      </p:sp>
      <p:sp>
        <p:nvSpPr>
          <p:cNvPr id="34" name="Text 3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35" name="Text 3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36" name="Text 3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7EBD4"/>
        </a:solidFill>
        <a:effectLst/>
      </p:bgPr>
    </p:bg>
    <p:spTree>
      <p:nvGrpSpPr>
        <p:cNvPr id="1" name=""/>
        <p:cNvGrpSpPr/>
        <p:nvPr/>
      </p:nvGrpSpPr>
      <p:grpSpPr>
        <a:xfrm>
          <a:off x="0" y="0"/>
          <a:ext cx="0" cy="0"/>
          <a:chOff x="0" y="0"/>
          <a:chExt cx="0" cy="0"/>
        </a:xfrm>
      </p:grpSpPr>
      <p:sp>
        <p:nvSpPr>
          <p:cNvPr id="2" name="Shape 0"/>
          <p:cNvSpPr/>
          <p:nvPr/>
        </p:nvSpPr>
        <p:spPr>
          <a:xfrm>
            <a:off x="6886516" y="-1523951"/>
            <a:ext cx="4952944" cy="4952944"/>
          </a:xfrm>
          <a:prstGeom prst="ellipse">
            <a:avLst/>
          </a:prstGeom>
          <a:solidFill>
            <a:srgbClr val="7E8D4A">
              <a:alpha val="10000"/>
            </a:srgbClr>
          </a:solidFill>
          <a:ln/>
        </p:spPr>
        <p:txBody>
          <a:bodyPr/>
          <a:lstStyle/>
          <a:p>
            <a:endParaRPr lang="ko-KR" altLang="en-US"/>
          </a:p>
        </p:txBody>
      </p:sp>
      <p:sp>
        <p:nvSpPr>
          <p:cNvPr id="3" name="Text 1"/>
          <p:cNvSpPr/>
          <p:nvPr/>
        </p:nvSpPr>
        <p:spPr>
          <a:xfrm>
            <a:off x="914371" y="1333447"/>
            <a:ext cx="5530554" cy="603906"/>
          </a:xfrm>
          <a:prstGeom prst="rect">
            <a:avLst/>
          </a:prstGeom>
          <a:noFill/>
          <a:ln/>
        </p:spPr>
        <p:txBody>
          <a:bodyPr wrap="square" lIns="25400" tIns="25400" rIns="25400" bIns="25400" rtlCol="0" anchor="t">
            <a:normAutofit lnSpcReduction="10000"/>
          </a:bodyPr>
          <a:lstStyle/>
          <a:p>
            <a:pPr marL="0" indent="0" algn="l">
              <a:lnSpc>
                <a:spcPct val="95973"/>
              </a:lnSpc>
              <a:buNone/>
            </a:pPr>
            <a:r>
              <a:rPr lang="en-US" sz="4050" b="1" kern="0" spc="-142" dirty="0">
                <a:solidFill>
                  <a:srgbClr val="55612C"/>
                </a:solidFill>
                <a:latin typeface="Paperlogy 7 Bold" pitchFamily="2" charset="-127"/>
                <a:ea typeface="Paperlogy 7 Bold" pitchFamily="2" charset="-127"/>
                <a:cs typeface="Arial" pitchFamily="34" charset="-120"/>
              </a:rPr>
              <a:t>2-2. 손해보험 가성비 상품</a:t>
            </a:r>
            <a:endParaRPr lang="en-US" sz="4050" dirty="0"/>
          </a:p>
        </p:txBody>
      </p:sp>
      <p:sp>
        <p:nvSpPr>
          <p:cNvPr id="4" name="Shape 2"/>
          <p:cNvSpPr/>
          <p:nvPr/>
        </p:nvSpPr>
        <p:spPr>
          <a:xfrm>
            <a:off x="914371" y="2590758"/>
            <a:ext cx="8867775" cy="4019580"/>
          </a:xfrm>
          <a:prstGeom prst="roundRect">
            <a:avLst>
              <a:gd name="adj" fmla="val 5687"/>
            </a:avLst>
          </a:prstGeom>
          <a:solidFill>
            <a:srgbClr val="FFFFFF"/>
          </a:solidFill>
          <a:ln/>
        </p:spPr>
        <p:txBody>
          <a:bodyPr/>
          <a:lstStyle/>
          <a:p>
            <a:endParaRPr lang="ko-KR" altLang="en-US"/>
          </a:p>
        </p:txBody>
      </p:sp>
      <p:sp>
        <p:nvSpPr>
          <p:cNvPr id="5" name="Shape 3"/>
          <p:cNvSpPr/>
          <p:nvPr/>
        </p:nvSpPr>
        <p:spPr>
          <a:xfrm>
            <a:off x="1447733" y="3102193"/>
            <a:ext cx="1809748" cy="1288776"/>
          </a:xfrm>
          <a:prstGeom prst="roundRect">
            <a:avLst>
              <a:gd name="adj" fmla="val 10347"/>
            </a:avLst>
          </a:prstGeom>
          <a:solidFill>
            <a:srgbClr val="7E8D4A"/>
          </a:solidFill>
          <a:ln/>
        </p:spPr>
        <p:txBody>
          <a:bodyPr/>
          <a:lstStyle/>
          <a:p>
            <a:endParaRPr lang="ko-KR" altLang="en-US"/>
          </a:p>
        </p:txBody>
      </p:sp>
      <p:sp>
        <p:nvSpPr>
          <p:cNvPr id="6" name="Text 4"/>
          <p:cNvSpPr/>
          <p:nvPr/>
        </p:nvSpPr>
        <p:spPr>
          <a:xfrm>
            <a:off x="2080954" y="3479288"/>
            <a:ext cx="619508"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건강체</a:t>
            </a:r>
            <a:endParaRPr lang="en-US" sz="1650" dirty="0"/>
          </a:p>
        </p:txBody>
      </p:sp>
      <p:sp>
        <p:nvSpPr>
          <p:cNvPr id="7" name="Text 5"/>
          <p:cNvSpPr/>
          <p:nvPr/>
        </p:nvSpPr>
        <p:spPr>
          <a:xfrm>
            <a:off x="1870804" y="3772666"/>
            <a:ext cx="1039807"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가성비 상품</a:t>
            </a:r>
            <a:endParaRPr lang="en-US" sz="1650" dirty="0"/>
          </a:p>
        </p:txBody>
      </p:sp>
      <p:sp>
        <p:nvSpPr>
          <p:cNvPr id="8" name="Shape 6"/>
          <p:cNvSpPr/>
          <p:nvPr/>
        </p:nvSpPr>
        <p:spPr>
          <a:xfrm>
            <a:off x="3524122" y="3242401"/>
            <a:ext cx="47606" cy="47606"/>
          </a:xfrm>
          <a:prstGeom prst="ellipse">
            <a:avLst/>
          </a:prstGeom>
          <a:solidFill>
            <a:srgbClr val="7E8D4A"/>
          </a:solidFill>
          <a:ln/>
        </p:spPr>
        <p:txBody>
          <a:bodyPr/>
          <a:lstStyle/>
          <a:p>
            <a:endParaRPr lang="ko-KR" altLang="en-US"/>
          </a:p>
        </p:txBody>
      </p:sp>
      <p:sp>
        <p:nvSpPr>
          <p:cNvPr id="9" name="Text 7"/>
          <p:cNvSpPr/>
          <p:nvPr/>
        </p:nvSpPr>
        <p:spPr>
          <a:xfrm>
            <a:off x="3666939" y="3102193"/>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NH농협손해보험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5.10.5 굿플러스</a:t>
            </a:r>
            <a:endParaRPr lang="en-US" sz="1725" dirty="0"/>
          </a:p>
        </p:txBody>
      </p:sp>
      <p:sp>
        <p:nvSpPr>
          <p:cNvPr id="10" name="Shape 8"/>
          <p:cNvSpPr/>
          <p:nvPr/>
        </p:nvSpPr>
        <p:spPr>
          <a:xfrm>
            <a:off x="3524122" y="3722778"/>
            <a:ext cx="47606" cy="47606"/>
          </a:xfrm>
          <a:prstGeom prst="ellipse">
            <a:avLst/>
          </a:prstGeom>
          <a:solidFill>
            <a:srgbClr val="7E8D4A"/>
          </a:solidFill>
          <a:ln/>
        </p:spPr>
        <p:txBody>
          <a:bodyPr/>
          <a:lstStyle/>
          <a:p>
            <a:endParaRPr lang="ko-KR" altLang="en-US"/>
          </a:p>
        </p:txBody>
      </p:sp>
      <p:sp>
        <p:nvSpPr>
          <p:cNvPr id="11" name="Text 9"/>
          <p:cNvSpPr/>
          <p:nvPr/>
        </p:nvSpPr>
        <p:spPr>
          <a:xfrm>
            <a:off x="3666939" y="3582570"/>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삼성화재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New내돈내삼</a:t>
            </a:r>
            <a:endParaRPr lang="en-US" sz="1725" dirty="0"/>
          </a:p>
        </p:txBody>
      </p:sp>
      <p:sp>
        <p:nvSpPr>
          <p:cNvPr id="12" name="Shape 10"/>
          <p:cNvSpPr/>
          <p:nvPr/>
        </p:nvSpPr>
        <p:spPr>
          <a:xfrm>
            <a:off x="3524122" y="4203155"/>
            <a:ext cx="47606" cy="47606"/>
          </a:xfrm>
          <a:prstGeom prst="ellipse">
            <a:avLst/>
          </a:prstGeom>
          <a:solidFill>
            <a:srgbClr val="7E8D4A"/>
          </a:solidFill>
          <a:ln/>
        </p:spPr>
        <p:txBody>
          <a:bodyPr/>
          <a:lstStyle/>
          <a:p>
            <a:endParaRPr lang="ko-KR" altLang="en-US"/>
          </a:p>
        </p:txBody>
      </p:sp>
      <p:sp>
        <p:nvSpPr>
          <p:cNvPr id="13" name="Text 11"/>
          <p:cNvSpPr/>
          <p:nvPr/>
        </p:nvSpPr>
        <p:spPr>
          <a:xfrm>
            <a:off x="3666939" y="4062946"/>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메리츠화재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The 건강한 내Mom대로 5.10.5</a:t>
            </a:r>
            <a:endParaRPr lang="en-US" sz="1725" dirty="0"/>
          </a:p>
        </p:txBody>
      </p:sp>
      <p:sp>
        <p:nvSpPr>
          <p:cNvPr id="14" name="Shape 12"/>
          <p:cNvSpPr/>
          <p:nvPr/>
        </p:nvSpPr>
        <p:spPr>
          <a:xfrm>
            <a:off x="1447733" y="4810046"/>
            <a:ext cx="1809748" cy="1288776"/>
          </a:xfrm>
          <a:prstGeom prst="roundRect">
            <a:avLst>
              <a:gd name="adj" fmla="val 10347"/>
            </a:avLst>
          </a:prstGeom>
          <a:solidFill>
            <a:srgbClr val="7E8D4A"/>
          </a:solidFill>
          <a:ln/>
        </p:spPr>
        <p:txBody>
          <a:bodyPr/>
          <a:lstStyle/>
          <a:p>
            <a:endParaRPr lang="ko-KR" altLang="en-US"/>
          </a:p>
        </p:txBody>
      </p:sp>
      <p:sp>
        <p:nvSpPr>
          <p:cNvPr id="15" name="Text 13"/>
          <p:cNvSpPr/>
          <p:nvPr/>
        </p:nvSpPr>
        <p:spPr>
          <a:xfrm>
            <a:off x="2080954" y="5187141"/>
            <a:ext cx="619508"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초경증</a:t>
            </a:r>
            <a:endParaRPr lang="en-US" sz="1650" dirty="0"/>
          </a:p>
        </p:txBody>
      </p:sp>
      <p:sp>
        <p:nvSpPr>
          <p:cNvPr id="16" name="Text 14"/>
          <p:cNvSpPr/>
          <p:nvPr/>
        </p:nvSpPr>
        <p:spPr>
          <a:xfrm>
            <a:off x="1870804" y="5480519"/>
            <a:ext cx="1039807" cy="272868"/>
          </a:xfrm>
          <a:prstGeom prst="rect">
            <a:avLst/>
          </a:prstGeom>
          <a:noFill/>
          <a:ln/>
        </p:spPr>
        <p:txBody>
          <a:bodyPr wrap="square" lIns="0" tIns="0" rIns="0" bIns="0" rtlCol="0" anchor="t">
            <a:normAutofit lnSpcReduction="10000"/>
          </a:bodyPr>
          <a:lstStyle/>
          <a:p>
            <a:pPr marL="0" indent="0" algn="ctr">
              <a:lnSpc>
                <a:spcPct val="122245"/>
              </a:lnSpc>
              <a:buNone/>
            </a:pPr>
            <a:r>
              <a:rPr lang="en-US" sz="1650" b="1" dirty="0">
                <a:solidFill>
                  <a:srgbClr val="FFFFFF"/>
                </a:solidFill>
                <a:latin typeface="Paperlogy 7 Bold" pitchFamily="2" charset="-127"/>
                <a:ea typeface="Paperlogy 7 Bold" pitchFamily="2" charset="-127"/>
                <a:cs typeface="Arial" pitchFamily="34" charset="-120"/>
              </a:rPr>
              <a:t>가성비 상품</a:t>
            </a:r>
            <a:endParaRPr lang="en-US" sz="1650" dirty="0"/>
          </a:p>
        </p:txBody>
      </p:sp>
      <p:sp>
        <p:nvSpPr>
          <p:cNvPr id="17" name="Shape 15"/>
          <p:cNvSpPr/>
          <p:nvPr/>
        </p:nvSpPr>
        <p:spPr>
          <a:xfrm>
            <a:off x="3524122" y="4950254"/>
            <a:ext cx="47606" cy="47606"/>
          </a:xfrm>
          <a:prstGeom prst="ellipse">
            <a:avLst/>
          </a:prstGeom>
          <a:solidFill>
            <a:srgbClr val="7E8D4A"/>
          </a:solidFill>
          <a:ln/>
        </p:spPr>
        <p:txBody>
          <a:bodyPr/>
          <a:lstStyle/>
          <a:p>
            <a:endParaRPr lang="ko-KR" altLang="en-US"/>
          </a:p>
        </p:txBody>
      </p:sp>
      <p:sp>
        <p:nvSpPr>
          <p:cNvPr id="18" name="Text 16"/>
          <p:cNvSpPr/>
          <p:nvPr/>
        </p:nvSpPr>
        <p:spPr>
          <a:xfrm>
            <a:off x="3666939" y="4810046"/>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롯데손해보험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let;simple간편 3.10.10</a:t>
            </a:r>
            <a:endParaRPr lang="en-US" sz="1725" dirty="0"/>
          </a:p>
        </p:txBody>
      </p:sp>
      <p:sp>
        <p:nvSpPr>
          <p:cNvPr id="19" name="Shape 17"/>
          <p:cNvSpPr/>
          <p:nvPr/>
        </p:nvSpPr>
        <p:spPr>
          <a:xfrm>
            <a:off x="3524122" y="5430631"/>
            <a:ext cx="47606" cy="47606"/>
          </a:xfrm>
          <a:prstGeom prst="ellipse">
            <a:avLst/>
          </a:prstGeom>
          <a:solidFill>
            <a:srgbClr val="7E8D4A"/>
          </a:solidFill>
          <a:ln/>
        </p:spPr>
        <p:txBody>
          <a:bodyPr/>
          <a:lstStyle/>
          <a:p>
            <a:endParaRPr lang="ko-KR" altLang="en-US"/>
          </a:p>
        </p:txBody>
      </p:sp>
      <p:sp>
        <p:nvSpPr>
          <p:cNvPr id="20" name="Text 18"/>
          <p:cNvSpPr/>
          <p:nvPr/>
        </p:nvSpPr>
        <p:spPr>
          <a:xfrm>
            <a:off x="3666939" y="5290422"/>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메리츠화재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통합간편건강 3.10.5</a:t>
            </a:r>
            <a:endParaRPr lang="en-US" sz="1725" dirty="0"/>
          </a:p>
        </p:txBody>
      </p:sp>
      <p:sp>
        <p:nvSpPr>
          <p:cNvPr id="21" name="Shape 19"/>
          <p:cNvSpPr/>
          <p:nvPr/>
        </p:nvSpPr>
        <p:spPr>
          <a:xfrm>
            <a:off x="3524122" y="5911008"/>
            <a:ext cx="47606" cy="47606"/>
          </a:xfrm>
          <a:prstGeom prst="ellipse">
            <a:avLst/>
          </a:prstGeom>
          <a:solidFill>
            <a:srgbClr val="7E8D4A"/>
          </a:solidFill>
          <a:ln/>
        </p:spPr>
        <p:txBody>
          <a:bodyPr/>
          <a:lstStyle/>
          <a:p>
            <a:endParaRPr lang="ko-KR" altLang="en-US"/>
          </a:p>
        </p:txBody>
      </p:sp>
      <p:sp>
        <p:nvSpPr>
          <p:cNvPr id="22" name="Text 20"/>
          <p:cNvSpPr/>
          <p:nvPr/>
        </p:nvSpPr>
        <p:spPr>
          <a:xfrm>
            <a:off x="3666939" y="5770800"/>
            <a:ext cx="6140029" cy="366122"/>
          </a:xfrm>
          <a:prstGeom prst="rect">
            <a:avLst/>
          </a:prstGeom>
          <a:noFill/>
          <a:ln/>
        </p:spPr>
        <p:txBody>
          <a:bodyPr wrap="square" lIns="25400" tIns="25400" rIns="25400" bIns="25400" rtlCol="0" anchor="t">
            <a:normAutofit/>
          </a:bodyPr>
          <a:lstStyle/>
          <a:p>
            <a:pPr marL="0" indent="0" algn="l">
              <a:lnSpc>
                <a:spcPct val="126851"/>
              </a:lnSpc>
              <a:buNone/>
            </a:pPr>
            <a:r>
              <a:rPr lang="en-US" sz="1725" b="1" dirty="0">
                <a:solidFill>
                  <a:srgbClr val="55612C"/>
                </a:solidFill>
                <a:latin typeface="Paperlogy 7 Bold" pitchFamily="2" charset="-127"/>
                <a:ea typeface="Paperlogy 7 Bold" pitchFamily="2" charset="-127"/>
                <a:cs typeface="Arial" pitchFamily="34" charset="-120"/>
              </a:rPr>
              <a:t>DB손해보험 </a:t>
            </a:r>
            <a:r>
              <a:rPr lang="en-US" sz="1725" b="1" dirty="0">
                <a:solidFill>
                  <a:srgbClr val="A69687"/>
                </a:solidFill>
                <a:latin typeface="Paperlogy 7 Bold" pitchFamily="2" charset="-127"/>
                <a:ea typeface="Paperlogy 7 Bold" pitchFamily="2" charset="-127"/>
                <a:cs typeface="Arial" pitchFamily="34" charset="-120"/>
              </a:rPr>
              <a:t>– </a:t>
            </a:r>
            <a:r>
              <a:rPr lang="en-US" sz="1725" b="1" dirty="0">
                <a:solidFill>
                  <a:srgbClr val="3A2C24"/>
                </a:solidFill>
                <a:latin typeface="Paperlogy 7 Bold" pitchFamily="2" charset="-127"/>
                <a:ea typeface="Paperlogy 7 Bold" pitchFamily="2" charset="-127"/>
                <a:cs typeface="Arial" pitchFamily="34" charset="-120"/>
              </a:rPr>
              <a:t>나에게 맞춘 더좋은 초경증 3.8.5</a:t>
            </a:r>
            <a:endParaRPr lang="en-US" sz="1725" dirty="0"/>
          </a:p>
        </p:txBody>
      </p:sp>
      <p:sp>
        <p:nvSpPr>
          <p:cNvPr id="23" name="Text 2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70314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비교표_3대진단 및 주요치료비 추천사_건강체</a:t>
            </a:r>
            <a:endParaRPr lang="en-US" sz="2475" dirty="0"/>
          </a:p>
        </p:txBody>
      </p:sp>
      <p:sp>
        <p:nvSpPr>
          <p:cNvPr id="3" name="Shape 1"/>
          <p:cNvSpPr/>
          <p:nvPr/>
        </p:nvSpPr>
        <p:spPr>
          <a:xfrm>
            <a:off x="8875682" y="340821"/>
            <a:ext cx="1287472" cy="289710"/>
          </a:xfrm>
          <a:prstGeom prst="roundRect">
            <a:avLst>
              <a:gd name="adj" fmla="val 50000"/>
            </a:avLst>
          </a:prstGeom>
          <a:solidFill>
            <a:srgbClr val="E7EBD4"/>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55612C"/>
                </a:solidFill>
                <a:latin typeface="Paperlogy 7 Bold" pitchFamily="2" charset="-127"/>
                <a:ea typeface="Paperlogy 7 Bold" pitchFamily="2" charset="-127"/>
                <a:cs typeface="Arial" pitchFamily="34" charset="-120"/>
              </a:rPr>
              <a:t>건강체 가성비 상품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7286191" y="1095338"/>
            <a:ext cx="316465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40세, 100세만기 20년납, 해지환급금 미지급형, 담보별 보험료</a:t>
            </a:r>
            <a:endParaRPr lang="en-US" sz="900" dirty="0"/>
          </a:p>
        </p:txBody>
      </p:sp>
      <p:sp>
        <p:nvSpPr>
          <p:cNvPr id="7" name="Shape 5"/>
          <p:cNvSpPr/>
          <p:nvPr/>
        </p:nvSpPr>
        <p:spPr>
          <a:xfrm>
            <a:off x="533363" y="1301900"/>
            <a:ext cx="9629791" cy="5489404"/>
          </a:xfrm>
          <a:prstGeom prst="roundRect">
            <a:avLst>
              <a:gd name="adj" fmla="val 2082"/>
            </a:avLst>
          </a:prstGeom>
          <a:solidFill>
            <a:srgbClr val="FFFFFF"/>
          </a:solidFill>
          <a:ln w="5217">
            <a:solidFill>
              <a:srgbClr val="EADFD3"/>
            </a:solidFill>
            <a:prstDash val="solid"/>
          </a:ln>
        </p:spPr>
        <p:txBody>
          <a:bodyPr/>
          <a:lstStyle/>
          <a:p>
            <a:endParaRPr lang="ko-KR" altLang="en-US"/>
          </a:p>
        </p:txBody>
      </p:sp>
      <p:sp>
        <p:nvSpPr>
          <p:cNvPr id="8" name="Shape 6"/>
          <p:cNvSpPr/>
          <p:nvPr/>
        </p:nvSpPr>
        <p:spPr>
          <a:xfrm>
            <a:off x="538580" y="1307117"/>
            <a:ext cx="2404738" cy="460079"/>
          </a:xfrm>
          <a:prstGeom prst="rect">
            <a:avLst/>
          </a:prstGeom>
          <a:solidFill>
            <a:srgbClr val="7E8D4A"/>
          </a:solidFill>
          <a:ln/>
        </p:spPr>
        <p:txBody>
          <a:bodyPr/>
          <a:lstStyle/>
          <a:p>
            <a:endParaRPr lang="ko-KR" altLang="en-US"/>
          </a:p>
        </p:txBody>
      </p:sp>
      <p:sp>
        <p:nvSpPr>
          <p:cNvPr id="9" name="Text 7"/>
          <p:cNvSpPr/>
          <p:nvPr/>
        </p:nvSpPr>
        <p:spPr>
          <a:xfrm>
            <a:off x="557630" y="1345217"/>
            <a:ext cx="2366638" cy="42197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0" name="Shape 8"/>
          <p:cNvSpPr/>
          <p:nvPr/>
        </p:nvSpPr>
        <p:spPr>
          <a:xfrm>
            <a:off x="2943317" y="1307117"/>
            <a:ext cx="2404738" cy="460079"/>
          </a:xfrm>
          <a:prstGeom prst="rect">
            <a:avLst/>
          </a:prstGeom>
          <a:solidFill>
            <a:srgbClr val="7E8D4A"/>
          </a:solidFill>
          <a:ln/>
        </p:spPr>
        <p:txBody>
          <a:bodyPr/>
          <a:lstStyle/>
          <a:p>
            <a:endParaRPr lang="ko-KR" altLang="en-US"/>
          </a:p>
        </p:txBody>
      </p:sp>
      <p:sp>
        <p:nvSpPr>
          <p:cNvPr id="11" name="Shape 9"/>
          <p:cNvSpPr/>
          <p:nvPr/>
        </p:nvSpPr>
        <p:spPr>
          <a:xfrm>
            <a:off x="2943317" y="1307117"/>
            <a:ext cx="9525" cy="460079"/>
          </a:xfrm>
          <a:prstGeom prst="rect">
            <a:avLst/>
          </a:prstGeom>
          <a:solidFill>
            <a:srgbClr val="FFFFFF">
              <a:alpha val="25000"/>
            </a:srgbClr>
          </a:solidFill>
          <a:ln/>
        </p:spPr>
        <p:txBody>
          <a:bodyPr/>
          <a:lstStyle/>
          <a:p>
            <a:endParaRPr lang="ko-KR" altLang="en-US"/>
          </a:p>
        </p:txBody>
      </p:sp>
      <p:sp>
        <p:nvSpPr>
          <p:cNvPr id="12" name="Text 10"/>
          <p:cNvSpPr/>
          <p:nvPr/>
        </p:nvSpPr>
        <p:spPr>
          <a:xfrm>
            <a:off x="2967584" y="1345217"/>
            <a:ext cx="2361420" cy="42197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NH농협손해보험</a:t>
            </a:r>
            <a:endParaRPr lang="en-US" sz="1575" dirty="0"/>
          </a:p>
        </p:txBody>
      </p:sp>
      <p:sp>
        <p:nvSpPr>
          <p:cNvPr id="13" name="Shape 11"/>
          <p:cNvSpPr/>
          <p:nvPr/>
        </p:nvSpPr>
        <p:spPr>
          <a:xfrm>
            <a:off x="5348054" y="1307117"/>
            <a:ext cx="2404738" cy="460079"/>
          </a:xfrm>
          <a:prstGeom prst="rect">
            <a:avLst/>
          </a:prstGeom>
          <a:solidFill>
            <a:srgbClr val="7E8D4A"/>
          </a:solidFill>
          <a:ln/>
        </p:spPr>
        <p:txBody>
          <a:bodyPr/>
          <a:lstStyle/>
          <a:p>
            <a:endParaRPr lang="ko-KR" altLang="en-US"/>
          </a:p>
        </p:txBody>
      </p:sp>
      <p:sp>
        <p:nvSpPr>
          <p:cNvPr id="14" name="Shape 12"/>
          <p:cNvSpPr/>
          <p:nvPr/>
        </p:nvSpPr>
        <p:spPr>
          <a:xfrm>
            <a:off x="5348054" y="1307117"/>
            <a:ext cx="9525" cy="460079"/>
          </a:xfrm>
          <a:prstGeom prst="rect">
            <a:avLst/>
          </a:prstGeom>
          <a:solidFill>
            <a:srgbClr val="FFFFFF">
              <a:alpha val="25000"/>
            </a:srgbClr>
          </a:solidFill>
          <a:ln/>
        </p:spPr>
        <p:txBody>
          <a:bodyPr/>
          <a:lstStyle/>
          <a:p>
            <a:endParaRPr lang="ko-KR" altLang="en-US"/>
          </a:p>
        </p:txBody>
      </p:sp>
      <p:sp>
        <p:nvSpPr>
          <p:cNvPr id="15" name="Text 13"/>
          <p:cNvSpPr/>
          <p:nvPr/>
        </p:nvSpPr>
        <p:spPr>
          <a:xfrm>
            <a:off x="5372321" y="1345217"/>
            <a:ext cx="2361420" cy="42197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삼성화재</a:t>
            </a:r>
            <a:endParaRPr lang="en-US" sz="1575" dirty="0"/>
          </a:p>
        </p:txBody>
      </p:sp>
      <p:sp>
        <p:nvSpPr>
          <p:cNvPr id="16" name="Shape 14"/>
          <p:cNvSpPr/>
          <p:nvPr/>
        </p:nvSpPr>
        <p:spPr>
          <a:xfrm>
            <a:off x="7752792" y="1307117"/>
            <a:ext cx="2405145" cy="460079"/>
          </a:xfrm>
          <a:prstGeom prst="rect">
            <a:avLst/>
          </a:prstGeom>
          <a:solidFill>
            <a:srgbClr val="7E8D4A"/>
          </a:solidFill>
          <a:ln/>
        </p:spPr>
        <p:txBody>
          <a:bodyPr/>
          <a:lstStyle/>
          <a:p>
            <a:endParaRPr lang="ko-KR" altLang="en-US"/>
          </a:p>
        </p:txBody>
      </p:sp>
      <p:sp>
        <p:nvSpPr>
          <p:cNvPr id="17" name="Shape 15"/>
          <p:cNvSpPr/>
          <p:nvPr/>
        </p:nvSpPr>
        <p:spPr>
          <a:xfrm>
            <a:off x="7752792" y="1307117"/>
            <a:ext cx="9525" cy="460079"/>
          </a:xfrm>
          <a:prstGeom prst="rect">
            <a:avLst/>
          </a:prstGeom>
          <a:solidFill>
            <a:srgbClr val="FFFFFF">
              <a:alpha val="25000"/>
            </a:srgbClr>
          </a:solidFill>
          <a:ln/>
        </p:spPr>
        <p:txBody>
          <a:bodyPr/>
          <a:lstStyle/>
          <a:p>
            <a:endParaRPr lang="ko-KR" altLang="en-US"/>
          </a:p>
        </p:txBody>
      </p:sp>
      <p:sp>
        <p:nvSpPr>
          <p:cNvPr id="18" name="Text 16"/>
          <p:cNvSpPr/>
          <p:nvPr/>
        </p:nvSpPr>
        <p:spPr>
          <a:xfrm>
            <a:off x="7777059" y="1345217"/>
            <a:ext cx="2361828" cy="421979"/>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메리츠화재</a:t>
            </a:r>
            <a:endParaRPr lang="en-US" sz="1575" dirty="0"/>
          </a:p>
        </p:txBody>
      </p:sp>
      <p:sp>
        <p:nvSpPr>
          <p:cNvPr id="19" name="Shape 17"/>
          <p:cNvSpPr/>
          <p:nvPr/>
        </p:nvSpPr>
        <p:spPr>
          <a:xfrm>
            <a:off x="538580" y="1767197"/>
            <a:ext cx="2404738" cy="401876"/>
          </a:xfrm>
          <a:prstGeom prst="rect">
            <a:avLst/>
          </a:prstGeom>
          <a:solidFill>
            <a:srgbClr val="F5F7EC"/>
          </a:solidFill>
          <a:ln/>
        </p:spPr>
        <p:txBody>
          <a:bodyPr/>
          <a:lstStyle/>
          <a:p>
            <a:endParaRPr lang="ko-KR" altLang="en-US"/>
          </a:p>
        </p:txBody>
      </p:sp>
      <p:sp>
        <p:nvSpPr>
          <p:cNvPr id="20" name="Shape 18"/>
          <p:cNvSpPr/>
          <p:nvPr/>
        </p:nvSpPr>
        <p:spPr>
          <a:xfrm>
            <a:off x="538580" y="1767197"/>
            <a:ext cx="2404738" cy="9525"/>
          </a:xfrm>
          <a:prstGeom prst="rect">
            <a:avLst/>
          </a:prstGeom>
          <a:solidFill>
            <a:srgbClr val="EADFD3"/>
          </a:solidFill>
          <a:ln/>
        </p:spPr>
        <p:txBody>
          <a:bodyPr/>
          <a:lstStyle/>
          <a:p>
            <a:endParaRPr lang="ko-KR" altLang="en-US"/>
          </a:p>
        </p:txBody>
      </p:sp>
      <p:sp>
        <p:nvSpPr>
          <p:cNvPr id="21" name="Text 19"/>
          <p:cNvSpPr/>
          <p:nvPr/>
        </p:nvSpPr>
        <p:spPr>
          <a:xfrm>
            <a:off x="557630" y="1810514"/>
            <a:ext cx="236663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상품명</a:t>
            </a:r>
            <a:endParaRPr lang="en-US" sz="1163" dirty="0"/>
          </a:p>
        </p:txBody>
      </p:sp>
      <p:sp>
        <p:nvSpPr>
          <p:cNvPr id="22" name="Shape 20"/>
          <p:cNvSpPr/>
          <p:nvPr/>
        </p:nvSpPr>
        <p:spPr>
          <a:xfrm>
            <a:off x="2943317" y="1767197"/>
            <a:ext cx="2404738" cy="401876"/>
          </a:xfrm>
          <a:prstGeom prst="rect">
            <a:avLst/>
          </a:prstGeom>
          <a:solidFill>
            <a:srgbClr val="FFFFFF"/>
          </a:solidFill>
          <a:ln/>
        </p:spPr>
        <p:txBody>
          <a:bodyPr/>
          <a:lstStyle/>
          <a:p>
            <a:endParaRPr lang="ko-KR" altLang="en-US"/>
          </a:p>
        </p:txBody>
      </p:sp>
      <p:sp>
        <p:nvSpPr>
          <p:cNvPr id="23" name="Shape 21"/>
          <p:cNvSpPr/>
          <p:nvPr/>
        </p:nvSpPr>
        <p:spPr>
          <a:xfrm>
            <a:off x="2943317" y="1767197"/>
            <a:ext cx="2404738" cy="9525"/>
          </a:xfrm>
          <a:prstGeom prst="rect">
            <a:avLst/>
          </a:prstGeom>
          <a:solidFill>
            <a:srgbClr val="EADFD3"/>
          </a:solidFill>
          <a:ln/>
        </p:spPr>
        <p:txBody>
          <a:bodyPr/>
          <a:lstStyle/>
          <a:p>
            <a:endParaRPr lang="ko-KR" altLang="en-US"/>
          </a:p>
        </p:txBody>
      </p:sp>
      <p:sp>
        <p:nvSpPr>
          <p:cNvPr id="24" name="Shape 22"/>
          <p:cNvSpPr/>
          <p:nvPr/>
        </p:nvSpPr>
        <p:spPr>
          <a:xfrm>
            <a:off x="2943317" y="1767197"/>
            <a:ext cx="9525" cy="401876"/>
          </a:xfrm>
          <a:prstGeom prst="rect">
            <a:avLst/>
          </a:prstGeom>
          <a:solidFill>
            <a:srgbClr val="EADFD3"/>
          </a:solidFill>
          <a:ln/>
        </p:spPr>
        <p:txBody>
          <a:bodyPr/>
          <a:lstStyle/>
          <a:p>
            <a:endParaRPr lang="ko-KR" altLang="en-US"/>
          </a:p>
        </p:txBody>
      </p:sp>
      <p:sp>
        <p:nvSpPr>
          <p:cNvPr id="25" name="Text 23"/>
          <p:cNvSpPr/>
          <p:nvPr/>
        </p:nvSpPr>
        <p:spPr>
          <a:xfrm>
            <a:off x="2967584" y="1810514"/>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5.10.5 굿플러스</a:t>
            </a:r>
            <a:endParaRPr lang="en-US" sz="1163" dirty="0"/>
          </a:p>
        </p:txBody>
      </p:sp>
      <p:sp>
        <p:nvSpPr>
          <p:cNvPr id="26" name="Shape 24"/>
          <p:cNvSpPr/>
          <p:nvPr/>
        </p:nvSpPr>
        <p:spPr>
          <a:xfrm>
            <a:off x="5348054" y="1767197"/>
            <a:ext cx="2404738" cy="401876"/>
          </a:xfrm>
          <a:prstGeom prst="rect">
            <a:avLst/>
          </a:prstGeom>
          <a:solidFill>
            <a:srgbClr val="FFFFFF"/>
          </a:solidFill>
          <a:ln/>
        </p:spPr>
        <p:txBody>
          <a:bodyPr/>
          <a:lstStyle/>
          <a:p>
            <a:endParaRPr lang="ko-KR" altLang="en-US"/>
          </a:p>
        </p:txBody>
      </p:sp>
      <p:sp>
        <p:nvSpPr>
          <p:cNvPr id="27" name="Shape 25"/>
          <p:cNvSpPr/>
          <p:nvPr/>
        </p:nvSpPr>
        <p:spPr>
          <a:xfrm>
            <a:off x="5348054" y="1767197"/>
            <a:ext cx="2404738" cy="9525"/>
          </a:xfrm>
          <a:prstGeom prst="rect">
            <a:avLst/>
          </a:prstGeom>
          <a:solidFill>
            <a:srgbClr val="EADFD3"/>
          </a:solidFill>
          <a:ln/>
        </p:spPr>
        <p:txBody>
          <a:bodyPr/>
          <a:lstStyle/>
          <a:p>
            <a:endParaRPr lang="ko-KR" altLang="en-US"/>
          </a:p>
        </p:txBody>
      </p:sp>
      <p:sp>
        <p:nvSpPr>
          <p:cNvPr id="28" name="Shape 26"/>
          <p:cNvSpPr/>
          <p:nvPr/>
        </p:nvSpPr>
        <p:spPr>
          <a:xfrm>
            <a:off x="5348054" y="1767197"/>
            <a:ext cx="9525" cy="401876"/>
          </a:xfrm>
          <a:prstGeom prst="rect">
            <a:avLst/>
          </a:prstGeom>
          <a:solidFill>
            <a:srgbClr val="EADFD3"/>
          </a:solidFill>
          <a:ln/>
        </p:spPr>
        <p:txBody>
          <a:bodyPr/>
          <a:lstStyle/>
          <a:p>
            <a:endParaRPr lang="ko-KR" altLang="en-US"/>
          </a:p>
        </p:txBody>
      </p:sp>
      <p:sp>
        <p:nvSpPr>
          <p:cNvPr id="29" name="Text 27"/>
          <p:cNvSpPr/>
          <p:nvPr/>
        </p:nvSpPr>
        <p:spPr>
          <a:xfrm>
            <a:off x="5372321" y="1810514"/>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New 내돈내삼</a:t>
            </a:r>
            <a:endParaRPr lang="en-US" sz="1163" dirty="0"/>
          </a:p>
        </p:txBody>
      </p:sp>
      <p:sp>
        <p:nvSpPr>
          <p:cNvPr id="30" name="Shape 28"/>
          <p:cNvSpPr/>
          <p:nvPr/>
        </p:nvSpPr>
        <p:spPr>
          <a:xfrm>
            <a:off x="7752792" y="1767197"/>
            <a:ext cx="2405145" cy="401876"/>
          </a:xfrm>
          <a:prstGeom prst="rect">
            <a:avLst/>
          </a:prstGeom>
          <a:solidFill>
            <a:srgbClr val="FFFFFF"/>
          </a:solidFill>
          <a:ln/>
        </p:spPr>
        <p:txBody>
          <a:bodyPr/>
          <a:lstStyle/>
          <a:p>
            <a:endParaRPr lang="ko-KR" altLang="en-US"/>
          </a:p>
        </p:txBody>
      </p:sp>
      <p:sp>
        <p:nvSpPr>
          <p:cNvPr id="31" name="Shape 29"/>
          <p:cNvSpPr/>
          <p:nvPr/>
        </p:nvSpPr>
        <p:spPr>
          <a:xfrm>
            <a:off x="7752792" y="1767197"/>
            <a:ext cx="2405145" cy="9525"/>
          </a:xfrm>
          <a:prstGeom prst="rect">
            <a:avLst/>
          </a:prstGeom>
          <a:solidFill>
            <a:srgbClr val="EADFD3"/>
          </a:solidFill>
          <a:ln/>
        </p:spPr>
        <p:txBody>
          <a:bodyPr/>
          <a:lstStyle/>
          <a:p>
            <a:endParaRPr lang="ko-KR" altLang="en-US"/>
          </a:p>
        </p:txBody>
      </p:sp>
      <p:sp>
        <p:nvSpPr>
          <p:cNvPr id="32" name="Shape 30"/>
          <p:cNvSpPr/>
          <p:nvPr/>
        </p:nvSpPr>
        <p:spPr>
          <a:xfrm>
            <a:off x="7752792" y="1767197"/>
            <a:ext cx="9525" cy="401876"/>
          </a:xfrm>
          <a:prstGeom prst="rect">
            <a:avLst/>
          </a:prstGeom>
          <a:solidFill>
            <a:srgbClr val="EADFD3"/>
          </a:solidFill>
          <a:ln/>
        </p:spPr>
        <p:txBody>
          <a:bodyPr/>
          <a:lstStyle/>
          <a:p>
            <a:endParaRPr lang="ko-KR" altLang="en-US"/>
          </a:p>
        </p:txBody>
      </p:sp>
      <p:sp>
        <p:nvSpPr>
          <p:cNvPr id="33" name="Text 31"/>
          <p:cNvSpPr/>
          <p:nvPr/>
        </p:nvSpPr>
        <p:spPr>
          <a:xfrm>
            <a:off x="7777059" y="1810514"/>
            <a:ext cx="236182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The건강한 5.10.5 보장</a:t>
            </a:r>
            <a:endParaRPr lang="en-US" sz="1163" dirty="0"/>
          </a:p>
        </p:txBody>
      </p:sp>
      <p:sp>
        <p:nvSpPr>
          <p:cNvPr id="34" name="Shape 32"/>
          <p:cNvSpPr/>
          <p:nvPr/>
        </p:nvSpPr>
        <p:spPr>
          <a:xfrm>
            <a:off x="538580" y="2169073"/>
            <a:ext cx="2404738" cy="401876"/>
          </a:xfrm>
          <a:prstGeom prst="rect">
            <a:avLst/>
          </a:prstGeom>
          <a:solidFill>
            <a:srgbClr val="F5F7EC"/>
          </a:solidFill>
          <a:ln/>
        </p:spPr>
        <p:txBody>
          <a:bodyPr/>
          <a:lstStyle/>
          <a:p>
            <a:endParaRPr lang="ko-KR" altLang="en-US"/>
          </a:p>
        </p:txBody>
      </p:sp>
      <p:sp>
        <p:nvSpPr>
          <p:cNvPr id="35" name="Shape 33"/>
          <p:cNvSpPr/>
          <p:nvPr/>
        </p:nvSpPr>
        <p:spPr>
          <a:xfrm>
            <a:off x="538580" y="2169073"/>
            <a:ext cx="2404738" cy="9525"/>
          </a:xfrm>
          <a:prstGeom prst="rect">
            <a:avLst/>
          </a:prstGeom>
          <a:solidFill>
            <a:srgbClr val="EADFD3"/>
          </a:solidFill>
          <a:ln/>
        </p:spPr>
        <p:txBody>
          <a:bodyPr/>
          <a:lstStyle/>
          <a:p>
            <a:endParaRPr lang="ko-KR" altLang="en-US"/>
          </a:p>
        </p:txBody>
      </p:sp>
      <p:sp>
        <p:nvSpPr>
          <p:cNvPr id="36" name="Text 34"/>
          <p:cNvSpPr/>
          <p:nvPr/>
        </p:nvSpPr>
        <p:spPr>
          <a:xfrm>
            <a:off x="557630" y="2212390"/>
            <a:ext cx="236663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가입연령</a:t>
            </a:r>
            <a:endParaRPr lang="en-US" sz="1163" dirty="0"/>
          </a:p>
        </p:txBody>
      </p:sp>
      <p:sp>
        <p:nvSpPr>
          <p:cNvPr id="37" name="Shape 35"/>
          <p:cNvSpPr/>
          <p:nvPr/>
        </p:nvSpPr>
        <p:spPr>
          <a:xfrm>
            <a:off x="2943317" y="2169073"/>
            <a:ext cx="2404738" cy="401876"/>
          </a:xfrm>
          <a:prstGeom prst="rect">
            <a:avLst/>
          </a:prstGeom>
          <a:solidFill>
            <a:srgbClr val="FFFFFF"/>
          </a:solidFill>
          <a:ln/>
        </p:spPr>
        <p:txBody>
          <a:bodyPr/>
          <a:lstStyle/>
          <a:p>
            <a:endParaRPr lang="ko-KR" altLang="en-US"/>
          </a:p>
        </p:txBody>
      </p:sp>
      <p:sp>
        <p:nvSpPr>
          <p:cNvPr id="38" name="Shape 36"/>
          <p:cNvSpPr/>
          <p:nvPr/>
        </p:nvSpPr>
        <p:spPr>
          <a:xfrm>
            <a:off x="2943317" y="2169073"/>
            <a:ext cx="2404738" cy="9525"/>
          </a:xfrm>
          <a:prstGeom prst="rect">
            <a:avLst/>
          </a:prstGeom>
          <a:solidFill>
            <a:srgbClr val="EADFD3"/>
          </a:solidFill>
          <a:ln/>
        </p:spPr>
        <p:txBody>
          <a:bodyPr/>
          <a:lstStyle/>
          <a:p>
            <a:endParaRPr lang="ko-KR" altLang="en-US"/>
          </a:p>
        </p:txBody>
      </p:sp>
      <p:sp>
        <p:nvSpPr>
          <p:cNvPr id="39" name="Shape 37"/>
          <p:cNvSpPr/>
          <p:nvPr/>
        </p:nvSpPr>
        <p:spPr>
          <a:xfrm>
            <a:off x="2943317" y="2169073"/>
            <a:ext cx="9525" cy="401876"/>
          </a:xfrm>
          <a:prstGeom prst="rect">
            <a:avLst/>
          </a:prstGeom>
          <a:solidFill>
            <a:srgbClr val="EADFD3"/>
          </a:solidFill>
          <a:ln/>
        </p:spPr>
        <p:txBody>
          <a:bodyPr/>
          <a:lstStyle/>
          <a:p>
            <a:endParaRPr lang="ko-KR" altLang="en-US"/>
          </a:p>
        </p:txBody>
      </p:sp>
      <p:sp>
        <p:nvSpPr>
          <p:cNvPr id="40" name="Text 38"/>
          <p:cNvSpPr/>
          <p:nvPr/>
        </p:nvSpPr>
        <p:spPr>
          <a:xfrm>
            <a:off x="2967584" y="2212390"/>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 ~ 60세</a:t>
            </a:r>
            <a:endParaRPr lang="en-US" sz="1163" dirty="0"/>
          </a:p>
        </p:txBody>
      </p:sp>
      <p:sp>
        <p:nvSpPr>
          <p:cNvPr id="41" name="Shape 39"/>
          <p:cNvSpPr/>
          <p:nvPr/>
        </p:nvSpPr>
        <p:spPr>
          <a:xfrm>
            <a:off x="5348054" y="2169073"/>
            <a:ext cx="2404738" cy="401876"/>
          </a:xfrm>
          <a:prstGeom prst="rect">
            <a:avLst/>
          </a:prstGeom>
          <a:solidFill>
            <a:srgbClr val="FFFFFF"/>
          </a:solidFill>
          <a:ln/>
        </p:spPr>
        <p:txBody>
          <a:bodyPr/>
          <a:lstStyle/>
          <a:p>
            <a:endParaRPr lang="ko-KR" altLang="en-US"/>
          </a:p>
        </p:txBody>
      </p:sp>
      <p:sp>
        <p:nvSpPr>
          <p:cNvPr id="42" name="Shape 40"/>
          <p:cNvSpPr/>
          <p:nvPr/>
        </p:nvSpPr>
        <p:spPr>
          <a:xfrm>
            <a:off x="5348054" y="2169073"/>
            <a:ext cx="2404738" cy="9525"/>
          </a:xfrm>
          <a:prstGeom prst="rect">
            <a:avLst/>
          </a:prstGeom>
          <a:solidFill>
            <a:srgbClr val="EADFD3"/>
          </a:solidFill>
          <a:ln/>
        </p:spPr>
        <p:txBody>
          <a:bodyPr/>
          <a:lstStyle/>
          <a:p>
            <a:endParaRPr lang="ko-KR" altLang="en-US"/>
          </a:p>
        </p:txBody>
      </p:sp>
      <p:sp>
        <p:nvSpPr>
          <p:cNvPr id="43" name="Shape 41"/>
          <p:cNvSpPr/>
          <p:nvPr/>
        </p:nvSpPr>
        <p:spPr>
          <a:xfrm>
            <a:off x="5348054" y="2169073"/>
            <a:ext cx="9525" cy="401876"/>
          </a:xfrm>
          <a:prstGeom prst="rect">
            <a:avLst/>
          </a:prstGeom>
          <a:solidFill>
            <a:srgbClr val="EADFD3"/>
          </a:solidFill>
          <a:ln/>
        </p:spPr>
        <p:txBody>
          <a:bodyPr/>
          <a:lstStyle/>
          <a:p>
            <a:endParaRPr lang="ko-KR" altLang="en-US"/>
          </a:p>
        </p:txBody>
      </p:sp>
      <p:sp>
        <p:nvSpPr>
          <p:cNvPr id="44" name="Text 42"/>
          <p:cNvSpPr/>
          <p:nvPr/>
        </p:nvSpPr>
        <p:spPr>
          <a:xfrm>
            <a:off x="5372321" y="2212390"/>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16 ~ 70세</a:t>
            </a:r>
            <a:endParaRPr lang="en-US" sz="1163" dirty="0"/>
          </a:p>
        </p:txBody>
      </p:sp>
      <p:sp>
        <p:nvSpPr>
          <p:cNvPr id="45" name="Shape 43"/>
          <p:cNvSpPr/>
          <p:nvPr/>
        </p:nvSpPr>
        <p:spPr>
          <a:xfrm>
            <a:off x="7752792" y="2169073"/>
            <a:ext cx="2405145" cy="401876"/>
          </a:xfrm>
          <a:prstGeom prst="rect">
            <a:avLst/>
          </a:prstGeom>
          <a:solidFill>
            <a:srgbClr val="FFFFFF"/>
          </a:solidFill>
          <a:ln/>
        </p:spPr>
        <p:txBody>
          <a:bodyPr/>
          <a:lstStyle/>
          <a:p>
            <a:endParaRPr lang="ko-KR" altLang="en-US"/>
          </a:p>
        </p:txBody>
      </p:sp>
      <p:sp>
        <p:nvSpPr>
          <p:cNvPr id="46" name="Shape 44"/>
          <p:cNvSpPr/>
          <p:nvPr/>
        </p:nvSpPr>
        <p:spPr>
          <a:xfrm>
            <a:off x="7752792" y="2169073"/>
            <a:ext cx="2405145" cy="9525"/>
          </a:xfrm>
          <a:prstGeom prst="rect">
            <a:avLst/>
          </a:prstGeom>
          <a:solidFill>
            <a:srgbClr val="EADFD3"/>
          </a:solidFill>
          <a:ln/>
        </p:spPr>
        <p:txBody>
          <a:bodyPr/>
          <a:lstStyle/>
          <a:p>
            <a:endParaRPr lang="ko-KR" altLang="en-US"/>
          </a:p>
        </p:txBody>
      </p:sp>
      <p:sp>
        <p:nvSpPr>
          <p:cNvPr id="47" name="Shape 45"/>
          <p:cNvSpPr/>
          <p:nvPr/>
        </p:nvSpPr>
        <p:spPr>
          <a:xfrm>
            <a:off x="7752792" y="2169073"/>
            <a:ext cx="9525" cy="401876"/>
          </a:xfrm>
          <a:prstGeom prst="rect">
            <a:avLst/>
          </a:prstGeom>
          <a:solidFill>
            <a:srgbClr val="EADFD3"/>
          </a:solidFill>
          <a:ln/>
        </p:spPr>
        <p:txBody>
          <a:bodyPr/>
          <a:lstStyle/>
          <a:p>
            <a:endParaRPr lang="ko-KR" altLang="en-US"/>
          </a:p>
        </p:txBody>
      </p:sp>
      <p:sp>
        <p:nvSpPr>
          <p:cNvPr id="48" name="Text 46"/>
          <p:cNvSpPr/>
          <p:nvPr/>
        </p:nvSpPr>
        <p:spPr>
          <a:xfrm>
            <a:off x="7777059" y="2212390"/>
            <a:ext cx="236182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 ~ 60세</a:t>
            </a:r>
            <a:endParaRPr lang="en-US" sz="1163" dirty="0"/>
          </a:p>
        </p:txBody>
      </p:sp>
      <p:sp>
        <p:nvSpPr>
          <p:cNvPr id="49" name="Shape 47"/>
          <p:cNvSpPr/>
          <p:nvPr/>
        </p:nvSpPr>
        <p:spPr>
          <a:xfrm>
            <a:off x="538580" y="2570950"/>
            <a:ext cx="2404738" cy="401876"/>
          </a:xfrm>
          <a:prstGeom prst="rect">
            <a:avLst/>
          </a:prstGeom>
          <a:solidFill>
            <a:srgbClr val="F5F7EC"/>
          </a:solidFill>
          <a:ln/>
        </p:spPr>
        <p:txBody>
          <a:bodyPr/>
          <a:lstStyle/>
          <a:p>
            <a:endParaRPr lang="ko-KR" altLang="en-US"/>
          </a:p>
        </p:txBody>
      </p:sp>
      <p:sp>
        <p:nvSpPr>
          <p:cNvPr id="50" name="Shape 48"/>
          <p:cNvSpPr/>
          <p:nvPr/>
        </p:nvSpPr>
        <p:spPr>
          <a:xfrm>
            <a:off x="538580" y="2570950"/>
            <a:ext cx="2404738" cy="9525"/>
          </a:xfrm>
          <a:prstGeom prst="rect">
            <a:avLst/>
          </a:prstGeom>
          <a:solidFill>
            <a:srgbClr val="EADFD3"/>
          </a:solidFill>
          <a:ln/>
        </p:spPr>
        <p:txBody>
          <a:bodyPr/>
          <a:lstStyle/>
          <a:p>
            <a:endParaRPr lang="ko-KR" altLang="en-US"/>
          </a:p>
        </p:txBody>
      </p:sp>
      <p:sp>
        <p:nvSpPr>
          <p:cNvPr id="51" name="Text 49"/>
          <p:cNvSpPr/>
          <p:nvPr/>
        </p:nvSpPr>
        <p:spPr>
          <a:xfrm>
            <a:off x="557630" y="2614267"/>
            <a:ext cx="236663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납입기간</a:t>
            </a:r>
            <a:endParaRPr lang="en-US" sz="1163" dirty="0"/>
          </a:p>
        </p:txBody>
      </p:sp>
      <p:sp>
        <p:nvSpPr>
          <p:cNvPr id="52" name="Shape 50"/>
          <p:cNvSpPr/>
          <p:nvPr/>
        </p:nvSpPr>
        <p:spPr>
          <a:xfrm>
            <a:off x="2943317" y="2570950"/>
            <a:ext cx="2404738" cy="401876"/>
          </a:xfrm>
          <a:prstGeom prst="rect">
            <a:avLst/>
          </a:prstGeom>
          <a:solidFill>
            <a:srgbClr val="FFFFFF"/>
          </a:solidFill>
          <a:ln/>
        </p:spPr>
        <p:txBody>
          <a:bodyPr/>
          <a:lstStyle/>
          <a:p>
            <a:endParaRPr lang="ko-KR" altLang="en-US"/>
          </a:p>
        </p:txBody>
      </p:sp>
      <p:sp>
        <p:nvSpPr>
          <p:cNvPr id="53" name="Shape 51"/>
          <p:cNvSpPr/>
          <p:nvPr/>
        </p:nvSpPr>
        <p:spPr>
          <a:xfrm>
            <a:off x="2943317" y="2570950"/>
            <a:ext cx="2404738" cy="9525"/>
          </a:xfrm>
          <a:prstGeom prst="rect">
            <a:avLst/>
          </a:prstGeom>
          <a:solidFill>
            <a:srgbClr val="EADFD3"/>
          </a:solidFill>
          <a:ln/>
        </p:spPr>
        <p:txBody>
          <a:bodyPr/>
          <a:lstStyle/>
          <a:p>
            <a:endParaRPr lang="ko-KR" altLang="en-US"/>
          </a:p>
        </p:txBody>
      </p:sp>
      <p:sp>
        <p:nvSpPr>
          <p:cNvPr id="54" name="Shape 52"/>
          <p:cNvSpPr/>
          <p:nvPr/>
        </p:nvSpPr>
        <p:spPr>
          <a:xfrm>
            <a:off x="2943317" y="2570950"/>
            <a:ext cx="9525" cy="401876"/>
          </a:xfrm>
          <a:prstGeom prst="rect">
            <a:avLst/>
          </a:prstGeom>
          <a:solidFill>
            <a:srgbClr val="EADFD3"/>
          </a:solidFill>
          <a:ln/>
        </p:spPr>
        <p:txBody>
          <a:bodyPr/>
          <a:lstStyle/>
          <a:p>
            <a:endParaRPr lang="ko-KR" altLang="en-US"/>
          </a:p>
        </p:txBody>
      </p:sp>
      <p:sp>
        <p:nvSpPr>
          <p:cNvPr id="55" name="Text 53"/>
          <p:cNvSpPr/>
          <p:nvPr/>
        </p:nvSpPr>
        <p:spPr>
          <a:xfrm>
            <a:off x="2967584" y="2614267"/>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20·25·30년납</a:t>
            </a:r>
            <a:endParaRPr lang="en-US" sz="1163" dirty="0"/>
          </a:p>
        </p:txBody>
      </p:sp>
      <p:sp>
        <p:nvSpPr>
          <p:cNvPr id="56" name="Shape 54"/>
          <p:cNvSpPr/>
          <p:nvPr/>
        </p:nvSpPr>
        <p:spPr>
          <a:xfrm>
            <a:off x="5348054" y="2570950"/>
            <a:ext cx="2404738" cy="401876"/>
          </a:xfrm>
          <a:prstGeom prst="rect">
            <a:avLst/>
          </a:prstGeom>
          <a:solidFill>
            <a:srgbClr val="FFFFFF"/>
          </a:solidFill>
          <a:ln/>
        </p:spPr>
        <p:txBody>
          <a:bodyPr/>
          <a:lstStyle/>
          <a:p>
            <a:endParaRPr lang="ko-KR" altLang="en-US"/>
          </a:p>
        </p:txBody>
      </p:sp>
      <p:sp>
        <p:nvSpPr>
          <p:cNvPr id="57" name="Shape 55"/>
          <p:cNvSpPr/>
          <p:nvPr/>
        </p:nvSpPr>
        <p:spPr>
          <a:xfrm>
            <a:off x="5348054" y="2570950"/>
            <a:ext cx="2404738" cy="9525"/>
          </a:xfrm>
          <a:prstGeom prst="rect">
            <a:avLst/>
          </a:prstGeom>
          <a:solidFill>
            <a:srgbClr val="EADFD3"/>
          </a:solidFill>
          <a:ln/>
        </p:spPr>
        <p:txBody>
          <a:bodyPr/>
          <a:lstStyle/>
          <a:p>
            <a:endParaRPr lang="ko-KR" altLang="en-US"/>
          </a:p>
        </p:txBody>
      </p:sp>
      <p:sp>
        <p:nvSpPr>
          <p:cNvPr id="58" name="Shape 56"/>
          <p:cNvSpPr/>
          <p:nvPr/>
        </p:nvSpPr>
        <p:spPr>
          <a:xfrm>
            <a:off x="5348054" y="2570950"/>
            <a:ext cx="9525" cy="401876"/>
          </a:xfrm>
          <a:prstGeom prst="rect">
            <a:avLst/>
          </a:prstGeom>
          <a:solidFill>
            <a:srgbClr val="EADFD3"/>
          </a:solidFill>
          <a:ln/>
        </p:spPr>
        <p:txBody>
          <a:bodyPr/>
          <a:lstStyle/>
          <a:p>
            <a:endParaRPr lang="ko-KR" altLang="en-US"/>
          </a:p>
        </p:txBody>
      </p:sp>
      <p:sp>
        <p:nvSpPr>
          <p:cNvPr id="59" name="Text 57"/>
          <p:cNvSpPr/>
          <p:nvPr/>
        </p:nvSpPr>
        <p:spPr>
          <a:xfrm>
            <a:off x="5372321" y="2614267"/>
            <a:ext cx="2361420"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20·25·30년납</a:t>
            </a:r>
            <a:endParaRPr lang="en-US" sz="1163" dirty="0"/>
          </a:p>
        </p:txBody>
      </p:sp>
      <p:sp>
        <p:nvSpPr>
          <p:cNvPr id="60" name="Shape 58"/>
          <p:cNvSpPr/>
          <p:nvPr/>
        </p:nvSpPr>
        <p:spPr>
          <a:xfrm>
            <a:off x="7752792" y="2570950"/>
            <a:ext cx="2405145" cy="401876"/>
          </a:xfrm>
          <a:prstGeom prst="rect">
            <a:avLst/>
          </a:prstGeom>
          <a:solidFill>
            <a:srgbClr val="FFFFFF"/>
          </a:solidFill>
          <a:ln/>
        </p:spPr>
        <p:txBody>
          <a:bodyPr/>
          <a:lstStyle/>
          <a:p>
            <a:endParaRPr lang="ko-KR" altLang="en-US"/>
          </a:p>
        </p:txBody>
      </p:sp>
      <p:sp>
        <p:nvSpPr>
          <p:cNvPr id="61" name="Shape 59"/>
          <p:cNvSpPr/>
          <p:nvPr/>
        </p:nvSpPr>
        <p:spPr>
          <a:xfrm>
            <a:off x="7752792" y="2570950"/>
            <a:ext cx="2405145" cy="9525"/>
          </a:xfrm>
          <a:prstGeom prst="rect">
            <a:avLst/>
          </a:prstGeom>
          <a:solidFill>
            <a:srgbClr val="EADFD3"/>
          </a:solidFill>
          <a:ln/>
        </p:spPr>
        <p:txBody>
          <a:bodyPr/>
          <a:lstStyle/>
          <a:p>
            <a:endParaRPr lang="ko-KR" altLang="en-US"/>
          </a:p>
        </p:txBody>
      </p:sp>
      <p:sp>
        <p:nvSpPr>
          <p:cNvPr id="62" name="Shape 60"/>
          <p:cNvSpPr/>
          <p:nvPr/>
        </p:nvSpPr>
        <p:spPr>
          <a:xfrm>
            <a:off x="7752792" y="2570950"/>
            <a:ext cx="9525" cy="401876"/>
          </a:xfrm>
          <a:prstGeom prst="rect">
            <a:avLst/>
          </a:prstGeom>
          <a:solidFill>
            <a:srgbClr val="EADFD3"/>
          </a:solidFill>
          <a:ln/>
        </p:spPr>
        <p:txBody>
          <a:bodyPr/>
          <a:lstStyle/>
          <a:p>
            <a:endParaRPr lang="ko-KR" altLang="en-US"/>
          </a:p>
        </p:txBody>
      </p:sp>
      <p:sp>
        <p:nvSpPr>
          <p:cNvPr id="63" name="Text 61"/>
          <p:cNvSpPr/>
          <p:nvPr/>
        </p:nvSpPr>
        <p:spPr>
          <a:xfrm>
            <a:off x="7777059" y="2614267"/>
            <a:ext cx="236182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10·20·30년납</a:t>
            </a:r>
            <a:endParaRPr lang="en-US" sz="1163" dirty="0"/>
          </a:p>
        </p:txBody>
      </p:sp>
      <p:sp>
        <p:nvSpPr>
          <p:cNvPr id="64" name="Shape 62"/>
          <p:cNvSpPr/>
          <p:nvPr/>
        </p:nvSpPr>
        <p:spPr>
          <a:xfrm>
            <a:off x="538580" y="2972826"/>
            <a:ext cx="2404738" cy="401876"/>
          </a:xfrm>
          <a:prstGeom prst="rect">
            <a:avLst/>
          </a:prstGeom>
          <a:solidFill>
            <a:srgbClr val="F5F7EC"/>
          </a:solidFill>
          <a:ln/>
        </p:spPr>
        <p:txBody>
          <a:bodyPr/>
          <a:lstStyle/>
          <a:p>
            <a:endParaRPr lang="ko-KR" altLang="en-US"/>
          </a:p>
        </p:txBody>
      </p:sp>
      <p:sp>
        <p:nvSpPr>
          <p:cNvPr id="65" name="Shape 63"/>
          <p:cNvSpPr/>
          <p:nvPr/>
        </p:nvSpPr>
        <p:spPr>
          <a:xfrm>
            <a:off x="538580" y="2972826"/>
            <a:ext cx="2404738" cy="9525"/>
          </a:xfrm>
          <a:prstGeom prst="rect">
            <a:avLst/>
          </a:prstGeom>
          <a:solidFill>
            <a:srgbClr val="EADFD3"/>
          </a:solidFill>
          <a:ln/>
        </p:spPr>
        <p:txBody>
          <a:bodyPr/>
          <a:lstStyle/>
          <a:p>
            <a:endParaRPr lang="ko-KR" altLang="en-US"/>
          </a:p>
        </p:txBody>
      </p:sp>
      <p:sp>
        <p:nvSpPr>
          <p:cNvPr id="66" name="Text 64"/>
          <p:cNvSpPr/>
          <p:nvPr/>
        </p:nvSpPr>
        <p:spPr>
          <a:xfrm>
            <a:off x="557630" y="3016143"/>
            <a:ext cx="2366638"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구분</a:t>
            </a:r>
            <a:endParaRPr lang="en-US" sz="1163" dirty="0"/>
          </a:p>
        </p:txBody>
      </p:sp>
      <p:sp>
        <p:nvSpPr>
          <p:cNvPr id="67" name="Shape 65"/>
          <p:cNvSpPr/>
          <p:nvPr/>
        </p:nvSpPr>
        <p:spPr>
          <a:xfrm>
            <a:off x="2943317" y="2972826"/>
            <a:ext cx="1202369" cy="401876"/>
          </a:xfrm>
          <a:prstGeom prst="rect">
            <a:avLst/>
          </a:prstGeom>
          <a:solidFill>
            <a:srgbClr val="FFFFFF"/>
          </a:solidFill>
          <a:ln/>
        </p:spPr>
        <p:txBody>
          <a:bodyPr/>
          <a:lstStyle/>
          <a:p>
            <a:endParaRPr lang="ko-KR" altLang="en-US"/>
          </a:p>
        </p:txBody>
      </p:sp>
      <p:sp>
        <p:nvSpPr>
          <p:cNvPr id="68" name="Shape 66"/>
          <p:cNvSpPr/>
          <p:nvPr/>
        </p:nvSpPr>
        <p:spPr>
          <a:xfrm>
            <a:off x="2943317" y="2972826"/>
            <a:ext cx="1202369" cy="9525"/>
          </a:xfrm>
          <a:prstGeom prst="rect">
            <a:avLst/>
          </a:prstGeom>
          <a:solidFill>
            <a:srgbClr val="EADFD3"/>
          </a:solidFill>
          <a:ln/>
        </p:spPr>
        <p:txBody>
          <a:bodyPr/>
          <a:lstStyle/>
          <a:p>
            <a:endParaRPr lang="ko-KR" altLang="en-US"/>
          </a:p>
        </p:txBody>
      </p:sp>
      <p:sp>
        <p:nvSpPr>
          <p:cNvPr id="69" name="Shape 67"/>
          <p:cNvSpPr/>
          <p:nvPr/>
        </p:nvSpPr>
        <p:spPr>
          <a:xfrm>
            <a:off x="2943317" y="2972826"/>
            <a:ext cx="9525" cy="401876"/>
          </a:xfrm>
          <a:prstGeom prst="rect">
            <a:avLst/>
          </a:prstGeom>
          <a:solidFill>
            <a:srgbClr val="EADFD3"/>
          </a:solidFill>
          <a:ln/>
        </p:spPr>
        <p:txBody>
          <a:bodyPr/>
          <a:lstStyle/>
          <a:p>
            <a:endParaRPr lang="ko-KR" altLang="en-US"/>
          </a:p>
        </p:txBody>
      </p:sp>
      <p:sp>
        <p:nvSpPr>
          <p:cNvPr id="70" name="Text 68"/>
          <p:cNvSpPr/>
          <p:nvPr/>
        </p:nvSpPr>
        <p:spPr>
          <a:xfrm>
            <a:off x="2967584" y="3016143"/>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1" name="Shape 69"/>
          <p:cNvSpPr/>
          <p:nvPr/>
        </p:nvSpPr>
        <p:spPr>
          <a:xfrm>
            <a:off x="4145686" y="2972826"/>
            <a:ext cx="1202369" cy="401876"/>
          </a:xfrm>
          <a:prstGeom prst="rect">
            <a:avLst/>
          </a:prstGeom>
          <a:solidFill>
            <a:srgbClr val="FFFFFF"/>
          </a:solidFill>
          <a:ln/>
        </p:spPr>
        <p:txBody>
          <a:bodyPr/>
          <a:lstStyle/>
          <a:p>
            <a:endParaRPr lang="ko-KR" altLang="en-US"/>
          </a:p>
        </p:txBody>
      </p:sp>
      <p:sp>
        <p:nvSpPr>
          <p:cNvPr id="72" name="Shape 70"/>
          <p:cNvSpPr/>
          <p:nvPr/>
        </p:nvSpPr>
        <p:spPr>
          <a:xfrm>
            <a:off x="4145686" y="2972826"/>
            <a:ext cx="1202369" cy="9525"/>
          </a:xfrm>
          <a:prstGeom prst="rect">
            <a:avLst/>
          </a:prstGeom>
          <a:solidFill>
            <a:srgbClr val="EADFD3"/>
          </a:solidFill>
          <a:ln/>
        </p:spPr>
        <p:txBody>
          <a:bodyPr/>
          <a:lstStyle/>
          <a:p>
            <a:endParaRPr lang="ko-KR" altLang="en-US"/>
          </a:p>
        </p:txBody>
      </p:sp>
      <p:sp>
        <p:nvSpPr>
          <p:cNvPr id="73" name="Shape 71"/>
          <p:cNvSpPr/>
          <p:nvPr/>
        </p:nvSpPr>
        <p:spPr>
          <a:xfrm>
            <a:off x="4145686" y="2972826"/>
            <a:ext cx="9525" cy="401876"/>
          </a:xfrm>
          <a:prstGeom prst="rect">
            <a:avLst/>
          </a:prstGeom>
          <a:solidFill>
            <a:srgbClr val="EADFD3"/>
          </a:solidFill>
          <a:ln/>
        </p:spPr>
        <p:txBody>
          <a:bodyPr/>
          <a:lstStyle/>
          <a:p>
            <a:endParaRPr lang="ko-KR" altLang="en-US"/>
          </a:p>
        </p:txBody>
      </p:sp>
      <p:sp>
        <p:nvSpPr>
          <p:cNvPr id="74" name="Text 72"/>
          <p:cNvSpPr/>
          <p:nvPr/>
        </p:nvSpPr>
        <p:spPr>
          <a:xfrm>
            <a:off x="4169953" y="3016143"/>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75" name="Shape 73"/>
          <p:cNvSpPr/>
          <p:nvPr/>
        </p:nvSpPr>
        <p:spPr>
          <a:xfrm>
            <a:off x="5348054" y="2972826"/>
            <a:ext cx="1202369" cy="401876"/>
          </a:xfrm>
          <a:prstGeom prst="rect">
            <a:avLst/>
          </a:prstGeom>
          <a:solidFill>
            <a:srgbClr val="FFFFFF"/>
          </a:solidFill>
          <a:ln/>
        </p:spPr>
        <p:txBody>
          <a:bodyPr/>
          <a:lstStyle/>
          <a:p>
            <a:endParaRPr lang="ko-KR" altLang="en-US"/>
          </a:p>
        </p:txBody>
      </p:sp>
      <p:sp>
        <p:nvSpPr>
          <p:cNvPr id="76" name="Shape 74"/>
          <p:cNvSpPr/>
          <p:nvPr/>
        </p:nvSpPr>
        <p:spPr>
          <a:xfrm>
            <a:off x="5348054" y="2972826"/>
            <a:ext cx="1202369" cy="9525"/>
          </a:xfrm>
          <a:prstGeom prst="rect">
            <a:avLst/>
          </a:prstGeom>
          <a:solidFill>
            <a:srgbClr val="EADFD3"/>
          </a:solidFill>
          <a:ln/>
        </p:spPr>
        <p:txBody>
          <a:bodyPr/>
          <a:lstStyle/>
          <a:p>
            <a:endParaRPr lang="ko-KR" altLang="en-US"/>
          </a:p>
        </p:txBody>
      </p:sp>
      <p:sp>
        <p:nvSpPr>
          <p:cNvPr id="77" name="Shape 75"/>
          <p:cNvSpPr/>
          <p:nvPr/>
        </p:nvSpPr>
        <p:spPr>
          <a:xfrm>
            <a:off x="5348054" y="2972826"/>
            <a:ext cx="9525" cy="401876"/>
          </a:xfrm>
          <a:prstGeom prst="rect">
            <a:avLst/>
          </a:prstGeom>
          <a:solidFill>
            <a:srgbClr val="EADFD3"/>
          </a:solidFill>
          <a:ln/>
        </p:spPr>
        <p:txBody>
          <a:bodyPr/>
          <a:lstStyle/>
          <a:p>
            <a:endParaRPr lang="ko-KR" altLang="en-US"/>
          </a:p>
        </p:txBody>
      </p:sp>
      <p:sp>
        <p:nvSpPr>
          <p:cNvPr id="78" name="Text 76"/>
          <p:cNvSpPr/>
          <p:nvPr/>
        </p:nvSpPr>
        <p:spPr>
          <a:xfrm>
            <a:off x="5372321" y="3016143"/>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9" name="Shape 77"/>
          <p:cNvSpPr/>
          <p:nvPr/>
        </p:nvSpPr>
        <p:spPr>
          <a:xfrm>
            <a:off x="6550423" y="2972826"/>
            <a:ext cx="1202369" cy="401876"/>
          </a:xfrm>
          <a:prstGeom prst="rect">
            <a:avLst/>
          </a:prstGeom>
          <a:solidFill>
            <a:srgbClr val="FFFFFF"/>
          </a:solidFill>
          <a:ln/>
        </p:spPr>
        <p:txBody>
          <a:bodyPr/>
          <a:lstStyle/>
          <a:p>
            <a:endParaRPr lang="ko-KR" altLang="en-US"/>
          </a:p>
        </p:txBody>
      </p:sp>
      <p:sp>
        <p:nvSpPr>
          <p:cNvPr id="80" name="Shape 78"/>
          <p:cNvSpPr/>
          <p:nvPr/>
        </p:nvSpPr>
        <p:spPr>
          <a:xfrm>
            <a:off x="6550423" y="2972826"/>
            <a:ext cx="1202369" cy="9525"/>
          </a:xfrm>
          <a:prstGeom prst="rect">
            <a:avLst/>
          </a:prstGeom>
          <a:solidFill>
            <a:srgbClr val="EADFD3"/>
          </a:solidFill>
          <a:ln/>
        </p:spPr>
        <p:txBody>
          <a:bodyPr/>
          <a:lstStyle/>
          <a:p>
            <a:endParaRPr lang="ko-KR" altLang="en-US"/>
          </a:p>
        </p:txBody>
      </p:sp>
      <p:sp>
        <p:nvSpPr>
          <p:cNvPr id="81" name="Shape 79"/>
          <p:cNvSpPr/>
          <p:nvPr/>
        </p:nvSpPr>
        <p:spPr>
          <a:xfrm>
            <a:off x="6550423" y="2972826"/>
            <a:ext cx="9525" cy="401876"/>
          </a:xfrm>
          <a:prstGeom prst="rect">
            <a:avLst/>
          </a:prstGeom>
          <a:solidFill>
            <a:srgbClr val="EADFD3"/>
          </a:solidFill>
          <a:ln/>
        </p:spPr>
        <p:txBody>
          <a:bodyPr/>
          <a:lstStyle/>
          <a:p>
            <a:endParaRPr lang="ko-KR" altLang="en-US"/>
          </a:p>
        </p:txBody>
      </p:sp>
      <p:sp>
        <p:nvSpPr>
          <p:cNvPr id="82" name="Text 80"/>
          <p:cNvSpPr/>
          <p:nvPr/>
        </p:nvSpPr>
        <p:spPr>
          <a:xfrm>
            <a:off x="6574690" y="3016143"/>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83" name="Shape 81"/>
          <p:cNvSpPr/>
          <p:nvPr/>
        </p:nvSpPr>
        <p:spPr>
          <a:xfrm>
            <a:off x="7752792" y="2972826"/>
            <a:ext cx="1202369" cy="401876"/>
          </a:xfrm>
          <a:prstGeom prst="rect">
            <a:avLst/>
          </a:prstGeom>
          <a:solidFill>
            <a:srgbClr val="FFFFFF"/>
          </a:solidFill>
          <a:ln/>
        </p:spPr>
        <p:txBody>
          <a:bodyPr/>
          <a:lstStyle/>
          <a:p>
            <a:endParaRPr lang="ko-KR" altLang="en-US"/>
          </a:p>
        </p:txBody>
      </p:sp>
      <p:sp>
        <p:nvSpPr>
          <p:cNvPr id="84" name="Shape 82"/>
          <p:cNvSpPr/>
          <p:nvPr/>
        </p:nvSpPr>
        <p:spPr>
          <a:xfrm>
            <a:off x="7752792" y="2972826"/>
            <a:ext cx="1202369" cy="9525"/>
          </a:xfrm>
          <a:prstGeom prst="rect">
            <a:avLst/>
          </a:prstGeom>
          <a:solidFill>
            <a:srgbClr val="EADFD3"/>
          </a:solidFill>
          <a:ln/>
        </p:spPr>
        <p:txBody>
          <a:bodyPr/>
          <a:lstStyle/>
          <a:p>
            <a:endParaRPr lang="ko-KR" altLang="en-US"/>
          </a:p>
        </p:txBody>
      </p:sp>
      <p:sp>
        <p:nvSpPr>
          <p:cNvPr id="85" name="Shape 83"/>
          <p:cNvSpPr/>
          <p:nvPr/>
        </p:nvSpPr>
        <p:spPr>
          <a:xfrm>
            <a:off x="7752792" y="2972826"/>
            <a:ext cx="9525" cy="401876"/>
          </a:xfrm>
          <a:prstGeom prst="rect">
            <a:avLst/>
          </a:prstGeom>
          <a:solidFill>
            <a:srgbClr val="EADFD3"/>
          </a:solidFill>
          <a:ln/>
        </p:spPr>
        <p:txBody>
          <a:bodyPr/>
          <a:lstStyle/>
          <a:p>
            <a:endParaRPr lang="ko-KR" altLang="en-US"/>
          </a:p>
        </p:txBody>
      </p:sp>
      <p:sp>
        <p:nvSpPr>
          <p:cNvPr id="86" name="Text 84"/>
          <p:cNvSpPr/>
          <p:nvPr/>
        </p:nvSpPr>
        <p:spPr>
          <a:xfrm>
            <a:off x="7777059" y="3016143"/>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87" name="Shape 85"/>
          <p:cNvSpPr/>
          <p:nvPr/>
        </p:nvSpPr>
        <p:spPr>
          <a:xfrm>
            <a:off x="8955161" y="2972826"/>
            <a:ext cx="1202776" cy="401876"/>
          </a:xfrm>
          <a:prstGeom prst="rect">
            <a:avLst/>
          </a:prstGeom>
          <a:solidFill>
            <a:srgbClr val="FFFFFF"/>
          </a:solidFill>
          <a:ln/>
        </p:spPr>
        <p:txBody>
          <a:bodyPr/>
          <a:lstStyle/>
          <a:p>
            <a:endParaRPr lang="ko-KR" altLang="en-US"/>
          </a:p>
        </p:txBody>
      </p:sp>
      <p:sp>
        <p:nvSpPr>
          <p:cNvPr id="88" name="Shape 86"/>
          <p:cNvSpPr/>
          <p:nvPr/>
        </p:nvSpPr>
        <p:spPr>
          <a:xfrm>
            <a:off x="8955161" y="2972826"/>
            <a:ext cx="1202776" cy="9525"/>
          </a:xfrm>
          <a:prstGeom prst="rect">
            <a:avLst/>
          </a:prstGeom>
          <a:solidFill>
            <a:srgbClr val="EADFD3"/>
          </a:solidFill>
          <a:ln/>
        </p:spPr>
        <p:txBody>
          <a:bodyPr/>
          <a:lstStyle/>
          <a:p>
            <a:endParaRPr lang="ko-KR" altLang="en-US"/>
          </a:p>
        </p:txBody>
      </p:sp>
      <p:sp>
        <p:nvSpPr>
          <p:cNvPr id="89" name="Shape 87"/>
          <p:cNvSpPr/>
          <p:nvPr/>
        </p:nvSpPr>
        <p:spPr>
          <a:xfrm>
            <a:off x="8955161" y="2972826"/>
            <a:ext cx="9525" cy="401876"/>
          </a:xfrm>
          <a:prstGeom prst="rect">
            <a:avLst/>
          </a:prstGeom>
          <a:solidFill>
            <a:srgbClr val="EADFD3"/>
          </a:solidFill>
          <a:ln/>
        </p:spPr>
        <p:txBody>
          <a:bodyPr/>
          <a:lstStyle/>
          <a:p>
            <a:endParaRPr lang="ko-KR" altLang="en-US"/>
          </a:p>
        </p:txBody>
      </p:sp>
      <p:sp>
        <p:nvSpPr>
          <p:cNvPr id="90" name="Text 88"/>
          <p:cNvSpPr/>
          <p:nvPr/>
        </p:nvSpPr>
        <p:spPr>
          <a:xfrm>
            <a:off x="8979428" y="3016143"/>
            <a:ext cx="1159459"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91" name="Shape 89"/>
          <p:cNvSpPr/>
          <p:nvPr/>
        </p:nvSpPr>
        <p:spPr>
          <a:xfrm>
            <a:off x="538580" y="3374703"/>
            <a:ext cx="1202369" cy="409539"/>
          </a:xfrm>
          <a:prstGeom prst="rect">
            <a:avLst/>
          </a:prstGeom>
          <a:solidFill>
            <a:srgbClr val="F5F7EC"/>
          </a:solidFill>
          <a:ln/>
        </p:spPr>
        <p:txBody>
          <a:bodyPr/>
          <a:lstStyle/>
          <a:p>
            <a:endParaRPr lang="ko-KR" altLang="en-US"/>
          </a:p>
        </p:txBody>
      </p:sp>
      <p:sp>
        <p:nvSpPr>
          <p:cNvPr id="92" name="Shape 90"/>
          <p:cNvSpPr/>
          <p:nvPr/>
        </p:nvSpPr>
        <p:spPr>
          <a:xfrm>
            <a:off x="538580" y="3374703"/>
            <a:ext cx="1202369" cy="9525"/>
          </a:xfrm>
          <a:prstGeom prst="rect">
            <a:avLst/>
          </a:prstGeom>
          <a:solidFill>
            <a:srgbClr val="EADFD3"/>
          </a:solidFill>
          <a:ln/>
        </p:spPr>
        <p:txBody>
          <a:bodyPr/>
          <a:lstStyle/>
          <a:p>
            <a:endParaRPr lang="ko-KR" altLang="en-US"/>
          </a:p>
        </p:txBody>
      </p:sp>
      <p:sp>
        <p:nvSpPr>
          <p:cNvPr id="93" name="Text 91"/>
          <p:cNvSpPr/>
          <p:nvPr/>
        </p:nvSpPr>
        <p:spPr>
          <a:xfrm>
            <a:off x="557630" y="3418020"/>
            <a:ext cx="116426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일반암진단</a:t>
            </a:r>
            <a:endParaRPr lang="en-US" sz="1163" dirty="0"/>
          </a:p>
        </p:txBody>
      </p:sp>
      <p:sp>
        <p:nvSpPr>
          <p:cNvPr id="94" name="Shape 92"/>
          <p:cNvSpPr/>
          <p:nvPr/>
        </p:nvSpPr>
        <p:spPr>
          <a:xfrm>
            <a:off x="1740948" y="3374703"/>
            <a:ext cx="1202369" cy="409539"/>
          </a:xfrm>
          <a:prstGeom prst="rect">
            <a:avLst/>
          </a:prstGeom>
          <a:solidFill>
            <a:srgbClr val="F5F7EC"/>
          </a:solidFill>
          <a:ln/>
        </p:spPr>
        <p:txBody>
          <a:bodyPr/>
          <a:lstStyle/>
          <a:p>
            <a:endParaRPr lang="ko-KR" altLang="en-US"/>
          </a:p>
        </p:txBody>
      </p:sp>
      <p:sp>
        <p:nvSpPr>
          <p:cNvPr id="95" name="Shape 93"/>
          <p:cNvSpPr/>
          <p:nvPr/>
        </p:nvSpPr>
        <p:spPr>
          <a:xfrm>
            <a:off x="1740948" y="3374703"/>
            <a:ext cx="1202369" cy="9525"/>
          </a:xfrm>
          <a:prstGeom prst="rect">
            <a:avLst/>
          </a:prstGeom>
          <a:solidFill>
            <a:srgbClr val="EADFD3"/>
          </a:solidFill>
          <a:ln/>
        </p:spPr>
        <p:txBody>
          <a:bodyPr/>
          <a:lstStyle/>
          <a:p>
            <a:endParaRPr lang="ko-KR" altLang="en-US"/>
          </a:p>
        </p:txBody>
      </p:sp>
      <p:sp>
        <p:nvSpPr>
          <p:cNvPr id="96" name="Shape 94"/>
          <p:cNvSpPr/>
          <p:nvPr/>
        </p:nvSpPr>
        <p:spPr>
          <a:xfrm>
            <a:off x="1740948" y="3374703"/>
            <a:ext cx="9525" cy="409539"/>
          </a:xfrm>
          <a:prstGeom prst="rect">
            <a:avLst/>
          </a:prstGeom>
          <a:solidFill>
            <a:srgbClr val="EADFD3"/>
          </a:solidFill>
          <a:ln/>
        </p:spPr>
        <p:txBody>
          <a:bodyPr/>
          <a:lstStyle/>
          <a:p>
            <a:endParaRPr lang="ko-KR" altLang="en-US"/>
          </a:p>
        </p:txBody>
      </p:sp>
      <p:sp>
        <p:nvSpPr>
          <p:cNvPr id="97" name="Text 95"/>
          <p:cNvSpPr/>
          <p:nvPr/>
        </p:nvSpPr>
        <p:spPr>
          <a:xfrm>
            <a:off x="1765215"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98" name="Shape 96"/>
          <p:cNvSpPr/>
          <p:nvPr/>
        </p:nvSpPr>
        <p:spPr>
          <a:xfrm>
            <a:off x="2943317" y="3374703"/>
            <a:ext cx="1202369" cy="409539"/>
          </a:xfrm>
          <a:prstGeom prst="rect">
            <a:avLst/>
          </a:prstGeom>
          <a:solidFill>
            <a:srgbClr val="FFFFFF"/>
          </a:solidFill>
          <a:ln/>
        </p:spPr>
        <p:txBody>
          <a:bodyPr/>
          <a:lstStyle/>
          <a:p>
            <a:endParaRPr lang="ko-KR" altLang="en-US"/>
          </a:p>
        </p:txBody>
      </p:sp>
      <p:sp>
        <p:nvSpPr>
          <p:cNvPr id="99" name="Shape 97"/>
          <p:cNvSpPr/>
          <p:nvPr/>
        </p:nvSpPr>
        <p:spPr>
          <a:xfrm>
            <a:off x="2943317" y="3374703"/>
            <a:ext cx="1202369" cy="9525"/>
          </a:xfrm>
          <a:prstGeom prst="rect">
            <a:avLst/>
          </a:prstGeom>
          <a:solidFill>
            <a:srgbClr val="EADFD3"/>
          </a:solidFill>
          <a:ln/>
        </p:spPr>
        <p:txBody>
          <a:bodyPr/>
          <a:lstStyle/>
          <a:p>
            <a:endParaRPr lang="ko-KR" altLang="en-US"/>
          </a:p>
        </p:txBody>
      </p:sp>
      <p:sp>
        <p:nvSpPr>
          <p:cNvPr id="100" name="Shape 98"/>
          <p:cNvSpPr/>
          <p:nvPr/>
        </p:nvSpPr>
        <p:spPr>
          <a:xfrm>
            <a:off x="2943317" y="3374703"/>
            <a:ext cx="9525" cy="409539"/>
          </a:xfrm>
          <a:prstGeom prst="rect">
            <a:avLst/>
          </a:prstGeom>
          <a:solidFill>
            <a:srgbClr val="EADFD3"/>
          </a:solidFill>
          <a:ln/>
        </p:spPr>
        <p:txBody>
          <a:bodyPr/>
          <a:lstStyle/>
          <a:p>
            <a:endParaRPr lang="ko-KR" altLang="en-US"/>
          </a:p>
        </p:txBody>
      </p:sp>
      <p:sp>
        <p:nvSpPr>
          <p:cNvPr id="101" name="Text 99"/>
          <p:cNvSpPr/>
          <p:nvPr/>
        </p:nvSpPr>
        <p:spPr>
          <a:xfrm>
            <a:off x="2967584"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11,390</a:t>
            </a:r>
            <a:endParaRPr lang="en-US" sz="1163" dirty="0"/>
          </a:p>
        </p:txBody>
      </p:sp>
      <p:sp>
        <p:nvSpPr>
          <p:cNvPr id="102" name="Shape 100"/>
          <p:cNvSpPr/>
          <p:nvPr/>
        </p:nvSpPr>
        <p:spPr>
          <a:xfrm>
            <a:off x="4145686" y="3374703"/>
            <a:ext cx="1202369" cy="409539"/>
          </a:xfrm>
          <a:prstGeom prst="rect">
            <a:avLst/>
          </a:prstGeom>
          <a:solidFill>
            <a:srgbClr val="FFFFFF"/>
          </a:solidFill>
          <a:ln/>
        </p:spPr>
        <p:txBody>
          <a:bodyPr/>
          <a:lstStyle/>
          <a:p>
            <a:endParaRPr lang="ko-KR" altLang="en-US"/>
          </a:p>
        </p:txBody>
      </p:sp>
      <p:sp>
        <p:nvSpPr>
          <p:cNvPr id="103" name="Shape 101"/>
          <p:cNvSpPr/>
          <p:nvPr/>
        </p:nvSpPr>
        <p:spPr>
          <a:xfrm>
            <a:off x="4145686" y="3374703"/>
            <a:ext cx="1202369" cy="9525"/>
          </a:xfrm>
          <a:prstGeom prst="rect">
            <a:avLst/>
          </a:prstGeom>
          <a:solidFill>
            <a:srgbClr val="EADFD3"/>
          </a:solidFill>
          <a:ln/>
        </p:spPr>
        <p:txBody>
          <a:bodyPr/>
          <a:lstStyle/>
          <a:p>
            <a:endParaRPr lang="ko-KR" altLang="en-US"/>
          </a:p>
        </p:txBody>
      </p:sp>
      <p:sp>
        <p:nvSpPr>
          <p:cNvPr id="104" name="Shape 102"/>
          <p:cNvSpPr/>
          <p:nvPr/>
        </p:nvSpPr>
        <p:spPr>
          <a:xfrm>
            <a:off x="4145686" y="3374703"/>
            <a:ext cx="9525" cy="409539"/>
          </a:xfrm>
          <a:prstGeom prst="rect">
            <a:avLst/>
          </a:prstGeom>
          <a:solidFill>
            <a:srgbClr val="EADFD3"/>
          </a:solidFill>
          <a:ln/>
        </p:spPr>
        <p:txBody>
          <a:bodyPr/>
          <a:lstStyle/>
          <a:p>
            <a:endParaRPr lang="ko-KR" altLang="en-US"/>
          </a:p>
        </p:txBody>
      </p:sp>
      <p:sp>
        <p:nvSpPr>
          <p:cNvPr id="105" name="Text 103"/>
          <p:cNvSpPr/>
          <p:nvPr/>
        </p:nvSpPr>
        <p:spPr>
          <a:xfrm>
            <a:off x="4169953"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6,880</a:t>
            </a:r>
            <a:endParaRPr lang="en-US" sz="1163" dirty="0"/>
          </a:p>
        </p:txBody>
      </p:sp>
      <p:sp>
        <p:nvSpPr>
          <p:cNvPr id="106" name="Shape 104"/>
          <p:cNvSpPr/>
          <p:nvPr/>
        </p:nvSpPr>
        <p:spPr>
          <a:xfrm>
            <a:off x="5348054" y="3374703"/>
            <a:ext cx="1202369" cy="409539"/>
          </a:xfrm>
          <a:prstGeom prst="rect">
            <a:avLst/>
          </a:prstGeom>
          <a:solidFill>
            <a:srgbClr val="FFFFFF"/>
          </a:solidFill>
          <a:ln/>
        </p:spPr>
        <p:txBody>
          <a:bodyPr/>
          <a:lstStyle/>
          <a:p>
            <a:endParaRPr lang="ko-KR" altLang="en-US"/>
          </a:p>
        </p:txBody>
      </p:sp>
      <p:sp>
        <p:nvSpPr>
          <p:cNvPr id="107" name="Shape 105"/>
          <p:cNvSpPr/>
          <p:nvPr/>
        </p:nvSpPr>
        <p:spPr>
          <a:xfrm>
            <a:off x="5348054" y="3374703"/>
            <a:ext cx="1202369" cy="9525"/>
          </a:xfrm>
          <a:prstGeom prst="rect">
            <a:avLst/>
          </a:prstGeom>
          <a:solidFill>
            <a:srgbClr val="EADFD3"/>
          </a:solidFill>
          <a:ln/>
        </p:spPr>
        <p:txBody>
          <a:bodyPr/>
          <a:lstStyle/>
          <a:p>
            <a:endParaRPr lang="ko-KR" altLang="en-US"/>
          </a:p>
        </p:txBody>
      </p:sp>
      <p:sp>
        <p:nvSpPr>
          <p:cNvPr id="108" name="Shape 106"/>
          <p:cNvSpPr/>
          <p:nvPr/>
        </p:nvSpPr>
        <p:spPr>
          <a:xfrm>
            <a:off x="5348054" y="3374703"/>
            <a:ext cx="9525" cy="409539"/>
          </a:xfrm>
          <a:prstGeom prst="rect">
            <a:avLst/>
          </a:prstGeom>
          <a:solidFill>
            <a:srgbClr val="EADFD3"/>
          </a:solidFill>
          <a:ln/>
        </p:spPr>
        <p:txBody>
          <a:bodyPr/>
          <a:lstStyle/>
          <a:p>
            <a:endParaRPr lang="ko-KR" altLang="en-US"/>
          </a:p>
        </p:txBody>
      </p:sp>
      <p:sp>
        <p:nvSpPr>
          <p:cNvPr id="109" name="Text 107"/>
          <p:cNvSpPr/>
          <p:nvPr/>
        </p:nvSpPr>
        <p:spPr>
          <a:xfrm>
            <a:off x="5372321"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14,110</a:t>
            </a:r>
            <a:endParaRPr lang="en-US" sz="1163" dirty="0"/>
          </a:p>
        </p:txBody>
      </p:sp>
      <p:sp>
        <p:nvSpPr>
          <p:cNvPr id="110" name="Shape 108"/>
          <p:cNvSpPr/>
          <p:nvPr/>
        </p:nvSpPr>
        <p:spPr>
          <a:xfrm>
            <a:off x="6550423" y="3374703"/>
            <a:ext cx="1202369" cy="409539"/>
          </a:xfrm>
          <a:prstGeom prst="rect">
            <a:avLst/>
          </a:prstGeom>
          <a:solidFill>
            <a:srgbClr val="FFFFFF"/>
          </a:solidFill>
          <a:ln/>
        </p:spPr>
        <p:txBody>
          <a:bodyPr/>
          <a:lstStyle/>
          <a:p>
            <a:endParaRPr lang="ko-KR" altLang="en-US"/>
          </a:p>
        </p:txBody>
      </p:sp>
      <p:sp>
        <p:nvSpPr>
          <p:cNvPr id="111" name="Shape 109"/>
          <p:cNvSpPr/>
          <p:nvPr/>
        </p:nvSpPr>
        <p:spPr>
          <a:xfrm>
            <a:off x="6550423" y="3374703"/>
            <a:ext cx="1202369" cy="9525"/>
          </a:xfrm>
          <a:prstGeom prst="rect">
            <a:avLst/>
          </a:prstGeom>
          <a:solidFill>
            <a:srgbClr val="EADFD3"/>
          </a:solidFill>
          <a:ln/>
        </p:spPr>
        <p:txBody>
          <a:bodyPr/>
          <a:lstStyle/>
          <a:p>
            <a:endParaRPr lang="ko-KR" altLang="en-US"/>
          </a:p>
        </p:txBody>
      </p:sp>
      <p:sp>
        <p:nvSpPr>
          <p:cNvPr id="112" name="Shape 110"/>
          <p:cNvSpPr/>
          <p:nvPr/>
        </p:nvSpPr>
        <p:spPr>
          <a:xfrm>
            <a:off x="6550423" y="3374703"/>
            <a:ext cx="9525" cy="409539"/>
          </a:xfrm>
          <a:prstGeom prst="rect">
            <a:avLst/>
          </a:prstGeom>
          <a:solidFill>
            <a:srgbClr val="EADFD3"/>
          </a:solidFill>
          <a:ln/>
        </p:spPr>
        <p:txBody>
          <a:bodyPr/>
          <a:lstStyle/>
          <a:p>
            <a:endParaRPr lang="ko-KR" altLang="en-US"/>
          </a:p>
        </p:txBody>
      </p:sp>
      <p:sp>
        <p:nvSpPr>
          <p:cNvPr id="113" name="Text 111"/>
          <p:cNvSpPr/>
          <p:nvPr/>
        </p:nvSpPr>
        <p:spPr>
          <a:xfrm>
            <a:off x="6574690"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10,660</a:t>
            </a:r>
            <a:endParaRPr lang="en-US" sz="1163" dirty="0"/>
          </a:p>
        </p:txBody>
      </p:sp>
      <p:sp>
        <p:nvSpPr>
          <p:cNvPr id="114" name="Shape 112"/>
          <p:cNvSpPr/>
          <p:nvPr/>
        </p:nvSpPr>
        <p:spPr>
          <a:xfrm>
            <a:off x="7752792" y="3374703"/>
            <a:ext cx="1202369" cy="409539"/>
          </a:xfrm>
          <a:prstGeom prst="rect">
            <a:avLst/>
          </a:prstGeom>
          <a:solidFill>
            <a:srgbClr val="FFFFFF"/>
          </a:solidFill>
          <a:ln/>
        </p:spPr>
        <p:txBody>
          <a:bodyPr/>
          <a:lstStyle/>
          <a:p>
            <a:endParaRPr lang="ko-KR" altLang="en-US"/>
          </a:p>
        </p:txBody>
      </p:sp>
      <p:sp>
        <p:nvSpPr>
          <p:cNvPr id="115" name="Shape 113"/>
          <p:cNvSpPr/>
          <p:nvPr/>
        </p:nvSpPr>
        <p:spPr>
          <a:xfrm>
            <a:off x="7752792" y="3374703"/>
            <a:ext cx="1202369" cy="9525"/>
          </a:xfrm>
          <a:prstGeom prst="rect">
            <a:avLst/>
          </a:prstGeom>
          <a:solidFill>
            <a:srgbClr val="EADFD3"/>
          </a:solidFill>
          <a:ln/>
        </p:spPr>
        <p:txBody>
          <a:bodyPr/>
          <a:lstStyle/>
          <a:p>
            <a:endParaRPr lang="ko-KR" altLang="en-US"/>
          </a:p>
        </p:txBody>
      </p:sp>
      <p:sp>
        <p:nvSpPr>
          <p:cNvPr id="116" name="Shape 114"/>
          <p:cNvSpPr/>
          <p:nvPr/>
        </p:nvSpPr>
        <p:spPr>
          <a:xfrm>
            <a:off x="7752792" y="3374703"/>
            <a:ext cx="9525" cy="409539"/>
          </a:xfrm>
          <a:prstGeom prst="rect">
            <a:avLst/>
          </a:prstGeom>
          <a:solidFill>
            <a:srgbClr val="EADFD3"/>
          </a:solidFill>
          <a:ln/>
        </p:spPr>
        <p:txBody>
          <a:bodyPr/>
          <a:lstStyle/>
          <a:p>
            <a:endParaRPr lang="ko-KR" altLang="en-US"/>
          </a:p>
        </p:txBody>
      </p:sp>
      <p:sp>
        <p:nvSpPr>
          <p:cNvPr id="117" name="Text 115"/>
          <p:cNvSpPr/>
          <p:nvPr/>
        </p:nvSpPr>
        <p:spPr>
          <a:xfrm>
            <a:off x="7777059" y="341802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12,070</a:t>
            </a:r>
            <a:endParaRPr lang="en-US" sz="1163" dirty="0"/>
          </a:p>
        </p:txBody>
      </p:sp>
      <p:sp>
        <p:nvSpPr>
          <p:cNvPr id="118" name="Shape 116"/>
          <p:cNvSpPr/>
          <p:nvPr/>
        </p:nvSpPr>
        <p:spPr>
          <a:xfrm>
            <a:off x="8955161" y="3374703"/>
            <a:ext cx="1202776" cy="409539"/>
          </a:xfrm>
          <a:prstGeom prst="rect">
            <a:avLst/>
          </a:prstGeom>
          <a:solidFill>
            <a:srgbClr val="FFFFFF"/>
          </a:solidFill>
          <a:ln/>
        </p:spPr>
        <p:txBody>
          <a:bodyPr/>
          <a:lstStyle/>
          <a:p>
            <a:endParaRPr lang="ko-KR" altLang="en-US"/>
          </a:p>
        </p:txBody>
      </p:sp>
      <p:sp>
        <p:nvSpPr>
          <p:cNvPr id="119" name="Shape 117"/>
          <p:cNvSpPr/>
          <p:nvPr/>
        </p:nvSpPr>
        <p:spPr>
          <a:xfrm>
            <a:off x="8955161" y="3374703"/>
            <a:ext cx="1202776" cy="9525"/>
          </a:xfrm>
          <a:prstGeom prst="rect">
            <a:avLst/>
          </a:prstGeom>
          <a:solidFill>
            <a:srgbClr val="EADFD3"/>
          </a:solidFill>
          <a:ln/>
        </p:spPr>
        <p:txBody>
          <a:bodyPr/>
          <a:lstStyle/>
          <a:p>
            <a:endParaRPr lang="ko-KR" altLang="en-US"/>
          </a:p>
        </p:txBody>
      </p:sp>
      <p:sp>
        <p:nvSpPr>
          <p:cNvPr id="120" name="Shape 118"/>
          <p:cNvSpPr/>
          <p:nvPr/>
        </p:nvSpPr>
        <p:spPr>
          <a:xfrm>
            <a:off x="8955161" y="3374703"/>
            <a:ext cx="9525" cy="409539"/>
          </a:xfrm>
          <a:prstGeom prst="rect">
            <a:avLst/>
          </a:prstGeom>
          <a:solidFill>
            <a:srgbClr val="EADFD3"/>
          </a:solidFill>
          <a:ln/>
        </p:spPr>
        <p:txBody>
          <a:bodyPr/>
          <a:lstStyle/>
          <a:p>
            <a:endParaRPr lang="ko-KR" altLang="en-US"/>
          </a:p>
        </p:txBody>
      </p:sp>
      <p:sp>
        <p:nvSpPr>
          <p:cNvPr id="121" name="Text 119"/>
          <p:cNvSpPr/>
          <p:nvPr/>
        </p:nvSpPr>
        <p:spPr>
          <a:xfrm>
            <a:off x="8979428" y="3418020"/>
            <a:ext cx="115945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8,030</a:t>
            </a:r>
            <a:endParaRPr lang="en-US" sz="1163" dirty="0"/>
          </a:p>
        </p:txBody>
      </p:sp>
      <p:sp>
        <p:nvSpPr>
          <p:cNvPr id="122" name="Shape 120"/>
          <p:cNvSpPr/>
          <p:nvPr/>
        </p:nvSpPr>
        <p:spPr>
          <a:xfrm>
            <a:off x="538580" y="3784242"/>
            <a:ext cx="1202369" cy="685472"/>
          </a:xfrm>
          <a:prstGeom prst="rect">
            <a:avLst/>
          </a:prstGeom>
          <a:solidFill>
            <a:srgbClr val="F5F7EC"/>
          </a:solidFill>
          <a:ln/>
        </p:spPr>
        <p:txBody>
          <a:bodyPr/>
          <a:lstStyle/>
          <a:p>
            <a:endParaRPr lang="ko-KR" altLang="en-US"/>
          </a:p>
        </p:txBody>
      </p:sp>
      <p:sp>
        <p:nvSpPr>
          <p:cNvPr id="123" name="Shape 121"/>
          <p:cNvSpPr/>
          <p:nvPr/>
        </p:nvSpPr>
        <p:spPr>
          <a:xfrm>
            <a:off x="538580" y="3784242"/>
            <a:ext cx="1202369" cy="9525"/>
          </a:xfrm>
          <a:prstGeom prst="rect">
            <a:avLst/>
          </a:prstGeom>
          <a:solidFill>
            <a:srgbClr val="EADFD3"/>
          </a:solidFill>
          <a:ln/>
        </p:spPr>
        <p:txBody>
          <a:bodyPr/>
          <a:lstStyle/>
          <a:p>
            <a:endParaRPr lang="ko-KR" altLang="en-US"/>
          </a:p>
        </p:txBody>
      </p:sp>
      <p:sp>
        <p:nvSpPr>
          <p:cNvPr id="124" name="Text 122"/>
          <p:cNvSpPr/>
          <p:nvPr/>
        </p:nvSpPr>
        <p:spPr>
          <a:xfrm>
            <a:off x="557630" y="3827559"/>
            <a:ext cx="1164269"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암주요치료 (10년지급)</a:t>
            </a:r>
            <a:endParaRPr lang="en-US" sz="1163" dirty="0"/>
          </a:p>
        </p:txBody>
      </p:sp>
      <p:sp>
        <p:nvSpPr>
          <p:cNvPr id="125" name="Shape 123"/>
          <p:cNvSpPr/>
          <p:nvPr/>
        </p:nvSpPr>
        <p:spPr>
          <a:xfrm>
            <a:off x="1740948" y="3784242"/>
            <a:ext cx="1202369" cy="685472"/>
          </a:xfrm>
          <a:prstGeom prst="rect">
            <a:avLst/>
          </a:prstGeom>
          <a:solidFill>
            <a:srgbClr val="F5F7EC"/>
          </a:solidFill>
          <a:ln/>
        </p:spPr>
        <p:txBody>
          <a:bodyPr/>
          <a:lstStyle/>
          <a:p>
            <a:endParaRPr lang="ko-KR" altLang="en-US"/>
          </a:p>
        </p:txBody>
      </p:sp>
      <p:sp>
        <p:nvSpPr>
          <p:cNvPr id="126" name="Shape 124"/>
          <p:cNvSpPr/>
          <p:nvPr/>
        </p:nvSpPr>
        <p:spPr>
          <a:xfrm>
            <a:off x="1740948" y="3784242"/>
            <a:ext cx="1202369" cy="9525"/>
          </a:xfrm>
          <a:prstGeom prst="rect">
            <a:avLst/>
          </a:prstGeom>
          <a:solidFill>
            <a:srgbClr val="EADFD3"/>
          </a:solidFill>
          <a:ln/>
        </p:spPr>
        <p:txBody>
          <a:bodyPr/>
          <a:lstStyle/>
          <a:p>
            <a:endParaRPr lang="ko-KR" altLang="en-US"/>
          </a:p>
        </p:txBody>
      </p:sp>
      <p:sp>
        <p:nvSpPr>
          <p:cNvPr id="127" name="Shape 125"/>
          <p:cNvSpPr/>
          <p:nvPr/>
        </p:nvSpPr>
        <p:spPr>
          <a:xfrm>
            <a:off x="1740948" y="3784242"/>
            <a:ext cx="9525" cy="685472"/>
          </a:xfrm>
          <a:prstGeom prst="rect">
            <a:avLst/>
          </a:prstGeom>
          <a:solidFill>
            <a:srgbClr val="EADFD3"/>
          </a:solidFill>
          <a:ln/>
        </p:spPr>
        <p:txBody>
          <a:bodyPr/>
          <a:lstStyle/>
          <a:p>
            <a:endParaRPr lang="ko-KR" altLang="en-US"/>
          </a:p>
        </p:txBody>
      </p:sp>
      <p:sp>
        <p:nvSpPr>
          <p:cNvPr id="128" name="Text 126"/>
          <p:cNvSpPr/>
          <p:nvPr/>
        </p:nvSpPr>
        <p:spPr>
          <a:xfrm>
            <a:off x="1765215"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29" name="Shape 127"/>
          <p:cNvSpPr/>
          <p:nvPr/>
        </p:nvSpPr>
        <p:spPr>
          <a:xfrm>
            <a:off x="2943317" y="3784242"/>
            <a:ext cx="1202369" cy="685472"/>
          </a:xfrm>
          <a:prstGeom prst="rect">
            <a:avLst/>
          </a:prstGeom>
          <a:solidFill>
            <a:srgbClr val="FFFFFF"/>
          </a:solidFill>
          <a:ln/>
        </p:spPr>
        <p:txBody>
          <a:bodyPr/>
          <a:lstStyle/>
          <a:p>
            <a:endParaRPr lang="ko-KR" altLang="en-US"/>
          </a:p>
        </p:txBody>
      </p:sp>
      <p:sp>
        <p:nvSpPr>
          <p:cNvPr id="130" name="Shape 128"/>
          <p:cNvSpPr/>
          <p:nvPr/>
        </p:nvSpPr>
        <p:spPr>
          <a:xfrm>
            <a:off x="2943317" y="3784242"/>
            <a:ext cx="1202369" cy="9525"/>
          </a:xfrm>
          <a:prstGeom prst="rect">
            <a:avLst/>
          </a:prstGeom>
          <a:solidFill>
            <a:srgbClr val="EADFD3"/>
          </a:solidFill>
          <a:ln/>
        </p:spPr>
        <p:txBody>
          <a:bodyPr/>
          <a:lstStyle/>
          <a:p>
            <a:endParaRPr lang="ko-KR" altLang="en-US"/>
          </a:p>
        </p:txBody>
      </p:sp>
      <p:sp>
        <p:nvSpPr>
          <p:cNvPr id="131" name="Shape 129"/>
          <p:cNvSpPr/>
          <p:nvPr/>
        </p:nvSpPr>
        <p:spPr>
          <a:xfrm>
            <a:off x="2943317" y="3784242"/>
            <a:ext cx="9525" cy="685472"/>
          </a:xfrm>
          <a:prstGeom prst="rect">
            <a:avLst/>
          </a:prstGeom>
          <a:solidFill>
            <a:srgbClr val="EADFD3"/>
          </a:solidFill>
          <a:ln/>
        </p:spPr>
        <p:txBody>
          <a:bodyPr/>
          <a:lstStyle/>
          <a:p>
            <a:endParaRPr lang="ko-KR" altLang="en-US"/>
          </a:p>
        </p:txBody>
      </p:sp>
      <p:sp>
        <p:nvSpPr>
          <p:cNvPr id="132" name="Text 130"/>
          <p:cNvSpPr/>
          <p:nvPr/>
        </p:nvSpPr>
        <p:spPr>
          <a:xfrm>
            <a:off x="2967584"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18,060</a:t>
            </a:r>
            <a:endParaRPr lang="en-US" sz="1163" dirty="0"/>
          </a:p>
        </p:txBody>
      </p:sp>
      <p:sp>
        <p:nvSpPr>
          <p:cNvPr id="133" name="Shape 131"/>
          <p:cNvSpPr/>
          <p:nvPr/>
        </p:nvSpPr>
        <p:spPr>
          <a:xfrm>
            <a:off x="4145686" y="3784242"/>
            <a:ext cx="1202369" cy="685472"/>
          </a:xfrm>
          <a:prstGeom prst="rect">
            <a:avLst/>
          </a:prstGeom>
          <a:solidFill>
            <a:srgbClr val="FFFFFF"/>
          </a:solidFill>
          <a:ln/>
        </p:spPr>
        <p:txBody>
          <a:bodyPr/>
          <a:lstStyle/>
          <a:p>
            <a:endParaRPr lang="ko-KR" altLang="en-US"/>
          </a:p>
        </p:txBody>
      </p:sp>
      <p:sp>
        <p:nvSpPr>
          <p:cNvPr id="134" name="Shape 132"/>
          <p:cNvSpPr/>
          <p:nvPr/>
        </p:nvSpPr>
        <p:spPr>
          <a:xfrm>
            <a:off x="4145686" y="3784242"/>
            <a:ext cx="1202369" cy="9525"/>
          </a:xfrm>
          <a:prstGeom prst="rect">
            <a:avLst/>
          </a:prstGeom>
          <a:solidFill>
            <a:srgbClr val="EADFD3"/>
          </a:solidFill>
          <a:ln/>
        </p:spPr>
        <p:txBody>
          <a:bodyPr/>
          <a:lstStyle/>
          <a:p>
            <a:endParaRPr lang="ko-KR" altLang="en-US"/>
          </a:p>
        </p:txBody>
      </p:sp>
      <p:sp>
        <p:nvSpPr>
          <p:cNvPr id="135" name="Shape 133"/>
          <p:cNvSpPr/>
          <p:nvPr/>
        </p:nvSpPr>
        <p:spPr>
          <a:xfrm>
            <a:off x="4145686" y="3784242"/>
            <a:ext cx="9525" cy="685472"/>
          </a:xfrm>
          <a:prstGeom prst="rect">
            <a:avLst/>
          </a:prstGeom>
          <a:solidFill>
            <a:srgbClr val="EADFD3"/>
          </a:solidFill>
          <a:ln/>
        </p:spPr>
        <p:txBody>
          <a:bodyPr/>
          <a:lstStyle/>
          <a:p>
            <a:endParaRPr lang="ko-KR" altLang="en-US"/>
          </a:p>
        </p:txBody>
      </p:sp>
      <p:sp>
        <p:nvSpPr>
          <p:cNvPr id="136" name="Text 134"/>
          <p:cNvSpPr/>
          <p:nvPr/>
        </p:nvSpPr>
        <p:spPr>
          <a:xfrm>
            <a:off x="4169953"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11,583</a:t>
            </a:r>
            <a:endParaRPr lang="en-US" sz="1163" dirty="0"/>
          </a:p>
        </p:txBody>
      </p:sp>
      <p:sp>
        <p:nvSpPr>
          <p:cNvPr id="137" name="Shape 135"/>
          <p:cNvSpPr/>
          <p:nvPr/>
        </p:nvSpPr>
        <p:spPr>
          <a:xfrm>
            <a:off x="5348054" y="3784242"/>
            <a:ext cx="1202369" cy="685472"/>
          </a:xfrm>
          <a:prstGeom prst="rect">
            <a:avLst/>
          </a:prstGeom>
          <a:solidFill>
            <a:srgbClr val="FFFFFF"/>
          </a:solidFill>
          <a:ln/>
        </p:spPr>
        <p:txBody>
          <a:bodyPr/>
          <a:lstStyle/>
          <a:p>
            <a:endParaRPr lang="ko-KR" altLang="en-US"/>
          </a:p>
        </p:txBody>
      </p:sp>
      <p:sp>
        <p:nvSpPr>
          <p:cNvPr id="138" name="Shape 136"/>
          <p:cNvSpPr/>
          <p:nvPr/>
        </p:nvSpPr>
        <p:spPr>
          <a:xfrm>
            <a:off x="5348054" y="3784242"/>
            <a:ext cx="1202369" cy="9525"/>
          </a:xfrm>
          <a:prstGeom prst="rect">
            <a:avLst/>
          </a:prstGeom>
          <a:solidFill>
            <a:srgbClr val="EADFD3"/>
          </a:solidFill>
          <a:ln/>
        </p:spPr>
        <p:txBody>
          <a:bodyPr/>
          <a:lstStyle/>
          <a:p>
            <a:endParaRPr lang="ko-KR" altLang="en-US"/>
          </a:p>
        </p:txBody>
      </p:sp>
      <p:sp>
        <p:nvSpPr>
          <p:cNvPr id="139" name="Shape 137"/>
          <p:cNvSpPr/>
          <p:nvPr/>
        </p:nvSpPr>
        <p:spPr>
          <a:xfrm>
            <a:off x="5348054" y="3784242"/>
            <a:ext cx="9525" cy="685472"/>
          </a:xfrm>
          <a:prstGeom prst="rect">
            <a:avLst/>
          </a:prstGeom>
          <a:solidFill>
            <a:srgbClr val="EADFD3"/>
          </a:solidFill>
          <a:ln/>
        </p:spPr>
        <p:txBody>
          <a:bodyPr/>
          <a:lstStyle/>
          <a:p>
            <a:endParaRPr lang="ko-KR" altLang="en-US"/>
          </a:p>
        </p:txBody>
      </p:sp>
      <p:sp>
        <p:nvSpPr>
          <p:cNvPr id="140" name="Text 138"/>
          <p:cNvSpPr/>
          <p:nvPr/>
        </p:nvSpPr>
        <p:spPr>
          <a:xfrm>
            <a:off x="5372321"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20,214</a:t>
            </a:r>
            <a:endParaRPr lang="en-US" sz="1163" dirty="0"/>
          </a:p>
        </p:txBody>
      </p:sp>
      <p:sp>
        <p:nvSpPr>
          <p:cNvPr id="141" name="Shape 139"/>
          <p:cNvSpPr/>
          <p:nvPr/>
        </p:nvSpPr>
        <p:spPr>
          <a:xfrm>
            <a:off x="6550423" y="3784242"/>
            <a:ext cx="1202369" cy="685472"/>
          </a:xfrm>
          <a:prstGeom prst="rect">
            <a:avLst/>
          </a:prstGeom>
          <a:solidFill>
            <a:srgbClr val="FFFFFF"/>
          </a:solidFill>
          <a:ln/>
        </p:spPr>
        <p:txBody>
          <a:bodyPr/>
          <a:lstStyle/>
          <a:p>
            <a:endParaRPr lang="ko-KR" altLang="en-US"/>
          </a:p>
        </p:txBody>
      </p:sp>
      <p:sp>
        <p:nvSpPr>
          <p:cNvPr id="142" name="Shape 140"/>
          <p:cNvSpPr/>
          <p:nvPr/>
        </p:nvSpPr>
        <p:spPr>
          <a:xfrm>
            <a:off x="6550423" y="3784242"/>
            <a:ext cx="1202369" cy="9525"/>
          </a:xfrm>
          <a:prstGeom prst="rect">
            <a:avLst/>
          </a:prstGeom>
          <a:solidFill>
            <a:srgbClr val="EADFD3"/>
          </a:solidFill>
          <a:ln/>
        </p:spPr>
        <p:txBody>
          <a:bodyPr/>
          <a:lstStyle/>
          <a:p>
            <a:endParaRPr lang="ko-KR" altLang="en-US"/>
          </a:p>
        </p:txBody>
      </p:sp>
      <p:sp>
        <p:nvSpPr>
          <p:cNvPr id="143" name="Shape 141"/>
          <p:cNvSpPr/>
          <p:nvPr/>
        </p:nvSpPr>
        <p:spPr>
          <a:xfrm>
            <a:off x="6550423" y="3784242"/>
            <a:ext cx="9525" cy="685472"/>
          </a:xfrm>
          <a:prstGeom prst="rect">
            <a:avLst/>
          </a:prstGeom>
          <a:solidFill>
            <a:srgbClr val="EADFD3"/>
          </a:solidFill>
          <a:ln/>
        </p:spPr>
        <p:txBody>
          <a:bodyPr/>
          <a:lstStyle/>
          <a:p>
            <a:endParaRPr lang="ko-KR" altLang="en-US"/>
          </a:p>
        </p:txBody>
      </p:sp>
      <p:sp>
        <p:nvSpPr>
          <p:cNvPr id="144" name="Text 142"/>
          <p:cNvSpPr/>
          <p:nvPr/>
        </p:nvSpPr>
        <p:spPr>
          <a:xfrm>
            <a:off x="6574690"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17,410</a:t>
            </a:r>
            <a:endParaRPr lang="en-US" sz="1163" dirty="0"/>
          </a:p>
        </p:txBody>
      </p:sp>
      <p:sp>
        <p:nvSpPr>
          <p:cNvPr id="145" name="Shape 143"/>
          <p:cNvSpPr/>
          <p:nvPr/>
        </p:nvSpPr>
        <p:spPr>
          <a:xfrm>
            <a:off x="7752792" y="3784242"/>
            <a:ext cx="1202369" cy="685472"/>
          </a:xfrm>
          <a:prstGeom prst="rect">
            <a:avLst/>
          </a:prstGeom>
          <a:solidFill>
            <a:srgbClr val="FFFFFF"/>
          </a:solidFill>
          <a:ln/>
        </p:spPr>
        <p:txBody>
          <a:bodyPr/>
          <a:lstStyle/>
          <a:p>
            <a:endParaRPr lang="ko-KR" altLang="en-US"/>
          </a:p>
        </p:txBody>
      </p:sp>
      <p:sp>
        <p:nvSpPr>
          <p:cNvPr id="146" name="Shape 144"/>
          <p:cNvSpPr/>
          <p:nvPr/>
        </p:nvSpPr>
        <p:spPr>
          <a:xfrm>
            <a:off x="7752792" y="3784242"/>
            <a:ext cx="1202369" cy="9525"/>
          </a:xfrm>
          <a:prstGeom prst="rect">
            <a:avLst/>
          </a:prstGeom>
          <a:solidFill>
            <a:srgbClr val="EADFD3"/>
          </a:solidFill>
          <a:ln/>
        </p:spPr>
        <p:txBody>
          <a:bodyPr/>
          <a:lstStyle/>
          <a:p>
            <a:endParaRPr lang="ko-KR" altLang="en-US"/>
          </a:p>
        </p:txBody>
      </p:sp>
      <p:sp>
        <p:nvSpPr>
          <p:cNvPr id="147" name="Shape 145"/>
          <p:cNvSpPr/>
          <p:nvPr/>
        </p:nvSpPr>
        <p:spPr>
          <a:xfrm>
            <a:off x="7752792" y="3784242"/>
            <a:ext cx="9525" cy="685472"/>
          </a:xfrm>
          <a:prstGeom prst="rect">
            <a:avLst/>
          </a:prstGeom>
          <a:solidFill>
            <a:srgbClr val="EADFD3"/>
          </a:solidFill>
          <a:ln/>
        </p:spPr>
        <p:txBody>
          <a:bodyPr/>
          <a:lstStyle/>
          <a:p>
            <a:endParaRPr lang="ko-KR" altLang="en-US"/>
          </a:p>
        </p:txBody>
      </p:sp>
      <p:sp>
        <p:nvSpPr>
          <p:cNvPr id="148" name="Text 146"/>
          <p:cNvSpPr/>
          <p:nvPr/>
        </p:nvSpPr>
        <p:spPr>
          <a:xfrm>
            <a:off x="7777059" y="382755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22,570</a:t>
            </a:r>
            <a:endParaRPr lang="en-US" sz="1163" dirty="0"/>
          </a:p>
        </p:txBody>
      </p:sp>
      <p:sp>
        <p:nvSpPr>
          <p:cNvPr id="149" name="Shape 147"/>
          <p:cNvSpPr/>
          <p:nvPr/>
        </p:nvSpPr>
        <p:spPr>
          <a:xfrm>
            <a:off x="8955161" y="3784242"/>
            <a:ext cx="1202776" cy="685472"/>
          </a:xfrm>
          <a:prstGeom prst="rect">
            <a:avLst/>
          </a:prstGeom>
          <a:solidFill>
            <a:srgbClr val="FFFFFF"/>
          </a:solidFill>
          <a:ln/>
        </p:spPr>
        <p:txBody>
          <a:bodyPr/>
          <a:lstStyle/>
          <a:p>
            <a:endParaRPr lang="ko-KR" altLang="en-US"/>
          </a:p>
        </p:txBody>
      </p:sp>
      <p:sp>
        <p:nvSpPr>
          <p:cNvPr id="150" name="Shape 148"/>
          <p:cNvSpPr/>
          <p:nvPr/>
        </p:nvSpPr>
        <p:spPr>
          <a:xfrm>
            <a:off x="8955161" y="3784242"/>
            <a:ext cx="1202776" cy="9525"/>
          </a:xfrm>
          <a:prstGeom prst="rect">
            <a:avLst/>
          </a:prstGeom>
          <a:solidFill>
            <a:srgbClr val="EADFD3"/>
          </a:solidFill>
          <a:ln/>
        </p:spPr>
        <p:txBody>
          <a:bodyPr/>
          <a:lstStyle/>
          <a:p>
            <a:endParaRPr lang="ko-KR" altLang="en-US"/>
          </a:p>
        </p:txBody>
      </p:sp>
      <p:sp>
        <p:nvSpPr>
          <p:cNvPr id="151" name="Shape 149"/>
          <p:cNvSpPr/>
          <p:nvPr/>
        </p:nvSpPr>
        <p:spPr>
          <a:xfrm>
            <a:off x="8955161" y="3784242"/>
            <a:ext cx="9525" cy="685472"/>
          </a:xfrm>
          <a:prstGeom prst="rect">
            <a:avLst/>
          </a:prstGeom>
          <a:solidFill>
            <a:srgbClr val="EADFD3"/>
          </a:solidFill>
          <a:ln/>
        </p:spPr>
        <p:txBody>
          <a:bodyPr/>
          <a:lstStyle/>
          <a:p>
            <a:endParaRPr lang="ko-KR" altLang="en-US"/>
          </a:p>
        </p:txBody>
      </p:sp>
      <p:sp>
        <p:nvSpPr>
          <p:cNvPr id="152" name="Text 150"/>
          <p:cNvSpPr/>
          <p:nvPr/>
        </p:nvSpPr>
        <p:spPr>
          <a:xfrm>
            <a:off x="8979428" y="3827559"/>
            <a:ext cx="1159459"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16,090</a:t>
            </a:r>
            <a:endParaRPr lang="en-US" sz="1163" dirty="0"/>
          </a:p>
        </p:txBody>
      </p:sp>
      <p:sp>
        <p:nvSpPr>
          <p:cNvPr id="153" name="Shape 151"/>
          <p:cNvSpPr/>
          <p:nvPr/>
        </p:nvSpPr>
        <p:spPr>
          <a:xfrm>
            <a:off x="538580" y="4469714"/>
            <a:ext cx="1202369" cy="409539"/>
          </a:xfrm>
          <a:prstGeom prst="rect">
            <a:avLst/>
          </a:prstGeom>
          <a:solidFill>
            <a:srgbClr val="F5F7EC"/>
          </a:solidFill>
          <a:ln/>
        </p:spPr>
        <p:txBody>
          <a:bodyPr/>
          <a:lstStyle/>
          <a:p>
            <a:endParaRPr lang="ko-KR" altLang="en-US"/>
          </a:p>
        </p:txBody>
      </p:sp>
      <p:sp>
        <p:nvSpPr>
          <p:cNvPr id="154" name="Shape 152"/>
          <p:cNvSpPr/>
          <p:nvPr/>
        </p:nvSpPr>
        <p:spPr>
          <a:xfrm>
            <a:off x="538580" y="4469714"/>
            <a:ext cx="1202369" cy="9525"/>
          </a:xfrm>
          <a:prstGeom prst="rect">
            <a:avLst/>
          </a:prstGeom>
          <a:solidFill>
            <a:srgbClr val="EADFD3"/>
          </a:solidFill>
          <a:ln/>
        </p:spPr>
        <p:txBody>
          <a:bodyPr/>
          <a:lstStyle/>
          <a:p>
            <a:endParaRPr lang="ko-KR" altLang="en-US"/>
          </a:p>
        </p:txBody>
      </p:sp>
      <p:sp>
        <p:nvSpPr>
          <p:cNvPr id="155" name="Text 153"/>
          <p:cNvSpPr/>
          <p:nvPr/>
        </p:nvSpPr>
        <p:spPr>
          <a:xfrm>
            <a:off x="557630" y="4513031"/>
            <a:ext cx="116426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뇌혈관진단</a:t>
            </a:r>
            <a:endParaRPr lang="en-US" sz="1163" dirty="0"/>
          </a:p>
        </p:txBody>
      </p:sp>
      <p:sp>
        <p:nvSpPr>
          <p:cNvPr id="156" name="Shape 154"/>
          <p:cNvSpPr/>
          <p:nvPr/>
        </p:nvSpPr>
        <p:spPr>
          <a:xfrm>
            <a:off x="1740948" y="4469714"/>
            <a:ext cx="1202369" cy="409539"/>
          </a:xfrm>
          <a:prstGeom prst="rect">
            <a:avLst/>
          </a:prstGeom>
          <a:solidFill>
            <a:srgbClr val="F5F7EC"/>
          </a:solidFill>
          <a:ln/>
        </p:spPr>
        <p:txBody>
          <a:bodyPr/>
          <a:lstStyle/>
          <a:p>
            <a:endParaRPr lang="ko-KR" altLang="en-US"/>
          </a:p>
        </p:txBody>
      </p:sp>
      <p:sp>
        <p:nvSpPr>
          <p:cNvPr id="157" name="Shape 155"/>
          <p:cNvSpPr/>
          <p:nvPr/>
        </p:nvSpPr>
        <p:spPr>
          <a:xfrm>
            <a:off x="1740948" y="4469714"/>
            <a:ext cx="1202369" cy="9525"/>
          </a:xfrm>
          <a:prstGeom prst="rect">
            <a:avLst/>
          </a:prstGeom>
          <a:solidFill>
            <a:srgbClr val="EADFD3"/>
          </a:solidFill>
          <a:ln/>
        </p:spPr>
        <p:txBody>
          <a:bodyPr/>
          <a:lstStyle/>
          <a:p>
            <a:endParaRPr lang="ko-KR" altLang="en-US"/>
          </a:p>
        </p:txBody>
      </p:sp>
      <p:sp>
        <p:nvSpPr>
          <p:cNvPr id="158" name="Shape 156"/>
          <p:cNvSpPr/>
          <p:nvPr/>
        </p:nvSpPr>
        <p:spPr>
          <a:xfrm>
            <a:off x="1740948" y="4469714"/>
            <a:ext cx="9525" cy="409539"/>
          </a:xfrm>
          <a:prstGeom prst="rect">
            <a:avLst/>
          </a:prstGeom>
          <a:solidFill>
            <a:srgbClr val="EADFD3"/>
          </a:solidFill>
          <a:ln/>
        </p:spPr>
        <p:txBody>
          <a:bodyPr/>
          <a:lstStyle/>
          <a:p>
            <a:endParaRPr lang="ko-KR" altLang="en-US"/>
          </a:p>
        </p:txBody>
      </p:sp>
      <p:sp>
        <p:nvSpPr>
          <p:cNvPr id="159" name="Text 157"/>
          <p:cNvSpPr/>
          <p:nvPr/>
        </p:nvSpPr>
        <p:spPr>
          <a:xfrm>
            <a:off x="1765215"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60" name="Shape 158"/>
          <p:cNvSpPr/>
          <p:nvPr/>
        </p:nvSpPr>
        <p:spPr>
          <a:xfrm>
            <a:off x="2943317" y="4469714"/>
            <a:ext cx="1202369" cy="409539"/>
          </a:xfrm>
          <a:prstGeom prst="rect">
            <a:avLst/>
          </a:prstGeom>
          <a:solidFill>
            <a:srgbClr val="FFFFFF"/>
          </a:solidFill>
          <a:ln/>
        </p:spPr>
        <p:txBody>
          <a:bodyPr/>
          <a:lstStyle/>
          <a:p>
            <a:endParaRPr lang="ko-KR" altLang="en-US"/>
          </a:p>
        </p:txBody>
      </p:sp>
      <p:sp>
        <p:nvSpPr>
          <p:cNvPr id="161" name="Shape 159"/>
          <p:cNvSpPr/>
          <p:nvPr/>
        </p:nvSpPr>
        <p:spPr>
          <a:xfrm>
            <a:off x="2943317" y="4469714"/>
            <a:ext cx="1202369" cy="9525"/>
          </a:xfrm>
          <a:prstGeom prst="rect">
            <a:avLst/>
          </a:prstGeom>
          <a:solidFill>
            <a:srgbClr val="EADFD3"/>
          </a:solidFill>
          <a:ln/>
        </p:spPr>
        <p:txBody>
          <a:bodyPr/>
          <a:lstStyle/>
          <a:p>
            <a:endParaRPr lang="ko-KR" altLang="en-US"/>
          </a:p>
        </p:txBody>
      </p:sp>
      <p:sp>
        <p:nvSpPr>
          <p:cNvPr id="162" name="Shape 160"/>
          <p:cNvSpPr/>
          <p:nvPr/>
        </p:nvSpPr>
        <p:spPr>
          <a:xfrm>
            <a:off x="2943317" y="4469714"/>
            <a:ext cx="9525" cy="409539"/>
          </a:xfrm>
          <a:prstGeom prst="rect">
            <a:avLst/>
          </a:prstGeom>
          <a:solidFill>
            <a:srgbClr val="EADFD3"/>
          </a:solidFill>
          <a:ln/>
        </p:spPr>
        <p:txBody>
          <a:bodyPr/>
          <a:lstStyle/>
          <a:p>
            <a:endParaRPr lang="ko-KR" altLang="en-US"/>
          </a:p>
        </p:txBody>
      </p:sp>
      <p:sp>
        <p:nvSpPr>
          <p:cNvPr id="163" name="Text 161"/>
          <p:cNvSpPr/>
          <p:nvPr/>
        </p:nvSpPr>
        <p:spPr>
          <a:xfrm>
            <a:off x="2967584"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9,290</a:t>
            </a:r>
            <a:endParaRPr lang="en-US" sz="1163" dirty="0"/>
          </a:p>
        </p:txBody>
      </p:sp>
      <p:sp>
        <p:nvSpPr>
          <p:cNvPr id="164" name="Shape 162"/>
          <p:cNvSpPr/>
          <p:nvPr/>
        </p:nvSpPr>
        <p:spPr>
          <a:xfrm>
            <a:off x="4145686" y="4469714"/>
            <a:ext cx="1202369" cy="409539"/>
          </a:xfrm>
          <a:prstGeom prst="rect">
            <a:avLst/>
          </a:prstGeom>
          <a:solidFill>
            <a:srgbClr val="FFFFFF"/>
          </a:solidFill>
          <a:ln/>
        </p:spPr>
        <p:txBody>
          <a:bodyPr/>
          <a:lstStyle/>
          <a:p>
            <a:endParaRPr lang="ko-KR" altLang="en-US"/>
          </a:p>
        </p:txBody>
      </p:sp>
      <p:sp>
        <p:nvSpPr>
          <p:cNvPr id="165" name="Shape 163"/>
          <p:cNvSpPr/>
          <p:nvPr/>
        </p:nvSpPr>
        <p:spPr>
          <a:xfrm>
            <a:off x="4145686" y="4469714"/>
            <a:ext cx="1202369" cy="9525"/>
          </a:xfrm>
          <a:prstGeom prst="rect">
            <a:avLst/>
          </a:prstGeom>
          <a:solidFill>
            <a:srgbClr val="EADFD3"/>
          </a:solidFill>
          <a:ln/>
        </p:spPr>
        <p:txBody>
          <a:bodyPr/>
          <a:lstStyle/>
          <a:p>
            <a:endParaRPr lang="ko-KR" altLang="en-US"/>
          </a:p>
        </p:txBody>
      </p:sp>
      <p:sp>
        <p:nvSpPr>
          <p:cNvPr id="166" name="Shape 164"/>
          <p:cNvSpPr/>
          <p:nvPr/>
        </p:nvSpPr>
        <p:spPr>
          <a:xfrm>
            <a:off x="4145686" y="4469714"/>
            <a:ext cx="9525" cy="409539"/>
          </a:xfrm>
          <a:prstGeom prst="rect">
            <a:avLst/>
          </a:prstGeom>
          <a:solidFill>
            <a:srgbClr val="EADFD3"/>
          </a:solidFill>
          <a:ln/>
        </p:spPr>
        <p:txBody>
          <a:bodyPr/>
          <a:lstStyle/>
          <a:p>
            <a:endParaRPr lang="ko-KR" altLang="en-US"/>
          </a:p>
        </p:txBody>
      </p:sp>
      <p:sp>
        <p:nvSpPr>
          <p:cNvPr id="167" name="Text 165"/>
          <p:cNvSpPr/>
          <p:nvPr/>
        </p:nvSpPr>
        <p:spPr>
          <a:xfrm>
            <a:off x="4169953"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7,340</a:t>
            </a:r>
            <a:endParaRPr lang="en-US" sz="1163" dirty="0"/>
          </a:p>
        </p:txBody>
      </p:sp>
      <p:sp>
        <p:nvSpPr>
          <p:cNvPr id="168" name="Shape 166"/>
          <p:cNvSpPr/>
          <p:nvPr/>
        </p:nvSpPr>
        <p:spPr>
          <a:xfrm>
            <a:off x="5348054" y="4469714"/>
            <a:ext cx="1202369" cy="409539"/>
          </a:xfrm>
          <a:prstGeom prst="rect">
            <a:avLst/>
          </a:prstGeom>
          <a:solidFill>
            <a:srgbClr val="FFFFFF"/>
          </a:solidFill>
          <a:ln/>
        </p:spPr>
        <p:txBody>
          <a:bodyPr/>
          <a:lstStyle/>
          <a:p>
            <a:endParaRPr lang="ko-KR" altLang="en-US"/>
          </a:p>
        </p:txBody>
      </p:sp>
      <p:sp>
        <p:nvSpPr>
          <p:cNvPr id="169" name="Shape 167"/>
          <p:cNvSpPr/>
          <p:nvPr/>
        </p:nvSpPr>
        <p:spPr>
          <a:xfrm>
            <a:off x="5348054" y="4469714"/>
            <a:ext cx="1202369" cy="9525"/>
          </a:xfrm>
          <a:prstGeom prst="rect">
            <a:avLst/>
          </a:prstGeom>
          <a:solidFill>
            <a:srgbClr val="EADFD3"/>
          </a:solidFill>
          <a:ln/>
        </p:spPr>
        <p:txBody>
          <a:bodyPr/>
          <a:lstStyle/>
          <a:p>
            <a:endParaRPr lang="ko-KR" altLang="en-US"/>
          </a:p>
        </p:txBody>
      </p:sp>
      <p:sp>
        <p:nvSpPr>
          <p:cNvPr id="170" name="Shape 168"/>
          <p:cNvSpPr/>
          <p:nvPr/>
        </p:nvSpPr>
        <p:spPr>
          <a:xfrm>
            <a:off x="5348054" y="4469714"/>
            <a:ext cx="9525" cy="409539"/>
          </a:xfrm>
          <a:prstGeom prst="rect">
            <a:avLst/>
          </a:prstGeom>
          <a:solidFill>
            <a:srgbClr val="EADFD3"/>
          </a:solidFill>
          <a:ln/>
        </p:spPr>
        <p:txBody>
          <a:bodyPr/>
          <a:lstStyle/>
          <a:p>
            <a:endParaRPr lang="ko-KR" altLang="en-US"/>
          </a:p>
        </p:txBody>
      </p:sp>
      <p:sp>
        <p:nvSpPr>
          <p:cNvPr id="171" name="Text 169"/>
          <p:cNvSpPr/>
          <p:nvPr/>
        </p:nvSpPr>
        <p:spPr>
          <a:xfrm>
            <a:off x="5372321"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9,190</a:t>
            </a:r>
            <a:endParaRPr lang="en-US" sz="1163" dirty="0"/>
          </a:p>
        </p:txBody>
      </p:sp>
      <p:sp>
        <p:nvSpPr>
          <p:cNvPr id="172" name="Shape 170"/>
          <p:cNvSpPr/>
          <p:nvPr/>
        </p:nvSpPr>
        <p:spPr>
          <a:xfrm>
            <a:off x="6550423" y="4469714"/>
            <a:ext cx="1202369" cy="409539"/>
          </a:xfrm>
          <a:prstGeom prst="rect">
            <a:avLst/>
          </a:prstGeom>
          <a:solidFill>
            <a:srgbClr val="FFFFFF"/>
          </a:solidFill>
          <a:ln/>
        </p:spPr>
        <p:txBody>
          <a:bodyPr/>
          <a:lstStyle/>
          <a:p>
            <a:endParaRPr lang="ko-KR" altLang="en-US"/>
          </a:p>
        </p:txBody>
      </p:sp>
      <p:sp>
        <p:nvSpPr>
          <p:cNvPr id="173" name="Shape 171"/>
          <p:cNvSpPr/>
          <p:nvPr/>
        </p:nvSpPr>
        <p:spPr>
          <a:xfrm>
            <a:off x="6550423" y="4469714"/>
            <a:ext cx="1202369" cy="9525"/>
          </a:xfrm>
          <a:prstGeom prst="rect">
            <a:avLst/>
          </a:prstGeom>
          <a:solidFill>
            <a:srgbClr val="EADFD3"/>
          </a:solidFill>
          <a:ln/>
        </p:spPr>
        <p:txBody>
          <a:bodyPr/>
          <a:lstStyle/>
          <a:p>
            <a:endParaRPr lang="ko-KR" altLang="en-US"/>
          </a:p>
        </p:txBody>
      </p:sp>
      <p:sp>
        <p:nvSpPr>
          <p:cNvPr id="174" name="Shape 172"/>
          <p:cNvSpPr/>
          <p:nvPr/>
        </p:nvSpPr>
        <p:spPr>
          <a:xfrm>
            <a:off x="6550423" y="4469714"/>
            <a:ext cx="9525" cy="409539"/>
          </a:xfrm>
          <a:prstGeom prst="rect">
            <a:avLst/>
          </a:prstGeom>
          <a:solidFill>
            <a:srgbClr val="EADFD3"/>
          </a:solidFill>
          <a:ln/>
        </p:spPr>
        <p:txBody>
          <a:bodyPr/>
          <a:lstStyle/>
          <a:p>
            <a:endParaRPr lang="ko-KR" altLang="en-US"/>
          </a:p>
        </p:txBody>
      </p:sp>
      <p:sp>
        <p:nvSpPr>
          <p:cNvPr id="175" name="Text 173"/>
          <p:cNvSpPr/>
          <p:nvPr/>
        </p:nvSpPr>
        <p:spPr>
          <a:xfrm>
            <a:off x="6574690"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8,290</a:t>
            </a:r>
            <a:endParaRPr lang="en-US" sz="1163" dirty="0"/>
          </a:p>
        </p:txBody>
      </p:sp>
      <p:sp>
        <p:nvSpPr>
          <p:cNvPr id="176" name="Shape 174"/>
          <p:cNvSpPr/>
          <p:nvPr/>
        </p:nvSpPr>
        <p:spPr>
          <a:xfrm>
            <a:off x="7752792" y="4469714"/>
            <a:ext cx="1202369" cy="409539"/>
          </a:xfrm>
          <a:prstGeom prst="rect">
            <a:avLst/>
          </a:prstGeom>
          <a:solidFill>
            <a:srgbClr val="FFFFFF"/>
          </a:solidFill>
          <a:ln/>
        </p:spPr>
        <p:txBody>
          <a:bodyPr/>
          <a:lstStyle/>
          <a:p>
            <a:endParaRPr lang="ko-KR" altLang="en-US"/>
          </a:p>
        </p:txBody>
      </p:sp>
      <p:sp>
        <p:nvSpPr>
          <p:cNvPr id="177" name="Shape 175"/>
          <p:cNvSpPr/>
          <p:nvPr/>
        </p:nvSpPr>
        <p:spPr>
          <a:xfrm>
            <a:off x="7752792" y="4469714"/>
            <a:ext cx="1202369" cy="9525"/>
          </a:xfrm>
          <a:prstGeom prst="rect">
            <a:avLst/>
          </a:prstGeom>
          <a:solidFill>
            <a:srgbClr val="EADFD3"/>
          </a:solidFill>
          <a:ln/>
        </p:spPr>
        <p:txBody>
          <a:bodyPr/>
          <a:lstStyle/>
          <a:p>
            <a:endParaRPr lang="ko-KR" altLang="en-US"/>
          </a:p>
        </p:txBody>
      </p:sp>
      <p:sp>
        <p:nvSpPr>
          <p:cNvPr id="178" name="Shape 176"/>
          <p:cNvSpPr/>
          <p:nvPr/>
        </p:nvSpPr>
        <p:spPr>
          <a:xfrm>
            <a:off x="7752792" y="4469714"/>
            <a:ext cx="9525" cy="409539"/>
          </a:xfrm>
          <a:prstGeom prst="rect">
            <a:avLst/>
          </a:prstGeom>
          <a:solidFill>
            <a:srgbClr val="EADFD3"/>
          </a:solidFill>
          <a:ln/>
        </p:spPr>
        <p:txBody>
          <a:bodyPr/>
          <a:lstStyle/>
          <a:p>
            <a:endParaRPr lang="ko-KR" altLang="en-US"/>
          </a:p>
        </p:txBody>
      </p:sp>
      <p:sp>
        <p:nvSpPr>
          <p:cNvPr id="179" name="Text 177"/>
          <p:cNvSpPr/>
          <p:nvPr/>
        </p:nvSpPr>
        <p:spPr>
          <a:xfrm>
            <a:off x="7777059" y="4513031"/>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9,720</a:t>
            </a:r>
            <a:endParaRPr lang="en-US" sz="1163" dirty="0"/>
          </a:p>
        </p:txBody>
      </p:sp>
      <p:sp>
        <p:nvSpPr>
          <p:cNvPr id="180" name="Shape 178"/>
          <p:cNvSpPr/>
          <p:nvPr/>
        </p:nvSpPr>
        <p:spPr>
          <a:xfrm>
            <a:off x="8955161" y="4469714"/>
            <a:ext cx="1202776" cy="409539"/>
          </a:xfrm>
          <a:prstGeom prst="rect">
            <a:avLst/>
          </a:prstGeom>
          <a:solidFill>
            <a:srgbClr val="FFFFFF"/>
          </a:solidFill>
          <a:ln/>
        </p:spPr>
        <p:txBody>
          <a:bodyPr/>
          <a:lstStyle/>
          <a:p>
            <a:endParaRPr lang="ko-KR" altLang="en-US"/>
          </a:p>
        </p:txBody>
      </p:sp>
      <p:sp>
        <p:nvSpPr>
          <p:cNvPr id="181" name="Shape 179"/>
          <p:cNvSpPr/>
          <p:nvPr/>
        </p:nvSpPr>
        <p:spPr>
          <a:xfrm>
            <a:off x="8955161" y="4469714"/>
            <a:ext cx="1202776" cy="9525"/>
          </a:xfrm>
          <a:prstGeom prst="rect">
            <a:avLst/>
          </a:prstGeom>
          <a:solidFill>
            <a:srgbClr val="EADFD3"/>
          </a:solidFill>
          <a:ln/>
        </p:spPr>
        <p:txBody>
          <a:bodyPr/>
          <a:lstStyle/>
          <a:p>
            <a:endParaRPr lang="ko-KR" altLang="en-US"/>
          </a:p>
        </p:txBody>
      </p:sp>
      <p:sp>
        <p:nvSpPr>
          <p:cNvPr id="182" name="Shape 180"/>
          <p:cNvSpPr/>
          <p:nvPr/>
        </p:nvSpPr>
        <p:spPr>
          <a:xfrm>
            <a:off x="8955161" y="4469714"/>
            <a:ext cx="9525" cy="409539"/>
          </a:xfrm>
          <a:prstGeom prst="rect">
            <a:avLst/>
          </a:prstGeom>
          <a:solidFill>
            <a:srgbClr val="EADFD3"/>
          </a:solidFill>
          <a:ln/>
        </p:spPr>
        <p:txBody>
          <a:bodyPr/>
          <a:lstStyle/>
          <a:p>
            <a:endParaRPr lang="ko-KR" altLang="en-US"/>
          </a:p>
        </p:txBody>
      </p:sp>
      <p:sp>
        <p:nvSpPr>
          <p:cNvPr id="183" name="Text 181"/>
          <p:cNvSpPr/>
          <p:nvPr/>
        </p:nvSpPr>
        <p:spPr>
          <a:xfrm>
            <a:off x="8979428" y="4513031"/>
            <a:ext cx="115945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8,020</a:t>
            </a:r>
            <a:endParaRPr lang="en-US" sz="1163" dirty="0"/>
          </a:p>
        </p:txBody>
      </p:sp>
      <p:sp>
        <p:nvSpPr>
          <p:cNvPr id="184" name="Shape 182"/>
          <p:cNvSpPr/>
          <p:nvPr/>
        </p:nvSpPr>
        <p:spPr>
          <a:xfrm>
            <a:off x="538580" y="4879253"/>
            <a:ext cx="1202369" cy="409539"/>
          </a:xfrm>
          <a:prstGeom prst="rect">
            <a:avLst/>
          </a:prstGeom>
          <a:solidFill>
            <a:srgbClr val="F5F7EC"/>
          </a:solidFill>
          <a:ln/>
        </p:spPr>
        <p:txBody>
          <a:bodyPr/>
          <a:lstStyle/>
          <a:p>
            <a:endParaRPr lang="ko-KR" altLang="en-US"/>
          </a:p>
        </p:txBody>
      </p:sp>
      <p:sp>
        <p:nvSpPr>
          <p:cNvPr id="185" name="Shape 183"/>
          <p:cNvSpPr/>
          <p:nvPr/>
        </p:nvSpPr>
        <p:spPr>
          <a:xfrm>
            <a:off x="538580" y="4879253"/>
            <a:ext cx="1202369" cy="9525"/>
          </a:xfrm>
          <a:prstGeom prst="rect">
            <a:avLst/>
          </a:prstGeom>
          <a:solidFill>
            <a:srgbClr val="EADFD3"/>
          </a:solidFill>
          <a:ln/>
        </p:spPr>
        <p:txBody>
          <a:bodyPr/>
          <a:lstStyle/>
          <a:p>
            <a:endParaRPr lang="ko-KR" altLang="en-US"/>
          </a:p>
        </p:txBody>
      </p:sp>
      <p:sp>
        <p:nvSpPr>
          <p:cNvPr id="186" name="Text 184"/>
          <p:cNvSpPr/>
          <p:nvPr/>
        </p:nvSpPr>
        <p:spPr>
          <a:xfrm>
            <a:off x="557630" y="4922570"/>
            <a:ext cx="116426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허혈성진단</a:t>
            </a:r>
            <a:endParaRPr lang="en-US" sz="1163" dirty="0"/>
          </a:p>
        </p:txBody>
      </p:sp>
      <p:sp>
        <p:nvSpPr>
          <p:cNvPr id="187" name="Shape 185"/>
          <p:cNvSpPr/>
          <p:nvPr/>
        </p:nvSpPr>
        <p:spPr>
          <a:xfrm>
            <a:off x="1740948" y="4879253"/>
            <a:ext cx="1202369" cy="409539"/>
          </a:xfrm>
          <a:prstGeom prst="rect">
            <a:avLst/>
          </a:prstGeom>
          <a:solidFill>
            <a:srgbClr val="F5F7EC"/>
          </a:solidFill>
          <a:ln/>
        </p:spPr>
        <p:txBody>
          <a:bodyPr/>
          <a:lstStyle/>
          <a:p>
            <a:endParaRPr lang="ko-KR" altLang="en-US"/>
          </a:p>
        </p:txBody>
      </p:sp>
      <p:sp>
        <p:nvSpPr>
          <p:cNvPr id="188" name="Shape 186"/>
          <p:cNvSpPr/>
          <p:nvPr/>
        </p:nvSpPr>
        <p:spPr>
          <a:xfrm>
            <a:off x="1740948" y="4879253"/>
            <a:ext cx="1202369" cy="9525"/>
          </a:xfrm>
          <a:prstGeom prst="rect">
            <a:avLst/>
          </a:prstGeom>
          <a:solidFill>
            <a:srgbClr val="EADFD3"/>
          </a:solidFill>
          <a:ln/>
        </p:spPr>
        <p:txBody>
          <a:bodyPr/>
          <a:lstStyle/>
          <a:p>
            <a:endParaRPr lang="ko-KR" altLang="en-US"/>
          </a:p>
        </p:txBody>
      </p:sp>
      <p:sp>
        <p:nvSpPr>
          <p:cNvPr id="189" name="Shape 187"/>
          <p:cNvSpPr/>
          <p:nvPr/>
        </p:nvSpPr>
        <p:spPr>
          <a:xfrm>
            <a:off x="1740948" y="4879253"/>
            <a:ext cx="9525" cy="409539"/>
          </a:xfrm>
          <a:prstGeom prst="rect">
            <a:avLst/>
          </a:prstGeom>
          <a:solidFill>
            <a:srgbClr val="EADFD3"/>
          </a:solidFill>
          <a:ln/>
        </p:spPr>
        <p:txBody>
          <a:bodyPr/>
          <a:lstStyle/>
          <a:p>
            <a:endParaRPr lang="ko-KR" altLang="en-US"/>
          </a:p>
        </p:txBody>
      </p:sp>
      <p:sp>
        <p:nvSpPr>
          <p:cNvPr id="190" name="Text 188"/>
          <p:cNvSpPr/>
          <p:nvPr/>
        </p:nvSpPr>
        <p:spPr>
          <a:xfrm>
            <a:off x="1765215"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91" name="Shape 189"/>
          <p:cNvSpPr/>
          <p:nvPr/>
        </p:nvSpPr>
        <p:spPr>
          <a:xfrm>
            <a:off x="2943317" y="4879253"/>
            <a:ext cx="1202369" cy="409539"/>
          </a:xfrm>
          <a:prstGeom prst="rect">
            <a:avLst/>
          </a:prstGeom>
          <a:solidFill>
            <a:srgbClr val="FFFFFF"/>
          </a:solidFill>
          <a:ln/>
        </p:spPr>
        <p:txBody>
          <a:bodyPr/>
          <a:lstStyle/>
          <a:p>
            <a:endParaRPr lang="ko-KR" altLang="en-US"/>
          </a:p>
        </p:txBody>
      </p:sp>
      <p:sp>
        <p:nvSpPr>
          <p:cNvPr id="192" name="Shape 190"/>
          <p:cNvSpPr/>
          <p:nvPr/>
        </p:nvSpPr>
        <p:spPr>
          <a:xfrm>
            <a:off x="2943317" y="4879253"/>
            <a:ext cx="1202369" cy="9525"/>
          </a:xfrm>
          <a:prstGeom prst="rect">
            <a:avLst/>
          </a:prstGeom>
          <a:solidFill>
            <a:srgbClr val="EADFD3"/>
          </a:solidFill>
          <a:ln/>
        </p:spPr>
        <p:txBody>
          <a:bodyPr/>
          <a:lstStyle/>
          <a:p>
            <a:endParaRPr lang="ko-KR" altLang="en-US"/>
          </a:p>
        </p:txBody>
      </p:sp>
      <p:sp>
        <p:nvSpPr>
          <p:cNvPr id="193" name="Shape 191"/>
          <p:cNvSpPr/>
          <p:nvPr/>
        </p:nvSpPr>
        <p:spPr>
          <a:xfrm>
            <a:off x="2943317" y="4879253"/>
            <a:ext cx="9525" cy="409539"/>
          </a:xfrm>
          <a:prstGeom prst="rect">
            <a:avLst/>
          </a:prstGeom>
          <a:solidFill>
            <a:srgbClr val="EADFD3"/>
          </a:solidFill>
          <a:ln/>
        </p:spPr>
        <p:txBody>
          <a:bodyPr/>
          <a:lstStyle/>
          <a:p>
            <a:endParaRPr lang="ko-KR" altLang="en-US"/>
          </a:p>
        </p:txBody>
      </p:sp>
      <p:sp>
        <p:nvSpPr>
          <p:cNvPr id="194" name="Text 192"/>
          <p:cNvSpPr/>
          <p:nvPr/>
        </p:nvSpPr>
        <p:spPr>
          <a:xfrm>
            <a:off x="2967584"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4,870</a:t>
            </a:r>
            <a:endParaRPr lang="en-US" sz="1163" dirty="0"/>
          </a:p>
        </p:txBody>
      </p:sp>
      <p:sp>
        <p:nvSpPr>
          <p:cNvPr id="195" name="Shape 193"/>
          <p:cNvSpPr/>
          <p:nvPr/>
        </p:nvSpPr>
        <p:spPr>
          <a:xfrm>
            <a:off x="4145686" y="4879253"/>
            <a:ext cx="1202369" cy="409539"/>
          </a:xfrm>
          <a:prstGeom prst="rect">
            <a:avLst/>
          </a:prstGeom>
          <a:solidFill>
            <a:srgbClr val="FFFFFF"/>
          </a:solidFill>
          <a:ln/>
        </p:spPr>
        <p:txBody>
          <a:bodyPr/>
          <a:lstStyle/>
          <a:p>
            <a:endParaRPr lang="ko-KR" altLang="en-US"/>
          </a:p>
        </p:txBody>
      </p:sp>
      <p:sp>
        <p:nvSpPr>
          <p:cNvPr id="196" name="Shape 194"/>
          <p:cNvSpPr/>
          <p:nvPr/>
        </p:nvSpPr>
        <p:spPr>
          <a:xfrm>
            <a:off x="4145686" y="4879253"/>
            <a:ext cx="1202369" cy="9525"/>
          </a:xfrm>
          <a:prstGeom prst="rect">
            <a:avLst/>
          </a:prstGeom>
          <a:solidFill>
            <a:srgbClr val="EADFD3"/>
          </a:solidFill>
          <a:ln/>
        </p:spPr>
        <p:txBody>
          <a:bodyPr/>
          <a:lstStyle/>
          <a:p>
            <a:endParaRPr lang="ko-KR" altLang="en-US"/>
          </a:p>
        </p:txBody>
      </p:sp>
      <p:sp>
        <p:nvSpPr>
          <p:cNvPr id="197" name="Shape 195"/>
          <p:cNvSpPr/>
          <p:nvPr/>
        </p:nvSpPr>
        <p:spPr>
          <a:xfrm>
            <a:off x="4145686" y="4879253"/>
            <a:ext cx="9525" cy="409539"/>
          </a:xfrm>
          <a:prstGeom prst="rect">
            <a:avLst/>
          </a:prstGeom>
          <a:solidFill>
            <a:srgbClr val="EADFD3"/>
          </a:solidFill>
          <a:ln/>
        </p:spPr>
        <p:txBody>
          <a:bodyPr/>
          <a:lstStyle/>
          <a:p>
            <a:endParaRPr lang="ko-KR" altLang="en-US"/>
          </a:p>
        </p:txBody>
      </p:sp>
      <p:sp>
        <p:nvSpPr>
          <p:cNvPr id="198" name="Text 196"/>
          <p:cNvSpPr/>
          <p:nvPr/>
        </p:nvSpPr>
        <p:spPr>
          <a:xfrm>
            <a:off x="4169953"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2,200</a:t>
            </a:r>
            <a:endParaRPr lang="en-US" sz="1163" dirty="0"/>
          </a:p>
        </p:txBody>
      </p:sp>
      <p:sp>
        <p:nvSpPr>
          <p:cNvPr id="199" name="Shape 197"/>
          <p:cNvSpPr/>
          <p:nvPr/>
        </p:nvSpPr>
        <p:spPr>
          <a:xfrm>
            <a:off x="5348054" y="4879253"/>
            <a:ext cx="1202369" cy="409539"/>
          </a:xfrm>
          <a:prstGeom prst="rect">
            <a:avLst/>
          </a:prstGeom>
          <a:solidFill>
            <a:srgbClr val="FFFFFF"/>
          </a:solidFill>
          <a:ln/>
        </p:spPr>
        <p:txBody>
          <a:bodyPr/>
          <a:lstStyle/>
          <a:p>
            <a:endParaRPr lang="ko-KR" altLang="en-US"/>
          </a:p>
        </p:txBody>
      </p:sp>
      <p:sp>
        <p:nvSpPr>
          <p:cNvPr id="200" name="Shape 198"/>
          <p:cNvSpPr/>
          <p:nvPr/>
        </p:nvSpPr>
        <p:spPr>
          <a:xfrm>
            <a:off x="5348054" y="4879253"/>
            <a:ext cx="1202369" cy="9525"/>
          </a:xfrm>
          <a:prstGeom prst="rect">
            <a:avLst/>
          </a:prstGeom>
          <a:solidFill>
            <a:srgbClr val="EADFD3"/>
          </a:solidFill>
          <a:ln/>
        </p:spPr>
        <p:txBody>
          <a:bodyPr/>
          <a:lstStyle/>
          <a:p>
            <a:endParaRPr lang="ko-KR" altLang="en-US"/>
          </a:p>
        </p:txBody>
      </p:sp>
      <p:sp>
        <p:nvSpPr>
          <p:cNvPr id="201" name="Shape 199"/>
          <p:cNvSpPr/>
          <p:nvPr/>
        </p:nvSpPr>
        <p:spPr>
          <a:xfrm>
            <a:off x="5348054" y="4879253"/>
            <a:ext cx="9525" cy="409539"/>
          </a:xfrm>
          <a:prstGeom prst="rect">
            <a:avLst/>
          </a:prstGeom>
          <a:solidFill>
            <a:srgbClr val="EADFD3"/>
          </a:solidFill>
          <a:ln/>
        </p:spPr>
        <p:txBody>
          <a:bodyPr/>
          <a:lstStyle/>
          <a:p>
            <a:endParaRPr lang="ko-KR" altLang="en-US"/>
          </a:p>
        </p:txBody>
      </p:sp>
      <p:sp>
        <p:nvSpPr>
          <p:cNvPr id="202" name="Text 200"/>
          <p:cNvSpPr/>
          <p:nvPr/>
        </p:nvSpPr>
        <p:spPr>
          <a:xfrm>
            <a:off x="5372321"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6,150</a:t>
            </a:r>
            <a:endParaRPr lang="en-US" sz="1163" dirty="0"/>
          </a:p>
        </p:txBody>
      </p:sp>
      <p:sp>
        <p:nvSpPr>
          <p:cNvPr id="203" name="Shape 201"/>
          <p:cNvSpPr/>
          <p:nvPr/>
        </p:nvSpPr>
        <p:spPr>
          <a:xfrm>
            <a:off x="6550423" y="4879253"/>
            <a:ext cx="1202369" cy="409539"/>
          </a:xfrm>
          <a:prstGeom prst="rect">
            <a:avLst/>
          </a:prstGeom>
          <a:solidFill>
            <a:srgbClr val="FFFFFF"/>
          </a:solidFill>
          <a:ln/>
        </p:spPr>
        <p:txBody>
          <a:bodyPr/>
          <a:lstStyle/>
          <a:p>
            <a:endParaRPr lang="ko-KR" altLang="en-US"/>
          </a:p>
        </p:txBody>
      </p:sp>
      <p:sp>
        <p:nvSpPr>
          <p:cNvPr id="204" name="Shape 202"/>
          <p:cNvSpPr/>
          <p:nvPr/>
        </p:nvSpPr>
        <p:spPr>
          <a:xfrm>
            <a:off x="6550423" y="4879253"/>
            <a:ext cx="1202369" cy="9525"/>
          </a:xfrm>
          <a:prstGeom prst="rect">
            <a:avLst/>
          </a:prstGeom>
          <a:solidFill>
            <a:srgbClr val="EADFD3"/>
          </a:solidFill>
          <a:ln/>
        </p:spPr>
        <p:txBody>
          <a:bodyPr/>
          <a:lstStyle/>
          <a:p>
            <a:endParaRPr lang="ko-KR" altLang="en-US"/>
          </a:p>
        </p:txBody>
      </p:sp>
      <p:sp>
        <p:nvSpPr>
          <p:cNvPr id="205" name="Shape 203"/>
          <p:cNvSpPr/>
          <p:nvPr/>
        </p:nvSpPr>
        <p:spPr>
          <a:xfrm>
            <a:off x="6550423" y="4879253"/>
            <a:ext cx="9525" cy="409539"/>
          </a:xfrm>
          <a:prstGeom prst="rect">
            <a:avLst/>
          </a:prstGeom>
          <a:solidFill>
            <a:srgbClr val="EADFD3"/>
          </a:solidFill>
          <a:ln/>
        </p:spPr>
        <p:txBody>
          <a:bodyPr/>
          <a:lstStyle/>
          <a:p>
            <a:endParaRPr lang="ko-KR" altLang="en-US"/>
          </a:p>
        </p:txBody>
      </p:sp>
      <p:sp>
        <p:nvSpPr>
          <p:cNvPr id="206" name="Text 204"/>
          <p:cNvSpPr/>
          <p:nvPr/>
        </p:nvSpPr>
        <p:spPr>
          <a:xfrm>
            <a:off x="6574690"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2,870</a:t>
            </a:r>
            <a:endParaRPr lang="en-US" sz="1163" dirty="0"/>
          </a:p>
        </p:txBody>
      </p:sp>
      <p:sp>
        <p:nvSpPr>
          <p:cNvPr id="207" name="Shape 205"/>
          <p:cNvSpPr/>
          <p:nvPr/>
        </p:nvSpPr>
        <p:spPr>
          <a:xfrm>
            <a:off x="7752792" y="4879253"/>
            <a:ext cx="1202369" cy="409539"/>
          </a:xfrm>
          <a:prstGeom prst="rect">
            <a:avLst/>
          </a:prstGeom>
          <a:solidFill>
            <a:srgbClr val="FFFFFF"/>
          </a:solidFill>
          <a:ln/>
        </p:spPr>
        <p:txBody>
          <a:bodyPr/>
          <a:lstStyle/>
          <a:p>
            <a:endParaRPr lang="ko-KR" altLang="en-US"/>
          </a:p>
        </p:txBody>
      </p:sp>
      <p:sp>
        <p:nvSpPr>
          <p:cNvPr id="208" name="Shape 206"/>
          <p:cNvSpPr/>
          <p:nvPr/>
        </p:nvSpPr>
        <p:spPr>
          <a:xfrm>
            <a:off x="7752792" y="4879253"/>
            <a:ext cx="1202369" cy="9525"/>
          </a:xfrm>
          <a:prstGeom prst="rect">
            <a:avLst/>
          </a:prstGeom>
          <a:solidFill>
            <a:srgbClr val="EADFD3"/>
          </a:solidFill>
          <a:ln/>
        </p:spPr>
        <p:txBody>
          <a:bodyPr/>
          <a:lstStyle/>
          <a:p>
            <a:endParaRPr lang="ko-KR" altLang="en-US"/>
          </a:p>
        </p:txBody>
      </p:sp>
      <p:sp>
        <p:nvSpPr>
          <p:cNvPr id="209" name="Shape 207"/>
          <p:cNvSpPr/>
          <p:nvPr/>
        </p:nvSpPr>
        <p:spPr>
          <a:xfrm>
            <a:off x="7752792" y="4879253"/>
            <a:ext cx="9525" cy="409539"/>
          </a:xfrm>
          <a:prstGeom prst="rect">
            <a:avLst/>
          </a:prstGeom>
          <a:solidFill>
            <a:srgbClr val="EADFD3"/>
          </a:solidFill>
          <a:ln/>
        </p:spPr>
        <p:txBody>
          <a:bodyPr/>
          <a:lstStyle/>
          <a:p>
            <a:endParaRPr lang="ko-KR" altLang="en-US"/>
          </a:p>
        </p:txBody>
      </p:sp>
      <p:sp>
        <p:nvSpPr>
          <p:cNvPr id="210" name="Text 208"/>
          <p:cNvSpPr/>
          <p:nvPr/>
        </p:nvSpPr>
        <p:spPr>
          <a:xfrm>
            <a:off x="7777059" y="4922570"/>
            <a:ext cx="1159052"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6,320</a:t>
            </a:r>
            <a:endParaRPr lang="en-US" sz="1163" dirty="0"/>
          </a:p>
        </p:txBody>
      </p:sp>
      <p:sp>
        <p:nvSpPr>
          <p:cNvPr id="211" name="Shape 209"/>
          <p:cNvSpPr/>
          <p:nvPr/>
        </p:nvSpPr>
        <p:spPr>
          <a:xfrm>
            <a:off x="8955161" y="4879253"/>
            <a:ext cx="1202776" cy="409539"/>
          </a:xfrm>
          <a:prstGeom prst="rect">
            <a:avLst/>
          </a:prstGeom>
          <a:solidFill>
            <a:srgbClr val="FFFFFF"/>
          </a:solidFill>
          <a:ln/>
        </p:spPr>
        <p:txBody>
          <a:bodyPr/>
          <a:lstStyle/>
          <a:p>
            <a:endParaRPr lang="ko-KR" altLang="en-US"/>
          </a:p>
        </p:txBody>
      </p:sp>
      <p:sp>
        <p:nvSpPr>
          <p:cNvPr id="212" name="Shape 210"/>
          <p:cNvSpPr/>
          <p:nvPr/>
        </p:nvSpPr>
        <p:spPr>
          <a:xfrm>
            <a:off x="8955161" y="4879253"/>
            <a:ext cx="1202776" cy="9525"/>
          </a:xfrm>
          <a:prstGeom prst="rect">
            <a:avLst/>
          </a:prstGeom>
          <a:solidFill>
            <a:srgbClr val="EADFD3"/>
          </a:solidFill>
          <a:ln/>
        </p:spPr>
        <p:txBody>
          <a:bodyPr/>
          <a:lstStyle/>
          <a:p>
            <a:endParaRPr lang="ko-KR" altLang="en-US"/>
          </a:p>
        </p:txBody>
      </p:sp>
      <p:sp>
        <p:nvSpPr>
          <p:cNvPr id="213" name="Shape 211"/>
          <p:cNvSpPr/>
          <p:nvPr/>
        </p:nvSpPr>
        <p:spPr>
          <a:xfrm>
            <a:off x="8955161" y="4879253"/>
            <a:ext cx="9525" cy="409539"/>
          </a:xfrm>
          <a:prstGeom prst="rect">
            <a:avLst/>
          </a:prstGeom>
          <a:solidFill>
            <a:srgbClr val="EADFD3"/>
          </a:solidFill>
          <a:ln/>
        </p:spPr>
        <p:txBody>
          <a:bodyPr/>
          <a:lstStyle/>
          <a:p>
            <a:endParaRPr lang="ko-KR" altLang="en-US"/>
          </a:p>
        </p:txBody>
      </p:sp>
      <p:sp>
        <p:nvSpPr>
          <p:cNvPr id="214" name="Text 212"/>
          <p:cNvSpPr/>
          <p:nvPr/>
        </p:nvSpPr>
        <p:spPr>
          <a:xfrm>
            <a:off x="8979428" y="4922570"/>
            <a:ext cx="1159459" cy="366222"/>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2,390</a:t>
            </a:r>
            <a:endParaRPr lang="en-US" sz="1163" dirty="0"/>
          </a:p>
        </p:txBody>
      </p:sp>
      <p:sp>
        <p:nvSpPr>
          <p:cNvPr id="215" name="Shape 213"/>
          <p:cNvSpPr/>
          <p:nvPr/>
        </p:nvSpPr>
        <p:spPr>
          <a:xfrm>
            <a:off x="538580" y="5288792"/>
            <a:ext cx="1202369" cy="685472"/>
          </a:xfrm>
          <a:prstGeom prst="rect">
            <a:avLst/>
          </a:prstGeom>
          <a:solidFill>
            <a:srgbClr val="F5F7EC"/>
          </a:solidFill>
          <a:ln/>
        </p:spPr>
        <p:txBody>
          <a:bodyPr/>
          <a:lstStyle/>
          <a:p>
            <a:endParaRPr lang="ko-KR" altLang="en-US"/>
          </a:p>
        </p:txBody>
      </p:sp>
      <p:sp>
        <p:nvSpPr>
          <p:cNvPr id="216" name="Shape 214"/>
          <p:cNvSpPr/>
          <p:nvPr/>
        </p:nvSpPr>
        <p:spPr>
          <a:xfrm>
            <a:off x="538580" y="5288792"/>
            <a:ext cx="1202369" cy="9525"/>
          </a:xfrm>
          <a:prstGeom prst="rect">
            <a:avLst/>
          </a:prstGeom>
          <a:solidFill>
            <a:srgbClr val="EADFD3"/>
          </a:solidFill>
          <a:ln/>
        </p:spPr>
        <p:txBody>
          <a:bodyPr/>
          <a:lstStyle/>
          <a:p>
            <a:endParaRPr lang="ko-KR" altLang="en-US"/>
          </a:p>
        </p:txBody>
      </p:sp>
      <p:sp>
        <p:nvSpPr>
          <p:cNvPr id="217" name="Text 215"/>
          <p:cNvSpPr/>
          <p:nvPr/>
        </p:nvSpPr>
        <p:spPr>
          <a:xfrm>
            <a:off x="557630" y="5332109"/>
            <a:ext cx="1164269"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순환계 주요치료</a:t>
            </a:r>
            <a:endParaRPr lang="en-US" sz="1163" dirty="0"/>
          </a:p>
        </p:txBody>
      </p:sp>
      <p:sp>
        <p:nvSpPr>
          <p:cNvPr id="218" name="Shape 216"/>
          <p:cNvSpPr/>
          <p:nvPr/>
        </p:nvSpPr>
        <p:spPr>
          <a:xfrm>
            <a:off x="1740948" y="5288792"/>
            <a:ext cx="1202369" cy="685472"/>
          </a:xfrm>
          <a:prstGeom prst="rect">
            <a:avLst/>
          </a:prstGeom>
          <a:solidFill>
            <a:srgbClr val="F5F7EC"/>
          </a:solidFill>
          <a:ln/>
        </p:spPr>
        <p:txBody>
          <a:bodyPr/>
          <a:lstStyle/>
          <a:p>
            <a:endParaRPr lang="ko-KR" altLang="en-US"/>
          </a:p>
        </p:txBody>
      </p:sp>
      <p:sp>
        <p:nvSpPr>
          <p:cNvPr id="219" name="Shape 217"/>
          <p:cNvSpPr/>
          <p:nvPr/>
        </p:nvSpPr>
        <p:spPr>
          <a:xfrm>
            <a:off x="1740948" y="5288792"/>
            <a:ext cx="1202369" cy="9525"/>
          </a:xfrm>
          <a:prstGeom prst="rect">
            <a:avLst/>
          </a:prstGeom>
          <a:solidFill>
            <a:srgbClr val="EADFD3"/>
          </a:solidFill>
          <a:ln/>
        </p:spPr>
        <p:txBody>
          <a:bodyPr/>
          <a:lstStyle/>
          <a:p>
            <a:endParaRPr lang="ko-KR" altLang="en-US"/>
          </a:p>
        </p:txBody>
      </p:sp>
      <p:sp>
        <p:nvSpPr>
          <p:cNvPr id="220" name="Shape 218"/>
          <p:cNvSpPr/>
          <p:nvPr/>
        </p:nvSpPr>
        <p:spPr>
          <a:xfrm>
            <a:off x="1740948" y="5288792"/>
            <a:ext cx="9525" cy="685472"/>
          </a:xfrm>
          <a:prstGeom prst="rect">
            <a:avLst/>
          </a:prstGeom>
          <a:solidFill>
            <a:srgbClr val="EADFD3"/>
          </a:solidFill>
          <a:ln/>
        </p:spPr>
        <p:txBody>
          <a:bodyPr/>
          <a:lstStyle/>
          <a:p>
            <a:endParaRPr lang="ko-KR" altLang="en-US"/>
          </a:p>
        </p:txBody>
      </p:sp>
      <p:sp>
        <p:nvSpPr>
          <p:cNvPr id="221" name="Text 219"/>
          <p:cNvSpPr/>
          <p:nvPr/>
        </p:nvSpPr>
        <p:spPr>
          <a:xfrm>
            <a:off x="1765215"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222" name="Shape 220"/>
          <p:cNvSpPr/>
          <p:nvPr/>
        </p:nvSpPr>
        <p:spPr>
          <a:xfrm>
            <a:off x="2943317" y="5288792"/>
            <a:ext cx="1202369" cy="685472"/>
          </a:xfrm>
          <a:prstGeom prst="rect">
            <a:avLst/>
          </a:prstGeom>
          <a:solidFill>
            <a:srgbClr val="FFFFFF"/>
          </a:solidFill>
          <a:ln/>
        </p:spPr>
        <p:txBody>
          <a:bodyPr/>
          <a:lstStyle/>
          <a:p>
            <a:endParaRPr lang="ko-KR" altLang="en-US"/>
          </a:p>
        </p:txBody>
      </p:sp>
      <p:sp>
        <p:nvSpPr>
          <p:cNvPr id="223" name="Shape 221"/>
          <p:cNvSpPr/>
          <p:nvPr/>
        </p:nvSpPr>
        <p:spPr>
          <a:xfrm>
            <a:off x="2943317" y="5288792"/>
            <a:ext cx="1202369" cy="9525"/>
          </a:xfrm>
          <a:prstGeom prst="rect">
            <a:avLst/>
          </a:prstGeom>
          <a:solidFill>
            <a:srgbClr val="EADFD3"/>
          </a:solidFill>
          <a:ln/>
        </p:spPr>
        <p:txBody>
          <a:bodyPr/>
          <a:lstStyle/>
          <a:p>
            <a:endParaRPr lang="ko-KR" altLang="en-US"/>
          </a:p>
        </p:txBody>
      </p:sp>
      <p:sp>
        <p:nvSpPr>
          <p:cNvPr id="224" name="Shape 222"/>
          <p:cNvSpPr/>
          <p:nvPr/>
        </p:nvSpPr>
        <p:spPr>
          <a:xfrm>
            <a:off x="2943317" y="5288792"/>
            <a:ext cx="9525" cy="685472"/>
          </a:xfrm>
          <a:prstGeom prst="rect">
            <a:avLst/>
          </a:prstGeom>
          <a:solidFill>
            <a:srgbClr val="EADFD3"/>
          </a:solidFill>
          <a:ln/>
        </p:spPr>
        <p:txBody>
          <a:bodyPr/>
          <a:lstStyle/>
          <a:p>
            <a:endParaRPr lang="ko-KR" altLang="en-US"/>
          </a:p>
        </p:txBody>
      </p:sp>
      <p:sp>
        <p:nvSpPr>
          <p:cNvPr id="225" name="Text 223"/>
          <p:cNvSpPr/>
          <p:nvPr/>
        </p:nvSpPr>
        <p:spPr>
          <a:xfrm>
            <a:off x="2967584"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12,890</a:t>
            </a:r>
            <a:endParaRPr lang="en-US" sz="1163" dirty="0"/>
          </a:p>
        </p:txBody>
      </p:sp>
      <p:sp>
        <p:nvSpPr>
          <p:cNvPr id="226" name="Shape 224"/>
          <p:cNvSpPr/>
          <p:nvPr/>
        </p:nvSpPr>
        <p:spPr>
          <a:xfrm>
            <a:off x="4145686" y="5288792"/>
            <a:ext cx="1202369" cy="685472"/>
          </a:xfrm>
          <a:prstGeom prst="rect">
            <a:avLst/>
          </a:prstGeom>
          <a:solidFill>
            <a:srgbClr val="FFFFFF"/>
          </a:solidFill>
          <a:ln/>
        </p:spPr>
        <p:txBody>
          <a:bodyPr/>
          <a:lstStyle/>
          <a:p>
            <a:endParaRPr lang="ko-KR" altLang="en-US"/>
          </a:p>
        </p:txBody>
      </p:sp>
      <p:sp>
        <p:nvSpPr>
          <p:cNvPr id="227" name="Shape 225"/>
          <p:cNvSpPr/>
          <p:nvPr/>
        </p:nvSpPr>
        <p:spPr>
          <a:xfrm>
            <a:off x="4145686" y="5288792"/>
            <a:ext cx="1202369" cy="9525"/>
          </a:xfrm>
          <a:prstGeom prst="rect">
            <a:avLst/>
          </a:prstGeom>
          <a:solidFill>
            <a:srgbClr val="EADFD3"/>
          </a:solidFill>
          <a:ln/>
        </p:spPr>
        <p:txBody>
          <a:bodyPr/>
          <a:lstStyle/>
          <a:p>
            <a:endParaRPr lang="ko-KR" altLang="en-US"/>
          </a:p>
        </p:txBody>
      </p:sp>
      <p:sp>
        <p:nvSpPr>
          <p:cNvPr id="228" name="Shape 226"/>
          <p:cNvSpPr/>
          <p:nvPr/>
        </p:nvSpPr>
        <p:spPr>
          <a:xfrm>
            <a:off x="4145686" y="5288792"/>
            <a:ext cx="9525" cy="685472"/>
          </a:xfrm>
          <a:prstGeom prst="rect">
            <a:avLst/>
          </a:prstGeom>
          <a:solidFill>
            <a:srgbClr val="EADFD3"/>
          </a:solidFill>
          <a:ln/>
        </p:spPr>
        <p:txBody>
          <a:bodyPr/>
          <a:lstStyle/>
          <a:p>
            <a:endParaRPr lang="ko-KR" altLang="en-US"/>
          </a:p>
        </p:txBody>
      </p:sp>
      <p:sp>
        <p:nvSpPr>
          <p:cNvPr id="229" name="Text 227"/>
          <p:cNvSpPr/>
          <p:nvPr/>
        </p:nvSpPr>
        <p:spPr>
          <a:xfrm>
            <a:off x="4169953"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6,620</a:t>
            </a:r>
            <a:endParaRPr lang="en-US" sz="1163" dirty="0"/>
          </a:p>
        </p:txBody>
      </p:sp>
      <p:sp>
        <p:nvSpPr>
          <p:cNvPr id="230" name="Shape 228"/>
          <p:cNvSpPr/>
          <p:nvPr/>
        </p:nvSpPr>
        <p:spPr>
          <a:xfrm>
            <a:off x="5348054" y="5288792"/>
            <a:ext cx="1202369" cy="685472"/>
          </a:xfrm>
          <a:prstGeom prst="rect">
            <a:avLst/>
          </a:prstGeom>
          <a:solidFill>
            <a:srgbClr val="FFFFFF"/>
          </a:solidFill>
          <a:ln/>
        </p:spPr>
        <p:txBody>
          <a:bodyPr/>
          <a:lstStyle/>
          <a:p>
            <a:endParaRPr lang="ko-KR" altLang="en-US"/>
          </a:p>
        </p:txBody>
      </p:sp>
      <p:sp>
        <p:nvSpPr>
          <p:cNvPr id="231" name="Shape 229"/>
          <p:cNvSpPr/>
          <p:nvPr/>
        </p:nvSpPr>
        <p:spPr>
          <a:xfrm>
            <a:off x="5348054" y="5288792"/>
            <a:ext cx="1202369" cy="9525"/>
          </a:xfrm>
          <a:prstGeom prst="rect">
            <a:avLst/>
          </a:prstGeom>
          <a:solidFill>
            <a:srgbClr val="EADFD3"/>
          </a:solidFill>
          <a:ln/>
        </p:spPr>
        <p:txBody>
          <a:bodyPr/>
          <a:lstStyle/>
          <a:p>
            <a:endParaRPr lang="ko-KR" altLang="en-US"/>
          </a:p>
        </p:txBody>
      </p:sp>
      <p:sp>
        <p:nvSpPr>
          <p:cNvPr id="232" name="Shape 230"/>
          <p:cNvSpPr/>
          <p:nvPr/>
        </p:nvSpPr>
        <p:spPr>
          <a:xfrm>
            <a:off x="5348054" y="5288792"/>
            <a:ext cx="9525" cy="685472"/>
          </a:xfrm>
          <a:prstGeom prst="rect">
            <a:avLst/>
          </a:prstGeom>
          <a:solidFill>
            <a:srgbClr val="EADFD3"/>
          </a:solidFill>
          <a:ln/>
        </p:spPr>
        <p:txBody>
          <a:bodyPr/>
          <a:lstStyle/>
          <a:p>
            <a:endParaRPr lang="ko-KR" altLang="en-US"/>
          </a:p>
        </p:txBody>
      </p:sp>
      <p:sp>
        <p:nvSpPr>
          <p:cNvPr id="233" name="Text 231"/>
          <p:cNvSpPr/>
          <p:nvPr/>
        </p:nvSpPr>
        <p:spPr>
          <a:xfrm>
            <a:off x="5372321"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12,565</a:t>
            </a:r>
            <a:endParaRPr lang="en-US" sz="1163" dirty="0"/>
          </a:p>
        </p:txBody>
      </p:sp>
      <p:sp>
        <p:nvSpPr>
          <p:cNvPr id="234" name="Shape 232"/>
          <p:cNvSpPr/>
          <p:nvPr/>
        </p:nvSpPr>
        <p:spPr>
          <a:xfrm>
            <a:off x="6550423" y="5288792"/>
            <a:ext cx="1202369" cy="685472"/>
          </a:xfrm>
          <a:prstGeom prst="rect">
            <a:avLst/>
          </a:prstGeom>
          <a:solidFill>
            <a:srgbClr val="FFFFFF"/>
          </a:solidFill>
          <a:ln/>
        </p:spPr>
        <p:txBody>
          <a:bodyPr/>
          <a:lstStyle/>
          <a:p>
            <a:endParaRPr lang="ko-KR" altLang="en-US"/>
          </a:p>
        </p:txBody>
      </p:sp>
      <p:sp>
        <p:nvSpPr>
          <p:cNvPr id="235" name="Shape 233"/>
          <p:cNvSpPr/>
          <p:nvPr/>
        </p:nvSpPr>
        <p:spPr>
          <a:xfrm>
            <a:off x="6550423" y="5288792"/>
            <a:ext cx="1202369" cy="9525"/>
          </a:xfrm>
          <a:prstGeom prst="rect">
            <a:avLst/>
          </a:prstGeom>
          <a:solidFill>
            <a:srgbClr val="EADFD3"/>
          </a:solidFill>
          <a:ln/>
        </p:spPr>
        <p:txBody>
          <a:bodyPr/>
          <a:lstStyle/>
          <a:p>
            <a:endParaRPr lang="ko-KR" altLang="en-US"/>
          </a:p>
        </p:txBody>
      </p:sp>
      <p:sp>
        <p:nvSpPr>
          <p:cNvPr id="236" name="Shape 234"/>
          <p:cNvSpPr/>
          <p:nvPr/>
        </p:nvSpPr>
        <p:spPr>
          <a:xfrm>
            <a:off x="6550423" y="5288792"/>
            <a:ext cx="9525" cy="685472"/>
          </a:xfrm>
          <a:prstGeom prst="rect">
            <a:avLst/>
          </a:prstGeom>
          <a:solidFill>
            <a:srgbClr val="EADFD3"/>
          </a:solidFill>
          <a:ln/>
        </p:spPr>
        <p:txBody>
          <a:bodyPr/>
          <a:lstStyle/>
          <a:p>
            <a:endParaRPr lang="ko-KR" altLang="en-US"/>
          </a:p>
        </p:txBody>
      </p:sp>
      <p:sp>
        <p:nvSpPr>
          <p:cNvPr id="237" name="Text 235"/>
          <p:cNvSpPr/>
          <p:nvPr/>
        </p:nvSpPr>
        <p:spPr>
          <a:xfrm>
            <a:off x="6574690"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9,380</a:t>
            </a:r>
            <a:endParaRPr lang="en-US" sz="1163" dirty="0"/>
          </a:p>
        </p:txBody>
      </p:sp>
      <p:sp>
        <p:nvSpPr>
          <p:cNvPr id="238" name="Shape 236"/>
          <p:cNvSpPr/>
          <p:nvPr/>
        </p:nvSpPr>
        <p:spPr>
          <a:xfrm>
            <a:off x="7752792" y="5288792"/>
            <a:ext cx="1202369" cy="685472"/>
          </a:xfrm>
          <a:prstGeom prst="rect">
            <a:avLst/>
          </a:prstGeom>
          <a:solidFill>
            <a:srgbClr val="FFFFFF"/>
          </a:solidFill>
          <a:ln/>
        </p:spPr>
        <p:txBody>
          <a:bodyPr/>
          <a:lstStyle/>
          <a:p>
            <a:endParaRPr lang="ko-KR" altLang="en-US"/>
          </a:p>
        </p:txBody>
      </p:sp>
      <p:sp>
        <p:nvSpPr>
          <p:cNvPr id="239" name="Shape 237"/>
          <p:cNvSpPr/>
          <p:nvPr/>
        </p:nvSpPr>
        <p:spPr>
          <a:xfrm>
            <a:off x="7752792" y="5288792"/>
            <a:ext cx="1202369" cy="9525"/>
          </a:xfrm>
          <a:prstGeom prst="rect">
            <a:avLst/>
          </a:prstGeom>
          <a:solidFill>
            <a:srgbClr val="EADFD3"/>
          </a:solidFill>
          <a:ln/>
        </p:spPr>
        <p:txBody>
          <a:bodyPr/>
          <a:lstStyle/>
          <a:p>
            <a:endParaRPr lang="ko-KR" altLang="en-US"/>
          </a:p>
        </p:txBody>
      </p:sp>
      <p:sp>
        <p:nvSpPr>
          <p:cNvPr id="240" name="Shape 238"/>
          <p:cNvSpPr/>
          <p:nvPr/>
        </p:nvSpPr>
        <p:spPr>
          <a:xfrm>
            <a:off x="7752792" y="5288792"/>
            <a:ext cx="9525" cy="685472"/>
          </a:xfrm>
          <a:prstGeom prst="rect">
            <a:avLst/>
          </a:prstGeom>
          <a:solidFill>
            <a:srgbClr val="EADFD3"/>
          </a:solidFill>
          <a:ln/>
        </p:spPr>
        <p:txBody>
          <a:bodyPr/>
          <a:lstStyle/>
          <a:p>
            <a:endParaRPr lang="ko-KR" altLang="en-US"/>
          </a:p>
        </p:txBody>
      </p:sp>
      <p:sp>
        <p:nvSpPr>
          <p:cNvPr id="241" name="Text 239"/>
          <p:cNvSpPr/>
          <p:nvPr/>
        </p:nvSpPr>
        <p:spPr>
          <a:xfrm>
            <a:off x="7777059" y="5332109"/>
            <a:ext cx="1159052"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14,774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(통합치료비)</a:t>
            </a:r>
            <a:endParaRPr lang="en-US" sz="1163" dirty="0"/>
          </a:p>
        </p:txBody>
      </p:sp>
      <p:sp>
        <p:nvSpPr>
          <p:cNvPr id="242" name="Shape 240"/>
          <p:cNvSpPr/>
          <p:nvPr/>
        </p:nvSpPr>
        <p:spPr>
          <a:xfrm>
            <a:off x="8955161" y="5288792"/>
            <a:ext cx="1202776" cy="685472"/>
          </a:xfrm>
          <a:prstGeom prst="rect">
            <a:avLst/>
          </a:prstGeom>
          <a:solidFill>
            <a:srgbClr val="FFFFFF"/>
          </a:solidFill>
          <a:ln/>
        </p:spPr>
        <p:txBody>
          <a:bodyPr/>
          <a:lstStyle/>
          <a:p>
            <a:endParaRPr lang="ko-KR" altLang="en-US"/>
          </a:p>
        </p:txBody>
      </p:sp>
      <p:sp>
        <p:nvSpPr>
          <p:cNvPr id="243" name="Shape 241"/>
          <p:cNvSpPr/>
          <p:nvPr/>
        </p:nvSpPr>
        <p:spPr>
          <a:xfrm>
            <a:off x="8955161" y="5288792"/>
            <a:ext cx="1202776" cy="9525"/>
          </a:xfrm>
          <a:prstGeom prst="rect">
            <a:avLst/>
          </a:prstGeom>
          <a:solidFill>
            <a:srgbClr val="EADFD3"/>
          </a:solidFill>
          <a:ln/>
        </p:spPr>
        <p:txBody>
          <a:bodyPr/>
          <a:lstStyle/>
          <a:p>
            <a:endParaRPr lang="ko-KR" altLang="en-US"/>
          </a:p>
        </p:txBody>
      </p:sp>
      <p:sp>
        <p:nvSpPr>
          <p:cNvPr id="244" name="Shape 242"/>
          <p:cNvSpPr/>
          <p:nvPr/>
        </p:nvSpPr>
        <p:spPr>
          <a:xfrm>
            <a:off x="8955161" y="5288792"/>
            <a:ext cx="9525" cy="685472"/>
          </a:xfrm>
          <a:prstGeom prst="rect">
            <a:avLst/>
          </a:prstGeom>
          <a:solidFill>
            <a:srgbClr val="EADFD3"/>
          </a:solidFill>
          <a:ln/>
        </p:spPr>
        <p:txBody>
          <a:bodyPr/>
          <a:lstStyle/>
          <a:p>
            <a:endParaRPr lang="ko-KR" altLang="en-US"/>
          </a:p>
        </p:txBody>
      </p:sp>
      <p:sp>
        <p:nvSpPr>
          <p:cNvPr id="245" name="Text 243"/>
          <p:cNvSpPr/>
          <p:nvPr/>
        </p:nvSpPr>
        <p:spPr>
          <a:xfrm>
            <a:off x="8979428" y="5332109"/>
            <a:ext cx="1159459" cy="642155"/>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FFFFF"/>
                </a:highlight>
                <a:latin typeface="Paperlogy 7 Bold" pitchFamily="2" charset="-127"/>
                <a:ea typeface="Paperlogy 7 Bold" pitchFamily="2" charset="-127"/>
                <a:cs typeface="Arial" pitchFamily="34" charset="-120"/>
              </a:rPr>
              <a:t>10,336 </a:t>
            </a:r>
          </a:p>
          <a:p>
            <a:pPr marL="0" indent="0" algn="ctr">
              <a:lnSpc>
                <a:spcPct val="113196"/>
              </a:lnSpc>
              <a:buNone/>
            </a:pPr>
            <a:r>
              <a:rPr lang="en-US" sz="930" b="1" kern="0" spc="-12" dirty="0">
                <a:solidFill>
                  <a:srgbClr val="7B6B60"/>
                </a:solidFill>
                <a:latin typeface="Paperlogy 7 Bold" pitchFamily="2" charset="-127"/>
                <a:ea typeface="Paperlogy 7 Bold" pitchFamily="2" charset="-127"/>
                <a:cs typeface="Arial" pitchFamily="34" charset="-120"/>
              </a:rPr>
              <a:t>(통합치료비)</a:t>
            </a:r>
            <a:endParaRPr lang="en-US" sz="1163" dirty="0"/>
          </a:p>
        </p:txBody>
      </p:sp>
      <p:sp>
        <p:nvSpPr>
          <p:cNvPr id="246" name="Shape 244"/>
          <p:cNvSpPr/>
          <p:nvPr/>
        </p:nvSpPr>
        <p:spPr>
          <a:xfrm>
            <a:off x="538580" y="5974264"/>
            <a:ext cx="1202369" cy="401876"/>
          </a:xfrm>
          <a:prstGeom prst="rect">
            <a:avLst/>
          </a:prstGeom>
          <a:solidFill>
            <a:srgbClr val="F5F7EC"/>
          </a:solidFill>
          <a:ln/>
        </p:spPr>
        <p:txBody>
          <a:bodyPr/>
          <a:lstStyle/>
          <a:p>
            <a:endParaRPr lang="ko-KR" altLang="en-US"/>
          </a:p>
        </p:txBody>
      </p:sp>
      <p:sp>
        <p:nvSpPr>
          <p:cNvPr id="247" name="Shape 245"/>
          <p:cNvSpPr/>
          <p:nvPr/>
        </p:nvSpPr>
        <p:spPr>
          <a:xfrm>
            <a:off x="538580" y="5974264"/>
            <a:ext cx="1202369" cy="9525"/>
          </a:xfrm>
          <a:prstGeom prst="rect">
            <a:avLst/>
          </a:prstGeom>
          <a:solidFill>
            <a:srgbClr val="EADFD3"/>
          </a:solidFill>
          <a:ln/>
        </p:spPr>
        <p:txBody>
          <a:bodyPr/>
          <a:lstStyle/>
          <a:p>
            <a:endParaRPr lang="ko-KR" altLang="en-US"/>
          </a:p>
        </p:txBody>
      </p:sp>
      <p:sp>
        <p:nvSpPr>
          <p:cNvPr id="248" name="Text 246"/>
          <p:cNvSpPr/>
          <p:nvPr/>
        </p:nvSpPr>
        <p:spPr>
          <a:xfrm>
            <a:off x="557630" y="6017581"/>
            <a:ext cx="1164269"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질병수술비</a:t>
            </a:r>
            <a:endParaRPr lang="en-US" sz="1163" dirty="0"/>
          </a:p>
        </p:txBody>
      </p:sp>
      <p:sp>
        <p:nvSpPr>
          <p:cNvPr id="249" name="Shape 247"/>
          <p:cNvSpPr/>
          <p:nvPr/>
        </p:nvSpPr>
        <p:spPr>
          <a:xfrm>
            <a:off x="1740948" y="5974264"/>
            <a:ext cx="1202369" cy="401876"/>
          </a:xfrm>
          <a:prstGeom prst="rect">
            <a:avLst/>
          </a:prstGeom>
          <a:solidFill>
            <a:srgbClr val="F5F7EC"/>
          </a:solidFill>
          <a:ln/>
        </p:spPr>
        <p:txBody>
          <a:bodyPr/>
          <a:lstStyle/>
          <a:p>
            <a:endParaRPr lang="ko-KR" altLang="en-US"/>
          </a:p>
        </p:txBody>
      </p:sp>
      <p:sp>
        <p:nvSpPr>
          <p:cNvPr id="250" name="Shape 248"/>
          <p:cNvSpPr/>
          <p:nvPr/>
        </p:nvSpPr>
        <p:spPr>
          <a:xfrm>
            <a:off x="1740948" y="5974264"/>
            <a:ext cx="1202369" cy="9525"/>
          </a:xfrm>
          <a:prstGeom prst="rect">
            <a:avLst/>
          </a:prstGeom>
          <a:solidFill>
            <a:srgbClr val="EADFD3"/>
          </a:solidFill>
          <a:ln/>
        </p:spPr>
        <p:txBody>
          <a:bodyPr/>
          <a:lstStyle/>
          <a:p>
            <a:endParaRPr lang="ko-KR" altLang="en-US"/>
          </a:p>
        </p:txBody>
      </p:sp>
      <p:sp>
        <p:nvSpPr>
          <p:cNvPr id="251" name="Shape 249"/>
          <p:cNvSpPr/>
          <p:nvPr/>
        </p:nvSpPr>
        <p:spPr>
          <a:xfrm>
            <a:off x="1740948" y="5974264"/>
            <a:ext cx="9525" cy="401876"/>
          </a:xfrm>
          <a:prstGeom prst="rect">
            <a:avLst/>
          </a:prstGeom>
          <a:solidFill>
            <a:srgbClr val="EADFD3"/>
          </a:solidFill>
          <a:ln/>
        </p:spPr>
        <p:txBody>
          <a:bodyPr/>
          <a:lstStyle/>
          <a:p>
            <a:endParaRPr lang="ko-KR" altLang="en-US"/>
          </a:p>
        </p:txBody>
      </p:sp>
      <p:sp>
        <p:nvSpPr>
          <p:cNvPr id="252" name="Text 250"/>
          <p:cNvSpPr/>
          <p:nvPr/>
        </p:nvSpPr>
        <p:spPr>
          <a:xfrm>
            <a:off x="1765215"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10만</a:t>
            </a:r>
            <a:endParaRPr lang="en-US" sz="1163" dirty="0"/>
          </a:p>
        </p:txBody>
      </p:sp>
      <p:sp>
        <p:nvSpPr>
          <p:cNvPr id="253" name="Shape 251"/>
          <p:cNvSpPr/>
          <p:nvPr/>
        </p:nvSpPr>
        <p:spPr>
          <a:xfrm>
            <a:off x="2943317" y="5974264"/>
            <a:ext cx="1202369" cy="401876"/>
          </a:xfrm>
          <a:prstGeom prst="rect">
            <a:avLst/>
          </a:prstGeom>
          <a:solidFill>
            <a:srgbClr val="FFFFFF"/>
          </a:solidFill>
          <a:ln/>
        </p:spPr>
        <p:txBody>
          <a:bodyPr/>
          <a:lstStyle/>
          <a:p>
            <a:endParaRPr lang="ko-KR" altLang="en-US"/>
          </a:p>
        </p:txBody>
      </p:sp>
      <p:sp>
        <p:nvSpPr>
          <p:cNvPr id="254" name="Shape 252"/>
          <p:cNvSpPr/>
          <p:nvPr/>
        </p:nvSpPr>
        <p:spPr>
          <a:xfrm>
            <a:off x="2943317" y="5974264"/>
            <a:ext cx="1202369" cy="9525"/>
          </a:xfrm>
          <a:prstGeom prst="rect">
            <a:avLst/>
          </a:prstGeom>
          <a:solidFill>
            <a:srgbClr val="EADFD3"/>
          </a:solidFill>
          <a:ln/>
        </p:spPr>
        <p:txBody>
          <a:bodyPr/>
          <a:lstStyle/>
          <a:p>
            <a:endParaRPr lang="ko-KR" altLang="en-US"/>
          </a:p>
        </p:txBody>
      </p:sp>
      <p:sp>
        <p:nvSpPr>
          <p:cNvPr id="255" name="Shape 253"/>
          <p:cNvSpPr/>
          <p:nvPr/>
        </p:nvSpPr>
        <p:spPr>
          <a:xfrm>
            <a:off x="2943317" y="5974264"/>
            <a:ext cx="9525" cy="401876"/>
          </a:xfrm>
          <a:prstGeom prst="rect">
            <a:avLst/>
          </a:prstGeom>
          <a:solidFill>
            <a:srgbClr val="EADFD3"/>
          </a:solidFill>
          <a:ln/>
        </p:spPr>
        <p:txBody>
          <a:bodyPr/>
          <a:lstStyle/>
          <a:p>
            <a:endParaRPr lang="ko-KR" altLang="en-US"/>
          </a:p>
        </p:txBody>
      </p:sp>
      <p:sp>
        <p:nvSpPr>
          <p:cNvPr id="256" name="Text 254"/>
          <p:cNvSpPr/>
          <p:nvPr/>
        </p:nvSpPr>
        <p:spPr>
          <a:xfrm>
            <a:off x="2967584"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1,283</a:t>
            </a:r>
            <a:endParaRPr lang="en-US" sz="1163" dirty="0"/>
          </a:p>
        </p:txBody>
      </p:sp>
      <p:sp>
        <p:nvSpPr>
          <p:cNvPr id="257" name="Shape 255"/>
          <p:cNvSpPr/>
          <p:nvPr/>
        </p:nvSpPr>
        <p:spPr>
          <a:xfrm>
            <a:off x="4145686" y="5974264"/>
            <a:ext cx="1202369" cy="401876"/>
          </a:xfrm>
          <a:prstGeom prst="rect">
            <a:avLst/>
          </a:prstGeom>
          <a:solidFill>
            <a:srgbClr val="FFFFFF"/>
          </a:solidFill>
          <a:ln/>
        </p:spPr>
        <p:txBody>
          <a:bodyPr/>
          <a:lstStyle/>
          <a:p>
            <a:endParaRPr lang="ko-KR" altLang="en-US"/>
          </a:p>
        </p:txBody>
      </p:sp>
      <p:sp>
        <p:nvSpPr>
          <p:cNvPr id="258" name="Shape 256"/>
          <p:cNvSpPr/>
          <p:nvPr/>
        </p:nvSpPr>
        <p:spPr>
          <a:xfrm>
            <a:off x="4145686" y="5974264"/>
            <a:ext cx="1202369" cy="9525"/>
          </a:xfrm>
          <a:prstGeom prst="rect">
            <a:avLst/>
          </a:prstGeom>
          <a:solidFill>
            <a:srgbClr val="EADFD3"/>
          </a:solidFill>
          <a:ln/>
        </p:spPr>
        <p:txBody>
          <a:bodyPr/>
          <a:lstStyle/>
          <a:p>
            <a:endParaRPr lang="ko-KR" altLang="en-US"/>
          </a:p>
        </p:txBody>
      </p:sp>
      <p:sp>
        <p:nvSpPr>
          <p:cNvPr id="259" name="Shape 257"/>
          <p:cNvSpPr/>
          <p:nvPr/>
        </p:nvSpPr>
        <p:spPr>
          <a:xfrm>
            <a:off x="4145686" y="5974264"/>
            <a:ext cx="9525" cy="401876"/>
          </a:xfrm>
          <a:prstGeom prst="rect">
            <a:avLst/>
          </a:prstGeom>
          <a:solidFill>
            <a:srgbClr val="EADFD3"/>
          </a:solidFill>
          <a:ln/>
        </p:spPr>
        <p:txBody>
          <a:bodyPr/>
          <a:lstStyle/>
          <a:p>
            <a:endParaRPr lang="ko-KR" altLang="en-US"/>
          </a:p>
        </p:txBody>
      </p:sp>
      <p:sp>
        <p:nvSpPr>
          <p:cNvPr id="260" name="Text 258"/>
          <p:cNvSpPr/>
          <p:nvPr/>
        </p:nvSpPr>
        <p:spPr>
          <a:xfrm>
            <a:off x="4169953"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1,412</a:t>
            </a:r>
            <a:endParaRPr lang="en-US" sz="1163" dirty="0"/>
          </a:p>
        </p:txBody>
      </p:sp>
      <p:sp>
        <p:nvSpPr>
          <p:cNvPr id="261" name="Shape 259"/>
          <p:cNvSpPr/>
          <p:nvPr/>
        </p:nvSpPr>
        <p:spPr>
          <a:xfrm>
            <a:off x="5348054" y="5974264"/>
            <a:ext cx="1202369" cy="401876"/>
          </a:xfrm>
          <a:prstGeom prst="rect">
            <a:avLst/>
          </a:prstGeom>
          <a:solidFill>
            <a:srgbClr val="FFFFFF"/>
          </a:solidFill>
          <a:ln/>
        </p:spPr>
        <p:txBody>
          <a:bodyPr/>
          <a:lstStyle/>
          <a:p>
            <a:endParaRPr lang="ko-KR" altLang="en-US"/>
          </a:p>
        </p:txBody>
      </p:sp>
      <p:sp>
        <p:nvSpPr>
          <p:cNvPr id="262" name="Shape 260"/>
          <p:cNvSpPr/>
          <p:nvPr/>
        </p:nvSpPr>
        <p:spPr>
          <a:xfrm>
            <a:off x="5348054" y="5974264"/>
            <a:ext cx="1202369" cy="9525"/>
          </a:xfrm>
          <a:prstGeom prst="rect">
            <a:avLst/>
          </a:prstGeom>
          <a:solidFill>
            <a:srgbClr val="EADFD3"/>
          </a:solidFill>
          <a:ln/>
        </p:spPr>
        <p:txBody>
          <a:bodyPr/>
          <a:lstStyle/>
          <a:p>
            <a:endParaRPr lang="ko-KR" altLang="en-US"/>
          </a:p>
        </p:txBody>
      </p:sp>
      <p:sp>
        <p:nvSpPr>
          <p:cNvPr id="263" name="Shape 261"/>
          <p:cNvSpPr/>
          <p:nvPr/>
        </p:nvSpPr>
        <p:spPr>
          <a:xfrm>
            <a:off x="5348054" y="5974264"/>
            <a:ext cx="9525" cy="401876"/>
          </a:xfrm>
          <a:prstGeom prst="rect">
            <a:avLst/>
          </a:prstGeom>
          <a:solidFill>
            <a:srgbClr val="EADFD3"/>
          </a:solidFill>
          <a:ln/>
        </p:spPr>
        <p:txBody>
          <a:bodyPr/>
          <a:lstStyle/>
          <a:p>
            <a:endParaRPr lang="ko-KR" altLang="en-US"/>
          </a:p>
        </p:txBody>
      </p:sp>
      <p:sp>
        <p:nvSpPr>
          <p:cNvPr id="264" name="Text 262"/>
          <p:cNvSpPr/>
          <p:nvPr/>
        </p:nvSpPr>
        <p:spPr>
          <a:xfrm>
            <a:off x="5372321"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2,014</a:t>
            </a:r>
            <a:endParaRPr lang="en-US" sz="1163" dirty="0"/>
          </a:p>
        </p:txBody>
      </p:sp>
      <p:sp>
        <p:nvSpPr>
          <p:cNvPr id="265" name="Shape 263"/>
          <p:cNvSpPr/>
          <p:nvPr/>
        </p:nvSpPr>
        <p:spPr>
          <a:xfrm>
            <a:off x="6550423" y="5974264"/>
            <a:ext cx="1202369" cy="401876"/>
          </a:xfrm>
          <a:prstGeom prst="rect">
            <a:avLst/>
          </a:prstGeom>
          <a:solidFill>
            <a:srgbClr val="FFFFFF"/>
          </a:solidFill>
          <a:ln/>
        </p:spPr>
        <p:txBody>
          <a:bodyPr/>
          <a:lstStyle/>
          <a:p>
            <a:endParaRPr lang="ko-KR" altLang="en-US"/>
          </a:p>
        </p:txBody>
      </p:sp>
      <p:sp>
        <p:nvSpPr>
          <p:cNvPr id="266" name="Shape 264"/>
          <p:cNvSpPr/>
          <p:nvPr/>
        </p:nvSpPr>
        <p:spPr>
          <a:xfrm>
            <a:off x="6550423" y="5974264"/>
            <a:ext cx="1202369" cy="9525"/>
          </a:xfrm>
          <a:prstGeom prst="rect">
            <a:avLst/>
          </a:prstGeom>
          <a:solidFill>
            <a:srgbClr val="EADFD3"/>
          </a:solidFill>
          <a:ln/>
        </p:spPr>
        <p:txBody>
          <a:bodyPr/>
          <a:lstStyle/>
          <a:p>
            <a:endParaRPr lang="ko-KR" altLang="en-US"/>
          </a:p>
        </p:txBody>
      </p:sp>
      <p:sp>
        <p:nvSpPr>
          <p:cNvPr id="267" name="Shape 265"/>
          <p:cNvSpPr/>
          <p:nvPr/>
        </p:nvSpPr>
        <p:spPr>
          <a:xfrm>
            <a:off x="6550423" y="5974264"/>
            <a:ext cx="9525" cy="401876"/>
          </a:xfrm>
          <a:prstGeom prst="rect">
            <a:avLst/>
          </a:prstGeom>
          <a:solidFill>
            <a:srgbClr val="EADFD3"/>
          </a:solidFill>
          <a:ln/>
        </p:spPr>
        <p:txBody>
          <a:bodyPr/>
          <a:lstStyle/>
          <a:p>
            <a:endParaRPr lang="ko-KR" altLang="en-US"/>
          </a:p>
        </p:txBody>
      </p:sp>
      <p:sp>
        <p:nvSpPr>
          <p:cNvPr id="268" name="Text 266"/>
          <p:cNvSpPr/>
          <p:nvPr/>
        </p:nvSpPr>
        <p:spPr>
          <a:xfrm>
            <a:off x="6574690"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2,080</a:t>
            </a:r>
            <a:endParaRPr lang="en-US" sz="1163" dirty="0"/>
          </a:p>
        </p:txBody>
      </p:sp>
      <p:sp>
        <p:nvSpPr>
          <p:cNvPr id="269" name="Shape 267"/>
          <p:cNvSpPr/>
          <p:nvPr/>
        </p:nvSpPr>
        <p:spPr>
          <a:xfrm>
            <a:off x="7752792" y="5974264"/>
            <a:ext cx="1202369" cy="401876"/>
          </a:xfrm>
          <a:prstGeom prst="rect">
            <a:avLst/>
          </a:prstGeom>
          <a:solidFill>
            <a:srgbClr val="FFFFFF"/>
          </a:solidFill>
          <a:ln/>
        </p:spPr>
        <p:txBody>
          <a:bodyPr/>
          <a:lstStyle/>
          <a:p>
            <a:endParaRPr lang="ko-KR" altLang="en-US"/>
          </a:p>
        </p:txBody>
      </p:sp>
      <p:sp>
        <p:nvSpPr>
          <p:cNvPr id="270" name="Shape 268"/>
          <p:cNvSpPr/>
          <p:nvPr/>
        </p:nvSpPr>
        <p:spPr>
          <a:xfrm>
            <a:off x="7752792" y="5974264"/>
            <a:ext cx="1202369" cy="9525"/>
          </a:xfrm>
          <a:prstGeom prst="rect">
            <a:avLst/>
          </a:prstGeom>
          <a:solidFill>
            <a:srgbClr val="EADFD3"/>
          </a:solidFill>
          <a:ln/>
        </p:spPr>
        <p:txBody>
          <a:bodyPr/>
          <a:lstStyle/>
          <a:p>
            <a:endParaRPr lang="ko-KR" altLang="en-US"/>
          </a:p>
        </p:txBody>
      </p:sp>
      <p:sp>
        <p:nvSpPr>
          <p:cNvPr id="271" name="Shape 269"/>
          <p:cNvSpPr/>
          <p:nvPr/>
        </p:nvSpPr>
        <p:spPr>
          <a:xfrm>
            <a:off x="7752792" y="5974264"/>
            <a:ext cx="9525" cy="401876"/>
          </a:xfrm>
          <a:prstGeom prst="rect">
            <a:avLst/>
          </a:prstGeom>
          <a:solidFill>
            <a:srgbClr val="EADFD3"/>
          </a:solidFill>
          <a:ln/>
        </p:spPr>
        <p:txBody>
          <a:bodyPr/>
          <a:lstStyle/>
          <a:p>
            <a:endParaRPr lang="ko-KR" altLang="en-US"/>
          </a:p>
        </p:txBody>
      </p:sp>
      <p:sp>
        <p:nvSpPr>
          <p:cNvPr id="272" name="Text 270"/>
          <p:cNvSpPr/>
          <p:nvPr/>
        </p:nvSpPr>
        <p:spPr>
          <a:xfrm>
            <a:off x="7777059" y="6017581"/>
            <a:ext cx="1159052"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1,860</a:t>
            </a:r>
            <a:endParaRPr lang="en-US" sz="1163" dirty="0"/>
          </a:p>
        </p:txBody>
      </p:sp>
      <p:sp>
        <p:nvSpPr>
          <p:cNvPr id="273" name="Shape 271"/>
          <p:cNvSpPr/>
          <p:nvPr/>
        </p:nvSpPr>
        <p:spPr>
          <a:xfrm>
            <a:off x="8955161" y="5974264"/>
            <a:ext cx="1202776" cy="401876"/>
          </a:xfrm>
          <a:prstGeom prst="rect">
            <a:avLst/>
          </a:prstGeom>
          <a:solidFill>
            <a:srgbClr val="FFFFFF"/>
          </a:solidFill>
          <a:ln/>
        </p:spPr>
        <p:txBody>
          <a:bodyPr/>
          <a:lstStyle/>
          <a:p>
            <a:endParaRPr lang="ko-KR" altLang="en-US"/>
          </a:p>
        </p:txBody>
      </p:sp>
      <p:sp>
        <p:nvSpPr>
          <p:cNvPr id="274" name="Shape 272"/>
          <p:cNvSpPr/>
          <p:nvPr/>
        </p:nvSpPr>
        <p:spPr>
          <a:xfrm>
            <a:off x="8955161" y="5974264"/>
            <a:ext cx="1202776" cy="9525"/>
          </a:xfrm>
          <a:prstGeom prst="rect">
            <a:avLst/>
          </a:prstGeom>
          <a:solidFill>
            <a:srgbClr val="EADFD3"/>
          </a:solidFill>
          <a:ln/>
        </p:spPr>
        <p:txBody>
          <a:bodyPr/>
          <a:lstStyle/>
          <a:p>
            <a:endParaRPr lang="ko-KR" altLang="en-US"/>
          </a:p>
        </p:txBody>
      </p:sp>
      <p:sp>
        <p:nvSpPr>
          <p:cNvPr id="275" name="Shape 273"/>
          <p:cNvSpPr/>
          <p:nvPr/>
        </p:nvSpPr>
        <p:spPr>
          <a:xfrm>
            <a:off x="8955161" y="5974264"/>
            <a:ext cx="9525" cy="401876"/>
          </a:xfrm>
          <a:prstGeom prst="rect">
            <a:avLst/>
          </a:prstGeom>
          <a:solidFill>
            <a:srgbClr val="EADFD3"/>
          </a:solidFill>
          <a:ln/>
        </p:spPr>
        <p:txBody>
          <a:bodyPr/>
          <a:lstStyle/>
          <a:p>
            <a:endParaRPr lang="ko-KR" altLang="en-US"/>
          </a:p>
        </p:txBody>
      </p:sp>
      <p:sp>
        <p:nvSpPr>
          <p:cNvPr id="276" name="Text 274"/>
          <p:cNvSpPr/>
          <p:nvPr/>
        </p:nvSpPr>
        <p:spPr>
          <a:xfrm>
            <a:off x="8979428" y="6017581"/>
            <a:ext cx="1159459" cy="358559"/>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2,325</a:t>
            </a:r>
            <a:endParaRPr lang="en-US" sz="1163" dirty="0"/>
          </a:p>
        </p:txBody>
      </p:sp>
      <p:sp>
        <p:nvSpPr>
          <p:cNvPr id="277" name="Shape 275"/>
          <p:cNvSpPr/>
          <p:nvPr/>
        </p:nvSpPr>
        <p:spPr>
          <a:xfrm>
            <a:off x="538580" y="6376141"/>
            <a:ext cx="2404738" cy="409947"/>
          </a:xfrm>
          <a:prstGeom prst="rect">
            <a:avLst/>
          </a:prstGeom>
          <a:solidFill>
            <a:srgbClr val="F5F7EC"/>
          </a:solidFill>
          <a:ln/>
        </p:spPr>
        <p:txBody>
          <a:bodyPr/>
          <a:lstStyle/>
          <a:p>
            <a:endParaRPr lang="ko-KR" altLang="en-US"/>
          </a:p>
        </p:txBody>
      </p:sp>
      <p:sp>
        <p:nvSpPr>
          <p:cNvPr id="278" name="Shape 276"/>
          <p:cNvSpPr/>
          <p:nvPr/>
        </p:nvSpPr>
        <p:spPr>
          <a:xfrm>
            <a:off x="538580" y="6376141"/>
            <a:ext cx="2404738" cy="9525"/>
          </a:xfrm>
          <a:prstGeom prst="rect">
            <a:avLst/>
          </a:prstGeom>
          <a:solidFill>
            <a:srgbClr val="EADFD3"/>
          </a:solidFill>
          <a:ln/>
        </p:spPr>
        <p:txBody>
          <a:bodyPr/>
          <a:lstStyle/>
          <a:p>
            <a:endParaRPr lang="ko-KR" altLang="en-US"/>
          </a:p>
        </p:txBody>
      </p:sp>
      <p:sp>
        <p:nvSpPr>
          <p:cNvPr id="279" name="Text 277"/>
          <p:cNvSpPr/>
          <p:nvPr/>
        </p:nvSpPr>
        <p:spPr>
          <a:xfrm>
            <a:off x="557630" y="6419458"/>
            <a:ext cx="2366638" cy="36663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이런 분들께 추천!</a:t>
            </a:r>
            <a:endParaRPr lang="en-US" sz="1163" dirty="0"/>
          </a:p>
        </p:txBody>
      </p:sp>
      <p:sp>
        <p:nvSpPr>
          <p:cNvPr id="280" name="Shape 278"/>
          <p:cNvSpPr/>
          <p:nvPr/>
        </p:nvSpPr>
        <p:spPr>
          <a:xfrm>
            <a:off x="2943317" y="6376141"/>
            <a:ext cx="2404738" cy="409947"/>
          </a:xfrm>
          <a:prstGeom prst="rect">
            <a:avLst/>
          </a:prstGeom>
          <a:solidFill>
            <a:srgbClr val="FFFFFF"/>
          </a:solidFill>
          <a:ln/>
        </p:spPr>
        <p:txBody>
          <a:bodyPr/>
          <a:lstStyle/>
          <a:p>
            <a:endParaRPr lang="ko-KR" altLang="en-US"/>
          </a:p>
        </p:txBody>
      </p:sp>
      <p:sp>
        <p:nvSpPr>
          <p:cNvPr id="281" name="Shape 279"/>
          <p:cNvSpPr/>
          <p:nvPr/>
        </p:nvSpPr>
        <p:spPr>
          <a:xfrm>
            <a:off x="2943317" y="6376141"/>
            <a:ext cx="2404738" cy="9525"/>
          </a:xfrm>
          <a:prstGeom prst="rect">
            <a:avLst/>
          </a:prstGeom>
          <a:solidFill>
            <a:srgbClr val="EADFD3"/>
          </a:solidFill>
          <a:ln/>
        </p:spPr>
        <p:txBody>
          <a:bodyPr/>
          <a:lstStyle/>
          <a:p>
            <a:endParaRPr lang="ko-KR" altLang="en-US"/>
          </a:p>
        </p:txBody>
      </p:sp>
      <p:sp>
        <p:nvSpPr>
          <p:cNvPr id="282" name="Shape 280"/>
          <p:cNvSpPr/>
          <p:nvPr/>
        </p:nvSpPr>
        <p:spPr>
          <a:xfrm>
            <a:off x="2943317" y="6376141"/>
            <a:ext cx="9525" cy="409947"/>
          </a:xfrm>
          <a:prstGeom prst="rect">
            <a:avLst/>
          </a:prstGeom>
          <a:solidFill>
            <a:srgbClr val="EADFD3"/>
          </a:solidFill>
          <a:ln/>
        </p:spPr>
        <p:txBody>
          <a:bodyPr/>
          <a:lstStyle/>
          <a:p>
            <a:endParaRPr lang="ko-KR" altLang="en-US"/>
          </a:p>
        </p:txBody>
      </p:sp>
      <p:sp>
        <p:nvSpPr>
          <p:cNvPr id="283" name="Text 281"/>
          <p:cNvSpPr/>
          <p:nvPr/>
        </p:nvSpPr>
        <p:spPr>
          <a:xfrm>
            <a:off x="2967584" y="6419458"/>
            <a:ext cx="2361420" cy="36663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여성 종합보험 가성비 TOP</a:t>
            </a:r>
            <a:endParaRPr lang="en-US" sz="1163" dirty="0"/>
          </a:p>
        </p:txBody>
      </p:sp>
      <p:sp>
        <p:nvSpPr>
          <p:cNvPr id="284" name="Shape 282"/>
          <p:cNvSpPr/>
          <p:nvPr/>
        </p:nvSpPr>
        <p:spPr>
          <a:xfrm>
            <a:off x="5348054" y="6376141"/>
            <a:ext cx="2404738" cy="409947"/>
          </a:xfrm>
          <a:prstGeom prst="rect">
            <a:avLst/>
          </a:prstGeom>
          <a:solidFill>
            <a:srgbClr val="FFFFFF"/>
          </a:solidFill>
          <a:ln/>
        </p:spPr>
        <p:txBody>
          <a:bodyPr/>
          <a:lstStyle/>
          <a:p>
            <a:endParaRPr lang="ko-KR" altLang="en-US"/>
          </a:p>
        </p:txBody>
      </p:sp>
      <p:sp>
        <p:nvSpPr>
          <p:cNvPr id="285" name="Shape 283"/>
          <p:cNvSpPr/>
          <p:nvPr/>
        </p:nvSpPr>
        <p:spPr>
          <a:xfrm>
            <a:off x="5348054" y="6376141"/>
            <a:ext cx="2404738" cy="9525"/>
          </a:xfrm>
          <a:prstGeom prst="rect">
            <a:avLst/>
          </a:prstGeom>
          <a:solidFill>
            <a:srgbClr val="EADFD3"/>
          </a:solidFill>
          <a:ln/>
        </p:spPr>
        <p:txBody>
          <a:bodyPr/>
          <a:lstStyle/>
          <a:p>
            <a:endParaRPr lang="ko-KR" altLang="en-US"/>
          </a:p>
        </p:txBody>
      </p:sp>
      <p:sp>
        <p:nvSpPr>
          <p:cNvPr id="286" name="Shape 284"/>
          <p:cNvSpPr/>
          <p:nvPr/>
        </p:nvSpPr>
        <p:spPr>
          <a:xfrm>
            <a:off x="5348054" y="6376141"/>
            <a:ext cx="9525" cy="409947"/>
          </a:xfrm>
          <a:prstGeom prst="rect">
            <a:avLst/>
          </a:prstGeom>
          <a:solidFill>
            <a:srgbClr val="EADFD3"/>
          </a:solidFill>
          <a:ln/>
        </p:spPr>
        <p:txBody>
          <a:bodyPr/>
          <a:lstStyle/>
          <a:p>
            <a:endParaRPr lang="ko-KR" altLang="en-US"/>
          </a:p>
        </p:txBody>
      </p:sp>
      <p:sp>
        <p:nvSpPr>
          <p:cNvPr id="287" name="Text 285"/>
          <p:cNvSpPr/>
          <p:nvPr/>
        </p:nvSpPr>
        <p:spPr>
          <a:xfrm>
            <a:off x="5372321" y="6419458"/>
            <a:ext cx="2361420" cy="36663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남성 2대질환 및 순환계주요치료 플랜</a:t>
            </a:r>
            <a:endParaRPr lang="en-US" sz="1163" dirty="0"/>
          </a:p>
        </p:txBody>
      </p:sp>
      <p:sp>
        <p:nvSpPr>
          <p:cNvPr id="288" name="Shape 286"/>
          <p:cNvSpPr/>
          <p:nvPr/>
        </p:nvSpPr>
        <p:spPr>
          <a:xfrm>
            <a:off x="7752792" y="6376141"/>
            <a:ext cx="2405145" cy="409947"/>
          </a:xfrm>
          <a:prstGeom prst="rect">
            <a:avLst/>
          </a:prstGeom>
          <a:solidFill>
            <a:srgbClr val="FFFFFF"/>
          </a:solidFill>
          <a:ln/>
        </p:spPr>
        <p:txBody>
          <a:bodyPr/>
          <a:lstStyle/>
          <a:p>
            <a:endParaRPr lang="ko-KR" altLang="en-US"/>
          </a:p>
        </p:txBody>
      </p:sp>
      <p:sp>
        <p:nvSpPr>
          <p:cNvPr id="289" name="Shape 287"/>
          <p:cNvSpPr/>
          <p:nvPr/>
        </p:nvSpPr>
        <p:spPr>
          <a:xfrm>
            <a:off x="7752792" y="6376141"/>
            <a:ext cx="2405145" cy="9525"/>
          </a:xfrm>
          <a:prstGeom prst="rect">
            <a:avLst/>
          </a:prstGeom>
          <a:solidFill>
            <a:srgbClr val="EADFD3"/>
          </a:solidFill>
          <a:ln/>
        </p:spPr>
        <p:txBody>
          <a:bodyPr/>
          <a:lstStyle/>
          <a:p>
            <a:endParaRPr lang="ko-KR" altLang="en-US"/>
          </a:p>
        </p:txBody>
      </p:sp>
      <p:sp>
        <p:nvSpPr>
          <p:cNvPr id="290" name="Shape 288"/>
          <p:cNvSpPr/>
          <p:nvPr/>
        </p:nvSpPr>
        <p:spPr>
          <a:xfrm>
            <a:off x="7752792" y="6376141"/>
            <a:ext cx="9525" cy="409947"/>
          </a:xfrm>
          <a:prstGeom prst="rect">
            <a:avLst/>
          </a:prstGeom>
          <a:solidFill>
            <a:srgbClr val="EADFD3"/>
          </a:solidFill>
          <a:ln/>
        </p:spPr>
        <p:txBody>
          <a:bodyPr/>
          <a:lstStyle/>
          <a:p>
            <a:endParaRPr lang="ko-KR" altLang="en-US"/>
          </a:p>
        </p:txBody>
      </p:sp>
      <p:sp>
        <p:nvSpPr>
          <p:cNvPr id="291" name="Text 289"/>
          <p:cNvSpPr/>
          <p:nvPr/>
        </p:nvSpPr>
        <p:spPr>
          <a:xfrm>
            <a:off x="7961230" y="6499313"/>
            <a:ext cx="1959966" cy="205046"/>
          </a:xfrm>
          <a:prstGeom prst="rect">
            <a:avLst/>
          </a:prstGeom>
          <a:noFill/>
          <a:ln/>
        </p:spPr>
        <p:txBody>
          <a:bodyPr wrap="square" lIns="0" tIns="0" rIns="0" bIns="0" rtlCol="0" anchor="t">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암진단치료비 등 신규담보 경쟁력</a:t>
            </a:r>
            <a:endParaRPr lang="en-US" sz="1163" dirty="0"/>
          </a:p>
        </p:txBody>
      </p:sp>
      <p:pic>
        <p:nvPicPr>
          <p:cNvPr id="29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59749" y="6510888"/>
            <a:ext cx="94885" cy="132872"/>
          </a:xfrm>
          <a:prstGeom prst="rect">
            <a:avLst/>
          </a:prstGeom>
        </p:spPr>
      </p:pic>
      <p:sp>
        <p:nvSpPr>
          <p:cNvPr id="293" name="Text 29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4" name="Text 29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5" name="Text 29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6703144"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타사 비교표_3대진단 및 주요치료비 추천사_초경증</a:t>
            </a:r>
            <a:endParaRPr lang="en-US" sz="2475" dirty="0"/>
          </a:p>
        </p:txBody>
      </p:sp>
      <p:sp>
        <p:nvSpPr>
          <p:cNvPr id="3" name="Shape 1"/>
          <p:cNvSpPr/>
          <p:nvPr/>
        </p:nvSpPr>
        <p:spPr>
          <a:xfrm>
            <a:off x="8875682" y="340821"/>
            <a:ext cx="1287472" cy="289710"/>
          </a:xfrm>
          <a:prstGeom prst="roundRect">
            <a:avLst>
              <a:gd name="adj" fmla="val 50000"/>
            </a:avLst>
          </a:prstGeom>
          <a:solidFill>
            <a:srgbClr val="E7EBD4"/>
          </a:solidFill>
          <a:ln/>
        </p:spPr>
        <p:txBody>
          <a:bodyPr/>
          <a:lstStyle/>
          <a:p>
            <a:endParaRPr lang="ko-KR" altLang="en-US"/>
          </a:p>
        </p:txBody>
      </p:sp>
      <p:sp>
        <p:nvSpPr>
          <p:cNvPr id="4" name="Text 2"/>
          <p:cNvSpPr/>
          <p:nvPr/>
        </p:nvSpPr>
        <p:spPr>
          <a:xfrm>
            <a:off x="9028082" y="407496"/>
            <a:ext cx="1058872" cy="194460"/>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1" dirty="0">
                <a:solidFill>
                  <a:srgbClr val="55612C"/>
                </a:solidFill>
                <a:latin typeface="Paperlogy 7 Bold" pitchFamily="2" charset="-127"/>
                <a:ea typeface="Paperlogy 7 Bold" pitchFamily="2" charset="-127"/>
                <a:cs typeface="Arial" pitchFamily="34" charset="-120"/>
              </a:rPr>
              <a:t>초경증 가성비 상품</a:t>
            </a:r>
            <a:endParaRPr lang="en-US" sz="1050" dirty="0"/>
          </a:p>
        </p:txBody>
      </p:sp>
      <p:sp>
        <p:nvSpPr>
          <p:cNvPr id="5" name="Shape 3"/>
          <p:cNvSpPr/>
          <p:nvPr/>
        </p:nvSpPr>
        <p:spPr>
          <a:xfrm>
            <a:off x="533363" y="800085"/>
            <a:ext cx="9629791" cy="9525"/>
          </a:xfrm>
          <a:prstGeom prst="rect">
            <a:avLst/>
          </a:prstGeom>
          <a:solidFill>
            <a:srgbClr val="EADFD3"/>
          </a:solidFill>
          <a:ln/>
        </p:spPr>
        <p:txBody>
          <a:bodyPr/>
          <a:lstStyle/>
          <a:p>
            <a:endParaRPr lang="ko-KR" altLang="en-US"/>
          </a:p>
        </p:txBody>
      </p:sp>
      <p:sp>
        <p:nvSpPr>
          <p:cNvPr id="6" name="Text 4"/>
          <p:cNvSpPr/>
          <p:nvPr/>
        </p:nvSpPr>
        <p:spPr>
          <a:xfrm>
            <a:off x="7286191" y="1095338"/>
            <a:ext cx="316465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40세, 100세만기 20년납, 해지환급금 미지급형, 담보별 보험료</a:t>
            </a:r>
            <a:endParaRPr lang="en-US" sz="900" dirty="0"/>
          </a:p>
        </p:txBody>
      </p:sp>
      <p:sp>
        <p:nvSpPr>
          <p:cNvPr id="7" name="Shape 5"/>
          <p:cNvSpPr/>
          <p:nvPr/>
        </p:nvSpPr>
        <p:spPr>
          <a:xfrm>
            <a:off x="533363" y="1301900"/>
            <a:ext cx="9629791" cy="5489404"/>
          </a:xfrm>
          <a:prstGeom prst="roundRect">
            <a:avLst>
              <a:gd name="adj" fmla="val 2082"/>
            </a:avLst>
          </a:prstGeom>
          <a:solidFill>
            <a:srgbClr val="FFFFFF"/>
          </a:solidFill>
          <a:ln w="5217">
            <a:solidFill>
              <a:srgbClr val="EADFD3"/>
            </a:solidFill>
            <a:prstDash val="solid"/>
          </a:ln>
        </p:spPr>
        <p:txBody>
          <a:bodyPr/>
          <a:lstStyle/>
          <a:p>
            <a:endParaRPr lang="ko-KR" altLang="en-US"/>
          </a:p>
        </p:txBody>
      </p:sp>
      <p:sp>
        <p:nvSpPr>
          <p:cNvPr id="8" name="Shape 6"/>
          <p:cNvSpPr/>
          <p:nvPr/>
        </p:nvSpPr>
        <p:spPr>
          <a:xfrm>
            <a:off x="538580" y="1307117"/>
            <a:ext cx="2404738" cy="459427"/>
          </a:xfrm>
          <a:prstGeom prst="rect">
            <a:avLst/>
          </a:prstGeom>
          <a:solidFill>
            <a:srgbClr val="7E8D4A"/>
          </a:solidFill>
          <a:ln/>
        </p:spPr>
        <p:txBody>
          <a:bodyPr/>
          <a:lstStyle/>
          <a:p>
            <a:endParaRPr lang="ko-KR" altLang="en-US"/>
          </a:p>
        </p:txBody>
      </p:sp>
      <p:sp>
        <p:nvSpPr>
          <p:cNvPr id="9" name="Text 7"/>
          <p:cNvSpPr/>
          <p:nvPr/>
        </p:nvSpPr>
        <p:spPr>
          <a:xfrm>
            <a:off x="557630" y="1345217"/>
            <a:ext cx="2366638" cy="421327"/>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구분</a:t>
            </a:r>
            <a:endParaRPr lang="en-US" sz="1575" dirty="0"/>
          </a:p>
        </p:txBody>
      </p:sp>
      <p:sp>
        <p:nvSpPr>
          <p:cNvPr id="10" name="Shape 8"/>
          <p:cNvSpPr/>
          <p:nvPr/>
        </p:nvSpPr>
        <p:spPr>
          <a:xfrm>
            <a:off x="2943317" y="1307117"/>
            <a:ext cx="2404738" cy="459427"/>
          </a:xfrm>
          <a:prstGeom prst="rect">
            <a:avLst/>
          </a:prstGeom>
          <a:solidFill>
            <a:srgbClr val="7E8D4A"/>
          </a:solidFill>
          <a:ln/>
        </p:spPr>
        <p:txBody>
          <a:bodyPr/>
          <a:lstStyle/>
          <a:p>
            <a:endParaRPr lang="ko-KR" altLang="en-US"/>
          </a:p>
        </p:txBody>
      </p:sp>
      <p:sp>
        <p:nvSpPr>
          <p:cNvPr id="11" name="Shape 9"/>
          <p:cNvSpPr/>
          <p:nvPr/>
        </p:nvSpPr>
        <p:spPr>
          <a:xfrm>
            <a:off x="2943317" y="1307117"/>
            <a:ext cx="9525" cy="459427"/>
          </a:xfrm>
          <a:prstGeom prst="rect">
            <a:avLst/>
          </a:prstGeom>
          <a:solidFill>
            <a:srgbClr val="FFFFFF">
              <a:alpha val="25000"/>
            </a:srgbClr>
          </a:solidFill>
          <a:ln/>
        </p:spPr>
        <p:txBody>
          <a:bodyPr/>
          <a:lstStyle/>
          <a:p>
            <a:endParaRPr lang="ko-KR" altLang="en-US"/>
          </a:p>
        </p:txBody>
      </p:sp>
      <p:sp>
        <p:nvSpPr>
          <p:cNvPr id="12" name="Text 10"/>
          <p:cNvSpPr/>
          <p:nvPr/>
        </p:nvSpPr>
        <p:spPr>
          <a:xfrm>
            <a:off x="2967584" y="1345217"/>
            <a:ext cx="2361420" cy="421327"/>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롯데손해보험</a:t>
            </a:r>
            <a:endParaRPr lang="en-US" sz="1575" dirty="0"/>
          </a:p>
        </p:txBody>
      </p:sp>
      <p:sp>
        <p:nvSpPr>
          <p:cNvPr id="13" name="Shape 11"/>
          <p:cNvSpPr/>
          <p:nvPr/>
        </p:nvSpPr>
        <p:spPr>
          <a:xfrm>
            <a:off x="5348054" y="1307117"/>
            <a:ext cx="2404738" cy="459427"/>
          </a:xfrm>
          <a:prstGeom prst="rect">
            <a:avLst/>
          </a:prstGeom>
          <a:solidFill>
            <a:srgbClr val="7E8D4A"/>
          </a:solidFill>
          <a:ln/>
        </p:spPr>
        <p:txBody>
          <a:bodyPr/>
          <a:lstStyle/>
          <a:p>
            <a:endParaRPr lang="ko-KR" altLang="en-US"/>
          </a:p>
        </p:txBody>
      </p:sp>
      <p:sp>
        <p:nvSpPr>
          <p:cNvPr id="14" name="Shape 12"/>
          <p:cNvSpPr/>
          <p:nvPr/>
        </p:nvSpPr>
        <p:spPr>
          <a:xfrm>
            <a:off x="5348054" y="1307117"/>
            <a:ext cx="9525" cy="459427"/>
          </a:xfrm>
          <a:prstGeom prst="rect">
            <a:avLst/>
          </a:prstGeom>
          <a:solidFill>
            <a:srgbClr val="FFFFFF">
              <a:alpha val="25000"/>
            </a:srgbClr>
          </a:solidFill>
          <a:ln/>
        </p:spPr>
        <p:txBody>
          <a:bodyPr/>
          <a:lstStyle/>
          <a:p>
            <a:endParaRPr lang="ko-KR" altLang="en-US"/>
          </a:p>
        </p:txBody>
      </p:sp>
      <p:sp>
        <p:nvSpPr>
          <p:cNvPr id="15" name="Text 13"/>
          <p:cNvSpPr/>
          <p:nvPr/>
        </p:nvSpPr>
        <p:spPr>
          <a:xfrm>
            <a:off x="5372321" y="1345217"/>
            <a:ext cx="2361420" cy="421327"/>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메리츠화재</a:t>
            </a:r>
            <a:endParaRPr lang="en-US" sz="1575" dirty="0"/>
          </a:p>
        </p:txBody>
      </p:sp>
      <p:sp>
        <p:nvSpPr>
          <p:cNvPr id="16" name="Shape 14"/>
          <p:cNvSpPr/>
          <p:nvPr/>
        </p:nvSpPr>
        <p:spPr>
          <a:xfrm>
            <a:off x="7752792" y="1307117"/>
            <a:ext cx="2405145" cy="459427"/>
          </a:xfrm>
          <a:prstGeom prst="rect">
            <a:avLst/>
          </a:prstGeom>
          <a:solidFill>
            <a:srgbClr val="7E8D4A"/>
          </a:solidFill>
          <a:ln/>
        </p:spPr>
        <p:txBody>
          <a:bodyPr/>
          <a:lstStyle/>
          <a:p>
            <a:endParaRPr lang="ko-KR" altLang="en-US"/>
          </a:p>
        </p:txBody>
      </p:sp>
      <p:sp>
        <p:nvSpPr>
          <p:cNvPr id="17" name="Shape 15"/>
          <p:cNvSpPr/>
          <p:nvPr/>
        </p:nvSpPr>
        <p:spPr>
          <a:xfrm>
            <a:off x="7752792" y="1307117"/>
            <a:ext cx="9525" cy="459427"/>
          </a:xfrm>
          <a:prstGeom prst="rect">
            <a:avLst/>
          </a:prstGeom>
          <a:solidFill>
            <a:srgbClr val="FFFFFF">
              <a:alpha val="25000"/>
            </a:srgbClr>
          </a:solidFill>
          <a:ln/>
        </p:spPr>
        <p:txBody>
          <a:bodyPr/>
          <a:lstStyle/>
          <a:p>
            <a:endParaRPr lang="ko-KR" altLang="en-US"/>
          </a:p>
        </p:txBody>
      </p:sp>
      <p:sp>
        <p:nvSpPr>
          <p:cNvPr id="18" name="Text 16"/>
          <p:cNvSpPr/>
          <p:nvPr/>
        </p:nvSpPr>
        <p:spPr>
          <a:xfrm>
            <a:off x="7777059" y="1345217"/>
            <a:ext cx="2361828" cy="421327"/>
          </a:xfrm>
          <a:prstGeom prst="rect">
            <a:avLst/>
          </a:prstGeom>
          <a:noFill/>
          <a:ln/>
        </p:spPr>
        <p:txBody>
          <a:bodyPr wrap="square" lIns="25400" tIns="25400" rIns="25400" bIns="25400" rtlCol="0" anchor="ctr">
            <a:normAutofit/>
          </a:bodyPr>
          <a:lstStyle/>
          <a:p>
            <a:pPr marL="0" indent="0" algn="ctr">
              <a:lnSpc>
                <a:spcPct val="104565"/>
              </a:lnSpc>
              <a:buNone/>
            </a:pPr>
            <a:r>
              <a:rPr lang="en-US" sz="1575" b="1" kern="0" spc="-12" dirty="0">
                <a:solidFill>
                  <a:srgbClr val="FFFFFF"/>
                </a:solidFill>
                <a:latin typeface="Paperlogy 7 Bold" pitchFamily="2" charset="-127"/>
                <a:ea typeface="Paperlogy 7 Bold" pitchFamily="2" charset="-127"/>
                <a:cs typeface="Arial" pitchFamily="34" charset="-120"/>
              </a:rPr>
              <a:t>DB손해보험</a:t>
            </a:r>
            <a:endParaRPr lang="en-US" sz="1575" dirty="0"/>
          </a:p>
        </p:txBody>
      </p:sp>
      <p:sp>
        <p:nvSpPr>
          <p:cNvPr id="19" name="Shape 17"/>
          <p:cNvSpPr/>
          <p:nvPr/>
        </p:nvSpPr>
        <p:spPr>
          <a:xfrm>
            <a:off x="538580" y="1766545"/>
            <a:ext cx="2404738" cy="401387"/>
          </a:xfrm>
          <a:prstGeom prst="rect">
            <a:avLst/>
          </a:prstGeom>
          <a:solidFill>
            <a:srgbClr val="F5F7EC"/>
          </a:solidFill>
          <a:ln/>
        </p:spPr>
        <p:txBody>
          <a:bodyPr/>
          <a:lstStyle/>
          <a:p>
            <a:endParaRPr lang="ko-KR" altLang="en-US"/>
          </a:p>
        </p:txBody>
      </p:sp>
      <p:sp>
        <p:nvSpPr>
          <p:cNvPr id="20" name="Shape 18"/>
          <p:cNvSpPr/>
          <p:nvPr/>
        </p:nvSpPr>
        <p:spPr>
          <a:xfrm>
            <a:off x="538580" y="1766545"/>
            <a:ext cx="2404738" cy="9525"/>
          </a:xfrm>
          <a:prstGeom prst="rect">
            <a:avLst/>
          </a:prstGeom>
          <a:solidFill>
            <a:srgbClr val="EADFD3"/>
          </a:solidFill>
          <a:ln/>
        </p:spPr>
        <p:txBody>
          <a:bodyPr/>
          <a:lstStyle/>
          <a:p>
            <a:endParaRPr lang="ko-KR" altLang="en-US"/>
          </a:p>
        </p:txBody>
      </p:sp>
      <p:sp>
        <p:nvSpPr>
          <p:cNvPr id="21" name="Text 19"/>
          <p:cNvSpPr/>
          <p:nvPr/>
        </p:nvSpPr>
        <p:spPr>
          <a:xfrm>
            <a:off x="557630" y="1809862"/>
            <a:ext cx="236663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상품명</a:t>
            </a:r>
            <a:endParaRPr lang="en-US" sz="1163" dirty="0"/>
          </a:p>
        </p:txBody>
      </p:sp>
      <p:sp>
        <p:nvSpPr>
          <p:cNvPr id="22" name="Shape 20"/>
          <p:cNvSpPr/>
          <p:nvPr/>
        </p:nvSpPr>
        <p:spPr>
          <a:xfrm>
            <a:off x="2943317" y="1766545"/>
            <a:ext cx="2404738" cy="401387"/>
          </a:xfrm>
          <a:prstGeom prst="rect">
            <a:avLst/>
          </a:prstGeom>
          <a:solidFill>
            <a:srgbClr val="FFFFFF"/>
          </a:solidFill>
          <a:ln/>
        </p:spPr>
        <p:txBody>
          <a:bodyPr/>
          <a:lstStyle/>
          <a:p>
            <a:endParaRPr lang="ko-KR" altLang="en-US"/>
          </a:p>
        </p:txBody>
      </p:sp>
      <p:sp>
        <p:nvSpPr>
          <p:cNvPr id="23" name="Shape 21"/>
          <p:cNvSpPr/>
          <p:nvPr/>
        </p:nvSpPr>
        <p:spPr>
          <a:xfrm>
            <a:off x="2943317" y="1766545"/>
            <a:ext cx="2404738" cy="9525"/>
          </a:xfrm>
          <a:prstGeom prst="rect">
            <a:avLst/>
          </a:prstGeom>
          <a:solidFill>
            <a:srgbClr val="EADFD3"/>
          </a:solidFill>
          <a:ln/>
        </p:spPr>
        <p:txBody>
          <a:bodyPr/>
          <a:lstStyle/>
          <a:p>
            <a:endParaRPr lang="ko-KR" altLang="en-US"/>
          </a:p>
        </p:txBody>
      </p:sp>
      <p:sp>
        <p:nvSpPr>
          <p:cNvPr id="24" name="Shape 22"/>
          <p:cNvSpPr/>
          <p:nvPr/>
        </p:nvSpPr>
        <p:spPr>
          <a:xfrm>
            <a:off x="2943317" y="1766545"/>
            <a:ext cx="9525" cy="401387"/>
          </a:xfrm>
          <a:prstGeom prst="rect">
            <a:avLst/>
          </a:prstGeom>
          <a:solidFill>
            <a:srgbClr val="EADFD3"/>
          </a:solidFill>
          <a:ln/>
        </p:spPr>
        <p:txBody>
          <a:bodyPr/>
          <a:lstStyle/>
          <a:p>
            <a:endParaRPr lang="ko-KR" altLang="en-US"/>
          </a:p>
        </p:txBody>
      </p:sp>
      <p:sp>
        <p:nvSpPr>
          <p:cNvPr id="25" name="Text 23"/>
          <p:cNvSpPr/>
          <p:nvPr/>
        </p:nvSpPr>
        <p:spPr>
          <a:xfrm>
            <a:off x="2967584" y="1809862"/>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Let:simple 간편 3.10.10</a:t>
            </a:r>
            <a:endParaRPr lang="en-US" sz="1163" dirty="0"/>
          </a:p>
        </p:txBody>
      </p:sp>
      <p:sp>
        <p:nvSpPr>
          <p:cNvPr id="26" name="Shape 24"/>
          <p:cNvSpPr/>
          <p:nvPr/>
        </p:nvSpPr>
        <p:spPr>
          <a:xfrm>
            <a:off x="5348054" y="1766545"/>
            <a:ext cx="2404738" cy="401387"/>
          </a:xfrm>
          <a:prstGeom prst="rect">
            <a:avLst/>
          </a:prstGeom>
          <a:solidFill>
            <a:srgbClr val="FFFFFF"/>
          </a:solidFill>
          <a:ln/>
        </p:spPr>
        <p:txBody>
          <a:bodyPr/>
          <a:lstStyle/>
          <a:p>
            <a:endParaRPr lang="ko-KR" altLang="en-US"/>
          </a:p>
        </p:txBody>
      </p:sp>
      <p:sp>
        <p:nvSpPr>
          <p:cNvPr id="27" name="Shape 25"/>
          <p:cNvSpPr/>
          <p:nvPr/>
        </p:nvSpPr>
        <p:spPr>
          <a:xfrm>
            <a:off x="5348054" y="1766545"/>
            <a:ext cx="2404738" cy="9525"/>
          </a:xfrm>
          <a:prstGeom prst="rect">
            <a:avLst/>
          </a:prstGeom>
          <a:solidFill>
            <a:srgbClr val="EADFD3"/>
          </a:solidFill>
          <a:ln/>
        </p:spPr>
        <p:txBody>
          <a:bodyPr/>
          <a:lstStyle/>
          <a:p>
            <a:endParaRPr lang="ko-KR" altLang="en-US"/>
          </a:p>
        </p:txBody>
      </p:sp>
      <p:sp>
        <p:nvSpPr>
          <p:cNvPr id="28" name="Shape 26"/>
          <p:cNvSpPr/>
          <p:nvPr/>
        </p:nvSpPr>
        <p:spPr>
          <a:xfrm>
            <a:off x="5348054" y="1766545"/>
            <a:ext cx="9525" cy="401387"/>
          </a:xfrm>
          <a:prstGeom prst="rect">
            <a:avLst/>
          </a:prstGeom>
          <a:solidFill>
            <a:srgbClr val="EADFD3"/>
          </a:solidFill>
          <a:ln/>
        </p:spPr>
        <p:txBody>
          <a:bodyPr/>
          <a:lstStyle/>
          <a:p>
            <a:endParaRPr lang="ko-KR" altLang="en-US"/>
          </a:p>
        </p:txBody>
      </p:sp>
      <p:sp>
        <p:nvSpPr>
          <p:cNvPr id="29" name="Text 27"/>
          <p:cNvSpPr/>
          <p:nvPr/>
        </p:nvSpPr>
        <p:spPr>
          <a:xfrm>
            <a:off x="5372321" y="1809862"/>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통합간편건강 3.10.5</a:t>
            </a:r>
            <a:endParaRPr lang="en-US" sz="1163" dirty="0"/>
          </a:p>
        </p:txBody>
      </p:sp>
      <p:sp>
        <p:nvSpPr>
          <p:cNvPr id="30" name="Shape 28"/>
          <p:cNvSpPr/>
          <p:nvPr/>
        </p:nvSpPr>
        <p:spPr>
          <a:xfrm>
            <a:off x="7752792" y="1766545"/>
            <a:ext cx="2405145" cy="401387"/>
          </a:xfrm>
          <a:prstGeom prst="rect">
            <a:avLst/>
          </a:prstGeom>
          <a:solidFill>
            <a:srgbClr val="FFFFFF"/>
          </a:solidFill>
          <a:ln/>
        </p:spPr>
        <p:txBody>
          <a:bodyPr/>
          <a:lstStyle/>
          <a:p>
            <a:endParaRPr lang="ko-KR" altLang="en-US"/>
          </a:p>
        </p:txBody>
      </p:sp>
      <p:sp>
        <p:nvSpPr>
          <p:cNvPr id="31" name="Shape 29"/>
          <p:cNvSpPr/>
          <p:nvPr/>
        </p:nvSpPr>
        <p:spPr>
          <a:xfrm>
            <a:off x="7752792" y="1766545"/>
            <a:ext cx="2405145" cy="9525"/>
          </a:xfrm>
          <a:prstGeom prst="rect">
            <a:avLst/>
          </a:prstGeom>
          <a:solidFill>
            <a:srgbClr val="EADFD3"/>
          </a:solidFill>
          <a:ln/>
        </p:spPr>
        <p:txBody>
          <a:bodyPr/>
          <a:lstStyle/>
          <a:p>
            <a:endParaRPr lang="ko-KR" altLang="en-US"/>
          </a:p>
        </p:txBody>
      </p:sp>
      <p:sp>
        <p:nvSpPr>
          <p:cNvPr id="32" name="Shape 30"/>
          <p:cNvSpPr/>
          <p:nvPr/>
        </p:nvSpPr>
        <p:spPr>
          <a:xfrm>
            <a:off x="7752792" y="1766545"/>
            <a:ext cx="9525" cy="401387"/>
          </a:xfrm>
          <a:prstGeom prst="rect">
            <a:avLst/>
          </a:prstGeom>
          <a:solidFill>
            <a:srgbClr val="EADFD3"/>
          </a:solidFill>
          <a:ln/>
        </p:spPr>
        <p:txBody>
          <a:bodyPr/>
          <a:lstStyle/>
          <a:p>
            <a:endParaRPr lang="ko-KR" altLang="en-US"/>
          </a:p>
        </p:txBody>
      </p:sp>
      <p:sp>
        <p:nvSpPr>
          <p:cNvPr id="33" name="Text 31"/>
          <p:cNvSpPr/>
          <p:nvPr/>
        </p:nvSpPr>
        <p:spPr>
          <a:xfrm>
            <a:off x="7777059" y="1809862"/>
            <a:ext cx="236182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나에게 맞춘 더좋은 초경증 간편</a:t>
            </a:r>
            <a:endParaRPr lang="en-US" sz="1163" dirty="0"/>
          </a:p>
        </p:txBody>
      </p:sp>
      <p:sp>
        <p:nvSpPr>
          <p:cNvPr id="34" name="Shape 32"/>
          <p:cNvSpPr/>
          <p:nvPr/>
        </p:nvSpPr>
        <p:spPr>
          <a:xfrm>
            <a:off x="538580" y="2167932"/>
            <a:ext cx="2404738" cy="401387"/>
          </a:xfrm>
          <a:prstGeom prst="rect">
            <a:avLst/>
          </a:prstGeom>
          <a:solidFill>
            <a:srgbClr val="F5F7EC"/>
          </a:solidFill>
          <a:ln/>
        </p:spPr>
        <p:txBody>
          <a:bodyPr/>
          <a:lstStyle/>
          <a:p>
            <a:endParaRPr lang="ko-KR" altLang="en-US"/>
          </a:p>
        </p:txBody>
      </p:sp>
      <p:sp>
        <p:nvSpPr>
          <p:cNvPr id="35" name="Shape 33"/>
          <p:cNvSpPr/>
          <p:nvPr/>
        </p:nvSpPr>
        <p:spPr>
          <a:xfrm>
            <a:off x="538580" y="2167932"/>
            <a:ext cx="2404738" cy="9525"/>
          </a:xfrm>
          <a:prstGeom prst="rect">
            <a:avLst/>
          </a:prstGeom>
          <a:solidFill>
            <a:srgbClr val="EADFD3"/>
          </a:solidFill>
          <a:ln/>
        </p:spPr>
        <p:txBody>
          <a:bodyPr/>
          <a:lstStyle/>
          <a:p>
            <a:endParaRPr lang="ko-KR" altLang="en-US"/>
          </a:p>
        </p:txBody>
      </p:sp>
      <p:sp>
        <p:nvSpPr>
          <p:cNvPr id="36" name="Text 34"/>
          <p:cNvSpPr/>
          <p:nvPr/>
        </p:nvSpPr>
        <p:spPr>
          <a:xfrm>
            <a:off x="557630" y="2211249"/>
            <a:ext cx="236663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가입연령</a:t>
            </a:r>
            <a:endParaRPr lang="en-US" sz="1163" dirty="0"/>
          </a:p>
        </p:txBody>
      </p:sp>
      <p:sp>
        <p:nvSpPr>
          <p:cNvPr id="37" name="Shape 35"/>
          <p:cNvSpPr/>
          <p:nvPr/>
        </p:nvSpPr>
        <p:spPr>
          <a:xfrm>
            <a:off x="2943317" y="2167932"/>
            <a:ext cx="2404738" cy="401387"/>
          </a:xfrm>
          <a:prstGeom prst="rect">
            <a:avLst/>
          </a:prstGeom>
          <a:solidFill>
            <a:srgbClr val="FFFFFF"/>
          </a:solidFill>
          <a:ln/>
        </p:spPr>
        <p:txBody>
          <a:bodyPr/>
          <a:lstStyle/>
          <a:p>
            <a:endParaRPr lang="ko-KR" altLang="en-US"/>
          </a:p>
        </p:txBody>
      </p:sp>
      <p:sp>
        <p:nvSpPr>
          <p:cNvPr id="38" name="Shape 36"/>
          <p:cNvSpPr/>
          <p:nvPr/>
        </p:nvSpPr>
        <p:spPr>
          <a:xfrm>
            <a:off x="2943317" y="2167932"/>
            <a:ext cx="2404738" cy="9525"/>
          </a:xfrm>
          <a:prstGeom prst="rect">
            <a:avLst/>
          </a:prstGeom>
          <a:solidFill>
            <a:srgbClr val="EADFD3"/>
          </a:solidFill>
          <a:ln/>
        </p:spPr>
        <p:txBody>
          <a:bodyPr/>
          <a:lstStyle/>
          <a:p>
            <a:endParaRPr lang="ko-KR" altLang="en-US"/>
          </a:p>
        </p:txBody>
      </p:sp>
      <p:sp>
        <p:nvSpPr>
          <p:cNvPr id="39" name="Shape 37"/>
          <p:cNvSpPr/>
          <p:nvPr/>
        </p:nvSpPr>
        <p:spPr>
          <a:xfrm>
            <a:off x="2943317" y="2167932"/>
            <a:ext cx="9525" cy="401387"/>
          </a:xfrm>
          <a:prstGeom prst="rect">
            <a:avLst/>
          </a:prstGeom>
          <a:solidFill>
            <a:srgbClr val="EADFD3"/>
          </a:solidFill>
          <a:ln/>
        </p:spPr>
        <p:txBody>
          <a:bodyPr/>
          <a:lstStyle/>
          <a:p>
            <a:endParaRPr lang="ko-KR" altLang="en-US"/>
          </a:p>
        </p:txBody>
      </p:sp>
      <p:sp>
        <p:nvSpPr>
          <p:cNvPr id="40" name="Text 38"/>
          <p:cNvSpPr/>
          <p:nvPr/>
        </p:nvSpPr>
        <p:spPr>
          <a:xfrm>
            <a:off x="2967584" y="2211249"/>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90세</a:t>
            </a:r>
            <a:endParaRPr lang="en-US" sz="1163" dirty="0"/>
          </a:p>
        </p:txBody>
      </p:sp>
      <p:sp>
        <p:nvSpPr>
          <p:cNvPr id="41" name="Shape 39"/>
          <p:cNvSpPr/>
          <p:nvPr/>
        </p:nvSpPr>
        <p:spPr>
          <a:xfrm>
            <a:off x="5348054" y="2167932"/>
            <a:ext cx="2404738" cy="401387"/>
          </a:xfrm>
          <a:prstGeom prst="rect">
            <a:avLst/>
          </a:prstGeom>
          <a:solidFill>
            <a:srgbClr val="FFFFFF"/>
          </a:solidFill>
          <a:ln/>
        </p:spPr>
        <p:txBody>
          <a:bodyPr/>
          <a:lstStyle/>
          <a:p>
            <a:endParaRPr lang="ko-KR" altLang="en-US"/>
          </a:p>
        </p:txBody>
      </p:sp>
      <p:sp>
        <p:nvSpPr>
          <p:cNvPr id="42" name="Shape 40"/>
          <p:cNvSpPr/>
          <p:nvPr/>
        </p:nvSpPr>
        <p:spPr>
          <a:xfrm>
            <a:off x="5348054" y="2167932"/>
            <a:ext cx="2404738" cy="9525"/>
          </a:xfrm>
          <a:prstGeom prst="rect">
            <a:avLst/>
          </a:prstGeom>
          <a:solidFill>
            <a:srgbClr val="EADFD3"/>
          </a:solidFill>
          <a:ln/>
        </p:spPr>
        <p:txBody>
          <a:bodyPr/>
          <a:lstStyle/>
          <a:p>
            <a:endParaRPr lang="ko-KR" altLang="en-US"/>
          </a:p>
        </p:txBody>
      </p:sp>
      <p:sp>
        <p:nvSpPr>
          <p:cNvPr id="43" name="Shape 41"/>
          <p:cNvSpPr/>
          <p:nvPr/>
        </p:nvSpPr>
        <p:spPr>
          <a:xfrm>
            <a:off x="5348054" y="2167932"/>
            <a:ext cx="9525" cy="401387"/>
          </a:xfrm>
          <a:prstGeom prst="rect">
            <a:avLst/>
          </a:prstGeom>
          <a:solidFill>
            <a:srgbClr val="EADFD3"/>
          </a:solidFill>
          <a:ln/>
        </p:spPr>
        <p:txBody>
          <a:bodyPr/>
          <a:lstStyle/>
          <a:p>
            <a:endParaRPr lang="ko-KR" altLang="en-US"/>
          </a:p>
        </p:txBody>
      </p:sp>
      <p:sp>
        <p:nvSpPr>
          <p:cNvPr id="44" name="Text 42"/>
          <p:cNvSpPr/>
          <p:nvPr/>
        </p:nvSpPr>
        <p:spPr>
          <a:xfrm>
            <a:off x="5372321" y="2211249"/>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90세</a:t>
            </a:r>
            <a:endParaRPr lang="en-US" sz="1163" dirty="0"/>
          </a:p>
        </p:txBody>
      </p:sp>
      <p:sp>
        <p:nvSpPr>
          <p:cNvPr id="45" name="Shape 43"/>
          <p:cNvSpPr/>
          <p:nvPr/>
        </p:nvSpPr>
        <p:spPr>
          <a:xfrm>
            <a:off x="7752792" y="2167932"/>
            <a:ext cx="2405145" cy="401387"/>
          </a:xfrm>
          <a:prstGeom prst="rect">
            <a:avLst/>
          </a:prstGeom>
          <a:solidFill>
            <a:srgbClr val="FFFFFF"/>
          </a:solidFill>
          <a:ln/>
        </p:spPr>
        <p:txBody>
          <a:bodyPr/>
          <a:lstStyle/>
          <a:p>
            <a:endParaRPr lang="ko-KR" altLang="en-US"/>
          </a:p>
        </p:txBody>
      </p:sp>
      <p:sp>
        <p:nvSpPr>
          <p:cNvPr id="46" name="Shape 44"/>
          <p:cNvSpPr/>
          <p:nvPr/>
        </p:nvSpPr>
        <p:spPr>
          <a:xfrm>
            <a:off x="7752792" y="2167932"/>
            <a:ext cx="2405145" cy="9525"/>
          </a:xfrm>
          <a:prstGeom prst="rect">
            <a:avLst/>
          </a:prstGeom>
          <a:solidFill>
            <a:srgbClr val="EADFD3"/>
          </a:solidFill>
          <a:ln/>
        </p:spPr>
        <p:txBody>
          <a:bodyPr/>
          <a:lstStyle/>
          <a:p>
            <a:endParaRPr lang="ko-KR" altLang="en-US"/>
          </a:p>
        </p:txBody>
      </p:sp>
      <p:sp>
        <p:nvSpPr>
          <p:cNvPr id="47" name="Shape 45"/>
          <p:cNvSpPr/>
          <p:nvPr/>
        </p:nvSpPr>
        <p:spPr>
          <a:xfrm>
            <a:off x="7752792" y="2167932"/>
            <a:ext cx="9525" cy="401387"/>
          </a:xfrm>
          <a:prstGeom prst="rect">
            <a:avLst/>
          </a:prstGeom>
          <a:solidFill>
            <a:srgbClr val="EADFD3"/>
          </a:solidFill>
          <a:ln/>
        </p:spPr>
        <p:txBody>
          <a:bodyPr/>
          <a:lstStyle/>
          <a:p>
            <a:endParaRPr lang="ko-KR" altLang="en-US"/>
          </a:p>
        </p:txBody>
      </p:sp>
      <p:sp>
        <p:nvSpPr>
          <p:cNvPr id="48" name="Text 46"/>
          <p:cNvSpPr/>
          <p:nvPr/>
        </p:nvSpPr>
        <p:spPr>
          <a:xfrm>
            <a:off x="7777059" y="2211249"/>
            <a:ext cx="236182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만 15 ~ 90세</a:t>
            </a:r>
            <a:endParaRPr lang="en-US" sz="1163" dirty="0"/>
          </a:p>
        </p:txBody>
      </p:sp>
      <p:sp>
        <p:nvSpPr>
          <p:cNvPr id="49" name="Shape 47"/>
          <p:cNvSpPr/>
          <p:nvPr/>
        </p:nvSpPr>
        <p:spPr>
          <a:xfrm>
            <a:off x="538580" y="2569319"/>
            <a:ext cx="2404738" cy="401387"/>
          </a:xfrm>
          <a:prstGeom prst="rect">
            <a:avLst/>
          </a:prstGeom>
          <a:solidFill>
            <a:srgbClr val="F5F7EC"/>
          </a:solidFill>
          <a:ln/>
        </p:spPr>
        <p:txBody>
          <a:bodyPr/>
          <a:lstStyle/>
          <a:p>
            <a:endParaRPr lang="ko-KR" altLang="en-US"/>
          </a:p>
        </p:txBody>
      </p:sp>
      <p:sp>
        <p:nvSpPr>
          <p:cNvPr id="50" name="Shape 48"/>
          <p:cNvSpPr/>
          <p:nvPr/>
        </p:nvSpPr>
        <p:spPr>
          <a:xfrm>
            <a:off x="538580" y="2569319"/>
            <a:ext cx="2404738" cy="9525"/>
          </a:xfrm>
          <a:prstGeom prst="rect">
            <a:avLst/>
          </a:prstGeom>
          <a:solidFill>
            <a:srgbClr val="EADFD3"/>
          </a:solidFill>
          <a:ln/>
        </p:spPr>
        <p:txBody>
          <a:bodyPr/>
          <a:lstStyle/>
          <a:p>
            <a:endParaRPr lang="ko-KR" altLang="en-US"/>
          </a:p>
        </p:txBody>
      </p:sp>
      <p:sp>
        <p:nvSpPr>
          <p:cNvPr id="51" name="Text 49"/>
          <p:cNvSpPr/>
          <p:nvPr/>
        </p:nvSpPr>
        <p:spPr>
          <a:xfrm>
            <a:off x="557630" y="2612636"/>
            <a:ext cx="236663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납입기간</a:t>
            </a:r>
            <a:endParaRPr lang="en-US" sz="1163" dirty="0"/>
          </a:p>
        </p:txBody>
      </p:sp>
      <p:sp>
        <p:nvSpPr>
          <p:cNvPr id="52" name="Shape 50"/>
          <p:cNvSpPr/>
          <p:nvPr/>
        </p:nvSpPr>
        <p:spPr>
          <a:xfrm>
            <a:off x="2943317" y="2569319"/>
            <a:ext cx="2404738" cy="401387"/>
          </a:xfrm>
          <a:prstGeom prst="rect">
            <a:avLst/>
          </a:prstGeom>
          <a:solidFill>
            <a:srgbClr val="FFFFFF"/>
          </a:solidFill>
          <a:ln/>
        </p:spPr>
        <p:txBody>
          <a:bodyPr/>
          <a:lstStyle/>
          <a:p>
            <a:endParaRPr lang="ko-KR" altLang="en-US"/>
          </a:p>
        </p:txBody>
      </p:sp>
      <p:sp>
        <p:nvSpPr>
          <p:cNvPr id="53" name="Shape 51"/>
          <p:cNvSpPr/>
          <p:nvPr/>
        </p:nvSpPr>
        <p:spPr>
          <a:xfrm>
            <a:off x="2943317" y="2569319"/>
            <a:ext cx="2404738" cy="9525"/>
          </a:xfrm>
          <a:prstGeom prst="rect">
            <a:avLst/>
          </a:prstGeom>
          <a:solidFill>
            <a:srgbClr val="EADFD3"/>
          </a:solidFill>
          <a:ln/>
        </p:spPr>
        <p:txBody>
          <a:bodyPr/>
          <a:lstStyle/>
          <a:p>
            <a:endParaRPr lang="ko-KR" altLang="en-US"/>
          </a:p>
        </p:txBody>
      </p:sp>
      <p:sp>
        <p:nvSpPr>
          <p:cNvPr id="54" name="Shape 52"/>
          <p:cNvSpPr/>
          <p:nvPr/>
        </p:nvSpPr>
        <p:spPr>
          <a:xfrm>
            <a:off x="2943317" y="2569319"/>
            <a:ext cx="9525" cy="401387"/>
          </a:xfrm>
          <a:prstGeom prst="rect">
            <a:avLst/>
          </a:prstGeom>
          <a:solidFill>
            <a:srgbClr val="EADFD3"/>
          </a:solidFill>
          <a:ln/>
        </p:spPr>
        <p:txBody>
          <a:bodyPr/>
          <a:lstStyle/>
          <a:p>
            <a:endParaRPr lang="ko-KR" altLang="en-US"/>
          </a:p>
        </p:txBody>
      </p:sp>
      <p:sp>
        <p:nvSpPr>
          <p:cNvPr id="55" name="Text 53"/>
          <p:cNvSpPr/>
          <p:nvPr/>
        </p:nvSpPr>
        <p:spPr>
          <a:xfrm>
            <a:off x="2967584" y="2612636"/>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10·15·20·25·30년납</a:t>
            </a:r>
            <a:endParaRPr lang="en-US" sz="1163" dirty="0"/>
          </a:p>
        </p:txBody>
      </p:sp>
      <p:sp>
        <p:nvSpPr>
          <p:cNvPr id="56" name="Shape 54"/>
          <p:cNvSpPr/>
          <p:nvPr/>
        </p:nvSpPr>
        <p:spPr>
          <a:xfrm>
            <a:off x="5348054" y="2569319"/>
            <a:ext cx="2404738" cy="401387"/>
          </a:xfrm>
          <a:prstGeom prst="rect">
            <a:avLst/>
          </a:prstGeom>
          <a:solidFill>
            <a:srgbClr val="FFFFFF"/>
          </a:solidFill>
          <a:ln/>
        </p:spPr>
        <p:txBody>
          <a:bodyPr/>
          <a:lstStyle/>
          <a:p>
            <a:endParaRPr lang="ko-KR" altLang="en-US"/>
          </a:p>
        </p:txBody>
      </p:sp>
      <p:sp>
        <p:nvSpPr>
          <p:cNvPr id="57" name="Shape 55"/>
          <p:cNvSpPr/>
          <p:nvPr/>
        </p:nvSpPr>
        <p:spPr>
          <a:xfrm>
            <a:off x="5348054" y="2569319"/>
            <a:ext cx="2404738" cy="9525"/>
          </a:xfrm>
          <a:prstGeom prst="rect">
            <a:avLst/>
          </a:prstGeom>
          <a:solidFill>
            <a:srgbClr val="EADFD3"/>
          </a:solidFill>
          <a:ln/>
        </p:spPr>
        <p:txBody>
          <a:bodyPr/>
          <a:lstStyle/>
          <a:p>
            <a:endParaRPr lang="ko-KR" altLang="en-US"/>
          </a:p>
        </p:txBody>
      </p:sp>
      <p:sp>
        <p:nvSpPr>
          <p:cNvPr id="58" name="Shape 56"/>
          <p:cNvSpPr/>
          <p:nvPr/>
        </p:nvSpPr>
        <p:spPr>
          <a:xfrm>
            <a:off x="5348054" y="2569319"/>
            <a:ext cx="9525" cy="401387"/>
          </a:xfrm>
          <a:prstGeom prst="rect">
            <a:avLst/>
          </a:prstGeom>
          <a:solidFill>
            <a:srgbClr val="EADFD3"/>
          </a:solidFill>
          <a:ln/>
        </p:spPr>
        <p:txBody>
          <a:bodyPr/>
          <a:lstStyle/>
          <a:p>
            <a:endParaRPr lang="ko-KR" altLang="en-US"/>
          </a:p>
        </p:txBody>
      </p:sp>
      <p:sp>
        <p:nvSpPr>
          <p:cNvPr id="59" name="Text 57"/>
          <p:cNvSpPr/>
          <p:nvPr/>
        </p:nvSpPr>
        <p:spPr>
          <a:xfrm>
            <a:off x="5372321" y="2612636"/>
            <a:ext cx="2361420"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20·30년납</a:t>
            </a:r>
            <a:endParaRPr lang="en-US" sz="1163" dirty="0"/>
          </a:p>
        </p:txBody>
      </p:sp>
      <p:sp>
        <p:nvSpPr>
          <p:cNvPr id="60" name="Shape 58"/>
          <p:cNvSpPr/>
          <p:nvPr/>
        </p:nvSpPr>
        <p:spPr>
          <a:xfrm>
            <a:off x="7752792" y="2569319"/>
            <a:ext cx="2405145" cy="401387"/>
          </a:xfrm>
          <a:prstGeom prst="rect">
            <a:avLst/>
          </a:prstGeom>
          <a:solidFill>
            <a:srgbClr val="FFFFFF"/>
          </a:solidFill>
          <a:ln/>
        </p:spPr>
        <p:txBody>
          <a:bodyPr/>
          <a:lstStyle/>
          <a:p>
            <a:endParaRPr lang="ko-KR" altLang="en-US"/>
          </a:p>
        </p:txBody>
      </p:sp>
      <p:sp>
        <p:nvSpPr>
          <p:cNvPr id="61" name="Shape 59"/>
          <p:cNvSpPr/>
          <p:nvPr/>
        </p:nvSpPr>
        <p:spPr>
          <a:xfrm>
            <a:off x="7752792" y="2569319"/>
            <a:ext cx="2405145" cy="9525"/>
          </a:xfrm>
          <a:prstGeom prst="rect">
            <a:avLst/>
          </a:prstGeom>
          <a:solidFill>
            <a:srgbClr val="EADFD3"/>
          </a:solidFill>
          <a:ln/>
        </p:spPr>
        <p:txBody>
          <a:bodyPr/>
          <a:lstStyle/>
          <a:p>
            <a:endParaRPr lang="ko-KR" altLang="en-US"/>
          </a:p>
        </p:txBody>
      </p:sp>
      <p:sp>
        <p:nvSpPr>
          <p:cNvPr id="62" name="Shape 60"/>
          <p:cNvSpPr/>
          <p:nvPr/>
        </p:nvSpPr>
        <p:spPr>
          <a:xfrm>
            <a:off x="7752792" y="2569319"/>
            <a:ext cx="9525" cy="401387"/>
          </a:xfrm>
          <a:prstGeom prst="rect">
            <a:avLst/>
          </a:prstGeom>
          <a:solidFill>
            <a:srgbClr val="EADFD3"/>
          </a:solidFill>
          <a:ln/>
        </p:spPr>
        <p:txBody>
          <a:bodyPr/>
          <a:lstStyle/>
          <a:p>
            <a:endParaRPr lang="ko-KR" altLang="en-US"/>
          </a:p>
        </p:txBody>
      </p:sp>
      <p:sp>
        <p:nvSpPr>
          <p:cNvPr id="63" name="Text 61"/>
          <p:cNvSpPr/>
          <p:nvPr/>
        </p:nvSpPr>
        <p:spPr>
          <a:xfrm>
            <a:off x="7777059" y="2612636"/>
            <a:ext cx="236182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10·15·20·25·30년납</a:t>
            </a:r>
            <a:endParaRPr lang="en-US" sz="1163" dirty="0"/>
          </a:p>
        </p:txBody>
      </p:sp>
      <p:sp>
        <p:nvSpPr>
          <p:cNvPr id="64" name="Shape 62"/>
          <p:cNvSpPr/>
          <p:nvPr/>
        </p:nvSpPr>
        <p:spPr>
          <a:xfrm>
            <a:off x="538580" y="2970707"/>
            <a:ext cx="2404738" cy="401387"/>
          </a:xfrm>
          <a:prstGeom prst="rect">
            <a:avLst/>
          </a:prstGeom>
          <a:solidFill>
            <a:srgbClr val="F5F7EC"/>
          </a:solidFill>
          <a:ln/>
        </p:spPr>
        <p:txBody>
          <a:bodyPr/>
          <a:lstStyle/>
          <a:p>
            <a:endParaRPr lang="ko-KR" altLang="en-US"/>
          </a:p>
        </p:txBody>
      </p:sp>
      <p:sp>
        <p:nvSpPr>
          <p:cNvPr id="65" name="Shape 63"/>
          <p:cNvSpPr/>
          <p:nvPr/>
        </p:nvSpPr>
        <p:spPr>
          <a:xfrm>
            <a:off x="538580" y="2970707"/>
            <a:ext cx="2404738" cy="9525"/>
          </a:xfrm>
          <a:prstGeom prst="rect">
            <a:avLst/>
          </a:prstGeom>
          <a:solidFill>
            <a:srgbClr val="EADFD3"/>
          </a:solidFill>
          <a:ln/>
        </p:spPr>
        <p:txBody>
          <a:bodyPr/>
          <a:lstStyle/>
          <a:p>
            <a:endParaRPr lang="ko-KR" altLang="en-US"/>
          </a:p>
        </p:txBody>
      </p:sp>
      <p:sp>
        <p:nvSpPr>
          <p:cNvPr id="66" name="Text 64"/>
          <p:cNvSpPr/>
          <p:nvPr/>
        </p:nvSpPr>
        <p:spPr>
          <a:xfrm>
            <a:off x="557630" y="3014024"/>
            <a:ext cx="2366638"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구분</a:t>
            </a:r>
            <a:endParaRPr lang="en-US" sz="1163" dirty="0"/>
          </a:p>
        </p:txBody>
      </p:sp>
      <p:sp>
        <p:nvSpPr>
          <p:cNvPr id="67" name="Shape 65"/>
          <p:cNvSpPr/>
          <p:nvPr/>
        </p:nvSpPr>
        <p:spPr>
          <a:xfrm>
            <a:off x="2943317" y="2970707"/>
            <a:ext cx="1202369" cy="401387"/>
          </a:xfrm>
          <a:prstGeom prst="rect">
            <a:avLst/>
          </a:prstGeom>
          <a:solidFill>
            <a:srgbClr val="FFFFFF"/>
          </a:solidFill>
          <a:ln/>
        </p:spPr>
        <p:txBody>
          <a:bodyPr/>
          <a:lstStyle/>
          <a:p>
            <a:endParaRPr lang="ko-KR" altLang="en-US"/>
          </a:p>
        </p:txBody>
      </p:sp>
      <p:sp>
        <p:nvSpPr>
          <p:cNvPr id="68" name="Shape 66"/>
          <p:cNvSpPr/>
          <p:nvPr/>
        </p:nvSpPr>
        <p:spPr>
          <a:xfrm>
            <a:off x="2943317" y="2970707"/>
            <a:ext cx="1202369" cy="9525"/>
          </a:xfrm>
          <a:prstGeom prst="rect">
            <a:avLst/>
          </a:prstGeom>
          <a:solidFill>
            <a:srgbClr val="EADFD3"/>
          </a:solidFill>
          <a:ln/>
        </p:spPr>
        <p:txBody>
          <a:bodyPr/>
          <a:lstStyle/>
          <a:p>
            <a:endParaRPr lang="ko-KR" altLang="en-US"/>
          </a:p>
        </p:txBody>
      </p:sp>
      <p:sp>
        <p:nvSpPr>
          <p:cNvPr id="69" name="Shape 67"/>
          <p:cNvSpPr/>
          <p:nvPr/>
        </p:nvSpPr>
        <p:spPr>
          <a:xfrm>
            <a:off x="2943317" y="2970707"/>
            <a:ext cx="9525" cy="401387"/>
          </a:xfrm>
          <a:prstGeom prst="rect">
            <a:avLst/>
          </a:prstGeom>
          <a:solidFill>
            <a:srgbClr val="EADFD3"/>
          </a:solidFill>
          <a:ln/>
        </p:spPr>
        <p:txBody>
          <a:bodyPr/>
          <a:lstStyle/>
          <a:p>
            <a:endParaRPr lang="ko-KR" altLang="en-US"/>
          </a:p>
        </p:txBody>
      </p:sp>
      <p:sp>
        <p:nvSpPr>
          <p:cNvPr id="70" name="Text 68"/>
          <p:cNvSpPr/>
          <p:nvPr/>
        </p:nvSpPr>
        <p:spPr>
          <a:xfrm>
            <a:off x="2967584" y="3014024"/>
            <a:ext cx="1159052"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1" name="Shape 69"/>
          <p:cNvSpPr/>
          <p:nvPr/>
        </p:nvSpPr>
        <p:spPr>
          <a:xfrm>
            <a:off x="4145686" y="2970707"/>
            <a:ext cx="1202369" cy="401387"/>
          </a:xfrm>
          <a:prstGeom prst="rect">
            <a:avLst/>
          </a:prstGeom>
          <a:solidFill>
            <a:srgbClr val="FFFFFF"/>
          </a:solidFill>
          <a:ln/>
        </p:spPr>
        <p:txBody>
          <a:bodyPr/>
          <a:lstStyle/>
          <a:p>
            <a:endParaRPr lang="ko-KR" altLang="en-US"/>
          </a:p>
        </p:txBody>
      </p:sp>
      <p:sp>
        <p:nvSpPr>
          <p:cNvPr id="72" name="Shape 70"/>
          <p:cNvSpPr/>
          <p:nvPr/>
        </p:nvSpPr>
        <p:spPr>
          <a:xfrm>
            <a:off x="4145686" y="2970707"/>
            <a:ext cx="1202369" cy="9525"/>
          </a:xfrm>
          <a:prstGeom prst="rect">
            <a:avLst/>
          </a:prstGeom>
          <a:solidFill>
            <a:srgbClr val="EADFD3"/>
          </a:solidFill>
          <a:ln/>
        </p:spPr>
        <p:txBody>
          <a:bodyPr/>
          <a:lstStyle/>
          <a:p>
            <a:endParaRPr lang="ko-KR" altLang="en-US"/>
          </a:p>
        </p:txBody>
      </p:sp>
      <p:sp>
        <p:nvSpPr>
          <p:cNvPr id="73" name="Shape 71"/>
          <p:cNvSpPr/>
          <p:nvPr/>
        </p:nvSpPr>
        <p:spPr>
          <a:xfrm>
            <a:off x="4145686" y="2970707"/>
            <a:ext cx="9525" cy="401387"/>
          </a:xfrm>
          <a:prstGeom prst="rect">
            <a:avLst/>
          </a:prstGeom>
          <a:solidFill>
            <a:srgbClr val="EADFD3"/>
          </a:solidFill>
          <a:ln/>
        </p:spPr>
        <p:txBody>
          <a:bodyPr/>
          <a:lstStyle/>
          <a:p>
            <a:endParaRPr lang="ko-KR" altLang="en-US"/>
          </a:p>
        </p:txBody>
      </p:sp>
      <p:sp>
        <p:nvSpPr>
          <p:cNvPr id="74" name="Text 72"/>
          <p:cNvSpPr/>
          <p:nvPr/>
        </p:nvSpPr>
        <p:spPr>
          <a:xfrm>
            <a:off x="4169953" y="3014024"/>
            <a:ext cx="1159052"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75" name="Shape 73"/>
          <p:cNvSpPr/>
          <p:nvPr/>
        </p:nvSpPr>
        <p:spPr>
          <a:xfrm>
            <a:off x="5348054" y="2970707"/>
            <a:ext cx="1202369" cy="401387"/>
          </a:xfrm>
          <a:prstGeom prst="rect">
            <a:avLst/>
          </a:prstGeom>
          <a:solidFill>
            <a:srgbClr val="FFFFFF"/>
          </a:solidFill>
          <a:ln/>
        </p:spPr>
        <p:txBody>
          <a:bodyPr/>
          <a:lstStyle/>
          <a:p>
            <a:endParaRPr lang="ko-KR" altLang="en-US"/>
          </a:p>
        </p:txBody>
      </p:sp>
      <p:sp>
        <p:nvSpPr>
          <p:cNvPr id="76" name="Shape 74"/>
          <p:cNvSpPr/>
          <p:nvPr/>
        </p:nvSpPr>
        <p:spPr>
          <a:xfrm>
            <a:off x="5348054" y="2970707"/>
            <a:ext cx="1202369" cy="9525"/>
          </a:xfrm>
          <a:prstGeom prst="rect">
            <a:avLst/>
          </a:prstGeom>
          <a:solidFill>
            <a:srgbClr val="EADFD3"/>
          </a:solidFill>
          <a:ln/>
        </p:spPr>
        <p:txBody>
          <a:bodyPr/>
          <a:lstStyle/>
          <a:p>
            <a:endParaRPr lang="ko-KR" altLang="en-US"/>
          </a:p>
        </p:txBody>
      </p:sp>
      <p:sp>
        <p:nvSpPr>
          <p:cNvPr id="77" name="Shape 75"/>
          <p:cNvSpPr/>
          <p:nvPr/>
        </p:nvSpPr>
        <p:spPr>
          <a:xfrm>
            <a:off x="5348054" y="2970707"/>
            <a:ext cx="9525" cy="401387"/>
          </a:xfrm>
          <a:prstGeom prst="rect">
            <a:avLst/>
          </a:prstGeom>
          <a:solidFill>
            <a:srgbClr val="EADFD3"/>
          </a:solidFill>
          <a:ln/>
        </p:spPr>
        <p:txBody>
          <a:bodyPr/>
          <a:lstStyle/>
          <a:p>
            <a:endParaRPr lang="ko-KR" altLang="en-US"/>
          </a:p>
        </p:txBody>
      </p:sp>
      <p:sp>
        <p:nvSpPr>
          <p:cNvPr id="78" name="Text 76"/>
          <p:cNvSpPr/>
          <p:nvPr/>
        </p:nvSpPr>
        <p:spPr>
          <a:xfrm>
            <a:off x="5372321" y="3014024"/>
            <a:ext cx="1159052"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79" name="Shape 77"/>
          <p:cNvSpPr/>
          <p:nvPr/>
        </p:nvSpPr>
        <p:spPr>
          <a:xfrm>
            <a:off x="6550423" y="2970707"/>
            <a:ext cx="1202369" cy="401387"/>
          </a:xfrm>
          <a:prstGeom prst="rect">
            <a:avLst/>
          </a:prstGeom>
          <a:solidFill>
            <a:srgbClr val="FFFFFF"/>
          </a:solidFill>
          <a:ln/>
        </p:spPr>
        <p:txBody>
          <a:bodyPr/>
          <a:lstStyle/>
          <a:p>
            <a:endParaRPr lang="ko-KR" altLang="en-US"/>
          </a:p>
        </p:txBody>
      </p:sp>
      <p:sp>
        <p:nvSpPr>
          <p:cNvPr id="80" name="Shape 78"/>
          <p:cNvSpPr/>
          <p:nvPr/>
        </p:nvSpPr>
        <p:spPr>
          <a:xfrm>
            <a:off x="6550423" y="2970707"/>
            <a:ext cx="1202369" cy="9525"/>
          </a:xfrm>
          <a:prstGeom prst="rect">
            <a:avLst/>
          </a:prstGeom>
          <a:solidFill>
            <a:srgbClr val="EADFD3"/>
          </a:solidFill>
          <a:ln/>
        </p:spPr>
        <p:txBody>
          <a:bodyPr/>
          <a:lstStyle/>
          <a:p>
            <a:endParaRPr lang="ko-KR" altLang="en-US"/>
          </a:p>
        </p:txBody>
      </p:sp>
      <p:sp>
        <p:nvSpPr>
          <p:cNvPr id="81" name="Shape 79"/>
          <p:cNvSpPr/>
          <p:nvPr/>
        </p:nvSpPr>
        <p:spPr>
          <a:xfrm>
            <a:off x="6550423" y="2970707"/>
            <a:ext cx="9525" cy="401387"/>
          </a:xfrm>
          <a:prstGeom prst="rect">
            <a:avLst/>
          </a:prstGeom>
          <a:solidFill>
            <a:srgbClr val="EADFD3"/>
          </a:solidFill>
          <a:ln/>
        </p:spPr>
        <p:txBody>
          <a:bodyPr/>
          <a:lstStyle/>
          <a:p>
            <a:endParaRPr lang="ko-KR" altLang="en-US"/>
          </a:p>
        </p:txBody>
      </p:sp>
      <p:sp>
        <p:nvSpPr>
          <p:cNvPr id="82" name="Text 80"/>
          <p:cNvSpPr/>
          <p:nvPr/>
        </p:nvSpPr>
        <p:spPr>
          <a:xfrm>
            <a:off x="6574690" y="3014024"/>
            <a:ext cx="1159052"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83" name="Shape 81"/>
          <p:cNvSpPr/>
          <p:nvPr/>
        </p:nvSpPr>
        <p:spPr>
          <a:xfrm>
            <a:off x="7752792" y="2970707"/>
            <a:ext cx="1202369" cy="401387"/>
          </a:xfrm>
          <a:prstGeom prst="rect">
            <a:avLst/>
          </a:prstGeom>
          <a:solidFill>
            <a:srgbClr val="FFFFFF"/>
          </a:solidFill>
          <a:ln/>
        </p:spPr>
        <p:txBody>
          <a:bodyPr/>
          <a:lstStyle/>
          <a:p>
            <a:endParaRPr lang="ko-KR" altLang="en-US"/>
          </a:p>
        </p:txBody>
      </p:sp>
      <p:sp>
        <p:nvSpPr>
          <p:cNvPr id="84" name="Shape 82"/>
          <p:cNvSpPr/>
          <p:nvPr/>
        </p:nvSpPr>
        <p:spPr>
          <a:xfrm>
            <a:off x="7752792" y="2970707"/>
            <a:ext cx="1202369" cy="9525"/>
          </a:xfrm>
          <a:prstGeom prst="rect">
            <a:avLst/>
          </a:prstGeom>
          <a:solidFill>
            <a:srgbClr val="EADFD3"/>
          </a:solidFill>
          <a:ln/>
        </p:spPr>
        <p:txBody>
          <a:bodyPr/>
          <a:lstStyle/>
          <a:p>
            <a:endParaRPr lang="ko-KR" altLang="en-US"/>
          </a:p>
        </p:txBody>
      </p:sp>
      <p:sp>
        <p:nvSpPr>
          <p:cNvPr id="85" name="Shape 83"/>
          <p:cNvSpPr/>
          <p:nvPr/>
        </p:nvSpPr>
        <p:spPr>
          <a:xfrm>
            <a:off x="7752792" y="2970707"/>
            <a:ext cx="9525" cy="401387"/>
          </a:xfrm>
          <a:prstGeom prst="rect">
            <a:avLst/>
          </a:prstGeom>
          <a:solidFill>
            <a:srgbClr val="EADFD3"/>
          </a:solidFill>
          <a:ln/>
        </p:spPr>
        <p:txBody>
          <a:bodyPr/>
          <a:lstStyle/>
          <a:p>
            <a:endParaRPr lang="ko-KR" altLang="en-US"/>
          </a:p>
        </p:txBody>
      </p:sp>
      <p:sp>
        <p:nvSpPr>
          <p:cNvPr id="86" name="Text 84"/>
          <p:cNvSpPr/>
          <p:nvPr/>
        </p:nvSpPr>
        <p:spPr>
          <a:xfrm>
            <a:off x="7777059" y="3014024"/>
            <a:ext cx="1159052"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남성</a:t>
            </a:r>
            <a:endParaRPr lang="en-US" sz="1163" dirty="0"/>
          </a:p>
        </p:txBody>
      </p:sp>
      <p:sp>
        <p:nvSpPr>
          <p:cNvPr id="87" name="Shape 85"/>
          <p:cNvSpPr/>
          <p:nvPr/>
        </p:nvSpPr>
        <p:spPr>
          <a:xfrm>
            <a:off x="8955161" y="2970707"/>
            <a:ext cx="1202776" cy="401387"/>
          </a:xfrm>
          <a:prstGeom prst="rect">
            <a:avLst/>
          </a:prstGeom>
          <a:solidFill>
            <a:srgbClr val="FFFFFF"/>
          </a:solidFill>
          <a:ln/>
        </p:spPr>
        <p:txBody>
          <a:bodyPr/>
          <a:lstStyle/>
          <a:p>
            <a:endParaRPr lang="ko-KR" altLang="en-US"/>
          </a:p>
        </p:txBody>
      </p:sp>
      <p:sp>
        <p:nvSpPr>
          <p:cNvPr id="88" name="Shape 86"/>
          <p:cNvSpPr/>
          <p:nvPr/>
        </p:nvSpPr>
        <p:spPr>
          <a:xfrm>
            <a:off x="8955161" y="2970707"/>
            <a:ext cx="1202776" cy="9525"/>
          </a:xfrm>
          <a:prstGeom prst="rect">
            <a:avLst/>
          </a:prstGeom>
          <a:solidFill>
            <a:srgbClr val="EADFD3"/>
          </a:solidFill>
          <a:ln/>
        </p:spPr>
        <p:txBody>
          <a:bodyPr/>
          <a:lstStyle/>
          <a:p>
            <a:endParaRPr lang="ko-KR" altLang="en-US"/>
          </a:p>
        </p:txBody>
      </p:sp>
      <p:sp>
        <p:nvSpPr>
          <p:cNvPr id="89" name="Shape 87"/>
          <p:cNvSpPr/>
          <p:nvPr/>
        </p:nvSpPr>
        <p:spPr>
          <a:xfrm>
            <a:off x="8955161" y="2970707"/>
            <a:ext cx="9525" cy="401387"/>
          </a:xfrm>
          <a:prstGeom prst="rect">
            <a:avLst/>
          </a:prstGeom>
          <a:solidFill>
            <a:srgbClr val="EADFD3"/>
          </a:solidFill>
          <a:ln/>
        </p:spPr>
        <p:txBody>
          <a:bodyPr/>
          <a:lstStyle/>
          <a:p>
            <a:endParaRPr lang="ko-KR" altLang="en-US"/>
          </a:p>
        </p:txBody>
      </p:sp>
      <p:sp>
        <p:nvSpPr>
          <p:cNvPr id="90" name="Text 88"/>
          <p:cNvSpPr/>
          <p:nvPr/>
        </p:nvSpPr>
        <p:spPr>
          <a:xfrm>
            <a:off x="8979428" y="3014024"/>
            <a:ext cx="1159459" cy="358070"/>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여성</a:t>
            </a:r>
            <a:endParaRPr lang="en-US" sz="1163" dirty="0"/>
          </a:p>
        </p:txBody>
      </p:sp>
      <p:sp>
        <p:nvSpPr>
          <p:cNvPr id="91" name="Shape 89"/>
          <p:cNvSpPr/>
          <p:nvPr/>
        </p:nvSpPr>
        <p:spPr>
          <a:xfrm>
            <a:off x="538580" y="3372094"/>
            <a:ext cx="1202369" cy="408968"/>
          </a:xfrm>
          <a:prstGeom prst="rect">
            <a:avLst/>
          </a:prstGeom>
          <a:solidFill>
            <a:srgbClr val="F5F7EC"/>
          </a:solidFill>
          <a:ln/>
        </p:spPr>
        <p:txBody>
          <a:bodyPr/>
          <a:lstStyle/>
          <a:p>
            <a:endParaRPr lang="ko-KR" altLang="en-US"/>
          </a:p>
        </p:txBody>
      </p:sp>
      <p:sp>
        <p:nvSpPr>
          <p:cNvPr id="92" name="Shape 90"/>
          <p:cNvSpPr/>
          <p:nvPr/>
        </p:nvSpPr>
        <p:spPr>
          <a:xfrm>
            <a:off x="538580" y="3372094"/>
            <a:ext cx="1202369" cy="9525"/>
          </a:xfrm>
          <a:prstGeom prst="rect">
            <a:avLst/>
          </a:prstGeom>
          <a:solidFill>
            <a:srgbClr val="EADFD3"/>
          </a:solidFill>
          <a:ln/>
        </p:spPr>
        <p:txBody>
          <a:bodyPr/>
          <a:lstStyle/>
          <a:p>
            <a:endParaRPr lang="ko-KR" altLang="en-US"/>
          </a:p>
        </p:txBody>
      </p:sp>
      <p:sp>
        <p:nvSpPr>
          <p:cNvPr id="93" name="Text 91"/>
          <p:cNvSpPr/>
          <p:nvPr/>
        </p:nvSpPr>
        <p:spPr>
          <a:xfrm>
            <a:off x="557630" y="3415411"/>
            <a:ext cx="116426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일반암진단</a:t>
            </a:r>
            <a:endParaRPr lang="en-US" sz="1163" dirty="0"/>
          </a:p>
        </p:txBody>
      </p:sp>
      <p:sp>
        <p:nvSpPr>
          <p:cNvPr id="94" name="Shape 92"/>
          <p:cNvSpPr/>
          <p:nvPr/>
        </p:nvSpPr>
        <p:spPr>
          <a:xfrm>
            <a:off x="1740948" y="3372094"/>
            <a:ext cx="1202369" cy="408968"/>
          </a:xfrm>
          <a:prstGeom prst="rect">
            <a:avLst/>
          </a:prstGeom>
          <a:solidFill>
            <a:srgbClr val="F5F7EC"/>
          </a:solidFill>
          <a:ln/>
        </p:spPr>
        <p:txBody>
          <a:bodyPr/>
          <a:lstStyle/>
          <a:p>
            <a:endParaRPr lang="ko-KR" altLang="en-US"/>
          </a:p>
        </p:txBody>
      </p:sp>
      <p:sp>
        <p:nvSpPr>
          <p:cNvPr id="95" name="Shape 93"/>
          <p:cNvSpPr/>
          <p:nvPr/>
        </p:nvSpPr>
        <p:spPr>
          <a:xfrm>
            <a:off x="1740948" y="3372094"/>
            <a:ext cx="1202369" cy="9525"/>
          </a:xfrm>
          <a:prstGeom prst="rect">
            <a:avLst/>
          </a:prstGeom>
          <a:solidFill>
            <a:srgbClr val="EADFD3"/>
          </a:solidFill>
          <a:ln/>
        </p:spPr>
        <p:txBody>
          <a:bodyPr/>
          <a:lstStyle/>
          <a:p>
            <a:endParaRPr lang="ko-KR" altLang="en-US"/>
          </a:p>
        </p:txBody>
      </p:sp>
      <p:sp>
        <p:nvSpPr>
          <p:cNvPr id="96" name="Shape 94"/>
          <p:cNvSpPr/>
          <p:nvPr/>
        </p:nvSpPr>
        <p:spPr>
          <a:xfrm>
            <a:off x="1740948" y="3372094"/>
            <a:ext cx="9525" cy="408968"/>
          </a:xfrm>
          <a:prstGeom prst="rect">
            <a:avLst/>
          </a:prstGeom>
          <a:solidFill>
            <a:srgbClr val="EADFD3"/>
          </a:solidFill>
          <a:ln/>
        </p:spPr>
        <p:txBody>
          <a:bodyPr/>
          <a:lstStyle/>
          <a:p>
            <a:endParaRPr lang="ko-KR" altLang="en-US"/>
          </a:p>
        </p:txBody>
      </p:sp>
      <p:sp>
        <p:nvSpPr>
          <p:cNvPr id="97" name="Text 95"/>
          <p:cNvSpPr/>
          <p:nvPr/>
        </p:nvSpPr>
        <p:spPr>
          <a:xfrm>
            <a:off x="1765215"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98" name="Shape 96"/>
          <p:cNvSpPr/>
          <p:nvPr/>
        </p:nvSpPr>
        <p:spPr>
          <a:xfrm>
            <a:off x="2943317" y="3372094"/>
            <a:ext cx="1202369" cy="408968"/>
          </a:xfrm>
          <a:prstGeom prst="rect">
            <a:avLst/>
          </a:prstGeom>
          <a:solidFill>
            <a:srgbClr val="FFFFFF"/>
          </a:solidFill>
          <a:ln/>
        </p:spPr>
        <p:txBody>
          <a:bodyPr/>
          <a:lstStyle/>
          <a:p>
            <a:endParaRPr lang="ko-KR" altLang="en-US"/>
          </a:p>
        </p:txBody>
      </p:sp>
      <p:sp>
        <p:nvSpPr>
          <p:cNvPr id="99" name="Shape 97"/>
          <p:cNvSpPr/>
          <p:nvPr/>
        </p:nvSpPr>
        <p:spPr>
          <a:xfrm>
            <a:off x="2943317" y="3372094"/>
            <a:ext cx="1202369" cy="9525"/>
          </a:xfrm>
          <a:prstGeom prst="rect">
            <a:avLst/>
          </a:prstGeom>
          <a:solidFill>
            <a:srgbClr val="EADFD3"/>
          </a:solidFill>
          <a:ln/>
        </p:spPr>
        <p:txBody>
          <a:bodyPr/>
          <a:lstStyle/>
          <a:p>
            <a:endParaRPr lang="ko-KR" altLang="en-US"/>
          </a:p>
        </p:txBody>
      </p:sp>
      <p:sp>
        <p:nvSpPr>
          <p:cNvPr id="100" name="Shape 98"/>
          <p:cNvSpPr/>
          <p:nvPr/>
        </p:nvSpPr>
        <p:spPr>
          <a:xfrm>
            <a:off x="2943317" y="3372094"/>
            <a:ext cx="9525" cy="408968"/>
          </a:xfrm>
          <a:prstGeom prst="rect">
            <a:avLst/>
          </a:prstGeom>
          <a:solidFill>
            <a:srgbClr val="EADFD3"/>
          </a:solidFill>
          <a:ln/>
        </p:spPr>
        <p:txBody>
          <a:bodyPr/>
          <a:lstStyle/>
          <a:p>
            <a:endParaRPr lang="ko-KR" altLang="en-US"/>
          </a:p>
        </p:txBody>
      </p:sp>
      <p:sp>
        <p:nvSpPr>
          <p:cNvPr id="101" name="Text 99"/>
          <p:cNvSpPr/>
          <p:nvPr/>
        </p:nvSpPr>
        <p:spPr>
          <a:xfrm>
            <a:off x="2967584"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13,900</a:t>
            </a:r>
            <a:endParaRPr lang="en-US" sz="1163" dirty="0"/>
          </a:p>
        </p:txBody>
      </p:sp>
      <p:sp>
        <p:nvSpPr>
          <p:cNvPr id="102" name="Shape 100"/>
          <p:cNvSpPr/>
          <p:nvPr/>
        </p:nvSpPr>
        <p:spPr>
          <a:xfrm>
            <a:off x="4145686" y="3372094"/>
            <a:ext cx="1202369" cy="408968"/>
          </a:xfrm>
          <a:prstGeom prst="rect">
            <a:avLst/>
          </a:prstGeom>
          <a:solidFill>
            <a:srgbClr val="FFFFFF"/>
          </a:solidFill>
          <a:ln/>
        </p:spPr>
        <p:txBody>
          <a:bodyPr/>
          <a:lstStyle/>
          <a:p>
            <a:endParaRPr lang="ko-KR" altLang="en-US"/>
          </a:p>
        </p:txBody>
      </p:sp>
      <p:sp>
        <p:nvSpPr>
          <p:cNvPr id="103" name="Shape 101"/>
          <p:cNvSpPr/>
          <p:nvPr/>
        </p:nvSpPr>
        <p:spPr>
          <a:xfrm>
            <a:off x="4145686" y="3372094"/>
            <a:ext cx="1202369" cy="9525"/>
          </a:xfrm>
          <a:prstGeom prst="rect">
            <a:avLst/>
          </a:prstGeom>
          <a:solidFill>
            <a:srgbClr val="EADFD3"/>
          </a:solidFill>
          <a:ln/>
        </p:spPr>
        <p:txBody>
          <a:bodyPr/>
          <a:lstStyle/>
          <a:p>
            <a:endParaRPr lang="ko-KR" altLang="en-US"/>
          </a:p>
        </p:txBody>
      </p:sp>
      <p:sp>
        <p:nvSpPr>
          <p:cNvPr id="104" name="Shape 102"/>
          <p:cNvSpPr/>
          <p:nvPr/>
        </p:nvSpPr>
        <p:spPr>
          <a:xfrm>
            <a:off x="4145686" y="3372094"/>
            <a:ext cx="9525" cy="408968"/>
          </a:xfrm>
          <a:prstGeom prst="rect">
            <a:avLst/>
          </a:prstGeom>
          <a:solidFill>
            <a:srgbClr val="EADFD3"/>
          </a:solidFill>
          <a:ln/>
        </p:spPr>
        <p:txBody>
          <a:bodyPr/>
          <a:lstStyle/>
          <a:p>
            <a:endParaRPr lang="ko-KR" altLang="en-US"/>
          </a:p>
        </p:txBody>
      </p:sp>
      <p:sp>
        <p:nvSpPr>
          <p:cNvPr id="105" name="Text 103"/>
          <p:cNvSpPr/>
          <p:nvPr/>
        </p:nvSpPr>
        <p:spPr>
          <a:xfrm>
            <a:off x="4169953"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10,710</a:t>
            </a:r>
            <a:endParaRPr lang="en-US" sz="1163" dirty="0"/>
          </a:p>
        </p:txBody>
      </p:sp>
      <p:sp>
        <p:nvSpPr>
          <p:cNvPr id="106" name="Shape 104"/>
          <p:cNvSpPr/>
          <p:nvPr/>
        </p:nvSpPr>
        <p:spPr>
          <a:xfrm>
            <a:off x="5348054" y="3372094"/>
            <a:ext cx="1202369" cy="408968"/>
          </a:xfrm>
          <a:prstGeom prst="rect">
            <a:avLst/>
          </a:prstGeom>
          <a:solidFill>
            <a:srgbClr val="FFFFFF"/>
          </a:solidFill>
          <a:ln/>
        </p:spPr>
        <p:txBody>
          <a:bodyPr/>
          <a:lstStyle/>
          <a:p>
            <a:endParaRPr lang="ko-KR" altLang="en-US"/>
          </a:p>
        </p:txBody>
      </p:sp>
      <p:sp>
        <p:nvSpPr>
          <p:cNvPr id="107" name="Shape 105"/>
          <p:cNvSpPr/>
          <p:nvPr/>
        </p:nvSpPr>
        <p:spPr>
          <a:xfrm>
            <a:off x="5348054" y="3372094"/>
            <a:ext cx="1202369" cy="9525"/>
          </a:xfrm>
          <a:prstGeom prst="rect">
            <a:avLst/>
          </a:prstGeom>
          <a:solidFill>
            <a:srgbClr val="EADFD3"/>
          </a:solidFill>
          <a:ln/>
        </p:spPr>
        <p:txBody>
          <a:bodyPr/>
          <a:lstStyle/>
          <a:p>
            <a:endParaRPr lang="ko-KR" altLang="en-US"/>
          </a:p>
        </p:txBody>
      </p:sp>
      <p:sp>
        <p:nvSpPr>
          <p:cNvPr id="108" name="Shape 106"/>
          <p:cNvSpPr/>
          <p:nvPr/>
        </p:nvSpPr>
        <p:spPr>
          <a:xfrm>
            <a:off x="5348054" y="3372094"/>
            <a:ext cx="9525" cy="408968"/>
          </a:xfrm>
          <a:prstGeom prst="rect">
            <a:avLst/>
          </a:prstGeom>
          <a:solidFill>
            <a:srgbClr val="EADFD3"/>
          </a:solidFill>
          <a:ln/>
        </p:spPr>
        <p:txBody>
          <a:bodyPr/>
          <a:lstStyle/>
          <a:p>
            <a:endParaRPr lang="ko-KR" altLang="en-US"/>
          </a:p>
        </p:txBody>
      </p:sp>
      <p:sp>
        <p:nvSpPr>
          <p:cNvPr id="109" name="Text 107"/>
          <p:cNvSpPr/>
          <p:nvPr/>
        </p:nvSpPr>
        <p:spPr>
          <a:xfrm>
            <a:off x="5372321"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16,450</a:t>
            </a:r>
            <a:endParaRPr lang="en-US" sz="1163" dirty="0"/>
          </a:p>
        </p:txBody>
      </p:sp>
      <p:sp>
        <p:nvSpPr>
          <p:cNvPr id="110" name="Shape 108"/>
          <p:cNvSpPr/>
          <p:nvPr/>
        </p:nvSpPr>
        <p:spPr>
          <a:xfrm>
            <a:off x="6550423" y="3372094"/>
            <a:ext cx="1202369" cy="408968"/>
          </a:xfrm>
          <a:prstGeom prst="rect">
            <a:avLst/>
          </a:prstGeom>
          <a:solidFill>
            <a:srgbClr val="FFFFFF"/>
          </a:solidFill>
          <a:ln/>
        </p:spPr>
        <p:txBody>
          <a:bodyPr/>
          <a:lstStyle/>
          <a:p>
            <a:endParaRPr lang="ko-KR" altLang="en-US"/>
          </a:p>
        </p:txBody>
      </p:sp>
      <p:sp>
        <p:nvSpPr>
          <p:cNvPr id="111" name="Shape 109"/>
          <p:cNvSpPr/>
          <p:nvPr/>
        </p:nvSpPr>
        <p:spPr>
          <a:xfrm>
            <a:off x="6550423" y="3372094"/>
            <a:ext cx="1202369" cy="9525"/>
          </a:xfrm>
          <a:prstGeom prst="rect">
            <a:avLst/>
          </a:prstGeom>
          <a:solidFill>
            <a:srgbClr val="EADFD3"/>
          </a:solidFill>
          <a:ln/>
        </p:spPr>
        <p:txBody>
          <a:bodyPr/>
          <a:lstStyle/>
          <a:p>
            <a:endParaRPr lang="ko-KR" altLang="en-US"/>
          </a:p>
        </p:txBody>
      </p:sp>
      <p:sp>
        <p:nvSpPr>
          <p:cNvPr id="112" name="Shape 110"/>
          <p:cNvSpPr/>
          <p:nvPr/>
        </p:nvSpPr>
        <p:spPr>
          <a:xfrm>
            <a:off x="6550423" y="3372094"/>
            <a:ext cx="9525" cy="408968"/>
          </a:xfrm>
          <a:prstGeom prst="rect">
            <a:avLst/>
          </a:prstGeom>
          <a:solidFill>
            <a:srgbClr val="EADFD3"/>
          </a:solidFill>
          <a:ln/>
        </p:spPr>
        <p:txBody>
          <a:bodyPr/>
          <a:lstStyle/>
          <a:p>
            <a:endParaRPr lang="ko-KR" altLang="en-US"/>
          </a:p>
        </p:txBody>
      </p:sp>
      <p:sp>
        <p:nvSpPr>
          <p:cNvPr id="113" name="Text 111"/>
          <p:cNvSpPr/>
          <p:nvPr/>
        </p:nvSpPr>
        <p:spPr>
          <a:xfrm>
            <a:off x="6574690"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11,200</a:t>
            </a:r>
            <a:endParaRPr lang="en-US" sz="1163" dirty="0"/>
          </a:p>
        </p:txBody>
      </p:sp>
      <p:sp>
        <p:nvSpPr>
          <p:cNvPr id="114" name="Shape 112"/>
          <p:cNvSpPr/>
          <p:nvPr/>
        </p:nvSpPr>
        <p:spPr>
          <a:xfrm>
            <a:off x="7752792" y="3372094"/>
            <a:ext cx="1202369" cy="408968"/>
          </a:xfrm>
          <a:prstGeom prst="rect">
            <a:avLst/>
          </a:prstGeom>
          <a:solidFill>
            <a:srgbClr val="FFFFFF"/>
          </a:solidFill>
          <a:ln/>
        </p:spPr>
        <p:txBody>
          <a:bodyPr/>
          <a:lstStyle/>
          <a:p>
            <a:endParaRPr lang="ko-KR" altLang="en-US"/>
          </a:p>
        </p:txBody>
      </p:sp>
      <p:sp>
        <p:nvSpPr>
          <p:cNvPr id="115" name="Shape 113"/>
          <p:cNvSpPr/>
          <p:nvPr/>
        </p:nvSpPr>
        <p:spPr>
          <a:xfrm>
            <a:off x="7752792" y="3372094"/>
            <a:ext cx="1202369" cy="9525"/>
          </a:xfrm>
          <a:prstGeom prst="rect">
            <a:avLst/>
          </a:prstGeom>
          <a:solidFill>
            <a:srgbClr val="EADFD3"/>
          </a:solidFill>
          <a:ln/>
        </p:spPr>
        <p:txBody>
          <a:bodyPr/>
          <a:lstStyle/>
          <a:p>
            <a:endParaRPr lang="ko-KR" altLang="en-US"/>
          </a:p>
        </p:txBody>
      </p:sp>
      <p:sp>
        <p:nvSpPr>
          <p:cNvPr id="116" name="Shape 114"/>
          <p:cNvSpPr/>
          <p:nvPr/>
        </p:nvSpPr>
        <p:spPr>
          <a:xfrm>
            <a:off x="7752792" y="3372094"/>
            <a:ext cx="9525" cy="408968"/>
          </a:xfrm>
          <a:prstGeom prst="rect">
            <a:avLst/>
          </a:prstGeom>
          <a:solidFill>
            <a:srgbClr val="EADFD3"/>
          </a:solidFill>
          <a:ln/>
        </p:spPr>
        <p:txBody>
          <a:bodyPr/>
          <a:lstStyle/>
          <a:p>
            <a:endParaRPr lang="ko-KR" altLang="en-US"/>
          </a:p>
        </p:txBody>
      </p:sp>
      <p:sp>
        <p:nvSpPr>
          <p:cNvPr id="117" name="Text 115"/>
          <p:cNvSpPr/>
          <p:nvPr/>
        </p:nvSpPr>
        <p:spPr>
          <a:xfrm>
            <a:off x="7777059" y="3415411"/>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16,380</a:t>
            </a:r>
            <a:endParaRPr lang="en-US" sz="1163" dirty="0"/>
          </a:p>
        </p:txBody>
      </p:sp>
      <p:sp>
        <p:nvSpPr>
          <p:cNvPr id="118" name="Shape 116"/>
          <p:cNvSpPr/>
          <p:nvPr/>
        </p:nvSpPr>
        <p:spPr>
          <a:xfrm>
            <a:off x="8955161" y="3372094"/>
            <a:ext cx="1202776" cy="408968"/>
          </a:xfrm>
          <a:prstGeom prst="rect">
            <a:avLst/>
          </a:prstGeom>
          <a:solidFill>
            <a:srgbClr val="FFFFFF"/>
          </a:solidFill>
          <a:ln/>
        </p:spPr>
        <p:txBody>
          <a:bodyPr/>
          <a:lstStyle/>
          <a:p>
            <a:endParaRPr lang="ko-KR" altLang="en-US"/>
          </a:p>
        </p:txBody>
      </p:sp>
      <p:sp>
        <p:nvSpPr>
          <p:cNvPr id="119" name="Shape 117"/>
          <p:cNvSpPr/>
          <p:nvPr/>
        </p:nvSpPr>
        <p:spPr>
          <a:xfrm>
            <a:off x="8955161" y="3372094"/>
            <a:ext cx="1202776" cy="9525"/>
          </a:xfrm>
          <a:prstGeom prst="rect">
            <a:avLst/>
          </a:prstGeom>
          <a:solidFill>
            <a:srgbClr val="EADFD3"/>
          </a:solidFill>
          <a:ln/>
        </p:spPr>
        <p:txBody>
          <a:bodyPr/>
          <a:lstStyle/>
          <a:p>
            <a:endParaRPr lang="ko-KR" altLang="en-US"/>
          </a:p>
        </p:txBody>
      </p:sp>
      <p:sp>
        <p:nvSpPr>
          <p:cNvPr id="120" name="Shape 118"/>
          <p:cNvSpPr/>
          <p:nvPr/>
        </p:nvSpPr>
        <p:spPr>
          <a:xfrm>
            <a:off x="8955161" y="3372094"/>
            <a:ext cx="9525" cy="408968"/>
          </a:xfrm>
          <a:prstGeom prst="rect">
            <a:avLst/>
          </a:prstGeom>
          <a:solidFill>
            <a:srgbClr val="EADFD3"/>
          </a:solidFill>
          <a:ln/>
        </p:spPr>
        <p:txBody>
          <a:bodyPr/>
          <a:lstStyle/>
          <a:p>
            <a:endParaRPr lang="ko-KR" altLang="en-US"/>
          </a:p>
        </p:txBody>
      </p:sp>
      <p:sp>
        <p:nvSpPr>
          <p:cNvPr id="121" name="Text 119"/>
          <p:cNvSpPr/>
          <p:nvPr/>
        </p:nvSpPr>
        <p:spPr>
          <a:xfrm>
            <a:off x="8979428" y="3415411"/>
            <a:ext cx="115945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12,840</a:t>
            </a:r>
            <a:endParaRPr lang="en-US" sz="1163" dirty="0"/>
          </a:p>
        </p:txBody>
      </p:sp>
      <p:sp>
        <p:nvSpPr>
          <p:cNvPr id="122" name="Shape 120"/>
          <p:cNvSpPr/>
          <p:nvPr/>
        </p:nvSpPr>
        <p:spPr>
          <a:xfrm>
            <a:off x="538580" y="3781063"/>
            <a:ext cx="1202369" cy="684494"/>
          </a:xfrm>
          <a:prstGeom prst="rect">
            <a:avLst/>
          </a:prstGeom>
          <a:solidFill>
            <a:srgbClr val="F5F7EC"/>
          </a:solidFill>
          <a:ln/>
        </p:spPr>
        <p:txBody>
          <a:bodyPr/>
          <a:lstStyle/>
          <a:p>
            <a:endParaRPr lang="ko-KR" altLang="en-US"/>
          </a:p>
        </p:txBody>
      </p:sp>
      <p:sp>
        <p:nvSpPr>
          <p:cNvPr id="123" name="Shape 121"/>
          <p:cNvSpPr/>
          <p:nvPr/>
        </p:nvSpPr>
        <p:spPr>
          <a:xfrm>
            <a:off x="538580" y="3781063"/>
            <a:ext cx="1202369" cy="9525"/>
          </a:xfrm>
          <a:prstGeom prst="rect">
            <a:avLst/>
          </a:prstGeom>
          <a:solidFill>
            <a:srgbClr val="EADFD3"/>
          </a:solidFill>
          <a:ln/>
        </p:spPr>
        <p:txBody>
          <a:bodyPr/>
          <a:lstStyle/>
          <a:p>
            <a:endParaRPr lang="ko-KR" altLang="en-US"/>
          </a:p>
        </p:txBody>
      </p:sp>
      <p:sp>
        <p:nvSpPr>
          <p:cNvPr id="124" name="Text 122"/>
          <p:cNvSpPr/>
          <p:nvPr/>
        </p:nvSpPr>
        <p:spPr>
          <a:xfrm>
            <a:off x="557630" y="3824380"/>
            <a:ext cx="1164269"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암주요치료 (10년지급)</a:t>
            </a:r>
            <a:endParaRPr lang="en-US" sz="1163" dirty="0"/>
          </a:p>
        </p:txBody>
      </p:sp>
      <p:sp>
        <p:nvSpPr>
          <p:cNvPr id="125" name="Shape 123"/>
          <p:cNvSpPr/>
          <p:nvPr/>
        </p:nvSpPr>
        <p:spPr>
          <a:xfrm>
            <a:off x="1740948" y="3781063"/>
            <a:ext cx="1202369" cy="684494"/>
          </a:xfrm>
          <a:prstGeom prst="rect">
            <a:avLst/>
          </a:prstGeom>
          <a:solidFill>
            <a:srgbClr val="F5F7EC"/>
          </a:solidFill>
          <a:ln/>
        </p:spPr>
        <p:txBody>
          <a:bodyPr/>
          <a:lstStyle/>
          <a:p>
            <a:endParaRPr lang="ko-KR" altLang="en-US"/>
          </a:p>
        </p:txBody>
      </p:sp>
      <p:sp>
        <p:nvSpPr>
          <p:cNvPr id="126" name="Shape 124"/>
          <p:cNvSpPr/>
          <p:nvPr/>
        </p:nvSpPr>
        <p:spPr>
          <a:xfrm>
            <a:off x="1740948" y="3781063"/>
            <a:ext cx="1202369" cy="9525"/>
          </a:xfrm>
          <a:prstGeom prst="rect">
            <a:avLst/>
          </a:prstGeom>
          <a:solidFill>
            <a:srgbClr val="EADFD3"/>
          </a:solidFill>
          <a:ln/>
        </p:spPr>
        <p:txBody>
          <a:bodyPr/>
          <a:lstStyle/>
          <a:p>
            <a:endParaRPr lang="ko-KR" altLang="en-US"/>
          </a:p>
        </p:txBody>
      </p:sp>
      <p:sp>
        <p:nvSpPr>
          <p:cNvPr id="127" name="Shape 125"/>
          <p:cNvSpPr/>
          <p:nvPr/>
        </p:nvSpPr>
        <p:spPr>
          <a:xfrm>
            <a:off x="1740948" y="3781063"/>
            <a:ext cx="9525" cy="684494"/>
          </a:xfrm>
          <a:prstGeom prst="rect">
            <a:avLst/>
          </a:prstGeom>
          <a:solidFill>
            <a:srgbClr val="EADFD3"/>
          </a:solidFill>
          <a:ln/>
        </p:spPr>
        <p:txBody>
          <a:bodyPr/>
          <a:lstStyle/>
          <a:p>
            <a:endParaRPr lang="ko-KR" altLang="en-US"/>
          </a:p>
        </p:txBody>
      </p:sp>
      <p:sp>
        <p:nvSpPr>
          <p:cNvPr id="128" name="Text 126"/>
          <p:cNvSpPr/>
          <p:nvPr/>
        </p:nvSpPr>
        <p:spPr>
          <a:xfrm>
            <a:off x="1765215"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29" name="Shape 127"/>
          <p:cNvSpPr/>
          <p:nvPr/>
        </p:nvSpPr>
        <p:spPr>
          <a:xfrm>
            <a:off x="2943317" y="3781063"/>
            <a:ext cx="1202369" cy="684494"/>
          </a:xfrm>
          <a:prstGeom prst="rect">
            <a:avLst/>
          </a:prstGeom>
          <a:solidFill>
            <a:srgbClr val="FFFFFF"/>
          </a:solidFill>
          <a:ln/>
        </p:spPr>
        <p:txBody>
          <a:bodyPr/>
          <a:lstStyle/>
          <a:p>
            <a:endParaRPr lang="ko-KR" altLang="en-US"/>
          </a:p>
        </p:txBody>
      </p:sp>
      <p:sp>
        <p:nvSpPr>
          <p:cNvPr id="130" name="Shape 128"/>
          <p:cNvSpPr/>
          <p:nvPr/>
        </p:nvSpPr>
        <p:spPr>
          <a:xfrm>
            <a:off x="2943317" y="3781063"/>
            <a:ext cx="1202369" cy="9525"/>
          </a:xfrm>
          <a:prstGeom prst="rect">
            <a:avLst/>
          </a:prstGeom>
          <a:solidFill>
            <a:srgbClr val="EADFD3"/>
          </a:solidFill>
          <a:ln/>
        </p:spPr>
        <p:txBody>
          <a:bodyPr/>
          <a:lstStyle/>
          <a:p>
            <a:endParaRPr lang="ko-KR" altLang="en-US"/>
          </a:p>
        </p:txBody>
      </p:sp>
      <p:sp>
        <p:nvSpPr>
          <p:cNvPr id="131" name="Shape 129"/>
          <p:cNvSpPr/>
          <p:nvPr/>
        </p:nvSpPr>
        <p:spPr>
          <a:xfrm>
            <a:off x="2943317" y="3781063"/>
            <a:ext cx="9525" cy="684494"/>
          </a:xfrm>
          <a:prstGeom prst="rect">
            <a:avLst/>
          </a:prstGeom>
          <a:solidFill>
            <a:srgbClr val="EADFD3"/>
          </a:solidFill>
          <a:ln/>
        </p:spPr>
        <p:txBody>
          <a:bodyPr/>
          <a:lstStyle/>
          <a:p>
            <a:endParaRPr lang="ko-KR" altLang="en-US"/>
          </a:p>
        </p:txBody>
      </p:sp>
      <p:sp>
        <p:nvSpPr>
          <p:cNvPr id="132" name="Text 130"/>
          <p:cNvSpPr/>
          <p:nvPr/>
        </p:nvSpPr>
        <p:spPr>
          <a:xfrm>
            <a:off x="2967584"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21,976</a:t>
            </a:r>
            <a:endParaRPr lang="en-US" sz="1163" dirty="0"/>
          </a:p>
        </p:txBody>
      </p:sp>
      <p:sp>
        <p:nvSpPr>
          <p:cNvPr id="133" name="Shape 131"/>
          <p:cNvSpPr/>
          <p:nvPr/>
        </p:nvSpPr>
        <p:spPr>
          <a:xfrm>
            <a:off x="4145686" y="3781063"/>
            <a:ext cx="1202369" cy="684494"/>
          </a:xfrm>
          <a:prstGeom prst="rect">
            <a:avLst/>
          </a:prstGeom>
          <a:solidFill>
            <a:srgbClr val="FFFFFF"/>
          </a:solidFill>
          <a:ln/>
        </p:spPr>
        <p:txBody>
          <a:bodyPr/>
          <a:lstStyle/>
          <a:p>
            <a:endParaRPr lang="ko-KR" altLang="en-US"/>
          </a:p>
        </p:txBody>
      </p:sp>
      <p:sp>
        <p:nvSpPr>
          <p:cNvPr id="134" name="Shape 132"/>
          <p:cNvSpPr/>
          <p:nvPr/>
        </p:nvSpPr>
        <p:spPr>
          <a:xfrm>
            <a:off x="4145686" y="3781063"/>
            <a:ext cx="1202369" cy="9525"/>
          </a:xfrm>
          <a:prstGeom prst="rect">
            <a:avLst/>
          </a:prstGeom>
          <a:solidFill>
            <a:srgbClr val="EADFD3"/>
          </a:solidFill>
          <a:ln/>
        </p:spPr>
        <p:txBody>
          <a:bodyPr/>
          <a:lstStyle/>
          <a:p>
            <a:endParaRPr lang="ko-KR" altLang="en-US"/>
          </a:p>
        </p:txBody>
      </p:sp>
      <p:sp>
        <p:nvSpPr>
          <p:cNvPr id="135" name="Shape 133"/>
          <p:cNvSpPr/>
          <p:nvPr/>
        </p:nvSpPr>
        <p:spPr>
          <a:xfrm>
            <a:off x="4145686" y="3781063"/>
            <a:ext cx="9525" cy="684494"/>
          </a:xfrm>
          <a:prstGeom prst="rect">
            <a:avLst/>
          </a:prstGeom>
          <a:solidFill>
            <a:srgbClr val="EADFD3"/>
          </a:solidFill>
          <a:ln/>
        </p:spPr>
        <p:txBody>
          <a:bodyPr/>
          <a:lstStyle/>
          <a:p>
            <a:endParaRPr lang="ko-KR" altLang="en-US"/>
          </a:p>
        </p:txBody>
      </p:sp>
      <p:sp>
        <p:nvSpPr>
          <p:cNvPr id="136" name="Text 134"/>
          <p:cNvSpPr/>
          <p:nvPr/>
        </p:nvSpPr>
        <p:spPr>
          <a:xfrm>
            <a:off x="4169953"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19,348</a:t>
            </a:r>
            <a:endParaRPr lang="en-US" sz="1163" dirty="0"/>
          </a:p>
        </p:txBody>
      </p:sp>
      <p:sp>
        <p:nvSpPr>
          <p:cNvPr id="137" name="Shape 135"/>
          <p:cNvSpPr/>
          <p:nvPr/>
        </p:nvSpPr>
        <p:spPr>
          <a:xfrm>
            <a:off x="5348054" y="3781063"/>
            <a:ext cx="1202369" cy="684494"/>
          </a:xfrm>
          <a:prstGeom prst="rect">
            <a:avLst/>
          </a:prstGeom>
          <a:solidFill>
            <a:srgbClr val="FFFFFF"/>
          </a:solidFill>
          <a:ln/>
        </p:spPr>
        <p:txBody>
          <a:bodyPr/>
          <a:lstStyle/>
          <a:p>
            <a:endParaRPr lang="ko-KR" altLang="en-US"/>
          </a:p>
        </p:txBody>
      </p:sp>
      <p:sp>
        <p:nvSpPr>
          <p:cNvPr id="138" name="Shape 136"/>
          <p:cNvSpPr/>
          <p:nvPr/>
        </p:nvSpPr>
        <p:spPr>
          <a:xfrm>
            <a:off x="5348054" y="3781063"/>
            <a:ext cx="1202369" cy="9525"/>
          </a:xfrm>
          <a:prstGeom prst="rect">
            <a:avLst/>
          </a:prstGeom>
          <a:solidFill>
            <a:srgbClr val="EADFD3"/>
          </a:solidFill>
          <a:ln/>
        </p:spPr>
        <p:txBody>
          <a:bodyPr/>
          <a:lstStyle/>
          <a:p>
            <a:endParaRPr lang="ko-KR" altLang="en-US"/>
          </a:p>
        </p:txBody>
      </p:sp>
      <p:sp>
        <p:nvSpPr>
          <p:cNvPr id="139" name="Shape 137"/>
          <p:cNvSpPr/>
          <p:nvPr/>
        </p:nvSpPr>
        <p:spPr>
          <a:xfrm>
            <a:off x="5348054" y="3781063"/>
            <a:ext cx="9525" cy="684494"/>
          </a:xfrm>
          <a:prstGeom prst="rect">
            <a:avLst/>
          </a:prstGeom>
          <a:solidFill>
            <a:srgbClr val="EADFD3"/>
          </a:solidFill>
          <a:ln/>
        </p:spPr>
        <p:txBody>
          <a:bodyPr/>
          <a:lstStyle/>
          <a:p>
            <a:endParaRPr lang="ko-KR" altLang="en-US"/>
          </a:p>
        </p:txBody>
      </p:sp>
      <p:sp>
        <p:nvSpPr>
          <p:cNvPr id="140" name="Text 138"/>
          <p:cNvSpPr/>
          <p:nvPr/>
        </p:nvSpPr>
        <p:spPr>
          <a:xfrm>
            <a:off x="5372321"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28,926</a:t>
            </a:r>
            <a:endParaRPr lang="en-US" sz="1163" dirty="0"/>
          </a:p>
        </p:txBody>
      </p:sp>
      <p:sp>
        <p:nvSpPr>
          <p:cNvPr id="141" name="Shape 139"/>
          <p:cNvSpPr/>
          <p:nvPr/>
        </p:nvSpPr>
        <p:spPr>
          <a:xfrm>
            <a:off x="6550423" y="3781063"/>
            <a:ext cx="1202369" cy="684494"/>
          </a:xfrm>
          <a:prstGeom prst="rect">
            <a:avLst/>
          </a:prstGeom>
          <a:solidFill>
            <a:srgbClr val="FFFFFF"/>
          </a:solidFill>
          <a:ln/>
        </p:spPr>
        <p:txBody>
          <a:bodyPr/>
          <a:lstStyle/>
          <a:p>
            <a:endParaRPr lang="ko-KR" altLang="en-US"/>
          </a:p>
        </p:txBody>
      </p:sp>
      <p:sp>
        <p:nvSpPr>
          <p:cNvPr id="142" name="Shape 140"/>
          <p:cNvSpPr/>
          <p:nvPr/>
        </p:nvSpPr>
        <p:spPr>
          <a:xfrm>
            <a:off x="6550423" y="3781063"/>
            <a:ext cx="1202369" cy="9525"/>
          </a:xfrm>
          <a:prstGeom prst="rect">
            <a:avLst/>
          </a:prstGeom>
          <a:solidFill>
            <a:srgbClr val="EADFD3"/>
          </a:solidFill>
          <a:ln/>
        </p:spPr>
        <p:txBody>
          <a:bodyPr/>
          <a:lstStyle/>
          <a:p>
            <a:endParaRPr lang="ko-KR" altLang="en-US"/>
          </a:p>
        </p:txBody>
      </p:sp>
      <p:sp>
        <p:nvSpPr>
          <p:cNvPr id="143" name="Shape 141"/>
          <p:cNvSpPr/>
          <p:nvPr/>
        </p:nvSpPr>
        <p:spPr>
          <a:xfrm>
            <a:off x="6550423" y="3781063"/>
            <a:ext cx="9525" cy="684494"/>
          </a:xfrm>
          <a:prstGeom prst="rect">
            <a:avLst/>
          </a:prstGeom>
          <a:solidFill>
            <a:srgbClr val="EADFD3"/>
          </a:solidFill>
          <a:ln/>
        </p:spPr>
        <p:txBody>
          <a:bodyPr/>
          <a:lstStyle/>
          <a:p>
            <a:endParaRPr lang="ko-KR" altLang="en-US"/>
          </a:p>
        </p:txBody>
      </p:sp>
      <p:sp>
        <p:nvSpPr>
          <p:cNvPr id="144" name="Text 142"/>
          <p:cNvSpPr/>
          <p:nvPr/>
        </p:nvSpPr>
        <p:spPr>
          <a:xfrm>
            <a:off x="6574690"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23,590</a:t>
            </a:r>
            <a:endParaRPr lang="en-US" sz="1163" dirty="0"/>
          </a:p>
        </p:txBody>
      </p:sp>
      <p:sp>
        <p:nvSpPr>
          <p:cNvPr id="145" name="Shape 143"/>
          <p:cNvSpPr/>
          <p:nvPr/>
        </p:nvSpPr>
        <p:spPr>
          <a:xfrm>
            <a:off x="7752792" y="3781063"/>
            <a:ext cx="1202369" cy="684494"/>
          </a:xfrm>
          <a:prstGeom prst="rect">
            <a:avLst/>
          </a:prstGeom>
          <a:solidFill>
            <a:srgbClr val="FFFFFF"/>
          </a:solidFill>
          <a:ln/>
        </p:spPr>
        <p:txBody>
          <a:bodyPr/>
          <a:lstStyle/>
          <a:p>
            <a:endParaRPr lang="ko-KR" altLang="en-US"/>
          </a:p>
        </p:txBody>
      </p:sp>
      <p:sp>
        <p:nvSpPr>
          <p:cNvPr id="146" name="Shape 144"/>
          <p:cNvSpPr/>
          <p:nvPr/>
        </p:nvSpPr>
        <p:spPr>
          <a:xfrm>
            <a:off x="7752792" y="3781063"/>
            <a:ext cx="1202369" cy="9525"/>
          </a:xfrm>
          <a:prstGeom prst="rect">
            <a:avLst/>
          </a:prstGeom>
          <a:solidFill>
            <a:srgbClr val="EADFD3"/>
          </a:solidFill>
          <a:ln/>
        </p:spPr>
        <p:txBody>
          <a:bodyPr/>
          <a:lstStyle/>
          <a:p>
            <a:endParaRPr lang="ko-KR" altLang="en-US"/>
          </a:p>
        </p:txBody>
      </p:sp>
      <p:sp>
        <p:nvSpPr>
          <p:cNvPr id="147" name="Shape 145"/>
          <p:cNvSpPr/>
          <p:nvPr/>
        </p:nvSpPr>
        <p:spPr>
          <a:xfrm>
            <a:off x="7752792" y="3781063"/>
            <a:ext cx="9525" cy="684494"/>
          </a:xfrm>
          <a:prstGeom prst="rect">
            <a:avLst/>
          </a:prstGeom>
          <a:solidFill>
            <a:srgbClr val="EADFD3"/>
          </a:solidFill>
          <a:ln/>
        </p:spPr>
        <p:txBody>
          <a:bodyPr/>
          <a:lstStyle/>
          <a:p>
            <a:endParaRPr lang="ko-KR" altLang="en-US"/>
          </a:p>
        </p:txBody>
      </p:sp>
      <p:sp>
        <p:nvSpPr>
          <p:cNvPr id="148" name="Text 146"/>
          <p:cNvSpPr/>
          <p:nvPr/>
        </p:nvSpPr>
        <p:spPr>
          <a:xfrm>
            <a:off x="7777059" y="3824380"/>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27,202</a:t>
            </a:r>
            <a:endParaRPr lang="en-US" sz="1163" dirty="0"/>
          </a:p>
        </p:txBody>
      </p:sp>
      <p:sp>
        <p:nvSpPr>
          <p:cNvPr id="149" name="Shape 147"/>
          <p:cNvSpPr/>
          <p:nvPr/>
        </p:nvSpPr>
        <p:spPr>
          <a:xfrm>
            <a:off x="8955161" y="3781063"/>
            <a:ext cx="1202776" cy="684494"/>
          </a:xfrm>
          <a:prstGeom prst="rect">
            <a:avLst/>
          </a:prstGeom>
          <a:solidFill>
            <a:srgbClr val="FFFFFF"/>
          </a:solidFill>
          <a:ln/>
        </p:spPr>
        <p:txBody>
          <a:bodyPr/>
          <a:lstStyle/>
          <a:p>
            <a:endParaRPr lang="ko-KR" altLang="en-US"/>
          </a:p>
        </p:txBody>
      </p:sp>
      <p:sp>
        <p:nvSpPr>
          <p:cNvPr id="150" name="Shape 148"/>
          <p:cNvSpPr/>
          <p:nvPr/>
        </p:nvSpPr>
        <p:spPr>
          <a:xfrm>
            <a:off x="8955161" y="3781063"/>
            <a:ext cx="1202776" cy="9525"/>
          </a:xfrm>
          <a:prstGeom prst="rect">
            <a:avLst/>
          </a:prstGeom>
          <a:solidFill>
            <a:srgbClr val="EADFD3"/>
          </a:solidFill>
          <a:ln/>
        </p:spPr>
        <p:txBody>
          <a:bodyPr/>
          <a:lstStyle/>
          <a:p>
            <a:endParaRPr lang="ko-KR" altLang="en-US"/>
          </a:p>
        </p:txBody>
      </p:sp>
      <p:sp>
        <p:nvSpPr>
          <p:cNvPr id="151" name="Shape 149"/>
          <p:cNvSpPr/>
          <p:nvPr/>
        </p:nvSpPr>
        <p:spPr>
          <a:xfrm>
            <a:off x="8955161" y="3781063"/>
            <a:ext cx="9525" cy="684494"/>
          </a:xfrm>
          <a:prstGeom prst="rect">
            <a:avLst/>
          </a:prstGeom>
          <a:solidFill>
            <a:srgbClr val="EADFD3"/>
          </a:solidFill>
          <a:ln/>
        </p:spPr>
        <p:txBody>
          <a:bodyPr/>
          <a:lstStyle/>
          <a:p>
            <a:endParaRPr lang="ko-KR" altLang="en-US"/>
          </a:p>
        </p:txBody>
      </p:sp>
      <p:sp>
        <p:nvSpPr>
          <p:cNvPr id="152" name="Text 150"/>
          <p:cNvSpPr/>
          <p:nvPr/>
        </p:nvSpPr>
        <p:spPr>
          <a:xfrm>
            <a:off x="8979428" y="3824380"/>
            <a:ext cx="1159459"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21,440</a:t>
            </a:r>
            <a:endParaRPr lang="en-US" sz="1163" dirty="0"/>
          </a:p>
        </p:txBody>
      </p:sp>
      <p:sp>
        <p:nvSpPr>
          <p:cNvPr id="153" name="Shape 151"/>
          <p:cNvSpPr/>
          <p:nvPr/>
        </p:nvSpPr>
        <p:spPr>
          <a:xfrm>
            <a:off x="538580" y="4465557"/>
            <a:ext cx="1202369" cy="408968"/>
          </a:xfrm>
          <a:prstGeom prst="rect">
            <a:avLst/>
          </a:prstGeom>
          <a:solidFill>
            <a:srgbClr val="F5F7EC"/>
          </a:solidFill>
          <a:ln/>
        </p:spPr>
        <p:txBody>
          <a:bodyPr/>
          <a:lstStyle/>
          <a:p>
            <a:endParaRPr lang="ko-KR" altLang="en-US"/>
          </a:p>
        </p:txBody>
      </p:sp>
      <p:sp>
        <p:nvSpPr>
          <p:cNvPr id="154" name="Shape 152"/>
          <p:cNvSpPr/>
          <p:nvPr/>
        </p:nvSpPr>
        <p:spPr>
          <a:xfrm>
            <a:off x="538580" y="4465557"/>
            <a:ext cx="1202369" cy="9525"/>
          </a:xfrm>
          <a:prstGeom prst="rect">
            <a:avLst/>
          </a:prstGeom>
          <a:solidFill>
            <a:srgbClr val="EADFD3"/>
          </a:solidFill>
          <a:ln/>
        </p:spPr>
        <p:txBody>
          <a:bodyPr/>
          <a:lstStyle/>
          <a:p>
            <a:endParaRPr lang="ko-KR" altLang="en-US"/>
          </a:p>
        </p:txBody>
      </p:sp>
      <p:sp>
        <p:nvSpPr>
          <p:cNvPr id="155" name="Text 153"/>
          <p:cNvSpPr/>
          <p:nvPr/>
        </p:nvSpPr>
        <p:spPr>
          <a:xfrm>
            <a:off x="557630" y="4508874"/>
            <a:ext cx="116426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뇌혈관진단</a:t>
            </a:r>
            <a:endParaRPr lang="en-US" sz="1163" dirty="0"/>
          </a:p>
        </p:txBody>
      </p:sp>
      <p:sp>
        <p:nvSpPr>
          <p:cNvPr id="156" name="Shape 154"/>
          <p:cNvSpPr/>
          <p:nvPr/>
        </p:nvSpPr>
        <p:spPr>
          <a:xfrm>
            <a:off x="1740948" y="4465557"/>
            <a:ext cx="1202369" cy="408968"/>
          </a:xfrm>
          <a:prstGeom prst="rect">
            <a:avLst/>
          </a:prstGeom>
          <a:solidFill>
            <a:srgbClr val="F5F7EC"/>
          </a:solidFill>
          <a:ln/>
        </p:spPr>
        <p:txBody>
          <a:bodyPr/>
          <a:lstStyle/>
          <a:p>
            <a:endParaRPr lang="ko-KR" altLang="en-US"/>
          </a:p>
        </p:txBody>
      </p:sp>
      <p:sp>
        <p:nvSpPr>
          <p:cNvPr id="157" name="Shape 155"/>
          <p:cNvSpPr/>
          <p:nvPr/>
        </p:nvSpPr>
        <p:spPr>
          <a:xfrm>
            <a:off x="1740948" y="4465557"/>
            <a:ext cx="1202369" cy="9525"/>
          </a:xfrm>
          <a:prstGeom prst="rect">
            <a:avLst/>
          </a:prstGeom>
          <a:solidFill>
            <a:srgbClr val="EADFD3"/>
          </a:solidFill>
          <a:ln/>
        </p:spPr>
        <p:txBody>
          <a:bodyPr/>
          <a:lstStyle/>
          <a:p>
            <a:endParaRPr lang="ko-KR" altLang="en-US"/>
          </a:p>
        </p:txBody>
      </p:sp>
      <p:sp>
        <p:nvSpPr>
          <p:cNvPr id="158" name="Shape 156"/>
          <p:cNvSpPr/>
          <p:nvPr/>
        </p:nvSpPr>
        <p:spPr>
          <a:xfrm>
            <a:off x="1740948" y="4465557"/>
            <a:ext cx="9525" cy="408968"/>
          </a:xfrm>
          <a:prstGeom prst="rect">
            <a:avLst/>
          </a:prstGeom>
          <a:solidFill>
            <a:srgbClr val="EADFD3"/>
          </a:solidFill>
          <a:ln/>
        </p:spPr>
        <p:txBody>
          <a:bodyPr/>
          <a:lstStyle/>
          <a:p>
            <a:endParaRPr lang="ko-KR" altLang="en-US"/>
          </a:p>
        </p:txBody>
      </p:sp>
      <p:sp>
        <p:nvSpPr>
          <p:cNvPr id="159" name="Text 157"/>
          <p:cNvSpPr/>
          <p:nvPr/>
        </p:nvSpPr>
        <p:spPr>
          <a:xfrm>
            <a:off x="1765215"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60" name="Shape 158"/>
          <p:cNvSpPr/>
          <p:nvPr/>
        </p:nvSpPr>
        <p:spPr>
          <a:xfrm>
            <a:off x="2943317" y="4465557"/>
            <a:ext cx="1202369" cy="408968"/>
          </a:xfrm>
          <a:prstGeom prst="rect">
            <a:avLst/>
          </a:prstGeom>
          <a:solidFill>
            <a:srgbClr val="FFFFFF"/>
          </a:solidFill>
          <a:ln/>
        </p:spPr>
        <p:txBody>
          <a:bodyPr/>
          <a:lstStyle/>
          <a:p>
            <a:endParaRPr lang="ko-KR" altLang="en-US"/>
          </a:p>
        </p:txBody>
      </p:sp>
      <p:sp>
        <p:nvSpPr>
          <p:cNvPr id="161" name="Shape 159"/>
          <p:cNvSpPr/>
          <p:nvPr/>
        </p:nvSpPr>
        <p:spPr>
          <a:xfrm>
            <a:off x="2943317" y="4465557"/>
            <a:ext cx="1202369" cy="9525"/>
          </a:xfrm>
          <a:prstGeom prst="rect">
            <a:avLst/>
          </a:prstGeom>
          <a:solidFill>
            <a:srgbClr val="EADFD3"/>
          </a:solidFill>
          <a:ln/>
        </p:spPr>
        <p:txBody>
          <a:bodyPr/>
          <a:lstStyle/>
          <a:p>
            <a:endParaRPr lang="ko-KR" altLang="en-US"/>
          </a:p>
        </p:txBody>
      </p:sp>
      <p:sp>
        <p:nvSpPr>
          <p:cNvPr id="162" name="Shape 160"/>
          <p:cNvSpPr/>
          <p:nvPr/>
        </p:nvSpPr>
        <p:spPr>
          <a:xfrm>
            <a:off x="2943317" y="4465557"/>
            <a:ext cx="9525" cy="408968"/>
          </a:xfrm>
          <a:prstGeom prst="rect">
            <a:avLst/>
          </a:prstGeom>
          <a:solidFill>
            <a:srgbClr val="EADFD3"/>
          </a:solidFill>
          <a:ln/>
        </p:spPr>
        <p:txBody>
          <a:bodyPr/>
          <a:lstStyle/>
          <a:p>
            <a:endParaRPr lang="ko-KR" altLang="en-US"/>
          </a:p>
        </p:txBody>
      </p:sp>
      <p:sp>
        <p:nvSpPr>
          <p:cNvPr id="163" name="Text 161"/>
          <p:cNvSpPr/>
          <p:nvPr/>
        </p:nvSpPr>
        <p:spPr>
          <a:xfrm>
            <a:off x="2967584"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12,150</a:t>
            </a:r>
            <a:endParaRPr lang="en-US" sz="1163" dirty="0"/>
          </a:p>
        </p:txBody>
      </p:sp>
      <p:sp>
        <p:nvSpPr>
          <p:cNvPr id="164" name="Shape 162"/>
          <p:cNvSpPr/>
          <p:nvPr/>
        </p:nvSpPr>
        <p:spPr>
          <a:xfrm>
            <a:off x="4145686" y="4465557"/>
            <a:ext cx="1202369" cy="408968"/>
          </a:xfrm>
          <a:prstGeom prst="rect">
            <a:avLst/>
          </a:prstGeom>
          <a:solidFill>
            <a:srgbClr val="FFFFFF"/>
          </a:solidFill>
          <a:ln/>
        </p:spPr>
        <p:txBody>
          <a:bodyPr/>
          <a:lstStyle/>
          <a:p>
            <a:endParaRPr lang="ko-KR" altLang="en-US"/>
          </a:p>
        </p:txBody>
      </p:sp>
      <p:sp>
        <p:nvSpPr>
          <p:cNvPr id="165" name="Shape 163"/>
          <p:cNvSpPr/>
          <p:nvPr/>
        </p:nvSpPr>
        <p:spPr>
          <a:xfrm>
            <a:off x="4145686" y="4465557"/>
            <a:ext cx="1202369" cy="9525"/>
          </a:xfrm>
          <a:prstGeom prst="rect">
            <a:avLst/>
          </a:prstGeom>
          <a:solidFill>
            <a:srgbClr val="EADFD3"/>
          </a:solidFill>
          <a:ln/>
        </p:spPr>
        <p:txBody>
          <a:bodyPr/>
          <a:lstStyle/>
          <a:p>
            <a:endParaRPr lang="ko-KR" altLang="en-US"/>
          </a:p>
        </p:txBody>
      </p:sp>
      <p:sp>
        <p:nvSpPr>
          <p:cNvPr id="166" name="Shape 164"/>
          <p:cNvSpPr/>
          <p:nvPr/>
        </p:nvSpPr>
        <p:spPr>
          <a:xfrm>
            <a:off x="4145686" y="4465557"/>
            <a:ext cx="9525" cy="408968"/>
          </a:xfrm>
          <a:prstGeom prst="rect">
            <a:avLst/>
          </a:prstGeom>
          <a:solidFill>
            <a:srgbClr val="EADFD3"/>
          </a:solidFill>
          <a:ln/>
        </p:spPr>
        <p:txBody>
          <a:bodyPr/>
          <a:lstStyle/>
          <a:p>
            <a:endParaRPr lang="ko-KR" altLang="en-US"/>
          </a:p>
        </p:txBody>
      </p:sp>
      <p:sp>
        <p:nvSpPr>
          <p:cNvPr id="167" name="Text 165"/>
          <p:cNvSpPr/>
          <p:nvPr/>
        </p:nvSpPr>
        <p:spPr>
          <a:xfrm>
            <a:off x="4169953"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10,280</a:t>
            </a:r>
            <a:endParaRPr lang="en-US" sz="1163" dirty="0"/>
          </a:p>
        </p:txBody>
      </p:sp>
      <p:sp>
        <p:nvSpPr>
          <p:cNvPr id="168" name="Shape 166"/>
          <p:cNvSpPr/>
          <p:nvPr/>
        </p:nvSpPr>
        <p:spPr>
          <a:xfrm>
            <a:off x="5348054" y="4465557"/>
            <a:ext cx="1202369" cy="408968"/>
          </a:xfrm>
          <a:prstGeom prst="rect">
            <a:avLst/>
          </a:prstGeom>
          <a:solidFill>
            <a:srgbClr val="FFFFFF"/>
          </a:solidFill>
          <a:ln/>
        </p:spPr>
        <p:txBody>
          <a:bodyPr/>
          <a:lstStyle/>
          <a:p>
            <a:endParaRPr lang="ko-KR" altLang="en-US"/>
          </a:p>
        </p:txBody>
      </p:sp>
      <p:sp>
        <p:nvSpPr>
          <p:cNvPr id="169" name="Shape 167"/>
          <p:cNvSpPr/>
          <p:nvPr/>
        </p:nvSpPr>
        <p:spPr>
          <a:xfrm>
            <a:off x="5348054" y="4465557"/>
            <a:ext cx="1202369" cy="9525"/>
          </a:xfrm>
          <a:prstGeom prst="rect">
            <a:avLst/>
          </a:prstGeom>
          <a:solidFill>
            <a:srgbClr val="EADFD3"/>
          </a:solidFill>
          <a:ln/>
        </p:spPr>
        <p:txBody>
          <a:bodyPr/>
          <a:lstStyle/>
          <a:p>
            <a:endParaRPr lang="ko-KR" altLang="en-US"/>
          </a:p>
        </p:txBody>
      </p:sp>
      <p:sp>
        <p:nvSpPr>
          <p:cNvPr id="170" name="Shape 168"/>
          <p:cNvSpPr/>
          <p:nvPr/>
        </p:nvSpPr>
        <p:spPr>
          <a:xfrm>
            <a:off x="5348054" y="4465557"/>
            <a:ext cx="9525" cy="408968"/>
          </a:xfrm>
          <a:prstGeom prst="rect">
            <a:avLst/>
          </a:prstGeom>
          <a:solidFill>
            <a:srgbClr val="EADFD3"/>
          </a:solidFill>
          <a:ln/>
        </p:spPr>
        <p:txBody>
          <a:bodyPr/>
          <a:lstStyle/>
          <a:p>
            <a:endParaRPr lang="ko-KR" altLang="en-US"/>
          </a:p>
        </p:txBody>
      </p:sp>
      <p:sp>
        <p:nvSpPr>
          <p:cNvPr id="171" name="Text 169"/>
          <p:cNvSpPr/>
          <p:nvPr/>
        </p:nvSpPr>
        <p:spPr>
          <a:xfrm>
            <a:off x="5372321"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13,800</a:t>
            </a:r>
            <a:endParaRPr lang="en-US" sz="1163" dirty="0"/>
          </a:p>
        </p:txBody>
      </p:sp>
      <p:sp>
        <p:nvSpPr>
          <p:cNvPr id="172" name="Shape 170"/>
          <p:cNvSpPr/>
          <p:nvPr/>
        </p:nvSpPr>
        <p:spPr>
          <a:xfrm>
            <a:off x="6550423" y="4465557"/>
            <a:ext cx="1202369" cy="408968"/>
          </a:xfrm>
          <a:prstGeom prst="rect">
            <a:avLst/>
          </a:prstGeom>
          <a:solidFill>
            <a:srgbClr val="FFFFFF"/>
          </a:solidFill>
          <a:ln/>
        </p:spPr>
        <p:txBody>
          <a:bodyPr/>
          <a:lstStyle/>
          <a:p>
            <a:endParaRPr lang="ko-KR" altLang="en-US"/>
          </a:p>
        </p:txBody>
      </p:sp>
      <p:sp>
        <p:nvSpPr>
          <p:cNvPr id="173" name="Shape 171"/>
          <p:cNvSpPr/>
          <p:nvPr/>
        </p:nvSpPr>
        <p:spPr>
          <a:xfrm>
            <a:off x="6550423" y="4465557"/>
            <a:ext cx="1202369" cy="9525"/>
          </a:xfrm>
          <a:prstGeom prst="rect">
            <a:avLst/>
          </a:prstGeom>
          <a:solidFill>
            <a:srgbClr val="EADFD3"/>
          </a:solidFill>
          <a:ln/>
        </p:spPr>
        <p:txBody>
          <a:bodyPr/>
          <a:lstStyle/>
          <a:p>
            <a:endParaRPr lang="ko-KR" altLang="en-US"/>
          </a:p>
        </p:txBody>
      </p:sp>
      <p:sp>
        <p:nvSpPr>
          <p:cNvPr id="174" name="Shape 172"/>
          <p:cNvSpPr/>
          <p:nvPr/>
        </p:nvSpPr>
        <p:spPr>
          <a:xfrm>
            <a:off x="6550423" y="4465557"/>
            <a:ext cx="9525" cy="408968"/>
          </a:xfrm>
          <a:prstGeom prst="rect">
            <a:avLst/>
          </a:prstGeom>
          <a:solidFill>
            <a:srgbClr val="EADFD3"/>
          </a:solidFill>
          <a:ln/>
        </p:spPr>
        <p:txBody>
          <a:bodyPr/>
          <a:lstStyle/>
          <a:p>
            <a:endParaRPr lang="ko-KR" altLang="en-US"/>
          </a:p>
        </p:txBody>
      </p:sp>
      <p:sp>
        <p:nvSpPr>
          <p:cNvPr id="175" name="Text 173"/>
          <p:cNvSpPr/>
          <p:nvPr/>
        </p:nvSpPr>
        <p:spPr>
          <a:xfrm>
            <a:off x="6574690"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10,880</a:t>
            </a:r>
            <a:endParaRPr lang="en-US" sz="1163" dirty="0"/>
          </a:p>
        </p:txBody>
      </p:sp>
      <p:sp>
        <p:nvSpPr>
          <p:cNvPr id="176" name="Shape 174"/>
          <p:cNvSpPr/>
          <p:nvPr/>
        </p:nvSpPr>
        <p:spPr>
          <a:xfrm>
            <a:off x="7752792" y="4465557"/>
            <a:ext cx="1202369" cy="408968"/>
          </a:xfrm>
          <a:prstGeom prst="rect">
            <a:avLst/>
          </a:prstGeom>
          <a:solidFill>
            <a:srgbClr val="FFFFFF"/>
          </a:solidFill>
          <a:ln/>
        </p:spPr>
        <p:txBody>
          <a:bodyPr/>
          <a:lstStyle/>
          <a:p>
            <a:endParaRPr lang="ko-KR" altLang="en-US"/>
          </a:p>
        </p:txBody>
      </p:sp>
      <p:sp>
        <p:nvSpPr>
          <p:cNvPr id="177" name="Shape 175"/>
          <p:cNvSpPr/>
          <p:nvPr/>
        </p:nvSpPr>
        <p:spPr>
          <a:xfrm>
            <a:off x="7752792" y="4465557"/>
            <a:ext cx="1202369" cy="9525"/>
          </a:xfrm>
          <a:prstGeom prst="rect">
            <a:avLst/>
          </a:prstGeom>
          <a:solidFill>
            <a:srgbClr val="EADFD3"/>
          </a:solidFill>
          <a:ln/>
        </p:spPr>
        <p:txBody>
          <a:bodyPr/>
          <a:lstStyle/>
          <a:p>
            <a:endParaRPr lang="ko-KR" altLang="en-US"/>
          </a:p>
        </p:txBody>
      </p:sp>
      <p:sp>
        <p:nvSpPr>
          <p:cNvPr id="178" name="Shape 176"/>
          <p:cNvSpPr/>
          <p:nvPr/>
        </p:nvSpPr>
        <p:spPr>
          <a:xfrm>
            <a:off x="7752792" y="4465557"/>
            <a:ext cx="9525" cy="408968"/>
          </a:xfrm>
          <a:prstGeom prst="rect">
            <a:avLst/>
          </a:prstGeom>
          <a:solidFill>
            <a:srgbClr val="EADFD3"/>
          </a:solidFill>
          <a:ln/>
        </p:spPr>
        <p:txBody>
          <a:bodyPr/>
          <a:lstStyle/>
          <a:p>
            <a:endParaRPr lang="ko-KR" altLang="en-US"/>
          </a:p>
        </p:txBody>
      </p:sp>
      <p:sp>
        <p:nvSpPr>
          <p:cNvPr id="179" name="Text 177"/>
          <p:cNvSpPr/>
          <p:nvPr/>
        </p:nvSpPr>
        <p:spPr>
          <a:xfrm>
            <a:off x="7777059" y="4508874"/>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13,260</a:t>
            </a:r>
            <a:endParaRPr lang="en-US" sz="1163" dirty="0"/>
          </a:p>
        </p:txBody>
      </p:sp>
      <p:sp>
        <p:nvSpPr>
          <p:cNvPr id="180" name="Shape 178"/>
          <p:cNvSpPr/>
          <p:nvPr/>
        </p:nvSpPr>
        <p:spPr>
          <a:xfrm>
            <a:off x="8955161" y="4465557"/>
            <a:ext cx="1202776" cy="408968"/>
          </a:xfrm>
          <a:prstGeom prst="rect">
            <a:avLst/>
          </a:prstGeom>
          <a:solidFill>
            <a:srgbClr val="FFFFFF"/>
          </a:solidFill>
          <a:ln/>
        </p:spPr>
        <p:txBody>
          <a:bodyPr/>
          <a:lstStyle/>
          <a:p>
            <a:endParaRPr lang="ko-KR" altLang="en-US"/>
          </a:p>
        </p:txBody>
      </p:sp>
      <p:sp>
        <p:nvSpPr>
          <p:cNvPr id="181" name="Shape 179"/>
          <p:cNvSpPr/>
          <p:nvPr/>
        </p:nvSpPr>
        <p:spPr>
          <a:xfrm>
            <a:off x="8955161" y="4465557"/>
            <a:ext cx="1202776" cy="9525"/>
          </a:xfrm>
          <a:prstGeom prst="rect">
            <a:avLst/>
          </a:prstGeom>
          <a:solidFill>
            <a:srgbClr val="EADFD3"/>
          </a:solidFill>
          <a:ln/>
        </p:spPr>
        <p:txBody>
          <a:bodyPr/>
          <a:lstStyle/>
          <a:p>
            <a:endParaRPr lang="ko-KR" altLang="en-US"/>
          </a:p>
        </p:txBody>
      </p:sp>
      <p:sp>
        <p:nvSpPr>
          <p:cNvPr id="182" name="Shape 180"/>
          <p:cNvSpPr/>
          <p:nvPr/>
        </p:nvSpPr>
        <p:spPr>
          <a:xfrm>
            <a:off x="8955161" y="4465557"/>
            <a:ext cx="9525" cy="408968"/>
          </a:xfrm>
          <a:prstGeom prst="rect">
            <a:avLst/>
          </a:prstGeom>
          <a:solidFill>
            <a:srgbClr val="EADFD3"/>
          </a:solidFill>
          <a:ln/>
        </p:spPr>
        <p:txBody>
          <a:bodyPr/>
          <a:lstStyle/>
          <a:p>
            <a:endParaRPr lang="ko-KR" altLang="en-US"/>
          </a:p>
        </p:txBody>
      </p:sp>
      <p:sp>
        <p:nvSpPr>
          <p:cNvPr id="183" name="Text 181"/>
          <p:cNvSpPr/>
          <p:nvPr/>
        </p:nvSpPr>
        <p:spPr>
          <a:xfrm>
            <a:off x="8979428" y="4508874"/>
            <a:ext cx="115945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12,840</a:t>
            </a:r>
            <a:endParaRPr lang="en-US" sz="1163" dirty="0"/>
          </a:p>
        </p:txBody>
      </p:sp>
      <p:sp>
        <p:nvSpPr>
          <p:cNvPr id="184" name="Shape 182"/>
          <p:cNvSpPr/>
          <p:nvPr/>
        </p:nvSpPr>
        <p:spPr>
          <a:xfrm>
            <a:off x="538580" y="4874525"/>
            <a:ext cx="1202369" cy="408968"/>
          </a:xfrm>
          <a:prstGeom prst="rect">
            <a:avLst/>
          </a:prstGeom>
          <a:solidFill>
            <a:srgbClr val="F5F7EC"/>
          </a:solidFill>
          <a:ln/>
        </p:spPr>
        <p:txBody>
          <a:bodyPr/>
          <a:lstStyle/>
          <a:p>
            <a:endParaRPr lang="ko-KR" altLang="en-US"/>
          </a:p>
        </p:txBody>
      </p:sp>
      <p:sp>
        <p:nvSpPr>
          <p:cNvPr id="185" name="Shape 183"/>
          <p:cNvSpPr/>
          <p:nvPr/>
        </p:nvSpPr>
        <p:spPr>
          <a:xfrm>
            <a:off x="538580" y="4874525"/>
            <a:ext cx="1202369" cy="9525"/>
          </a:xfrm>
          <a:prstGeom prst="rect">
            <a:avLst/>
          </a:prstGeom>
          <a:solidFill>
            <a:srgbClr val="EADFD3"/>
          </a:solidFill>
          <a:ln/>
        </p:spPr>
        <p:txBody>
          <a:bodyPr/>
          <a:lstStyle/>
          <a:p>
            <a:endParaRPr lang="ko-KR" altLang="en-US"/>
          </a:p>
        </p:txBody>
      </p:sp>
      <p:sp>
        <p:nvSpPr>
          <p:cNvPr id="186" name="Text 184"/>
          <p:cNvSpPr/>
          <p:nvPr/>
        </p:nvSpPr>
        <p:spPr>
          <a:xfrm>
            <a:off x="557630" y="4917842"/>
            <a:ext cx="116426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허혈성진단</a:t>
            </a:r>
            <a:endParaRPr lang="en-US" sz="1163" dirty="0"/>
          </a:p>
        </p:txBody>
      </p:sp>
      <p:sp>
        <p:nvSpPr>
          <p:cNvPr id="187" name="Shape 185"/>
          <p:cNvSpPr/>
          <p:nvPr/>
        </p:nvSpPr>
        <p:spPr>
          <a:xfrm>
            <a:off x="1740948" y="4874525"/>
            <a:ext cx="1202369" cy="408968"/>
          </a:xfrm>
          <a:prstGeom prst="rect">
            <a:avLst/>
          </a:prstGeom>
          <a:solidFill>
            <a:srgbClr val="F5F7EC"/>
          </a:solidFill>
          <a:ln/>
        </p:spPr>
        <p:txBody>
          <a:bodyPr/>
          <a:lstStyle/>
          <a:p>
            <a:endParaRPr lang="ko-KR" altLang="en-US"/>
          </a:p>
        </p:txBody>
      </p:sp>
      <p:sp>
        <p:nvSpPr>
          <p:cNvPr id="188" name="Shape 186"/>
          <p:cNvSpPr/>
          <p:nvPr/>
        </p:nvSpPr>
        <p:spPr>
          <a:xfrm>
            <a:off x="1740948" y="4874525"/>
            <a:ext cx="1202369" cy="9525"/>
          </a:xfrm>
          <a:prstGeom prst="rect">
            <a:avLst/>
          </a:prstGeom>
          <a:solidFill>
            <a:srgbClr val="EADFD3"/>
          </a:solidFill>
          <a:ln/>
        </p:spPr>
        <p:txBody>
          <a:bodyPr/>
          <a:lstStyle/>
          <a:p>
            <a:endParaRPr lang="ko-KR" altLang="en-US"/>
          </a:p>
        </p:txBody>
      </p:sp>
      <p:sp>
        <p:nvSpPr>
          <p:cNvPr id="189" name="Shape 187"/>
          <p:cNvSpPr/>
          <p:nvPr/>
        </p:nvSpPr>
        <p:spPr>
          <a:xfrm>
            <a:off x="1740948" y="4874525"/>
            <a:ext cx="9525" cy="408968"/>
          </a:xfrm>
          <a:prstGeom prst="rect">
            <a:avLst/>
          </a:prstGeom>
          <a:solidFill>
            <a:srgbClr val="EADFD3"/>
          </a:solidFill>
          <a:ln/>
        </p:spPr>
        <p:txBody>
          <a:bodyPr/>
          <a:lstStyle/>
          <a:p>
            <a:endParaRPr lang="ko-KR" altLang="en-US"/>
          </a:p>
        </p:txBody>
      </p:sp>
      <p:sp>
        <p:nvSpPr>
          <p:cNvPr id="190" name="Text 188"/>
          <p:cNvSpPr/>
          <p:nvPr/>
        </p:nvSpPr>
        <p:spPr>
          <a:xfrm>
            <a:off x="1765215"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191" name="Shape 189"/>
          <p:cNvSpPr/>
          <p:nvPr/>
        </p:nvSpPr>
        <p:spPr>
          <a:xfrm>
            <a:off x="2943317" y="4874525"/>
            <a:ext cx="1202369" cy="408968"/>
          </a:xfrm>
          <a:prstGeom prst="rect">
            <a:avLst/>
          </a:prstGeom>
          <a:solidFill>
            <a:srgbClr val="FFFFFF"/>
          </a:solidFill>
          <a:ln/>
        </p:spPr>
        <p:txBody>
          <a:bodyPr/>
          <a:lstStyle/>
          <a:p>
            <a:endParaRPr lang="ko-KR" altLang="en-US"/>
          </a:p>
        </p:txBody>
      </p:sp>
      <p:sp>
        <p:nvSpPr>
          <p:cNvPr id="192" name="Shape 190"/>
          <p:cNvSpPr/>
          <p:nvPr/>
        </p:nvSpPr>
        <p:spPr>
          <a:xfrm>
            <a:off x="2943317" y="4874525"/>
            <a:ext cx="1202369" cy="9525"/>
          </a:xfrm>
          <a:prstGeom prst="rect">
            <a:avLst/>
          </a:prstGeom>
          <a:solidFill>
            <a:srgbClr val="EADFD3"/>
          </a:solidFill>
          <a:ln/>
        </p:spPr>
        <p:txBody>
          <a:bodyPr/>
          <a:lstStyle/>
          <a:p>
            <a:endParaRPr lang="ko-KR" altLang="en-US"/>
          </a:p>
        </p:txBody>
      </p:sp>
      <p:sp>
        <p:nvSpPr>
          <p:cNvPr id="193" name="Shape 191"/>
          <p:cNvSpPr/>
          <p:nvPr/>
        </p:nvSpPr>
        <p:spPr>
          <a:xfrm>
            <a:off x="2943317" y="4874525"/>
            <a:ext cx="9525" cy="408968"/>
          </a:xfrm>
          <a:prstGeom prst="rect">
            <a:avLst/>
          </a:prstGeom>
          <a:solidFill>
            <a:srgbClr val="EADFD3"/>
          </a:solidFill>
          <a:ln/>
        </p:spPr>
        <p:txBody>
          <a:bodyPr/>
          <a:lstStyle/>
          <a:p>
            <a:endParaRPr lang="ko-KR" altLang="en-US"/>
          </a:p>
        </p:txBody>
      </p:sp>
      <p:sp>
        <p:nvSpPr>
          <p:cNvPr id="194" name="Text 192"/>
          <p:cNvSpPr/>
          <p:nvPr/>
        </p:nvSpPr>
        <p:spPr>
          <a:xfrm>
            <a:off x="2967584"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7,700</a:t>
            </a:r>
            <a:endParaRPr lang="en-US" sz="1163" dirty="0"/>
          </a:p>
        </p:txBody>
      </p:sp>
      <p:sp>
        <p:nvSpPr>
          <p:cNvPr id="195" name="Shape 193"/>
          <p:cNvSpPr/>
          <p:nvPr/>
        </p:nvSpPr>
        <p:spPr>
          <a:xfrm>
            <a:off x="4145686" y="4874525"/>
            <a:ext cx="1202369" cy="408968"/>
          </a:xfrm>
          <a:prstGeom prst="rect">
            <a:avLst/>
          </a:prstGeom>
          <a:solidFill>
            <a:srgbClr val="FFFFFF"/>
          </a:solidFill>
          <a:ln/>
        </p:spPr>
        <p:txBody>
          <a:bodyPr/>
          <a:lstStyle/>
          <a:p>
            <a:endParaRPr lang="ko-KR" altLang="en-US"/>
          </a:p>
        </p:txBody>
      </p:sp>
      <p:sp>
        <p:nvSpPr>
          <p:cNvPr id="196" name="Shape 194"/>
          <p:cNvSpPr/>
          <p:nvPr/>
        </p:nvSpPr>
        <p:spPr>
          <a:xfrm>
            <a:off x="4145686" y="4874525"/>
            <a:ext cx="1202369" cy="9525"/>
          </a:xfrm>
          <a:prstGeom prst="rect">
            <a:avLst/>
          </a:prstGeom>
          <a:solidFill>
            <a:srgbClr val="EADFD3"/>
          </a:solidFill>
          <a:ln/>
        </p:spPr>
        <p:txBody>
          <a:bodyPr/>
          <a:lstStyle/>
          <a:p>
            <a:endParaRPr lang="ko-KR" altLang="en-US"/>
          </a:p>
        </p:txBody>
      </p:sp>
      <p:sp>
        <p:nvSpPr>
          <p:cNvPr id="197" name="Shape 195"/>
          <p:cNvSpPr/>
          <p:nvPr/>
        </p:nvSpPr>
        <p:spPr>
          <a:xfrm>
            <a:off x="4145686" y="4874525"/>
            <a:ext cx="9525" cy="408968"/>
          </a:xfrm>
          <a:prstGeom prst="rect">
            <a:avLst/>
          </a:prstGeom>
          <a:solidFill>
            <a:srgbClr val="EADFD3"/>
          </a:solidFill>
          <a:ln/>
        </p:spPr>
        <p:txBody>
          <a:bodyPr/>
          <a:lstStyle/>
          <a:p>
            <a:endParaRPr lang="ko-KR" altLang="en-US"/>
          </a:p>
        </p:txBody>
      </p:sp>
      <p:sp>
        <p:nvSpPr>
          <p:cNvPr id="198" name="Text 196"/>
          <p:cNvSpPr/>
          <p:nvPr/>
        </p:nvSpPr>
        <p:spPr>
          <a:xfrm>
            <a:off x="4169953"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3,390</a:t>
            </a:r>
            <a:endParaRPr lang="en-US" sz="1163" dirty="0"/>
          </a:p>
        </p:txBody>
      </p:sp>
      <p:sp>
        <p:nvSpPr>
          <p:cNvPr id="199" name="Shape 197"/>
          <p:cNvSpPr/>
          <p:nvPr/>
        </p:nvSpPr>
        <p:spPr>
          <a:xfrm>
            <a:off x="5348054" y="4874525"/>
            <a:ext cx="1202369" cy="408968"/>
          </a:xfrm>
          <a:prstGeom prst="rect">
            <a:avLst/>
          </a:prstGeom>
          <a:solidFill>
            <a:srgbClr val="FFFFFF"/>
          </a:solidFill>
          <a:ln/>
        </p:spPr>
        <p:txBody>
          <a:bodyPr/>
          <a:lstStyle/>
          <a:p>
            <a:endParaRPr lang="ko-KR" altLang="en-US"/>
          </a:p>
        </p:txBody>
      </p:sp>
      <p:sp>
        <p:nvSpPr>
          <p:cNvPr id="200" name="Shape 198"/>
          <p:cNvSpPr/>
          <p:nvPr/>
        </p:nvSpPr>
        <p:spPr>
          <a:xfrm>
            <a:off x="5348054" y="4874525"/>
            <a:ext cx="1202369" cy="9525"/>
          </a:xfrm>
          <a:prstGeom prst="rect">
            <a:avLst/>
          </a:prstGeom>
          <a:solidFill>
            <a:srgbClr val="EADFD3"/>
          </a:solidFill>
          <a:ln/>
        </p:spPr>
        <p:txBody>
          <a:bodyPr/>
          <a:lstStyle/>
          <a:p>
            <a:endParaRPr lang="ko-KR" altLang="en-US"/>
          </a:p>
        </p:txBody>
      </p:sp>
      <p:sp>
        <p:nvSpPr>
          <p:cNvPr id="201" name="Shape 199"/>
          <p:cNvSpPr/>
          <p:nvPr/>
        </p:nvSpPr>
        <p:spPr>
          <a:xfrm>
            <a:off x="5348054" y="4874525"/>
            <a:ext cx="9525" cy="408968"/>
          </a:xfrm>
          <a:prstGeom prst="rect">
            <a:avLst/>
          </a:prstGeom>
          <a:solidFill>
            <a:srgbClr val="EADFD3"/>
          </a:solidFill>
          <a:ln/>
        </p:spPr>
        <p:txBody>
          <a:bodyPr/>
          <a:lstStyle/>
          <a:p>
            <a:endParaRPr lang="ko-KR" altLang="en-US"/>
          </a:p>
        </p:txBody>
      </p:sp>
      <p:sp>
        <p:nvSpPr>
          <p:cNvPr id="202" name="Text 200"/>
          <p:cNvSpPr/>
          <p:nvPr/>
        </p:nvSpPr>
        <p:spPr>
          <a:xfrm>
            <a:off x="5372321"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9,980</a:t>
            </a:r>
            <a:endParaRPr lang="en-US" sz="1163" dirty="0"/>
          </a:p>
        </p:txBody>
      </p:sp>
      <p:sp>
        <p:nvSpPr>
          <p:cNvPr id="203" name="Shape 201"/>
          <p:cNvSpPr/>
          <p:nvPr/>
        </p:nvSpPr>
        <p:spPr>
          <a:xfrm>
            <a:off x="6550423" y="4874525"/>
            <a:ext cx="1202369" cy="408968"/>
          </a:xfrm>
          <a:prstGeom prst="rect">
            <a:avLst/>
          </a:prstGeom>
          <a:solidFill>
            <a:srgbClr val="FFFFFF"/>
          </a:solidFill>
          <a:ln/>
        </p:spPr>
        <p:txBody>
          <a:bodyPr/>
          <a:lstStyle/>
          <a:p>
            <a:endParaRPr lang="ko-KR" altLang="en-US"/>
          </a:p>
        </p:txBody>
      </p:sp>
      <p:sp>
        <p:nvSpPr>
          <p:cNvPr id="204" name="Shape 202"/>
          <p:cNvSpPr/>
          <p:nvPr/>
        </p:nvSpPr>
        <p:spPr>
          <a:xfrm>
            <a:off x="6550423" y="4874525"/>
            <a:ext cx="1202369" cy="9525"/>
          </a:xfrm>
          <a:prstGeom prst="rect">
            <a:avLst/>
          </a:prstGeom>
          <a:solidFill>
            <a:srgbClr val="EADFD3"/>
          </a:solidFill>
          <a:ln/>
        </p:spPr>
        <p:txBody>
          <a:bodyPr/>
          <a:lstStyle/>
          <a:p>
            <a:endParaRPr lang="ko-KR" altLang="en-US"/>
          </a:p>
        </p:txBody>
      </p:sp>
      <p:sp>
        <p:nvSpPr>
          <p:cNvPr id="205" name="Shape 203"/>
          <p:cNvSpPr/>
          <p:nvPr/>
        </p:nvSpPr>
        <p:spPr>
          <a:xfrm>
            <a:off x="6550423" y="4874525"/>
            <a:ext cx="9525" cy="408968"/>
          </a:xfrm>
          <a:prstGeom prst="rect">
            <a:avLst/>
          </a:prstGeom>
          <a:solidFill>
            <a:srgbClr val="EADFD3"/>
          </a:solidFill>
          <a:ln/>
        </p:spPr>
        <p:txBody>
          <a:bodyPr/>
          <a:lstStyle/>
          <a:p>
            <a:endParaRPr lang="ko-KR" altLang="en-US"/>
          </a:p>
        </p:txBody>
      </p:sp>
      <p:sp>
        <p:nvSpPr>
          <p:cNvPr id="206" name="Text 204"/>
          <p:cNvSpPr/>
          <p:nvPr/>
        </p:nvSpPr>
        <p:spPr>
          <a:xfrm>
            <a:off x="6574690"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3,870</a:t>
            </a:r>
            <a:endParaRPr lang="en-US" sz="1163" dirty="0"/>
          </a:p>
        </p:txBody>
      </p:sp>
      <p:sp>
        <p:nvSpPr>
          <p:cNvPr id="207" name="Shape 205"/>
          <p:cNvSpPr/>
          <p:nvPr/>
        </p:nvSpPr>
        <p:spPr>
          <a:xfrm>
            <a:off x="7752792" y="4874525"/>
            <a:ext cx="1202369" cy="408968"/>
          </a:xfrm>
          <a:prstGeom prst="rect">
            <a:avLst/>
          </a:prstGeom>
          <a:solidFill>
            <a:srgbClr val="FFFFFF"/>
          </a:solidFill>
          <a:ln/>
        </p:spPr>
        <p:txBody>
          <a:bodyPr/>
          <a:lstStyle/>
          <a:p>
            <a:endParaRPr lang="ko-KR" altLang="en-US"/>
          </a:p>
        </p:txBody>
      </p:sp>
      <p:sp>
        <p:nvSpPr>
          <p:cNvPr id="208" name="Shape 206"/>
          <p:cNvSpPr/>
          <p:nvPr/>
        </p:nvSpPr>
        <p:spPr>
          <a:xfrm>
            <a:off x="7752792" y="4874525"/>
            <a:ext cx="1202369" cy="9525"/>
          </a:xfrm>
          <a:prstGeom prst="rect">
            <a:avLst/>
          </a:prstGeom>
          <a:solidFill>
            <a:srgbClr val="EADFD3"/>
          </a:solidFill>
          <a:ln/>
        </p:spPr>
        <p:txBody>
          <a:bodyPr/>
          <a:lstStyle/>
          <a:p>
            <a:endParaRPr lang="ko-KR" altLang="en-US"/>
          </a:p>
        </p:txBody>
      </p:sp>
      <p:sp>
        <p:nvSpPr>
          <p:cNvPr id="209" name="Shape 207"/>
          <p:cNvSpPr/>
          <p:nvPr/>
        </p:nvSpPr>
        <p:spPr>
          <a:xfrm>
            <a:off x="7752792" y="4874525"/>
            <a:ext cx="9525" cy="408968"/>
          </a:xfrm>
          <a:prstGeom prst="rect">
            <a:avLst/>
          </a:prstGeom>
          <a:solidFill>
            <a:srgbClr val="EADFD3"/>
          </a:solidFill>
          <a:ln/>
        </p:spPr>
        <p:txBody>
          <a:bodyPr/>
          <a:lstStyle/>
          <a:p>
            <a:endParaRPr lang="ko-KR" altLang="en-US"/>
          </a:p>
        </p:txBody>
      </p:sp>
      <p:sp>
        <p:nvSpPr>
          <p:cNvPr id="210" name="Text 208"/>
          <p:cNvSpPr/>
          <p:nvPr/>
        </p:nvSpPr>
        <p:spPr>
          <a:xfrm>
            <a:off x="7777059" y="4917842"/>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7,810</a:t>
            </a:r>
            <a:endParaRPr lang="en-US" sz="1163" dirty="0"/>
          </a:p>
        </p:txBody>
      </p:sp>
      <p:sp>
        <p:nvSpPr>
          <p:cNvPr id="211" name="Shape 209"/>
          <p:cNvSpPr/>
          <p:nvPr/>
        </p:nvSpPr>
        <p:spPr>
          <a:xfrm>
            <a:off x="8955161" y="4874525"/>
            <a:ext cx="1202776" cy="408968"/>
          </a:xfrm>
          <a:prstGeom prst="rect">
            <a:avLst/>
          </a:prstGeom>
          <a:solidFill>
            <a:srgbClr val="FFFFFF"/>
          </a:solidFill>
          <a:ln/>
        </p:spPr>
        <p:txBody>
          <a:bodyPr/>
          <a:lstStyle/>
          <a:p>
            <a:endParaRPr lang="ko-KR" altLang="en-US"/>
          </a:p>
        </p:txBody>
      </p:sp>
      <p:sp>
        <p:nvSpPr>
          <p:cNvPr id="212" name="Shape 210"/>
          <p:cNvSpPr/>
          <p:nvPr/>
        </p:nvSpPr>
        <p:spPr>
          <a:xfrm>
            <a:off x="8955161" y="4874525"/>
            <a:ext cx="1202776" cy="9525"/>
          </a:xfrm>
          <a:prstGeom prst="rect">
            <a:avLst/>
          </a:prstGeom>
          <a:solidFill>
            <a:srgbClr val="EADFD3"/>
          </a:solidFill>
          <a:ln/>
        </p:spPr>
        <p:txBody>
          <a:bodyPr/>
          <a:lstStyle/>
          <a:p>
            <a:endParaRPr lang="ko-KR" altLang="en-US"/>
          </a:p>
        </p:txBody>
      </p:sp>
      <p:sp>
        <p:nvSpPr>
          <p:cNvPr id="213" name="Shape 211"/>
          <p:cNvSpPr/>
          <p:nvPr/>
        </p:nvSpPr>
        <p:spPr>
          <a:xfrm>
            <a:off x="8955161" y="4874525"/>
            <a:ext cx="9525" cy="408968"/>
          </a:xfrm>
          <a:prstGeom prst="rect">
            <a:avLst/>
          </a:prstGeom>
          <a:solidFill>
            <a:srgbClr val="EADFD3"/>
          </a:solidFill>
          <a:ln/>
        </p:spPr>
        <p:txBody>
          <a:bodyPr/>
          <a:lstStyle/>
          <a:p>
            <a:endParaRPr lang="ko-KR" altLang="en-US"/>
          </a:p>
        </p:txBody>
      </p:sp>
      <p:sp>
        <p:nvSpPr>
          <p:cNvPr id="214" name="Text 212"/>
          <p:cNvSpPr/>
          <p:nvPr/>
        </p:nvSpPr>
        <p:spPr>
          <a:xfrm>
            <a:off x="8979428" y="4917842"/>
            <a:ext cx="115945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5,050</a:t>
            </a:r>
            <a:endParaRPr lang="en-US" sz="1163" dirty="0"/>
          </a:p>
        </p:txBody>
      </p:sp>
      <p:sp>
        <p:nvSpPr>
          <p:cNvPr id="215" name="Shape 213"/>
          <p:cNvSpPr/>
          <p:nvPr/>
        </p:nvSpPr>
        <p:spPr>
          <a:xfrm>
            <a:off x="538580" y="5283494"/>
            <a:ext cx="1202369" cy="684494"/>
          </a:xfrm>
          <a:prstGeom prst="rect">
            <a:avLst/>
          </a:prstGeom>
          <a:solidFill>
            <a:srgbClr val="F5F7EC"/>
          </a:solidFill>
          <a:ln/>
        </p:spPr>
        <p:txBody>
          <a:bodyPr/>
          <a:lstStyle/>
          <a:p>
            <a:endParaRPr lang="ko-KR" altLang="en-US"/>
          </a:p>
        </p:txBody>
      </p:sp>
      <p:sp>
        <p:nvSpPr>
          <p:cNvPr id="216" name="Shape 214"/>
          <p:cNvSpPr/>
          <p:nvPr/>
        </p:nvSpPr>
        <p:spPr>
          <a:xfrm>
            <a:off x="538580" y="5283494"/>
            <a:ext cx="1202369" cy="9525"/>
          </a:xfrm>
          <a:prstGeom prst="rect">
            <a:avLst/>
          </a:prstGeom>
          <a:solidFill>
            <a:srgbClr val="EADFD3"/>
          </a:solidFill>
          <a:ln/>
        </p:spPr>
        <p:txBody>
          <a:bodyPr/>
          <a:lstStyle/>
          <a:p>
            <a:endParaRPr lang="ko-KR" altLang="en-US"/>
          </a:p>
        </p:txBody>
      </p:sp>
      <p:sp>
        <p:nvSpPr>
          <p:cNvPr id="217" name="Text 215"/>
          <p:cNvSpPr/>
          <p:nvPr/>
        </p:nvSpPr>
        <p:spPr>
          <a:xfrm>
            <a:off x="557630" y="5326811"/>
            <a:ext cx="1164269"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highlight>
                  <a:srgbClr val="F5F7EC"/>
                </a:highlight>
                <a:latin typeface="Paperlogy 7 Bold" pitchFamily="2" charset="-127"/>
                <a:ea typeface="Paperlogy 7 Bold" pitchFamily="2" charset="-127"/>
                <a:cs typeface="Arial" pitchFamily="34" charset="-120"/>
              </a:rPr>
              <a:t>순환계 주요치료</a:t>
            </a:r>
            <a:endParaRPr lang="en-US" sz="1163" dirty="0"/>
          </a:p>
        </p:txBody>
      </p:sp>
      <p:sp>
        <p:nvSpPr>
          <p:cNvPr id="218" name="Shape 216"/>
          <p:cNvSpPr/>
          <p:nvPr/>
        </p:nvSpPr>
        <p:spPr>
          <a:xfrm>
            <a:off x="1740948" y="5283494"/>
            <a:ext cx="1202369" cy="684494"/>
          </a:xfrm>
          <a:prstGeom prst="rect">
            <a:avLst/>
          </a:prstGeom>
          <a:solidFill>
            <a:srgbClr val="F5F7EC"/>
          </a:solidFill>
          <a:ln/>
        </p:spPr>
        <p:txBody>
          <a:bodyPr/>
          <a:lstStyle/>
          <a:p>
            <a:endParaRPr lang="ko-KR" altLang="en-US"/>
          </a:p>
        </p:txBody>
      </p:sp>
      <p:sp>
        <p:nvSpPr>
          <p:cNvPr id="219" name="Shape 217"/>
          <p:cNvSpPr/>
          <p:nvPr/>
        </p:nvSpPr>
        <p:spPr>
          <a:xfrm>
            <a:off x="1740948" y="5283494"/>
            <a:ext cx="1202369" cy="9525"/>
          </a:xfrm>
          <a:prstGeom prst="rect">
            <a:avLst/>
          </a:prstGeom>
          <a:solidFill>
            <a:srgbClr val="EADFD3"/>
          </a:solidFill>
          <a:ln/>
        </p:spPr>
        <p:txBody>
          <a:bodyPr/>
          <a:lstStyle/>
          <a:p>
            <a:endParaRPr lang="ko-KR" altLang="en-US"/>
          </a:p>
        </p:txBody>
      </p:sp>
      <p:sp>
        <p:nvSpPr>
          <p:cNvPr id="220" name="Shape 218"/>
          <p:cNvSpPr/>
          <p:nvPr/>
        </p:nvSpPr>
        <p:spPr>
          <a:xfrm>
            <a:off x="1740948" y="5283494"/>
            <a:ext cx="9525" cy="684494"/>
          </a:xfrm>
          <a:prstGeom prst="rect">
            <a:avLst/>
          </a:prstGeom>
          <a:solidFill>
            <a:srgbClr val="EADFD3"/>
          </a:solidFill>
          <a:ln/>
        </p:spPr>
        <p:txBody>
          <a:bodyPr/>
          <a:lstStyle/>
          <a:p>
            <a:endParaRPr lang="ko-KR" altLang="en-US"/>
          </a:p>
        </p:txBody>
      </p:sp>
      <p:sp>
        <p:nvSpPr>
          <p:cNvPr id="221" name="Text 219"/>
          <p:cNvSpPr/>
          <p:nvPr/>
        </p:nvSpPr>
        <p:spPr>
          <a:xfrm>
            <a:off x="1765215"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1,000만</a:t>
            </a:r>
            <a:endParaRPr lang="en-US" sz="1163" dirty="0"/>
          </a:p>
        </p:txBody>
      </p:sp>
      <p:sp>
        <p:nvSpPr>
          <p:cNvPr id="222" name="Shape 220"/>
          <p:cNvSpPr/>
          <p:nvPr/>
        </p:nvSpPr>
        <p:spPr>
          <a:xfrm>
            <a:off x="2943317" y="5283494"/>
            <a:ext cx="1202369" cy="684494"/>
          </a:xfrm>
          <a:prstGeom prst="rect">
            <a:avLst/>
          </a:prstGeom>
          <a:solidFill>
            <a:srgbClr val="FFFFFF"/>
          </a:solidFill>
          <a:ln/>
        </p:spPr>
        <p:txBody>
          <a:bodyPr/>
          <a:lstStyle/>
          <a:p>
            <a:endParaRPr lang="ko-KR" altLang="en-US"/>
          </a:p>
        </p:txBody>
      </p:sp>
      <p:sp>
        <p:nvSpPr>
          <p:cNvPr id="223" name="Shape 221"/>
          <p:cNvSpPr/>
          <p:nvPr/>
        </p:nvSpPr>
        <p:spPr>
          <a:xfrm>
            <a:off x="2943317" y="5283494"/>
            <a:ext cx="1202369" cy="9525"/>
          </a:xfrm>
          <a:prstGeom prst="rect">
            <a:avLst/>
          </a:prstGeom>
          <a:solidFill>
            <a:srgbClr val="EADFD3"/>
          </a:solidFill>
          <a:ln/>
        </p:spPr>
        <p:txBody>
          <a:bodyPr/>
          <a:lstStyle/>
          <a:p>
            <a:endParaRPr lang="ko-KR" altLang="en-US"/>
          </a:p>
        </p:txBody>
      </p:sp>
      <p:sp>
        <p:nvSpPr>
          <p:cNvPr id="224" name="Shape 222"/>
          <p:cNvSpPr/>
          <p:nvPr/>
        </p:nvSpPr>
        <p:spPr>
          <a:xfrm>
            <a:off x="2943317" y="5283494"/>
            <a:ext cx="9525" cy="684494"/>
          </a:xfrm>
          <a:prstGeom prst="rect">
            <a:avLst/>
          </a:prstGeom>
          <a:solidFill>
            <a:srgbClr val="EADFD3"/>
          </a:solidFill>
          <a:ln/>
        </p:spPr>
        <p:txBody>
          <a:bodyPr/>
          <a:lstStyle/>
          <a:p>
            <a:endParaRPr lang="ko-KR" altLang="en-US"/>
          </a:p>
        </p:txBody>
      </p:sp>
      <p:sp>
        <p:nvSpPr>
          <p:cNvPr id="225" name="Text 223"/>
          <p:cNvSpPr/>
          <p:nvPr/>
        </p:nvSpPr>
        <p:spPr>
          <a:xfrm>
            <a:off x="2967584"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21,880</a:t>
            </a:r>
            <a:endParaRPr lang="en-US" sz="1163" dirty="0"/>
          </a:p>
        </p:txBody>
      </p:sp>
      <p:sp>
        <p:nvSpPr>
          <p:cNvPr id="226" name="Shape 224"/>
          <p:cNvSpPr/>
          <p:nvPr/>
        </p:nvSpPr>
        <p:spPr>
          <a:xfrm>
            <a:off x="4145686" y="5283494"/>
            <a:ext cx="1202369" cy="684494"/>
          </a:xfrm>
          <a:prstGeom prst="rect">
            <a:avLst/>
          </a:prstGeom>
          <a:solidFill>
            <a:srgbClr val="FFFFFF"/>
          </a:solidFill>
          <a:ln/>
        </p:spPr>
        <p:txBody>
          <a:bodyPr/>
          <a:lstStyle/>
          <a:p>
            <a:endParaRPr lang="ko-KR" altLang="en-US"/>
          </a:p>
        </p:txBody>
      </p:sp>
      <p:sp>
        <p:nvSpPr>
          <p:cNvPr id="227" name="Shape 225"/>
          <p:cNvSpPr/>
          <p:nvPr/>
        </p:nvSpPr>
        <p:spPr>
          <a:xfrm>
            <a:off x="4145686" y="5283494"/>
            <a:ext cx="1202369" cy="9525"/>
          </a:xfrm>
          <a:prstGeom prst="rect">
            <a:avLst/>
          </a:prstGeom>
          <a:solidFill>
            <a:srgbClr val="EADFD3"/>
          </a:solidFill>
          <a:ln/>
        </p:spPr>
        <p:txBody>
          <a:bodyPr/>
          <a:lstStyle/>
          <a:p>
            <a:endParaRPr lang="ko-KR" altLang="en-US"/>
          </a:p>
        </p:txBody>
      </p:sp>
      <p:sp>
        <p:nvSpPr>
          <p:cNvPr id="228" name="Shape 226"/>
          <p:cNvSpPr/>
          <p:nvPr/>
        </p:nvSpPr>
        <p:spPr>
          <a:xfrm>
            <a:off x="4145686" y="5283494"/>
            <a:ext cx="9525" cy="684494"/>
          </a:xfrm>
          <a:prstGeom prst="rect">
            <a:avLst/>
          </a:prstGeom>
          <a:solidFill>
            <a:srgbClr val="EADFD3"/>
          </a:solidFill>
          <a:ln/>
        </p:spPr>
        <p:txBody>
          <a:bodyPr/>
          <a:lstStyle/>
          <a:p>
            <a:endParaRPr lang="ko-KR" altLang="en-US"/>
          </a:p>
        </p:txBody>
      </p:sp>
      <p:sp>
        <p:nvSpPr>
          <p:cNvPr id="229" name="Text 227"/>
          <p:cNvSpPr/>
          <p:nvPr/>
        </p:nvSpPr>
        <p:spPr>
          <a:xfrm>
            <a:off x="4169953"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9,860</a:t>
            </a:r>
            <a:endParaRPr lang="en-US" sz="1163" dirty="0"/>
          </a:p>
        </p:txBody>
      </p:sp>
      <p:sp>
        <p:nvSpPr>
          <p:cNvPr id="230" name="Shape 228"/>
          <p:cNvSpPr/>
          <p:nvPr/>
        </p:nvSpPr>
        <p:spPr>
          <a:xfrm>
            <a:off x="5348054" y="5283494"/>
            <a:ext cx="1202369" cy="684494"/>
          </a:xfrm>
          <a:prstGeom prst="rect">
            <a:avLst/>
          </a:prstGeom>
          <a:solidFill>
            <a:srgbClr val="FFFFFF"/>
          </a:solidFill>
          <a:ln/>
        </p:spPr>
        <p:txBody>
          <a:bodyPr/>
          <a:lstStyle/>
          <a:p>
            <a:endParaRPr lang="ko-KR" altLang="en-US"/>
          </a:p>
        </p:txBody>
      </p:sp>
      <p:sp>
        <p:nvSpPr>
          <p:cNvPr id="231" name="Shape 229"/>
          <p:cNvSpPr/>
          <p:nvPr/>
        </p:nvSpPr>
        <p:spPr>
          <a:xfrm>
            <a:off x="5348054" y="5283494"/>
            <a:ext cx="1202369" cy="9525"/>
          </a:xfrm>
          <a:prstGeom prst="rect">
            <a:avLst/>
          </a:prstGeom>
          <a:solidFill>
            <a:srgbClr val="EADFD3"/>
          </a:solidFill>
          <a:ln/>
        </p:spPr>
        <p:txBody>
          <a:bodyPr/>
          <a:lstStyle/>
          <a:p>
            <a:endParaRPr lang="ko-KR" altLang="en-US"/>
          </a:p>
        </p:txBody>
      </p:sp>
      <p:sp>
        <p:nvSpPr>
          <p:cNvPr id="232" name="Shape 230"/>
          <p:cNvSpPr/>
          <p:nvPr/>
        </p:nvSpPr>
        <p:spPr>
          <a:xfrm>
            <a:off x="5348054" y="5283494"/>
            <a:ext cx="9525" cy="684494"/>
          </a:xfrm>
          <a:prstGeom prst="rect">
            <a:avLst/>
          </a:prstGeom>
          <a:solidFill>
            <a:srgbClr val="EADFD3"/>
          </a:solidFill>
          <a:ln/>
        </p:spPr>
        <p:txBody>
          <a:bodyPr/>
          <a:lstStyle/>
          <a:p>
            <a:endParaRPr lang="ko-KR" altLang="en-US"/>
          </a:p>
        </p:txBody>
      </p:sp>
      <p:sp>
        <p:nvSpPr>
          <p:cNvPr id="233" name="Text 231"/>
          <p:cNvSpPr/>
          <p:nvPr/>
        </p:nvSpPr>
        <p:spPr>
          <a:xfrm>
            <a:off x="5372321"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26,981</a:t>
            </a:r>
            <a:endParaRPr lang="en-US" sz="1163" dirty="0"/>
          </a:p>
        </p:txBody>
      </p:sp>
      <p:sp>
        <p:nvSpPr>
          <p:cNvPr id="234" name="Shape 232"/>
          <p:cNvSpPr/>
          <p:nvPr/>
        </p:nvSpPr>
        <p:spPr>
          <a:xfrm>
            <a:off x="6550423" y="5283494"/>
            <a:ext cx="1202369" cy="684494"/>
          </a:xfrm>
          <a:prstGeom prst="rect">
            <a:avLst/>
          </a:prstGeom>
          <a:solidFill>
            <a:srgbClr val="FFFFFF"/>
          </a:solidFill>
          <a:ln/>
        </p:spPr>
        <p:txBody>
          <a:bodyPr/>
          <a:lstStyle/>
          <a:p>
            <a:endParaRPr lang="ko-KR" altLang="en-US"/>
          </a:p>
        </p:txBody>
      </p:sp>
      <p:sp>
        <p:nvSpPr>
          <p:cNvPr id="235" name="Shape 233"/>
          <p:cNvSpPr/>
          <p:nvPr/>
        </p:nvSpPr>
        <p:spPr>
          <a:xfrm>
            <a:off x="6550423" y="5283494"/>
            <a:ext cx="1202369" cy="9525"/>
          </a:xfrm>
          <a:prstGeom prst="rect">
            <a:avLst/>
          </a:prstGeom>
          <a:solidFill>
            <a:srgbClr val="EADFD3"/>
          </a:solidFill>
          <a:ln/>
        </p:spPr>
        <p:txBody>
          <a:bodyPr/>
          <a:lstStyle/>
          <a:p>
            <a:endParaRPr lang="ko-KR" altLang="en-US"/>
          </a:p>
        </p:txBody>
      </p:sp>
      <p:sp>
        <p:nvSpPr>
          <p:cNvPr id="236" name="Shape 234"/>
          <p:cNvSpPr/>
          <p:nvPr/>
        </p:nvSpPr>
        <p:spPr>
          <a:xfrm>
            <a:off x="6550423" y="5283494"/>
            <a:ext cx="9525" cy="684494"/>
          </a:xfrm>
          <a:prstGeom prst="rect">
            <a:avLst/>
          </a:prstGeom>
          <a:solidFill>
            <a:srgbClr val="EADFD3"/>
          </a:solidFill>
          <a:ln/>
        </p:spPr>
        <p:txBody>
          <a:bodyPr/>
          <a:lstStyle/>
          <a:p>
            <a:endParaRPr lang="ko-KR" altLang="en-US"/>
          </a:p>
        </p:txBody>
      </p:sp>
      <p:sp>
        <p:nvSpPr>
          <p:cNvPr id="237" name="Text 235"/>
          <p:cNvSpPr/>
          <p:nvPr/>
        </p:nvSpPr>
        <p:spPr>
          <a:xfrm>
            <a:off x="6574690"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18,841</a:t>
            </a:r>
            <a:endParaRPr lang="en-US" sz="1163" dirty="0"/>
          </a:p>
        </p:txBody>
      </p:sp>
      <p:sp>
        <p:nvSpPr>
          <p:cNvPr id="238" name="Shape 236"/>
          <p:cNvSpPr/>
          <p:nvPr/>
        </p:nvSpPr>
        <p:spPr>
          <a:xfrm>
            <a:off x="7752792" y="5283494"/>
            <a:ext cx="1202369" cy="684494"/>
          </a:xfrm>
          <a:prstGeom prst="rect">
            <a:avLst/>
          </a:prstGeom>
          <a:solidFill>
            <a:srgbClr val="FFFFFF"/>
          </a:solidFill>
          <a:ln/>
        </p:spPr>
        <p:txBody>
          <a:bodyPr/>
          <a:lstStyle/>
          <a:p>
            <a:endParaRPr lang="ko-KR" altLang="en-US"/>
          </a:p>
        </p:txBody>
      </p:sp>
      <p:sp>
        <p:nvSpPr>
          <p:cNvPr id="239" name="Shape 237"/>
          <p:cNvSpPr/>
          <p:nvPr/>
        </p:nvSpPr>
        <p:spPr>
          <a:xfrm>
            <a:off x="7752792" y="5283494"/>
            <a:ext cx="1202369" cy="9525"/>
          </a:xfrm>
          <a:prstGeom prst="rect">
            <a:avLst/>
          </a:prstGeom>
          <a:solidFill>
            <a:srgbClr val="EADFD3"/>
          </a:solidFill>
          <a:ln/>
        </p:spPr>
        <p:txBody>
          <a:bodyPr/>
          <a:lstStyle/>
          <a:p>
            <a:endParaRPr lang="ko-KR" altLang="en-US"/>
          </a:p>
        </p:txBody>
      </p:sp>
      <p:sp>
        <p:nvSpPr>
          <p:cNvPr id="240" name="Shape 238"/>
          <p:cNvSpPr/>
          <p:nvPr/>
        </p:nvSpPr>
        <p:spPr>
          <a:xfrm>
            <a:off x="7752792" y="5283494"/>
            <a:ext cx="9525" cy="684494"/>
          </a:xfrm>
          <a:prstGeom prst="rect">
            <a:avLst/>
          </a:prstGeom>
          <a:solidFill>
            <a:srgbClr val="EADFD3"/>
          </a:solidFill>
          <a:ln/>
        </p:spPr>
        <p:txBody>
          <a:bodyPr/>
          <a:lstStyle/>
          <a:p>
            <a:endParaRPr lang="ko-KR" altLang="en-US"/>
          </a:p>
        </p:txBody>
      </p:sp>
      <p:sp>
        <p:nvSpPr>
          <p:cNvPr id="241" name="Text 239"/>
          <p:cNvSpPr/>
          <p:nvPr/>
        </p:nvSpPr>
        <p:spPr>
          <a:xfrm>
            <a:off x="7777059" y="5326811"/>
            <a:ext cx="1159052"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18,785</a:t>
            </a:r>
            <a:endParaRPr lang="en-US" sz="1163" dirty="0"/>
          </a:p>
        </p:txBody>
      </p:sp>
      <p:sp>
        <p:nvSpPr>
          <p:cNvPr id="242" name="Shape 240"/>
          <p:cNvSpPr/>
          <p:nvPr/>
        </p:nvSpPr>
        <p:spPr>
          <a:xfrm>
            <a:off x="8955161" y="5283494"/>
            <a:ext cx="1202776" cy="684494"/>
          </a:xfrm>
          <a:prstGeom prst="rect">
            <a:avLst/>
          </a:prstGeom>
          <a:solidFill>
            <a:srgbClr val="FFFFFF"/>
          </a:solidFill>
          <a:ln/>
        </p:spPr>
        <p:txBody>
          <a:bodyPr/>
          <a:lstStyle/>
          <a:p>
            <a:endParaRPr lang="ko-KR" altLang="en-US"/>
          </a:p>
        </p:txBody>
      </p:sp>
      <p:sp>
        <p:nvSpPr>
          <p:cNvPr id="243" name="Shape 241"/>
          <p:cNvSpPr/>
          <p:nvPr/>
        </p:nvSpPr>
        <p:spPr>
          <a:xfrm>
            <a:off x="8955161" y="5283494"/>
            <a:ext cx="1202776" cy="9525"/>
          </a:xfrm>
          <a:prstGeom prst="rect">
            <a:avLst/>
          </a:prstGeom>
          <a:solidFill>
            <a:srgbClr val="EADFD3"/>
          </a:solidFill>
          <a:ln/>
        </p:spPr>
        <p:txBody>
          <a:bodyPr/>
          <a:lstStyle/>
          <a:p>
            <a:endParaRPr lang="ko-KR" altLang="en-US"/>
          </a:p>
        </p:txBody>
      </p:sp>
      <p:sp>
        <p:nvSpPr>
          <p:cNvPr id="244" name="Shape 242"/>
          <p:cNvSpPr/>
          <p:nvPr/>
        </p:nvSpPr>
        <p:spPr>
          <a:xfrm>
            <a:off x="8955161" y="5283494"/>
            <a:ext cx="9525" cy="684494"/>
          </a:xfrm>
          <a:prstGeom prst="rect">
            <a:avLst/>
          </a:prstGeom>
          <a:solidFill>
            <a:srgbClr val="EADFD3"/>
          </a:solidFill>
          <a:ln/>
        </p:spPr>
        <p:txBody>
          <a:bodyPr/>
          <a:lstStyle/>
          <a:p>
            <a:endParaRPr lang="ko-KR" altLang="en-US"/>
          </a:p>
        </p:txBody>
      </p:sp>
      <p:sp>
        <p:nvSpPr>
          <p:cNvPr id="245" name="Text 243"/>
          <p:cNvSpPr/>
          <p:nvPr/>
        </p:nvSpPr>
        <p:spPr>
          <a:xfrm>
            <a:off x="8979428" y="5326811"/>
            <a:ext cx="1159459" cy="641177"/>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12,040</a:t>
            </a:r>
            <a:endParaRPr lang="en-US" sz="1163" dirty="0"/>
          </a:p>
        </p:txBody>
      </p:sp>
      <p:sp>
        <p:nvSpPr>
          <p:cNvPr id="246" name="Shape 244"/>
          <p:cNvSpPr/>
          <p:nvPr/>
        </p:nvSpPr>
        <p:spPr>
          <a:xfrm>
            <a:off x="538580" y="5967988"/>
            <a:ext cx="1202369" cy="408968"/>
          </a:xfrm>
          <a:prstGeom prst="rect">
            <a:avLst/>
          </a:prstGeom>
          <a:solidFill>
            <a:srgbClr val="F5F7EC"/>
          </a:solidFill>
          <a:ln/>
        </p:spPr>
        <p:txBody>
          <a:bodyPr/>
          <a:lstStyle/>
          <a:p>
            <a:endParaRPr lang="ko-KR" altLang="en-US"/>
          </a:p>
        </p:txBody>
      </p:sp>
      <p:sp>
        <p:nvSpPr>
          <p:cNvPr id="247" name="Shape 245"/>
          <p:cNvSpPr/>
          <p:nvPr/>
        </p:nvSpPr>
        <p:spPr>
          <a:xfrm>
            <a:off x="538580" y="5967988"/>
            <a:ext cx="1202369" cy="9525"/>
          </a:xfrm>
          <a:prstGeom prst="rect">
            <a:avLst/>
          </a:prstGeom>
          <a:solidFill>
            <a:srgbClr val="EADFD3"/>
          </a:solidFill>
          <a:ln/>
        </p:spPr>
        <p:txBody>
          <a:bodyPr/>
          <a:lstStyle/>
          <a:p>
            <a:endParaRPr lang="ko-KR" altLang="en-US"/>
          </a:p>
        </p:txBody>
      </p:sp>
      <p:sp>
        <p:nvSpPr>
          <p:cNvPr id="248" name="Text 246"/>
          <p:cNvSpPr/>
          <p:nvPr/>
        </p:nvSpPr>
        <p:spPr>
          <a:xfrm>
            <a:off x="557630" y="6011305"/>
            <a:ext cx="116426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질병수술비</a:t>
            </a:r>
            <a:endParaRPr lang="en-US" sz="1163" dirty="0"/>
          </a:p>
        </p:txBody>
      </p:sp>
      <p:sp>
        <p:nvSpPr>
          <p:cNvPr id="249" name="Shape 247"/>
          <p:cNvSpPr/>
          <p:nvPr/>
        </p:nvSpPr>
        <p:spPr>
          <a:xfrm>
            <a:off x="1740948" y="5967988"/>
            <a:ext cx="1202369" cy="408968"/>
          </a:xfrm>
          <a:prstGeom prst="rect">
            <a:avLst/>
          </a:prstGeom>
          <a:solidFill>
            <a:srgbClr val="F5F7EC"/>
          </a:solidFill>
          <a:ln/>
        </p:spPr>
        <p:txBody>
          <a:bodyPr/>
          <a:lstStyle/>
          <a:p>
            <a:endParaRPr lang="ko-KR" altLang="en-US"/>
          </a:p>
        </p:txBody>
      </p:sp>
      <p:sp>
        <p:nvSpPr>
          <p:cNvPr id="250" name="Shape 248"/>
          <p:cNvSpPr/>
          <p:nvPr/>
        </p:nvSpPr>
        <p:spPr>
          <a:xfrm>
            <a:off x="1740948" y="5967988"/>
            <a:ext cx="1202369" cy="9525"/>
          </a:xfrm>
          <a:prstGeom prst="rect">
            <a:avLst/>
          </a:prstGeom>
          <a:solidFill>
            <a:srgbClr val="EADFD3"/>
          </a:solidFill>
          <a:ln/>
        </p:spPr>
        <p:txBody>
          <a:bodyPr/>
          <a:lstStyle/>
          <a:p>
            <a:endParaRPr lang="ko-KR" altLang="en-US"/>
          </a:p>
        </p:txBody>
      </p:sp>
      <p:sp>
        <p:nvSpPr>
          <p:cNvPr id="251" name="Shape 249"/>
          <p:cNvSpPr/>
          <p:nvPr/>
        </p:nvSpPr>
        <p:spPr>
          <a:xfrm>
            <a:off x="1740948" y="5967988"/>
            <a:ext cx="9525" cy="408968"/>
          </a:xfrm>
          <a:prstGeom prst="rect">
            <a:avLst/>
          </a:prstGeom>
          <a:solidFill>
            <a:srgbClr val="EADFD3"/>
          </a:solidFill>
          <a:ln/>
        </p:spPr>
        <p:txBody>
          <a:bodyPr/>
          <a:lstStyle/>
          <a:p>
            <a:endParaRPr lang="ko-KR" altLang="en-US"/>
          </a:p>
        </p:txBody>
      </p:sp>
      <p:sp>
        <p:nvSpPr>
          <p:cNvPr id="252" name="Text 250"/>
          <p:cNvSpPr/>
          <p:nvPr/>
        </p:nvSpPr>
        <p:spPr>
          <a:xfrm>
            <a:off x="1765215"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10만</a:t>
            </a:r>
            <a:endParaRPr lang="en-US" sz="1163" dirty="0"/>
          </a:p>
        </p:txBody>
      </p:sp>
      <p:sp>
        <p:nvSpPr>
          <p:cNvPr id="253" name="Shape 251"/>
          <p:cNvSpPr/>
          <p:nvPr/>
        </p:nvSpPr>
        <p:spPr>
          <a:xfrm>
            <a:off x="2943317" y="5967988"/>
            <a:ext cx="1202369" cy="408968"/>
          </a:xfrm>
          <a:prstGeom prst="rect">
            <a:avLst/>
          </a:prstGeom>
          <a:solidFill>
            <a:srgbClr val="FFFFFF"/>
          </a:solidFill>
          <a:ln/>
        </p:spPr>
        <p:txBody>
          <a:bodyPr/>
          <a:lstStyle/>
          <a:p>
            <a:endParaRPr lang="ko-KR" altLang="en-US"/>
          </a:p>
        </p:txBody>
      </p:sp>
      <p:sp>
        <p:nvSpPr>
          <p:cNvPr id="254" name="Shape 252"/>
          <p:cNvSpPr/>
          <p:nvPr/>
        </p:nvSpPr>
        <p:spPr>
          <a:xfrm>
            <a:off x="2943317" y="5967988"/>
            <a:ext cx="1202369" cy="9525"/>
          </a:xfrm>
          <a:prstGeom prst="rect">
            <a:avLst/>
          </a:prstGeom>
          <a:solidFill>
            <a:srgbClr val="EADFD3"/>
          </a:solidFill>
          <a:ln/>
        </p:spPr>
        <p:txBody>
          <a:bodyPr/>
          <a:lstStyle/>
          <a:p>
            <a:endParaRPr lang="ko-KR" altLang="en-US"/>
          </a:p>
        </p:txBody>
      </p:sp>
      <p:sp>
        <p:nvSpPr>
          <p:cNvPr id="255" name="Shape 253"/>
          <p:cNvSpPr/>
          <p:nvPr/>
        </p:nvSpPr>
        <p:spPr>
          <a:xfrm>
            <a:off x="2943317" y="5967988"/>
            <a:ext cx="9525" cy="408968"/>
          </a:xfrm>
          <a:prstGeom prst="rect">
            <a:avLst/>
          </a:prstGeom>
          <a:solidFill>
            <a:srgbClr val="EADFD3"/>
          </a:solidFill>
          <a:ln/>
        </p:spPr>
        <p:txBody>
          <a:bodyPr/>
          <a:lstStyle/>
          <a:p>
            <a:endParaRPr lang="ko-KR" altLang="en-US"/>
          </a:p>
        </p:txBody>
      </p:sp>
      <p:sp>
        <p:nvSpPr>
          <p:cNvPr id="256" name="Text 254"/>
          <p:cNvSpPr/>
          <p:nvPr/>
        </p:nvSpPr>
        <p:spPr>
          <a:xfrm>
            <a:off x="2967584"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2,509</a:t>
            </a:r>
            <a:endParaRPr lang="en-US" sz="1163" dirty="0"/>
          </a:p>
        </p:txBody>
      </p:sp>
      <p:sp>
        <p:nvSpPr>
          <p:cNvPr id="257" name="Shape 255"/>
          <p:cNvSpPr/>
          <p:nvPr/>
        </p:nvSpPr>
        <p:spPr>
          <a:xfrm>
            <a:off x="4145686" y="5967988"/>
            <a:ext cx="1202369" cy="408968"/>
          </a:xfrm>
          <a:prstGeom prst="rect">
            <a:avLst/>
          </a:prstGeom>
          <a:solidFill>
            <a:srgbClr val="FFFFFF"/>
          </a:solidFill>
          <a:ln/>
        </p:spPr>
        <p:txBody>
          <a:bodyPr/>
          <a:lstStyle/>
          <a:p>
            <a:endParaRPr lang="ko-KR" altLang="en-US"/>
          </a:p>
        </p:txBody>
      </p:sp>
      <p:sp>
        <p:nvSpPr>
          <p:cNvPr id="258" name="Shape 256"/>
          <p:cNvSpPr/>
          <p:nvPr/>
        </p:nvSpPr>
        <p:spPr>
          <a:xfrm>
            <a:off x="4145686" y="5967988"/>
            <a:ext cx="1202369" cy="9525"/>
          </a:xfrm>
          <a:prstGeom prst="rect">
            <a:avLst/>
          </a:prstGeom>
          <a:solidFill>
            <a:srgbClr val="EADFD3"/>
          </a:solidFill>
          <a:ln/>
        </p:spPr>
        <p:txBody>
          <a:bodyPr/>
          <a:lstStyle/>
          <a:p>
            <a:endParaRPr lang="ko-KR" altLang="en-US"/>
          </a:p>
        </p:txBody>
      </p:sp>
      <p:sp>
        <p:nvSpPr>
          <p:cNvPr id="259" name="Shape 257"/>
          <p:cNvSpPr/>
          <p:nvPr/>
        </p:nvSpPr>
        <p:spPr>
          <a:xfrm>
            <a:off x="4145686" y="5967988"/>
            <a:ext cx="9525" cy="408968"/>
          </a:xfrm>
          <a:prstGeom prst="rect">
            <a:avLst/>
          </a:prstGeom>
          <a:solidFill>
            <a:srgbClr val="EADFD3"/>
          </a:solidFill>
          <a:ln/>
        </p:spPr>
        <p:txBody>
          <a:bodyPr/>
          <a:lstStyle/>
          <a:p>
            <a:endParaRPr lang="ko-KR" altLang="en-US"/>
          </a:p>
        </p:txBody>
      </p:sp>
      <p:sp>
        <p:nvSpPr>
          <p:cNvPr id="260" name="Text 258"/>
          <p:cNvSpPr/>
          <p:nvPr/>
        </p:nvSpPr>
        <p:spPr>
          <a:xfrm>
            <a:off x="4169953"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C24E2C"/>
                </a:solidFill>
                <a:latin typeface="Paperlogy 7 Bold" pitchFamily="2" charset="-127"/>
                <a:ea typeface="Paperlogy 7 Bold" pitchFamily="2" charset="-127"/>
                <a:cs typeface="Arial" pitchFamily="34" charset="-120"/>
              </a:rPr>
              <a:t>2,594</a:t>
            </a:r>
            <a:endParaRPr lang="en-US" sz="1163" dirty="0"/>
          </a:p>
        </p:txBody>
      </p:sp>
      <p:sp>
        <p:nvSpPr>
          <p:cNvPr id="261" name="Shape 259"/>
          <p:cNvSpPr/>
          <p:nvPr/>
        </p:nvSpPr>
        <p:spPr>
          <a:xfrm>
            <a:off x="5348054" y="5967988"/>
            <a:ext cx="1202369" cy="408968"/>
          </a:xfrm>
          <a:prstGeom prst="rect">
            <a:avLst/>
          </a:prstGeom>
          <a:solidFill>
            <a:srgbClr val="FFFFFF"/>
          </a:solidFill>
          <a:ln/>
        </p:spPr>
        <p:txBody>
          <a:bodyPr/>
          <a:lstStyle/>
          <a:p>
            <a:endParaRPr lang="ko-KR" altLang="en-US"/>
          </a:p>
        </p:txBody>
      </p:sp>
      <p:sp>
        <p:nvSpPr>
          <p:cNvPr id="262" name="Shape 260"/>
          <p:cNvSpPr/>
          <p:nvPr/>
        </p:nvSpPr>
        <p:spPr>
          <a:xfrm>
            <a:off x="5348054" y="5967988"/>
            <a:ext cx="1202369" cy="9525"/>
          </a:xfrm>
          <a:prstGeom prst="rect">
            <a:avLst/>
          </a:prstGeom>
          <a:solidFill>
            <a:srgbClr val="EADFD3"/>
          </a:solidFill>
          <a:ln/>
        </p:spPr>
        <p:txBody>
          <a:bodyPr/>
          <a:lstStyle/>
          <a:p>
            <a:endParaRPr lang="ko-KR" altLang="en-US"/>
          </a:p>
        </p:txBody>
      </p:sp>
      <p:sp>
        <p:nvSpPr>
          <p:cNvPr id="263" name="Shape 261"/>
          <p:cNvSpPr/>
          <p:nvPr/>
        </p:nvSpPr>
        <p:spPr>
          <a:xfrm>
            <a:off x="5348054" y="5967988"/>
            <a:ext cx="9525" cy="408968"/>
          </a:xfrm>
          <a:prstGeom prst="rect">
            <a:avLst/>
          </a:prstGeom>
          <a:solidFill>
            <a:srgbClr val="EADFD3"/>
          </a:solidFill>
          <a:ln/>
        </p:spPr>
        <p:txBody>
          <a:bodyPr/>
          <a:lstStyle/>
          <a:p>
            <a:endParaRPr lang="ko-KR" altLang="en-US"/>
          </a:p>
        </p:txBody>
      </p:sp>
      <p:sp>
        <p:nvSpPr>
          <p:cNvPr id="264" name="Text 262"/>
          <p:cNvSpPr/>
          <p:nvPr/>
        </p:nvSpPr>
        <p:spPr>
          <a:xfrm>
            <a:off x="5372321"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2,624</a:t>
            </a:r>
            <a:endParaRPr lang="en-US" sz="1163" dirty="0"/>
          </a:p>
        </p:txBody>
      </p:sp>
      <p:sp>
        <p:nvSpPr>
          <p:cNvPr id="265" name="Shape 263"/>
          <p:cNvSpPr/>
          <p:nvPr/>
        </p:nvSpPr>
        <p:spPr>
          <a:xfrm>
            <a:off x="6550423" y="5967988"/>
            <a:ext cx="1202369" cy="408968"/>
          </a:xfrm>
          <a:prstGeom prst="rect">
            <a:avLst/>
          </a:prstGeom>
          <a:solidFill>
            <a:srgbClr val="FFFFFF"/>
          </a:solidFill>
          <a:ln/>
        </p:spPr>
        <p:txBody>
          <a:bodyPr/>
          <a:lstStyle/>
          <a:p>
            <a:endParaRPr lang="ko-KR" altLang="en-US"/>
          </a:p>
        </p:txBody>
      </p:sp>
      <p:sp>
        <p:nvSpPr>
          <p:cNvPr id="266" name="Shape 264"/>
          <p:cNvSpPr/>
          <p:nvPr/>
        </p:nvSpPr>
        <p:spPr>
          <a:xfrm>
            <a:off x="6550423" y="5967988"/>
            <a:ext cx="1202369" cy="9525"/>
          </a:xfrm>
          <a:prstGeom prst="rect">
            <a:avLst/>
          </a:prstGeom>
          <a:solidFill>
            <a:srgbClr val="EADFD3"/>
          </a:solidFill>
          <a:ln/>
        </p:spPr>
        <p:txBody>
          <a:bodyPr/>
          <a:lstStyle/>
          <a:p>
            <a:endParaRPr lang="ko-KR" altLang="en-US"/>
          </a:p>
        </p:txBody>
      </p:sp>
      <p:sp>
        <p:nvSpPr>
          <p:cNvPr id="267" name="Shape 265"/>
          <p:cNvSpPr/>
          <p:nvPr/>
        </p:nvSpPr>
        <p:spPr>
          <a:xfrm>
            <a:off x="6550423" y="5967988"/>
            <a:ext cx="9525" cy="408968"/>
          </a:xfrm>
          <a:prstGeom prst="rect">
            <a:avLst/>
          </a:prstGeom>
          <a:solidFill>
            <a:srgbClr val="EADFD3"/>
          </a:solidFill>
          <a:ln/>
        </p:spPr>
        <p:txBody>
          <a:bodyPr/>
          <a:lstStyle/>
          <a:p>
            <a:endParaRPr lang="ko-KR" altLang="en-US"/>
          </a:p>
        </p:txBody>
      </p:sp>
      <p:sp>
        <p:nvSpPr>
          <p:cNvPr id="268" name="Text 266"/>
          <p:cNvSpPr/>
          <p:nvPr/>
        </p:nvSpPr>
        <p:spPr>
          <a:xfrm>
            <a:off x="6574690"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3,360</a:t>
            </a:r>
            <a:endParaRPr lang="en-US" sz="1163" dirty="0"/>
          </a:p>
        </p:txBody>
      </p:sp>
      <p:sp>
        <p:nvSpPr>
          <p:cNvPr id="269" name="Shape 267"/>
          <p:cNvSpPr/>
          <p:nvPr/>
        </p:nvSpPr>
        <p:spPr>
          <a:xfrm>
            <a:off x="7752792" y="5967988"/>
            <a:ext cx="1202369" cy="408968"/>
          </a:xfrm>
          <a:prstGeom prst="rect">
            <a:avLst/>
          </a:prstGeom>
          <a:solidFill>
            <a:srgbClr val="FFFFFF"/>
          </a:solidFill>
          <a:ln/>
        </p:spPr>
        <p:txBody>
          <a:bodyPr/>
          <a:lstStyle/>
          <a:p>
            <a:endParaRPr lang="ko-KR" altLang="en-US"/>
          </a:p>
        </p:txBody>
      </p:sp>
      <p:sp>
        <p:nvSpPr>
          <p:cNvPr id="270" name="Shape 268"/>
          <p:cNvSpPr/>
          <p:nvPr/>
        </p:nvSpPr>
        <p:spPr>
          <a:xfrm>
            <a:off x="7752792" y="5967988"/>
            <a:ext cx="1202369" cy="9525"/>
          </a:xfrm>
          <a:prstGeom prst="rect">
            <a:avLst/>
          </a:prstGeom>
          <a:solidFill>
            <a:srgbClr val="EADFD3"/>
          </a:solidFill>
          <a:ln/>
        </p:spPr>
        <p:txBody>
          <a:bodyPr/>
          <a:lstStyle/>
          <a:p>
            <a:endParaRPr lang="ko-KR" altLang="en-US"/>
          </a:p>
        </p:txBody>
      </p:sp>
      <p:sp>
        <p:nvSpPr>
          <p:cNvPr id="271" name="Shape 269"/>
          <p:cNvSpPr/>
          <p:nvPr/>
        </p:nvSpPr>
        <p:spPr>
          <a:xfrm>
            <a:off x="7752792" y="5967988"/>
            <a:ext cx="9525" cy="408968"/>
          </a:xfrm>
          <a:prstGeom prst="rect">
            <a:avLst/>
          </a:prstGeom>
          <a:solidFill>
            <a:srgbClr val="EADFD3"/>
          </a:solidFill>
          <a:ln/>
        </p:spPr>
        <p:txBody>
          <a:bodyPr/>
          <a:lstStyle/>
          <a:p>
            <a:endParaRPr lang="ko-KR" altLang="en-US"/>
          </a:p>
        </p:txBody>
      </p:sp>
      <p:sp>
        <p:nvSpPr>
          <p:cNvPr id="272" name="Text 270"/>
          <p:cNvSpPr/>
          <p:nvPr/>
        </p:nvSpPr>
        <p:spPr>
          <a:xfrm>
            <a:off x="7777059" y="6011305"/>
            <a:ext cx="1159052"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3,222</a:t>
            </a:r>
            <a:endParaRPr lang="en-US" sz="1163" dirty="0"/>
          </a:p>
        </p:txBody>
      </p:sp>
      <p:sp>
        <p:nvSpPr>
          <p:cNvPr id="273" name="Shape 271"/>
          <p:cNvSpPr/>
          <p:nvPr/>
        </p:nvSpPr>
        <p:spPr>
          <a:xfrm>
            <a:off x="8955161" y="5967988"/>
            <a:ext cx="1202776" cy="408968"/>
          </a:xfrm>
          <a:prstGeom prst="rect">
            <a:avLst/>
          </a:prstGeom>
          <a:solidFill>
            <a:srgbClr val="FFFFFF"/>
          </a:solidFill>
          <a:ln/>
        </p:spPr>
        <p:txBody>
          <a:bodyPr/>
          <a:lstStyle/>
          <a:p>
            <a:endParaRPr lang="ko-KR" altLang="en-US"/>
          </a:p>
        </p:txBody>
      </p:sp>
      <p:sp>
        <p:nvSpPr>
          <p:cNvPr id="274" name="Shape 272"/>
          <p:cNvSpPr/>
          <p:nvPr/>
        </p:nvSpPr>
        <p:spPr>
          <a:xfrm>
            <a:off x="8955161" y="5967988"/>
            <a:ext cx="1202776" cy="9525"/>
          </a:xfrm>
          <a:prstGeom prst="rect">
            <a:avLst/>
          </a:prstGeom>
          <a:solidFill>
            <a:srgbClr val="EADFD3"/>
          </a:solidFill>
          <a:ln/>
        </p:spPr>
        <p:txBody>
          <a:bodyPr/>
          <a:lstStyle/>
          <a:p>
            <a:endParaRPr lang="ko-KR" altLang="en-US"/>
          </a:p>
        </p:txBody>
      </p:sp>
      <p:sp>
        <p:nvSpPr>
          <p:cNvPr id="275" name="Shape 273"/>
          <p:cNvSpPr/>
          <p:nvPr/>
        </p:nvSpPr>
        <p:spPr>
          <a:xfrm>
            <a:off x="8955161" y="5967988"/>
            <a:ext cx="9525" cy="408968"/>
          </a:xfrm>
          <a:prstGeom prst="rect">
            <a:avLst/>
          </a:prstGeom>
          <a:solidFill>
            <a:srgbClr val="EADFD3"/>
          </a:solidFill>
          <a:ln/>
        </p:spPr>
        <p:txBody>
          <a:bodyPr/>
          <a:lstStyle/>
          <a:p>
            <a:endParaRPr lang="ko-KR" altLang="en-US"/>
          </a:p>
        </p:txBody>
      </p:sp>
      <p:sp>
        <p:nvSpPr>
          <p:cNvPr id="276" name="Text 274"/>
          <p:cNvSpPr/>
          <p:nvPr/>
        </p:nvSpPr>
        <p:spPr>
          <a:xfrm>
            <a:off x="8979428" y="6011305"/>
            <a:ext cx="1159459" cy="365651"/>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3A2C24"/>
                </a:solidFill>
                <a:latin typeface="Paperlogy 7 Bold" pitchFamily="2" charset="-127"/>
                <a:ea typeface="Paperlogy 7 Bold" pitchFamily="2" charset="-127"/>
                <a:cs typeface="Arial" pitchFamily="34" charset="-120"/>
              </a:rPr>
              <a:t>2,881</a:t>
            </a:r>
            <a:endParaRPr lang="en-US" sz="1163" dirty="0"/>
          </a:p>
        </p:txBody>
      </p:sp>
      <p:sp>
        <p:nvSpPr>
          <p:cNvPr id="277" name="Shape 275"/>
          <p:cNvSpPr/>
          <p:nvPr/>
        </p:nvSpPr>
        <p:spPr>
          <a:xfrm>
            <a:off x="538580" y="6376956"/>
            <a:ext cx="2404738" cy="409131"/>
          </a:xfrm>
          <a:prstGeom prst="rect">
            <a:avLst/>
          </a:prstGeom>
          <a:solidFill>
            <a:srgbClr val="F5F7EC"/>
          </a:solidFill>
          <a:ln/>
        </p:spPr>
        <p:txBody>
          <a:bodyPr/>
          <a:lstStyle/>
          <a:p>
            <a:endParaRPr lang="ko-KR" altLang="en-US"/>
          </a:p>
        </p:txBody>
      </p:sp>
      <p:sp>
        <p:nvSpPr>
          <p:cNvPr id="278" name="Shape 276"/>
          <p:cNvSpPr/>
          <p:nvPr/>
        </p:nvSpPr>
        <p:spPr>
          <a:xfrm>
            <a:off x="538580" y="6376956"/>
            <a:ext cx="2404738" cy="9525"/>
          </a:xfrm>
          <a:prstGeom prst="rect">
            <a:avLst/>
          </a:prstGeom>
          <a:solidFill>
            <a:srgbClr val="EADFD3"/>
          </a:solidFill>
          <a:ln/>
        </p:spPr>
        <p:txBody>
          <a:bodyPr/>
          <a:lstStyle/>
          <a:p>
            <a:endParaRPr lang="ko-KR" altLang="en-US"/>
          </a:p>
        </p:txBody>
      </p:sp>
      <p:sp>
        <p:nvSpPr>
          <p:cNvPr id="279" name="Text 277"/>
          <p:cNvSpPr/>
          <p:nvPr/>
        </p:nvSpPr>
        <p:spPr>
          <a:xfrm>
            <a:off x="557630" y="6420273"/>
            <a:ext cx="2366638" cy="365814"/>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이런 분들께 추천!</a:t>
            </a:r>
            <a:endParaRPr lang="en-US" sz="1163" dirty="0"/>
          </a:p>
        </p:txBody>
      </p:sp>
      <p:sp>
        <p:nvSpPr>
          <p:cNvPr id="280" name="Shape 278"/>
          <p:cNvSpPr/>
          <p:nvPr/>
        </p:nvSpPr>
        <p:spPr>
          <a:xfrm>
            <a:off x="2943317" y="6376956"/>
            <a:ext cx="2404738" cy="409131"/>
          </a:xfrm>
          <a:prstGeom prst="rect">
            <a:avLst/>
          </a:prstGeom>
          <a:solidFill>
            <a:srgbClr val="FFFFFF"/>
          </a:solidFill>
          <a:ln/>
        </p:spPr>
        <p:txBody>
          <a:bodyPr/>
          <a:lstStyle/>
          <a:p>
            <a:endParaRPr lang="ko-KR" altLang="en-US"/>
          </a:p>
        </p:txBody>
      </p:sp>
      <p:sp>
        <p:nvSpPr>
          <p:cNvPr id="281" name="Shape 279"/>
          <p:cNvSpPr/>
          <p:nvPr/>
        </p:nvSpPr>
        <p:spPr>
          <a:xfrm>
            <a:off x="2943317" y="6376956"/>
            <a:ext cx="2404738" cy="9525"/>
          </a:xfrm>
          <a:prstGeom prst="rect">
            <a:avLst/>
          </a:prstGeom>
          <a:solidFill>
            <a:srgbClr val="EADFD3"/>
          </a:solidFill>
          <a:ln/>
        </p:spPr>
        <p:txBody>
          <a:bodyPr/>
          <a:lstStyle/>
          <a:p>
            <a:endParaRPr lang="ko-KR" altLang="en-US"/>
          </a:p>
        </p:txBody>
      </p:sp>
      <p:sp>
        <p:nvSpPr>
          <p:cNvPr id="282" name="Shape 280"/>
          <p:cNvSpPr/>
          <p:nvPr/>
        </p:nvSpPr>
        <p:spPr>
          <a:xfrm>
            <a:off x="2943317" y="6376956"/>
            <a:ext cx="9525" cy="409131"/>
          </a:xfrm>
          <a:prstGeom prst="rect">
            <a:avLst/>
          </a:prstGeom>
          <a:solidFill>
            <a:srgbClr val="EADFD3"/>
          </a:solidFill>
          <a:ln/>
        </p:spPr>
        <p:txBody>
          <a:bodyPr/>
          <a:lstStyle/>
          <a:p>
            <a:endParaRPr lang="ko-KR" altLang="en-US"/>
          </a:p>
        </p:txBody>
      </p:sp>
      <p:sp>
        <p:nvSpPr>
          <p:cNvPr id="283" name="Text 281"/>
          <p:cNvSpPr/>
          <p:nvPr/>
        </p:nvSpPr>
        <p:spPr>
          <a:xfrm>
            <a:off x="3360437" y="6499720"/>
            <a:ext cx="1542193" cy="205046"/>
          </a:xfrm>
          <a:prstGeom prst="rect">
            <a:avLst/>
          </a:prstGeom>
          <a:noFill/>
          <a:ln/>
        </p:spPr>
        <p:txBody>
          <a:bodyPr wrap="square" lIns="0" tIns="0" rIns="0" bIns="0" rtlCol="0" anchor="t">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초경증상품 보험료 경쟁력</a:t>
            </a:r>
            <a:endParaRPr lang="en-US" sz="1163" dirty="0"/>
          </a:p>
        </p:txBody>
      </p:sp>
      <p:pic>
        <p:nvPicPr>
          <p:cNvPr id="28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41185" y="6511296"/>
            <a:ext cx="94885" cy="132872"/>
          </a:xfrm>
          <a:prstGeom prst="rect">
            <a:avLst/>
          </a:prstGeom>
        </p:spPr>
      </p:pic>
      <p:sp>
        <p:nvSpPr>
          <p:cNvPr id="285" name="Shape 282"/>
          <p:cNvSpPr/>
          <p:nvPr/>
        </p:nvSpPr>
        <p:spPr>
          <a:xfrm>
            <a:off x="5348054" y="6376956"/>
            <a:ext cx="2404738" cy="409131"/>
          </a:xfrm>
          <a:prstGeom prst="rect">
            <a:avLst/>
          </a:prstGeom>
          <a:solidFill>
            <a:srgbClr val="FFFFFF"/>
          </a:solidFill>
          <a:ln/>
        </p:spPr>
        <p:txBody>
          <a:bodyPr/>
          <a:lstStyle/>
          <a:p>
            <a:endParaRPr lang="ko-KR" altLang="en-US"/>
          </a:p>
        </p:txBody>
      </p:sp>
      <p:sp>
        <p:nvSpPr>
          <p:cNvPr id="286" name="Shape 283"/>
          <p:cNvSpPr/>
          <p:nvPr/>
        </p:nvSpPr>
        <p:spPr>
          <a:xfrm>
            <a:off x="5348054" y="6376956"/>
            <a:ext cx="2404738" cy="9525"/>
          </a:xfrm>
          <a:prstGeom prst="rect">
            <a:avLst/>
          </a:prstGeom>
          <a:solidFill>
            <a:srgbClr val="EADFD3"/>
          </a:solidFill>
          <a:ln/>
        </p:spPr>
        <p:txBody>
          <a:bodyPr/>
          <a:lstStyle/>
          <a:p>
            <a:endParaRPr lang="ko-KR" altLang="en-US"/>
          </a:p>
        </p:txBody>
      </p:sp>
      <p:sp>
        <p:nvSpPr>
          <p:cNvPr id="287" name="Shape 284"/>
          <p:cNvSpPr/>
          <p:nvPr/>
        </p:nvSpPr>
        <p:spPr>
          <a:xfrm>
            <a:off x="5348054" y="6376956"/>
            <a:ext cx="9525" cy="409131"/>
          </a:xfrm>
          <a:prstGeom prst="rect">
            <a:avLst/>
          </a:prstGeom>
          <a:solidFill>
            <a:srgbClr val="EADFD3"/>
          </a:solidFill>
          <a:ln/>
        </p:spPr>
        <p:txBody>
          <a:bodyPr/>
          <a:lstStyle/>
          <a:p>
            <a:endParaRPr lang="ko-KR" altLang="en-US"/>
          </a:p>
        </p:txBody>
      </p:sp>
      <p:sp>
        <p:nvSpPr>
          <p:cNvPr id="288" name="Text 285"/>
          <p:cNvSpPr/>
          <p:nvPr/>
        </p:nvSpPr>
        <p:spPr>
          <a:xfrm>
            <a:off x="5372321" y="6420273"/>
            <a:ext cx="2361420" cy="365814"/>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검사, 진단, 치료 등 통합치료비 플랜</a:t>
            </a:r>
            <a:endParaRPr lang="en-US" sz="1163" dirty="0"/>
          </a:p>
        </p:txBody>
      </p:sp>
      <p:sp>
        <p:nvSpPr>
          <p:cNvPr id="289" name="Shape 286"/>
          <p:cNvSpPr/>
          <p:nvPr/>
        </p:nvSpPr>
        <p:spPr>
          <a:xfrm>
            <a:off x="7752792" y="6376956"/>
            <a:ext cx="2405145" cy="409131"/>
          </a:xfrm>
          <a:prstGeom prst="rect">
            <a:avLst/>
          </a:prstGeom>
          <a:solidFill>
            <a:srgbClr val="FFFFFF"/>
          </a:solidFill>
          <a:ln/>
        </p:spPr>
        <p:txBody>
          <a:bodyPr/>
          <a:lstStyle/>
          <a:p>
            <a:endParaRPr lang="ko-KR" altLang="en-US"/>
          </a:p>
        </p:txBody>
      </p:sp>
      <p:sp>
        <p:nvSpPr>
          <p:cNvPr id="290" name="Shape 287"/>
          <p:cNvSpPr/>
          <p:nvPr/>
        </p:nvSpPr>
        <p:spPr>
          <a:xfrm>
            <a:off x="7752792" y="6376956"/>
            <a:ext cx="2405145" cy="9525"/>
          </a:xfrm>
          <a:prstGeom prst="rect">
            <a:avLst/>
          </a:prstGeom>
          <a:solidFill>
            <a:srgbClr val="EADFD3"/>
          </a:solidFill>
          <a:ln/>
        </p:spPr>
        <p:txBody>
          <a:bodyPr/>
          <a:lstStyle/>
          <a:p>
            <a:endParaRPr lang="ko-KR" altLang="en-US"/>
          </a:p>
        </p:txBody>
      </p:sp>
      <p:sp>
        <p:nvSpPr>
          <p:cNvPr id="291" name="Shape 288"/>
          <p:cNvSpPr/>
          <p:nvPr/>
        </p:nvSpPr>
        <p:spPr>
          <a:xfrm>
            <a:off x="7752792" y="6376956"/>
            <a:ext cx="9525" cy="409131"/>
          </a:xfrm>
          <a:prstGeom prst="rect">
            <a:avLst/>
          </a:prstGeom>
          <a:solidFill>
            <a:srgbClr val="EADFD3"/>
          </a:solidFill>
          <a:ln/>
        </p:spPr>
        <p:txBody>
          <a:bodyPr/>
          <a:lstStyle/>
          <a:p>
            <a:endParaRPr lang="ko-KR" altLang="en-US"/>
          </a:p>
        </p:txBody>
      </p:sp>
      <p:sp>
        <p:nvSpPr>
          <p:cNvPr id="292" name="Text 289"/>
          <p:cNvSpPr/>
          <p:nvPr/>
        </p:nvSpPr>
        <p:spPr>
          <a:xfrm>
            <a:off x="7777059" y="6420273"/>
            <a:ext cx="2361828" cy="365814"/>
          </a:xfrm>
          <a:prstGeom prst="rect">
            <a:avLst/>
          </a:prstGeom>
          <a:noFill/>
          <a:ln/>
        </p:spPr>
        <p:txBody>
          <a:bodyPr wrap="square" lIns="25400" tIns="25400" rIns="25400" bIns="25400" rtlCol="0" anchor="ctr">
            <a:normAutofit/>
          </a:bodyPr>
          <a:lstStyle/>
          <a:p>
            <a:pPr marL="0" indent="0" algn="ctr">
              <a:lnSpc>
                <a:spcPct val="113196"/>
              </a:lnSpc>
              <a:buNone/>
            </a:pPr>
            <a:r>
              <a:rPr lang="en-US" sz="1163" b="1" kern="0" spc="-12" dirty="0">
                <a:solidFill>
                  <a:srgbClr val="55612C"/>
                </a:solidFill>
                <a:latin typeface="Paperlogy 7 Bold" pitchFamily="2" charset="-127"/>
                <a:ea typeface="Paperlogy 7 Bold" pitchFamily="2" charset="-127"/>
                <a:cs typeface="Arial" pitchFamily="34" charset="-120"/>
              </a:rPr>
              <a:t>남성 2대혈관질환 위주 플랜</a:t>
            </a:r>
            <a:endParaRPr lang="en-US" sz="1163" dirty="0"/>
          </a:p>
        </p:txBody>
      </p:sp>
      <p:sp>
        <p:nvSpPr>
          <p:cNvPr id="293" name="Text 290"/>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94" name="Text 291"/>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95" name="Text 292"/>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E9CC"/>
        </a:solidFill>
        <a:effectLst/>
      </p:bgPr>
    </p:bg>
    <p:spTree>
      <p:nvGrpSpPr>
        <p:cNvPr id="1" name=""/>
        <p:cNvGrpSpPr/>
        <p:nvPr/>
      </p:nvGrpSpPr>
      <p:grpSpPr>
        <a:xfrm>
          <a:off x="0" y="0"/>
          <a:ext cx="0" cy="0"/>
          <a:chOff x="0" y="0"/>
          <a:chExt cx="0" cy="0"/>
        </a:xfrm>
      </p:grpSpPr>
      <p:sp>
        <p:nvSpPr>
          <p:cNvPr id="2" name="Shape 0"/>
          <p:cNvSpPr/>
          <p:nvPr/>
        </p:nvSpPr>
        <p:spPr>
          <a:xfrm>
            <a:off x="6886516" y="-1523951"/>
            <a:ext cx="4952944" cy="4952944"/>
          </a:xfrm>
          <a:prstGeom prst="ellipse">
            <a:avLst/>
          </a:prstGeom>
          <a:solidFill>
            <a:srgbClr val="CF9C3C">
              <a:alpha val="10000"/>
            </a:srgbClr>
          </a:solidFill>
          <a:ln/>
        </p:spPr>
        <p:txBody>
          <a:bodyPr/>
          <a:lstStyle/>
          <a:p>
            <a:endParaRPr lang="ko-KR" altLang="en-US"/>
          </a:p>
        </p:txBody>
      </p:sp>
      <p:sp>
        <p:nvSpPr>
          <p:cNvPr id="3" name="Text 1"/>
          <p:cNvSpPr/>
          <p:nvPr/>
        </p:nvSpPr>
        <p:spPr>
          <a:xfrm>
            <a:off x="914371" y="1333447"/>
            <a:ext cx="929270" cy="603906"/>
          </a:xfrm>
          <a:prstGeom prst="rect">
            <a:avLst/>
          </a:prstGeom>
          <a:noFill/>
          <a:ln/>
        </p:spPr>
        <p:txBody>
          <a:bodyPr wrap="square" lIns="25400" tIns="25400" rIns="25400" bIns="25400" rtlCol="0" anchor="t">
            <a:normAutofit lnSpcReduction="10000"/>
          </a:bodyPr>
          <a:lstStyle/>
          <a:p>
            <a:pPr marL="0" indent="0" algn="l">
              <a:lnSpc>
                <a:spcPct val="95973"/>
              </a:lnSpc>
              <a:buNone/>
            </a:pPr>
            <a:r>
              <a:rPr lang="en-US" sz="4050" b="1" kern="0" spc="-142" dirty="0">
                <a:solidFill>
                  <a:srgbClr val="86641F"/>
                </a:solidFill>
                <a:latin typeface="Paperlogy 7 Bold" pitchFamily="2" charset="-127"/>
                <a:ea typeface="Paperlogy 7 Bold" pitchFamily="2" charset="-127"/>
                <a:cs typeface="Arial" pitchFamily="34" charset="-120"/>
              </a:rPr>
              <a:t>부록</a:t>
            </a:r>
            <a:endParaRPr lang="en-US" sz="4050" dirty="0"/>
          </a:p>
        </p:txBody>
      </p:sp>
      <p:sp>
        <p:nvSpPr>
          <p:cNvPr id="4" name="Shape 2"/>
          <p:cNvSpPr/>
          <p:nvPr/>
        </p:nvSpPr>
        <p:spPr>
          <a:xfrm>
            <a:off x="914371" y="2590758"/>
            <a:ext cx="8867775" cy="3279410"/>
          </a:xfrm>
          <a:prstGeom prst="roundRect">
            <a:avLst>
              <a:gd name="adj" fmla="val 6971"/>
            </a:avLst>
          </a:prstGeom>
          <a:solidFill>
            <a:srgbClr val="FFFFFF"/>
          </a:solidFill>
          <a:ln/>
        </p:spPr>
        <p:txBody>
          <a:bodyPr/>
          <a:lstStyle/>
          <a:p>
            <a:endParaRPr lang="ko-KR" altLang="en-US"/>
          </a:p>
        </p:txBody>
      </p:sp>
      <p:sp>
        <p:nvSpPr>
          <p:cNvPr id="5" name="Text 3"/>
          <p:cNvSpPr/>
          <p:nvPr/>
        </p:nvSpPr>
        <p:spPr>
          <a:xfrm>
            <a:off x="1447733" y="2989129"/>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9C3C"/>
                </a:solidFill>
                <a:latin typeface="Paperlogy 7 Bold" pitchFamily="2" charset="-127"/>
                <a:ea typeface="Paperlogy 7 Bold" pitchFamily="2" charset="-127"/>
                <a:cs typeface="Arial" pitchFamily="34" charset="-120"/>
              </a:rPr>
              <a:t>01</a:t>
            </a:r>
            <a:endParaRPr lang="en-US" sz="1500" dirty="0"/>
          </a:p>
        </p:txBody>
      </p:sp>
      <p:sp>
        <p:nvSpPr>
          <p:cNvPr id="6" name="Text 4"/>
          <p:cNvSpPr/>
          <p:nvPr/>
        </p:nvSpPr>
        <p:spPr>
          <a:xfrm>
            <a:off x="2076307" y="2952610"/>
            <a:ext cx="7889724" cy="330255"/>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3A2C24"/>
                </a:solidFill>
                <a:latin typeface="Paperlogy 7 Bold" pitchFamily="2" charset="-127"/>
                <a:ea typeface="Paperlogy 7 Bold" pitchFamily="2" charset="-127"/>
                <a:cs typeface="Arial" pitchFamily="34" charset="-120"/>
              </a:rPr>
              <a:t>9월 시장은 어땠을까요?</a:t>
            </a:r>
            <a:endParaRPr lang="en-US" sz="1950" dirty="0"/>
          </a:p>
        </p:txBody>
      </p:sp>
      <p:sp>
        <p:nvSpPr>
          <p:cNvPr id="7" name="Shape 5"/>
          <p:cNvSpPr/>
          <p:nvPr/>
        </p:nvSpPr>
        <p:spPr>
          <a:xfrm>
            <a:off x="1447733" y="3473338"/>
            <a:ext cx="7801050" cy="9525"/>
          </a:xfrm>
          <a:prstGeom prst="rect">
            <a:avLst/>
          </a:prstGeom>
          <a:solidFill>
            <a:srgbClr val="EADFD3"/>
          </a:solidFill>
          <a:ln/>
        </p:spPr>
        <p:txBody>
          <a:bodyPr/>
          <a:lstStyle/>
          <a:p>
            <a:endParaRPr lang="ko-KR" altLang="en-US"/>
          </a:p>
        </p:txBody>
      </p:sp>
      <p:sp>
        <p:nvSpPr>
          <p:cNvPr id="8" name="Text 6"/>
          <p:cNvSpPr/>
          <p:nvPr/>
        </p:nvSpPr>
        <p:spPr>
          <a:xfrm>
            <a:off x="1447733" y="3743646"/>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9C3C"/>
                </a:solidFill>
                <a:latin typeface="Paperlogy 7 Bold" pitchFamily="2" charset="-127"/>
                <a:ea typeface="Paperlogy 7 Bold" pitchFamily="2" charset="-127"/>
                <a:cs typeface="Arial" pitchFamily="34" charset="-120"/>
              </a:rPr>
              <a:t>02</a:t>
            </a:r>
            <a:endParaRPr lang="en-US" sz="1500" dirty="0"/>
          </a:p>
        </p:txBody>
      </p:sp>
      <p:sp>
        <p:nvSpPr>
          <p:cNvPr id="9" name="Text 7"/>
          <p:cNvSpPr/>
          <p:nvPr/>
        </p:nvSpPr>
        <p:spPr>
          <a:xfrm>
            <a:off x="2076307" y="3707127"/>
            <a:ext cx="7889724" cy="330255"/>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3A2C24"/>
                </a:solidFill>
                <a:latin typeface="Paperlogy 7 Bold" pitchFamily="2" charset="-127"/>
                <a:ea typeface="Paperlogy 7 Bold" pitchFamily="2" charset="-127"/>
                <a:cs typeface="Arial" pitchFamily="34" charset="-120"/>
              </a:rPr>
              <a:t>9월 변액보험 펀드 수익률 순위</a:t>
            </a:r>
            <a:endParaRPr lang="en-US" sz="1950" dirty="0"/>
          </a:p>
        </p:txBody>
      </p:sp>
      <p:sp>
        <p:nvSpPr>
          <p:cNvPr id="10" name="Shape 8"/>
          <p:cNvSpPr/>
          <p:nvPr/>
        </p:nvSpPr>
        <p:spPr>
          <a:xfrm>
            <a:off x="1447733" y="4227854"/>
            <a:ext cx="7801050" cy="9525"/>
          </a:xfrm>
          <a:prstGeom prst="rect">
            <a:avLst/>
          </a:prstGeom>
          <a:solidFill>
            <a:srgbClr val="EADFD3"/>
          </a:solidFill>
          <a:ln/>
        </p:spPr>
        <p:txBody>
          <a:bodyPr/>
          <a:lstStyle/>
          <a:p>
            <a:endParaRPr lang="ko-KR" altLang="en-US"/>
          </a:p>
        </p:txBody>
      </p:sp>
      <p:sp>
        <p:nvSpPr>
          <p:cNvPr id="11" name="Text 9"/>
          <p:cNvSpPr/>
          <p:nvPr/>
        </p:nvSpPr>
        <p:spPr>
          <a:xfrm>
            <a:off x="1447733" y="4498163"/>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9C3C"/>
                </a:solidFill>
                <a:latin typeface="Paperlogy 7 Bold" pitchFamily="2" charset="-127"/>
                <a:ea typeface="Paperlogy 7 Bold" pitchFamily="2" charset="-127"/>
                <a:cs typeface="Arial" pitchFamily="34" charset="-120"/>
              </a:rPr>
              <a:t>03</a:t>
            </a:r>
            <a:endParaRPr lang="en-US" sz="1500" dirty="0"/>
          </a:p>
        </p:txBody>
      </p:sp>
      <p:sp>
        <p:nvSpPr>
          <p:cNvPr id="12" name="Text 10"/>
          <p:cNvSpPr/>
          <p:nvPr/>
        </p:nvSpPr>
        <p:spPr>
          <a:xfrm>
            <a:off x="2076307" y="4461644"/>
            <a:ext cx="7889724" cy="330255"/>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3A2C24"/>
                </a:solidFill>
                <a:latin typeface="Paperlogy 7 Bold" pitchFamily="2" charset="-127"/>
                <a:ea typeface="Paperlogy 7 Bold" pitchFamily="2" charset="-127"/>
                <a:cs typeface="Arial" pitchFamily="34" charset="-120"/>
              </a:rPr>
              <a:t>단기납종신 환급률 (5년납)</a:t>
            </a:r>
            <a:endParaRPr lang="en-US" sz="1950" dirty="0"/>
          </a:p>
        </p:txBody>
      </p:sp>
      <p:sp>
        <p:nvSpPr>
          <p:cNvPr id="13" name="Shape 11"/>
          <p:cNvSpPr/>
          <p:nvPr/>
        </p:nvSpPr>
        <p:spPr>
          <a:xfrm>
            <a:off x="1447733" y="4982371"/>
            <a:ext cx="7801050" cy="9525"/>
          </a:xfrm>
          <a:prstGeom prst="rect">
            <a:avLst/>
          </a:prstGeom>
          <a:solidFill>
            <a:srgbClr val="EADFD3"/>
          </a:solidFill>
          <a:ln/>
        </p:spPr>
        <p:txBody>
          <a:bodyPr/>
          <a:lstStyle/>
          <a:p>
            <a:endParaRPr lang="ko-KR" altLang="en-US"/>
          </a:p>
        </p:txBody>
      </p:sp>
      <p:sp>
        <p:nvSpPr>
          <p:cNvPr id="14" name="Text 12"/>
          <p:cNvSpPr/>
          <p:nvPr/>
        </p:nvSpPr>
        <p:spPr>
          <a:xfrm>
            <a:off x="1447733" y="5252681"/>
            <a:ext cx="457127" cy="257216"/>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F9C3C"/>
                </a:solidFill>
                <a:latin typeface="Paperlogy 7 Bold" pitchFamily="2" charset="-127"/>
                <a:ea typeface="Paperlogy 7 Bold" pitchFamily="2" charset="-127"/>
                <a:cs typeface="Arial" pitchFamily="34" charset="-120"/>
              </a:rPr>
              <a:t>04</a:t>
            </a:r>
            <a:endParaRPr lang="en-US" sz="1500" dirty="0"/>
          </a:p>
        </p:txBody>
      </p:sp>
      <p:sp>
        <p:nvSpPr>
          <p:cNvPr id="15" name="Text 13"/>
          <p:cNvSpPr/>
          <p:nvPr/>
        </p:nvSpPr>
        <p:spPr>
          <a:xfrm>
            <a:off x="2076307" y="5216161"/>
            <a:ext cx="7889724" cy="330255"/>
          </a:xfrm>
          <a:prstGeom prst="rect">
            <a:avLst/>
          </a:prstGeom>
          <a:noFill/>
          <a:ln/>
        </p:spPr>
        <p:txBody>
          <a:bodyPr wrap="none" lIns="25400" tIns="25400" rIns="25400" bIns="25400" rtlCol="0" anchor="t">
            <a:normAutofit lnSpcReduction="10000"/>
          </a:bodyPr>
          <a:lstStyle/>
          <a:p>
            <a:pPr marL="0" indent="0" algn="l">
              <a:buNone/>
            </a:pPr>
            <a:r>
              <a:rPr lang="en-US" sz="1950" b="1" dirty="0">
                <a:solidFill>
                  <a:srgbClr val="3A2C24"/>
                </a:solidFill>
                <a:latin typeface="Paperlogy 7 Bold" pitchFamily="2" charset="-127"/>
                <a:ea typeface="Paperlogy 7 Bold" pitchFamily="2" charset="-127"/>
                <a:cs typeface="Arial" pitchFamily="34" charset="-120"/>
              </a:rPr>
              <a:t>단기납종신 환급률 (7년납)</a:t>
            </a:r>
            <a:endParaRPr lang="en-US" sz="1950" dirty="0"/>
          </a:p>
        </p:txBody>
      </p:sp>
      <p:sp>
        <p:nvSpPr>
          <p:cNvPr id="16" name="Text 14"/>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153271"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9월 시장은 어땠을까요?</a:t>
            </a:r>
            <a:endParaRPr lang="en-US" sz="2475" dirty="0"/>
          </a:p>
        </p:txBody>
      </p:sp>
      <p:sp>
        <p:nvSpPr>
          <p:cNvPr id="3" name="Shape 1"/>
          <p:cNvSpPr/>
          <p:nvPr/>
        </p:nvSpPr>
        <p:spPr>
          <a:xfrm>
            <a:off x="533363" y="800085"/>
            <a:ext cx="9629791" cy="9525"/>
          </a:xfrm>
          <a:prstGeom prst="rect">
            <a:avLst/>
          </a:prstGeom>
          <a:solidFill>
            <a:srgbClr val="EADFD3"/>
          </a:solidFill>
          <a:ln/>
        </p:spPr>
        <p:txBody>
          <a:bodyPr/>
          <a:lstStyle/>
          <a:p>
            <a:endParaRPr lang="ko-KR" altLang="en-US"/>
          </a:p>
        </p:txBody>
      </p:sp>
      <p:sp>
        <p:nvSpPr>
          <p:cNvPr id="4" name="Shape 2"/>
          <p:cNvSpPr/>
          <p:nvPr/>
        </p:nvSpPr>
        <p:spPr>
          <a:xfrm>
            <a:off x="533363" y="1281114"/>
            <a:ext cx="4719644" cy="2914623"/>
          </a:xfrm>
          <a:prstGeom prst="roundRect">
            <a:avLst>
              <a:gd name="adj" fmla="val 5229"/>
            </a:avLst>
          </a:prstGeom>
          <a:solidFill>
            <a:srgbClr val="FFFFFF"/>
          </a:solidFill>
          <a:ln w="5217">
            <a:solidFill>
              <a:srgbClr val="EADFD3"/>
            </a:solidFill>
            <a:prstDash val="solid"/>
          </a:ln>
        </p:spPr>
        <p:txBody>
          <a:bodyPr/>
          <a:lstStyle/>
          <a:p>
            <a:endParaRPr lang="ko-KR" altLang="en-US"/>
          </a:p>
        </p:txBody>
      </p:sp>
      <p:sp>
        <p:nvSpPr>
          <p:cNvPr id="5" name="Text 3"/>
          <p:cNvSpPr/>
          <p:nvPr/>
        </p:nvSpPr>
        <p:spPr>
          <a:xfrm>
            <a:off x="748077" y="1457760"/>
            <a:ext cx="4719236" cy="278085"/>
          </a:xfrm>
          <a:prstGeom prst="rect">
            <a:avLst/>
          </a:prstGeom>
          <a:noFill/>
          <a:ln/>
        </p:spPr>
        <p:txBody>
          <a:bodyPr wrap="square" lIns="25400" tIns="25400" rIns="25400" bIns="25400" rtlCol="0" anchor="t">
            <a:normAutofit lnSpcReduction="10000"/>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글로벌 주식시장</a:t>
            </a:r>
            <a:endParaRPr lang="en-US" sz="1575" dirty="0"/>
          </a:p>
        </p:txBody>
      </p:sp>
      <p:sp>
        <p:nvSpPr>
          <p:cNvPr id="6" name="Shape 4"/>
          <p:cNvSpPr/>
          <p:nvPr/>
        </p:nvSpPr>
        <p:spPr>
          <a:xfrm>
            <a:off x="748077" y="1812031"/>
            <a:ext cx="1072513" cy="298350"/>
          </a:xfrm>
          <a:custGeom>
            <a:avLst/>
            <a:gdLst/>
            <a:ahLst/>
            <a:cxnLst/>
            <a:rect l="l" t="t" r="r" b="b"/>
            <a:pathLst>
              <a:path w="1072513" h="298350">
                <a:moveTo>
                  <a:pt x="76200" y="0"/>
                </a:moveTo>
                <a:lnTo>
                  <a:pt x="1072513" y="0"/>
                </a:lnTo>
                <a:lnTo>
                  <a:pt x="1072513" y="298350"/>
                </a:lnTo>
                <a:lnTo>
                  <a:pt x="76200" y="298350"/>
                </a:lnTo>
                <a:arcTo wR="76200" hR="76200" stAng="5400000" swAng="5400000"/>
                <a:lnTo>
                  <a:pt x="0" y="76200"/>
                </a:lnTo>
                <a:arcTo wR="76200" hR="76200" stAng="10800000" swAng="5400000"/>
                <a:close/>
              </a:path>
            </a:pathLst>
          </a:custGeom>
          <a:solidFill>
            <a:srgbClr val="FCF8EC"/>
          </a:solidFill>
          <a:ln/>
        </p:spPr>
        <p:txBody>
          <a:bodyPr/>
          <a:lstStyle/>
          <a:p>
            <a:endParaRPr lang="ko-KR" altLang="en-US"/>
          </a:p>
        </p:txBody>
      </p:sp>
      <p:sp>
        <p:nvSpPr>
          <p:cNvPr id="7" name="Text 5"/>
          <p:cNvSpPr/>
          <p:nvPr/>
        </p:nvSpPr>
        <p:spPr>
          <a:xfrm>
            <a:off x="805227" y="1888231"/>
            <a:ext cx="1034413" cy="184050"/>
          </a:xfrm>
          <a:prstGeom prst="rect">
            <a:avLst/>
          </a:prstGeom>
          <a:noFill/>
          <a:ln/>
        </p:spPr>
        <p:txBody>
          <a:bodyPr wrap="square" lIns="25400" tIns="25400" rIns="25400" bIns="25400" rtlCol="0" anchor="ctr">
            <a:normAutofit lnSpcReduction="10000"/>
          </a:bodyPr>
          <a:lstStyle/>
          <a:p>
            <a:pPr marL="0" indent="0" algn="l">
              <a:buNone/>
            </a:pPr>
            <a:r>
              <a:rPr lang="en-US" sz="938" b="1" dirty="0">
                <a:solidFill>
                  <a:srgbClr val="7B6B60"/>
                </a:solidFill>
                <a:latin typeface="Paperlogy 7 Bold" pitchFamily="2" charset="-127"/>
                <a:ea typeface="Paperlogy 7 Bold" pitchFamily="2" charset="-127"/>
                <a:cs typeface="Arial" pitchFamily="34" charset="-120"/>
              </a:rPr>
              <a:t>구분</a:t>
            </a:r>
            <a:endParaRPr lang="en-US" sz="938" dirty="0"/>
          </a:p>
        </p:txBody>
      </p:sp>
      <p:sp>
        <p:nvSpPr>
          <p:cNvPr id="8" name="Shape 6"/>
          <p:cNvSpPr/>
          <p:nvPr/>
        </p:nvSpPr>
        <p:spPr>
          <a:xfrm>
            <a:off x="1820590" y="1812031"/>
            <a:ext cx="1072513" cy="298350"/>
          </a:xfrm>
          <a:prstGeom prst="rect">
            <a:avLst/>
          </a:prstGeom>
          <a:solidFill>
            <a:srgbClr val="FCF8EC"/>
          </a:solidFill>
          <a:ln/>
        </p:spPr>
        <p:txBody>
          <a:bodyPr/>
          <a:lstStyle/>
          <a:p>
            <a:endParaRPr lang="ko-KR" altLang="en-US"/>
          </a:p>
        </p:txBody>
      </p:sp>
      <p:sp>
        <p:nvSpPr>
          <p:cNvPr id="9" name="Text 7"/>
          <p:cNvSpPr/>
          <p:nvPr/>
        </p:nvSpPr>
        <p:spPr>
          <a:xfrm>
            <a:off x="1801540" y="1888231"/>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지수</a:t>
            </a:r>
            <a:endParaRPr lang="en-US" sz="938" dirty="0"/>
          </a:p>
        </p:txBody>
      </p:sp>
      <p:sp>
        <p:nvSpPr>
          <p:cNvPr id="10" name="Shape 8"/>
          <p:cNvSpPr/>
          <p:nvPr/>
        </p:nvSpPr>
        <p:spPr>
          <a:xfrm>
            <a:off x="2893103" y="1812031"/>
            <a:ext cx="1072513" cy="298350"/>
          </a:xfrm>
          <a:prstGeom prst="rect">
            <a:avLst/>
          </a:prstGeom>
          <a:solidFill>
            <a:srgbClr val="FCF8EC"/>
          </a:solidFill>
          <a:ln/>
        </p:spPr>
        <p:txBody>
          <a:bodyPr/>
          <a:lstStyle/>
          <a:p>
            <a:endParaRPr lang="ko-KR" altLang="en-US"/>
          </a:p>
        </p:txBody>
      </p:sp>
      <p:sp>
        <p:nvSpPr>
          <p:cNvPr id="11" name="Text 9"/>
          <p:cNvSpPr/>
          <p:nvPr/>
        </p:nvSpPr>
        <p:spPr>
          <a:xfrm>
            <a:off x="2874053" y="1888231"/>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9월 말 지수</a:t>
            </a:r>
            <a:endParaRPr lang="en-US" sz="938" dirty="0"/>
          </a:p>
        </p:txBody>
      </p:sp>
      <p:sp>
        <p:nvSpPr>
          <p:cNvPr id="12" name="Shape 10"/>
          <p:cNvSpPr/>
          <p:nvPr/>
        </p:nvSpPr>
        <p:spPr>
          <a:xfrm>
            <a:off x="3965616" y="1812031"/>
            <a:ext cx="1072676" cy="298350"/>
          </a:xfrm>
          <a:custGeom>
            <a:avLst/>
            <a:gdLst/>
            <a:ahLst/>
            <a:cxnLst/>
            <a:rect l="l" t="t" r="r" b="b"/>
            <a:pathLst>
              <a:path w="1072676" h="298350">
                <a:moveTo>
                  <a:pt x="0" y="0"/>
                </a:moveTo>
                <a:lnTo>
                  <a:pt x="996476" y="0"/>
                </a:lnTo>
                <a:arcTo wR="76200" hR="76200" stAng="16200000" swAng="5400000"/>
                <a:lnTo>
                  <a:pt x="1072676" y="222150"/>
                </a:lnTo>
                <a:arcTo wR="76200" hR="76200" stAng="0" swAng="5400000"/>
                <a:lnTo>
                  <a:pt x="0" y="298350"/>
                </a:lnTo>
                <a:lnTo>
                  <a:pt x="0" y="0"/>
                </a:lnTo>
                <a:close/>
              </a:path>
            </a:pathLst>
          </a:custGeom>
          <a:solidFill>
            <a:srgbClr val="FCF8EC"/>
          </a:solidFill>
          <a:ln/>
        </p:spPr>
        <p:txBody>
          <a:bodyPr/>
          <a:lstStyle/>
          <a:p>
            <a:endParaRPr lang="ko-KR" altLang="en-US"/>
          </a:p>
        </p:txBody>
      </p:sp>
      <p:sp>
        <p:nvSpPr>
          <p:cNvPr id="13" name="Text 11"/>
          <p:cNvSpPr/>
          <p:nvPr/>
        </p:nvSpPr>
        <p:spPr>
          <a:xfrm>
            <a:off x="3946566" y="1888231"/>
            <a:ext cx="1034576"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전월대비</a:t>
            </a:r>
            <a:endParaRPr lang="en-US" sz="938" dirty="0"/>
          </a:p>
        </p:txBody>
      </p:sp>
      <p:sp>
        <p:nvSpPr>
          <p:cNvPr id="14" name="Shape 12"/>
          <p:cNvSpPr/>
          <p:nvPr/>
        </p:nvSpPr>
        <p:spPr>
          <a:xfrm>
            <a:off x="748077" y="2760883"/>
            <a:ext cx="1072513" cy="9525"/>
          </a:xfrm>
          <a:prstGeom prst="rect">
            <a:avLst/>
          </a:prstGeom>
          <a:solidFill>
            <a:srgbClr val="EADFD3"/>
          </a:solidFill>
          <a:ln/>
        </p:spPr>
        <p:txBody>
          <a:bodyPr/>
          <a:lstStyle/>
          <a:p>
            <a:endParaRPr lang="ko-KR" altLang="en-US"/>
          </a:p>
        </p:txBody>
      </p:sp>
      <p:sp>
        <p:nvSpPr>
          <p:cNvPr id="15" name="Text 13"/>
          <p:cNvSpPr/>
          <p:nvPr/>
        </p:nvSpPr>
        <p:spPr>
          <a:xfrm>
            <a:off x="805227" y="2196106"/>
            <a:ext cx="1034413" cy="517152"/>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미국</a:t>
            </a:r>
            <a:endParaRPr lang="en-US" sz="1013" dirty="0"/>
          </a:p>
        </p:txBody>
      </p:sp>
      <p:sp>
        <p:nvSpPr>
          <p:cNvPr id="16" name="Shape 14"/>
          <p:cNvSpPr/>
          <p:nvPr/>
        </p:nvSpPr>
        <p:spPr>
          <a:xfrm>
            <a:off x="1820590" y="2433024"/>
            <a:ext cx="1072513" cy="9525"/>
          </a:xfrm>
          <a:prstGeom prst="rect">
            <a:avLst/>
          </a:prstGeom>
          <a:solidFill>
            <a:srgbClr val="EADFD3"/>
          </a:solidFill>
          <a:ln/>
        </p:spPr>
        <p:txBody>
          <a:bodyPr/>
          <a:lstStyle/>
          <a:p>
            <a:endParaRPr lang="ko-KR" altLang="en-US"/>
          </a:p>
        </p:txBody>
      </p:sp>
      <p:sp>
        <p:nvSpPr>
          <p:cNvPr id="17" name="Text 15"/>
          <p:cNvSpPr/>
          <p:nvPr/>
        </p:nvSpPr>
        <p:spPr>
          <a:xfrm>
            <a:off x="1801540" y="219610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나스닥</a:t>
            </a:r>
            <a:endParaRPr lang="en-US" sz="1013" dirty="0"/>
          </a:p>
        </p:txBody>
      </p:sp>
      <p:sp>
        <p:nvSpPr>
          <p:cNvPr id="18" name="Shape 16"/>
          <p:cNvSpPr/>
          <p:nvPr/>
        </p:nvSpPr>
        <p:spPr>
          <a:xfrm>
            <a:off x="2893103" y="2433024"/>
            <a:ext cx="1072513" cy="9525"/>
          </a:xfrm>
          <a:prstGeom prst="rect">
            <a:avLst/>
          </a:prstGeom>
          <a:solidFill>
            <a:srgbClr val="EADFD3"/>
          </a:solidFill>
          <a:ln/>
        </p:spPr>
        <p:txBody>
          <a:bodyPr/>
          <a:lstStyle/>
          <a:p>
            <a:endParaRPr lang="ko-KR" altLang="en-US"/>
          </a:p>
        </p:txBody>
      </p:sp>
      <p:sp>
        <p:nvSpPr>
          <p:cNvPr id="19" name="Text 17"/>
          <p:cNvSpPr/>
          <p:nvPr/>
        </p:nvSpPr>
        <p:spPr>
          <a:xfrm>
            <a:off x="2874053" y="219610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26,861.06</a:t>
            </a:r>
            <a:endParaRPr lang="en-US" sz="1013" dirty="0"/>
          </a:p>
        </p:txBody>
      </p:sp>
      <p:sp>
        <p:nvSpPr>
          <p:cNvPr id="20" name="Shape 18"/>
          <p:cNvSpPr/>
          <p:nvPr/>
        </p:nvSpPr>
        <p:spPr>
          <a:xfrm>
            <a:off x="3965616" y="2433024"/>
            <a:ext cx="1072676" cy="9525"/>
          </a:xfrm>
          <a:prstGeom prst="rect">
            <a:avLst/>
          </a:prstGeom>
          <a:solidFill>
            <a:srgbClr val="EADFD3"/>
          </a:solidFill>
          <a:ln/>
        </p:spPr>
        <p:txBody>
          <a:bodyPr/>
          <a:lstStyle/>
          <a:p>
            <a:endParaRPr lang="ko-KR" altLang="en-US"/>
          </a:p>
        </p:txBody>
      </p:sp>
      <p:sp>
        <p:nvSpPr>
          <p:cNvPr id="21" name="Text 19"/>
          <p:cNvSpPr/>
          <p:nvPr/>
        </p:nvSpPr>
        <p:spPr>
          <a:xfrm>
            <a:off x="3946566" y="2196106"/>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1.86%</a:t>
            </a:r>
            <a:endParaRPr lang="en-US" sz="1013" dirty="0"/>
          </a:p>
        </p:txBody>
      </p:sp>
      <p:sp>
        <p:nvSpPr>
          <p:cNvPr id="22" name="Shape 20"/>
          <p:cNvSpPr/>
          <p:nvPr/>
        </p:nvSpPr>
        <p:spPr>
          <a:xfrm>
            <a:off x="1820590" y="2760883"/>
            <a:ext cx="1072513" cy="9525"/>
          </a:xfrm>
          <a:prstGeom prst="rect">
            <a:avLst/>
          </a:prstGeom>
          <a:solidFill>
            <a:srgbClr val="EADFD3"/>
          </a:solidFill>
          <a:ln/>
        </p:spPr>
        <p:txBody>
          <a:bodyPr/>
          <a:lstStyle/>
          <a:p>
            <a:endParaRPr lang="ko-KR" altLang="en-US"/>
          </a:p>
        </p:txBody>
      </p:sp>
      <p:sp>
        <p:nvSpPr>
          <p:cNvPr id="23" name="Text 21"/>
          <p:cNvSpPr/>
          <p:nvPr/>
        </p:nvSpPr>
        <p:spPr>
          <a:xfrm>
            <a:off x="1801540" y="252396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S&amp;P 500</a:t>
            </a:r>
            <a:endParaRPr lang="en-US" sz="1013" dirty="0"/>
          </a:p>
        </p:txBody>
      </p:sp>
      <p:sp>
        <p:nvSpPr>
          <p:cNvPr id="24" name="Shape 22"/>
          <p:cNvSpPr/>
          <p:nvPr/>
        </p:nvSpPr>
        <p:spPr>
          <a:xfrm>
            <a:off x="2893103" y="2760883"/>
            <a:ext cx="1072513" cy="9525"/>
          </a:xfrm>
          <a:prstGeom prst="rect">
            <a:avLst/>
          </a:prstGeom>
          <a:solidFill>
            <a:srgbClr val="EADFD3"/>
          </a:solidFill>
          <a:ln/>
        </p:spPr>
        <p:txBody>
          <a:bodyPr/>
          <a:lstStyle/>
          <a:p>
            <a:endParaRPr lang="ko-KR" altLang="en-US"/>
          </a:p>
        </p:txBody>
      </p:sp>
      <p:sp>
        <p:nvSpPr>
          <p:cNvPr id="25" name="Text 23"/>
          <p:cNvSpPr/>
          <p:nvPr/>
        </p:nvSpPr>
        <p:spPr>
          <a:xfrm>
            <a:off x="2874053" y="252396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7,651.54</a:t>
            </a:r>
            <a:endParaRPr lang="en-US" sz="1013" dirty="0"/>
          </a:p>
        </p:txBody>
      </p:sp>
      <p:sp>
        <p:nvSpPr>
          <p:cNvPr id="26" name="Shape 24"/>
          <p:cNvSpPr/>
          <p:nvPr/>
        </p:nvSpPr>
        <p:spPr>
          <a:xfrm>
            <a:off x="3965616" y="2760883"/>
            <a:ext cx="1072676" cy="9525"/>
          </a:xfrm>
          <a:prstGeom prst="rect">
            <a:avLst/>
          </a:prstGeom>
          <a:solidFill>
            <a:srgbClr val="EADFD3"/>
          </a:solidFill>
          <a:ln/>
        </p:spPr>
        <p:txBody>
          <a:bodyPr/>
          <a:lstStyle/>
          <a:p>
            <a:endParaRPr lang="ko-KR" altLang="en-US"/>
          </a:p>
        </p:txBody>
      </p:sp>
      <p:sp>
        <p:nvSpPr>
          <p:cNvPr id="27" name="Text 25"/>
          <p:cNvSpPr/>
          <p:nvPr/>
        </p:nvSpPr>
        <p:spPr>
          <a:xfrm>
            <a:off x="3946566" y="2523966"/>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4C6E9E"/>
                </a:solidFill>
                <a:latin typeface="Paperlogy 7 Bold" pitchFamily="2" charset="-127"/>
                <a:ea typeface="Paperlogy 7 Bold" pitchFamily="2" charset="-127"/>
                <a:cs typeface="Arial" pitchFamily="34" charset="-120"/>
              </a:rPr>
              <a:t>-0.45%</a:t>
            </a:r>
            <a:endParaRPr lang="en-US" sz="1013" dirty="0"/>
          </a:p>
        </p:txBody>
      </p:sp>
      <p:sp>
        <p:nvSpPr>
          <p:cNvPr id="28" name="Shape 26"/>
          <p:cNvSpPr/>
          <p:nvPr/>
        </p:nvSpPr>
        <p:spPr>
          <a:xfrm>
            <a:off x="748077" y="3416602"/>
            <a:ext cx="1072513" cy="9525"/>
          </a:xfrm>
          <a:prstGeom prst="rect">
            <a:avLst/>
          </a:prstGeom>
          <a:solidFill>
            <a:srgbClr val="EADFD3"/>
          </a:solidFill>
          <a:ln/>
        </p:spPr>
        <p:txBody>
          <a:bodyPr/>
          <a:lstStyle/>
          <a:p>
            <a:endParaRPr lang="ko-KR" altLang="en-US"/>
          </a:p>
        </p:txBody>
      </p:sp>
      <p:sp>
        <p:nvSpPr>
          <p:cNvPr id="29" name="Text 27"/>
          <p:cNvSpPr/>
          <p:nvPr/>
        </p:nvSpPr>
        <p:spPr>
          <a:xfrm>
            <a:off x="805227" y="2851825"/>
            <a:ext cx="1034413" cy="517152"/>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중국</a:t>
            </a:r>
            <a:endParaRPr lang="en-US" sz="1013" dirty="0"/>
          </a:p>
        </p:txBody>
      </p:sp>
      <p:sp>
        <p:nvSpPr>
          <p:cNvPr id="30" name="Shape 28"/>
          <p:cNvSpPr/>
          <p:nvPr/>
        </p:nvSpPr>
        <p:spPr>
          <a:xfrm>
            <a:off x="1820590" y="3088743"/>
            <a:ext cx="1072513" cy="9525"/>
          </a:xfrm>
          <a:prstGeom prst="rect">
            <a:avLst/>
          </a:prstGeom>
          <a:solidFill>
            <a:srgbClr val="EADFD3"/>
          </a:solidFill>
          <a:ln/>
        </p:spPr>
        <p:txBody>
          <a:bodyPr/>
          <a:lstStyle/>
          <a:p>
            <a:endParaRPr lang="ko-KR" altLang="en-US"/>
          </a:p>
        </p:txBody>
      </p:sp>
      <p:sp>
        <p:nvSpPr>
          <p:cNvPr id="31" name="Text 29"/>
          <p:cNvSpPr/>
          <p:nvPr/>
        </p:nvSpPr>
        <p:spPr>
          <a:xfrm>
            <a:off x="1801540" y="285182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상하이</a:t>
            </a:r>
            <a:endParaRPr lang="en-US" sz="1013" dirty="0"/>
          </a:p>
        </p:txBody>
      </p:sp>
      <p:sp>
        <p:nvSpPr>
          <p:cNvPr id="32" name="Shape 30"/>
          <p:cNvSpPr/>
          <p:nvPr/>
        </p:nvSpPr>
        <p:spPr>
          <a:xfrm>
            <a:off x="2893103" y="3088743"/>
            <a:ext cx="1072513" cy="9525"/>
          </a:xfrm>
          <a:prstGeom prst="rect">
            <a:avLst/>
          </a:prstGeom>
          <a:solidFill>
            <a:srgbClr val="EADFD3"/>
          </a:solidFill>
          <a:ln/>
        </p:spPr>
        <p:txBody>
          <a:bodyPr/>
          <a:lstStyle/>
          <a:p>
            <a:endParaRPr lang="ko-KR" altLang="en-US"/>
          </a:p>
        </p:txBody>
      </p:sp>
      <p:sp>
        <p:nvSpPr>
          <p:cNvPr id="33" name="Text 31"/>
          <p:cNvSpPr/>
          <p:nvPr/>
        </p:nvSpPr>
        <p:spPr>
          <a:xfrm>
            <a:off x="2874053" y="285182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3,842.19</a:t>
            </a:r>
            <a:endParaRPr lang="en-US" sz="1013" dirty="0"/>
          </a:p>
        </p:txBody>
      </p:sp>
      <p:sp>
        <p:nvSpPr>
          <p:cNvPr id="34" name="Shape 32"/>
          <p:cNvSpPr/>
          <p:nvPr/>
        </p:nvSpPr>
        <p:spPr>
          <a:xfrm>
            <a:off x="3965616" y="3088743"/>
            <a:ext cx="1072676" cy="9525"/>
          </a:xfrm>
          <a:prstGeom prst="rect">
            <a:avLst/>
          </a:prstGeom>
          <a:solidFill>
            <a:srgbClr val="EADFD3"/>
          </a:solidFill>
          <a:ln/>
        </p:spPr>
        <p:txBody>
          <a:bodyPr/>
          <a:lstStyle/>
          <a:p>
            <a:endParaRPr lang="ko-KR" altLang="en-US"/>
          </a:p>
        </p:txBody>
      </p:sp>
      <p:sp>
        <p:nvSpPr>
          <p:cNvPr id="35" name="Text 33"/>
          <p:cNvSpPr/>
          <p:nvPr/>
        </p:nvSpPr>
        <p:spPr>
          <a:xfrm>
            <a:off x="3946566" y="2851825"/>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4C6E9E"/>
                </a:solidFill>
                <a:latin typeface="Paperlogy 7 Bold" pitchFamily="2" charset="-127"/>
                <a:ea typeface="Paperlogy 7 Bold" pitchFamily="2" charset="-127"/>
                <a:cs typeface="Arial" pitchFamily="34" charset="-120"/>
              </a:rPr>
              <a:t>-3.62%</a:t>
            </a:r>
            <a:endParaRPr lang="en-US" sz="1013" dirty="0"/>
          </a:p>
        </p:txBody>
      </p:sp>
      <p:sp>
        <p:nvSpPr>
          <p:cNvPr id="36" name="Shape 34"/>
          <p:cNvSpPr/>
          <p:nvPr/>
        </p:nvSpPr>
        <p:spPr>
          <a:xfrm>
            <a:off x="1820590" y="3416602"/>
            <a:ext cx="1072513" cy="9525"/>
          </a:xfrm>
          <a:prstGeom prst="rect">
            <a:avLst/>
          </a:prstGeom>
          <a:solidFill>
            <a:srgbClr val="EADFD3"/>
          </a:solidFill>
          <a:ln/>
        </p:spPr>
        <p:txBody>
          <a:bodyPr/>
          <a:lstStyle/>
          <a:p>
            <a:endParaRPr lang="ko-KR" altLang="en-US"/>
          </a:p>
        </p:txBody>
      </p:sp>
      <p:sp>
        <p:nvSpPr>
          <p:cNvPr id="37" name="Text 35"/>
          <p:cNvSpPr/>
          <p:nvPr/>
        </p:nvSpPr>
        <p:spPr>
          <a:xfrm>
            <a:off x="1801540" y="317968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홍콩</a:t>
            </a:r>
            <a:endParaRPr lang="en-US" sz="1013" dirty="0"/>
          </a:p>
        </p:txBody>
      </p:sp>
      <p:sp>
        <p:nvSpPr>
          <p:cNvPr id="38" name="Shape 36"/>
          <p:cNvSpPr/>
          <p:nvPr/>
        </p:nvSpPr>
        <p:spPr>
          <a:xfrm>
            <a:off x="2893103" y="3416602"/>
            <a:ext cx="1072513" cy="9525"/>
          </a:xfrm>
          <a:prstGeom prst="rect">
            <a:avLst/>
          </a:prstGeom>
          <a:solidFill>
            <a:srgbClr val="EADFD3"/>
          </a:solidFill>
          <a:ln/>
        </p:spPr>
        <p:txBody>
          <a:bodyPr/>
          <a:lstStyle/>
          <a:p>
            <a:endParaRPr lang="ko-KR" altLang="en-US"/>
          </a:p>
        </p:txBody>
      </p:sp>
      <p:sp>
        <p:nvSpPr>
          <p:cNvPr id="39" name="Text 37"/>
          <p:cNvSpPr/>
          <p:nvPr/>
        </p:nvSpPr>
        <p:spPr>
          <a:xfrm>
            <a:off x="2874053" y="317968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8,220.08</a:t>
            </a:r>
            <a:endParaRPr lang="en-US" sz="1013" dirty="0"/>
          </a:p>
        </p:txBody>
      </p:sp>
      <p:sp>
        <p:nvSpPr>
          <p:cNvPr id="40" name="Shape 38"/>
          <p:cNvSpPr/>
          <p:nvPr/>
        </p:nvSpPr>
        <p:spPr>
          <a:xfrm>
            <a:off x="3965616" y="3416602"/>
            <a:ext cx="1072676" cy="9525"/>
          </a:xfrm>
          <a:prstGeom prst="rect">
            <a:avLst/>
          </a:prstGeom>
          <a:solidFill>
            <a:srgbClr val="EADFD3"/>
          </a:solidFill>
          <a:ln/>
        </p:spPr>
        <p:txBody>
          <a:bodyPr/>
          <a:lstStyle/>
          <a:p>
            <a:endParaRPr lang="ko-KR" altLang="en-US"/>
          </a:p>
        </p:txBody>
      </p:sp>
      <p:sp>
        <p:nvSpPr>
          <p:cNvPr id="41" name="Text 39"/>
          <p:cNvSpPr/>
          <p:nvPr/>
        </p:nvSpPr>
        <p:spPr>
          <a:xfrm>
            <a:off x="3946566" y="3179685"/>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4C6E9E"/>
                </a:solidFill>
                <a:latin typeface="Paperlogy 7 Bold" pitchFamily="2" charset="-127"/>
                <a:ea typeface="Paperlogy 7 Bold" pitchFamily="2" charset="-127"/>
                <a:cs typeface="Arial" pitchFamily="34" charset="-120"/>
              </a:rPr>
              <a:t>-3.44%</a:t>
            </a:r>
            <a:endParaRPr lang="en-US" sz="1013" dirty="0"/>
          </a:p>
        </p:txBody>
      </p:sp>
      <p:sp>
        <p:nvSpPr>
          <p:cNvPr id="42" name="Shape 40"/>
          <p:cNvSpPr/>
          <p:nvPr/>
        </p:nvSpPr>
        <p:spPr>
          <a:xfrm>
            <a:off x="748077" y="4072321"/>
            <a:ext cx="1072513" cy="9525"/>
          </a:xfrm>
          <a:prstGeom prst="rect">
            <a:avLst/>
          </a:prstGeom>
          <a:solidFill>
            <a:srgbClr val="EADFD3"/>
          </a:solidFill>
          <a:ln/>
        </p:spPr>
        <p:txBody>
          <a:bodyPr/>
          <a:lstStyle/>
          <a:p>
            <a:endParaRPr lang="ko-KR" altLang="en-US"/>
          </a:p>
        </p:txBody>
      </p:sp>
      <p:sp>
        <p:nvSpPr>
          <p:cNvPr id="43" name="Text 41"/>
          <p:cNvSpPr/>
          <p:nvPr/>
        </p:nvSpPr>
        <p:spPr>
          <a:xfrm>
            <a:off x="805227" y="3507544"/>
            <a:ext cx="1034413" cy="517152"/>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한국</a:t>
            </a:r>
            <a:endParaRPr lang="en-US" sz="1013" dirty="0"/>
          </a:p>
        </p:txBody>
      </p:sp>
      <p:sp>
        <p:nvSpPr>
          <p:cNvPr id="44" name="Shape 42"/>
          <p:cNvSpPr/>
          <p:nvPr/>
        </p:nvSpPr>
        <p:spPr>
          <a:xfrm>
            <a:off x="1820590" y="3744461"/>
            <a:ext cx="1072513" cy="9525"/>
          </a:xfrm>
          <a:prstGeom prst="rect">
            <a:avLst/>
          </a:prstGeom>
          <a:solidFill>
            <a:srgbClr val="EADFD3"/>
          </a:solidFill>
          <a:ln/>
        </p:spPr>
        <p:txBody>
          <a:bodyPr/>
          <a:lstStyle/>
          <a:p>
            <a:endParaRPr lang="ko-KR" altLang="en-US"/>
          </a:p>
        </p:txBody>
      </p:sp>
      <p:sp>
        <p:nvSpPr>
          <p:cNvPr id="45" name="Text 43"/>
          <p:cNvSpPr/>
          <p:nvPr/>
        </p:nvSpPr>
        <p:spPr>
          <a:xfrm>
            <a:off x="1801540" y="35075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KOSPI</a:t>
            </a:r>
            <a:endParaRPr lang="en-US" sz="1013" dirty="0"/>
          </a:p>
        </p:txBody>
      </p:sp>
      <p:sp>
        <p:nvSpPr>
          <p:cNvPr id="46" name="Shape 44"/>
          <p:cNvSpPr/>
          <p:nvPr/>
        </p:nvSpPr>
        <p:spPr>
          <a:xfrm>
            <a:off x="2893103" y="3744461"/>
            <a:ext cx="1072513" cy="9525"/>
          </a:xfrm>
          <a:prstGeom prst="rect">
            <a:avLst/>
          </a:prstGeom>
          <a:solidFill>
            <a:srgbClr val="EADFD3"/>
          </a:solidFill>
          <a:ln/>
        </p:spPr>
        <p:txBody>
          <a:bodyPr/>
          <a:lstStyle/>
          <a:p>
            <a:endParaRPr lang="ko-KR" altLang="en-US"/>
          </a:p>
        </p:txBody>
      </p:sp>
      <p:sp>
        <p:nvSpPr>
          <p:cNvPr id="47" name="Text 45"/>
          <p:cNvSpPr/>
          <p:nvPr/>
        </p:nvSpPr>
        <p:spPr>
          <a:xfrm>
            <a:off x="2874053" y="35075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6,838.04</a:t>
            </a:r>
            <a:endParaRPr lang="en-US" sz="1013" dirty="0"/>
          </a:p>
        </p:txBody>
      </p:sp>
      <p:sp>
        <p:nvSpPr>
          <p:cNvPr id="48" name="Shape 46"/>
          <p:cNvSpPr/>
          <p:nvPr/>
        </p:nvSpPr>
        <p:spPr>
          <a:xfrm>
            <a:off x="3965616" y="3744461"/>
            <a:ext cx="1072676" cy="9525"/>
          </a:xfrm>
          <a:prstGeom prst="rect">
            <a:avLst/>
          </a:prstGeom>
          <a:solidFill>
            <a:srgbClr val="EADFD3"/>
          </a:solidFill>
          <a:ln/>
        </p:spPr>
        <p:txBody>
          <a:bodyPr/>
          <a:lstStyle/>
          <a:p>
            <a:endParaRPr lang="ko-KR" altLang="en-US"/>
          </a:p>
        </p:txBody>
      </p:sp>
      <p:sp>
        <p:nvSpPr>
          <p:cNvPr id="49" name="Text 47"/>
          <p:cNvSpPr/>
          <p:nvPr/>
        </p:nvSpPr>
        <p:spPr>
          <a:xfrm>
            <a:off x="3946566" y="3507544"/>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0.26%</a:t>
            </a:r>
            <a:endParaRPr lang="en-US" sz="1013" dirty="0"/>
          </a:p>
        </p:txBody>
      </p:sp>
      <p:sp>
        <p:nvSpPr>
          <p:cNvPr id="50" name="Shape 48"/>
          <p:cNvSpPr/>
          <p:nvPr/>
        </p:nvSpPr>
        <p:spPr>
          <a:xfrm>
            <a:off x="1820590" y="4072321"/>
            <a:ext cx="1072513" cy="9525"/>
          </a:xfrm>
          <a:prstGeom prst="rect">
            <a:avLst/>
          </a:prstGeom>
          <a:solidFill>
            <a:srgbClr val="EADFD3"/>
          </a:solidFill>
          <a:ln/>
        </p:spPr>
        <p:txBody>
          <a:bodyPr/>
          <a:lstStyle/>
          <a:p>
            <a:endParaRPr lang="ko-KR" altLang="en-US"/>
          </a:p>
        </p:txBody>
      </p:sp>
      <p:sp>
        <p:nvSpPr>
          <p:cNvPr id="51" name="Text 49"/>
          <p:cNvSpPr/>
          <p:nvPr/>
        </p:nvSpPr>
        <p:spPr>
          <a:xfrm>
            <a:off x="1801540" y="383540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코스닥</a:t>
            </a:r>
            <a:endParaRPr lang="en-US" sz="1013" dirty="0"/>
          </a:p>
        </p:txBody>
      </p:sp>
      <p:sp>
        <p:nvSpPr>
          <p:cNvPr id="52" name="Shape 50"/>
          <p:cNvSpPr/>
          <p:nvPr/>
        </p:nvSpPr>
        <p:spPr>
          <a:xfrm>
            <a:off x="2893103" y="4072321"/>
            <a:ext cx="1072513" cy="9525"/>
          </a:xfrm>
          <a:prstGeom prst="rect">
            <a:avLst/>
          </a:prstGeom>
          <a:solidFill>
            <a:srgbClr val="EADFD3"/>
          </a:solidFill>
          <a:ln/>
        </p:spPr>
        <p:txBody>
          <a:bodyPr/>
          <a:lstStyle/>
          <a:p>
            <a:endParaRPr lang="ko-KR" altLang="en-US"/>
          </a:p>
        </p:txBody>
      </p:sp>
      <p:sp>
        <p:nvSpPr>
          <p:cNvPr id="53" name="Text 51"/>
          <p:cNvSpPr/>
          <p:nvPr/>
        </p:nvSpPr>
        <p:spPr>
          <a:xfrm>
            <a:off x="2874053" y="383540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855.91</a:t>
            </a:r>
            <a:endParaRPr lang="en-US" sz="1013" dirty="0"/>
          </a:p>
        </p:txBody>
      </p:sp>
      <p:sp>
        <p:nvSpPr>
          <p:cNvPr id="54" name="Shape 52"/>
          <p:cNvSpPr/>
          <p:nvPr/>
        </p:nvSpPr>
        <p:spPr>
          <a:xfrm>
            <a:off x="3965616" y="4072321"/>
            <a:ext cx="1072676" cy="9525"/>
          </a:xfrm>
          <a:prstGeom prst="rect">
            <a:avLst/>
          </a:prstGeom>
          <a:solidFill>
            <a:srgbClr val="EADFD3"/>
          </a:solidFill>
          <a:ln/>
        </p:spPr>
        <p:txBody>
          <a:bodyPr/>
          <a:lstStyle/>
          <a:p>
            <a:endParaRPr lang="ko-KR" altLang="en-US"/>
          </a:p>
        </p:txBody>
      </p:sp>
      <p:sp>
        <p:nvSpPr>
          <p:cNvPr id="55" name="Text 53"/>
          <p:cNvSpPr/>
          <p:nvPr/>
        </p:nvSpPr>
        <p:spPr>
          <a:xfrm>
            <a:off x="3946566" y="3835404"/>
            <a:ext cx="1034576"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2.59%</a:t>
            </a:r>
            <a:endParaRPr lang="en-US" sz="1013" dirty="0"/>
          </a:p>
        </p:txBody>
      </p:sp>
      <p:sp>
        <p:nvSpPr>
          <p:cNvPr id="56" name="Shape 54"/>
          <p:cNvSpPr/>
          <p:nvPr/>
        </p:nvSpPr>
        <p:spPr>
          <a:xfrm>
            <a:off x="533363" y="4348091"/>
            <a:ext cx="2283604" cy="2257356"/>
          </a:xfrm>
          <a:prstGeom prst="roundRect">
            <a:avLst>
              <a:gd name="adj" fmla="val 6751"/>
            </a:avLst>
          </a:prstGeom>
          <a:solidFill>
            <a:srgbClr val="FFFFFF"/>
          </a:solidFill>
          <a:ln w="5217">
            <a:solidFill>
              <a:srgbClr val="EADFD3"/>
            </a:solidFill>
            <a:prstDash val="solid"/>
          </a:ln>
        </p:spPr>
        <p:txBody>
          <a:bodyPr/>
          <a:lstStyle/>
          <a:p>
            <a:endParaRPr lang="ko-KR" altLang="en-US"/>
          </a:p>
        </p:txBody>
      </p:sp>
      <p:pic>
        <p:nvPicPr>
          <p:cNvPr id="5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6031" y="4343853"/>
            <a:ext cx="952439" cy="1619081"/>
          </a:xfrm>
          <a:prstGeom prst="rect">
            <a:avLst/>
          </a:prstGeom>
        </p:spPr>
      </p:pic>
      <p:sp>
        <p:nvSpPr>
          <p:cNvPr id="58" name="Shape 55"/>
          <p:cNvSpPr/>
          <p:nvPr/>
        </p:nvSpPr>
        <p:spPr>
          <a:xfrm>
            <a:off x="805220" y="4923354"/>
            <a:ext cx="334218" cy="219932"/>
          </a:xfrm>
          <a:prstGeom prst="roundRect">
            <a:avLst>
              <a:gd name="adj" fmla="val 12993"/>
            </a:avLst>
          </a:prstGeom>
          <a:ln w="5217">
            <a:solidFill>
              <a:srgbClr val="EADFD3"/>
            </a:solidFill>
            <a:prstDash val="solid"/>
          </a:ln>
        </p:spPr>
        <p:txBody>
          <a:bodyPr/>
          <a:lstStyle/>
          <a:p>
            <a:endParaRPr lang="ko-KR" altLang="en-US"/>
          </a:p>
        </p:txBody>
      </p:sp>
      <p:pic>
        <p:nvPicPr>
          <p:cNvPr id="59" name="Image 1" descr="preencoded.png"/>
          <p:cNvPicPr>
            <a:picLocks noChangeAspect="1"/>
          </p:cNvPicPr>
          <p:nvPr/>
        </p:nvPicPr>
        <p:blipFill>
          <a:blip r:embed="rId4"/>
          <a:srcRect l="10109" r="10109"/>
          <a:stretch/>
        </p:blipFill>
        <p:spPr>
          <a:xfrm>
            <a:off x="805220" y="4923354"/>
            <a:ext cx="334218" cy="219932"/>
          </a:xfrm>
          <a:prstGeom prst="rect">
            <a:avLst/>
          </a:prstGeom>
        </p:spPr>
      </p:pic>
      <p:sp>
        <p:nvSpPr>
          <p:cNvPr id="60" name="Text 56"/>
          <p:cNvSpPr/>
          <p:nvPr/>
        </p:nvSpPr>
        <p:spPr>
          <a:xfrm>
            <a:off x="1234649" y="4947238"/>
            <a:ext cx="323114" cy="210263"/>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A2C24"/>
                </a:solidFill>
                <a:latin typeface="Paperlogy 7 Bold" pitchFamily="2" charset="-127"/>
                <a:ea typeface="Paperlogy 7 Bold" pitchFamily="2" charset="-127"/>
                <a:cs typeface="Arial" pitchFamily="34" charset="-120"/>
              </a:rPr>
              <a:t>미국</a:t>
            </a:r>
            <a:endParaRPr lang="en-US" sz="1125" dirty="0"/>
          </a:p>
        </p:txBody>
      </p:sp>
      <p:sp>
        <p:nvSpPr>
          <p:cNvPr id="61" name="Text 57"/>
          <p:cNvSpPr/>
          <p:nvPr/>
        </p:nvSpPr>
        <p:spPr>
          <a:xfrm>
            <a:off x="805220" y="5333708"/>
            <a:ext cx="1913878" cy="236348"/>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7B6B60"/>
                </a:solidFill>
                <a:latin typeface="Paperlogy 7 Bold" pitchFamily="2" charset="-127"/>
                <a:ea typeface="Paperlogy 7 Bold" pitchFamily="2" charset="-127"/>
                <a:cs typeface="Arial" pitchFamily="34" charset="-120"/>
              </a:rPr>
              <a:t>S&amp;P 500 7,652 P</a:t>
            </a:r>
            <a:endParaRPr lang="en-US" sz="1350" dirty="0"/>
          </a:p>
        </p:txBody>
      </p:sp>
      <p:sp>
        <p:nvSpPr>
          <p:cNvPr id="62" name="Text 58"/>
          <p:cNvSpPr/>
          <p:nvPr/>
        </p:nvSpPr>
        <p:spPr>
          <a:xfrm>
            <a:off x="805220" y="5842371"/>
            <a:ext cx="537257" cy="194612"/>
          </a:xfrm>
          <a:prstGeom prst="rect">
            <a:avLst/>
          </a:prstGeom>
          <a:noFill/>
          <a:ln/>
        </p:spPr>
        <p:txBody>
          <a:bodyPr wrap="square" lIns="25400" tIns="25400" rIns="25400" bIns="25400" rtlCol="0" anchor="t">
            <a:normAutofit fontScale="92500" lnSpcReduction="10000"/>
          </a:bodyPr>
          <a:lstStyle/>
          <a:p>
            <a:pPr marL="0" indent="0" algn="l">
              <a:buNone/>
            </a:pPr>
            <a:r>
              <a:rPr lang="en-US" sz="1050" b="1" dirty="0">
                <a:solidFill>
                  <a:srgbClr val="A69687"/>
                </a:solidFill>
                <a:latin typeface="Paperlogy 7 Bold" pitchFamily="2" charset="-127"/>
                <a:ea typeface="Paperlogy 7 Bold" pitchFamily="2" charset="-127"/>
                <a:cs typeface="Arial" pitchFamily="34" charset="-120"/>
              </a:rPr>
              <a:t>전월대비</a:t>
            </a:r>
            <a:endParaRPr lang="en-US" sz="1050" dirty="0"/>
          </a:p>
        </p:txBody>
      </p:sp>
      <p:sp>
        <p:nvSpPr>
          <p:cNvPr id="63" name="Text 59"/>
          <p:cNvSpPr/>
          <p:nvPr/>
        </p:nvSpPr>
        <p:spPr>
          <a:xfrm>
            <a:off x="1732063" y="5722379"/>
            <a:ext cx="889246" cy="345906"/>
          </a:xfrm>
          <a:prstGeom prst="rect">
            <a:avLst/>
          </a:prstGeom>
          <a:noFill/>
          <a:ln/>
        </p:spPr>
        <p:txBody>
          <a:bodyPr wrap="square" lIns="25400" tIns="25400" rIns="25400" bIns="25400" rtlCol="0" anchor="t">
            <a:normAutofit fontScale="85000" lnSpcReduction="10000"/>
          </a:bodyPr>
          <a:lstStyle/>
          <a:p>
            <a:pPr marL="0" indent="0" algn="l">
              <a:buNone/>
            </a:pPr>
            <a:r>
              <a:rPr lang="en-US" sz="2100" b="1" kern="0" spc="-42" dirty="0">
                <a:solidFill>
                  <a:srgbClr val="4C6E9E"/>
                </a:solidFill>
                <a:latin typeface="Paperlogy 7 Bold" pitchFamily="2" charset="-127"/>
                <a:ea typeface="Paperlogy 7 Bold" pitchFamily="2" charset="-127"/>
                <a:cs typeface="Arial" pitchFamily="34" charset="-120"/>
              </a:rPr>
              <a:t>-0.45%</a:t>
            </a:r>
            <a:endParaRPr lang="en-US" sz="2100" dirty="0"/>
          </a:p>
        </p:txBody>
      </p:sp>
      <p:sp>
        <p:nvSpPr>
          <p:cNvPr id="64" name="Shape 60"/>
          <p:cNvSpPr/>
          <p:nvPr/>
        </p:nvSpPr>
        <p:spPr>
          <a:xfrm>
            <a:off x="2969321" y="4348091"/>
            <a:ext cx="2283685" cy="2257356"/>
          </a:xfrm>
          <a:prstGeom prst="roundRect">
            <a:avLst>
              <a:gd name="adj" fmla="val 6751"/>
            </a:avLst>
          </a:prstGeom>
          <a:solidFill>
            <a:srgbClr val="FFFFFF"/>
          </a:solidFill>
          <a:ln w="5217">
            <a:solidFill>
              <a:srgbClr val="EADFD3"/>
            </a:solidFill>
            <a:prstDash val="solid"/>
          </a:ln>
        </p:spPr>
        <p:txBody>
          <a:bodyPr/>
          <a:lstStyle/>
          <a:p>
            <a:endParaRPr lang="ko-KR" altLang="en-US"/>
          </a:p>
        </p:txBody>
      </p:sp>
      <p:pic>
        <p:nvPicPr>
          <p:cNvPr id="6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62071" y="4343853"/>
            <a:ext cx="952439" cy="1619081"/>
          </a:xfrm>
          <a:prstGeom prst="rect">
            <a:avLst/>
          </a:prstGeom>
        </p:spPr>
      </p:pic>
      <p:sp>
        <p:nvSpPr>
          <p:cNvPr id="66" name="Shape 61"/>
          <p:cNvSpPr/>
          <p:nvPr/>
        </p:nvSpPr>
        <p:spPr>
          <a:xfrm>
            <a:off x="3241179" y="4920745"/>
            <a:ext cx="334218" cy="219932"/>
          </a:xfrm>
          <a:prstGeom prst="roundRect">
            <a:avLst>
              <a:gd name="adj" fmla="val 12993"/>
            </a:avLst>
          </a:prstGeom>
          <a:ln w="5217">
            <a:solidFill>
              <a:srgbClr val="EADFD3"/>
            </a:solidFill>
            <a:prstDash val="solid"/>
          </a:ln>
        </p:spPr>
        <p:txBody>
          <a:bodyPr/>
          <a:lstStyle/>
          <a:p>
            <a:endParaRPr lang="ko-KR" altLang="en-US"/>
          </a:p>
        </p:txBody>
      </p:sp>
      <p:pic>
        <p:nvPicPr>
          <p:cNvPr id="67" name="Image 3" descr="preencoded.png"/>
          <p:cNvPicPr>
            <a:picLocks noChangeAspect="1"/>
          </p:cNvPicPr>
          <p:nvPr/>
        </p:nvPicPr>
        <p:blipFill>
          <a:blip r:embed="rId6"/>
          <a:srcRect t="800" b="800"/>
          <a:stretch/>
        </p:blipFill>
        <p:spPr>
          <a:xfrm>
            <a:off x="3241179" y="4920745"/>
            <a:ext cx="334218" cy="219932"/>
          </a:xfrm>
          <a:prstGeom prst="rect">
            <a:avLst/>
          </a:prstGeom>
        </p:spPr>
      </p:pic>
      <p:sp>
        <p:nvSpPr>
          <p:cNvPr id="68" name="Text 62"/>
          <p:cNvSpPr/>
          <p:nvPr/>
        </p:nvSpPr>
        <p:spPr>
          <a:xfrm>
            <a:off x="3670608" y="4944630"/>
            <a:ext cx="323114" cy="210263"/>
          </a:xfrm>
          <a:prstGeom prst="rect">
            <a:avLst/>
          </a:prstGeom>
          <a:noFill/>
          <a:ln/>
        </p:spPr>
        <p:txBody>
          <a:bodyPr wrap="square" lIns="25400" tIns="25400" rIns="25400" bIns="25400" rtlCol="0" anchor="t">
            <a:normAutofit lnSpcReduction="10000"/>
          </a:bodyPr>
          <a:lstStyle/>
          <a:p>
            <a:pPr marL="0" indent="0" algn="l">
              <a:buNone/>
            </a:pPr>
            <a:r>
              <a:rPr lang="en-US" sz="1125" b="1" dirty="0">
                <a:solidFill>
                  <a:srgbClr val="3A2C24"/>
                </a:solidFill>
                <a:latin typeface="Paperlogy 7 Bold" pitchFamily="2" charset="-127"/>
                <a:ea typeface="Paperlogy 7 Bold" pitchFamily="2" charset="-127"/>
                <a:cs typeface="Arial" pitchFamily="34" charset="-120"/>
              </a:rPr>
              <a:t>중국</a:t>
            </a:r>
            <a:endParaRPr lang="en-US" sz="1125" dirty="0"/>
          </a:p>
        </p:txBody>
      </p:sp>
      <p:sp>
        <p:nvSpPr>
          <p:cNvPr id="69" name="Text 63"/>
          <p:cNvSpPr/>
          <p:nvPr/>
        </p:nvSpPr>
        <p:spPr>
          <a:xfrm>
            <a:off x="3241179" y="5331099"/>
            <a:ext cx="1913967" cy="241565"/>
          </a:xfrm>
          <a:prstGeom prst="rect">
            <a:avLst/>
          </a:prstGeom>
          <a:noFill/>
          <a:ln/>
        </p:spPr>
        <p:txBody>
          <a:bodyPr wrap="square" lIns="25400" tIns="25400" rIns="25400" bIns="25400" rtlCol="0" anchor="t">
            <a:normAutofit lnSpcReduction="10000"/>
          </a:bodyPr>
          <a:lstStyle/>
          <a:p>
            <a:pPr marL="0" indent="0" algn="l">
              <a:buNone/>
            </a:pPr>
            <a:r>
              <a:rPr lang="en-US" sz="1350" b="1" dirty="0">
                <a:solidFill>
                  <a:srgbClr val="7B6B60"/>
                </a:solidFill>
                <a:latin typeface="Paperlogy 7 Bold" pitchFamily="2" charset="-127"/>
                <a:ea typeface="Paperlogy 7 Bold" pitchFamily="2" charset="-127"/>
                <a:cs typeface="Arial" pitchFamily="34" charset="-120"/>
              </a:rPr>
              <a:t>상하이 3,842P</a:t>
            </a:r>
            <a:endParaRPr lang="en-US" sz="1350" dirty="0"/>
          </a:p>
        </p:txBody>
      </p:sp>
      <p:sp>
        <p:nvSpPr>
          <p:cNvPr id="70" name="Text 64"/>
          <p:cNvSpPr/>
          <p:nvPr/>
        </p:nvSpPr>
        <p:spPr>
          <a:xfrm>
            <a:off x="3241179" y="5844979"/>
            <a:ext cx="537257" cy="194612"/>
          </a:xfrm>
          <a:prstGeom prst="rect">
            <a:avLst/>
          </a:prstGeom>
          <a:noFill/>
          <a:ln/>
        </p:spPr>
        <p:txBody>
          <a:bodyPr wrap="square" lIns="25400" tIns="25400" rIns="25400" bIns="25400" rtlCol="0" anchor="t">
            <a:normAutofit fontScale="92500" lnSpcReduction="10000"/>
          </a:bodyPr>
          <a:lstStyle/>
          <a:p>
            <a:pPr marL="0" indent="0" algn="l">
              <a:buNone/>
            </a:pPr>
            <a:r>
              <a:rPr lang="en-US" sz="1050" b="1" dirty="0">
                <a:solidFill>
                  <a:srgbClr val="A69687"/>
                </a:solidFill>
                <a:latin typeface="Paperlogy 7 Bold" pitchFamily="2" charset="-127"/>
                <a:ea typeface="Paperlogy 7 Bold" pitchFamily="2" charset="-127"/>
                <a:cs typeface="Arial" pitchFamily="34" charset="-120"/>
              </a:rPr>
              <a:t>전월대비</a:t>
            </a:r>
            <a:endParaRPr lang="en-US" sz="1050" dirty="0"/>
          </a:p>
        </p:txBody>
      </p:sp>
      <p:sp>
        <p:nvSpPr>
          <p:cNvPr id="71" name="Text 65"/>
          <p:cNvSpPr/>
          <p:nvPr/>
        </p:nvSpPr>
        <p:spPr>
          <a:xfrm>
            <a:off x="4168103" y="5724987"/>
            <a:ext cx="889246" cy="345906"/>
          </a:xfrm>
          <a:prstGeom prst="rect">
            <a:avLst/>
          </a:prstGeom>
          <a:noFill/>
          <a:ln/>
        </p:spPr>
        <p:txBody>
          <a:bodyPr wrap="square" lIns="25400" tIns="25400" rIns="25400" bIns="25400" rtlCol="0" anchor="t">
            <a:normAutofit fontScale="85000" lnSpcReduction="10000"/>
          </a:bodyPr>
          <a:lstStyle/>
          <a:p>
            <a:pPr marL="0" indent="0" algn="l">
              <a:buNone/>
            </a:pPr>
            <a:r>
              <a:rPr lang="en-US" sz="2100" b="1" kern="0" spc="-42" dirty="0">
                <a:solidFill>
                  <a:srgbClr val="4C6E9E"/>
                </a:solidFill>
                <a:latin typeface="Paperlogy 7 Bold" pitchFamily="2" charset="-127"/>
                <a:ea typeface="Paperlogy 7 Bold" pitchFamily="2" charset="-127"/>
                <a:cs typeface="Arial" pitchFamily="34" charset="-120"/>
              </a:rPr>
              <a:t>-3.62%</a:t>
            </a:r>
            <a:endParaRPr lang="en-US" sz="2100" dirty="0"/>
          </a:p>
        </p:txBody>
      </p:sp>
      <p:sp>
        <p:nvSpPr>
          <p:cNvPr id="72" name="Shape 66"/>
          <p:cNvSpPr/>
          <p:nvPr/>
        </p:nvSpPr>
        <p:spPr>
          <a:xfrm>
            <a:off x="5443429" y="1281114"/>
            <a:ext cx="4719725" cy="2914623"/>
          </a:xfrm>
          <a:prstGeom prst="roundRect">
            <a:avLst>
              <a:gd name="adj" fmla="val 5229"/>
            </a:avLst>
          </a:prstGeom>
          <a:solidFill>
            <a:srgbClr val="FFFFFF"/>
          </a:solidFill>
          <a:ln w="5217">
            <a:solidFill>
              <a:srgbClr val="EADFD3"/>
            </a:solidFill>
            <a:prstDash val="solid"/>
          </a:ln>
        </p:spPr>
        <p:txBody>
          <a:bodyPr/>
          <a:lstStyle/>
          <a:p>
            <a:endParaRPr lang="ko-KR" altLang="en-US"/>
          </a:p>
        </p:txBody>
      </p:sp>
      <p:sp>
        <p:nvSpPr>
          <p:cNvPr id="73" name="Text 67"/>
          <p:cNvSpPr/>
          <p:nvPr/>
        </p:nvSpPr>
        <p:spPr>
          <a:xfrm>
            <a:off x="5658144" y="1457760"/>
            <a:ext cx="4719326" cy="278085"/>
          </a:xfrm>
          <a:prstGeom prst="rect">
            <a:avLst/>
          </a:prstGeom>
          <a:noFill/>
          <a:ln/>
        </p:spPr>
        <p:txBody>
          <a:bodyPr wrap="square" lIns="25400" tIns="25400" rIns="25400" bIns="25400" rtlCol="0" anchor="t">
            <a:normAutofit lnSpcReduction="10000"/>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글로벌 채권 &amp; 환율 시장</a:t>
            </a:r>
            <a:endParaRPr lang="en-US" sz="1575" dirty="0"/>
          </a:p>
        </p:txBody>
      </p:sp>
      <p:sp>
        <p:nvSpPr>
          <p:cNvPr id="74" name="Shape 68"/>
          <p:cNvSpPr/>
          <p:nvPr/>
        </p:nvSpPr>
        <p:spPr>
          <a:xfrm>
            <a:off x="5658144" y="1812031"/>
            <a:ext cx="1072513" cy="298350"/>
          </a:xfrm>
          <a:custGeom>
            <a:avLst/>
            <a:gdLst/>
            <a:ahLst/>
            <a:cxnLst/>
            <a:rect l="l" t="t" r="r" b="b"/>
            <a:pathLst>
              <a:path w="1072513" h="298350">
                <a:moveTo>
                  <a:pt x="76200" y="0"/>
                </a:moveTo>
                <a:lnTo>
                  <a:pt x="1072513" y="0"/>
                </a:lnTo>
                <a:lnTo>
                  <a:pt x="1072513" y="298350"/>
                </a:lnTo>
                <a:lnTo>
                  <a:pt x="76200" y="298350"/>
                </a:lnTo>
                <a:arcTo wR="76200" hR="76200" stAng="5400000" swAng="5400000"/>
                <a:lnTo>
                  <a:pt x="0" y="76200"/>
                </a:lnTo>
                <a:arcTo wR="76200" hR="76200" stAng="10800000" swAng="5400000"/>
                <a:close/>
              </a:path>
            </a:pathLst>
          </a:custGeom>
          <a:solidFill>
            <a:srgbClr val="FCF8EC"/>
          </a:solidFill>
          <a:ln/>
        </p:spPr>
        <p:txBody>
          <a:bodyPr/>
          <a:lstStyle/>
          <a:p>
            <a:endParaRPr lang="ko-KR" altLang="en-US"/>
          </a:p>
        </p:txBody>
      </p:sp>
      <p:sp>
        <p:nvSpPr>
          <p:cNvPr id="75" name="Text 69"/>
          <p:cNvSpPr/>
          <p:nvPr/>
        </p:nvSpPr>
        <p:spPr>
          <a:xfrm>
            <a:off x="5715294" y="1888231"/>
            <a:ext cx="1034413" cy="184050"/>
          </a:xfrm>
          <a:prstGeom prst="rect">
            <a:avLst/>
          </a:prstGeom>
          <a:noFill/>
          <a:ln/>
        </p:spPr>
        <p:txBody>
          <a:bodyPr wrap="square" lIns="25400" tIns="25400" rIns="25400" bIns="25400" rtlCol="0" anchor="ctr">
            <a:normAutofit lnSpcReduction="10000"/>
          </a:bodyPr>
          <a:lstStyle/>
          <a:p>
            <a:pPr marL="0" indent="0" algn="l">
              <a:buNone/>
            </a:pPr>
            <a:r>
              <a:rPr lang="en-US" sz="938" b="1" dirty="0">
                <a:solidFill>
                  <a:srgbClr val="7B6B60"/>
                </a:solidFill>
                <a:latin typeface="Paperlogy 7 Bold" pitchFamily="2" charset="-127"/>
                <a:ea typeface="Paperlogy 7 Bold" pitchFamily="2" charset="-127"/>
                <a:cs typeface="Arial" pitchFamily="34" charset="-120"/>
              </a:rPr>
              <a:t>구분</a:t>
            </a:r>
            <a:endParaRPr lang="en-US" sz="938" dirty="0"/>
          </a:p>
        </p:txBody>
      </p:sp>
      <p:sp>
        <p:nvSpPr>
          <p:cNvPr id="76" name="Shape 70"/>
          <p:cNvSpPr/>
          <p:nvPr/>
        </p:nvSpPr>
        <p:spPr>
          <a:xfrm>
            <a:off x="6730657" y="1812031"/>
            <a:ext cx="1072513" cy="298350"/>
          </a:xfrm>
          <a:prstGeom prst="rect">
            <a:avLst/>
          </a:prstGeom>
          <a:solidFill>
            <a:srgbClr val="FCF8EC"/>
          </a:solidFill>
          <a:ln/>
        </p:spPr>
        <p:txBody>
          <a:bodyPr/>
          <a:lstStyle/>
          <a:p>
            <a:endParaRPr lang="ko-KR" altLang="en-US"/>
          </a:p>
        </p:txBody>
      </p:sp>
      <p:sp>
        <p:nvSpPr>
          <p:cNvPr id="77" name="Text 71"/>
          <p:cNvSpPr/>
          <p:nvPr/>
        </p:nvSpPr>
        <p:spPr>
          <a:xfrm>
            <a:off x="6711607" y="1888231"/>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자산</a:t>
            </a:r>
            <a:endParaRPr lang="en-US" sz="938" dirty="0"/>
          </a:p>
        </p:txBody>
      </p:sp>
      <p:sp>
        <p:nvSpPr>
          <p:cNvPr id="78" name="Shape 72"/>
          <p:cNvSpPr/>
          <p:nvPr/>
        </p:nvSpPr>
        <p:spPr>
          <a:xfrm>
            <a:off x="7803169" y="1812031"/>
            <a:ext cx="1072513" cy="298350"/>
          </a:xfrm>
          <a:prstGeom prst="rect">
            <a:avLst/>
          </a:prstGeom>
          <a:solidFill>
            <a:srgbClr val="FCF8EC"/>
          </a:solidFill>
          <a:ln/>
        </p:spPr>
        <p:txBody>
          <a:bodyPr/>
          <a:lstStyle/>
          <a:p>
            <a:endParaRPr lang="ko-KR" altLang="en-US"/>
          </a:p>
        </p:txBody>
      </p:sp>
      <p:sp>
        <p:nvSpPr>
          <p:cNvPr id="79" name="Text 73"/>
          <p:cNvSpPr/>
          <p:nvPr/>
        </p:nvSpPr>
        <p:spPr>
          <a:xfrm>
            <a:off x="7784119" y="1888231"/>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9월 말 지수</a:t>
            </a:r>
            <a:endParaRPr lang="en-US" sz="938" dirty="0"/>
          </a:p>
        </p:txBody>
      </p:sp>
      <p:sp>
        <p:nvSpPr>
          <p:cNvPr id="80" name="Shape 74"/>
          <p:cNvSpPr/>
          <p:nvPr/>
        </p:nvSpPr>
        <p:spPr>
          <a:xfrm>
            <a:off x="8875682" y="1812031"/>
            <a:ext cx="1072757" cy="298350"/>
          </a:xfrm>
          <a:custGeom>
            <a:avLst/>
            <a:gdLst/>
            <a:ahLst/>
            <a:cxnLst/>
            <a:rect l="l" t="t" r="r" b="b"/>
            <a:pathLst>
              <a:path w="1072757" h="298350">
                <a:moveTo>
                  <a:pt x="0" y="0"/>
                </a:moveTo>
                <a:lnTo>
                  <a:pt x="996557" y="0"/>
                </a:lnTo>
                <a:arcTo wR="76200" hR="76200" stAng="16200000" swAng="5400000"/>
                <a:lnTo>
                  <a:pt x="1072757" y="222150"/>
                </a:lnTo>
                <a:arcTo wR="76200" hR="76200" stAng="0" swAng="5400000"/>
                <a:lnTo>
                  <a:pt x="0" y="298350"/>
                </a:lnTo>
                <a:lnTo>
                  <a:pt x="0" y="0"/>
                </a:lnTo>
                <a:close/>
              </a:path>
            </a:pathLst>
          </a:custGeom>
          <a:solidFill>
            <a:srgbClr val="FCF8EC"/>
          </a:solidFill>
          <a:ln/>
        </p:spPr>
        <p:txBody>
          <a:bodyPr/>
          <a:lstStyle/>
          <a:p>
            <a:endParaRPr lang="ko-KR" altLang="en-US"/>
          </a:p>
        </p:txBody>
      </p:sp>
      <p:sp>
        <p:nvSpPr>
          <p:cNvPr id="81" name="Text 75"/>
          <p:cNvSpPr/>
          <p:nvPr/>
        </p:nvSpPr>
        <p:spPr>
          <a:xfrm>
            <a:off x="8856632" y="1888231"/>
            <a:ext cx="1034657"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전월대비</a:t>
            </a:r>
            <a:endParaRPr lang="en-US" sz="938" dirty="0"/>
          </a:p>
        </p:txBody>
      </p:sp>
      <p:sp>
        <p:nvSpPr>
          <p:cNvPr id="82" name="Shape 76"/>
          <p:cNvSpPr/>
          <p:nvPr/>
        </p:nvSpPr>
        <p:spPr>
          <a:xfrm>
            <a:off x="5658144" y="2760883"/>
            <a:ext cx="1072513" cy="9525"/>
          </a:xfrm>
          <a:prstGeom prst="rect">
            <a:avLst/>
          </a:prstGeom>
          <a:solidFill>
            <a:srgbClr val="EADFD3"/>
          </a:solidFill>
          <a:ln/>
        </p:spPr>
        <p:txBody>
          <a:bodyPr/>
          <a:lstStyle/>
          <a:p>
            <a:endParaRPr lang="ko-KR" altLang="en-US"/>
          </a:p>
        </p:txBody>
      </p:sp>
      <p:sp>
        <p:nvSpPr>
          <p:cNvPr id="83" name="Text 77"/>
          <p:cNvSpPr/>
          <p:nvPr/>
        </p:nvSpPr>
        <p:spPr>
          <a:xfrm>
            <a:off x="5715294" y="2196106"/>
            <a:ext cx="1034413" cy="517152"/>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미국</a:t>
            </a:r>
            <a:endParaRPr lang="en-US" sz="1013" dirty="0"/>
          </a:p>
        </p:txBody>
      </p:sp>
      <p:sp>
        <p:nvSpPr>
          <p:cNvPr id="84" name="Shape 78"/>
          <p:cNvSpPr/>
          <p:nvPr/>
        </p:nvSpPr>
        <p:spPr>
          <a:xfrm>
            <a:off x="6730657" y="2433024"/>
            <a:ext cx="1072513" cy="9525"/>
          </a:xfrm>
          <a:prstGeom prst="rect">
            <a:avLst/>
          </a:prstGeom>
          <a:solidFill>
            <a:srgbClr val="EADFD3"/>
          </a:solidFill>
          <a:ln/>
        </p:spPr>
        <p:txBody>
          <a:bodyPr/>
          <a:lstStyle/>
          <a:p>
            <a:endParaRPr lang="ko-KR" altLang="en-US"/>
          </a:p>
        </p:txBody>
      </p:sp>
      <p:sp>
        <p:nvSpPr>
          <p:cNvPr id="85" name="Text 79"/>
          <p:cNvSpPr/>
          <p:nvPr/>
        </p:nvSpPr>
        <p:spPr>
          <a:xfrm>
            <a:off x="6711607" y="219610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국채 10년</a:t>
            </a:r>
            <a:endParaRPr lang="en-US" sz="1013" dirty="0"/>
          </a:p>
        </p:txBody>
      </p:sp>
      <p:sp>
        <p:nvSpPr>
          <p:cNvPr id="86" name="Shape 80"/>
          <p:cNvSpPr/>
          <p:nvPr/>
        </p:nvSpPr>
        <p:spPr>
          <a:xfrm>
            <a:off x="7803169" y="2433024"/>
            <a:ext cx="1072513" cy="9525"/>
          </a:xfrm>
          <a:prstGeom prst="rect">
            <a:avLst/>
          </a:prstGeom>
          <a:solidFill>
            <a:srgbClr val="EADFD3"/>
          </a:solidFill>
          <a:ln/>
        </p:spPr>
        <p:txBody>
          <a:bodyPr/>
          <a:lstStyle/>
          <a:p>
            <a:endParaRPr lang="ko-KR" altLang="en-US"/>
          </a:p>
        </p:txBody>
      </p:sp>
      <p:sp>
        <p:nvSpPr>
          <p:cNvPr id="87" name="Text 81"/>
          <p:cNvSpPr/>
          <p:nvPr/>
        </p:nvSpPr>
        <p:spPr>
          <a:xfrm>
            <a:off x="7784119" y="219610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5.293</a:t>
            </a:r>
            <a:endParaRPr lang="en-US" sz="1013" dirty="0"/>
          </a:p>
        </p:txBody>
      </p:sp>
      <p:sp>
        <p:nvSpPr>
          <p:cNvPr id="88" name="Shape 82"/>
          <p:cNvSpPr/>
          <p:nvPr/>
        </p:nvSpPr>
        <p:spPr>
          <a:xfrm>
            <a:off x="8875682" y="2433024"/>
            <a:ext cx="1072757" cy="9525"/>
          </a:xfrm>
          <a:prstGeom prst="rect">
            <a:avLst/>
          </a:prstGeom>
          <a:solidFill>
            <a:srgbClr val="EADFD3"/>
          </a:solidFill>
          <a:ln/>
        </p:spPr>
        <p:txBody>
          <a:bodyPr/>
          <a:lstStyle/>
          <a:p>
            <a:endParaRPr lang="ko-KR" altLang="en-US"/>
          </a:p>
        </p:txBody>
      </p:sp>
      <p:sp>
        <p:nvSpPr>
          <p:cNvPr id="89" name="Text 83"/>
          <p:cNvSpPr/>
          <p:nvPr/>
        </p:nvSpPr>
        <p:spPr>
          <a:xfrm>
            <a:off x="8856632" y="2196106"/>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0.54%</a:t>
            </a:r>
            <a:endParaRPr lang="en-US" sz="1013" dirty="0"/>
          </a:p>
        </p:txBody>
      </p:sp>
      <p:sp>
        <p:nvSpPr>
          <p:cNvPr id="90" name="Shape 84"/>
          <p:cNvSpPr/>
          <p:nvPr/>
        </p:nvSpPr>
        <p:spPr>
          <a:xfrm>
            <a:off x="6730657" y="2760883"/>
            <a:ext cx="1072513" cy="9525"/>
          </a:xfrm>
          <a:prstGeom prst="rect">
            <a:avLst/>
          </a:prstGeom>
          <a:solidFill>
            <a:srgbClr val="EADFD3"/>
          </a:solidFill>
          <a:ln/>
        </p:spPr>
        <p:txBody>
          <a:bodyPr/>
          <a:lstStyle/>
          <a:p>
            <a:endParaRPr lang="ko-KR" altLang="en-US"/>
          </a:p>
        </p:txBody>
      </p:sp>
      <p:sp>
        <p:nvSpPr>
          <p:cNvPr id="91" name="Text 85"/>
          <p:cNvSpPr/>
          <p:nvPr/>
        </p:nvSpPr>
        <p:spPr>
          <a:xfrm>
            <a:off x="6711607" y="252396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국채 2년</a:t>
            </a:r>
            <a:endParaRPr lang="en-US" sz="1013" dirty="0"/>
          </a:p>
        </p:txBody>
      </p:sp>
      <p:sp>
        <p:nvSpPr>
          <p:cNvPr id="92" name="Shape 86"/>
          <p:cNvSpPr/>
          <p:nvPr/>
        </p:nvSpPr>
        <p:spPr>
          <a:xfrm>
            <a:off x="7803169" y="2760883"/>
            <a:ext cx="1072513" cy="9525"/>
          </a:xfrm>
          <a:prstGeom prst="rect">
            <a:avLst/>
          </a:prstGeom>
          <a:solidFill>
            <a:srgbClr val="EADFD3"/>
          </a:solidFill>
          <a:ln/>
        </p:spPr>
        <p:txBody>
          <a:bodyPr/>
          <a:lstStyle/>
          <a:p>
            <a:endParaRPr lang="ko-KR" altLang="en-US"/>
          </a:p>
        </p:txBody>
      </p:sp>
      <p:sp>
        <p:nvSpPr>
          <p:cNvPr id="93" name="Text 87"/>
          <p:cNvSpPr/>
          <p:nvPr/>
        </p:nvSpPr>
        <p:spPr>
          <a:xfrm>
            <a:off x="7784119" y="2523966"/>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4.887</a:t>
            </a:r>
            <a:endParaRPr lang="en-US" sz="1013" dirty="0"/>
          </a:p>
        </p:txBody>
      </p:sp>
      <p:sp>
        <p:nvSpPr>
          <p:cNvPr id="94" name="Shape 88"/>
          <p:cNvSpPr/>
          <p:nvPr/>
        </p:nvSpPr>
        <p:spPr>
          <a:xfrm>
            <a:off x="8875682" y="2760883"/>
            <a:ext cx="1072757" cy="9525"/>
          </a:xfrm>
          <a:prstGeom prst="rect">
            <a:avLst/>
          </a:prstGeom>
          <a:solidFill>
            <a:srgbClr val="EADFD3"/>
          </a:solidFill>
          <a:ln/>
        </p:spPr>
        <p:txBody>
          <a:bodyPr/>
          <a:lstStyle/>
          <a:p>
            <a:endParaRPr lang="ko-KR" altLang="en-US"/>
          </a:p>
        </p:txBody>
      </p:sp>
      <p:sp>
        <p:nvSpPr>
          <p:cNvPr id="95" name="Text 89"/>
          <p:cNvSpPr/>
          <p:nvPr/>
        </p:nvSpPr>
        <p:spPr>
          <a:xfrm>
            <a:off x="8856632" y="2523966"/>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0.54%</a:t>
            </a:r>
            <a:endParaRPr lang="en-US" sz="1013" dirty="0"/>
          </a:p>
        </p:txBody>
      </p:sp>
      <p:sp>
        <p:nvSpPr>
          <p:cNvPr id="96" name="Shape 90"/>
          <p:cNvSpPr/>
          <p:nvPr/>
        </p:nvSpPr>
        <p:spPr>
          <a:xfrm>
            <a:off x="5658144" y="3744462"/>
            <a:ext cx="1072513" cy="9525"/>
          </a:xfrm>
          <a:prstGeom prst="rect">
            <a:avLst/>
          </a:prstGeom>
          <a:solidFill>
            <a:srgbClr val="EADFD3"/>
          </a:solidFill>
          <a:ln/>
        </p:spPr>
        <p:txBody>
          <a:bodyPr/>
          <a:lstStyle/>
          <a:p>
            <a:endParaRPr lang="ko-KR" altLang="en-US"/>
          </a:p>
        </p:txBody>
      </p:sp>
      <p:sp>
        <p:nvSpPr>
          <p:cNvPr id="97" name="Text 91"/>
          <p:cNvSpPr/>
          <p:nvPr/>
        </p:nvSpPr>
        <p:spPr>
          <a:xfrm>
            <a:off x="5715294" y="2851825"/>
            <a:ext cx="1034413" cy="845011"/>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한국</a:t>
            </a:r>
            <a:endParaRPr lang="en-US" sz="1013" dirty="0"/>
          </a:p>
        </p:txBody>
      </p:sp>
      <p:sp>
        <p:nvSpPr>
          <p:cNvPr id="98" name="Shape 92"/>
          <p:cNvSpPr/>
          <p:nvPr/>
        </p:nvSpPr>
        <p:spPr>
          <a:xfrm>
            <a:off x="6730657" y="3088743"/>
            <a:ext cx="1072513" cy="9525"/>
          </a:xfrm>
          <a:prstGeom prst="rect">
            <a:avLst/>
          </a:prstGeom>
          <a:solidFill>
            <a:srgbClr val="EADFD3"/>
          </a:solidFill>
          <a:ln/>
        </p:spPr>
        <p:txBody>
          <a:bodyPr/>
          <a:lstStyle/>
          <a:p>
            <a:endParaRPr lang="ko-KR" altLang="en-US"/>
          </a:p>
        </p:txBody>
      </p:sp>
      <p:sp>
        <p:nvSpPr>
          <p:cNvPr id="99" name="Text 93"/>
          <p:cNvSpPr/>
          <p:nvPr/>
        </p:nvSpPr>
        <p:spPr>
          <a:xfrm>
            <a:off x="6711607" y="285182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기준금리</a:t>
            </a:r>
            <a:endParaRPr lang="en-US" sz="1013" dirty="0"/>
          </a:p>
        </p:txBody>
      </p:sp>
      <p:sp>
        <p:nvSpPr>
          <p:cNvPr id="100" name="Shape 94"/>
          <p:cNvSpPr/>
          <p:nvPr/>
        </p:nvSpPr>
        <p:spPr>
          <a:xfrm>
            <a:off x="7803169" y="3088743"/>
            <a:ext cx="1072513" cy="9525"/>
          </a:xfrm>
          <a:prstGeom prst="rect">
            <a:avLst/>
          </a:prstGeom>
          <a:solidFill>
            <a:srgbClr val="EADFD3"/>
          </a:solidFill>
          <a:ln/>
        </p:spPr>
        <p:txBody>
          <a:bodyPr/>
          <a:lstStyle/>
          <a:p>
            <a:endParaRPr lang="ko-KR" altLang="en-US"/>
          </a:p>
        </p:txBody>
      </p:sp>
      <p:sp>
        <p:nvSpPr>
          <p:cNvPr id="101" name="Text 95"/>
          <p:cNvSpPr/>
          <p:nvPr/>
        </p:nvSpPr>
        <p:spPr>
          <a:xfrm>
            <a:off x="7784119" y="285182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3.00</a:t>
            </a:r>
            <a:endParaRPr lang="en-US" sz="1013" dirty="0"/>
          </a:p>
        </p:txBody>
      </p:sp>
      <p:sp>
        <p:nvSpPr>
          <p:cNvPr id="102" name="Shape 96"/>
          <p:cNvSpPr/>
          <p:nvPr/>
        </p:nvSpPr>
        <p:spPr>
          <a:xfrm>
            <a:off x="8875682" y="3088743"/>
            <a:ext cx="1072757" cy="9525"/>
          </a:xfrm>
          <a:prstGeom prst="rect">
            <a:avLst/>
          </a:prstGeom>
          <a:solidFill>
            <a:srgbClr val="EADFD3"/>
          </a:solidFill>
          <a:ln/>
        </p:spPr>
        <p:txBody>
          <a:bodyPr/>
          <a:lstStyle/>
          <a:p>
            <a:endParaRPr lang="ko-KR" altLang="en-US"/>
          </a:p>
        </p:txBody>
      </p:sp>
      <p:sp>
        <p:nvSpPr>
          <p:cNvPr id="103" name="Text 97"/>
          <p:cNvSpPr/>
          <p:nvPr/>
        </p:nvSpPr>
        <p:spPr>
          <a:xfrm>
            <a:off x="8856632" y="2851825"/>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7B6B60"/>
                </a:solidFill>
                <a:latin typeface="Paperlogy 7 Bold" pitchFamily="2" charset="-127"/>
                <a:ea typeface="Paperlogy 7 Bold" pitchFamily="2" charset="-127"/>
                <a:cs typeface="Arial" pitchFamily="34" charset="-120"/>
              </a:rPr>
              <a:t>0%</a:t>
            </a:r>
            <a:endParaRPr lang="en-US" sz="1013" dirty="0"/>
          </a:p>
        </p:txBody>
      </p:sp>
      <p:sp>
        <p:nvSpPr>
          <p:cNvPr id="104" name="Shape 98"/>
          <p:cNvSpPr/>
          <p:nvPr/>
        </p:nvSpPr>
        <p:spPr>
          <a:xfrm>
            <a:off x="6730657" y="3416602"/>
            <a:ext cx="1072513" cy="9525"/>
          </a:xfrm>
          <a:prstGeom prst="rect">
            <a:avLst/>
          </a:prstGeom>
          <a:solidFill>
            <a:srgbClr val="EADFD3"/>
          </a:solidFill>
          <a:ln/>
        </p:spPr>
        <p:txBody>
          <a:bodyPr/>
          <a:lstStyle/>
          <a:p>
            <a:endParaRPr lang="ko-KR" altLang="en-US"/>
          </a:p>
        </p:txBody>
      </p:sp>
      <p:sp>
        <p:nvSpPr>
          <p:cNvPr id="105" name="Text 99"/>
          <p:cNvSpPr/>
          <p:nvPr/>
        </p:nvSpPr>
        <p:spPr>
          <a:xfrm>
            <a:off x="6711607" y="317968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국채 10년</a:t>
            </a:r>
            <a:endParaRPr lang="en-US" sz="1013" dirty="0"/>
          </a:p>
        </p:txBody>
      </p:sp>
      <p:sp>
        <p:nvSpPr>
          <p:cNvPr id="106" name="Shape 100"/>
          <p:cNvSpPr/>
          <p:nvPr/>
        </p:nvSpPr>
        <p:spPr>
          <a:xfrm>
            <a:off x="7803169" y="3416602"/>
            <a:ext cx="1072513" cy="9525"/>
          </a:xfrm>
          <a:prstGeom prst="rect">
            <a:avLst/>
          </a:prstGeom>
          <a:solidFill>
            <a:srgbClr val="EADFD3"/>
          </a:solidFill>
          <a:ln/>
        </p:spPr>
        <p:txBody>
          <a:bodyPr/>
          <a:lstStyle/>
          <a:p>
            <a:endParaRPr lang="ko-KR" altLang="en-US"/>
          </a:p>
        </p:txBody>
      </p:sp>
      <p:sp>
        <p:nvSpPr>
          <p:cNvPr id="107" name="Text 101"/>
          <p:cNvSpPr/>
          <p:nvPr/>
        </p:nvSpPr>
        <p:spPr>
          <a:xfrm>
            <a:off x="7784119" y="3179685"/>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4.401</a:t>
            </a:r>
            <a:endParaRPr lang="en-US" sz="1013" dirty="0"/>
          </a:p>
        </p:txBody>
      </p:sp>
      <p:sp>
        <p:nvSpPr>
          <p:cNvPr id="108" name="Shape 102"/>
          <p:cNvSpPr/>
          <p:nvPr/>
        </p:nvSpPr>
        <p:spPr>
          <a:xfrm>
            <a:off x="8875682" y="3416602"/>
            <a:ext cx="1072757" cy="9525"/>
          </a:xfrm>
          <a:prstGeom prst="rect">
            <a:avLst/>
          </a:prstGeom>
          <a:solidFill>
            <a:srgbClr val="EADFD3"/>
          </a:solidFill>
          <a:ln/>
        </p:spPr>
        <p:txBody>
          <a:bodyPr/>
          <a:lstStyle/>
          <a:p>
            <a:endParaRPr lang="ko-KR" altLang="en-US"/>
          </a:p>
        </p:txBody>
      </p:sp>
      <p:sp>
        <p:nvSpPr>
          <p:cNvPr id="109" name="Text 103"/>
          <p:cNvSpPr/>
          <p:nvPr/>
        </p:nvSpPr>
        <p:spPr>
          <a:xfrm>
            <a:off x="8856632" y="3179685"/>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0.09%</a:t>
            </a:r>
            <a:endParaRPr lang="en-US" sz="1013" dirty="0"/>
          </a:p>
        </p:txBody>
      </p:sp>
      <p:sp>
        <p:nvSpPr>
          <p:cNvPr id="110" name="Shape 104"/>
          <p:cNvSpPr/>
          <p:nvPr/>
        </p:nvSpPr>
        <p:spPr>
          <a:xfrm>
            <a:off x="6730657" y="3744461"/>
            <a:ext cx="1072513" cy="9525"/>
          </a:xfrm>
          <a:prstGeom prst="rect">
            <a:avLst/>
          </a:prstGeom>
          <a:solidFill>
            <a:srgbClr val="EADFD3"/>
          </a:solidFill>
          <a:ln/>
        </p:spPr>
        <p:txBody>
          <a:bodyPr/>
          <a:lstStyle/>
          <a:p>
            <a:endParaRPr lang="ko-KR" altLang="en-US"/>
          </a:p>
        </p:txBody>
      </p:sp>
      <p:sp>
        <p:nvSpPr>
          <p:cNvPr id="111" name="Text 105"/>
          <p:cNvSpPr/>
          <p:nvPr/>
        </p:nvSpPr>
        <p:spPr>
          <a:xfrm>
            <a:off x="6711607" y="35075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환율</a:t>
            </a:r>
            <a:endParaRPr lang="en-US" sz="1013" dirty="0"/>
          </a:p>
        </p:txBody>
      </p:sp>
      <p:sp>
        <p:nvSpPr>
          <p:cNvPr id="112" name="Shape 106"/>
          <p:cNvSpPr/>
          <p:nvPr/>
        </p:nvSpPr>
        <p:spPr>
          <a:xfrm>
            <a:off x="7803169" y="3744461"/>
            <a:ext cx="1072513" cy="9525"/>
          </a:xfrm>
          <a:prstGeom prst="rect">
            <a:avLst/>
          </a:prstGeom>
          <a:solidFill>
            <a:srgbClr val="EADFD3"/>
          </a:solidFill>
          <a:ln/>
        </p:spPr>
        <p:txBody>
          <a:bodyPr/>
          <a:lstStyle/>
          <a:p>
            <a:endParaRPr lang="ko-KR" altLang="en-US"/>
          </a:p>
        </p:txBody>
      </p:sp>
      <p:sp>
        <p:nvSpPr>
          <p:cNvPr id="113" name="Text 107"/>
          <p:cNvSpPr/>
          <p:nvPr/>
        </p:nvSpPr>
        <p:spPr>
          <a:xfrm>
            <a:off x="7784119" y="35075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1,358.00</a:t>
            </a:r>
            <a:endParaRPr lang="en-US" sz="1013" dirty="0"/>
          </a:p>
        </p:txBody>
      </p:sp>
      <p:sp>
        <p:nvSpPr>
          <p:cNvPr id="114" name="Shape 108"/>
          <p:cNvSpPr/>
          <p:nvPr/>
        </p:nvSpPr>
        <p:spPr>
          <a:xfrm>
            <a:off x="8875682" y="3744461"/>
            <a:ext cx="1072757" cy="9525"/>
          </a:xfrm>
          <a:prstGeom prst="rect">
            <a:avLst/>
          </a:prstGeom>
          <a:solidFill>
            <a:srgbClr val="EADFD3"/>
          </a:solidFill>
          <a:ln/>
        </p:spPr>
        <p:txBody>
          <a:bodyPr/>
          <a:lstStyle/>
          <a:p>
            <a:endParaRPr lang="ko-KR" altLang="en-US"/>
          </a:p>
        </p:txBody>
      </p:sp>
      <p:sp>
        <p:nvSpPr>
          <p:cNvPr id="115" name="Text 109"/>
          <p:cNvSpPr/>
          <p:nvPr/>
        </p:nvSpPr>
        <p:spPr>
          <a:xfrm>
            <a:off x="8856632" y="3507544"/>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4C6E9E"/>
                </a:solidFill>
                <a:latin typeface="Paperlogy 7 Bold" pitchFamily="2" charset="-127"/>
                <a:ea typeface="Paperlogy 7 Bold" pitchFamily="2" charset="-127"/>
                <a:cs typeface="Arial" pitchFamily="34" charset="-120"/>
              </a:rPr>
              <a:t>-0.84%</a:t>
            </a:r>
            <a:endParaRPr lang="en-US" sz="1013" dirty="0"/>
          </a:p>
        </p:txBody>
      </p:sp>
      <p:sp>
        <p:nvSpPr>
          <p:cNvPr id="116" name="Shape 110"/>
          <p:cNvSpPr/>
          <p:nvPr/>
        </p:nvSpPr>
        <p:spPr>
          <a:xfrm>
            <a:off x="5443429" y="4348091"/>
            <a:ext cx="4719725" cy="2257356"/>
          </a:xfrm>
          <a:prstGeom prst="roundRect">
            <a:avLst>
              <a:gd name="adj" fmla="val 6751"/>
            </a:avLst>
          </a:prstGeom>
          <a:solidFill>
            <a:srgbClr val="FFFFFF"/>
          </a:solidFill>
          <a:ln w="5217">
            <a:solidFill>
              <a:srgbClr val="EADFD3"/>
            </a:solidFill>
            <a:prstDash val="solid"/>
          </a:ln>
        </p:spPr>
        <p:txBody>
          <a:bodyPr/>
          <a:lstStyle/>
          <a:p>
            <a:endParaRPr lang="ko-KR" altLang="en-US"/>
          </a:p>
        </p:txBody>
      </p:sp>
      <p:sp>
        <p:nvSpPr>
          <p:cNvPr id="117" name="Text 111"/>
          <p:cNvSpPr/>
          <p:nvPr/>
        </p:nvSpPr>
        <p:spPr>
          <a:xfrm>
            <a:off x="5658144" y="4524738"/>
            <a:ext cx="4719326" cy="278085"/>
          </a:xfrm>
          <a:prstGeom prst="rect">
            <a:avLst/>
          </a:prstGeom>
          <a:noFill/>
          <a:ln/>
        </p:spPr>
        <p:txBody>
          <a:bodyPr wrap="square" lIns="25400" tIns="25400" rIns="25400" bIns="25400" rtlCol="0" anchor="t">
            <a:normAutofit lnSpcReduction="10000"/>
          </a:bodyPr>
          <a:lstStyle/>
          <a:p>
            <a:pPr marL="0" indent="0" algn="l">
              <a:buNone/>
            </a:pPr>
            <a:r>
              <a:rPr lang="en-US" sz="1575" b="1" kern="0" spc="-31" dirty="0">
                <a:solidFill>
                  <a:srgbClr val="3A2C24"/>
                </a:solidFill>
                <a:latin typeface="Paperlogy 7 Bold" pitchFamily="2" charset="-127"/>
                <a:ea typeface="Paperlogy 7 Bold" pitchFamily="2" charset="-127"/>
                <a:cs typeface="Arial" pitchFamily="34" charset="-120"/>
              </a:rPr>
              <a:t>글로벌 원자재 시장</a:t>
            </a:r>
            <a:endParaRPr lang="en-US" sz="1575" dirty="0"/>
          </a:p>
        </p:txBody>
      </p:sp>
      <p:sp>
        <p:nvSpPr>
          <p:cNvPr id="118" name="Shape 112"/>
          <p:cNvSpPr/>
          <p:nvPr/>
        </p:nvSpPr>
        <p:spPr>
          <a:xfrm>
            <a:off x="5658144" y="4879009"/>
            <a:ext cx="1072513" cy="298350"/>
          </a:xfrm>
          <a:custGeom>
            <a:avLst/>
            <a:gdLst/>
            <a:ahLst/>
            <a:cxnLst/>
            <a:rect l="l" t="t" r="r" b="b"/>
            <a:pathLst>
              <a:path w="1072513" h="298350">
                <a:moveTo>
                  <a:pt x="76200" y="0"/>
                </a:moveTo>
                <a:lnTo>
                  <a:pt x="1072513" y="0"/>
                </a:lnTo>
                <a:lnTo>
                  <a:pt x="1072513" y="298350"/>
                </a:lnTo>
                <a:lnTo>
                  <a:pt x="76200" y="298350"/>
                </a:lnTo>
                <a:arcTo wR="76200" hR="76200" stAng="5400000" swAng="5400000"/>
                <a:lnTo>
                  <a:pt x="0" y="76200"/>
                </a:lnTo>
                <a:arcTo wR="76200" hR="76200" stAng="10800000" swAng="5400000"/>
                <a:close/>
              </a:path>
            </a:pathLst>
          </a:custGeom>
          <a:solidFill>
            <a:srgbClr val="FCF8EC"/>
          </a:solidFill>
          <a:ln/>
        </p:spPr>
        <p:txBody>
          <a:bodyPr/>
          <a:lstStyle/>
          <a:p>
            <a:endParaRPr lang="ko-KR" altLang="en-US"/>
          </a:p>
        </p:txBody>
      </p:sp>
      <p:sp>
        <p:nvSpPr>
          <p:cNvPr id="119" name="Text 113"/>
          <p:cNvSpPr/>
          <p:nvPr/>
        </p:nvSpPr>
        <p:spPr>
          <a:xfrm>
            <a:off x="5715294" y="4955209"/>
            <a:ext cx="1034413" cy="184050"/>
          </a:xfrm>
          <a:prstGeom prst="rect">
            <a:avLst/>
          </a:prstGeom>
          <a:noFill/>
          <a:ln/>
        </p:spPr>
        <p:txBody>
          <a:bodyPr wrap="square" lIns="25400" tIns="25400" rIns="25400" bIns="25400" rtlCol="0" anchor="ctr">
            <a:normAutofit lnSpcReduction="10000"/>
          </a:bodyPr>
          <a:lstStyle/>
          <a:p>
            <a:pPr marL="0" indent="0" algn="l">
              <a:buNone/>
            </a:pPr>
            <a:r>
              <a:rPr lang="en-US" sz="938" b="1" dirty="0">
                <a:solidFill>
                  <a:srgbClr val="7B6B60"/>
                </a:solidFill>
                <a:latin typeface="Paperlogy 7 Bold" pitchFamily="2" charset="-127"/>
                <a:ea typeface="Paperlogy 7 Bold" pitchFamily="2" charset="-127"/>
                <a:cs typeface="Arial" pitchFamily="34" charset="-120"/>
              </a:rPr>
              <a:t>구분</a:t>
            </a:r>
            <a:endParaRPr lang="en-US" sz="938" dirty="0"/>
          </a:p>
        </p:txBody>
      </p:sp>
      <p:sp>
        <p:nvSpPr>
          <p:cNvPr id="120" name="Shape 114"/>
          <p:cNvSpPr/>
          <p:nvPr/>
        </p:nvSpPr>
        <p:spPr>
          <a:xfrm>
            <a:off x="6730657" y="4879009"/>
            <a:ext cx="1072513" cy="298350"/>
          </a:xfrm>
          <a:prstGeom prst="rect">
            <a:avLst/>
          </a:prstGeom>
          <a:solidFill>
            <a:srgbClr val="FCF8EC"/>
          </a:solidFill>
          <a:ln/>
        </p:spPr>
        <p:txBody>
          <a:bodyPr/>
          <a:lstStyle/>
          <a:p>
            <a:endParaRPr lang="ko-KR" altLang="en-US"/>
          </a:p>
        </p:txBody>
      </p:sp>
      <p:sp>
        <p:nvSpPr>
          <p:cNvPr id="121" name="Text 115"/>
          <p:cNvSpPr/>
          <p:nvPr/>
        </p:nvSpPr>
        <p:spPr>
          <a:xfrm>
            <a:off x="6711607" y="4955209"/>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자산</a:t>
            </a:r>
            <a:endParaRPr lang="en-US" sz="938" dirty="0"/>
          </a:p>
        </p:txBody>
      </p:sp>
      <p:sp>
        <p:nvSpPr>
          <p:cNvPr id="122" name="Shape 116"/>
          <p:cNvSpPr/>
          <p:nvPr/>
        </p:nvSpPr>
        <p:spPr>
          <a:xfrm>
            <a:off x="7803169" y="4879009"/>
            <a:ext cx="1072513" cy="298350"/>
          </a:xfrm>
          <a:prstGeom prst="rect">
            <a:avLst/>
          </a:prstGeom>
          <a:solidFill>
            <a:srgbClr val="FCF8EC"/>
          </a:solidFill>
          <a:ln/>
        </p:spPr>
        <p:txBody>
          <a:bodyPr/>
          <a:lstStyle/>
          <a:p>
            <a:endParaRPr lang="ko-KR" altLang="en-US"/>
          </a:p>
        </p:txBody>
      </p:sp>
      <p:sp>
        <p:nvSpPr>
          <p:cNvPr id="123" name="Text 117"/>
          <p:cNvSpPr/>
          <p:nvPr/>
        </p:nvSpPr>
        <p:spPr>
          <a:xfrm>
            <a:off x="7784119" y="4955209"/>
            <a:ext cx="1034413"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9월 말 지수</a:t>
            </a:r>
            <a:endParaRPr lang="en-US" sz="938" dirty="0"/>
          </a:p>
        </p:txBody>
      </p:sp>
      <p:sp>
        <p:nvSpPr>
          <p:cNvPr id="124" name="Shape 118"/>
          <p:cNvSpPr/>
          <p:nvPr/>
        </p:nvSpPr>
        <p:spPr>
          <a:xfrm>
            <a:off x="8875682" y="4879009"/>
            <a:ext cx="1072757" cy="298350"/>
          </a:xfrm>
          <a:custGeom>
            <a:avLst/>
            <a:gdLst/>
            <a:ahLst/>
            <a:cxnLst/>
            <a:rect l="l" t="t" r="r" b="b"/>
            <a:pathLst>
              <a:path w="1072757" h="298350">
                <a:moveTo>
                  <a:pt x="0" y="0"/>
                </a:moveTo>
                <a:lnTo>
                  <a:pt x="996557" y="0"/>
                </a:lnTo>
                <a:arcTo wR="76200" hR="76200" stAng="16200000" swAng="5400000"/>
                <a:lnTo>
                  <a:pt x="1072757" y="222150"/>
                </a:lnTo>
                <a:arcTo wR="76200" hR="76200" stAng="0" swAng="5400000"/>
                <a:lnTo>
                  <a:pt x="0" y="298350"/>
                </a:lnTo>
                <a:lnTo>
                  <a:pt x="0" y="0"/>
                </a:lnTo>
                <a:close/>
              </a:path>
            </a:pathLst>
          </a:custGeom>
          <a:solidFill>
            <a:srgbClr val="FCF8EC"/>
          </a:solidFill>
          <a:ln/>
        </p:spPr>
        <p:txBody>
          <a:bodyPr/>
          <a:lstStyle/>
          <a:p>
            <a:endParaRPr lang="ko-KR" altLang="en-US"/>
          </a:p>
        </p:txBody>
      </p:sp>
      <p:sp>
        <p:nvSpPr>
          <p:cNvPr id="125" name="Text 119"/>
          <p:cNvSpPr/>
          <p:nvPr/>
        </p:nvSpPr>
        <p:spPr>
          <a:xfrm>
            <a:off x="8856632" y="4955209"/>
            <a:ext cx="1034657" cy="184050"/>
          </a:xfrm>
          <a:prstGeom prst="rect">
            <a:avLst/>
          </a:prstGeom>
          <a:noFill/>
          <a:ln/>
        </p:spPr>
        <p:txBody>
          <a:bodyPr wrap="square" lIns="25400" tIns="25400" rIns="25400" bIns="25400" rtlCol="0" anchor="ctr">
            <a:normAutofit lnSpcReduction="10000"/>
          </a:bodyPr>
          <a:lstStyle/>
          <a:p>
            <a:pPr marL="0" indent="0" algn="r">
              <a:buNone/>
            </a:pPr>
            <a:r>
              <a:rPr lang="en-US" sz="938" b="1" dirty="0">
                <a:solidFill>
                  <a:srgbClr val="7B6B60"/>
                </a:solidFill>
                <a:latin typeface="Paperlogy 7 Bold" pitchFamily="2" charset="-127"/>
                <a:ea typeface="Paperlogy 7 Bold" pitchFamily="2" charset="-127"/>
                <a:cs typeface="Arial" pitchFamily="34" charset="-120"/>
              </a:rPr>
              <a:t>전월대비</a:t>
            </a:r>
            <a:endParaRPr lang="en-US" sz="938" dirty="0"/>
          </a:p>
        </p:txBody>
      </p:sp>
      <p:sp>
        <p:nvSpPr>
          <p:cNvPr id="126" name="Shape 120"/>
          <p:cNvSpPr/>
          <p:nvPr/>
        </p:nvSpPr>
        <p:spPr>
          <a:xfrm>
            <a:off x="5658144" y="5500001"/>
            <a:ext cx="1072513" cy="9525"/>
          </a:xfrm>
          <a:prstGeom prst="rect">
            <a:avLst/>
          </a:prstGeom>
          <a:solidFill>
            <a:srgbClr val="EADFD3"/>
          </a:solidFill>
          <a:ln/>
        </p:spPr>
        <p:txBody>
          <a:bodyPr/>
          <a:lstStyle/>
          <a:p>
            <a:endParaRPr lang="ko-KR" altLang="en-US"/>
          </a:p>
        </p:txBody>
      </p:sp>
      <p:sp>
        <p:nvSpPr>
          <p:cNvPr id="127" name="Text 121"/>
          <p:cNvSpPr/>
          <p:nvPr/>
        </p:nvSpPr>
        <p:spPr>
          <a:xfrm>
            <a:off x="5715294" y="5263084"/>
            <a:ext cx="1034413" cy="189292"/>
          </a:xfrm>
          <a:prstGeom prst="rect">
            <a:avLst/>
          </a:prstGeom>
          <a:noFill/>
          <a:ln/>
        </p:spPr>
        <p:txBody>
          <a:bodyPr wrap="square" lIns="25400" tIns="25400" rIns="25400" bIns="25400" rtlCol="0" anchor="ctr">
            <a:normAutofit fontScale="92500"/>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가상자산</a:t>
            </a:r>
            <a:endParaRPr lang="en-US" sz="1013" dirty="0"/>
          </a:p>
        </p:txBody>
      </p:sp>
      <p:sp>
        <p:nvSpPr>
          <p:cNvPr id="128" name="Shape 122"/>
          <p:cNvSpPr/>
          <p:nvPr/>
        </p:nvSpPr>
        <p:spPr>
          <a:xfrm>
            <a:off x="6730657" y="5500001"/>
            <a:ext cx="1072513" cy="9525"/>
          </a:xfrm>
          <a:prstGeom prst="rect">
            <a:avLst/>
          </a:prstGeom>
          <a:solidFill>
            <a:srgbClr val="EADFD3"/>
          </a:solidFill>
          <a:ln/>
        </p:spPr>
        <p:txBody>
          <a:bodyPr/>
          <a:lstStyle/>
          <a:p>
            <a:endParaRPr lang="ko-KR" altLang="en-US"/>
          </a:p>
        </p:txBody>
      </p:sp>
      <p:sp>
        <p:nvSpPr>
          <p:cNvPr id="129" name="Text 123"/>
          <p:cNvSpPr/>
          <p:nvPr/>
        </p:nvSpPr>
        <p:spPr>
          <a:xfrm>
            <a:off x="6711607" y="526308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비트코인</a:t>
            </a:r>
            <a:endParaRPr lang="en-US" sz="1013" dirty="0"/>
          </a:p>
        </p:txBody>
      </p:sp>
      <p:sp>
        <p:nvSpPr>
          <p:cNvPr id="130" name="Shape 124"/>
          <p:cNvSpPr/>
          <p:nvPr/>
        </p:nvSpPr>
        <p:spPr>
          <a:xfrm>
            <a:off x="7803169" y="5500001"/>
            <a:ext cx="1072513" cy="9525"/>
          </a:xfrm>
          <a:prstGeom prst="rect">
            <a:avLst/>
          </a:prstGeom>
          <a:solidFill>
            <a:srgbClr val="EADFD3"/>
          </a:solidFill>
          <a:ln/>
        </p:spPr>
        <p:txBody>
          <a:bodyPr/>
          <a:lstStyle/>
          <a:p>
            <a:endParaRPr lang="ko-KR" altLang="en-US"/>
          </a:p>
        </p:txBody>
      </p:sp>
      <p:sp>
        <p:nvSpPr>
          <p:cNvPr id="131" name="Text 125"/>
          <p:cNvSpPr/>
          <p:nvPr/>
        </p:nvSpPr>
        <p:spPr>
          <a:xfrm>
            <a:off x="7784119" y="526308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83,554.25</a:t>
            </a:r>
            <a:endParaRPr lang="en-US" sz="1013" dirty="0"/>
          </a:p>
        </p:txBody>
      </p:sp>
      <p:sp>
        <p:nvSpPr>
          <p:cNvPr id="132" name="Shape 126"/>
          <p:cNvSpPr/>
          <p:nvPr/>
        </p:nvSpPr>
        <p:spPr>
          <a:xfrm>
            <a:off x="8875682" y="5500001"/>
            <a:ext cx="1072757" cy="9525"/>
          </a:xfrm>
          <a:prstGeom prst="rect">
            <a:avLst/>
          </a:prstGeom>
          <a:solidFill>
            <a:srgbClr val="EADFD3"/>
          </a:solidFill>
          <a:ln/>
        </p:spPr>
        <p:txBody>
          <a:bodyPr/>
          <a:lstStyle/>
          <a:p>
            <a:endParaRPr lang="ko-KR" altLang="en-US"/>
          </a:p>
        </p:txBody>
      </p:sp>
      <p:sp>
        <p:nvSpPr>
          <p:cNvPr id="133" name="Text 127"/>
          <p:cNvSpPr/>
          <p:nvPr/>
        </p:nvSpPr>
        <p:spPr>
          <a:xfrm>
            <a:off x="8856632" y="5263084"/>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6.84%</a:t>
            </a:r>
            <a:endParaRPr lang="en-US" sz="1013" dirty="0"/>
          </a:p>
        </p:txBody>
      </p:sp>
      <p:sp>
        <p:nvSpPr>
          <p:cNvPr id="134" name="Shape 128"/>
          <p:cNvSpPr/>
          <p:nvPr/>
        </p:nvSpPr>
        <p:spPr>
          <a:xfrm>
            <a:off x="5658144" y="6155720"/>
            <a:ext cx="1072513" cy="9525"/>
          </a:xfrm>
          <a:prstGeom prst="rect">
            <a:avLst/>
          </a:prstGeom>
          <a:solidFill>
            <a:srgbClr val="EADFD3"/>
          </a:solidFill>
          <a:ln/>
        </p:spPr>
        <p:txBody>
          <a:bodyPr/>
          <a:lstStyle/>
          <a:p>
            <a:endParaRPr lang="ko-KR" altLang="en-US"/>
          </a:p>
        </p:txBody>
      </p:sp>
      <p:sp>
        <p:nvSpPr>
          <p:cNvPr id="135" name="Text 129"/>
          <p:cNvSpPr/>
          <p:nvPr/>
        </p:nvSpPr>
        <p:spPr>
          <a:xfrm>
            <a:off x="5715294" y="5590944"/>
            <a:ext cx="1034413" cy="517152"/>
          </a:xfrm>
          <a:prstGeom prst="rect">
            <a:avLst/>
          </a:prstGeom>
          <a:noFill/>
          <a:ln/>
        </p:spPr>
        <p:txBody>
          <a:bodyPr wrap="square" lIns="25400" tIns="25400" rIns="25400" bIns="25400" rtlCol="0" anchor="ctr">
            <a:normAutofit/>
          </a:bodyPr>
          <a:lstStyle/>
          <a:p>
            <a:pPr marL="0" indent="0" algn="l">
              <a:buNone/>
            </a:pPr>
            <a:r>
              <a:rPr lang="en-US" sz="1013" b="1" dirty="0">
                <a:solidFill>
                  <a:srgbClr val="7B6B60"/>
                </a:solidFill>
                <a:latin typeface="Paperlogy 7 Bold" pitchFamily="2" charset="-127"/>
                <a:ea typeface="Paperlogy 7 Bold" pitchFamily="2" charset="-127"/>
                <a:cs typeface="Arial" pitchFamily="34" charset="-120"/>
              </a:rPr>
              <a:t>원자재</a:t>
            </a:r>
            <a:endParaRPr lang="en-US" sz="1013" dirty="0"/>
          </a:p>
        </p:txBody>
      </p:sp>
      <p:sp>
        <p:nvSpPr>
          <p:cNvPr id="136" name="Shape 130"/>
          <p:cNvSpPr/>
          <p:nvPr/>
        </p:nvSpPr>
        <p:spPr>
          <a:xfrm>
            <a:off x="6730657" y="5827861"/>
            <a:ext cx="1072513" cy="9525"/>
          </a:xfrm>
          <a:prstGeom prst="rect">
            <a:avLst/>
          </a:prstGeom>
          <a:solidFill>
            <a:srgbClr val="EADFD3"/>
          </a:solidFill>
          <a:ln/>
        </p:spPr>
        <p:txBody>
          <a:bodyPr/>
          <a:lstStyle/>
          <a:p>
            <a:endParaRPr lang="ko-KR" altLang="en-US"/>
          </a:p>
        </p:txBody>
      </p:sp>
      <p:sp>
        <p:nvSpPr>
          <p:cNvPr id="137" name="Text 131"/>
          <p:cNvSpPr/>
          <p:nvPr/>
        </p:nvSpPr>
        <p:spPr>
          <a:xfrm>
            <a:off x="6711607" y="55909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원유</a:t>
            </a:r>
            <a:endParaRPr lang="en-US" sz="1013" dirty="0"/>
          </a:p>
        </p:txBody>
      </p:sp>
      <p:sp>
        <p:nvSpPr>
          <p:cNvPr id="138" name="Shape 132"/>
          <p:cNvSpPr/>
          <p:nvPr/>
        </p:nvSpPr>
        <p:spPr>
          <a:xfrm>
            <a:off x="7803169" y="5827861"/>
            <a:ext cx="1072513" cy="9525"/>
          </a:xfrm>
          <a:prstGeom prst="rect">
            <a:avLst/>
          </a:prstGeom>
          <a:solidFill>
            <a:srgbClr val="EADFD3"/>
          </a:solidFill>
          <a:ln/>
        </p:spPr>
        <p:txBody>
          <a:bodyPr/>
          <a:lstStyle/>
          <a:p>
            <a:endParaRPr lang="ko-KR" altLang="en-US"/>
          </a:p>
        </p:txBody>
      </p:sp>
      <p:sp>
        <p:nvSpPr>
          <p:cNvPr id="139" name="Text 133"/>
          <p:cNvSpPr/>
          <p:nvPr/>
        </p:nvSpPr>
        <p:spPr>
          <a:xfrm>
            <a:off x="7784119" y="5590944"/>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90.42</a:t>
            </a:r>
            <a:endParaRPr lang="en-US" sz="1013" dirty="0"/>
          </a:p>
        </p:txBody>
      </p:sp>
      <p:sp>
        <p:nvSpPr>
          <p:cNvPr id="140" name="Shape 134"/>
          <p:cNvSpPr/>
          <p:nvPr/>
        </p:nvSpPr>
        <p:spPr>
          <a:xfrm>
            <a:off x="8875682" y="5827861"/>
            <a:ext cx="1072757" cy="9525"/>
          </a:xfrm>
          <a:prstGeom prst="rect">
            <a:avLst/>
          </a:prstGeom>
          <a:solidFill>
            <a:srgbClr val="EADFD3"/>
          </a:solidFill>
          <a:ln/>
        </p:spPr>
        <p:txBody>
          <a:bodyPr/>
          <a:lstStyle/>
          <a:p>
            <a:endParaRPr lang="ko-KR" altLang="en-US"/>
          </a:p>
        </p:txBody>
      </p:sp>
      <p:sp>
        <p:nvSpPr>
          <p:cNvPr id="141" name="Text 135"/>
          <p:cNvSpPr/>
          <p:nvPr/>
        </p:nvSpPr>
        <p:spPr>
          <a:xfrm>
            <a:off x="8856632" y="5590944"/>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C24E2C"/>
                </a:solidFill>
                <a:latin typeface="Paperlogy 7 Bold" pitchFamily="2" charset="-127"/>
                <a:ea typeface="Paperlogy 7 Bold" pitchFamily="2" charset="-127"/>
                <a:cs typeface="Arial" pitchFamily="34" charset="-120"/>
              </a:rPr>
              <a:t>5.43%</a:t>
            </a:r>
            <a:endParaRPr lang="en-US" sz="1013" dirty="0"/>
          </a:p>
        </p:txBody>
      </p:sp>
      <p:sp>
        <p:nvSpPr>
          <p:cNvPr id="142" name="Shape 136"/>
          <p:cNvSpPr/>
          <p:nvPr/>
        </p:nvSpPr>
        <p:spPr>
          <a:xfrm>
            <a:off x="6730657" y="6155720"/>
            <a:ext cx="1072513" cy="9525"/>
          </a:xfrm>
          <a:prstGeom prst="rect">
            <a:avLst/>
          </a:prstGeom>
          <a:solidFill>
            <a:srgbClr val="EADFD3"/>
          </a:solidFill>
          <a:ln/>
        </p:spPr>
        <p:txBody>
          <a:bodyPr/>
          <a:lstStyle/>
          <a:p>
            <a:endParaRPr lang="ko-KR" altLang="en-US"/>
          </a:p>
        </p:txBody>
      </p:sp>
      <p:sp>
        <p:nvSpPr>
          <p:cNvPr id="143" name="Text 137"/>
          <p:cNvSpPr/>
          <p:nvPr/>
        </p:nvSpPr>
        <p:spPr>
          <a:xfrm>
            <a:off x="6711607" y="5918803"/>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금</a:t>
            </a:r>
            <a:endParaRPr lang="en-US" sz="1013" dirty="0"/>
          </a:p>
        </p:txBody>
      </p:sp>
      <p:sp>
        <p:nvSpPr>
          <p:cNvPr id="144" name="Shape 138"/>
          <p:cNvSpPr/>
          <p:nvPr/>
        </p:nvSpPr>
        <p:spPr>
          <a:xfrm>
            <a:off x="7803169" y="6155720"/>
            <a:ext cx="1072513" cy="9525"/>
          </a:xfrm>
          <a:prstGeom prst="rect">
            <a:avLst/>
          </a:prstGeom>
          <a:solidFill>
            <a:srgbClr val="EADFD3"/>
          </a:solidFill>
          <a:ln/>
        </p:spPr>
        <p:txBody>
          <a:bodyPr/>
          <a:lstStyle/>
          <a:p>
            <a:endParaRPr lang="ko-KR" altLang="en-US"/>
          </a:p>
        </p:txBody>
      </p:sp>
      <p:sp>
        <p:nvSpPr>
          <p:cNvPr id="145" name="Text 139"/>
          <p:cNvSpPr/>
          <p:nvPr/>
        </p:nvSpPr>
        <p:spPr>
          <a:xfrm>
            <a:off x="7784119" y="5918803"/>
            <a:ext cx="1034413"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3A2C24"/>
                </a:solidFill>
                <a:latin typeface="Paperlogy 7 Bold" pitchFamily="2" charset="-127"/>
                <a:ea typeface="Paperlogy 7 Bold" pitchFamily="2" charset="-127"/>
                <a:cs typeface="Arial" pitchFamily="34" charset="-120"/>
              </a:rPr>
              <a:t>4,186.70</a:t>
            </a:r>
            <a:endParaRPr lang="en-US" sz="1013" dirty="0"/>
          </a:p>
        </p:txBody>
      </p:sp>
      <p:sp>
        <p:nvSpPr>
          <p:cNvPr id="146" name="Shape 140"/>
          <p:cNvSpPr/>
          <p:nvPr/>
        </p:nvSpPr>
        <p:spPr>
          <a:xfrm>
            <a:off x="8875682" y="6155720"/>
            <a:ext cx="1072757" cy="9525"/>
          </a:xfrm>
          <a:prstGeom prst="rect">
            <a:avLst/>
          </a:prstGeom>
          <a:solidFill>
            <a:srgbClr val="EADFD3"/>
          </a:solidFill>
          <a:ln/>
        </p:spPr>
        <p:txBody>
          <a:bodyPr/>
          <a:lstStyle/>
          <a:p>
            <a:endParaRPr lang="ko-KR" altLang="en-US"/>
          </a:p>
        </p:txBody>
      </p:sp>
      <p:sp>
        <p:nvSpPr>
          <p:cNvPr id="147" name="Text 141"/>
          <p:cNvSpPr/>
          <p:nvPr/>
        </p:nvSpPr>
        <p:spPr>
          <a:xfrm>
            <a:off x="8856632" y="5918803"/>
            <a:ext cx="1034657" cy="189292"/>
          </a:xfrm>
          <a:prstGeom prst="rect">
            <a:avLst/>
          </a:prstGeom>
          <a:noFill/>
          <a:ln/>
        </p:spPr>
        <p:txBody>
          <a:bodyPr wrap="square" lIns="25400" tIns="25400" rIns="25400" bIns="25400" rtlCol="0" anchor="ctr">
            <a:normAutofit fontScale="92500"/>
          </a:bodyPr>
          <a:lstStyle/>
          <a:p>
            <a:pPr marL="0" indent="0" algn="r">
              <a:buNone/>
            </a:pPr>
            <a:r>
              <a:rPr lang="en-US" sz="1013" b="1" dirty="0">
                <a:solidFill>
                  <a:srgbClr val="4C6E9E"/>
                </a:solidFill>
                <a:latin typeface="Paperlogy 7 Bold" pitchFamily="2" charset="-127"/>
                <a:ea typeface="Paperlogy 7 Bold" pitchFamily="2" charset="-127"/>
                <a:cs typeface="Arial" pitchFamily="34" charset="-120"/>
              </a:rPr>
              <a:t>-6.58%</a:t>
            </a:r>
            <a:endParaRPr lang="en-US" sz="1013" dirty="0"/>
          </a:p>
        </p:txBody>
      </p:sp>
      <p:sp>
        <p:nvSpPr>
          <p:cNvPr id="148" name="Text 142"/>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149" name="Text 143"/>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150" name="Text 144"/>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4014893"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9월 변액보험 펀드 수익률 순위</a:t>
            </a:r>
            <a:endParaRPr lang="en-US" sz="2475" dirty="0"/>
          </a:p>
        </p:txBody>
      </p:sp>
      <p:sp>
        <p:nvSpPr>
          <p:cNvPr id="3" name="Shape 1"/>
          <p:cNvSpPr/>
          <p:nvPr/>
        </p:nvSpPr>
        <p:spPr>
          <a:xfrm>
            <a:off x="533363" y="800085"/>
            <a:ext cx="9629791" cy="9525"/>
          </a:xfrm>
          <a:prstGeom prst="rect">
            <a:avLst/>
          </a:prstGeom>
          <a:solidFill>
            <a:srgbClr val="EADFD3"/>
          </a:solidFill>
          <a:ln/>
        </p:spPr>
        <p:txBody>
          <a:bodyPr/>
          <a:lstStyle/>
          <a:p>
            <a:endParaRPr lang="ko-KR" altLang="en-US"/>
          </a:p>
        </p:txBody>
      </p:sp>
      <p:sp>
        <p:nvSpPr>
          <p:cNvPr id="4" name="Shape 2"/>
          <p:cNvSpPr/>
          <p:nvPr/>
        </p:nvSpPr>
        <p:spPr>
          <a:xfrm>
            <a:off x="533363" y="1262936"/>
            <a:ext cx="9629791" cy="2228580"/>
          </a:xfrm>
          <a:prstGeom prst="roundRect">
            <a:avLst>
              <a:gd name="adj" fmla="val 6838"/>
            </a:avLst>
          </a:prstGeom>
          <a:solidFill>
            <a:srgbClr val="FFFFFF"/>
          </a:solidFill>
          <a:ln w="5217">
            <a:solidFill>
              <a:srgbClr val="EADFD3"/>
            </a:solidFill>
            <a:prstDash val="solid"/>
          </a:ln>
        </p:spPr>
        <p:txBody>
          <a:bodyPr/>
          <a:lstStyle/>
          <a:p>
            <a:endParaRPr lang="ko-KR" altLang="en-US"/>
          </a:p>
        </p:txBody>
      </p:sp>
      <p:sp>
        <p:nvSpPr>
          <p:cNvPr id="5" name="Shape 3"/>
          <p:cNvSpPr/>
          <p:nvPr/>
        </p:nvSpPr>
        <p:spPr>
          <a:xfrm>
            <a:off x="729002" y="1401432"/>
            <a:ext cx="627107" cy="216997"/>
          </a:xfrm>
          <a:prstGeom prst="roundRect">
            <a:avLst>
              <a:gd name="adj" fmla="val 26337"/>
            </a:avLst>
          </a:prstGeom>
          <a:solidFill>
            <a:srgbClr val="C24E2C"/>
          </a:solidFill>
          <a:ln/>
        </p:spPr>
        <p:txBody>
          <a:bodyPr/>
          <a:lstStyle/>
          <a:p>
            <a:endParaRPr lang="ko-KR" altLang="en-US"/>
          </a:p>
        </p:txBody>
      </p:sp>
      <p:sp>
        <p:nvSpPr>
          <p:cNvPr id="6" name="Text 4"/>
          <p:cNvSpPr/>
          <p:nvPr/>
        </p:nvSpPr>
        <p:spPr>
          <a:xfrm>
            <a:off x="824252" y="1439532"/>
            <a:ext cx="512807" cy="178897"/>
          </a:xfrm>
          <a:prstGeom prst="rect">
            <a:avLst/>
          </a:prstGeom>
          <a:noFill/>
          <a:ln/>
        </p:spPr>
        <p:txBody>
          <a:bodyPr wrap="square" lIns="25400" tIns="25400" rIns="25400" bIns="25400" rtlCol="0" anchor="t">
            <a:normAutofit fontScale="92500" lnSpcReduction="10000"/>
          </a:bodyPr>
          <a:lstStyle/>
          <a:p>
            <a:pPr marL="0" indent="0" algn="l">
              <a:buNone/>
            </a:pPr>
            <a:r>
              <a:rPr lang="en-US" sz="938" b="1" kern="0" spc="38" dirty="0">
                <a:solidFill>
                  <a:srgbClr val="FFFFFF"/>
                </a:solidFill>
                <a:latin typeface="Paperlogy 7 Bold" pitchFamily="2" charset="-127"/>
                <a:ea typeface="Paperlogy 7 Bold" pitchFamily="2" charset="-127"/>
                <a:cs typeface="Arial" pitchFamily="34" charset="-120"/>
              </a:rPr>
              <a:t>BEST 5</a:t>
            </a:r>
            <a:endParaRPr lang="en-US" sz="938" dirty="0"/>
          </a:p>
        </p:txBody>
      </p:sp>
      <p:sp>
        <p:nvSpPr>
          <p:cNvPr id="7" name="Text 5"/>
          <p:cNvSpPr/>
          <p:nvPr/>
        </p:nvSpPr>
        <p:spPr>
          <a:xfrm>
            <a:off x="1451320" y="1423849"/>
            <a:ext cx="969947"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C24E2C"/>
                </a:solidFill>
                <a:latin typeface="Paperlogy 7 Bold" pitchFamily="2" charset="-127"/>
                <a:ea typeface="Paperlogy 7 Bold" pitchFamily="2" charset="-127"/>
                <a:cs typeface="Arial" pitchFamily="34" charset="-120"/>
              </a:rPr>
              <a:t>9월 Best Fund</a:t>
            </a:r>
            <a:endParaRPr lang="en-US" sz="1125" dirty="0"/>
          </a:p>
        </p:txBody>
      </p:sp>
      <p:sp>
        <p:nvSpPr>
          <p:cNvPr id="8" name="Text 6"/>
          <p:cNvSpPr/>
          <p:nvPr/>
        </p:nvSpPr>
        <p:spPr>
          <a:xfrm>
            <a:off x="9153735" y="1444717"/>
            <a:ext cx="88997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2026.9.30 기준</a:t>
            </a:r>
            <a:endParaRPr lang="en-US" sz="900" dirty="0"/>
          </a:p>
        </p:txBody>
      </p:sp>
      <p:sp>
        <p:nvSpPr>
          <p:cNvPr id="9" name="Shape 7"/>
          <p:cNvSpPr/>
          <p:nvPr/>
        </p:nvSpPr>
        <p:spPr>
          <a:xfrm>
            <a:off x="729002" y="1694565"/>
            <a:ext cx="421848" cy="274059"/>
          </a:xfrm>
          <a:custGeom>
            <a:avLst/>
            <a:gdLst/>
            <a:ahLst/>
            <a:cxnLst/>
            <a:rect l="l" t="t" r="r" b="b"/>
            <a:pathLst>
              <a:path w="421848" h="274059">
                <a:moveTo>
                  <a:pt x="76200" y="0"/>
                </a:moveTo>
                <a:lnTo>
                  <a:pt x="421848" y="0"/>
                </a:lnTo>
                <a:lnTo>
                  <a:pt x="421848" y="274059"/>
                </a:lnTo>
                <a:lnTo>
                  <a:pt x="76200" y="274059"/>
                </a:lnTo>
                <a:arcTo wR="76200" hR="76200" stAng="5400000" swAng="5400000"/>
                <a:lnTo>
                  <a:pt x="0" y="76200"/>
                </a:lnTo>
                <a:arcTo wR="76200" hR="76200" stAng="10800000" swAng="5400000"/>
                <a:close/>
              </a:path>
            </a:pathLst>
          </a:custGeom>
          <a:solidFill>
            <a:srgbClr val="FCF8EC"/>
          </a:solidFill>
          <a:ln/>
        </p:spPr>
        <p:txBody>
          <a:bodyPr/>
          <a:lstStyle/>
          <a:p>
            <a:endParaRPr lang="ko-KR" altLang="en-US"/>
          </a:p>
        </p:txBody>
      </p:sp>
      <p:sp>
        <p:nvSpPr>
          <p:cNvPr id="10" name="Text 8"/>
          <p:cNvSpPr/>
          <p:nvPr/>
        </p:nvSpPr>
        <p:spPr>
          <a:xfrm>
            <a:off x="729002" y="1761240"/>
            <a:ext cx="421848"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순위</a:t>
            </a:r>
            <a:endParaRPr lang="en-US" sz="900" dirty="0"/>
          </a:p>
        </p:txBody>
      </p:sp>
      <p:sp>
        <p:nvSpPr>
          <p:cNvPr id="11" name="Shape 9"/>
          <p:cNvSpPr/>
          <p:nvPr/>
        </p:nvSpPr>
        <p:spPr>
          <a:xfrm>
            <a:off x="1150850" y="1694565"/>
            <a:ext cx="1050096" cy="274059"/>
          </a:xfrm>
          <a:prstGeom prst="rect">
            <a:avLst/>
          </a:prstGeom>
          <a:solidFill>
            <a:srgbClr val="FCF8EC"/>
          </a:solidFill>
          <a:ln/>
        </p:spPr>
        <p:txBody>
          <a:bodyPr/>
          <a:lstStyle/>
          <a:p>
            <a:endParaRPr lang="ko-KR" altLang="en-US"/>
          </a:p>
        </p:txBody>
      </p:sp>
      <p:sp>
        <p:nvSpPr>
          <p:cNvPr id="12" name="Text 10"/>
          <p:cNvSpPr/>
          <p:nvPr/>
        </p:nvSpPr>
        <p:spPr>
          <a:xfrm>
            <a:off x="1150850" y="1761240"/>
            <a:ext cx="1050096"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보험사명</a:t>
            </a:r>
            <a:endParaRPr lang="en-US" sz="900" dirty="0"/>
          </a:p>
        </p:txBody>
      </p:sp>
      <p:sp>
        <p:nvSpPr>
          <p:cNvPr id="13" name="Shape 11"/>
          <p:cNvSpPr/>
          <p:nvPr/>
        </p:nvSpPr>
        <p:spPr>
          <a:xfrm>
            <a:off x="2200946" y="1694565"/>
            <a:ext cx="1727743" cy="274059"/>
          </a:xfrm>
          <a:prstGeom prst="rect">
            <a:avLst/>
          </a:prstGeom>
          <a:solidFill>
            <a:srgbClr val="FCF8EC"/>
          </a:solidFill>
          <a:ln/>
        </p:spPr>
        <p:txBody>
          <a:bodyPr/>
          <a:lstStyle/>
          <a:p>
            <a:endParaRPr lang="ko-KR" altLang="en-US"/>
          </a:p>
        </p:txBody>
      </p:sp>
      <p:sp>
        <p:nvSpPr>
          <p:cNvPr id="14" name="Text 12"/>
          <p:cNvSpPr/>
          <p:nvPr/>
        </p:nvSpPr>
        <p:spPr>
          <a:xfrm>
            <a:off x="2200946" y="1761240"/>
            <a:ext cx="1727743"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펀드명</a:t>
            </a:r>
            <a:endParaRPr lang="en-US" sz="900" dirty="0"/>
          </a:p>
        </p:txBody>
      </p:sp>
      <p:sp>
        <p:nvSpPr>
          <p:cNvPr id="15" name="Shape 13"/>
          <p:cNvSpPr/>
          <p:nvPr/>
        </p:nvSpPr>
        <p:spPr>
          <a:xfrm>
            <a:off x="3928689" y="1694565"/>
            <a:ext cx="1058574" cy="274059"/>
          </a:xfrm>
          <a:prstGeom prst="rect">
            <a:avLst/>
          </a:prstGeom>
          <a:solidFill>
            <a:srgbClr val="FCF8EC"/>
          </a:solidFill>
          <a:ln/>
        </p:spPr>
        <p:txBody>
          <a:bodyPr/>
          <a:lstStyle/>
          <a:p>
            <a:endParaRPr lang="ko-KR" altLang="en-US"/>
          </a:p>
        </p:txBody>
      </p:sp>
      <p:sp>
        <p:nvSpPr>
          <p:cNvPr id="16" name="Text 14"/>
          <p:cNvSpPr/>
          <p:nvPr/>
        </p:nvSpPr>
        <p:spPr>
          <a:xfrm>
            <a:off x="3928689" y="1761240"/>
            <a:ext cx="1058574"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설정일</a:t>
            </a:r>
            <a:endParaRPr lang="en-US" sz="900" dirty="0"/>
          </a:p>
        </p:txBody>
      </p:sp>
      <p:sp>
        <p:nvSpPr>
          <p:cNvPr id="17" name="Shape 15"/>
          <p:cNvSpPr/>
          <p:nvPr/>
        </p:nvSpPr>
        <p:spPr>
          <a:xfrm>
            <a:off x="4987262" y="1694565"/>
            <a:ext cx="874183" cy="274059"/>
          </a:xfrm>
          <a:prstGeom prst="rect">
            <a:avLst/>
          </a:prstGeom>
          <a:solidFill>
            <a:srgbClr val="FCF8EC"/>
          </a:solidFill>
          <a:ln/>
        </p:spPr>
        <p:txBody>
          <a:bodyPr/>
          <a:lstStyle/>
          <a:p>
            <a:endParaRPr lang="ko-KR" altLang="en-US"/>
          </a:p>
        </p:txBody>
      </p:sp>
      <p:sp>
        <p:nvSpPr>
          <p:cNvPr id="18" name="Text 16"/>
          <p:cNvSpPr/>
          <p:nvPr/>
        </p:nvSpPr>
        <p:spPr>
          <a:xfrm>
            <a:off x="4987262" y="1761240"/>
            <a:ext cx="874183"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9월 기준가</a:t>
            </a:r>
            <a:endParaRPr lang="en-US" sz="900" dirty="0"/>
          </a:p>
        </p:txBody>
      </p:sp>
      <p:sp>
        <p:nvSpPr>
          <p:cNvPr id="19" name="Shape 17"/>
          <p:cNvSpPr/>
          <p:nvPr/>
        </p:nvSpPr>
        <p:spPr>
          <a:xfrm>
            <a:off x="5861446" y="1694565"/>
            <a:ext cx="856250" cy="274059"/>
          </a:xfrm>
          <a:prstGeom prst="rect">
            <a:avLst/>
          </a:prstGeom>
          <a:solidFill>
            <a:srgbClr val="FCF8EC"/>
          </a:solidFill>
          <a:ln/>
        </p:spPr>
        <p:txBody>
          <a:bodyPr/>
          <a:lstStyle/>
          <a:p>
            <a:endParaRPr lang="ko-KR" altLang="en-US"/>
          </a:p>
        </p:txBody>
      </p:sp>
      <p:sp>
        <p:nvSpPr>
          <p:cNvPr id="20" name="Text 18"/>
          <p:cNvSpPr/>
          <p:nvPr/>
        </p:nvSpPr>
        <p:spPr>
          <a:xfrm>
            <a:off x="5861446" y="1761240"/>
            <a:ext cx="856250"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월수익률</a:t>
            </a:r>
            <a:endParaRPr lang="en-US" sz="900" dirty="0"/>
          </a:p>
        </p:txBody>
      </p:sp>
      <p:sp>
        <p:nvSpPr>
          <p:cNvPr id="21" name="Shape 19"/>
          <p:cNvSpPr/>
          <p:nvPr/>
        </p:nvSpPr>
        <p:spPr>
          <a:xfrm>
            <a:off x="6717695" y="1694565"/>
            <a:ext cx="847772" cy="274059"/>
          </a:xfrm>
          <a:prstGeom prst="rect">
            <a:avLst/>
          </a:prstGeom>
          <a:solidFill>
            <a:srgbClr val="FCF8EC"/>
          </a:solidFill>
          <a:ln/>
        </p:spPr>
        <p:txBody>
          <a:bodyPr/>
          <a:lstStyle/>
          <a:p>
            <a:endParaRPr lang="ko-KR" altLang="en-US"/>
          </a:p>
        </p:txBody>
      </p:sp>
      <p:sp>
        <p:nvSpPr>
          <p:cNvPr id="22" name="Text 20"/>
          <p:cNvSpPr/>
          <p:nvPr/>
        </p:nvSpPr>
        <p:spPr>
          <a:xfrm>
            <a:off x="6717695" y="1761240"/>
            <a:ext cx="847772"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3개월</a:t>
            </a:r>
            <a:endParaRPr lang="en-US" sz="900" dirty="0"/>
          </a:p>
        </p:txBody>
      </p:sp>
      <p:sp>
        <p:nvSpPr>
          <p:cNvPr id="23" name="Shape 21"/>
          <p:cNvSpPr/>
          <p:nvPr/>
        </p:nvSpPr>
        <p:spPr>
          <a:xfrm>
            <a:off x="7565467" y="1694565"/>
            <a:ext cx="768375" cy="274059"/>
          </a:xfrm>
          <a:prstGeom prst="rect">
            <a:avLst/>
          </a:prstGeom>
          <a:solidFill>
            <a:srgbClr val="FCF8EC"/>
          </a:solidFill>
          <a:ln/>
        </p:spPr>
        <p:txBody>
          <a:bodyPr/>
          <a:lstStyle/>
          <a:p>
            <a:endParaRPr lang="ko-KR" altLang="en-US"/>
          </a:p>
        </p:txBody>
      </p:sp>
      <p:sp>
        <p:nvSpPr>
          <p:cNvPr id="24" name="Text 22"/>
          <p:cNvSpPr/>
          <p:nvPr/>
        </p:nvSpPr>
        <p:spPr>
          <a:xfrm>
            <a:off x="7565467" y="1761240"/>
            <a:ext cx="768375"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1년</a:t>
            </a:r>
            <a:endParaRPr lang="en-US" sz="900" dirty="0"/>
          </a:p>
        </p:txBody>
      </p:sp>
      <p:sp>
        <p:nvSpPr>
          <p:cNvPr id="25" name="Shape 23"/>
          <p:cNvSpPr/>
          <p:nvPr/>
        </p:nvSpPr>
        <p:spPr>
          <a:xfrm>
            <a:off x="8333842" y="1694565"/>
            <a:ext cx="768375" cy="274059"/>
          </a:xfrm>
          <a:prstGeom prst="rect">
            <a:avLst/>
          </a:prstGeom>
          <a:solidFill>
            <a:srgbClr val="FCF8EC"/>
          </a:solidFill>
          <a:ln/>
        </p:spPr>
        <p:txBody>
          <a:bodyPr/>
          <a:lstStyle/>
          <a:p>
            <a:endParaRPr lang="ko-KR" altLang="en-US"/>
          </a:p>
        </p:txBody>
      </p:sp>
      <p:sp>
        <p:nvSpPr>
          <p:cNvPr id="26" name="Text 24"/>
          <p:cNvSpPr/>
          <p:nvPr/>
        </p:nvSpPr>
        <p:spPr>
          <a:xfrm>
            <a:off x="8333842" y="1761240"/>
            <a:ext cx="768375"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3년</a:t>
            </a:r>
            <a:endParaRPr lang="en-US" sz="900" dirty="0"/>
          </a:p>
        </p:txBody>
      </p:sp>
      <p:sp>
        <p:nvSpPr>
          <p:cNvPr id="27" name="Shape 25"/>
          <p:cNvSpPr/>
          <p:nvPr/>
        </p:nvSpPr>
        <p:spPr>
          <a:xfrm>
            <a:off x="9102217" y="1694565"/>
            <a:ext cx="865298" cy="274059"/>
          </a:xfrm>
          <a:custGeom>
            <a:avLst/>
            <a:gdLst/>
            <a:ahLst/>
            <a:cxnLst/>
            <a:rect l="l" t="t" r="r" b="b"/>
            <a:pathLst>
              <a:path w="865298" h="274059">
                <a:moveTo>
                  <a:pt x="0" y="0"/>
                </a:moveTo>
                <a:lnTo>
                  <a:pt x="789098" y="0"/>
                </a:lnTo>
                <a:arcTo wR="76200" hR="76200" stAng="16200000" swAng="5400000"/>
                <a:lnTo>
                  <a:pt x="865298" y="197859"/>
                </a:lnTo>
                <a:arcTo wR="76200" hR="76200" stAng="0" swAng="5400000"/>
                <a:lnTo>
                  <a:pt x="0" y="274059"/>
                </a:lnTo>
                <a:lnTo>
                  <a:pt x="0" y="0"/>
                </a:lnTo>
                <a:close/>
              </a:path>
            </a:pathLst>
          </a:custGeom>
          <a:solidFill>
            <a:srgbClr val="FCF8EC"/>
          </a:solidFill>
          <a:ln/>
        </p:spPr>
        <p:txBody>
          <a:bodyPr/>
          <a:lstStyle/>
          <a:p>
            <a:endParaRPr lang="ko-KR" altLang="en-US"/>
          </a:p>
        </p:txBody>
      </p:sp>
      <p:sp>
        <p:nvSpPr>
          <p:cNvPr id="28" name="Text 26"/>
          <p:cNvSpPr/>
          <p:nvPr/>
        </p:nvSpPr>
        <p:spPr>
          <a:xfrm>
            <a:off x="9102217" y="1761240"/>
            <a:ext cx="865298"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대유형</a:t>
            </a:r>
            <a:endParaRPr lang="en-US" sz="900" dirty="0"/>
          </a:p>
        </p:txBody>
      </p:sp>
      <p:sp>
        <p:nvSpPr>
          <p:cNvPr id="29" name="Shape 27"/>
          <p:cNvSpPr/>
          <p:nvPr/>
        </p:nvSpPr>
        <p:spPr>
          <a:xfrm>
            <a:off x="729002" y="2247900"/>
            <a:ext cx="421848" cy="9525"/>
          </a:xfrm>
          <a:prstGeom prst="rect">
            <a:avLst/>
          </a:prstGeom>
          <a:solidFill>
            <a:srgbClr val="EADFD3"/>
          </a:solidFill>
          <a:ln/>
        </p:spPr>
        <p:txBody>
          <a:bodyPr/>
          <a:lstStyle/>
          <a:p>
            <a:endParaRPr lang="ko-KR" altLang="en-US"/>
          </a:p>
        </p:txBody>
      </p:sp>
      <p:sp>
        <p:nvSpPr>
          <p:cNvPr id="30" name="Text 28"/>
          <p:cNvSpPr/>
          <p:nvPr/>
        </p:nvSpPr>
        <p:spPr>
          <a:xfrm>
            <a:off x="729002" y="2035299"/>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1</a:t>
            </a:r>
            <a:endParaRPr lang="en-US" sz="938" dirty="0"/>
          </a:p>
        </p:txBody>
      </p:sp>
      <p:sp>
        <p:nvSpPr>
          <p:cNvPr id="31" name="Shape 29"/>
          <p:cNvSpPr/>
          <p:nvPr/>
        </p:nvSpPr>
        <p:spPr>
          <a:xfrm>
            <a:off x="1150850" y="2247900"/>
            <a:ext cx="1050096" cy="9525"/>
          </a:xfrm>
          <a:prstGeom prst="rect">
            <a:avLst/>
          </a:prstGeom>
          <a:solidFill>
            <a:srgbClr val="EADFD3"/>
          </a:solidFill>
          <a:ln/>
        </p:spPr>
        <p:txBody>
          <a:bodyPr/>
          <a:lstStyle/>
          <a:p>
            <a:endParaRPr lang="ko-KR" altLang="en-US"/>
          </a:p>
        </p:txBody>
      </p:sp>
      <p:sp>
        <p:nvSpPr>
          <p:cNvPr id="32" name="Text 30"/>
          <p:cNvSpPr/>
          <p:nvPr/>
        </p:nvSpPr>
        <p:spPr>
          <a:xfrm>
            <a:off x="1150850" y="2035299"/>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미래에셋생명</a:t>
            </a:r>
            <a:endParaRPr lang="en-US" sz="938" dirty="0"/>
          </a:p>
        </p:txBody>
      </p:sp>
      <p:sp>
        <p:nvSpPr>
          <p:cNvPr id="33" name="Shape 31"/>
          <p:cNvSpPr/>
          <p:nvPr/>
        </p:nvSpPr>
        <p:spPr>
          <a:xfrm>
            <a:off x="2200946" y="2247900"/>
            <a:ext cx="1727743" cy="9525"/>
          </a:xfrm>
          <a:prstGeom prst="rect">
            <a:avLst/>
          </a:prstGeom>
          <a:solidFill>
            <a:srgbClr val="EADFD3"/>
          </a:solidFill>
          <a:ln/>
        </p:spPr>
        <p:txBody>
          <a:bodyPr/>
          <a:lstStyle/>
          <a:p>
            <a:endParaRPr lang="ko-KR" altLang="en-US"/>
          </a:p>
        </p:txBody>
      </p:sp>
      <p:sp>
        <p:nvSpPr>
          <p:cNvPr id="34" name="Text 32"/>
          <p:cNvSpPr/>
          <p:nvPr/>
        </p:nvSpPr>
        <p:spPr>
          <a:xfrm>
            <a:off x="2200946" y="2035299"/>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ETF 국내신성장주식</a:t>
            </a:r>
            <a:endParaRPr lang="en-US" sz="938" dirty="0"/>
          </a:p>
        </p:txBody>
      </p:sp>
      <p:sp>
        <p:nvSpPr>
          <p:cNvPr id="35" name="Shape 33"/>
          <p:cNvSpPr/>
          <p:nvPr/>
        </p:nvSpPr>
        <p:spPr>
          <a:xfrm>
            <a:off x="3928689" y="2247900"/>
            <a:ext cx="1058574" cy="9525"/>
          </a:xfrm>
          <a:prstGeom prst="rect">
            <a:avLst/>
          </a:prstGeom>
          <a:solidFill>
            <a:srgbClr val="EADFD3"/>
          </a:solidFill>
          <a:ln/>
        </p:spPr>
        <p:txBody>
          <a:bodyPr/>
          <a:lstStyle/>
          <a:p>
            <a:endParaRPr lang="ko-KR" altLang="en-US"/>
          </a:p>
        </p:txBody>
      </p:sp>
      <p:sp>
        <p:nvSpPr>
          <p:cNvPr id="36" name="Text 34"/>
          <p:cNvSpPr/>
          <p:nvPr/>
        </p:nvSpPr>
        <p:spPr>
          <a:xfrm>
            <a:off x="3928689" y="2035299"/>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2012-02-14</a:t>
            </a:r>
            <a:endParaRPr lang="en-US" sz="938" dirty="0"/>
          </a:p>
        </p:txBody>
      </p:sp>
      <p:sp>
        <p:nvSpPr>
          <p:cNvPr id="37" name="Shape 35"/>
          <p:cNvSpPr/>
          <p:nvPr/>
        </p:nvSpPr>
        <p:spPr>
          <a:xfrm>
            <a:off x="4987262" y="2247900"/>
            <a:ext cx="874183" cy="9525"/>
          </a:xfrm>
          <a:prstGeom prst="rect">
            <a:avLst/>
          </a:prstGeom>
          <a:solidFill>
            <a:srgbClr val="EADFD3"/>
          </a:solidFill>
          <a:ln/>
        </p:spPr>
        <p:txBody>
          <a:bodyPr/>
          <a:lstStyle/>
          <a:p>
            <a:endParaRPr lang="ko-KR" altLang="en-US"/>
          </a:p>
        </p:txBody>
      </p:sp>
      <p:sp>
        <p:nvSpPr>
          <p:cNvPr id="38" name="Text 36"/>
          <p:cNvSpPr/>
          <p:nvPr/>
        </p:nvSpPr>
        <p:spPr>
          <a:xfrm>
            <a:off x="4987262" y="2035299"/>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2,156.79</a:t>
            </a:r>
            <a:endParaRPr lang="en-US" sz="938" dirty="0"/>
          </a:p>
        </p:txBody>
      </p:sp>
      <p:sp>
        <p:nvSpPr>
          <p:cNvPr id="39" name="Shape 37"/>
          <p:cNvSpPr/>
          <p:nvPr/>
        </p:nvSpPr>
        <p:spPr>
          <a:xfrm>
            <a:off x="5861446" y="2247900"/>
            <a:ext cx="856250" cy="9525"/>
          </a:xfrm>
          <a:prstGeom prst="rect">
            <a:avLst/>
          </a:prstGeom>
          <a:solidFill>
            <a:srgbClr val="EADFD3"/>
          </a:solidFill>
          <a:ln/>
        </p:spPr>
        <p:txBody>
          <a:bodyPr/>
          <a:lstStyle/>
          <a:p>
            <a:endParaRPr lang="ko-KR" altLang="en-US"/>
          </a:p>
        </p:txBody>
      </p:sp>
      <p:sp>
        <p:nvSpPr>
          <p:cNvPr id="40" name="Text 38"/>
          <p:cNvSpPr/>
          <p:nvPr/>
        </p:nvSpPr>
        <p:spPr>
          <a:xfrm>
            <a:off x="5861446" y="2035299"/>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6.87%</a:t>
            </a:r>
            <a:endParaRPr lang="en-US" sz="938" dirty="0"/>
          </a:p>
        </p:txBody>
      </p:sp>
      <p:sp>
        <p:nvSpPr>
          <p:cNvPr id="41" name="Shape 39"/>
          <p:cNvSpPr/>
          <p:nvPr/>
        </p:nvSpPr>
        <p:spPr>
          <a:xfrm>
            <a:off x="6717695" y="2247900"/>
            <a:ext cx="847772" cy="9525"/>
          </a:xfrm>
          <a:prstGeom prst="rect">
            <a:avLst/>
          </a:prstGeom>
          <a:solidFill>
            <a:srgbClr val="EADFD3"/>
          </a:solidFill>
          <a:ln/>
        </p:spPr>
        <p:txBody>
          <a:bodyPr/>
          <a:lstStyle/>
          <a:p>
            <a:endParaRPr lang="ko-KR" altLang="en-US"/>
          </a:p>
        </p:txBody>
      </p:sp>
      <p:sp>
        <p:nvSpPr>
          <p:cNvPr id="42" name="Text 40"/>
          <p:cNvSpPr/>
          <p:nvPr/>
        </p:nvSpPr>
        <p:spPr>
          <a:xfrm>
            <a:off x="6717695" y="2035299"/>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-21.04%</a:t>
            </a:r>
            <a:endParaRPr lang="en-US" sz="938" dirty="0"/>
          </a:p>
        </p:txBody>
      </p:sp>
      <p:sp>
        <p:nvSpPr>
          <p:cNvPr id="43" name="Shape 41"/>
          <p:cNvSpPr/>
          <p:nvPr/>
        </p:nvSpPr>
        <p:spPr>
          <a:xfrm>
            <a:off x="7565467" y="2247900"/>
            <a:ext cx="768375" cy="9525"/>
          </a:xfrm>
          <a:prstGeom prst="rect">
            <a:avLst/>
          </a:prstGeom>
          <a:solidFill>
            <a:srgbClr val="EADFD3"/>
          </a:solidFill>
          <a:ln/>
        </p:spPr>
        <p:txBody>
          <a:bodyPr/>
          <a:lstStyle/>
          <a:p>
            <a:endParaRPr lang="ko-KR" altLang="en-US"/>
          </a:p>
        </p:txBody>
      </p:sp>
      <p:sp>
        <p:nvSpPr>
          <p:cNvPr id="44" name="Text 42"/>
          <p:cNvSpPr/>
          <p:nvPr/>
        </p:nvSpPr>
        <p:spPr>
          <a:xfrm>
            <a:off x="7565467" y="2035299"/>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75.29</a:t>
            </a:r>
            <a:endParaRPr lang="en-US" sz="938" dirty="0"/>
          </a:p>
        </p:txBody>
      </p:sp>
      <p:sp>
        <p:nvSpPr>
          <p:cNvPr id="45" name="Shape 43"/>
          <p:cNvSpPr/>
          <p:nvPr/>
        </p:nvSpPr>
        <p:spPr>
          <a:xfrm>
            <a:off x="8333842" y="2247900"/>
            <a:ext cx="768375" cy="9525"/>
          </a:xfrm>
          <a:prstGeom prst="rect">
            <a:avLst/>
          </a:prstGeom>
          <a:solidFill>
            <a:srgbClr val="EADFD3"/>
          </a:solidFill>
          <a:ln/>
        </p:spPr>
        <p:txBody>
          <a:bodyPr/>
          <a:lstStyle/>
          <a:p>
            <a:endParaRPr lang="ko-KR" altLang="en-US"/>
          </a:p>
        </p:txBody>
      </p:sp>
      <p:sp>
        <p:nvSpPr>
          <p:cNvPr id="46" name="Text 44"/>
          <p:cNvSpPr/>
          <p:nvPr/>
        </p:nvSpPr>
        <p:spPr>
          <a:xfrm>
            <a:off x="8333842" y="2035299"/>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94.76</a:t>
            </a:r>
            <a:endParaRPr lang="en-US" sz="938" dirty="0"/>
          </a:p>
        </p:txBody>
      </p:sp>
      <p:sp>
        <p:nvSpPr>
          <p:cNvPr id="47" name="Shape 45"/>
          <p:cNvSpPr/>
          <p:nvPr/>
        </p:nvSpPr>
        <p:spPr>
          <a:xfrm>
            <a:off x="9102217" y="2247900"/>
            <a:ext cx="865298" cy="9525"/>
          </a:xfrm>
          <a:prstGeom prst="rect">
            <a:avLst/>
          </a:prstGeom>
          <a:solidFill>
            <a:srgbClr val="EADFD3"/>
          </a:solidFill>
          <a:ln/>
        </p:spPr>
        <p:txBody>
          <a:bodyPr/>
          <a:lstStyle/>
          <a:p>
            <a:endParaRPr lang="ko-KR" altLang="en-US"/>
          </a:p>
        </p:txBody>
      </p:sp>
      <p:sp>
        <p:nvSpPr>
          <p:cNvPr id="48" name="Text 46"/>
          <p:cNvSpPr/>
          <p:nvPr/>
        </p:nvSpPr>
        <p:spPr>
          <a:xfrm>
            <a:off x="9102217" y="2035299"/>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국내투자</a:t>
            </a:r>
            <a:endParaRPr lang="en-US" sz="938" dirty="0"/>
          </a:p>
        </p:txBody>
      </p:sp>
      <p:sp>
        <p:nvSpPr>
          <p:cNvPr id="49" name="Shape 47"/>
          <p:cNvSpPr/>
          <p:nvPr/>
        </p:nvSpPr>
        <p:spPr>
          <a:xfrm>
            <a:off x="729002" y="2532392"/>
            <a:ext cx="421848" cy="9525"/>
          </a:xfrm>
          <a:prstGeom prst="rect">
            <a:avLst/>
          </a:prstGeom>
          <a:solidFill>
            <a:srgbClr val="EADFD3"/>
          </a:solidFill>
          <a:ln/>
        </p:spPr>
        <p:txBody>
          <a:bodyPr/>
          <a:lstStyle/>
          <a:p>
            <a:endParaRPr lang="ko-KR" altLang="en-US"/>
          </a:p>
        </p:txBody>
      </p:sp>
      <p:sp>
        <p:nvSpPr>
          <p:cNvPr id="50" name="Text 48"/>
          <p:cNvSpPr/>
          <p:nvPr/>
        </p:nvSpPr>
        <p:spPr>
          <a:xfrm>
            <a:off x="729002" y="2319792"/>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2</a:t>
            </a:r>
            <a:endParaRPr lang="en-US" sz="938" dirty="0"/>
          </a:p>
        </p:txBody>
      </p:sp>
      <p:sp>
        <p:nvSpPr>
          <p:cNvPr id="51" name="Shape 49"/>
          <p:cNvSpPr/>
          <p:nvPr/>
        </p:nvSpPr>
        <p:spPr>
          <a:xfrm>
            <a:off x="1150850" y="2532392"/>
            <a:ext cx="1050096" cy="9525"/>
          </a:xfrm>
          <a:prstGeom prst="rect">
            <a:avLst/>
          </a:prstGeom>
          <a:solidFill>
            <a:srgbClr val="EADFD3"/>
          </a:solidFill>
          <a:ln/>
        </p:spPr>
        <p:txBody>
          <a:bodyPr/>
          <a:lstStyle/>
          <a:p>
            <a:endParaRPr lang="ko-KR" altLang="en-US"/>
          </a:p>
        </p:txBody>
      </p:sp>
      <p:sp>
        <p:nvSpPr>
          <p:cNvPr id="52" name="Text 50"/>
          <p:cNvSpPr/>
          <p:nvPr/>
        </p:nvSpPr>
        <p:spPr>
          <a:xfrm>
            <a:off x="1150850" y="2319792"/>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53" name="Shape 51"/>
          <p:cNvSpPr/>
          <p:nvPr/>
        </p:nvSpPr>
        <p:spPr>
          <a:xfrm>
            <a:off x="2200946" y="2532392"/>
            <a:ext cx="1727743" cy="9525"/>
          </a:xfrm>
          <a:prstGeom prst="rect">
            <a:avLst/>
          </a:prstGeom>
          <a:solidFill>
            <a:srgbClr val="EADFD3"/>
          </a:solidFill>
          <a:ln/>
        </p:spPr>
        <p:txBody>
          <a:bodyPr/>
          <a:lstStyle/>
          <a:p>
            <a:endParaRPr lang="ko-KR" altLang="en-US"/>
          </a:p>
        </p:txBody>
      </p:sp>
      <p:sp>
        <p:nvSpPr>
          <p:cNvPr id="54" name="Text 52"/>
          <p:cNvSpPr/>
          <p:nvPr/>
        </p:nvSpPr>
        <p:spPr>
          <a:xfrm>
            <a:off x="2200946" y="2319792"/>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가치주식형</a:t>
            </a:r>
            <a:endParaRPr lang="en-US" sz="938" dirty="0"/>
          </a:p>
        </p:txBody>
      </p:sp>
      <p:sp>
        <p:nvSpPr>
          <p:cNvPr id="55" name="Shape 53"/>
          <p:cNvSpPr/>
          <p:nvPr/>
        </p:nvSpPr>
        <p:spPr>
          <a:xfrm>
            <a:off x="3928689" y="2532392"/>
            <a:ext cx="1058574" cy="9525"/>
          </a:xfrm>
          <a:prstGeom prst="rect">
            <a:avLst/>
          </a:prstGeom>
          <a:solidFill>
            <a:srgbClr val="EADFD3"/>
          </a:solidFill>
          <a:ln/>
        </p:spPr>
        <p:txBody>
          <a:bodyPr/>
          <a:lstStyle/>
          <a:p>
            <a:endParaRPr lang="ko-KR" altLang="en-US"/>
          </a:p>
        </p:txBody>
      </p:sp>
      <p:sp>
        <p:nvSpPr>
          <p:cNvPr id="56" name="Text 54"/>
          <p:cNvSpPr/>
          <p:nvPr/>
        </p:nvSpPr>
        <p:spPr>
          <a:xfrm>
            <a:off x="3928689" y="2319792"/>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2005-10-04</a:t>
            </a:r>
            <a:endParaRPr lang="en-US" sz="938" dirty="0"/>
          </a:p>
        </p:txBody>
      </p:sp>
      <p:sp>
        <p:nvSpPr>
          <p:cNvPr id="57" name="Shape 55"/>
          <p:cNvSpPr/>
          <p:nvPr/>
        </p:nvSpPr>
        <p:spPr>
          <a:xfrm>
            <a:off x="4987262" y="2532392"/>
            <a:ext cx="874183" cy="9525"/>
          </a:xfrm>
          <a:prstGeom prst="rect">
            <a:avLst/>
          </a:prstGeom>
          <a:solidFill>
            <a:srgbClr val="EADFD3"/>
          </a:solidFill>
          <a:ln/>
        </p:spPr>
        <p:txBody>
          <a:bodyPr/>
          <a:lstStyle/>
          <a:p>
            <a:endParaRPr lang="ko-KR" altLang="en-US"/>
          </a:p>
        </p:txBody>
      </p:sp>
      <p:sp>
        <p:nvSpPr>
          <p:cNvPr id="58" name="Text 56"/>
          <p:cNvSpPr/>
          <p:nvPr/>
        </p:nvSpPr>
        <p:spPr>
          <a:xfrm>
            <a:off x="4987262" y="2319792"/>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5,242.62</a:t>
            </a:r>
            <a:endParaRPr lang="en-US" sz="938" dirty="0"/>
          </a:p>
        </p:txBody>
      </p:sp>
      <p:sp>
        <p:nvSpPr>
          <p:cNvPr id="59" name="Shape 57"/>
          <p:cNvSpPr/>
          <p:nvPr/>
        </p:nvSpPr>
        <p:spPr>
          <a:xfrm>
            <a:off x="5861446" y="2532392"/>
            <a:ext cx="856250" cy="9525"/>
          </a:xfrm>
          <a:prstGeom prst="rect">
            <a:avLst/>
          </a:prstGeom>
          <a:solidFill>
            <a:srgbClr val="EADFD3"/>
          </a:solidFill>
          <a:ln/>
        </p:spPr>
        <p:txBody>
          <a:bodyPr/>
          <a:lstStyle/>
          <a:p>
            <a:endParaRPr lang="ko-KR" altLang="en-US"/>
          </a:p>
        </p:txBody>
      </p:sp>
      <p:sp>
        <p:nvSpPr>
          <p:cNvPr id="60" name="Text 58"/>
          <p:cNvSpPr/>
          <p:nvPr/>
        </p:nvSpPr>
        <p:spPr>
          <a:xfrm>
            <a:off x="5861446" y="2319792"/>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2.90%</a:t>
            </a:r>
            <a:endParaRPr lang="en-US" sz="938" dirty="0"/>
          </a:p>
        </p:txBody>
      </p:sp>
      <p:sp>
        <p:nvSpPr>
          <p:cNvPr id="61" name="Shape 59"/>
          <p:cNvSpPr/>
          <p:nvPr/>
        </p:nvSpPr>
        <p:spPr>
          <a:xfrm>
            <a:off x="6717695" y="2532392"/>
            <a:ext cx="847772" cy="9525"/>
          </a:xfrm>
          <a:prstGeom prst="rect">
            <a:avLst/>
          </a:prstGeom>
          <a:solidFill>
            <a:srgbClr val="EADFD3"/>
          </a:solidFill>
          <a:ln/>
        </p:spPr>
        <p:txBody>
          <a:bodyPr/>
          <a:lstStyle/>
          <a:p>
            <a:endParaRPr lang="ko-KR" altLang="en-US"/>
          </a:p>
        </p:txBody>
      </p:sp>
      <p:sp>
        <p:nvSpPr>
          <p:cNvPr id="62" name="Text 60"/>
          <p:cNvSpPr/>
          <p:nvPr/>
        </p:nvSpPr>
        <p:spPr>
          <a:xfrm>
            <a:off x="6717695" y="2319792"/>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-17.96%</a:t>
            </a:r>
            <a:endParaRPr lang="en-US" sz="938" dirty="0"/>
          </a:p>
        </p:txBody>
      </p:sp>
      <p:sp>
        <p:nvSpPr>
          <p:cNvPr id="63" name="Shape 61"/>
          <p:cNvSpPr/>
          <p:nvPr/>
        </p:nvSpPr>
        <p:spPr>
          <a:xfrm>
            <a:off x="7565467" y="2532392"/>
            <a:ext cx="768375" cy="9525"/>
          </a:xfrm>
          <a:prstGeom prst="rect">
            <a:avLst/>
          </a:prstGeom>
          <a:solidFill>
            <a:srgbClr val="EADFD3"/>
          </a:solidFill>
          <a:ln/>
        </p:spPr>
        <p:txBody>
          <a:bodyPr/>
          <a:lstStyle/>
          <a:p>
            <a:endParaRPr lang="ko-KR" altLang="en-US"/>
          </a:p>
        </p:txBody>
      </p:sp>
      <p:sp>
        <p:nvSpPr>
          <p:cNvPr id="64" name="Text 62"/>
          <p:cNvSpPr/>
          <p:nvPr/>
        </p:nvSpPr>
        <p:spPr>
          <a:xfrm>
            <a:off x="7565467" y="2319792"/>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101.86</a:t>
            </a:r>
            <a:endParaRPr lang="en-US" sz="938" dirty="0"/>
          </a:p>
        </p:txBody>
      </p:sp>
      <p:sp>
        <p:nvSpPr>
          <p:cNvPr id="65" name="Shape 63"/>
          <p:cNvSpPr/>
          <p:nvPr/>
        </p:nvSpPr>
        <p:spPr>
          <a:xfrm>
            <a:off x="8333842" y="2532392"/>
            <a:ext cx="768375" cy="9525"/>
          </a:xfrm>
          <a:prstGeom prst="rect">
            <a:avLst/>
          </a:prstGeom>
          <a:solidFill>
            <a:srgbClr val="EADFD3"/>
          </a:solidFill>
          <a:ln/>
        </p:spPr>
        <p:txBody>
          <a:bodyPr/>
          <a:lstStyle/>
          <a:p>
            <a:endParaRPr lang="ko-KR" altLang="en-US"/>
          </a:p>
        </p:txBody>
      </p:sp>
      <p:sp>
        <p:nvSpPr>
          <p:cNvPr id="66" name="Text 64"/>
          <p:cNvSpPr/>
          <p:nvPr/>
        </p:nvSpPr>
        <p:spPr>
          <a:xfrm>
            <a:off x="8333842" y="2319792"/>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209.99</a:t>
            </a:r>
            <a:endParaRPr lang="en-US" sz="938" dirty="0"/>
          </a:p>
        </p:txBody>
      </p:sp>
      <p:sp>
        <p:nvSpPr>
          <p:cNvPr id="67" name="Shape 65"/>
          <p:cNvSpPr/>
          <p:nvPr/>
        </p:nvSpPr>
        <p:spPr>
          <a:xfrm>
            <a:off x="9102217" y="2532392"/>
            <a:ext cx="865298" cy="9525"/>
          </a:xfrm>
          <a:prstGeom prst="rect">
            <a:avLst/>
          </a:prstGeom>
          <a:solidFill>
            <a:srgbClr val="EADFD3"/>
          </a:solidFill>
          <a:ln/>
        </p:spPr>
        <p:txBody>
          <a:bodyPr/>
          <a:lstStyle/>
          <a:p>
            <a:endParaRPr lang="ko-KR" altLang="en-US"/>
          </a:p>
        </p:txBody>
      </p:sp>
      <p:sp>
        <p:nvSpPr>
          <p:cNvPr id="68" name="Text 66"/>
          <p:cNvSpPr/>
          <p:nvPr/>
        </p:nvSpPr>
        <p:spPr>
          <a:xfrm>
            <a:off x="9102217" y="2319792"/>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국내투자</a:t>
            </a:r>
            <a:endParaRPr lang="en-US" sz="938" dirty="0"/>
          </a:p>
        </p:txBody>
      </p:sp>
      <p:sp>
        <p:nvSpPr>
          <p:cNvPr id="69" name="Shape 67"/>
          <p:cNvSpPr/>
          <p:nvPr/>
        </p:nvSpPr>
        <p:spPr>
          <a:xfrm>
            <a:off x="729002" y="2816885"/>
            <a:ext cx="421848" cy="9525"/>
          </a:xfrm>
          <a:prstGeom prst="rect">
            <a:avLst/>
          </a:prstGeom>
          <a:solidFill>
            <a:srgbClr val="EADFD3"/>
          </a:solidFill>
          <a:ln/>
        </p:spPr>
        <p:txBody>
          <a:bodyPr/>
          <a:lstStyle/>
          <a:p>
            <a:endParaRPr lang="ko-KR" altLang="en-US"/>
          </a:p>
        </p:txBody>
      </p:sp>
      <p:sp>
        <p:nvSpPr>
          <p:cNvPr id="70" name="Text 68"/>
          <p:cNvSpPr/>
          <p:nvPr/>
        </p:nvSpPr>
        <p:spPr>
          <a:xfrm>
            <a:off x="729002" y="2604284"/>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3</a:t>
            </a:r>
            <a:endParaRPr lang="en-US" sz="938" dirty="0"/>
          </a:p>
        </p:txBody>
      </p:sp>
      <p:sp>
        <p:nvSpPr>
          <p:cNvPr id="71" name="Shape 69"/>
          <p:cNvSpPr/>
          <p:nvPr/>
        </p:nvSpPr>
        <p:spPr>
          <a:xfrm>
            <a:off x="1150850" y="2816885"/>
            <a:ext cx="1050096" cy="9525"/>
          </a:xfrm>
          <a:prstGeom prst="rect">
            <a:avLst/>
          </a:prstGeom>
          <a:solidFill>
            <a:srgbClr val="EADFD3"/>
          </a:solidFill>
          <a:ln/>
        </p:spPr>
        <p:txBody>
          <a:bodyPr/>
          <a:lstStyle/>
          <a:p>
            <a:endParaRPr lang="ko-KR" altLang="en-US"/>
          </a:p>
        </p:txBody>
      </p:sp>
      <p:sp>
        <p:nvSpPr>
          <p:cNvPr id="72" name="Text 70"/>
          <p:cNvSpPr/>
          <p:nvPr/>
        </p:nvSpPr>
        <p:spPr>
          <a:xfrm>
            <a:off x="1150850" y="2604284"/>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73" name="Shape 71"/>
          <p:cNvSpPr/>
          <p:nvPr/>
        </p:nvSpPr>
        <p:spPr>
          <a:xfrm>
            <a:off x="2200946" y="2816885"/>
            <a:ext cx="1727743" cy="9525"/>
          </a:xfrm>
          <a:prstGeom prst="rect">
            <a:avLst/>
          </a:prstGeom>
          <a:solidFill>
            <a:srgbClr val="EADFD3"/>
          </a:solidFill>
          <a:ln/>
        </p:spPr>
        <p:txBody>
          <a:bodyPr/>
          <a:lstStyle/>
          <a:p>
            <a:endParaRPr lang="ko-KR" altLang="en-US"/>
          </a:p>
        </p:txBody>
      </p:sp>
      <p:sp>
        <p:nvSpPr>
          <p:cNvPr id="74" name="Text 72"/>
          <p:cNvSpPr/>
          <p:nvPr/>
        </p:nvSpPr>
        <p:spPr>
          <a:xfrm>
            <a:off x="2200946" y="2604284"/>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가치주식형</a:t>
            </a:r>
            <a:endParaRPr lang="en-US" sz="938" dirty="0"/>
          </a:p>
        </p:txBody>
      </p:sp>
      <p:sp>
        <p:nvSpPr>
          <p:cNvPr id="75" name="Shape 73"/>
          <p:cNvSpPr/>
          <p:nvPr/>
        </p:nvSpPr>
        <p:spPr>
          <a:xfrm>
            <a:off x="3928689" y="2816885"/>
            <a:ext cx="1058574" cy="9525"/>
          </a:xfrm>
          <a:prstGeom prst="rect">
            <a:avLst/>
          </a:prstGeom>
          <a:solidFill>
            <a:srgbClr val="EADFD3"/>
          </a:solidFill>
          <a:ln/>
        </p:spPr>
        <p:txBody>
          <a:bodyPr/>
          <a:lstStyle/>
          <a:p>
            <a:endParaRPr lang="ko-KR" altLang="en-US"/>
          </a:p>
        </p:txBody>
      </p:sp>
      <p:sp>
        <p:nvSpPr>
          <p:cNvPr id="76" name="Text 74"/>
          <p:cNvSpPr/>
          <p:nvPr/>
        </p:nvSpPr>
        <p:spPr>
          <a:xfrm>
            <a:off x="3928689" y="2604284"/>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2005-12-01</a:t>
            </a:r>
            <a:endParaRPr lang="en-US" sz="938" dirty="0"/>
          </a:p>
        </p:txBody>
      </p:sp>
      <p:sp>
        <p:nvSpPr>
          <p:cNvPr id="77" name="Shape 75"/>
          <p:cNvSpPr/>
          <p:nvPr/>
        </p:nvSpPr>
        <p:spPr>
          <a:xfrm>
            <a:off x="4987262" y="2816885"/>
            <a:ext cx="874183" cy="9525"/>
          </a:xfrm>
          <a:prstGeom prst="rect">
            <a:avLst/>
          </a:prstGeom>
          <a:solidFill>
            <a:srgbClr val="EADFD3"/>
          </a:solidFill>
          <a:ln/>
        </p:spPr>
        <p:txBody>
          <a:bodyPr/>
          <a:lstStyle/>
          <a:p>
            <a:endParaRPr lang="ko-KR" altLang="en-US"/>
          </a:p>
        </p:txBody>
      </p:sp>
      <p:sp>
        <p:nvSpPr>
          <p:cNvPr id="78" name="Text 76"/>
          <p:cNvSpPr/>
          <p:nvPr/>
        </p:nvSpPr>
        <p:spPr>
          <a:xfrm>
            <a:off x="4987262" y="2604284"/>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4,777.44</a:t>
            </a:r>
            <a:endParaRPr lang="en-US" sz="938" dirty="0"/>
          </a:p>
        </p:txBody>
      </p:sp>
      <p:sp>
        <p:nvSpPr>
          <p:cNvPr id="79" name="Shape 77"/>
          <p:cNvSpPr/>
          <p:nvPr/>
        </p:nvSpPr>
        <p:spPr>
          <a:xfrm>
            <a:off x="5861446" y="2816885"/>
            <a:ext cx="856250" cy="9525"/>
          </a:xfrm>
          <a:prstGeom prst="rect">
            <a:avLst/>
          </a:prstGeom>
          <a:solidFill>
            <a:srgbClr val="EADFD3"/>
          </a:solidFill>
          <a:ln/>
        </p:spPr>
        <p:txBody>
          <a:bodyPr/>
          <a:lstStyle/>
          <a:p>
            <a:endParaRPr lang="ko-KR" altLang="en-US"/>
          </a:p>
        </p:txBody>
      </p:sp>
      <p:sp>
        <p:nvSpPr>
          <p:cNvPr id="80" name="Text 78"/>
          <p:cNvSpPr/>
          <p:nvPr/>
        </p:nvSpPr>
        <p:spPr>
          <a:xfrm>
            <a:off x="5861446" y="2604284"/>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2.83%</a:t>
            </a:r>
            <a:endParaRPr lang="en-US" sz="938" dirty="0"/>
          </a:p>
        </p:txBody>
      </p:sp>
      <p:sp>
        <p:nvSpPr>
          <p:cNvPr id="81" name="Shape 79"/>
          <p:cNvSpPr/>
          <p:nvPr/>
        </p:nvSpPr>
        <p:spPr>
          <a:xfrm>
            <a:off x="6717695" y="2816885"/>
            <a:ext cx="847772" cy="9525"/>
          </a:xfrm>
          <a:prstGeom prst="rect">
            <a:avLst/>
          </a:prstGeom>
          <a:solidFill>
            <a:srgbClr val="EADFD3"/>
          </a:solidFill>
          <a:ln/>
        </p:spPr>
        <p:txBody>
          <a:bodyPr/>
          <a:lstStyle/>
          <a:p>
            <a:endParaRPr lang="ko-KR" altLang="en-US"/>
          </a:p>
        </p:txBody>
      </p:sp>
      <p:sp>
        <p:nvSpPr>
          <p:cNvPr id="82" name="Text 80"/>
          <p:cNvSpPr/>
          <p:nvPr/>
        </p:nvSpPr>
        <p:spPr>
          <a:xfrm>
            <a:off x="6717695" y="2604284"/>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-18.39%</a:t>
            </a:r>
            <a:endParaRPr lang="en-US" sz="938" dirty="0"/>
          </a:p>
        </p:txBody>
      </p:sp>
      <p:sp>
        <p:nvSpPr>
          <p:cNvPr id="83" name="Shape 81"/>
          <p:cNvSpPr/>
          <p:nvPr/>
        </p:nvSpPr>
        <p:spPr>
          <a:xfrm>
            <a:off x="7565467" y="2816885"/>
            <a:ext cx="768375" cy="9525"/>
          </a:xfrm>
          <a:prstGeom prst="rect">
            <a:avLst/>
          </a:prstGeom>
          <a:solidFill>
            <a:srgbClr val="EADFD3"/>
          </a:solidFill>
          <a:ln/>
        </p:spPr>
        <p:txBody>
          <a:bodyPr/>
          <a:lstStyle/>
          <a:p>
            <a:endParaRPr lang="ko-KR" altLang="en-US"/>
          </a:p>
        </p:txBody>
      </p:sp>
      <p:sp>
        <p:nvSpPr>
          <p:cNvPr id="84" name="Text 82"/>
          <p:cNvSpPr/>
          <p:nvPr/>
        </p:nvSpPr>
        <p:spPr>
          <a:xfrm>
            <a:off x="7565467" y="2604284"/>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102.11</a:t>
            </a:r>
            <a:endParaRPr lang="en-US" sz="938" dirty="0"/>
          </a:p>
        </p:txBody>
      </p:sp>
      <p:sp>
        <p:nvSpPr>
          <p:cNvPr id="85" name="Shape 83"/>
          <p:cNvSpPr/>
          <p:nvPr/>
        </p:nvSpPr>
        <p:spPr>
          <a:xfrm>
            <a:off x="8333842" y="2816885"/>
            <a:ext cx="768375" cy="9525"/>
          </a:xfrm>
          <a:prstGeom prst="rect">
            <a:avLst/>
          </a:prstGeom>
          <a:solidFill>
            <a:srgbClr val="EADFD3"/>
          </a:solidFill>
          <a:ln/>
        </p:spPr>
        <p:txBody>
          <a:bodyPr/>
          <a:lstStyle/>
          <a:p>
            <a:endParaRPr lang="ko-KR" altLang="en-US"/>
          </a:p>
        </p:txBody>
      </p:sp>
      <p:sp>
        <p:nvSpPr>
          <p:cNvPr id="86" name="Text 84"/>
          <p:cNvSpPr/>
          <p:nvPr/>
        </p:nvSpPr>
        <p:spPr>
          <a:xfrm>
            <a:off x="8333842" y="2604284"/>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202.33</a:t>
            </a:r>
            <a:endParaRPr lang="en-US" sz="938" dirty="0"/>
          </a:p>
        </p:txBody>
      </p:sp>
      <p:sp>
        <p:nvSpPr>
          <p:cNvPr id="87" name="Shape 85"/>
          <p:cNvSpPr/>
          <p:nvPr/>
        </p:nvSpPr>
        <p:spPr>
          <a:xfrm>
            <a:off x="9102217" y="2816885"/>
            <a:ext cx="865298" cy="9525"/>
          </a:xfrm>
          <a:prstGeom prst="rect">
            <a:avLst/>
          </a:prstGeom>
          <a:solidFill>
            <a:srgbClr val="EADFD3"/>
          </a:solidFill>
          <a:ln/>
        </p:spPr>
        <p:txBody>
          <a:bodyPr/>
          <a:lstStyle/>
          <a:p>
            <a:endParaRPr lang="ko-KR" altLang="en-US"/>
          </a:p>
        </p:txBody>
      </p:sp>
      <p:sp>
        <p:nvSpPr>
          <p:cNvPr id="88" name="Text 86"/>
          <p:cNvSpPr/>
          <p:nvPr/>
        </p:nvSpPr>
        <p:spPr>
          <a:xfrm>
            <a:off x="9102217" y="2604284"/>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국내투자</a:t>
            </a:r>
            <a:endParaRPr lang="en-US" sz="938" dirty="0"/>
          </a:p>
        </p:txBody>
      </p:sp>
      <p:sp>
        <p:nvSpPr>
          <p:cNvPr id="89" name="Shape 87"/>
          <p:cNvSpPr/>
          <p:nvPr/>
        </p:nvSpPr>
        <p:spPr>
          <a:xfrm>
            <a:off x="729002" y="3101378"/>
            <a:ext cx="421848" cy="9525"/>
          </a:xfrm>
          <a:prstGeom prst="rect">
            <a:avLst/>
          </a:prstGeom>
          <a:solidFill>
            <a:srgbClr val="EADFD3"/>
          </a:solidFill>
          <a:ln/>
        </p:spPr>
        <p:txBody>
          <a:bodyPr/>
          <a:lstStyle/>
          <a:p>
            <a:endParaRPr lang="ko-KR" altLang="en-US"/>
          </a:p>
        </p:txBody>
      </p:sp>
      <p:sp>
        <p:nvSpPr>
          <p:cNvPr id="90" name="Text 88"/>
          <p:cNvSpPr/>
          <p:nvPr/>
        </p:nvSpPr>
        <p:spPr>
          <a:xfrm>
            <a:off x="729002" y="2888777"/>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4</a:t>
            </a:r>
            <a:endParaRPr lang="en-US" sz="938" dirty="0"/>
          </a:p>
        </p:txBody>
      </p:sp>
      <p:sp>
        <p:nvSpPr>
          <p:cNvPr id="91" name="Shape 89"/>
          <p:cNvSpPr/>
          <p:nvPr/>
        </p:nvSpPr>
        <p:spPr>
          <a:xfrm>
            <a:off x="1150850" y="3101378"/>
            <a:ext cx="1050096" cy="9525"/>
          </a:xfrm>
          <a:prstGeom prst="rect">
            <a:avLst/>
          </a:prstGeom>
          <a:solidFill>
            <a:srgbClr val="EADFD3"/>
          </a:solidFill>
          <a:ln/>
        </p:spPr>
        <p:txBody>
          <a:bodyPr/>
          <a:lstStyle/>
          <a:p>
            <a:endParaRPr lang="ko-KR" altLang="en-US"/>
          </a:p>
        </p:txBody>
      </p:sp>
      <p:sp>
        <p:nvSpPr>
          <p:cNvPr id="92" name="Text 90"/>
          <p:cNvSpPr/>
          <p:nvPr/>
        </p:nvSpPr>
        <p:spPr>
          <a:xfrm>
            <a:off x="1150850" y="2888777"/>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93" name="Shape 91"/>
          <p:cNvSpPr/>
          <p:nvPr/>
        </p:nvSpPr>
        <p:spPr>
          <a:xfrm>
            <a:off x="2200946" y="3101378"/>
            <a:ext cx="1727743" cy="9525"/>
          </a:xfrm>
          <a:prstGeom prst="rect">
            <a:avLst/>
          </a:prstGeom>
          <a:solidFill>
            <a:srgbClr val="EADFD3"/>
          </a:solidFill>
          <a:ln/>
        </p:spPr>
        <p:txBody>
          <a:bodyPr/>
          <a:lstStyle/>
          <a:p>
            <a:endParaRPr lang="ko-KR" altLang="en-US"/>
          </a:p>
        </p:txBody>
      </p:sp>
      <p:sp>
        <p:nvSpPr>
          <p:cNvPr id="94" name="Text 92"/>
          <p:cNvSpPr/>
          <p:nvPr/>
        </p:nvSpPr>
        <p:spPr>
          <a:xfrm>
            <a:off x="2200946" y="2888777"/>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인덱스주식형</a:t>
            </a:r>
            <a:endParaRPr lang="en-US" sz="938" dirty="0"/>
          </a:p>
        </p:txBody>
      </p:sp>
      <p:sp>
        <p:nvSpPr>
          <p:cNvPr id="95" name="Shape 93"/>
          <p:cNvSpPr/>
          <p:nvPr/>
        </p:nvSpPr>
        <p:spPr>
          <a:xfrm>
            <a:off x="3928689" y="3101378"/>
            <a:ext cx="1058574" cy="9525"/>
          </a:xfrm>
          <a:prstGeom prst="rect">
            <a:avLst/>
          </a:prstGeom>
          <a:solidFill>
            <a:srgbClr val="EADFD3"/>
          </a:solidFill>
          <a:ln/>
        </p:spPr>
        <p:txBody>
          <a:bodyPr/>
          <a:lstStyle/>
          <a:p>
            <a:endParaRPr lang="ko-KR" altLang="en-US"/>
          </a:p>
        </p:txBody>
      </p:sp>
      <p:sp>
        <p:nvSpPr>
          <p:cNvPr id="96" name="Text 94"/>
          <p:cNvSpPr/>
          <p:nvPr/>
        </p:nvSpPr>
        <p:spPr>
          <a:xfrm>
            <a:off x="3928689" y="2888777"/>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2008-08-05</a:t>
            </a:r>
            <a:endParaRPr lang="en-US" sz="938" dirty="0"/>
          </a:p>
        </p:txBody>
      </p:sp>
      <p:sp>
        <p:nvSpPr>
          <p:cNvPr id="97" name="Shape 95"/>
          <p:cNvSpPr/>
          <p:nvPr/>
        </p:nvSpPr>
        <p:spPr>
          <a:xfrm>
            <a:off x="4987262" y="3101378"/>
            <a:ext cx="874183" cy="9525"/>
          </a:xfrm>
          <a:prstGeom prst="rect">
            <a:avLst/>
          </a:prstGeom>
          <a:solidFill>
            <a:srgbClr val="EADFD3"/>
          </a:solidFill>
          <a:ln/>
        </p:spPr>
        <p:txBody>
          <a:bodyPr/>
          <a:lstStyle/>
          <a:p>
            <a:endParaRPr lang="ko-KR" altLang="en-US"/>
          </a:p>
        </p:txBody>
      </p:sp>
      <p:sp>
        <p:nvSpPr>
          <p:cNvPr id="98" name="Text 96"/>
          <p:cNvSpPr/>
          <p:nvPr/>
        </p:nvSpPr>
        <p:spPr>
          <a:xfrm>
            <a:off x="4987262" y="2888777"/>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6,937.05</a:t>
            </a:r>
            <a:endParaRPr lang="en-US" sz="938" dirty="0"/>
          </a:p>
        </p:txBody>
      </p:sp>
      <p:sp>
        <p:nvSpPr>
          <p:cNvPr id="99" name="Shape 97"/>
          <p:cNvSpPr/>
          <p:nvPr/>
        </p:nvSpPr>
        <p:spPr>
          <a:xfrm>
            <a:off x="5861446" y="3101378"/>
            <a:ext cx="856250" cy="9525"/>
          </a:xfrm>
          <a:prstGeom prst="rect">
            <a:avLst/>
          </a:prstGeom>
          <a:solidFill>
            <a:srgbClr val="EADFD3"/>
          </a:solidFill>
          <a:ln/>
        </p:spPr>
        <p:txBody>
          <a:bodyPr/>
          <a:lstStyle/>
          <a:p>
            <a:endParaRPr lang="ko-KR" altLang="en-US"/>
          </a:p>
        </p:txBody>
      </p:sp>
      <p:sp>
        <p:nvSpPr>
          <p:cNvPr id="100" name="Text 98"/>
          <p:cNvSpPr/>
          <p:nvPr/>
        </p:nvSpPr>
        <p:spPr>
          <a:xfrm>
            <a:off x="5861446" y="2888777"/>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2.79%</a:t>
            </a:r>
            <a:endParaRPr lang="en-US" sz="938" dirty="0"/>
          </a:p>
        </p:txBody>
      </p:sp>
      <p:sp>
        <p:nvSpPr>
          <p:cNvPr id="101" name="Shape 99"/>
          <p:cNvSpPr/>
          <p:nvPr/>
        </p:nvSpPr>
        <p:spPr>
          <a:xfrm>
            <a:off x="6717695" y="3101378"/>
            <a:ext cx="847772" cy="9525"/>
          </a:xfrm>
          <a:prstGeom prst="rect">
            <a:avLst/>
          </a:prstGeom>
          <a:solidFill>
            <a:srgbClr val="EADFD3"/>
          </a:solidFill>
          <a:ln/>
        </p:spPr>
        <p:txBody>
          <a:bodyPr/>
          <a:lstStyle/>
          <a:p>
            <a:endParaRPr lang="ko-KR" altLang="en-US"/>
          </a:p>
        </p:txBody>
      </p:sp>
      <p:sp>
        <p:nvSpPr>
          <p:cNvPr id="102" name="Text 100"/>
          <p:cNvSpPr/>
          <p:nvPr/>
        </p:nvSpPr>
        <p:spPr>
          <a:xfrm>
            <a:off x="6717695" y="2888777"/>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-19.33%</a:t>
            </a:r>
            <a:endParaRPr lang="en-US" sz="938" dirty="0"/>
          </a:p>
        </p:txBody>
      </p:sp>
      <p:sp>
        <p:nvSpPr>
          <p:cNvPr id="103" name="Shape 101"/>
          <p:cNvSpPr/>
          <p:nvPr/>
        </p:nvSpPr>
        <p:spPr>
          <a:xfrm>
            <a:off x="7565467" y="3101378"/>
            <a:ext cx="768375" cy="9525"/>
          </a:xfrm>
          <a:prstGeom prst="rect">
            <a:avLst/>
          </a:prstGeom>
          <a:solidFill>
            <a:srgbClr val="EADFD3"/>
          </a:solidFill>
          <a:ln/>
        </p:spPr>
        <p:txBody>
          <a:bodyPr/>
          <a:lstStyle/>
          <a:p>
            <a:endParaRPr lang="ko-KR" altLang="en-US"/>
          </a:p>
        </p:txBody>
      </p:sp>
      <p:sp>
        <p:nvSpPr>
          <p:cNvPr id="104" name="Text 102"/>
          <p:cNvSpPr/>
          <p:nvPr/>
        </p:nvSpPr>
        <p:spPr>
          <a:xfrm>
            <a:off x="7565467" y="2888777"/>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131.26</a:t>
            </a:r>
            <a:endParaRPr lang="en-US" sz="938" dirty="0"/>
          </a:p>
        </p:txBody>
      </p:sp>
      <p:sp>
        <p:nvSpPr>
          <p:cNvPr id="105" name="Shape 103"/>
          <p:cNvSpPr/>
          <p:nvPr/>
        </p:nvSpPr>
        <p:spPr>
          <a:xfrm>
            <a:off x="8333842" y="3101378"/>
            <a:ext cx="768375" cy="9525"/>
          </a:xfrm>
          <a:prstGeom prst="rect">
            <a:avLst/>
          </a:prstGeom>
          <a:solidFill>
            <a:srgbClr val="EADFD3"/>
          </a:solidFill>
          <a:ln/>
        </p:spPr>
        <p:txBody>
          <a:bodyPr/>
          <a:lstStyle/>
          <a:p>
            <a:endParaRPr lang="ko-KR" altLang="en-US"/>
          </a:p>
        </p:txBody>
      </p:sp>
      <p:sp>
        <p:nvSpPr>
          <p:cNvPr id="106" name="Text 104"/>
          <p:cNvSpPr/>
          <p:nvPr/>
        </p:nvSpPr>
        <p:spPr>
          <a:xfrm>
            <a:off x="8333842" y="2888777"/>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249.39</a:t>
            </a:r>
            <a:endParaRPr lang="en-US" sz="938" dirty="0"/>
          </a:p>
        </p:txBody>
      </p:sp>
      <p:sp>
        <p:nvSpPr>
          <p:cNvPr id="107" name="Shape 105"/>
          <p:cNvSpPr/>
          <p:nvPr/>
        </p:nvSpPr>
        <p:spPr>
          <a:xfrm>
            <a:off x="9102217" y="3101378"/>
            <a:ext cx="865298" cy="9525"/>
          </a:xfrm>
          <a:prstGeom prst="rect">
            <a:avLst/>
          </a:prstGeom>
          <a:solidFill>
            <a:srgbClr val="EADFD3"/>
          </a:solidFill>
          <a:ln/>
        </p:spPr>
        <p:txBody>
          <a:bodyPr/>
          <a:lstStyle/>
          <a:p>
            <a:endParaRPr lang="ko-KR" altLang="en-US"/>
          </a:p>
        </p:txBody>
      </p:sp>
      <p:sp>
        <p:nvSpPr>
          <p:cNvPr id="108" name="Text 106"/>
          <p:cNvSpPr/>
          <p:nvPr/>
        </p:nvSpPr>
        <p:spPr>
          <a:xfrm>
            <a:off x="9102217" y="2888777"/>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국내투자</a:t>
            </a:r>
            <a:endParaRPr lang="en-US" sz="938" dirty="0"/>
          </a:p>
        </p:txBody>
      </p:sp>
      <p:sp>
        <p:nvSpPr>
          <p:cNvPr id="109" name="Shape 107"/>
          <p:cNvSpPr/>
          <p:nvPr/>
        </p:nvSpPr>
        <p:spPr>
          <a:xfrm>
            <a:off x="729002" y="3385870"/>
            <a:ext cx="421848" cy="9525"/>
          </a:xfrm>
          <a:prstGeom prst="rect">
            <a:avLst/>
          </a:prstGeom>
          <a:solidFill>
            <a:srgbClr val="EADFD3"/>
          </a:solidFill>
          <a:ln/>
        </p:spPr>
        <p:txBody>
          <a:bodyPr/>
          <a:lstStyle/>
          <a:p>
            <a:endParaRPr lang="ko-KR" altLang="en-US"/>
          </a:p>
        </p:txBody>
      </p:sp>
      <p:sp>
        <p:nvSpPr>
          <p:cNvPr id="110" name="Text 108"/>
          <p:cNvSpPr/>
          <p:nvPr/>
        </p:nvSpPr>
        <p:spPr>
          <a:xfrm>
            <a:off x="729002" y="3173270"/>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5</a:t>
            </a:r>
            <a:endParaRPr lang="en-US" sz="938" dirty="0"/>
          </a:p>
        </p:txBody>
      </p:sp>
      <p:sp>
        <p:nvSpPr>
          <p:cNvPr id="111" name="Shape 109"/>
          <p:cNvSpPr/>
          <p:nvPr/>
        </p:nvSpPr>
        <p:spPr>
          <a:xfrm>
            <a:off x="1150850" y="3385870"/>
            <a:ext cx="1050096" cy="9525"/>
          </a:xfrm>
          <a:prstGeom prst="rect">
            <a:avLst/>
          </a:prstGeom>
          <a:solidFill>
            <a:srgbClr val="EADFD3"/>
          </a:solidFill>
          <a:ln/>
        </p:spPr>
        <p:txBody>
          <a:bodyPr/>
          <a:lstStyle/>
          <a:p>
            <a:endParaRPr lang="ko-KR" altLang="en-US"/>
          </a:p>
        </p:txBody>
      </p:sp>
      <p:sp>
        <p:nvSpPr>
          <p:cNvPr id="112" name="Text 110"/>
          <p:cNvSpPr/>
          <p:nvPr/>
        </p:nvSpPr>
        <p:spPr>
          <a:xfrm>
            <a:off x="1150850" y="3173270"/>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113" name="Shape 111"/>
          <p:cNvSpPr/>
          <p:nvPr/>
        </p:nvSpPr>
        <p:spPr>
          <a:xfrm>
            <a:off x="2200946" y="3385870"/>
            <a:ext cx="1727743" cy="9525"/>
          </a:xfrm>
          <a:prstGeom prst="rect">
            <a:avLst/>
          </a:prstGeom>
          <a:solidFill>
            <a:srgbClr val="EADFD3"/>
          </a:solidFill>
          <a:ln/>
        </p:spPr>
        <p:txBody>
          <a:bodyPr/>
          <a:lstStyle/>
          <a:p>
            <a:endParaRPr lang="ko-KR" altLang="en-US"/>
          </a:p>
        </p:txBody>
      </p:sp>
      <p:sp>
        <p:nvSpPr>
          <p:cNvPr id="114" name="Text 112"/>
          <p:cNvSpPr/>
          <p:nvPr/>
        </p:nvSpPr>
        <p:spPr>
          <a:xfrm>
            <a:off x="2200946" y="3173270"/>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인덱스주식형</a:t>
            </a:r>
            <a:endParaRPr lang="en-US" sz="938" dirty="0"/>
          </a:p>
        </p:txBody>
      </p:sp>
      <p:sp>
        <p:nvSpPr>
          <p:cNvPr id="115" name="Shape 113"/>
          <p:cNvSpPr/>
          <p:nvPr/>
        </p:nvSpPr>
        <p:spPr>
          <a:xfrm>
            <a:off x="3928689" y="3385870"/>
            <a:ext cx="1058574" cy="9525"/>
          </a:xfrm>
          <a:prstGeom prst="rect">
            <a:avLst/>
          </a:prstGeom>
          <a:solidFill>
            <a:srgbClr val="EADFD3"/>
          </a:solidFill>
          <a:ln/>
        </p:spPr>
        <p:txBody>
          <a:bodyPr/>
          <a:lstStyle/>
          <a:p>
            <a:endParaRPr lang="ko-KR" altLang="en-US"/>
          </a:p>
        </p:txBody>
      </p:sp>
      <p:sp>
        <p:nvSpPr>
          <p:cNvPr id="116" name="Text 114"/>
          <p:cNvSpPr/>
          <p:nvPr/>
        </p:nvSpPr>
        <p:spPr>
          <a:xfrm>
            <a:off x="3928689" y="3173270"/>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2007-11-08</a:t>
            </a:r>
            <a:endParaRPr lang="en-US" sz="938" dirty="0"/>
          </a:p>
        </p:txBody>
      </p:sp>
      <p:sp>
        <p:nvSpPr>
          <p:cNvPr id="117" name="Shape 115"/>
          <p:cNvSpPr/>
          <p:nvPr/>
        </p:nvSpPr>
        <p:spPr>
          <a:xfrm>
            <a:off x="4987262" y="3385870"/>
            <a:ext cx="874183" cy="9525"/>
          </a:xfrm>
          <a:prstGeom prst="rect">
            <a:avLst/>
          </a:prstGeom>
          <a:solidFill>
            <a:srgbClr val="EADFD3"/>
          </a:solidFill>
          <a:ln/>
        </p:spPr>
        <p:txBody>
          <a:bodyPr/>
          <a:lstStyle/>
          <a:p>
            <a:endParaRPr lang="ko-KR" altLang="en-US"/>
          </a:p>
        </p:txBody>
      </p:sp>
      <p:sp>
        <p:nvSpPr>
          <p:cNvPr id="118" name="Text 116"/>
          <p:cNvSpPr/>
          <p:nvPr/>
        </p:nvSpPr>
        <p:spPr>
          <a:xfrm>
            <a:off x="4987262" y="3173270"/>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5,514.86</a:t>
            </a:r>
            <a:endParaRPr lang="en-US" sz="938" dirty="0"/>
          </a:p>
        </p:txBody>
      </p:sp>
      <p:sp>
        <p:nvSpPr>
          <p:cNvPr id="119" name="Shape 117"/>
          <p:cNvSpPr/>
          <p:nvPr/>
        </p:nvSpPr>
        <p:spPr>
          <a:xfrm>
            <a:off x="5861446" y="3385870"/>
            <a:ext cx="856250" cy="9525"/>
          </a:xfrm>
          <a:prstGeom prst="rect">
            <a:avLst/>
          </a:prstGeom>
          <a:solidFill>
            <a:srgbClr val="EADFD3"/>
          </a:solidFill>
          <a:ln/>
        </p:spPr>
        <p:txBody>
          <a:bodyPr/>
          <a:lstStyle/>
          <a:p>
            <a:endParaRPr lang="ko-KR" altLang="en-US"/>
          </a:p>
        </p:txBody>
      </p:sp>
      <p:sp>
        <p:nvSpPr>
          <p:cNvPr id="120" name="Text 118"/>
          <p:cNvSpPr/>
          <p:nvPr/>
        </p:nvSpPr>
        <p:spPr>
          <a:xfrm>
            <a:off x="5861446" y="3173270"/>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C24E2C"/>
                </a:solidFill>
                <a:latin typeface="Paperlogy 7 Bold" pitchFamily="2" charset="-127"/>
                <a:ea typeface="Paperlogy 7 Bold" pitchFamily="2" charset="-127"/>
                <a:cs typeface="Arial" pitchFamily="34" charset="-120"/>
              </a:rPr>
              <a:t>2.72%</a:t>
            </a:r>
            <a:endParaRPr lang="en-US" sz="938" dirty="0"/>
          </a:p>
        </p:txBody>
      </p:sp>
      <p:sp>
        <p:nvSpPr>
          <p:cNvPr id="121" name="Shape 119"/>
          <p:cNvSpPr/>
          <p:nvPr/>
        </p:nvSpPr>
        <p:spPr>
          <a:xfrm>
            <a:off x="6717695" y="3385870"/>
            <a:ext cx="847772" cy="9525"/>
          </a:xfrm>
          <a:prstGeom prst="rect">
            <a:avLst/>
          </a:prstGeom>
          <a:solidFill>
            <a:srgbClr val="EADFD3"/>
          </a:solidFill>
          <a:ln/>
        </p:spPr>
        <p:txBody>
          <a:bodyPr/>
          <a:lstStyle/>
          <a:p>
            <a:endParaRPr lang="ko-KR" altLang="en-US"/>
          </a:p>
        </p:txBody>
      </p:sp>
      <p:sp>
        <p:nvSpPr>
          <p:cNvPr id="122" name="Text 120"/>
          <p:cNvSpPr/>
          <p:nvPr/>
        </p:nvSpPr>
        <p:spPr>
          <a:xfrm>
            <a:off x="6717695" y="3173270"/>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-19.46%</a:t>
            </a:r>
            <a:endParaRPr lang="en-US" sz="938" dirty="0"/>
          </a:p>
        </p:txBody>
      </p:sp>
      <p:sp>
        <p:nvSpPr>
          <p:cNvPr id="123" name="Shape 121"/>
          <p:cNvSpPr/>
          <p:nvPr/>
        </p:nvSpPr>
        <p:spPr>
          <a:xfrm>
            <a:off x="7565467" y="3385870"/>
            <a:ext cx="768375" cy="9525"/>
          </a:xfrm>
          <a:prstGeom prst="rect">
            <a:avLst/>
          </a:prstGeom>
          <a:solidFill>
            <a:srgbClr val="EADFD3"/>
          </a:solidFill>
          <a:ln/>
        </p:spPr>
        <p:txBody>
          <a:bodyPr/>
          <a:lstStyle/>
          <a:p>
            <a:endParaRPr lang="ko-KR" altLang="en-US"/>
          </a:p>
        </p:txBody>
      </p:sp>
      <p:sp>
        <p:nvSpPr>
          <p:cNvPr id="124" name="Text 122"/>
          <p:cNvSpPr/>
          <p:nvPr/>
        </p:nvSpPr>
        <p:spPr>
          <a:xfrm>
            <a:off x="7565467" y="3173270"/>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131.45</a:t>
            </a:r>
            <a:endParaRPr lang="en-US" sz="938" dirty="0"/>
          </a:p>
        </p:txBody>
      </p:sp>
      <p:sp>
        <p:nvSpPr>
          <p:cNvPr id="125" name="Shape 123"/>
          <p:cNvSpPr/>
          <p:nvPr/>
        </p:nvSpPr>
        <p:spPr>
          <a:xfrm>
            <a:off x="8333842" y="3385870"/>
            <a:ext cx="768375" cy="9525"/>
          </a:xfrm>
          <a:prstGeom prst="rect">
            <a:avLst/>
          </a:prstGeom>
          <a:solidFill>
            <a:srgbClr val="EADFD3"/>
          </a:solidFill>
          <a:ln/>
        </p:spPr>
        <p:txBody>
          <a:bodyPr/>
          <a:lstStyle/>
          <a:p>
            <a:endParaRPr lang="ko-KR" altLang="en-US"/>
          </a:p>
        </p:txBody>
      </p:sp>
      <p:sp>
        <p:nvSpPr>
          <p:cNvPr id="126" name="Text 124"/>
          <p:cNvSpPr/>
          <p:nvPr/>
        </p:nvSpPr>
        <p:spPr>
          <a:xfrm>
            <a:off x="8333842" y="3173270"/>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247.38</a:t>
            </a:r>
            <a:endParaRPr lang="en-US" sz="938" dirty="0"/>
          </a:p>
        </p:txBody>
      </p:sp>
      <p:sp>
        <p:nvSpPr>
          <p:cNvPr id="127" name="Shape 125"/>
          <p:cNvSpPr/>
          <p:nvPr/>
        </p:nvSpPr>
        <p:spPr>
          <a:xfrm>
            <a:off x="9102217" y="3385870"/>
            <a:ext cx="865298" cy="9525"/>
          </a:xfrm>
          <a:prstGeom prst="rect">
            <a:avLst/>
          </a:prstGeom>
          <a:solidFill>
            <a:srgbClr val="EADFD3"/>
          </a:solidFill>
          <a:ln/>
        </p:spPr>
        <p:txBody>
          <a:bodyPr/>
          <a:lstStyle/>
          <a:p>
            <a:endParaRPr lang="ko-KR" altLang="en-US"/>
          </a:p>
        </p:txBody>
      </p:sp>
      <p:sp>
        <p:nvSpPr>
          <p:cNvPr id="128" name="Text 126"/>
          <p:cNvSpPr/>
          <p:nvPr/>
        </p:nvSpPr>
        <p:spPr>
          <a:xfrm>
            <a:off x="9102217" y="3173270"/>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국내투자</a:t>
            </a:r>
            <a:endParaRPr lang="en-US" sz="938" dirty="0"/>
          </a:p>
        </p:txBody>
      </p:sp>
      <p:sp>
        <p:nvSpPr>
          <p:cNvPr id="129" name="Shape 127"/>
          <p:cNvSpPr/>
          <p:nvPr/>
        </p:nvSpPr>
        <p:spPr>
          <a:xfrm>
            <a:off x="533363" y="3643870"/>
            <a:ext cx="9629791" cy="2228580"/>
          </a:xfrm>
          <a:prstGeom prst="roundRect">
            <a:avLst>
              <a:gd name="adj" fmla="val 6838"/>
            </a:avLst>
          </a:prstGeom>
          <a:solidFill>
            <a:srgbClr val="FFFFFF"/>
          </a:solidFill>
          <a:ln w="5217">
            <a:solidFill>
              <a:srgbClr val="EADFD3"/>
            </a:solidFill>
            <a:prstDash val="solid"/>
          </a:ln>
        </p:spPr>
        <p:txBody>
          <a:bodyPr/>
          <a:lstStyle/>
          <a:p>
            <a:endParaRPr lang="ko-KR" altLang="en-US"/>
          </a:p>
        </p:txBody>
      </p:sp>
      <p:sp>
        <p:nvSpPr>
          <p:cNvPr id="130" name="Shape 128"/>
          <p:cNvSpPr/>
          <p:nvPr/>
        </p:nvSpPr>
        <p:spPr>
          <a:xfrm>
            <a:off x="729002" y="3782367"/>
            <a:ext cx="764054" cy="216997"/>
          </a:xfrm>
          <a:prstGeom prst="roundRect">
            <a:avLst>
              <a:gd name="adj" fmla="val 26337"/>
            </a:avLst>
          </a:prstGeom>
          <a:solidFill>
            <a:srgbClr val="4C6E9E"/>
          </a:solidFill>
          <a:ln/>
        </p:spPr>
        <p:txBody>
          <a:bodyPr/>
          <a:lstStyle/>
          <a:p>
            <a:endParaRPr lang="ko-KR" altLang="en-US"/>
          </a:p>
        </p:txBody>
      </p:sp>
      <p:sp>
        <p:nvSpPr>
          <p:cNvPr id="131" name="Text 129"/>
          <p:cNvSpPr/>
          <p:nvPr/>
        </p:nvSpPr>
        <p:spPr>
          <a:xfrm>
            <a:off x="824252" y="3820467"/>
            <a:ext cx="649754" cy="178897"/>
          </a:xfrm>
          <a:prstGeom prst="rect">
            <a:avLst/>
          </a:prstGeom>
          <a:noFill/>
          <a:ln/>
        </p:spPr>
        <p:txBody>
          <a:bodyPr wrap="square" lIns="25400" tIns="25400" rIns="25400" bIns="25400" rtlCol="0" anchor="t">
            <a:normAutofit fontScale="92500" lnSpcReduction="10000"/>
          </a:bodyPr>
          <a:lstStyle/>
          <a:p>
            <a:pPr marL="0" indent="0" algn="l">
              <a:buNone/>
            </a:pPr>
            <a:r>
              <a:rPr lang="en-US" sz="938" b="1" kern="0" spc="38" dirty="0">
                <a:solidFill>
                  <a:srgbClr val="FFFFFF"/>
                </a:solidFill>
                <a:latin typeface="Paperlogy 7 Bold" pitchFamily="2" charset="-127"/>
                <a:ea typeface="Paperlogy 7 Bold" pitchFamily="2" charset="-127"/>
                <a:cs typeface="Arial" pitchFamily="34" charset="-120"/>
              </a:rPr>
              <a:t>WORST 5</a:t>
            </a:r>
            <a:endParaRPr lang="en-US" sz="938" dirty="0"/>
          </a:p>
        </p:txBody>
      </p:sp>
      <p:sp>
        <p:nvSpPr>
          <p:cNvPr id="132" name="Text 130"/>
          <p:cNvSpPr/>
          <p:nvPr/>
        </p:nvSpPr>
        <p:spPr>
          <a:xfrm>
            <a:off x="1588268" y="3804784"/>
            <a:ext cx="1054480"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4C6E9E"/>
                </a:solidFill>
                <a:latin typeface="Paperlogy 7 Bold" pitchFamily="2" charset="-127"/>
                <a:ea typeface="Paperlogy 7 Bold" pitchFamily="2" charset="-127"/>
                <a:cs typeface="Arial" pitchFamily="34" charset="-120"/>
              </a:rPr>
              <a:t>9월 Worst Fund</a:t>
            </a:r>
            <a:endParaRPr lang="en-US" sz="1125" dirty="0"/>
          </a:p>
        </p:txBody>
      </p:sp>
      <p:sp>
        <p:nvSpPr>
          <p:cNvPr id="133" name="Text 131"/>
          <p:cNvSpPr/>
          <p:nvPr/>
        </p:nvSpPr>
        <p:spPr>
          <a:xfrm>
            <a:off x="9153735" y="3825652"/>
            <a:ext cx="88997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2026.9.30 기준</a:t>
            </a:r>
            <a:endParaRPr lang="en-US" sz="900" dirty="0"/>
          </a:p>
        </p:txBody>
      </p:sp>
      <p:sp>
        <p:nvSpPr>
          <p:cNvPr id="134" name="Shape 132"/>
          <p:cNvSpPr/>
          <p:nvPr/>
        </p:nvSpPr>
        <p:spPr>
          <a:xfrm>
            <a:off x="729002" y="4075500"/>
            <a:ext cx="421848" cy="274059"/>
          </a:xfrm>
          <a:custGeom>
            <a:avLst/>
            <a:gdLst/>
            <a:ahLst/>
            <a:cxnLst/>
            <a:rect l="l" t="t" r="r" b="b"/>
            <a:pathLst>
              <a:path w="421848" h="274059">
                <a:moveTo>
                  <a:pt x="76200" y="0"/>
                </a:moveTo>
                <a:lnTo>
                  <a:pt x="421848" y="0"/>
                </a:lnTo>
                <a:lnTo>
                  <a:pt x="421848" y="274059"/>
                </a:lnTo>
                <a:lnTo>
                  <a:pt x="76200" y="274059"/>
                </a:lnTo>
                <a:arcTo wR="76200" hR="76200" stAng="5400000" swAng="5400000"/>
                <a:lnTo>
                  <a:pt x="0" y="76200"/>
                </a:lnTo>
                <a:arcTo wR="76200" hR="76200" stAng="10800000" swAng="5400000"/>
                <a:close/>
              </a:path>
            </a:pathLst>
          </a:custGeom>
          <a:solidFill>
            <a:srgbClr val="FCF8EC"/>
          </a:solidFill>
          <a:ln/>
        </p:spPr>
        <p:txBody>
          <a:bodyPr/>
          <a:lstStyle/>
          <a:p>
            <a:endParaRPr lang="ko-KR" altLang="en-US"/>
          </a:p>
        </p:txBody>
      </p:sp>
      <p:sp>
        <p:nvSpPr>
          <p:cNvPr id="135" name="Text 133"/>
          <p:cNvSpPr/>
          <p:nvPr/>
        </p:nvSpPr>
        <p:spPr>
          <a:xfrm>
            <a:off x="729002" y="4142175"/>
            <a:ext cx="421848"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순위</a:t>
            </a:r>
            <a:endParaRPr lang="en-US" sz="900" dirty="0"/>
          </a:p>
        </p:txBody>
      </p:sp>
      <p:sp>
        <p:nvSpPr>
          <p:cNvPr id="136" name="Shape 134"/>
          <p:cNvSpPr/>
          <p:nvPr/>
        </p:nvSpPr>
        <p:spPr>
          <a:xfrm>
            <a:off x="1150850" y="4075500"/>
            <a:ext cx="1050096" cy="274059"/>
          </a:xfrm>
          <a:prstGeom prst="rect">
            <a:avLst/>
          </a:prstGeom>
          <a:solidFill>
            <a:srgbClr val="FCF8EC"/>
          </a:solidFill>
          <a:ln/>
        </p:spPr>
        <p:txBody>
          <a:bodyPr/>
          <a:lstStyle/>
          <a:p>
            <a:endParaRPr lang="ko-KR" altLang="en-US"/>
          </a:p>
        </p:txBody>
      </p:sp>
      <p:sp>
        <p:nvSpPr>
          <p:cNvPr id="137" name="Text 135"/>
          <p:cNvSpPr/>
          <p:nvPr/>
        </p:nvSpPr>
        <p:spPr>
          <a:xfrm>
            <a:off x="1150850" y="4142175"/>
            <a:ext cx="1050096"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보험사명</a:t>
            </a:r>
            <a:endParaRPr lang="en-US" sz="900" dirty="0"/>
          </a:p>
        </p:txBody>
      </p:sp>
      <p:sp>
        <p:nvSpPr>
          <p:cNvPr id="138" name="Shape 136"/>
          <p:cNvSpPr/>
          <p:nvPr/>
        </p:nvSpPr>
        <p:spPr>
          <a:xfrm>
            <a:off x="2200946" y="4075500"/>
            <a:ext cx="1727743" cy="274059"/>
          </a:xfrm>
          <a:prstGeom prst="rect">
            <a:avLst/>
          </a:prstGeom>
          <a:solidFill>
            <a:srgbClr val="FCF8EC"/>
          </a:solidFill>
          <a:ln/>
        </p:spPr>
        <p:txBody>
          <a:bodyPr/>
          <a:lstStyle/>
          <a:p>
            <a:endParaRPr lang="ko-KR" altLang="en-US"/>
          </a:p>
        </p:txBody>
      </p:sp>
      <p:sp>
        <p:nvSpPr>
          <p:cNvPr id="139" name="Text 137"/>
          <p:cNvSpPr/>
          <p:nvPr/>
        </p:nvSpPr>
        <p:spPr>
          <a:xfrm>
            <a:off x="2200946" y="4142175"/>
            <a:ext cx="1727743"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펀드명</a:t>
            </a:r>
            <a:endParaRPr lang="en-US" sz="900" dirty="0"/>
          </a:p>
        </p:txBody>
      </p:sp>
      <p:sp>
        <p:nvSpPr>
          <p:cNvPr id="140" name="Shape 138"/>
          <p:cNvSpPr/>
          <p:nvPr/>
        </p:nvSpPr>
        <p:spPr>
          <a:xfrm>
            <a:off x="3928689" y="4075500"/>
            <a:ext cx="1058574" cy="274059"/>
          </a:xfrm>
          <a:prstGeom prst="rect">
            <a:avLst/>
          </a:prstGeom>
          <a:solidFill>
            <a:srgbClr val="FCF8EC"/>
          </a:solidFill>
          <a:ln/>
        </p:spPr>
        <p:txBody>
          <a:bodyPr/>
          <a:lstStyle/>
          <a:p>
            <a:endParaRPr lang="ko-KR" altLang="en-US"/>
          </a:p>
        </p:txBody>
      </p:sp>
      <p:sp>
        <p:nvSpPr>
          <p:cNvPr id="141" name="Text 139"/>
          <p:cNvSpPr/>
          <p:nvPr/>
        </p:nvSpPr>
        <p:spPr>
          <a:xfrm>
            <a:off x="3928689" y="4142175"/>
            <a:ext cx="1058574"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설정일</a:t>
            </a:r>
            <a:endParaRPr lang="en-US" sz="900" dirty="0"/>
          </a:p>
        </p:txBody>
      </p:sp>
      <p:sp>
        <p:nvSpPr>
          <p:cNvPr id="142" name="Shape 140"/>
          <p:cNvSpPr/>
          <p:nvPr/>
        </p:nvSpPr>
        <p:spPr>
          <a:xfrm>
            <a:off x="4987262" y="4075500"/>
            <a:ext cx="874183" cy="274059"/>
          </a:xfrm>
          <a:prstGeom prst="rect">
            <a:avLst/>
          </a:prstGeom>
          <a:solidFill>
            <a:srgbClr val="FCF8EC"/>
          </a:solidFill>
          <a:ln/>
        </p:spPr>
        <p:txBody>
          <a:bodyPr/>
          <a:lstStyle/>
          <a:p>
            <a:endParaRPr lang="ko-KR" altLang="en-US"/>
          </a:p>
        </p:txBody>
      </p:sp>
      <p:sp>
        <p:nvSpPr>
          <p:cNvPr id="143" name="Text 141"/>
          <p:cNvSpPr/>
          <p:nvPr/>
        </p:nvSpPr>
        <p:spPr>
          <a:xfrm>
            <a:off x="4987262" y="4142175"/>
            <a:ext cx="874183"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9월 기준가</a:t>
            </a:r>
            <a:endParaRPr lang="en-US" sz="900" dirty="0"/>
          </a:p>
        </p:txBody>
      </p:sp>
      <p:sp>
        <p:nvSpPr>
          <p:cNvPr id="144" name="Shape 142"/>
          <p:cNvSpPr/>
          <p:nvPr/>
        </p:nvSpPr>
        <p:spPr>
          <a:xfrm>
            <a:off x="5861446" y="4075500"/>
            <a:ext cx="856250" cy="274059"/>
          </a:xfrm>
          <a:prstGeom prst="rect">
            <a:avLst/>
          </a:prstGeom>
          <a:solidFill>
            <a:srgbClr val="FCF8EC"/>
          </a:solidFill>
          <a:ln/>
        </p:spPr>
        <p:txBody>
          <a:bodyPr/>
          <a:lstStyle/>
          <a:p>
            <a:endParaRPr lang="ko-KR" altLang="en-US"/>
          </a:p>
        </p:txBody>
      </p:sp>
      <p:sp>
        <p:nvSpPr>
          <p:cNvPr id="145" name="Text 143"/>
          <p:cNvSpPr/>
          <p:nvPr/>
        </p:nvSpPr>
        <p:spPr>
          <a:xfrm>
            <a:off x="5861446" y="4142175"/>
            <a:ext cx="856250"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월수익률</a:t>
            </a:r>
            <a:endParaRPr lang="en-US" sz="900" dirty="0"/>
          </a:p>
        </p:txBody>
      </p:sp>
      <p:sp>
        <p:nvSpPr>
          <p:cNvPr id="146" name="Shape 144"/>
          <p:cNvSpPr/>
          <p:nvPr/>
        </p:nvSpPr>
        <p:spPr>
          <a:xfrm>
            <a:off x="6717695" y="4075500"/>
            <a:ext cx="847772" cy="274059"/>
          </a:xfrm>
          <a:prstGeom prst="rect">
            <a:avLst/>
          </a:prstGeom>
          <a:solidFill>
            <a:srgbClr val="FCF8EC"/>
          </a:solidFill>
          <a:ln/>
        </p:spPr>
        <p:txBody>
          <a:bodyPr/>
          <a:lstStyle/>
          <a:p>
            <a:endParaRPr lang="ko-KR" altLang="en-US"/>
          </a:p>
        </p:txBody>
      </p:sp>
      <p:sp>
        <p:nvSpPr>
          <p:cNvPr id="147" name="Text 145"/>
          <p:cNvSpPr/>
          <p:nvPr/>
        </p:nvSpPr>
        <p:spPr>
          <a:xfrm>
            <a:off x="6717695" y="4142175"/>
            <a:ext cx="847772"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3개월</a:t>
            </a:r>
            <a:endParaRPr lang="en-US" sz="900" dirty="0"/>
          </a:p>
        </p:txBody>
      </p:sp>
      <p:sp>
        <p:nvSpPr>
          <p:cNvPr id="148" name="Shape 146"/>
          <p:cNvSpPr/>
          <p:nvPr/>
        </p:nvSpPr>
        <p:spPr>
          <a:xfrm>
            <a:off x="7565467" y="4075500"/>
            <a:ext cx="768375" cy="274059"/>
          </a:xfrm>
          <a:prstGeom prst="rect">
            <a:avLst/>
          </a:prstGeom>
          <a:solidFill>
            <a:srgbClr val="FCF8EC"/>
          </a:solidFill>
          <a:ln/>
        </p:spPr>
        <p:txBody>
          <a:bodyPr/>
          <a:lstStyle/>
          <a:p>
            <a:endParaRPr lang="ko-KR" altLang="en-US"/>
          </a:p>
        </p:txBody>
      </p:sp>
      <p:sp>
        <p:nvSpPr>
          <p:cNvPr id="149" name="Text 147"/>
          <p:cNvSpPr/>
          <p:nvPr/>
        </p:nvSpPr>
        <p:spPr>
          <a:xfrm>
            <a:off x="7565467" y="4142175"/>
            <a:ext cx="768375"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1년</a:t>
            </a:r>
            <a:endParaRPr lang="en-US" sz="900" dirty="0"/>
          </a:p>
        </p:txBody>
      </p:sp>
      <p:sp>
        <p:nvSpPr>
          <p:cNvPr id="150" name="Shape 148"/>
          <p:cNvSpPr/>
          <p:nvPr/>
        </p:nvSpPr>
        <p:spPr>
          <a:xfrm>
            <a:off x="8333842" y="4075500"/>
            <a:ext cx="768375" cy="274059"/>
          </a:xfrm>
          <a:prstGeom prst="rect">
            <a:avLst/>
          </a:prstGeom>
          <a:solidFill>
            <a:srgbClr val="FCF8EC"/>
          </a:solidFill>
          <a:ln/>
        </p:spPr>
        <p:txBody>
          <a:bodyPr/>
          <a:lstStyle/>
          <a:p>
            <a:endParaRPr lang="ko-KR" altLang="en-US"/>
          </a:p>
        </p:txBody>
      </p:sp>
      <p:sp>
        <p:nvSpPr>
          <p:cNvPr id="151" name="Text 149"/>
          <p:cNvSpPr/>
          <p:nvPr/>
        </p:nvSpPr>
        <p:spPr>
          <a:xfrm>
            <a:off x="8333842" y="4142175"/>
            <a:ext cx="768375"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3년</a:t>
            </a:r>
            <a:endParaRPr lang="en-US" sz="900" dirty="0"/>
          </a:p>
        </p:txBody>
      </p:sp>
      <p:sp>
        <p:nvSpPr>
          <p:cNvPr id="152" name="Shape 150"/>
          <p:cNvSpPr/>
          <p:nvPr/>
        </p:nvSpPr>
        <p:spPr>
          <a:xfrm>
            <a:off x="9102217" y="4075500"/>
            <a:ext cx="865298" cy="274059"/>
          </a:xfrm>
          <a:custGeom>
            <a:avLst/>
            <a:gdLst/>
            <a:ahLst/>
            <a:cxnLst/>
            <a:rect l="l" t="t" r="r" b="b"/>
            <a:pathLst>
              <a:path w="865298" h="274059">
                <a:moveTo>
                  <a:pt x="0" y="0"/>
                </a:moveTo>
                <a:lnTo>
                  <a:pt x="789098" y="0"/>
                </a:lnTo>
                <a:arcTo wR="76200" hR="76200" stAng="16200000" swAng="5400000"/>
                <a:lnTo>
                  <a:pt x="865298" y="197859"/>
                </a:lnTo>
                <a:arcTo wR="76200" hR="76200" stAng="0" swAng="5400000"/>
                <a:lnTo>
                  <a:pt x="0" y="274059"/>
                </a:lnTo>
                <a:lnTo>
                  <a:pt x="0" y="0"/>
                </a:lnTo>
                <a:close/>
              </a:path>
            </a:pathLst>
          </a:custGeom>
          <a:solidFill>
            <a:srgbClr val="FCF8EC"/>
          </a:solidFill>
          <a:ln/>
        </p:spPr>
        <p:txBody>
          <a:bodyPr/>
          <a:lstStyle/>
          <a:p>
            <a:endParaRPr lang="ko-KR" altLang="en-US"/>
          </a:p>
        </p:txBody>
      </p:sp>
      <p:sp>
        <p:nvSpPr>
          <p:cNvPr id="153" name="Text 151"/>
          <p:cNvSpPr/>
          <p:nvPr/>
        </p:nvSpPr>
        <p:spPr>
          <a:xfrm>
            <a:off x="9102217" y="4142175"/>
            <a:ext cx="865298" cy="178809"/>
          </a:xfrm>
          <a:prstGeom prst="rect">
            <a:avLst/>
          </a:prstGeom>
          <a:noFill/>
          <a:ln/>
        </p:spPr>
        <p:txBody>
          <a:bodyPr wrap="square" lIns="25400" tIns="25400" rIns="25400" bIns="25400" rtlCol="0" anchor="ctr">
            <a:normAutofit lnSpcReduction="10000"/>
          </a:bodyPr>
          <a:lstStyle/>
          <a:p>
            <a:pPr marL="0" indent="0" algn="ctr">
              <a:buNone/>
            </a:pPr>
            <a:r>
              <a:rPr lang="en-US" sz="900" b="1" dirty="0">
                <a:solidFill>
                  <a:srgbClr val="7B6B60"/>
                </a:solidFill>
                <a:latin typeface="Paperlogy 7 Bold" pitchFamily="2" charset="-127"/>
                <a:ea typeface="Paperlogy 7 Bold" pitchFamily="2" charset="-127"/>
                <a:cs typeface="Arial" pitchFamily="34" charset="-120"/>
              </a:rPr>
              <a:t>대유형</a:t>
            </a:r>
            <a:endParaRPr lang="en-US" sz="900" dirty="0"/>
          </a:p>
        </p:txBody>
      </p:sp>
      <p:sp>
        <p:nvSpPr>
          <p:cNvPr id="154" name="Shape 152"/>
          <p:cNvSpPr/>
          <p:nvPr/>
        </p:nvSpPr>
        <p:spPr>
          <a:xfrm>
            <a:off x="729002" y="4628834"/>
            <a:ext cx="421848" cy="9525"/>
          </a:xfrm>
          <a:prstGeom prst="rect">
            <a:avLst/>
          </a:prstGeom>
          <a:solidFill>
            <a:srgbClr val="EADFD3"/>
          </a:solidFill>
          <a:ln/>
        </p:spPr>
        <p:txBody>
          <a:bodyPr/>
          <a:lstStyle/>
          <a:p>
            <a:endParaRPr lang="ko-KR" altLang="en-US"/>
          </a:p>
        </p:txBody>
      </p:sp>
      <p:sp>
        <p:nvSpPr>
          <p:cNvPr id="155" name="Text 153"/>
          <p:cNvSpPr/>
          <p:nvPr/>
        </p:nvSpPr>
        <p:spPr>
          <a:xfrm>
            <a:off x="729002" y="4416234"/>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1</a:t>
            </a:r>
            <a:endParaRPr lang="en-US" sz="938" dirty="0"/>
          </a:p>
        </p:txBody>
      </p:sp>
      <p:sp>
        <p:nvSpPr>
          <p:cNvPr id="156" name="Shape 154"/>
          <p:cNvSpPr/>
          <p:nvPr/>
        </p:nvSpPr>
        <p:spPr>
          <a:xfrm>
            <a:off x="1150850" y="4628834"/>
            <a:ext cx="1050096" cy="9525"/>
          </a:xfrm>
          <a:prstGeom prst="rect">
            <a:avLst/>
          </a:prstGeom>
          <a:solidFill>
            <a:srgbClr val="EADFD3"/>
          </a:solidFill>
          <a:ln/>
        </p:spPr>
        <p:txBody>
          <a:bodyPr/>
          <a:lstStyle/>
          <a:p>
            <a:endParaRPr lang="ko-KR" altLang="en-US"/>
          </a:p>
        </p:txBody>
      </p:sp>
      <p:sp>
        <p:nvSpPr>
          <p:cNvPr id="157" name="Text 155"/>
          <p:cNvSpPr/>
          <p:nvPr/>
        </p:nvSpPr>
        <p:spPr>
          <a:xfrm>
            <a:off x="1150850" y="4416234"/>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미래에셋생명</a:t>
            </a:r>
            <a:endParaRPr lang="en-US" sz="938" dirty="0"/>
          </a:p>
        </p:txBody>
      </p:sp>
      <p:sp>
        <p:nvSpPr>
          <p:cNvPr id="158" name="Shape 156"/>
          <p:cNvSpPr/>
          <p:nvPr/>
        </p:nvSpPr>
        <p:spPr>
          <a:xfrm>
            <a:off x="2200946" y="4628834"/>
            <a:ext cx="1727743" cy="9525"/>
          </a:xfrm>
          <a:prstGeom prst="rect">
            <a:avLst/>
          </a:prstGeom>
          <a:solidFill>
            <a:srgbClr val="EADFD3"/>
          </a:solidFill>
          <a:ln/>
        </p:spPr>
        <p:txBody>
          <a:bodyPr/>
          <a:lstStyle/>
          <a:p>
            <a:endParaRPr lang="ko-KR" altLang="en-US"/>
          </a:p>
        </p:txBody>
      </p:sp>
      <p:sp>
        <p:nvSpPr>
          <p:cNvPr id="159" name="Text 157"/>
          <p:cNvSpPr/>
          <p:nvPr/>
        </p:nvSpPr>
        <p:spPr>
          <a:xfrm>
            <a:off x="2200946" y="4416234"/>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A+차이나</a:t>
            </a:r>
            <a:endParaRPr lang="en-US" sz="938" dirty="0"/>
          </a:p>
        </p:txBody>
      </p:sp>
      <p:sp>
        <p:nvSpPr>
          <p:cNvPr id="160" name="Shape 158"/>
          <p:cNvSpPr/>
          <p:nvPr/>
        </p:nvSpPr>
        <p:spPr>
          <a:xfrm>
            <a:off x="3928689" y="4628834"/>
            <a:ext cx="1058574" cy="9525"/>
          </a:xfrm>
          <a:prstGeom prst="rect">
            <a:avLst/>
          </a:prstGeom>
          <a:solidFill>
            <a:srgbClr val="EADFD3"/>
          </a:solidFill>
          <a:ln/>
        </p:spPr>
        <p:txBody>
          <a:bodyPr/>
          <a:lstStyle/>
          <a:p>
            <a:endParaRPr lang="ko-KR" altLang="en-US"/>
          </a:p>
        </p:txBody>
      </p:sp>
      <p:sp>
        <p:nvSpPr>
          <p:cNvPr id="161" name="Text 159"/>
          <p:cNvSpPr/>
          <p:nvPr/>
        </p:nvSpPr>
        <p:spPr>
          <a:xfrm>
            <a:off x="3928689" y="4416234"/>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2010-04-02</a:t>
            </a:r>
            <a:endParaRPr lang="en-US" sz="938" dirty="0"/>
          </a:p>
        </p:txBody>
      </p:sp>
      <p:sp>
        <p:nvSpPr>
          <p:cNvPr id="162" name="Shape 160"/>
          <p:cNvSpPr/>
          <p:nvPr/>
        </p:nvSpPr>
        <p:spPr>
          <a:xfrm>
            <a:off x="4987262" y="4628834"/>
            <a:ext cx="874183" cy="9525"/>
          </a:xfrm>
          <a:prstGeom prst="rect">
            <a:avLst/>
          </a:prstGeom>
          <a:solidFill>
            <a:srgbClr val="EADFD3"/>
          </a:solidFill>
          <a:ln/>
        </p:spPr>
        <p:txBody>
          <a:bodyPr/>
          <a:lstStyle/>
          <a:p>
            <a:endParaRPr lang="ko-KR" altLang="en-US"/>
          </a:p>
        </p:txBody>
      </p:sp>
      <p:sp>
        <p:nvSpPr>
          <p:cNvPr id="163" name="Text 161"/>
          <p:cNvSpPr/>
          <p:nvPr/>
        </p:nvSpPr>
        <p:spPr>
          <a:xfrm>
            <a:off x="4987262" y="4416234"/>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1,779.13</a:t>
            </a:r>
            <a:endParaRPr lang="en-US" sz="938" dirty="0"/>
          </a:p>
        </p:txBody>
      </p:sp>
      <p:sp>
        <p:nvSpPr>
          <p:cNvPr id="164" name="Shape 162"/>
          <p:cNvSpPr/>
          <p:nvPr/>
        </p:nvSpPr>
        <p:spPr>
          <a:xfrm>
            <a:off x="5861446" y="4628834"/>
            <a:ext cx="856250" cy="9525"/>
          </a:xfrm>
          <a:prstGeom prst="rect">
            <a:avLst/>
          </a:prstGeom>
          <a:solidFill>
            <a:srgbClr val="EADFD3"/>
          </a:solidFill>
          <a:ln/>
        </p:spPr>
        <p:txBody>
          <a:bodyPr/>
          <a:lstStyle/>
          <a:p>
            <a:endParaRPr lang="ko-KR" altLang="en-US"/>
          </a:p>
        </p:txBody>
      </p:sp>
      <p:sp>
        <p:nvSpPr>
          <p:cNvPr id="165" name="Text 163"/>
          <p:cNvSpPr/>
          <p:nvPr/>
        </p:nvSpPr>
        <p:spPr>
          <a:xfrm>
            <a:off x="5861446" y="4416234"/>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-10.46%</a:t>
            </a:r>
            <a:endParaRPr lang="en-US" sz="938" dirty="0"/>
          </a:p>
        </p:txBody>
      </p:sp>
      <p:sp>
        <p:nvSpPr>
          <p:cNvPr id="166" name="Shape 164"/>
          <p:cNvSpPr/>
          <p:nvPr/>
        </p:nvSpPr>
        <p:spPr>
          <a:xfrm>
            <a:off x="6717695" y="4628834"/>
            <a:ext cx="847772" cy="9525"/>
          </a:xfrm>
          <a:prstGeom prst="rect">
            <a:avLst/>
          </a:prstGeom>
          <a:solidFill>
            <a:srgbClr val="EADFD3"/>
          </a:solidFill>
          <a:ln/>
        </p:spPr>
        <p:txBody>
          <a:bodyPr/>
          <a:lstStyle/>
          <a:p>
            <a:endParaRPr lang="ko-KR" altLang="en-US"/>
          </a:p>
        </p:txBody>
      </p:sp>
      <p:sp>
        <p:nvSpPr>
          <p:cNvPr id="167" name="Text 165"/>
          <p:cNvSpPr/>
          <p:nvPr/>
        </p:nvSpPr>
        <p:spPr>
          <a:xfrm>
            <a:off x="6717695" y="4416234"/>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-29.71%</a:t>
            </a:r>
            <a:endParaRPr lang="en-US" sz="938" dirty="0"/>
          </a:p>
        </p:txBody>
      </p:sp>
      <p:sp>
        <p:nvSpPr>
          <p:cNvPr id="168" name="Shape 166"/>
          <p:cNvSpPr/>
          <p:nvPr/>
        </p:nvSpPr>
        <p:spPr>
          <a:xfrm>
            <a:off x="7565467" y="4628834"/>
            <a:ext cx="768375" cy="9525"/>
          </a:xfrm>
          <a:prstGeom prst="rect">
            <a:avLst/>
          </a:prstGeom>
          <a:solidFill>
            <a:srgbClr val="EADFD3"/>
          </a:solidFill>
          <a:ln/>
        </p:spPr>
        <p:txBody>
          <a:bodyPr/>
          <a:lstStyle/>
          <a:p>
            <a:endParaRPr lang="ko-KR" altLang="en-US"/>
          </a:p>
        </p:txBody>
      </p:sp>
      <p:sp>
        <p:nvSpPr>
          <p:cNvPr id="169" name="Text 167"/>
          <p:cNvSpPr/>
          <p:nvPr/>
        </p:nvSpPr>
        <p:spPr>
          <a:xfrm>
            <a:off x="7565467" y="4416234"/>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-14.59</a:t>
            </a:r>
            <a:endParaRPr lang="en-US" sz="938" dirty="0"/>
          </a:p>
        </p:txBody>
      </p:sp>
      <p:sp>
        <p:nvSpPr>
          <p:cNvPr id="170" name="Shape 168"/>
          <p:cNvSpPr/>
          <p:nvPr/>
        </p:nvSpPr>
        <p:spPr>
          <a:xfrm>
            <a:off x="8333842" y="4628834"/>
            <a:ext cx="768375" cy="9525"/>
          </a:xfrm>
          <a:prstGeom prst="rect">
            <a:avLst/>
          </a:prstGeom>
          <a:solidFill>
            <a:srgbClr val="EADFD3"/>
          </a:solidFill>
          <a:ln/>
        </p:spPr>
        <p:txBody>
          <a:bodyPr/>
          <a:lstStyle/>
          <a:p>
            <a:endParaRPr lang="ko-KR" altLang="en-US"/>
          </a:p>
        </p:txBody>
      </p:sp>
      <p:sp>
        <p:nvSpPr>
          <p:cNvPr id="171" name="Text 169"/>
          <p:cNvSpPr/>
          <p:nvPr/>
        </p:nvSpPr>
        <p:spPr>
          <a:xfrm>
            <a:off x="8333842" y="4416234"/>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27.58</a:t>
            </a:r>
            <a:endParaRPr lang="en-US" sz="938" dirty="0"/>
          </a:p>
        </p:txBody>
      </p:sp>
      <p:sp>
        <p:nvSpPr>
          <p:cNvPr id="172" name="Shape 170"/>
          <p:cNvSpPr/>
          <p:nvPr/>
        </p:nvSpPr>
        <p:spPr>
          <a:xfrm>
            <a:off x="9102217" y="4628834"/>
            <a:ext cx="865298" cy="9525"/>
          </a:xfrm>
          <a:prstGeom prst="rect">
            <a:avLst/>
          </a:prstGeom>
          <a:solidFill>
            <a:srgbClr val="EADFD3"/>
          </a:solidFill>
          <a:ln/>
        </p:spPr>
        <p:txBody>
          <a:bodyPr/>
          <a:lstStyle/>
          <a:p>
            <a:endParaRPr lang="ko-KR" altLang="en-US"/>
          </a:p>
        </p:txBody>
      </p:sp>
      <p:sp>
        <p:nvSpPr>
          <p:cNvPr id="173" name="Text 171"/>
          <p:cNvSpPr/>
          <p:nvPr/>
        </p:nvSpPr>
        <p:spPr>
          <a:xfrm>
            <a:off x="9102217" y="4416234"/>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해외투자</a:t>
            </a:r>
            <a:endParaRPr lang="en-US" sz="938" dirty="0"/>
          </a:p>
        </p:txBody>
      </p:sp>
      <p:sp>
        <p:nvSpPr>
          <p:cNvPr id="174" name="Shape 172"/>
          <p:cNvSpPr/>
          <p:nvPr/>
        </p:nvSpPr>
        <p:spPr>
          <a:xfrm>
            <a:off x="729002" y="4913327"/>
            <a:ext cx="421848" cy="9525"/>
          </a:xfrm>
          <a:prstGeom prst="rect">
            <a:avLst/>
          </a:prstGeom>
          <a:solidFill>
            <a:srgbClr val="EADFD3"/>
          </a:solidFill>
          <a:ln/>
        </p:spPr>
        <p:txBody>
          <a:bodyPr/>
          <a:lstStyle/>
          <a:p>
            <a:endParaRPr lang="ko-KR" altLang="en-US"/>
          </a:p>
        </p:txBody>
      </p:sp>
      <p:sp>
        <p:nvSpPr>
          <p:cNvPr id="175" name="Text 173"/>
          <p:cNvSpPr/>
          <p:nvPr/>
        </p:nvSpPr>
        <p:spPr>
          <a:xfrm>
            <a:off x="729002" y="4700726"/>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2</a:t>
            </a:r>
            <a:endParaRPr lang="en-US" sz="938" dirty="0"/>
          </a:p>
        </p:txBody>
      </p:sp>
      <p:sp>
        <p:nvSpPr>
          <p:cNvPr id="176" name="Shape 174"/>
          <p:cNvSpPr/>
          <p:nvPr/>
        </p:nvSpPr>
        <p:spPr>
          <a:xfrm>
            <a:off x="1150850" y="4913327"/>
            <a:ext cx="1050096" cy="9525"/>
          </a:xfrm>
          <a:prstGeom prst="rect">
            <a:avLst/>
          </a:prstGeom>
          <a:solidFill>
            <a:srgbClr val="EADFD3"/>
          </a:solidFill>
          <a:ln/>
        </p:spPr>
        <p:txBody>
          <a:bodyPr/>
          <a:lstStyle/>
          <a:p>
            <a:endParaRPr lang="ko-KR" altLang="en-US"/>
          </a:p>
        </p:txBody>
      </p:sp>
      <p:sp>
        <p:nvSpPr>
          <p:cNvPr id="177" name="Text 175"/>
          <p:cNvSpPr/>
          <p:nvPr/>
        </p:nvSpPr>
        <p:spPr>
          <a:xfrm>
            <a:off x="1150850" y="4700726"/>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178" name="Shape 176"/>
          <p:cNvSpPr/>
          <p:nvPr/>
        </p:nvSpPr>
        <p:spPr>
          <a:xfrm>
            <a:off x="2200946" y="4913327"/>
            <a:ext cx="1727743" cy="9525"/>
          </a:xfrm>
          <a:prstGeom prst="rect">
            <a:avLst/>
          </a:prstGeom>
          <a:solidFill>
            <a:srgbClr val="EADFD3"/>
          </a:solidFill>
          <a:ln/>
        </p:spPr>
        <p:txBody>
          <a:bodyPr/>
          <a:lstStyle/>
          <a:p>
            <a:endParaRPr lang="ko-KR" altLang="en-US"/>
          </a:p>
        </p:txBody>
      </p:sp>
      <p:sp>
        <p:nvSpPr>
          <p:cNvPr id="179" name="Text 177"/>
          <p:cNvSpPr/>
          <p:nvPr/>
        </p:nvSpPr>
        <p:spPr>
          <a:xfrm>
            <a:off x="2200946" y="4700726"/>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골드투자형</a:t>
            </a:r>
            <a:endParaRPr lang="en-US" sz="938" dirty="0"/>
          </a:p>
        </p:txBody>
      </p:sp>
      <p:sp>
        <p:nvSpPr>
          <p:cNvPr id="180" name="Shape 178"/>
          <p:cNvSpPr/>
          <p:nvPr/>
        </p:nvSpPr>
        <p:spPr>
          <a:xfrm>
            <a:off x="3928689" y="4913327"/>
            <a:ext cx="1058574" cy="9525"/>
          </a:xfrm>
          <a:prstGeom prst="rect">
            <a:avLst/>
          </a:prstGeom>
          <a:solidFill>
            <a:srgbClr val="EADFD3"/>
          </a:solidFill>
          <a:ln/>
        </p:spPr>
        <p:txBody>
          <a:bodyPr/>
          <a:lstStyle/>
          <a:p>
            <a:endParaRPr lang="ko-KR" altLang="en-US"/>
          </a:p>
        </p:txBody>
      </p:sp>
      <p:sp>
        <p:nvSpPr>
          <p:cNvPr id="181" name="Text 179"/>
          <p:cNvSpPr/>
          <p:nvPr/>
        </p:nvSpPr>
        <p:spPr>
          <a:xfrm>
            <a:off x="3928689" y="4700726"/>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2012-12-04</a:t>
            </a:r>
            <a:endParaRPr lang="en-US" sz="938" dirty="0"/>
          </a:p>
        </p:txBody>
      </p:sp>
      <p:sp>
        <p:nvSpPr>
          <p:cNvPr id="182" name="Shape 180"/>
          <p:cNvSpPr/>
          <p:nvPr/>
        </p:nvSpPr>
        <p:spPr>
          <a:xfrm>
            <a:off x="4987262" y="4913327"/>
            <a:ext cx="874183" cy="9525"/>
          </a:xfrm>
          <a:prstGeom prst="rect">
            <a:avLst/>
          </a:prstGeom>
          <a:solidFill>
            <a:srgbClr val="EADFD3"/>
          </a:solidFill>
          <a:ln/>
        </p:spPr>
        <p:txBody>
          <a:bodyPr/>
          <a:lstStyle/>
          <a:p>
            <a:endParaRPr lang="ko-KR" altLang="en-US"/>
          </a:p>
        </p:txBody>
      </p:sp>
      <p:sp>
        <p:nvSpPr>
          <p:cNvPr id="183" name="Text 181"/>
          <p:cNvSpPr/>
          <p:nvPr/>
        </p:nvSpPr>
        <p:spPr>
          <a:xfrm>
            <a:off x="4987262" y="4700726"/>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1,753.45</a:t>
            </a:r>
            <a:endParaRPr lang="en-US" sz="938" dirty="0"/>
          </a:p>
        </p:txBody>
      </p:sp>
      <p:sp>
        <p:nvSpPr>
          <p:cNvPr id="184" name="Shape 182"/>
          <p:cNvSpPr/>
          <p:nvPr/>
        </p:nvSpPr>
        <p:spPr>
          <a:xfrm>
            <a:off x="5861446" y="4913327"/>
            <a:ext cx="856250" cy="9525"/>
          </a:xfrm>
          <a:prstGeom prst="rect">
            <a:avLst/>
          </a:prstGeom>
          <a:solidFill>
            <a:srgbClr val="EADFD3"/>
          </a:solidFill>
          <a:ln/>
        </p:spPr>
        <p:txBody>
          <a:bodyPr/>
          <a:lstStyle/>
          <a:p>
            <a:endParaRPr lang="ko-KR" altLang="en-US"/>
          </a:p>
        </p:txBody>
      </p:sp>
      <p:sp>
        <p:nvSpPr>
          <p:cNvPr id="185" name="Text 183"/>
          <p:cNvSpPr/>
          <p:nvPr/>
        </p:nvSpPr>
        <p:spPr>
          <a:xfrm>
            <a:off x="5861446" y="4700726"/>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-9.53%</a:t>
            </a:r>
            <a:endParaRPr lang="en-US" sz="938" dirty="0"/>
          </a:p>
        </p:txBody>
      </p:sp>
      <p:sp>
        <p:nvSpPr>
          <p:cNvPr id="186" name="Shape 184"/>
          <p:cNvSpPr/>
          <p:nvPr/>
        </p:nvSpPr>
        <p:spPr>
          <a:xfrm>
            <a:off x="6717695" y="4913327"/>
            <a:ext cx="847772" cy="9525"/>
          </a:xfrm>
          <a:prstGeom prst="rect">
            <a:avLst/>
          </a:prstGeom>
          <a:solidFill>
            <a:srgbClr val="EADFD3"/>
          </a:solidFill>
          <a:ln/>
        </p:spPr>
        <p:txBody>
          <a:bodyPr/>
          <a:lstStyle/>
          <a:p>
            <a:endParaRPr lang="ko-KR" altLang="en-US"/>
          </a:p>
        </p:txBody>
      </p:sp>
      <p:sp>
        <p:nvSpPr>
          <p:cNvPr id="187" name="Text 185"/>
          <p:cNvSpPr/>
          <p:nvPr/>
        </p:nvSpPr>
        <p:spPr>
          <a:xfrm>
            <a:off x="6717695" y="4700726"/>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0.43%</a:t>
            </a:r>
            <a:endParaRPr lang="en-US" sz="938" dirty="0"/>
          </a:p>
        </p:txBody>
      </p:sp>
      <p:sp>
        <p:nvSpPr>
          <p:cNvPr id="188" name="Shape 186"/>
          <p:cNvSpPr/>
          <p:nvPr/>
        </p:nvSpPr>
        <p:spPr>
          <a:xfrm>
            <a:off x="7565467" y="4913327"/>
            <a:ext cx="768375" cy="9525"/>
          </a:xfrm>
          <a:prstGeom prst="rect">
            <a:avLst/>
          </a:prstGeom>
          <a:solidFill>
            <a:srgbClr val="EADFD3"/>
          </a:solidFill>
          <a:ln/>
        </p:spPr>
        <p:txBody>
          <a:bodyPr/>
          <a:lstStyle/>
          <a:p>
            <a:endParaRPr lang="ko-KR" altLang="en-US"/>
          </a:p>
        </p:txBody>
      </p:sp>
      <p:sp>
        <p:nvSpPr>
          <p:cNvPr id="189" name="Text 187"/>
          <p:cNvSpPr/>
          <p:nvPr/>
        </p:nvSpPr>
        <p:spPr>
          <a:xfrm>
            <a:off x="7565467" y="4700726"/>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5.74</a:t>
            </a:r>
            <a:endParaRPr lang="en-US" sz="938" dirty="0"/>
          </a:p>
        </p:txBody>
      </p:sp>
      <p:sp>
        <p:nvSpPr>
          <p:cNvPr id="190" name="Shape 188"/>
          <p:cNvSpPr/>
          <p:nvPr/>
        </p:nvSpPr>
        <p:spPr>
          <a:xfrm>
            <a:off x="8333842" y="4913327"/>
            <a:ext cx="768375" cy="9525"/>
          </a:xfrm>
          <a:prstGeom prst="rect">
            <a:avLst/>
          </a:prstGeom>
          <a:solidFill>
            <a:srgbClr val="EADFD3"/>
          </a:solidFill>
          <a:ln/>
        </p:spPr>
        <p:txBody>
          <a:bodyPr/>
          <a:lstStyle/>
          <a:p>
            <a:endParaRPr lang="ko-KR" altLang="en-US"/>
          </a:p>
        </p:txBody>
      </p:sp>
      <p:sp>
        <p:nvSpPr>
          <p:cNvPr id="191" name="Text 189"/>
          <p:cNvSpPr/>
          <p:nvPr/>
        </p:nvSpPr>
        <p:spPr>
          <a:xfrm>
            <a:off x="8333842" y="4700726"/>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86.33</a:t>
            </a:r>
            <a:endParaRPr lang="en-US" sz="938" dirty="0"/>
          </a:p>
        </p:txBody>
      </p:sp>
      <p:sp>
        <p:nvSpPr>
          <p:cNvPr id="192" name="Shape 190"/>
          <p:cNvSpPr/>
          <p:nvPr/>
        </p:nvSpPr>
        <p:spPr>
          <a:xfrm>
            <a:off x="9102217" y="4913327"/>
            <a:ext cx="865298" cy="9525"/>
          </a:xfrm>
          <a:prstGeom prst="rect">
            <a:avLst/>
          </a:prstGeom>
          <a:solidFill>
            <a:srgbClr val="EADFD3"/>
          </a:solidFill>
          <a:ln/>
        </p:spPr>
        <p:txBody>
          <a:bodyPr/>
          <a:lstStyle/>
          <a:p>
            <a:endParaRPr lang="ko-KR" altLang="en-US"/>
          </a:p>
        </p:txBody>
      </p:sp>
      <p:sp>
        <p:nvSpPr>
          <p:cNvPr id="193" name="Text 191"/>
          <p:cNvSpPr/>
          <p:nvPr/>
        </p:nvSpPr>
        <p:spPr>
          <a:xfrm>
            <a:off x="9102217" y="4700726"/>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해외투자</a:t>
            </a:r>
            <a:endParaRPr lang="en-US" sz="938" dirty="0"/>
          </a:p>
        </p:txBody>
      </p:sp>
      <p:sp>
        <p:nvSpPr>
          <p:cNvPr id="194" name="Shape 192"/>
          <p:cNvSpPr/>
          <p:nvPr/>
        </p:nvSpPr>
        <p:spPr>
          <a:xfrm>
            <a:off x="729002" y="5197820"/>
            <a:ext cx="421848" cy="9525"/>
          </a:xfrm>
          <a:prstGeom prst="rect">
            <a:avLst/>
          </a:prstGeom>
          <a:solidFill>
            <a:srgbClr val="EADFD3"/>
          </a:solidFill>
          <a:ln/>
        </p:spPr>
        <p:txBody>
          <a:bodyPr/>
          <a:lstStyle/>
          <a:p>
            <a:endParaRPr lang="ko-KR" altLang="en-US"/>
          </a:p>
        </p:txBody>
      </p:sp>
      <p:sp>
        <p:nvSpPr>
          <p:cNvPr id="195" name="Text 193"/>
          <p:cNvSpPr/>
          <p:nvPr/>
        </p:nvSpPr>
        <p:spPr>
          <a:xfrm>
            <a:off x="729002" y="4985219"/>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3</a:t>
            </a:r>
            <a:endParaRPr lang="en-US" sz="938" dirty="0"/>
          </a:p>
        </p:txBody>
      </p:sp>
      <p:sp>
        <p:nvSpPr>
          <p:cNvPr id="196" name="Shape 194"/>
          <p:cNvSpPr/>
          <p:nvPr/>
        </p:nvSpPr>
        <p:spPr>
          <a:xfrm>
            <a:off x="1150850" y="5197820"/>
            <a:ext cx="1050096" cy="9525"/>
          </a:xfrm>
          <a:prstGeom prst="rect">
            <a:avLst/>
          </a:prstGeom>
          <a:solidFill>
            <a:srgbClr val="EADFD3"/>
          </a:solidFill>
          <a:ln/>
        </p:spPr>
        <p:txBody>
          <a:bodyPr/>
          <a:lstStyle/>
          <a:p>
            <a:endParaRPr lang="ko-KR" altLang="en-US"/>
          </a:p>
        </p:txBody>
      </p:sp>
      <p:sp>
        <p:nvSpPr>
          <p:cNvPr id="197" name="Text 195"/>
          <p:cNvSpPr/>
          <p:nvPr/>
        </p:nvSpPr>
        <p:spPr>
          <a:xfrm>
            <a:off x="1150850" y="4985219"/>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미래에셋생명</a:t>
            </a:r>
            <a:endParaRPr lang="en-US" sz="938" dirty="0"/>
          </a:p>
        </p:txBody>
      </p:sp>
      <p:sp>
        <p:nvSpPr>
          <p:cNvPr id="198" name="Shape 196"/>
          <p:cNvSpPr/>
          <p:nvPr/>
        </p:nvSpPr>
        <p:spPr>
          <a:xfrm>
            <a:off x="2200946" y="5197820"/>
            <a:ext cx="1727743" cy="9525"/>
          </a:xfrm>
          <a:prstGeom prst="rect">
            <a:avLst/>
          </a:prstGeom>
          <a:solidFill>
            <a:srgbClr val="EADFD3"/>
          </a:solidFill>
          <a:ln/>
        </p:spPr>
        <p:txBody>
          <a:bodyPr/>
          <a:lstStyle/>
          <a:p>
            <a:endParaRPr lang="ko-KR" altLang="en-US"/>
          </a:p>
        </p:txBody>
      </p:sp>
      <p:sp>
        <p:nvSpPr>
          <p:cNvPr id="199" name="Text 197"/>
          <p:cNvSpPr/>
          <p:nvPr/>
        </p:nvSpPr>
        <p:spPr>
          <a:xfrm>
            <a:off x="2200946" y="4985219"/>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친디아주식안정성장자산배분형</a:t>
            </a:r>
            <a:endParaRPr lang="en-US" sz="938" dirty="0"/>
          </a:p>
        </p:txBody>
      </p:sp>
      <p:sp>
        <p:nvSpPr>
          <p:cNvPr id="200" name="Shape 198"/>
          <p:cNvSpPr/>
          <p:nvPr/>
        </p:nvSpPr>
        <p:spPr>
          <a:xfrm>
            <a:off x="3928689" y="5197820"/>
            <a:ext cx="1058574" cy="9525"/>
          </a:xfrm>
          <a:prstGeom prst="rect">
            <a:avLst/>
          </a:prstGeom>
          <a:solidFill>
            <a:srgbClr val="EADFD3"/>
          </a:solidFill>
          <a:ln/>
        </p:spPr>
        <p:txBody>
          <a:bodyPr/>
          <a:lstStyle/>
          <a:p>
            <a:endParaRPr lang="ko-KR" altLang="en-US"/>
          </a:p>
        </p:txBody>
      </p:sp>
      <p:sp>
        <p:nvSpPr>
          <p:cNvPr id="201" name="Text 199"/>
          <p:cNvSpPr/>
          <p:nvPr/>
        </p:nvSpPr>
        <p:spPr>
          <a:xfrm>
            <a:off x="3928689" y="4985219"/>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2006-02-13</a:t>
            </a:r>
            <a:endParaRPr lang="en-US" sz="938" dirty="0"/>
          </a:p>
        </p:txBody>
      </p:sp>
      <p:sp>
        <p:nvSpPr>
          <p:cNvPr id="202" name="Shape 200"/>
          <p:cNvSpPr/>
          <p:nvPr/>
        </p:nvSpPr>
        <p:spPr>
          <a:xfrm>
            <a:off x="4987262" y="5197820"/>
            <a:ext cx="874183" cy="9525"/>
          </a:xfrm>
          <a:prstGeom prst="rect">
            <a:avLst/>
          </a:prstGeom>
          <a:solidFill>
            <a:srgbClr val="EADFD3"/>
          </a:solidFill>
          <a:ln/>
        </p:spPr>
        <p:txBody>
          <a:bodyPr/>
          <a:lstStyle/>
          <a:p>
            <a:endParaRPr lang="ko-KR" altLang="en-US"/>
          </a:p>
        </p:txBody>
      </p:sp>
      <p:sp>
        <p:nvSpPr>
          <p:cNvPr id="203" name="Text 201"/>
          <p:cNvSpPr/>
          <p:nvPr/>
        </p:nvSpPr>
        <p:spPr>
          <a:xfrm>
            <a:off x="4987262" y="4985219"/>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2,830.04</a:t>
            </a:r>
            <a:endParaRPr lang="en-US" sz="938" dirty="0"/>
          </a:p>
        </p:txBody>
      </p:sp>
      <p:sp>
        <p:nvSpPr>
          <p:cNvPr id="204" name="Shape 202"/>
          <p:cNvSpPr/>
          <p:nvPr/>
        </p:nvSpPr>
        <p:spPr>
          <a:xfrm>
            <a:off x="5861446" y="5197820"/>
            <a:ext cx="856250" cy="9525"/>
          </a:xfrm>
          <a:prstGeom prst="rect">
            <a:avLst/>
          </a:prstGeom>
          <a:solidFill>
            <a:srgbClr val="EADFD3"/>
          </a:solidFill>
          <a:ln/>
        </p:spPr>
        <p:txBody>
          <a:bodyPr/>
          <a:lstStyle/>
          <a:p>
            <a:endParaRPr lang="ko-KR" altLang="en-US"/>
          </a:p>
        </p:txBody>
      </p:sp>
      <p:sp>
        <p:nvSpPr>
          <p:cNvPr id="205" name="Text 203"/>
          <p:cNvSpPr/>
          <p:nvPr/>
        </p:nvSpPr>
        <p:spPr>
          <a:xfrm>
            <a:off x="5861446" y="4985219"/>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-5.11%</a:t>
            </a:r>
            <a:endParaRPr lang="en-US" sz="938" dirty="0"/>
          </a:p>
        </p:txBody>
      </p:sp>
      <p:sp>
        <p:nvSpPr>
          <p:cNvPr id="206" name="Shape 204"/>
          <p:cNvSpPr/>
          <p:nvPr/>
        </p:nvSpPr>
        <p:spPr>
          <a:xfrm>
            <a:off x="6717695" y="5197820"/>
            <a:ext cx="847772" cy="9525"/>
          </a:xfrm>
          <a:prstGeom prst="rect">
            <a:avLst/>
          </a:prstGeom>
          <a:solidFill>
            <a:srgbClr val="EADFD3"/>
          </a:solidFill>
          <a:ln/>
        </p:spPr>
        <p:txBody>
          <a:bodyPr/>
          <a:lstStyle/>
          <a:p>
            <a:endParaRPr lang="ko-KR" altLang="en-US"/>
          </a:p>
        </p:txBody>
      </p:sp>
      <p:sp>
        <p:nvSpPr>
          <p:cNvPr id="207" name="Text 205"/>
          <p:cNvSpPr/>
          <p:nvPr/>
        </p:nvSpPr>
        <p:spPr>
          <a:xfrm>
            <a:off x="6717695" y="4985219"/>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-18.92%</a:t>
            </a:r>
            <a:endParaRPr lang="en-US" sz="938" dirty="0"/>
          </a:p>
        </p:txBody>
      </p:sp>
      <p:sp>
        <p:nvSpPr>
          <p:cNvPr id="208" name="Shape 206"/>
          <p:cNvSpPr/>
          <p:nvPr/>
        </p:nvSpPr>
        <p:spPr>
          <a:xfrm>
            <a:off x="7565467" y="5197820"/>
            <a:ext cx="768375" cy="9525"/>
          </a:xfrm>
          <a:prstGeom prst="rect">
            <a:avLst/>
          </a:prstGeom>
          <a:solidFill>
            <a:srgbClr val="EADFD3"/>
          </a:solidFill>
          <a:ln/>
        </p:spPr>
        <p:txBody>
          <a:bodyPr/>
          <a:lstStyle/>
          <a:p>
            <a:endParaRPr lang="ko-KR" altLang="en-US"/>
          </a:p>
        </p:txBody>
      </p:sp>
      <p:sp>
        <p:nvSpPr>
          <p:cNvPr id="209" name="Text 207"/>
          <p:cNvSpPr/>
          <p:nvPr/>
        </p:nvSpPr>
        <p:spPr>
          <a:xfrm>
            <a:off x="7565467" y="4985219"/>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-6.21</a:t>
            </a:r>
            <a:endParaRPr lang="en-US" sz="938" dirty="0"/>
          </a:p>
        </p:txBody>
      </p:sp>
      <p:sp>
        <p:nvSpPr>
          <p:cNvPr id="210" name="Shape 208"/>
          <p:cNvSpPr/>
          <p:nvPr/>
        </p:nvSpPr>
        <p:spPr>
          <a:xfrm>
            <a:off x="8333842" y="5197820"/>
            <a:ext cx="768375" cy="9525"/>
          </a:xfrm>
          <a:prstGeom prst="rect">
            <a:avLst/>
          </a:prstGeom>
          <a:solidFill>
            <a:srgbClr val="EADFD3"/>
          </a:solidFill>
          <a:ln/>
        </p:spPr>
        <p:txBody>
          <a:bodyPr/>
          <a:lstStyle/>
          <a:p>
            <a:endParaRPr lang="ko-KR" altLang="en-US"/>
          </a:p>
        </p:txBody>
      </p:sp>
      <p:sp>
        <p:nvSpPr>
          <p:cNvPr id="211" name="Text 209"/>
          <p:cNvSpPr/>
          <p:nvPr/>
        </p:nvSpPr>
        <p:spPr>
          <a:xfrm>
            <a:off x="8333842" y="4985219"/>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8.43</a:t>
            </a:r>
            <a:endParaRPr lang="en-US" sz="938" dirty="0"/>
          </a:p>
        </p:txBody>
      </p:sp>
      <p:sp>
        <p:nvSpPr>
          <p:cNvPr id="212" name="Shape 210"/>
          <p:cNvSpPr/>
          <p:nvPr/>
        </p:nvSpPr>
        <p:spPr>
          <a:xfrm>
            <a:off x="9102217" y="5197820"/>
            <a:ext cx="865298" cy="9525"/>
          </a:xfrm>
          <a:prstGeom prst="rect">
            <a:avLst/>
          </a:prstGeom>
          <a:solidFill>
            <a:srgbClr val="EADFD3"/>
          </a:solidFill>
          <a:ln/>
        </p:spPr>
        <p:txBody>
          <a:bodyPr/>
          <a:lstStyle/>
          <a:p>
            <a:endParaRPr lang="ko-KR" altLang="en-US"/>
          </a:p>
        </p:txBody>
      </p:sp>
      <p:sp>
        <p:nvSpPr>
          <p:cNvPr id="213" name="Text 211"/>
          <p:cNvSpPr/>
          <p:nvPr/>
        </p:nvSpPr>
        <p:spPr>
          <a:xfrm>
            <a:off x="9102217" y="4985219"/>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국내외투자</a:t>
            </a:r>
            <a:endParaRPr lang="en-US" sz="938" dirty="0"/>
          </a:p>
        </p:txBody>
      </p:sp>
      <p:sp>
        <p:nvSpPr>
          <p:cNvPr id="214" name="Shape 212"/>
          <p:cNvSpPr/>
          <p:nvPr/>
        </p:nvSpPr>
        <p:spPr>
          <a:xfrm>
            <a:off x="729002" y="5482312"/>
            <a:ext cx="421848" cy="9525"/>
          </a:xfrm>
          <a:prstGeom prst="rect">
            <a:avLst/>
          </a:prstGeom>
          <a:solidFill>
            <a:srgbClr val="EADFD3"/>
          </a:solidFill>
          <a:ln/>
        </p:spPr>
        <p:txBody>
          <a:bodyPr/>
          <a:lstStyle/>
          <a:p>
            <a:endParaRPr lang="ko-KR" altLang="en-US"/>
          </a:p>
        </p:txBody>
      </p:sp>
      <p:sp>
        <p:nvSpPr>
          <p:cNvPr id="215" name="Text 213"/>
          <p:cNvSpPr/>
          <p:nvPr/>
        </p:nvSpPr>
        <p:spPr>
          <a:xfrm>
            <a:off x="729002" y="5269711"/>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4</a:t>
            </a:r>
            <a:endParaRPr lang="en-US" sz="938" dirty="0"/>
          </a:p>
        </p:txBody>
      </p:sp>
      <p:sp>
        <p:nvSpPr>
          <p:cNvPr id="216" name="Shape 214"/>
          <p:cNvSpPr/>
          <p:nvPr/>
        </p:nvSpPr>
        <p:spPr>
          <a:xfrm>
            <a:off x="1150850" y="5482312"/>
            <a:ext cx="1050096" cy="9525"/>
          </a:xfrm>
          <a:prstGeom prst="rect">
            <a:avLst/>
          </a:prstGeom>
          <a:solidFill>
            <a:srgbClr val="EADFD3"/>
          </a:solidFill>
          <a:ln/>
        </p:spPr>
        <p:txBody>
          <a:bodyPr/>
          <a:lstStyle/>
          <a:p>
            <a:endParaRPr lang="ko-KR" altLang="en-US"/>
          </a:p>
        </p:txBody>
      </p:sp>
      <p:sp>
        <p:nvSpPr>
          <p:cNvPr id="217" name="Text 215"/>
          <p:cNvSpPr/>
          <p:nvPr/>
        </p:nvSpPr>
        <p:spPr>
          <a:xfrm>
            <a:off x="1150850" y="5269711"/>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미래에셋생명</a:t>
            </a:r>
            <a:endParaRPr lang="en-US" sz="938" dirty="0"/>
          </a:p>
        </p:txBody>
      </p:sp>
      <p:sp>
        <p:nvSpPr>
          <p:cNvPr id="218" name="Shape 216"/>
          <p:cNvSpPr/>
          <p:nvPr/>
        </p:nvSpPr>
        <p:spPr>
          <a:xfrm>
            <a:off x="2200946" y="5482312"/>
            <a:ext cx="1727743" cy="9525"/>
          </a:xfrm>
          <a:prstGeom prst="rect">
            <a:avLst/>
          </a:prstGeom>
          <a:solidFill>
            <a:srgbClr val="EADFD3"/>
          </a:solidFill>
          <a:ln/>
        </p:spPr>
        <p:txBody>
          <a:bodyPr/>
          <a:lstStyle/>
          <a:p>
            <a:endParaRPr lang="ko-KR" altLang="en-US"/>
          </a:p>
        </p:txBody>
      </p:sp>
      <p:sp>
        <p:nvSpPr>
          <p:cNvPr id="219" name="Text 217"/>
          <p:cNvSpPr/>
          <p:nvPr/>
        </p:nvSpPr>
        <p:spPr>
          <a:xfrm>
            <a:off x="2200946" y="5269711"/>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글로벌성장주식형</a:t>
            </a:r>
            <a:endParaRPr lang="en-US" sz="938" dirty="0"/>
          </a:p>
        </p:txBody>
      </p:sp>
      <p:sp>
        <p:nvSpPr>
          <p:cNvPr id="220" name="Shape 218"/>
          <p:cNvSpPr/>
          <p:nvPr/>
        </p:nvSpPr>
        <p:spPr>
          <a:xfrm>
            <a:off x="3928689" y="5482312"/>
            <a:ext cx="1058574" cy="9525"/>
          </a:xfrm>
          <a:prstGeom prst="rect">
            <a:avLst/>
          </a:prstGeom>
          <a:solidFill>
            <a:srgbClr val="EADFD3"/>
          </a:solidFill>
          <a:ln/>
        </p:spPr>
        <p:txBody>
          <a:bodyPr/>
          <a:lstStyle/>
          <a:p>
            <a:endParaRPr lang="ko-KR" altLang="en-US"/>
          </a:p>
        </p:txBody>
      </p:sp>
      <p:sp>
        <p:nvSpPr>
          <p:cNvPr id="221" name="Text 219"/>
          <p:cNvSpPr/>
          <p:nvPr/>
        </p:nvSpPr>
        <p:spPr>
          <a:xfrm>
            <a:off x="3928689" y="5269711"/>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2012-02-14</a:t>
            </a:r>
            <a:endParaRPr lang="en-US" sz="938" dirty="0"/>
          </a:p>
        </p:txBody>
      </p:sp>
      <p:sp>
        <p:nvSpPr>
          <p:cNvPr id="222" name="Shape 220"/>
          <p:cNvSpPr/>
          <p:nvPr/>
        </p:nvSpPr>
        <p:spPr>
          <a:xfrm>
            <a:off x="4987262" y="5482312"/>
            <a:ext cx="874183" cy="9525"/>
          </a:xfrm>
          <a:prstGeom prst="rect">
            <a:avLst/>
          </a:prstGeom>
          <a:solidFill>
            <a:srgbClr val="EADFD3"/>
          </a:solidFill>
          <a:ln/>
        </p:spPr>
        <p:txBody>
          <a:bodyPr/>
          <a:lstStyle/>
          <a:p>
            <a:endParaRPr lang="ko-KR" altLang="en-US"/>
          </a:p>
        </p:txBody>
      </p:sp>
      <p:sp>
        <p:nvSpPr>
          <p:cNvPr id="223" name="Text 221"/>
          <p:cNvSpPr/>
          <p:nvPr/>
        </p:nvSpPr>
        <p:spPr>
          <a:xfrm>
            <a:off x="4987262" y="5269711"/>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4,871.88</a:t>
            </a:r>
            <a:endParaRPr lang="en-US" sz="938" dirty="0"/>
          </a:p>
        </p:txBody>
      </p:sp>
      <p:sp>
        <p:nvSpPr>
          <p:cNvPr id="224" name="Shape 222"/>
          <p:cNvSpPr/>
          <p:nvPr/>
        </p:nvSpPr>
        <p:spPr>
          <a:xfrm>
            <a:off x="5861446" y="5482312"/>
            <a:ext cx="856250" cy="9525"/>
          </a:xfrm>
          <a:prstGeom prst="rect">
            <a:avLst/>
          </a:prstGeom>
          <a:solidFill>
            <a:srgbClr val="EADFD3"/>
          </a:solidFill>
          <a:ln/>
        </p:spPr>
        <p:txBody>
          <a:bodyPr/>
          <a:lstStyle/>
          <a:p>
            <a:endParaRPr lang="ko-KR" altLang="en-US"/>
          </a:p>
        </p:txBody>
      </p:sp>
      <p:sp>
        <p:nvSpPr>
          <p:cNvPr id="225" name="Text 223"/>
          <p:cNvSpPr/>
          <p:nvPr/>
        </p:nvSpPr>
        <p:spPr>
          <a:xfrm>
            <a:off x="5861446" y="5269711"/>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-3.91%</a:t>
            </a:r>
            <a:endParaRPr lang="en-US" sz="938" dirty="0"/>
          </a:p>
        </p:txBody>
      </p:sp>
      <p:sp>
        <p:nvSpPr>
          <p:cNvPr id="226" name="Shape 224"/>
          <p:cNvSpPr/>
          <p:nvPr/>
        </p:nvSpPr>
        <p:spPr>
          <a:xfrm>
            <a:off x="6717695" y="5482312"/>
            <a:ext cx="847772" cy="9525"/>
          </a:xfrm>
          <a:prstGeom prst="rect">
            <a:avLst/>
          </a:prstGeom>
          <a:solidFill>
            <a:srgbClr val="EADFD3"/>
          </a:solidFill>
          <a:ln/>
        </p:spPr>
        <p:txBody>
          <a:bodyPr/>
          <a:lstStyle/>
          <a:p>
            <a:endParaRPr lang="ko-KR" altLang="en-US"/>
          </a:p>
        </p:txBody>
      </p:sp>
      <p:sp>
        <p:nvSpPr>
          <p:cNvPr id="227" name="Text 225"/>
          <p:cNvSpPr/>
          <p:nvPr/>
        </p:nvSpPr>
        <p:spPr>
          <a:xfrm>
            <a:off x="6717695" y="5269711"/>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-12.03%</a:t>
            </a:r>
            <a:endParaRPr lang="en-US" sz="938" dirty="0"/>
          </a:p>
        </p:txBody>
      </p:sp>
      <p:sp>
        <p:nvSpPr>
          <p:cNvPr id="228" name="Shape 226"/>
          <p:cNvSpPr/>
          <p:nvPr/>
        </p:nvSpPr>
        <p:spPr>
          <a:xfrm>
            <a:off x="7565467" y="5482312"/>
            <a:ext cx="768375" cy="9525"/>
          </a:xfrm>
          <a:prstGeom prst="rect">
            <a:avLst/>
          </a:prstGeom>
          <a:solidFill>
            <a:srgbClr val="EADFD3"/>
          </a:solidFill>
          <a:ln/>
        </p:spPr>
        <p:txBody>
          <a:bodyPr/>
          <a:lstStyle/>
          <a:p>
            <a:endParaRPr lang="ko-KR" altLang="en-US"/>
          </a:p>
        </p:txBody>
      </p:sp>
      <p:sp>
        <p:nvSpPr>
          <p:cNvPr id="229" name="Text 227"/>
          <p:cNvSpPr/>
          <p:nvPr/>
        </p:nvSpPr>
        <p:spPr>
          <a:xfrm>
            <a:off x="7565467" y="5269711"/>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-3.82</a:t>
            </a:r>
            <a:endParaRPr lang="en-US" sz="938" dirty="0"/>
          </a:p>
        </p:txBody>
      </p:sp>
      <p:sp>
        <p:nvSpPr>
          <p:cNvPr id="230" name="Shape 228"/>
          <p:cNvSpPr/>
          <p:nvPr/>
        </p:nvSpPr>
        <p:spPr>
          <a:xfrm>
            <a:off x="8333842" y="5482312"/>
            <a:ext cx="768375" cy="9525"/>
          </a:xfrm>
          <a:prstGeom prst="rect">
            <a:avLst/>
          </a:prstGeom>
          <a:solidFill>
            <a:srgbClr val="EADFD3"/>
          </a:solidFill>
          <a:ln/>
        </p:spPr>
        <p:txBody>
          <a:bodyPr/>
          <a:lstStyle/>
          <a:p>
            <a:endParaRPr lang="ko-KR" altLang="en-US"/>
          </a:p>
        </p:txBody>
      </p:sp>
      <p:sp>
        <p:nvSpPr>
          <p:cNvPr id="231" name="Text 229"/>
          <p:cNvSpPr/>
          <p:nvPr/>
        </p:nvSpPr>
        <p:spPr>
          <a:xfrm>
            <a:off x="8333842" y="5269711"/>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69.61</a:t>
            </a:r>
            <a:endParaRPr lang="en-US" sz="938" dirty="0"/>
          </a:p>
        </p:txBody>
      </p:sp>
      <p:sp>
        <p:nvSpPr>
          <p:cNvPr id="232" name="Shape 230"/>
          <p:cNvSpPr/>
          <p:nvPr/>
        </p:nvSpPr>
        <p:spPr>
          <a:xfrm>
            <a:off x="9102217" y="5482312"/>
            <a:ext cx="865298" cy="9525"/>
          </a:xfrm>
          <a:prstGeom prst="rect">
            <a:avLst/>
          </a:prstGeom>
          <a:solidFill>
            <a:srgbClr val="EADFD3"/>
          </a:solidFill>
          <a:ln/>
        </p:spPr>
        <p:txBody>
          <a:bodyPr/>
          <a:lstStyle/>
          <a:p>
            <a:endParaRPr lang="ko-KR" altLang="en-US"/>
          </a:p>
        </p:txBody>
      </p:sp>
      <p:sp>
        <p:nvSpPr>
          <p:cNvPr id="233" name="Text 231"/>
          <p:cNvSpPr/>
          <p:nvPr/>
        </p:nvSpPr>
        <p:spPr>
          <a:xfrm>
            <a:off x="9102217" y="5269711"/>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해외투자</a:t>
            </a:r>
            <a:endParaRPr lang="en-US" sz="938" dirty="0"/>
          </a:p>
        </p:txBody>
      </p:sp>
      <p:sp>
        <p:nvSpPr>
          <p:cNvPr id="234" name="Shape 232"/>
          <p:cNvSpPr/>
          <p:nvPr/>
        </p:nvSpPr>
        <p:spPr>
          <a:xfrm>
            <a:off x="729002" y="5766805"/>
            <a:ext cx="421848" cy="9525"/>
          </a:xfrm>
          <a:prstGeom prst="rect">
            <a:avLst/>
          </a:prstGeom>
          <a:solidFill>
            <a:srgbClr val="EADFD3"/>
          </a:solidFill>
          <a:ln/>
        </p:spPr>
        <p:txBody>
          <a:bodyPr/>
          <a:lstStyle/>
          <a:p>
            <a:endParaRPr lang="ko-KR" altLang="en-US"/>
          </a:p>
        </p:txBody>
      </p:sp>
      <p:sp>
        <p:nvSpPr>
          <p:cNvPr id="235" name="Text 233"/>
          <p:cNvSpPr/>
          <p:nvPr/>
        </p:nvSpPr>
        <p:spPr>
          <a:xfrm>
            <a:off x="729002" y="5554205"/>
            <a:ext cx="42184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5</a:t>
            </a:r>
            <a:endParaRPr lang="en-US" sz="938" dirty="0"/>
          </a:p>
        </p:txBody>
      </p:sp>
      <p:sp>
        <p:nvSpPr>
          <p:cNvPr id="236" name="Shape 234"/>
          <p:cNvSpPr/>
          <p:nvPr/>
        </p:nvSpPr>
        <p:spPr>
          <a:xfrm>
            <a:off x="1150850" y="5766805"/>
            <a:ext cx="1050096" cy="9525"/>
          </a:xfrm>
          <a:prstGeom prst="rect">
            <a:avLst/>
          </a:prstGeom>
          <a:solidFill>
            <a:srgbClr val="EADFD3"/>
          </a:solidFill>
          <a:ln/>
        </p:spPr>
        <p:txBody>
          <a:bodyPr/>
          <a:lstStyle/>
          <a:p>
            <a:endParaRPr lang="ko-KR" altLang="en-US"/>
          </a:p>
        </p:txBody>
      </p:sp>
      <p:sp>
        <p:nvSpPr>
          <p:cNvPr id="237" name="Text 235"/>
          <p:cNvSpPr/>
          <p:nvPr/>
        </p:nvSpPr>
        <p:spPr>
          <a:xfrm>
            <a:off x="1150850" y="5554205"/>
            <a:ext cx="1050096"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메트라이프생명</a:t>
            </a:r>
            <a:endParaRPr lang="en-US" sz="938" dirty="0"/>
          </a:p>
        </p:txBody>
      </p:sp>
      <p:sp>
        <p:nvSpPr>
          <p:cNvPr id="238" name="Shape 236"/>
          <p:cNvSpPr/>
          <p:nvPr/>
        </p:nvSpPr>
        <p:spPr>
          <a:xfrm>
            <a:off x="2200946" y="5766805"/>
            <a:ext cx="1727743" cy="9525"/>
          </a:xfrm>
          <a:prstGeom prst="rect">
            <a:avLst/>
          </a:prstGeom>
          <a:solidFill>
            <a:srgbClr val="EADFD3"/>
          </a:solidFill>
          <a:ln/>
        </p:spPr>
        <p:txBody>
          <a:bodyPr/>
          <a:lstStyle/>
          <a:p>
            <a:endParaRPr lang="ko-KR" altLang="en-US"/>
          </a:p>
        </p:txBody>
      </p:sp>
      <p:sp>
        <p:nvSpPr>
          <p:cNvPr id="239" name="Text 237"/>
          <p:cNvSpPr/>
          <p:nvPr/>
        </p:nvSpPr>
        <p:spPr>
          <a:xfrm>
            <a:off x="2200946" y="5554205"/>
            <a:ext cx="172774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글로벌주식형</a:t>
            </a:r>
            <a:endParaRPr lang="en-US" sz="938" dirty="0"/>
          </a:p>
        </p:txBody>
      </p:sp>
      <p:sp>
        <p:nvSpPr>
          <p:cNvPr id="240" name="Shape 238"/>
          <p:cNvSpPr/>
          <p:nvPr/>
        </p:nvSpPr>
        <p:spPr>
          <a:xfrm>
            <a:off x="3928689" y="5766805"/>
            <a:ext cx="1058574" cy="9525"/>
          </a:xfrm>
          <a:prstGeom prst="rect">
            <a:avLst/>
          </a:prstGeom>
          <a:solidFill>
            <a:srgbClr val="EADFD3"/>
          </a:solidFill>
          <a:ln/>
        </p:spPr>
        <p:txBody>
          <a:bodyPr/>
          <a:lstStyle/>
          <a:p>
            <a:endParaRPr lang="ko-KR" altLang="en-US"/>
          </a:p>
        </p:txBody>
      </p:sp>
      <p:sp>
        <p:nvSpPr>
          <p:cNvPr id="241" name="Text 239"/>
          <p:cNvSpPr/>
          <p:nvPr/>
        </p:nvSpPr>
        <p:spPr>
          <a:xfrm>
            <a:off x="3928689" y="5554205"/>
            <a:ext cx="1058574"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2007-03-14</a:t>
            </a:r>
            <a:endParaRPr lang="en-US" sz="938" dirty="0"/>
          </a:p>
        </p:txBody>
      </p:sp>
      <p:sp>
        <p:nvSpPr>
          <p:cNvPr id="242" name="Shape 240"/>
          <p:cNvSpPr/>
          <p:nvPr/>
        </p:nvSpPr>
        <p:spPr>
          <a:xfrm>
            <a:off x="4987262" y="5766805"/>
            <a:ext cx="874183" cy="9525"/>
          </a:xfrm>
          <a:prstGeom prst="rect">
            <a:avLst/>
          </a:prstGeom>
          <a:solidFill>
            <a:srgbClr val="EADFD3"/>
          </a:solidFill>
          <a:ln/>
        </p:spPr>
        <p:txBody>
          <a:bodyPr/>
          <a:lstStyle/>
          <a:p>
            <a:endParaRPr lang="ko-KR" altLang="en-US"/>
          </a:p>
        </p:txBody>
      </p:sp>
      <p:sp>
        <p:nvSpPr>
          <p:cNvPr id="243" name="Text 241"/>
          <p:cNvSpPr/>
          <p:nvPr/>
        </p:nvSpPr>
        <p:spPr>
          <a:xfrm>
            <a:off x="4987262" y="5554205"/>
            <a:ext cx="874183"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3A2C24"/>
                </a:solidFill>
                <a:latin typeface="Paperlogy 7 Bold" pitchFamily="2" charset="-127"/>
                <a:ea typeface="Paperlogy 7 Bold" pitchFamily="2" charset="-127"/>
                <a:cs typeface="Arial" pitchFamily="34" charset="-120"/>
              </a:rPr>
              <a:t>4,176.96</a:t>
            </a:r>
            <a:endParaRPr lang="en-US" sz="938" dirty="0"/>
          </a:p>
        </p:txBody>
      </p:sp>
      <p:sp>
        <p:nvSpPr>
          <p:cNvPr id="244" name="Shape 242"/>
          <p:cNvSpPr/>
          <p:nvPr/>
        </p:nvSpPr>
        <p:spPr>
          <a:xfrm>
            <a:off x="5861446" y="5766805"/>
            <a:ext cx="856250" cy="9525"/>
          </a:xfrm>
          <a:prstGeom prst="rect">
            <a:avLst/>
          </a:prstGeom>
          <a:solidFill>
            <a:srgbClr val="EADFD3"/>
          </a:solidFill>
          <a:ln/>
        </p:spPr>
        <p:txBody>
          <a:bodyPr/>
          <a:lstStyle/>
          <a:p>
            <a:endParaRPr lang="ko-KR" altLang="en-US"/>
          </a:p>
        </p:txBody>
      </p:sp>
      <p:sp>
        <p:nvSpPr>
          <p:cNvPr id="245" name="Text 243"/>
          <p:cNvSpPr/>
          <p:nvPr/>
        </p:nvSpPr>
        <p:spPr>
          <a:xfrm>
            <a:off x="5861446" y="5554205"/>
            <a:ext cx="856250"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C6E9E"/>
                </a:solidFill>
                <a:latin typeface="Paperlogy 7 Bold" pitchFamily="2" charset="-127"/>
                <a:ea typeface="Paperlogy 7 Bold" pitchFamily="2" charset="-127"/>
                <a:cs typeface="Arial" pitchFamily="34" charset="-120"/>
              </a:rPr>
              <a:t>-2.96%</a:t>
            </a:r>
            <a:endParaRPr lang="en-US" sz="938" dirty="0"/>
          </a:p>
        </p:txBody>
      </p:sp>
      <p:sp>
        <p:nvSpPr>
          <p:cNvPr id="246" name="Shape 244"/>
          <p:cNvSpPr/>
          <p:nvPr/>
        </p:nvSpPr>
        <p:spPr>
          <a:xfrm>
            <a:off x="6717695" y="5766805"/>
            <a:ext cx="847772" cy="9525"/>
          </a:xfrm>
          <a:prstGeom prst="rect">
            <a:avLst/>
          </a:prstGeom>
          <a:solidFill>
            <a:srgbClr val="EADFD3"/>
          </a:solidFill>
          <a:ln/>
        </p:spPr>
        <p:txBody>
          <a:bodyPr/>
          <a:lstStyle/>
          <a:p>
            <a:endParaRPr lang="ko-KR" altLang="en-US"/>
          </a:p>
        </p:txBody>
      </p:sp>
      <p:sp>
        <p:nvSpPr>
          <p:cNvPr id="247" name="Text 245"/>
          <p:cNvSpPr/>
          <p:nvPr/>
        </p:nvSpPr>
        <p:spPr>
          <a:xfrm>
            <a:off x="6717695" y="5554205"/>
            <a:ext cx="847772"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-9.58%</a:t>
            </a:r>
            <a:endParaRPr lang="en-US" sz="938" dirty="0"/>
          </a:p>
        </p:txBody>
      </p:sp>
      <p:sp>
        <p:nvSpPr>
          <p:cNvPr id="248" name="Shape 246"/>
          <p:cNvSpPr/>
          <p:nvPr/>
        </p:nvSpPr>
        <p:spPr>
          <a:xfrm>
            <a:off x="7565467" y="5766805"/>
            <a:ext cx="768375" cy="9525"/>
          </a:xfrm>
          <a:prstGeom prst="rect">
            <a:avLst/>
          </a:prstGeom>
          <a:solidFill>
            <a:srgbClr val="EADFD3"/>
          </a:solidFill>
          <a:ln/>
        </p:spPr>
        <p:txBody>
          <a:bodyPr/>
          <a:lstStyle/>
          <a:p>
            <a:endParaRPr lang="ko-KR" altLang="en-US"/>
          </a:p>
        </p:txBody>
      </p:sp>
      <p:sp>
        <p:nvSpPr>
          <p:cNvPr id="249" name="Text 247"/>
          <p:cNvSpPr/>
          <p:nvPr/>
        </p:nvSpPr>
        <p:spPr>
          <a:xfrm>
            <a:off x="7565467" y="5554205"/>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5.45</a:t>
            </a:r>
            <a:endParaRPr lang="en-US" sz="938" dirty="0"/>
          </a:p>
        </p:txBody>
      </p:sp>
      <p:sp>
        <p:nvSpPr>
          <p:cNvPr id="250" name="Shape 248"/>
          <p:cNvSpPr/>
          <p:nvPr/>
        </p:nvSpPr>
        <p:spPr>
          <a:xfrm>
            <a:off x="8333842" y="5766805"/>
            <a:ext cx="768375" cy="9525"/>
          </a:xfrm>
          <a:prstGeom prst="rect">
            <a:avLst/>
          </a:prstGeom>
          <a:solidFill>
            <a:srgbClr val="EADFD3"/>
          </a:solidFill>
          <a:ln/>
        </p:spPr>
        <p:txBody>
          <a:bodyPr/>
          <a:lstStyle/>
          <a:p>
            <a:endParaRPr lang="ko-KR" altLang="en-US"/>
          </a:p>
        </p:txBody>
      </p:sp>
      <p:sp>
        <p:nvSpPr>
          <p:cNvPr id="251" name="Text 249"/>
          <p:cNvSpPr/>
          <p:nvPr/>
        </p:nvSpPr>
        <p:spPr>
          <a:xfrm>
            <a:off x="8333842" y="5554205"/>
            <a:ext cx="768375"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4A3B31"/>
                </a:solidFill>
                <a:latin typeface="Paperlogy 7 Bold" pitchFamily="2" charset="-127"/>
                <a:ea typeface="Paperlogy 7 Bold" pitchFamily="2" charset="-127"/>
                <a:cs typeface="Arial" pitchFamily="34" charset="-120"/>
              </a:rPr>
              <a:t>53.01</a:t>
            </a:r>
            <a:endParaRPr lang="en-US" sz="938" dirty="0"/>
          </a:p>
        </p:txBody>
      </p:sp>
      <p:sp>
        <p:nvSpPr>
          <p:cNvPr id="252" name="Shape 250"/>
          <p:cNvSpPr/>
          <p:nvPr/>
        </p:nvSpPr>
        <p:spPr>
          <a:xfrm>
            <a:off x="9102217" y="5766805"/>
            <a:ext cx="865298" cy="9525"/>
          </a:xfrm>
          <a:prstGeom prst="rect">
            <a:avLst/>
          </a:prstGeom>
          <a:solidFill>
            <a:srgbClr val="EADFD3"/>
          </a:solidFill>
          <a:ln/>
        </p:spPr>
        <p:txBody>
          <a:bodyPr/>
          <a:lstStyle/>
          <a:p>
            <a:endParaRPr lang="ko-KR" altLang="en-US"/>
          </a:p>
        </p:txBody>
      </p:sp>
      <p:sp>
        <p:nvSpPr>
          <p:cNvPr id="253" name="Text 251"/>
          <p:cNvSpPr/>
          <p:nvPr/>
        </p:nvSpPr>
        <p:spPr>
          <a:xfrm>
            <a:off x="9102217" y="5554205"/>
            <a:ext cx="865298" cy="184026"/>
          </a:xfrm>
          <a:prstGeom prst="rect">
            <a:avLst/>
          </a:prstGeom>
          <a:noFill/>
          <a:ln/>
        </p:spPr>
        <p:txBody>
          <a:bodyPr wrap="none" lIns="25400" tIns="25400" rIns="25400" bIns="25400" rtlCol="0" anchor="ctr">
            <a:normAutofit lnSpcReduction="10000"/>
          </a:bodyPr>
          <a:lstStyle/>
          <a:p>
            <a:pPr marL="0" indent="0" algn="ctr">
              <a:buNone/>
            </a:pPr>
            <a:r>
              <a:rPr lang="en-US" sz="938" b="1" dirty="0">
                <a:solidFill>
                  <a:srgbClr val="7B6B60"/>
                </a:solidFill>
                <a:latin typeface="Paperlogy 7 Bold" pitchFamily="2" charset="-127"/>
                <a:ea typeface="Paperlogy 7 Bold" pitchFamily="2" charset="-127"/>
                <a:cs typeface="Arial" pitchFamily="34" charset="-120"/>
              </a:rPr>
              <a:t>해외투자</a:t>
            </a:r>
            <a:endParaRPr lang="en-US" sz="938" dirty="0"/>
          </a:p>
        </p:txBody>
      </p:sp>
      <p:sp>
        <p:nvSpPr>
          <p:cNvPr id="254" name="Shape 252"/>
          <p:cNvSpPr/>
          <p:nvPr/>
        </p:nvSpPr>
        <p:spPr>
          <a:xfrm>
            <a:off x="533363" y="6024805"/>
            <a:ext cx="3423531" cy="598820"/>
          </a:xfrm>
          <a:prstGeom prst="roundRect">
            <a:avLst>
              <a:gd name="adj" fmla="val 22269"/>
            </a:avLst>
          </a:prstGeom>
          <a:solidFill>
            <a:srgbClr val="F5E9CC"/>
          </a:solidFill>
          <a:ln/>
        </p:spPr>
        <p:txBody>
          <a:bodyPr/>
          <a:lstStyle/>
          <a:p>
            <a:endParaRPr lang="ko-KR" altLang="en-US"/>
          </a:p>
        </p:txBody>
      </p:sp>
      <p:sp>
        <p:nvSpPr>
          <p:cNvPr id="255" name="Text 253"/>
          <p:cNvSpPr/>
          <p:nvPr/>
        </p:nvSpPr>
        <p:spPr>
          <a:xfrm>
            <a:off x="742860" y="6120016"/>
            <a:ext cx="3304990" cy="189395"/>
          </a:xfrm>
          <a:prstGeom prst="rect">
            <a:avLst/>
          </a:prstGeom>
          <a:noFill/>
          <a:ln/>
        </p:spPr>
        <p:txBody>
          <a:bodyPr wrap="square" lIns="25400" tIns="25400" rIns="25400" bIns="25400" rtlCol="0" anchor="t">
            <a:normAutofit fontScale="92500"/>
          </a:bodyPr>
          <a:lstStyle/>
          <a:p>
            <a:pPr marL="0" indent="0" algn="l">
              <a:buNone/>
            </a:pPr>
            <a:r>
              <a:rPr lang="en-US" sz="1013" b="1" dirty="0">
                <a:solidFill>
                  <a:srgbClr val="86641F"/>
                </a:solidFill>
                <a:latin typeface="Paperlogy 7 Bold" pitchFamily="2" charset="-127"/>
                <a:ea typeface="Paperlogy 7 Bold" pitchFamily="2" charset="-127"/>
                <a:cs typeface="Arial" pitchFamily="34" charset="-120"/>
              </a:rPr>
              <a:t>펀드 선정 기준</a:t>
            </a:r>
            <a:endParaRPr lang="en-US" sz="1013" dirty="0"/>
          </a:p>
        </p:txBody>
      </p:sp>
      <p:sp>
        <p:nvSpPr>
          <p:cNvPr id="256" name="Shape 254"/>
          <p:cNvSpPr/>
          <p:nvPr/>
        </p:nvSpPr>
        <p:spPr>
          <a:xfrm>
            <a:off x="742860" y="6356985"/>
            <a:ext cx="171429" cy="171429"/>
          </a:xfrm>
          <a:prstGeom prst="ellipse">
            <a:avLst/>
          </a:prstGeom>
          <a:solidFill>
            <a:srgbClr val="CF9C3C"/>
          </a:solidFill>
          <a:ln/>
        </p:spPr>
        <p:txBody>
          <a:bodyPr/>
          <a:lstStyle/>
          <a:p>
            <a:endParaRPr lang="ko-KR" altLang="en-US"/>
          </a:p>
        </p:txBody>
      </p:sp>
      <p:sp>
        <p:nvSpPr>
          <p:cNvPr id="257" name="Text 255"/>
          <p:cNvSpPr/>
          <p:nvPr/>
        </p:nvSpPr>
        <p:spPr>
          <a:xfrm>
            <a:off x="704760" y="6356985"/>
            <a:ext cx="247629" cy="209529"/>
          </a:xfrm>
          <a:prstGeom prst="rect">
            <a:avLst/>
          </a:prstGeom>
          <a:noFill/>
          <a:ln/>
        </p:spPr>
        <p:txBody>
          <a:bodyPr wrap="none" lIns="25400" tIns="25400" rIns="25400" bIns="25400" rtlCol="0" anchor="ctr">
            <a:normAutofit/>
          </a:bodyPr>
          <a:lstStyle/>
          <a:p>
            <a:pPr marL="0" indent="0" algn="ctr">
              <a:buNone/>
            </a:pPr>
            <a:r>
              <a:rPr lang="en-US" sz="825" b="1" dirty="0">
                <a:solidFill>
                  <a:srgbClr val="FFFFFF"/>
                </a:solidFill>
                <a:latin typeface="Paperlogy 7 Bold" pitchFamily="2" charset="-127"/>
                <a:ea typeface="Paperlogy 7 Bold" pitchFamily="2" charset="-127"/>
                <a:cs typeface="Arial" pitchFamily="34" charset="-120"/>
              </a:rPr>
              <a:t>1</a:t>
            </a:r>
            <a:endParaRPr lang="en-US" sz="825" dirty="0"/>
          </a:p>
        </p:txBody>
      </p:sp>
      <p:sp>
        <p:nvSpPr>
          <p:cNvPr id="258" name="Text 256"/>
          <p:cNvSpPr/>
          <p:nvPr/>
        </p:nvSpPr>
        <p:spPr>
          <a:xfrm>
            <a:off x="971432" y="6369620"/>
            <a:ext cx="1280118" cy="184177"/>
          </a:xfrm>
          <a:prstGeom prst="rect">
            <a:avLst/>
          </a:prstGeom>
          <a:noFill/>
          <a:ln/>
        </p:spPr>
        <p:txBody>
          <a:bodyPr wrap="none" lIns="0" tIns="0" rIns="0" bIns="0" rtlCol="0" anchor="t">
            <a:normAutofit/>
          </a:bodyPr>
          <a:lstStyle/>
          <a:p>
            <a:pPr marL="0" indent="0" algn="l">
              <a:buNone/>
            </a:pPr>
            <a:r>
              <a:rPr lang="en-US" sz="975" b="1" dirty="0">
                <a:solidFill>
                  <a:srgbClr val="3A2C24"/>
                </a:solidFill>
                <a:latin typeface="Paperlogy 7 Bold" pitchFamily="2" charset="-127"/>
                <a:ea typeface="Paperlogy 7 Bold" pitchFamily="2" charset="-127"/>
                <a:cs typeface="Arial" pitchFamily="34" charset="-120"/>
              </a:rPr>
              <a:t>순자산 1,000 억원 이상</a:t>
            </a:r>
            <a:endParaRPr lang="en-US" sz="975" dirty="0"/>
          </a:p>
        </p:txBody>
      </p:sp>
      <p:sp>
        <p:nvSpPr>
          <p:cNvPr id="259" name="Shape 257"/>
          <p:cNvSpPr/>
          <p:nvPr/>
        </p:nvSpPr>
        <p:spPr>
          <a:xfrm>
            <a:off x="2346779" y="6356985"/>
            <a:ext cx="171429" cy="171429"/>
          </a:xfrm>
          <a:prstGeom prst="ellipse">
            <a:avLst/>
          </a:prstGeom>
          <a:solidFill>
            <a:srgbClr val="CF9C3C"/>
          </a:solidFill>
          <a:ln/>
        </p:spPr>
        <p:txBody>
          <a:bodyPr/>
          <a:lstStyle/>
          <a:p>
            <a:endParaRPr lang="ko-KR" altLang="en-US"/>
          </a:p>
        </p:txBody>
      </p:sp>
      <p:sp>
        <p:nvSpPr>
          <p:cNvPr id="260" name="Text 258"/>
          <p:cNvSpPr/>
          <p:nvPr/>
        </p:nvSpPr>
        <p:spPr>
          <a:xfrm>
            <a:off x="2308679" y="6356985"/>
            <a:ext cx="247629" cy="209529"/>
          </a:xfrm>
          <a:prstGeom prst="rect">
            <a:avLst/>
          </a:prstGeom>
          <a:noFill/>
          <a:ln/>
        </p:spPr>
        <p:txBody>
          <a:bodyPr wrap="none" lIns="25400" tIns="25400" rIns="25400" bIns="25400" rtlCol="0" anchor="ctr">
            <a:normAutofit/>
          </a:bodyPr>
          <a:lstStyle/>
          <a:p>
            <a:pPr marL="0" indent="0" algn="ctr">
              <a:buNone/>
            </a:pPr>
            <a:r>
              <a:rPr lang="en-US" sz="825" b="1" dirty="0">
                <a:solidFill>
                  <a:srgbClr val="FFFFFF"/>
                </a:solidFill>
                <a:latin typeface="Paperlogy 7 Bold" pitchFamily="2" charset="-127"/>
                <a:ea typeface="Paperlogy 7 Bold" pitchFamily="2" charset="-127"/>
                <a:cs typeface="Arial" pitchFamily="34" charset="-120"/>
              </a:rPr>
              <a:t>2</a:t>
            </a:r>
            <a:endParaRPr lang="en-US" sz="825" dirty="0"/>
          </a:p>
        </p:txBody>
      </p:sp>
      <p:sp>
        <p:nvSpPr>
          <p:cNvPr id="261" name="Text 259"/>
          <p:cNvSpPr/>
          <p:nvPr/>
        </p:nvSpPr>
        <p:spPr>
          <a:xfrm>
            <a:off x="2575352" y="6369620"/>
            <a:ext cx="1248245" cy="184177"/>
          </a:xfrm>
          <a:prstGeom prst="rect">
            <a:avLst/>
          </a:prstGeom>
          <a:noFill/>
          <a:ln/>
        </p:spPr>
        <p:txBody>
          <a:bodyPr wrap="none" lIns="0" tIns="0" rIns="0" bIns="0" rtlCol="0" anchor="t">
            <a:normAutofit/>
          </a:bodyPr>
          <a:lstStyle/>
          <a:p>
            <a:pPr marL="0" indent="0" algn="l">
              <a:buNone/>
            </a:pPr>
            <a:r>
              <a:rPr lang="en-US" sz="975" b="1" dirty="0">
                <a:solidFill>
                  <a:srgbClr val="3A2C24"/>
                </a:solidFill>
                <a:latin typeface="Paperlogy 7 Bold" pitchFamily="2" charset="-127"/>
                <a:ea typeface="Paperlogy 7 Bold" pitchFamily="2" charset="-127"/>
                <a:cs typeface="Arial" pitchFamily="34" charset="-120"/>
              </a:rPr>
              <a:t>1년 이상 운용 펀드 기준</a:t>
            </a:r>
            <a:endParaRPr lang="en-US" sz="975" dirty="0"/>
          </a:p>
        </p:txBody>
      </p:sp>
      <p:sp>
        <p:nvSpPr>
          <p:cNvPr id="262" name="Text 260"/>
          <p:cNvSpPr/>
          <p:nvPr/>
        </p:nvSpPr>
        <p:spPr>
          <a:xfrm>
            <a:off x="4109248" y="6141373"/>
            <a:ext cx="6659297" cy="220942"/>
          </a:xfrm>
          <a:prstGeom prst="rect">
            <a:avLst/>
          </a:prstGeom>
          <a:noFill/>
          <a:ln/>
        </p:spPr>
        <p:txBody>
          <a:bodyPr wrap="square" lIns="25400" tIns="25400" rIns="25400" bIns="25400" rtlCol="0" anchor="t">
            <a:normAutofit/>
          </a:bodyPr>
          <a:lstStyle/>
          <a:p>
            <a:pPr marL="0" indent="0" algn="l">
              <a:lnSpc>
                <a:spcPct val="134824"/>
              </a:lnSpc>
              <a:buNone/>
            </a:pPr>
            <a:r>
              <a:rPr lang="en-US" sz="900" b="1" dirty="0">
                <a:solidFill>
                  <a:srgbClr val="7B6B60"/>
                </a:solidFill>
                <a:latin typeface="Paperlogy 7 Bold" pitchFamily="2" charset="-127"/>
                <a:ea typeface="Paperlogy 7 Bold" pitchFamily="2" charset="-127"/>
                <a:cs typeface="Arial" pitchFamily="34" charset="-120"/>
              </a:rPr>
              <a:t>※ 변액펀드 월 수익률 분석은 흐름을 보여주기 위한 것으로 월 수익률이 장기 수익률을 보장하지는 않습니다.</a:t>
            </a:r>
            <a:endParaRPr lang="en-US" sz="900" dirty="0"/>
          </a:p>
        </p:txBody>
      </p:sp>
      <p:sp>
        <p:nvSpPr>
          <p:cNvPr id="263" name="Text 261"/>
          <p:cNvSpPr/>
          <p:nvPr/>
        </p:nvSpPr>
        <p:spPr>
          <a:xfrm>
            <a:off x="4242598" y="6324215"/>
            <a:ext cx="6525947" cy="220942"/>
          </a:xfrm>
          <a:prstGeom prst="rect">
            <a:avLst/>
          </a:prstGeom>
          <a:noFill/>
          <a:ln/>
        </p:spPr>
        <p:txBody>
          <a:bodyPr wrap="square" lIns="25400" tIns="25400" rIns="25400" bIns="25400" rtlCol="0" anchor="t">
            <a:normAutofit/>
          </a:bodyPr>
          <a:lstStyle/>
          <a:p>
            <a:pPr marL="0" indent="0" algn="l">
              <a:lnSpc>
                <a:spcPct val="134824"/>
              </a:lnSpc>
              <a:buNone/>
            </a:pPr>
            <a:r>
              <a:rPr lang="en-US" sz="900" b="1" dirty="0">
                <a:solidFill>
                  <a:srgbClr val="7B6B60"/>
                </a:solidFill>
                <a:latin typeface="Paperlogy 7 Bold" pitchFamily="2" charset="-127"/>
                <a:ea typeface="Paperlogy 7 Bold" pitchFamily="2" charset="-127"/>
                <a:cs typeface="Arial" pitchFamily="34" charset="-120"/>
              </a:rPr>
              <a:t>장기적으로 꾸준히 좋은 수익률을 낸 펀드와 함께 비교해 보시기 바랍니다.</a:t>
            </a:r>
            <a:endParaRPr lang="en-US" sz="900" dirty="0"/>
          </a:p>
        </p:txBody>
      </p:sp>
      <p:sp>
        <p:nvSpPr>
          <p:cNvPr id="264" name="Text 262"/>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65" name="Text 263"/>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66" name="Text 264"/>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47275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단기납종신 환급률 (5년납)</a:t>
            </a:r>
            <a:endParaRPr lang="en-US" sz="2475" dirty="0"/>
          </a:p>
        </p:txBody>
      </p:sp>
      <p:sp>
        <p:nvSpPr>
          <p:cNvPr id="3" name="Shape 1"/>
          <p:cNvSpPr/>
          <p:nvPr/>
        </p:nvSpPr>
        <p:spPr>
          <a:xfrm>
            <a:off x="533363" y="800085"/>
            <a:ext cx="9629791" cy="9525"/>
          </a:xfrm>
          <a:prstGeom prst="rect">
            <a:avLst/>
          </a:prstGeom>
          <a:solidFill>
            <a:srgbClr val="EADFD3"/>
          </a:solidFill>
          <a:ln/>
        </p:spPr>
        <p:txBody>
          <a:bodyPr/>
          <a:lstStyle/>
          <a:p>
            <a:endParaRPr lang="ko-KR" altLang="en-US"/>
          </a:p>
        </p:txBody>
      </p:sp>
      <p:sp>
        <p:nvSpPr>
          <p:cNvPr id="4" name="Text 2"/>
          <p:cNvSpPr/>
          <p:nvPr/>
        </p:nvSpPr>
        <p:spPr>
          <a:xfrm>
            <a:off x="533363" y="1095338"/>
            <a:ext cx="4959995"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3A2C24"/>
                </a:solidFill>
                <a:latin typeface="Paperlogy 7 Bold" pitchFamily="2" charset="-127"/>
                <a:ea typeface="Paperlogy 7 Bold" pitchFamily="2" charset="-127"/>
                <a:cs typeface="Arial" pitchFamily="34" charset="-120"/>
              </a:rPr>
              <a:t>40세 남자 저해약종신-보험료50만 - 5년납/종신, 최저 보증 이율 생보환급률 비교</a:t>
            </a:r>
            <a:endParaRPr lang="en-US" sz="1125" dirty="0"/>
          </a:p>
        </p:txBody>
      </p:sp>
      <p:sp>
        <p:nvSpPr>
          <p:cNvPr id="5" name="Text 3"/>
          <p:cNvSpPr/>
          <p:nvPr/>
        </p:nvSpPr>
        <p:spPr>
          <a:xfrm>
            <a:off x="9349375" y="1121423"/>
            <a:ext cx="88997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2026.9.30 기준</a:t>
            </a:r>
            <a:endParaRPr lang="en-US" sz="900" dirty="0"/>
          </a:p>
        </p:txBody>
      </p:sp>
      <p:sp>
        <p:nvSpPr>
          <p:cNvPr id="6" name="Shape 4"/>
          <p:cNvSpPr/>
          <p:nvPr/>
        </p:nvSpPr>
        <p:spPr>
          <a:xfrm>
            <a:off x="533363" y="1362712"/>
            <a:ext cx="9629791" cy="5202955"/>
          </a:xfrm>
          <a:prstGeom prst="roundRect">
            <a:avLst>
              <a:gd name="adj" fmla="val 2197"/>
            </a:avLst>
          </a:prstGeom>
          <a:solidFill>
            <a:srgbClr val="FFFFFF"/>
          </a:solidFill>
          <a:ln w="5217">
            <a:solidFill>
              <a:srgbClr val="EADFD3"/>
            </a:solidFill>
            <a:prstDash val="solid"/>
          </a:ln>
        </p:spPr>
        <p:txBody>
          <a:bodyPr/>
          <a:lstStyle/>
          <a:p>
            <a:endParaRPr lang="ko-KR" altLang="en-US"/>
          </a:p>
        </p:txBody>
      </p:sp>
      <p:sp>
        <p:nvSpPr>
          <p:cNvPr id="7" name="Shape 5"/>
          <p:cNvSpPr/>
          <p:nvPr/>
        </p:nvSpPr>
        <p:spPr>
          <a:xfrm>
            <a:off x="538580" y="1367929"/>
            <a:ext cx="1603185" cy="649198"/>
          </a:xfrm>
          <a:prstGeom prst="rect">
            <a:avLst/>
          </a:prstGeom>
          <a:solidFill>
            <a:srgbClr val="CF9C3C"/>
          </a:solidFill>
          <a:ln/>
        </p:spPr>
        <p:txBody>
          <a:bodyPr/>
          <a:lstStyle/>
          <a:p>
            <a:endParaRPr lang="ko-KR" altLang="en-US"/>
          </a:p>
        </p:txBody>
      </p:sp>
      <p:sp>
        <p:nvSpPr>
          <p:cNvPr id="8" name="Shape 6"/>
          <p:cNvSpPr/>
          <p:nvPr/>
        </p:nvSpPr>
        <p:spPr>
          <a:xfrm>
            <a:off x="2141765" y="1367929"/>
            <a:ext cx="1603185" cy="649198"/>
          </a:xfrm>
          <a:prstGeom prst="rect">
            <a:avLst/>
          </a:prstGeom>
          <a:solidFill>
            <a:srgbClr val="CF9C3C"/>
          </a:solidFill>
          <a:ln/>
        </p:spPr>
        <p:txBody>
          <a:bodyPr/>
          <a:lstStyle/>
          <a:p>
            <a:endParaRPr lang="ko-KR" altLang="en-US"/>
          </a:p>
        </p:txBody>
      </p:sp>
      <p:sp>
        <p:nvSpPr>
          <p:cNvPr id="9" name="Shape 7"/>
          <p:cNvSpPr/>
          <p:nvPr/>
        </p:nvSpPr>
        <p:spPr>
          <a:xfrm>
            <a:off x="2141765" y="1367929"/>
            <a:ext cx="9525" cy="649198"/>
          </a:xfrm>
          <a:prstGeom prst="rect">
            <a:avLst/>
          </a:prstGeom>
          <a:solidFill>
            <a:srgbClr val="FFFFFF">
              <a:alpha val="25000"/>
            </a:srgbClr>
          </a:solidFill>
          <a:ln/>
        </p:spPr>
        <p:txBody>
          <a:bodyPr/>
          <a:lstStyle/>
          <a:p>
            <a:endParaRPr lang="ko-KR" altLang="en-US"/>
          </a:p>
        </p:txBody>
      </p:sp>
      <p:sp>
        <p:nvSpPr>
          <p:cNvPr id="10" name="Text 8"/>
          <p:cNvSpPr/>
          <p:nvPr/>
        </p:nvSpPr>
        <p:spPr>
          <a:xfrm>
            <a:off x="2166032" y="1406029"/>
            <a:ext cx="1559868" cy="61109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KB라이프</a:t>
            </a:r>
            <a:r>
              <a:rPr lang="en-US" sz="1050" b="1" kern="0" spc="-11" dirty="0">
                <a:solidFill>
                  <a:srgbClr val="FFFFFF"/>
                </a:solidFill>
                <a:latin typeface="Paperlogy 7 Bold" pitchFamily="2" charset="-127"/>
                <a:ea typeface="Paperlogy 7 Bold" pitchFamily="2" charset="-127"/>
                <a:cs typeface="Arial" pitchFamily="34" charset="-120"/>
              </a:rPr>
              <a:t>/</a:t>
            </a: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무</a:t>
            </a:r>
            <a:r>
              <a:rPr lang="en-US" sz="1050" b="1" kern="0" spc="-11" dirty="0">
                <a:solidFill>
                  <a:srgbClr val="FFFFFF"/>
                </a:solidFill>
                <a:latin typeface="Paperlogy 7 Bold" pitchFamily="2" charset="-127"/>
                <a:ea typeface="Paperlogy 7 Bold" pitchFamily="2" charset="-127"/>
                <a:cs typeface="Arial" pitchFamily="34" charset="-120"/>
              </a:rPr>
              <a:t>) 약속플러스 종신보험</a:t>
            </a:r>
            <a:endParaRPr lang="en-US" sz="1050" dirty="0"/>
          </a:p>
        </p:txBody>
      </p:sp>
      <p:sp>
        <p:nvSpPr>
          <p:cNvPr id="11" name="Shape 9"/>
          <p:cNvSpPr/>
          <p:nvPr/>
        </p:nvSpPr>
        <p:spPr>
          <a:xfrm>
            <a:off x="3744951" y="1367929"/>
            <a:ext cx="1603185" cy="649198"/>
          </a:xfrm>
          <a:prstGeom prst="rect">
            <a:avLst/>
          </a:prstGeom>
          <a:solidFill>
            <a:srgbClr val="CF9C3C"/>
          </a:solidFill>
          <a:ln/>
        </p:spPr>
        <p:txBody>
          <a:bodyPr/>
          <a:lstStyle/>
          <a:p>
            <a:endParaRPr lang="ko-KR" altLang="en-US"/>
          </a:p>
        </p:txBody>
      </p:sp>
      <p:sp>
        <p:nvSpPr>
          <p:cNvPr id="12" name="Shape 10"/>
          <p:cNvSpPr/>
          <p:nvPr/>
        </p:nvSpPr>
        <p:spPr>
          <a:xfrm>
            <a:off x="3744951" y="1367929"/>
            <a:ext cx="9525" cy="649198"/>
          </a:xfrm>
          <a:prstGeom prst="rect">
            <a:avLst/>
          </a:prstGeom>
          <a:solidFill>
            <a:srgbClr val="FFFFFF">
              <a:alpha val="25000"/>
            </a:srgbClr>
          </a:solidFill>
          <a:ln/>
        </p:spPr>
        <p:txBody>
          <a:bodyPr/>
          <a:lstStyle/>
          <a:p>
            <a:endParaRPr lang="ko-KR" altLang="en-US"/>
          </a:p>
        </p:txBody>
      </p:sp>
      <p:sp>
        <p:nvSpPr>
          <p:cNvPr id="13" name="Text 11"/>
          <p:cNvSpPr/>
          <p:nvPr/>
        </p:nvSpPr>
        <p:spPr>
          <a:xfrm>
            <a:off x="3769218" y="1406029"/>
            <a:ext cx="1559868" cy="61109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하나생명/무)</a:t>
            </a:r>
            <a:r>
              <a:rPr lang="en-US" sz="1050" b="1" kern="0" spc="-11" dirty="0" err="1">
                <a:solidFill>
                  <a:srgbClr val="FFFFFF"/>
                </a:solidFill>
                <a:latin typeface="Paperlogy 7 Bold" pitchFamily="2" charset="-127"/>
                <a:ea typeface="Paperlogy 7 Bold" pitchFamily="2" charset="-127"/>
                <a:cs typeface="Arial" pitchFamily="34" charset="-120"/>
              </a:rPr>
              <a:t>하나로</a:t>
            </a:r>
            <a:r>
              <a:rPr lang="en-US" sz="1050" b="1" kern="0" spc="-11" dirty="0">
                <a:solidFill>
                  <a:srgbClr val="FFFFFF"/>
                </a:solidFill>
                <a:latin typeface="Paperlogy 7 Bold" pitchFamily="2" charset="-127"/>
                <a:ea typeface="Paperlogy 7 Bold" pitchFamily="2" charset="-127"/>
                <a:cs typeface="Arial" pitchFamily="34" charset="-120"/>
              </a:rPr>
              <a:t> THE</a:t>
            </a:r>
          </a:p>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 연결된 종신보험</a:t>
            </a:r>
            <a:endParaRPr lang="en-US" sz="1050" dirty="0"/>
          </a:p>
        </p:txBody>
      </p:sp>
      <p:sp>
        <p:nvSpPr>
          <p:cNvPr id="14" name="Shape 12"/>
          <p:cNvSpPr/>
          <p:nvPr/>
        </p:nvSpPr>
        <p:spPr>
          <a:xfrm>
            <a:off x="5348136" y="1367929"/>
            <a:ext cx="1603185" cy="649198"/>
          </a:xfrm>
          <a:prstGeom prst="rect">
            <a:avLst/>
          </a:prstGeom>
          <a:solidFill>
            <a:srgbClr val="CF9C3C"/>
          </a:solidFill>
          <a:ln/>
        </p:spPr>
        <p:txBody>
          <a:bodyPr/>
          <a:lstStyle/>
          <a:p>
            <a:endParaRPr lang="ko-KR" altLang="en-US"/>
          </a:p>
        </p:txBody>
      </p:sp>
      <p:sp>
        <p:nvSpPr>
          <p:cNvPr id="15" name="Shape 13"/>
          <p:cNvSpPr/>
          <p:nvPr/>
        </p:nvSpPr>
        <p:spPr>
          <a:xfrm>
            <a:off x="5348136" y="1367929"/>
            <a:ext cx="9525" cy="649198"/>
          </a:xfrm>
          <a:prstGeom prst="rect">
            <a:avLst/>
          </a:prstGeom>
          <a:solidFill>
            <a:srgbClr val="FFFFFF">
              <a:alpha val="25000"/>
            </a:srgbClr>
          </a:solidFill>
          <a:ln/>
        </p:spPr>
        <p:txBody>
          <a:bodyPr/>
          <a:lstStyle/>
          <a:p>
            <a:endParaRPr lang="ko-KR" altLang="en-US"/>
          </a:p>
        </p:txBody>
      </p:sp>
      <p:sp>
        <p:nvSpPr>
          <p:cNvPr id="16" name="Text 14"/>
          <p:cNvSpPr/>
          <p:nvPr/>
        </p:nvSpPr>
        <p:spPr>
          <a:xfrm>
            <a:off x="5372403" y="1406029"/>
            <a:ext cx="1559868" cy="61109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ABL생명/무)</a:t>
            </a:r>
            <a:r>
              <a:rPr lang="en-US" sz="1050" b="1" kern="0" spc="-11" dirty="0" err="1">
                <a:solidFill>
                  <a:srgbClr val="FFFFFF"/>
                </a:solidFill>
                <a:latin typeface="Paperlogy 7 Bold" pitchFamily="2" charset="-127"/>
                <a:ea typeface="Paperlogy 7 Bold" pitchFamily="2" charset="-127"/>
                <a:cs typeface="Arial" pitchFamily="34" charset="-120"/>
              </a:rPr>
              <a:t>우리WON</a:t>
            </a:r>
            <a:endParaRPr lang="en-US" sz="1050" b="1" kern="0" spc="-11" dirty="0">
              <a:solidFill>
                <a:srgbClr val="FFFFFF"/>
              </a:solidFill>
              <a:latin typeface="Paperlogy 7 Bold" pitchFamily="2" charset="-127"/>
              <a:ea typeface="Paperlogy 7 Bold" pitchFamily="2" charset="-127"/>
              <a:cs typeface="Arial" pitchFamily="34" charset="-120"/>
            </a:endParaRP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더</a:t>
            </a:r>
            <a:r>
              <a:rPr lang="en-US" sz="1050" b="1" kern="0" spc="-11" dirty="0">
                <a:solidFill>
                  <a:srgbClr val="FFFFFF"/>
                </a:solidFill>
                <a:latin typeface="Paperlogy 7 Bold" pitchFamily="2" charset="-127"/>
                <a:ea typeface="Paperlogy 7 Bold" pitchFamily="2" charset="-127"/>
                <a:cs typeface="Arial" pitchFamily="34" charset="-120"/>
              </a:rPr>
              <a:t> 드림종신보험</a:t>
            </a:r>
            <a:endParaRPr lang="en-US" sz="1050" dirty="0"/>
          </a:p>
        </p:txBody>
      </p:sp>
      <p:sp>
        <p:nvSpPr>
          <p:cNvPr id="17" name="Shape 15"/>
          <p:cNvSpPr/>
          <p:nvPr/>
        </p:nvSpPr>
        <p:spPr>
          <a:xfrm>
            <a:off x="6951322" y="1367929"/>
            <a:ext cx="1603185" cy="649198"/>
          </a:xfrm>
          <a:prstGeom prst="rect">
            <a:avLst/>
          </a:prstGeom>
          <a:solidFill>
            <a:srgbClr val="CF9C3C"/>
          </a:solidFill>
          <a:ln/>
        </p:spPr>
        <p:txBody>
          <a:bodyPr/>
          <a:lstStyle/>
          <a:p>
            <a:endParaRPr lang="ko-KR" altLang="en-US"/>
          </a:p>
        </p:txBody>
      </p:sp>
      <p:sp>
        <p:nvSpPr>
          <p:cNvPr id="18" name="Shape 16"/>
          <p:cNvSpPr/>
          <p:nvPr/>
        </p:nvSpPr>
        <p:spPr>
          <a:xfrm>
            <a:off x="6951322" y="1367929"/>
            <a:ext cx="9525" cy="649198"/>
          </a:xfrm>
          <a:prstGeom prst="rect">
            <a:avLst/>
          </a:prstGeom>
          <a:solidFill>
            <a:srgbClr val="FFFFFF">
              <a:alpha val="25000"/>
            </a:srgbClr>
          </a:solidFill>
          <a:ln/>
        </p:spPr>
        <p:txBody>
          <a:bodyPr/>
          <a:lstStyle/>
          <a:p>
            <a:endParaRPr lang="ko-KR" altLang="en-US"/>
          </a:p>
        </p:txBody>
      </p:sp>
      <p:sp>
        <p:nvSpPr>
          <p:cNvPr id="19" name="Text 17"/>
          <p:cNvSpPr/>
          <p:nvPr/>
        </p:nvSpPr>
        <p:spPr>
          <a:xfrm>
            <a:off x="6975589" y="1406029"/>
            <a:ext cx="1559868" cy="61109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푸본현대생명/무)MAX </a:t>
            </a: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종신보험원픽종신보험</a:t>
            </a:r>
            <a:endParaRPr lang="en-US" sz="1050" dirty="0"/>
          </a:p>
        </p:txBody>
      </p:sp>
      <p:sp>
        <p:nvSpPr>
          <p:cNvPr id="20" name="Shape 18"/>
          <p:cNvSpPr/>
          <p:nvPr/>
        </p:nvSpPr>
        <p:spPr>
          <a:xfrm>
            <a:off x="8554507" y="1367929"/>
            <a:ext cx="1603430" cy="649198"/>
          </a:xfrm>
          <a:prstGeom prst="rect">
            <a:avLst/>
          </a:prstGeom>
          <a:solidFill>
            <a:srgbClr val="CF9C3C"/>
          </a:solidFill>
          <a:ln/>
        </p:spPr>
        <p:txBody>
          <a:bodyPr/>
          <a:lstStyle/>
          <a:p>
            <a:endParaRPr lang="ko-KR" altLang="en-US"/>
          </a:p>
        </p:txBody>
      </p:sp>
      <p:sp>
        <p:nvSpPr>
          <p:cNvPr id="21" name="Shape 19"/>
          <p:cNvSpPr/>
          <p:nvPr/>
        </p:nvSpPr>
        <p:spPr>
          <a:xfrm>
            <a:off x="8554507" y="1367929"/>
            <a:ext cx="9525" cy="649198"/>
          </a:xfrm>
          <a:prstGeom prst="rect">
            <a:avLst/>
          </a:prstGeom>
          <a:solidFill>
            <a:srgbClr val="FFFFFF">
              <a:alpha val="25000"/>
            </a:srgbClr>
          </a:solidFill>
          <a:ln/>
        </p:spPr>
        <p:txBody>
          <a:bodyPr/>
          <a:lstStyle/>
          <a:p>
            <a:endParaRPr lang="ko-KR" altLang="en-US"/>
          </a:p>
        </p:txBody>
      </p:sp>
      <p:sp>
        <p:nvSpPr>
          <p:cNvPr id="22" name="Text 20"/>
          <p:cNvSpPr/>
          <p:nvPr/>
        </p:nvSpPr>
        <p:spPr>
          <a:xfrm>
            <a:off x="8578774" y="1406029"/>
            <a:ext cx="1560113" cy="61109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iM라이프/무) </a:t>
            </a:r>
            <a:r>
              <a:rPr lang="en-US" sz="1050" b="1" kern="0" spc="-11" dirty="0" err="1">
                <a:solidFill>
                  <a:srgbClr val="FFFFFF"/>
                </a:solidFill>
                <a:latin typeface="Paperlogy 7 Bold" pitchFamily="2" charset="-127"/>
                <a:ea typeface="Paperlogy 7 Bold" pitchFamily="2" charset="-127"/>
                <a:cs typeface="Arial" pitchFamily="34" charset="-120"/>
              </a:rPr>
              <a:t>당당한인생</a:t>
            </a:r>
            <a:endParaRPr lang="en-US" sz="1050" b="1" kern="0" spc="-11" dirty="0">
              <a:solidFill>
                <a:srgbClr val="FFFFFF"/>
              </a:solidFill>
              <a:latin typeface="Paperlogy 7 Bold" pitchFamily="2" charset="-127"/>
              <a:ea typeface="Paperlogy 7 Bold" pitchFamily="2" charset="-127"/>
              <a:cs typeface="Arial" pitchFamily="34" charset="-120"/>
            </a:endParaRP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종신보험</a:t>
            </a:r>
            <a:endParaRPr lang="en-US" sz="1050" dirty="0"/>
          </a:p>
        </p:txBody>
      </p:sp>
      <p:sp>
        <p:nvSpPr>
          <p:cNvPr id="23" name="Shape 21"/>
          <p:cNvSpPr/>
          <p:nvPr/>
        </p:nvSpPr>
        <p:spPr>
          <a:xfrm>
            <a:off x="538580" y="2017126"/>
            <a:ext cx="1603185" cy="387856"/>
          </a:xfrm>
          <a:prstGeom prst="rect">
            <a:avLst/>
          </a:prstGeom>
          <a:solidFill>
            <a:srgbClr val="FCF8EC"/>
          </a:solidFill>
          <a:ln/>
        </p:spPr>
        <p:txBody>
          <a:bodyPr/>
          <a:lstStyle/>
          <a:p>
            <a:endParaRPr lang="ko-KR" altLang="en-US"/>
          </a:p>
        </p:txBody>
      </p:sp>
      <p:sp>
        <p:nvSpPr>
          <p:cNvPr id="24" name="Shape 22"/>
          <p:cNvSpPr/>
          <p:nvPr/>
        </p:nvSpPr>
        <p:spPr>
          <a:xfrm>
            <a:off x="538580" y="2017126"/>
            <a:ext cx="1603185" cy="9525"/>
          </a:xfrm>
          <a:prstGeom prst="rect">
            <a:avLst/>
          </a:prstGeom>
          <a:solidFill>
            <a:srgbClr val="EADFD3"/>
          </a:solidFill>
          <a:ln/>
        </p:spPr>
        <p:txBody>
          <a:bodyPr/>
          <a:lstStyle/>
          <a:p>
            <a:endParaRPr lang="ko-KR" altLang="en-US"/>
          </a:p>
        </p:txBody>
      </p:sp>
      <p:sp>
        <p:nvSpPr>
          <p:cNvPr id="25" name="Text 23"/>
          <p:cNvSpPr/>
          <p:nvPr/>
        </p:nvSpPr>
        <p:spPr>
          <a:xfrm>
            <a:off x="557630" y="2060444"/>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1년</a:t>
            </a:r>
            <a:endParaRPr lang="en-US" sz="1050" dirty="0"/>
          </a:p>
        </p:txBody>
      </p:sp>
      <p:sp>
        <p:nvSpPr>
          <p:cNvPr id="26" name="Shape 24"/>
          <p:cNvSpPr/>
          <p:nvPr/>
        </p:nvSpPr>
        <p:spPr>
          <a:xfrm>
            <a:off x="2141765" y="2017126"/>
            <a:ext cx="1603185" cy="387856"/>
          </a:xfrm>
          <a:prstGeom prst="rect">
            <a:avLst/>
          </a:prstGeom>
          <a:solidFill>
            <a:srgbClr val="FFFFFF"/>
          </a:solidFill>
          <a:ln/>
        </p:spPr>
        <p:txBody>
          <a:bodyPr/>
          <a:lstStyle/>
          <a:p>
            <a:endParaRPr lang="ko-KR" altLang="en-US"/>
          </a:p>
        </p:txBody>
      </p:sp>
      <p:sp>
        <p:nvSpPr>
          <p:cNvPr id="27" name="Shape 25"/>
          <p:cNvSpPr/>
          <p:nvPr/>
        </p:nvSpPr>
        <p:spPr>
          <a:xfrm>
            <a:off x="2141765" y="2017126"/>
            <a:ext cx="1603185" cy="9525"/>
          </a:xfrm>
          <a:prstGeom prst="rect">
            <a:avLst/>
          </a:prstGeom>
          <a:solidFill>
            <a:srgbClr val="EADFD3"/>
          </a:solidFill>
          <a:ln/>
        </p:spPr>
        <p:txBody>
          <a:bodyPr/>
          <a:lstStyle/>
          <a:p>
            <a:endParaRPr lang="ko-KR" altLang="en-US"/>
          </a:p>
        </p:txBody>
      </p:sp>
      <p:sp>
        <p:nvSpPr>
          <p:cNvPr id="28" name="Shape 26"/>
          <p:cNvSpPr/>
          <p:nvPr/>
        </p:nvSpPr>
        <p:spPr>
          <a:xfrm>
            <a:off x="2141765" y="2017126"/>
            <a:ext cx="9525" cy="387856"/>
          </a:xfrm>
          <a:prstGeom prst="rect">
            <a:avLst/>
          </a:prstGeom>
          <a:solidFill>
            <a:srgbClr val="EADFD3"/>
          </a:solidFill>
          <a:ln/>
        </p:spPr>
        <p:txBody>
          <a:bodyPr/>
          <a:lstStyle/>
          <a:p>
            <a:endParaRPr lang="ko-KR" altLang="en-US"/>
          </a:p>
        </p:txBody>
      </p:sp>
      <p:sp>
        <p:nvSpPr>
          <p:cNvPr id="29" name="Text 27"/>
          <p:cNvSpPr/>
          <p:nvPr/>
        </p:nvSpPr>
        <p:spPr>
          <a:xfrm>
            <a:off x="2166032" y="2060444"/>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35.6%</a:t>
            </a:r>
            <a:endParaRPr lang="en-US" sz="1050" dirty="0"/>
          </a:p>
        </p:txBody>
      </p:sp>
      <p:sp>
        <p:nvSpPr>
          <p:cNvPr id="30" name="Shape 28"/>
          <p:cNvSpPr/>
          <p:nvPr/>
        </p:nvSpPr>
        <p:spPr>
          <a:xfrm>
            <a:off x="3744951" y="2017126"/>
            <a:ext cx="1603185" cy="387856"/>
          </a:xfrm>
          <a:prstGeom prst="rect">
            <a:avLst/>
          </a:prstGeom>
          <a:solidFill>
            <a:srgbClr val="FFFFFF"/>
          </a:solidFill>
          <a:ln/>
        </p:spPr>
        <p:txBody>
          <a:bodyPr/>
          <a:lstStyle/>
          <a:p>
            <a:endParaRPr lang="ko-KR" altLang="en-US"/>
          </a:p>
        </p:txBody>
      </p:sp>
      <p:sp>
        <p:nvSpPr>
          <p:cNvPr id="31" name="Shape 29"/>
          <p:cNvSpPr/>
          <p:nvPr/>
        </p:nvSpPr>
        <p:spPr>
          <a:xfrm>
            <a:off x="3744951" y="2017126"/>
            <a:ext cx="1603185" cy="9525"/>
          </a:xfrm>
          <a:prstGeom prst="rect">
            <a:avLst/>
          </a:prstGeom>
          <a:solidFill>
            <a:srgbClr val="EADFD3"/>
          </a:solidFill>
          <a:ln/>
        </p:spPr>
        <p:txBody>
          <a:bodyPr/>
          <a:lstStyle/>
          <a:p>
            <a:endParaRPr lang="ko-KR" altLang="en-US"/>
          </a:p>
        </p:txBody>
      </p:sp>
      <p:sp>
        <p:nvSpPr>
          <p:cNvPr id="32" name="Shape 30"/>
          <p:cNvSpPr/>
          <p:nvPr/>
        </p:nvSpPr>
        <p:spPr>
          <a:xfrm>
            <a:off x="3744951" y="2017126"/>
            <a:ext cx="9525" cy="387856"/>
          </a:xfrm>
          <a:prstGeom prst="rect">
            <a:avLst/>
          </a:prstGeom>
          <a:solidFill>
            <a:srgbClr val="EADFD3"/>
          </a:solidFill>
          <a:ln/>
        </p:spPr>
        <p:txBody>
          <a:bodyPr/>
          <a:lstStyle/>
          <a:p>
            <a:endParaRPr lang="ko-KR" altLang="en-US"/>
          </a:p>
        </p:txBody>
      </p:sp>
      <p:sp>
        <p:nvSpPr>
          <p:cNvPr id="33" name="Text 31"/>
          <p:cNvSpPr/>
          <p:nvPr/>
        </p:nvSpPr>
        <p:spPr>
          <a:xfrm>
            <a:off x="3769218" y="2060444"/>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33%</a:t>
            </a:r>
            <a:endParaRPr lang="en-US" sz="1050" dirty="0"/>
          </a:p>
        </p:txBody>
      </p:sp>
      <p:sp>
        <p:nvSpPr>
          <p:cNvPr id="34" name="Shape 32"/>
          <p:cNvSpPr/>
          <p:nvPr/>
        </p:nvSpPr>
        <p:spPr>
          <a:xfrm>
            <a:off x="5348136" y="2017126"/>
            <a:ext cx="1603185" cy="387856"/>
          </a:xfrm>
          <a:prstGeom prst="rect">
            <a:avLst/>
          </a:prstGeom>
          <a:solidFill>
            <a:srgbClr val="FFFFFF"/>
          </a:solidFill>
          <a:ln/>
        </p:spPr>
        <p:txBody>
          <a:bodyPr/>
          <a:lstStyle/>
          <a:p>
            <a:endParaRPr lang="ko-KR" altLang="en-US"/>
          </a:p>
        </p:txBody>
      </p:sp>
      <p:sp>
        <p:nvSpPr>
          <p:cNvPr id="35" name="Shape 33"/>
          <p:cNvSpPr/>
          <p:nvPr/>
        </p:nvSpPr>
        <p:spPr>
          <a:xfrm>
            <a:off x="5348136" y="2017126"/>
            <a:ext cx="1603185" cy="9525"/>
          </a:xfrm>
          <a:prstGeom prst="rect">
            <a:avLst/>
          </a:prstGeom>
          <a:solidFill>
            <a:srgbClr val="EADFD3"/>
          </a:solidFill>
          <a:ln/>
        </p:spPr>
        <p:txBody>
          <a:bodyPr/>
          <a:lstStyle/>
          <a:p>
            <a:endParaRPr lang="ko-KR" altLang="en-US"/>
          </a:p>
        </p:txBody>
      </p:sp>
      <p:sp>
        <p:nvSpPr>
          <p:cNvPr id="36" name="Shape 34"/>
          <p:cNvSpPr/>
          <p:nvPr/>
        </p:nvSpPr>
        <p:spPr>
          <a:xfrm>
            <a:off x="5348136" y="2017126"/>
            <a:ext cx="9525" cy="387856"/>
          </a:xfrm>
          <a:prstGeom prst="rect">
            <a:avLst/>
          </a:prstGeom>
          <a:solidFill>
            <a:srgbClr val="EADFD3"/>
          </a:solidFill>
          <a:ln/>
        </p:spPr>
        <p:txBody>
          <a:bodyPr/>
          <a:lstStyle/>
          <a:p>
            <a:endParaRPr lang="ko-KR" altLang="en-US"/>
          </a:p>
        </p:txBody>
      </p:sp>
      <p:sp>
        <p:nvSpPr>
          <p:cNvPr id="37" name="Text 35"/>
          <p:cNvSpPr/>
          <p:nvPr/>
        </p:nvSpPr>
        <p:spPr>
          <a:xfrm>
            <a:off x="5372403" y="2060444"/>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30.1%</a:t>
            </a:r>
            <a:endParaRPr lang="en-US" sz="1050" dirty="0"/>
          </a:p>
        </p:txBody>
      </p:sp>
      <p:sp>
        <p:nvSpPr>
          <p:cNvPr id="38" name="Shape 36"/>
          <p:cNvSpPr/>
          <p:nvPr/>
        </p:nvSpPr>
        <p:spPr>
          <a:xfrm>
            <a:off x="6951322" y="2017126"/>
            <a:ext cx="1603185" cy="387856"/>
          </a:xfrm>
          <a:prstGeom prst="rect">
            <a:avLst/>
          </a:prstGeom>
          <a:solidFill>
            <a:srgbClr val="FFFFFF"/>
          </a:solidFill>
          <a:ln/>
        </p:spPr>
        <p:txBody>
          <a:bodyPr/>
          <a:lstStyle/>
          <a:p>
            <a:endParaRPr lang="ko-KR" altLang="en-US"/>
          </a:p>
        </p:txBody>
      </p:sp>
      <p:sp>
        <p:nvSpPr>
          <p:cNvPr id="39" name="Shape 37"/>
          <p:cNvSpPr/>
          <p:nvPr/>
        </p:nvSpPr>
        <p:spPr>
          <a:xfrm>
            <a:off x="6951322" y="2017126"/>
            <a:ext cx="1603185" cy="9525"/>
          </a:xfrm>
          <a:prstGeom prst="rect">
            <a:avLst/>
          </a:prstGeom>
          <a:solidFill>
            <a:srgbClr val="EADFD3"/>
          </a:solidFill>
          <a:ln/>
        </p:spPr>
        <p:txBody>
          <a:bodyPr/>
          <a:lstStyle/>
          <a:p>
            <a:endParaRPr lang="ko-KR" altLang="en-US"/>
          </a:p>
        </p:txBody>
      </p:sp>
      <p:sp>
        <p:nvSpPr>
          <p:cNvPr id="40" name="Shape 38"/>
          <p:cNvSpPr/>
          <p:nvPr/>
        </p:nvSpPr>
        <p:spPr>
          <a:xfrm>
            <a:off x="6951322" y="2017126"/>
            <a:ext cx="9525" cy="387856"/>
          </a:xfrm>
          <a:prstGeom prst="rect">
            <a:avLst/>
          </a:prstGeom>
          <a:solidFill>
            <a:srgbClr val="EADFD3"/>
          </a:solidFill>
          <a:ln/>
        </p:spPr>
        <p:txBody>
          <a:bodyPr/>
          <a:lstStyle/>
          <a:p>
            <a:endParaRPr lang="ko-KR" altLang="en-US"/>
          </a:p>
        </p:txBody>
      </p:sp>
      <p:sp>
        <p:nvSpPr>
          <p:cNvPr id="41" name="Text 39"/>
          <p:cNvSpPr/>
          <p:nvPr/>
        </p:nvSpPr>
        <p:spPr>
          <a:xfrm>
            <a:off x="6975589" y="2060444"/>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34.7%</a:t>
            </a:r>
            <a:endParaRPr lang="en-US" sz="1050" dirty="0"/>
          </a:p>
        </p:txBody>
      </p:sp>
      <p:sp>
        <p:nvSpPr>
          <p:cNvPr id="42" name="Shape 40"/>
          <p:cNvSpPr/>
          <p:nvPr/>
        </p:nvSpPr>
        <p:spPr>
          <a:xfrm>
            <a:off x="8554507" y="2017126"/>
            <a:ext cx="1603430" cy="387856"/>
          </a:xfrm>
          <a:prstGeom prst="rect">
            <a:avLst/>
          </a:prstGeom>
          <a:solidFill>
            <a:srgbClr val="FFFFFF"/>
          </a:solidFill>
          <a:ln/>
        </p:spPr>
        <p:txBody>
          <a:bodyPr/>
          <a:lstStyle/>
          <a:p>
            <a:endParaRPr lang="ko-KR" altLang="en-US"/>
          </a:p>
        </p:txBody>
      </p:sp>
      <p:sp>
        <p:nvSpPr>
          <p:cNvPr id="43" name="Shape 41"/>
          <p:cNvSpPr/>
          <p:nvPr/>
        </p:nvSpPr>
        <p:spPr>
          <a:xfrm>
            <a:off x="8554507" y="2017126"/>
            <a:ext cx="1603430" cy="9525"/>
          </a:xfrm>
          <a:prstGeom prst="rect">
            <a:avLst/>
          </a:prstGeom>
          <a:solidFill>
            <a:srgbClr val="EADFD3"/>
          </a:solidFill>
          <a:ln/>
        </p:spPr>
        <p:txBody>
          <a:bodyPr/>
          <a:lstStyle/>
          <a:p>
            <a:endParaRPr lang="ko-KR" altLang="en-US"/>
          </a:p>
        </p:txBody>
      </p:sp>
      <p:sp>
        <p:nvSpPr>
          <p:cNvPr id="44" name="Shape 42"/>
          <p:cNvSpPr/>
          <p:nvPr/>
        </p:nvSpPr>
        <p:spPr>
          <a:xfrm>
            <a:off x="8554507" y="2017126"/>
            <a:ext cx="9525" cy="387856"/>
          </a:xfrm>
          <a:prstGeom prst="rect">
            <a:avLst/>
          </a:prstGeom>
          <a:solidFill>
            <a:srgbClr val="EADFD3"/>
          </a:solidFill>
          <a:ln/>
        </p:spPr>
        <p:txBody>
          <a:bodyPr/>
          <a:lstStyle/>
          <a:p>
            <a:endParaRPr lang="ko-KR" altLang="en-US"/>
          </a:p>
        </p:txBody>
      </p:sp>
      <p:sp>
        <p:nvSpPr>
          <p:cNvPr id="45" name="Text 43"/>
          <p:cNvSpPr/>
          <p:nvPr/>
        </p:nvSpPr>
        <p:spPr>
          <a:xfrm>
            <a:off x="8578774" y="2060444"/>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31%</a:t>
            </a:r>
            <a:endParaRPr lang="en-US" sz="1050" dirty="0"/>
          </a:p>
        </p:txBody>
      </p:sp>
      <p:sp>
        <p:nvSpPr>
          <p:cNvPr id="46" name="Shape 44"/>
          <p:cNvSpPr/>
          <p:nvPr/>
        </p:nvSpPr>
        <p:spPr>
          <a:xfrm>
            <a:off x="538580" y="2404982"/>
            <a:ext cx="1603185" cy="387856"/>
          </a:xfrm>
          <a:prstGeom prst="rect">
            <a:avLst/>
          </a:prstGeom>
          <a:solidFill>
            <a:srgbClr val="FCF8EC"/>
          </a:solidFill>
          <a:ln/>
        </p:spPr>
        <p:txBody>
          <a:bodyPr/>
          <a:lstStyle/>
          <a:p>
            <a:endParaRPr lang="ko-KR" altLang="en-US"/>
          </a:p>
        </p:txBody>
      </p:sp>
      <p:sp>
        <p:nvSpPr>
          <p:cNvPr id="47" name="Shape 45"/>
          <p:cNvSpPr/>
          <p:nvPr/>
        </p:nvSpPr>
        <p:spPr>
          <a:xfrm>
            <a:off x="538580" y="2404982"/>
            <a:ext cx="1603185" cy="9525"/>
          </a:xfrm>
          <a:prstGeom prst="rect">
            <a:avLst/>
          </a:prstGeom>
          <a:solidFill>
            <a:srgbClr val="EADFD3"/>
          </a:solidFill>
          <a:ln/>
        </p:spPr>
        <p:txBody>
          <a:bodyPr/>
          <a:lstStyle/>
          <a:p>
            <a:endParaRPr lang="ko-KR" altLang="en-US"/>
          </a:p>
        </p:txBody>
      </p:sp>
      <p:sp>
        <p:nvSpPr>
          <p:cNvPr id="48" name="Text 46"/>
          <p:cNvSpPr/>
          <p:nvPr/>
        </p:nvSpPr>
        <p:spPr>
          <a:xfrm>
            <a:off x="557630" y="2448299"/>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2년</a:t>
            </a:r>
            <a:endParaRPr lang="en-US" sz="1050" dirty="0"/>
          </a:p>
        </p:txBody>
      </p:sp>
      <p:sp>
        <p:nvSpPr>
          <p:cNvPr id="49" name="Shape 47"/>
          <p:cNvSpPr/>
          <p:nvPr/>
        </p:nvSpPr>
        <p:spPr>
          <a:xfrm>
            <a:off x="2141765" y="2404982"/>
            <a:ext cx="1603185" cy="387856"/>
          </a:xfrm>
          <a:prstGeom prst="rect">
            <a:avLst/>
          </a:prstGeom>
          <a:solidFill>
            <a:srgbClr val="FFFFFF"/>
          </a:solidFill>
          <a:ln/>
        </p:spPr>
        <p:txBody>
          <a:bodyPr/>
          <a:lstStyle/>
          <a:p>
            <a:endParaRPr lang="ko-KR" altLang="en-US"/>
          </a:p>
        </p:txBody>
      </p:sp>
      <p:sp>
        <p:nvSpPr>
          <p:cNvPr id="50" name="Shape 48"/>
          <p:cNvSpPr/>
          <p:nvPr/>
        </p:nvSpPr>
        <p:spPr>
          <a:xfrm>
            <a:off x="2141765" y="2404982"/>
            <a:ext cx="1603185" cy="9525"/>
          </a:xfrm>
          <a:prstGeom prst="rect">
            <a:avLst/>
          </a:prstGeom>
          <a:solidFill>
            <a:srgbClr val="EADFD3"/>
          </a:solidFill>
          <a:ln/>
        </p:spPr>
        <p:txBody>
          <a:bodyPr/>
          <a:lstStyle/>
          <a:p>
            <a:endParaRPr lang="ko-KR" altLang="en-US"/>
          </a:p>
        </p:txBody>
      </p:sp>
      <p:sp>
        <p:nvSpPr>
          <p:cNvPr id="51" name="Shape 49"/>
          <p:cNvSpPr/>
          <p:nvPr/>
        </p:nvSpPr>
        <p:spPr>
          <a:xfrm>
            <a:off x="2141765" y="2404982"/>
            <a:ext cx="9525" cy="387856"/>
          </a:xfrm>
          <a:prstGeom prst="rect">
            <a:avLst/>
          </a:prstGeom>
          <a:solidFill>
            <a:srgbClr val="EADFD3"/>
          </a:solidFill>
          <a:ln/>
        </p:spPr>
        <p:txBody>
          <a:bodyPr/>
          <a:lstStyle/>
          <a:p>
            <a:endParaRPr lang="ko-KR" altLang="en-US"/>
          </a:p>
        </p:txBody>
      </p:sp>
      <p:sp>
        <p:nvSpPr>
          <p:cNvPr id="52" name="Text 50"/>
          <p:cNvSpPr/>
          <p:nvPr/>
        </p:nvSpPr>
        <p:spPr>
          <a:xfrm>
            <a:off x="2166032" y="2448299"/>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41.2%</a:t>
            </a:r>
            <a:endParaRPr lang="en-US" sz="1050" dirty="0"/>
          </a:p>
        </p:txBody>
      </p:sp>
      <p:sp>
        <p:nvSpPr>
          <p:cNvPr id="53" name="Shape 51"/>
          <p:cNvSpPr/>
          <p:nvPr/>
        </p:nvSpPr>
        <p:spPr>
          <a:xfrm>
            <a:off x="3744951" y="2404982"/>
            <a:ext cx="1603185" cy="387856"/>
          </a:xfrm>
          <a:prstGeom prst="rect">
            <a:avLst/>
          </a:prstGeom>
          <a:solidFill>
            <a:srgbClr val="FFFFFF"/>
          </a:solidFill>
          <a:ln/>
        </p:spPr>
        <p:txBody>
          <a:bodyPr/>
          <a:lstStyle/>
          <a:p>
            <a:endParaRPr lang="ko-KR" altLang="en-US"/>
          </a:p>
        </p:txBody>
      </p:sp>
      <p:sp>
        <p:nvSpPr>
          <p:cNvPr id="54" name="Shape 52"/>
          <p:cNvSpPr/>
          <p:nvPr/>
        </p:nvSpPr>
        <p:spPr>
          <a:xfrm>
            <a:off x="3744951" y="2404982"/>
            <a:ext cx="1603185" cy="9525"/>
          </a:xfrm>
          <a:prstGeom prst="rect">
            <a:avLst/>
          </a:prstGeom>
          <a:solidFill>
            <a:srgbClr val="EADFD3"/>
          </a:solidFill>
          <a:ln/>
        </p:spPr>
        <p:txBody>
          <a:bodyPr/>
          <a:lstStyle/>
          <a:p>
            <a:endParaRPr lang="ko-KR" altLang="en-US"/>
          </a:p>
        </p:txBody>
      </p:sp>
      <p:sp>
        <p:nvSpPr>
          <p:cNvPr id="55" name="Shape 53"/>
          <p:cNvSpPr/>
          <p:nvPr/>
        </p:nvSpPr>
        <p:spPr>
          <a:xfrm>
            <a:off x="3744951" y="2404982"/>
            <a:ext cx="9525" cy="387856"/>
          </a:xfrm>
          <a:prstGeom prst="rect">
            <a:avLst/>
          </a:prstGeom>
          <a:solidFill>
            <a:srgbClr val="EADFD3"/>
          </a:solidFill>
          <a:ln/>
        </p:spPr>
        <p:txBody>
          <a:bodyPr/>
          <a:lstStyle/>
          <a:p>
            <a:endParaRPr lang="ko-KR" altLang="en-US"/>
          </a:p>
        </p:txBody>
      </p:sp>
      <p:sp>
        <p:nvSpPr>
          <p:cNvPr id="56" name="Text 54"/>
          <p:cNvSpPr/>
          <p:nvPr/>
        </p:nvSpPr>
        <p:spPr>
          <a:xfrm>
            <a:off x="3769218" y="2448299"/>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40.08%</a:t>
            </a:r>
            <a:endParaRPr lang="en-US" sz="1050" dirty="0"/>
          </a:p>
        </p:txBody>
      </p:sp>
      <p:sp>
        <p:nvSpPr>
          <p:cNvPr id="57" name="Shape 55"/>
          <p:cNvSpPr/>
          <p:nvPr/>
        </p:nvSpPr>
        <p:spPr>
          <a:xfrm>
            <a:off x="5348136" y="2404982"/>
            <a:ext cx="1603185" cy="387856"/>
          </a:xfrm>
          <a:prstGeom prst="rect">
            <a:avLst/>
          </a:prstGeom>
          <a:solidFill>
            <a:srgbClr val="FFFFFF"/>
          </a:solidFill>
          <a:ln/>
        </p:spPr>
        <p:txBody>
          <a:bodyPr/>
          <a:lstStyle/>
          <a:p>
            <a:endParaRPr lang="ko-KR" altLang="en-US"/>
          </a:p>
        </p:txBody>
      </p:sp>
      <p:sp>
        <p:nvSpPr>
          <p:cNvPr id="58" name="Shape 56"/>
          <p:cNvSpPr/>
          <p:nvPr/>
        </p:nvSpPr>
        <p:spPr>
          <a:xfrm>
            <a:off x="5348136" y="2404982"/>
            <a:ext cx="1603185" cy="9525"/>
          </a:xfrm>
          <a:prstGeom prst="rect">
            <a:avLst/>
          </a:prstGeom>
          <a:solidFill>
            <a:srgbClr val="EADFD3"/>
          </a:solidFill>
          <a:ln/>
        </p:spPr>
        <p:txBody>
          <a:bodyPr/>
          <a:lstStyle/>
          <a:p>
            <a:endParaRPr lang="ko-KR" altLang="en-US"/>
          </a:p>
        </p:txBody>
      </p:sp>
      <p:sp>
        <p:nvSpPr>
          <p:cNvPr id="59" name="Shape 57"/>
          <p:cNvSpPr/>
          <p:nvPr/>
        </p:nvSpPr>
        <p:spPr>
          <a:xfrm>
            <a:off x="5348136" y="2404982"/>
            <a:ext cx="9525" cy="387856"/>
          </a:xfrm>
          <a:prstGeom prst="rect">
            <a:avLst/>
          </a:prstGeom>
          <a:solidFill>
            <a:srgbClr val="EADFD3"/>
          </a:solidFill>
          <a:ln/>
        </p:spPr>
        <p:txBody>
          <a:bodyPr/>
          <a:lstStyle/>
          <a:p>
            <a:endParaRPr lang="ko-KR" altLang="en-US"/>
          </a:p>
        </p:txBody>
      </p:sp>
      <p:sp>
        <p:nvSpPr>
          <p:cNvPr id="60" name="Text 58"/>
          <p:cNvSpPr/>
          <p:nvPr/>
        </p:nvSpPr>
        <p:spPr>
          <a:xfrm>
            <a:off x="5372403" y="2448299"/>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a:t>
            </a:r>
            <a:endParaRPr lang="en-US" sz="1050" dirty="0"/>
          </a:p>
        </p:txBody>
      </p:sp>
      <p:sp>
        <p:nvSpPr>
          <p:cNvPr id="61" name="Shape 59"/>
          <p:cNvSpPr/>
          <p:nvPr/>
        </p:nvSpPr>
        <p:spPr>
          <a:xfrm>
            <a:off x="6951322" y="2404982"/>
            <a:ext cx="1603185" cy="387856"/>
          </a:xfrm>
          <a:prstGeom prst="rect">
            <a:avLst/>
          </a:prstGeom>
          <a:solidFill>
            <a:srgbClr val="FFFFFF"/>
          </a:solidFill>
          <a:ln/>
        </p:spPr>
        <p:txBody>
          <a:bodyPr/>
          <a:lstStyle/>
          <a:p>
            <a:endParaRPr lang="ko-KR" altLang="en-US"/>
          </a:p>
        </p:txBody>
      </p:sp>
      <p:sp>
        <p:nvSpPr>
          <p:cNvPr id="62" name="Shape 60"/>
          <p:cNvSpPr/>
          <p:nvPr/>
        </p:nvSpPr>
        <p:spPr>
          <a:xfrm>
            <a:off x="6951322" y="2404982"/>
            <a:ext cx="1603185" cy="9525"/>
          </a:xfrm>
          <a:prstGeom prst="rect">
            <a:avLst/>
          </a:prstGeom>
          <a:solidFill>
            <a:srgbClr val="EADFD3"/>
          </a:solidFill>
          <a:ln/>
        </p:spPr>
        <p:txBody>
          <a:bodyPr/>
          <a:lstStyle/>
          <a:p>
            <a:endParaRPr lang="ko-KR" altLang="en-US"/>
          </a:p>
        </p:txBody>
      </p:sp>
      <p:sp>
        <p:nvSpPr>
          <p:cNvPr id="63" name="Shape 61"/>
          <p:cNvSpPr/>
          <p:nvPr/>
        </p:nvSpPr>
        <p:spPr>
          <a:xfrm>
            <a:off x="6951322" y="2404982"/>
            <a:ext cx="9525" cy="387856"/>
          </a:xfrm>
          <a:prstGeom prst="rect">
            <a:avLst/>
          </a:prstGeom>
          <a:solidFill>
            <a:srgbClr val="EADFD3"/>
          </a:solidFill>
          <a:ln/>
        </p:spPr>
        <p:txBody>
          <a:bodyPr/>
          <a:lstStyle/>
          <a:p>
            <a:endParaRPr lang="ko-KR" altLang="en-US"/>
          </a:p>
        </p:txBody>
      </p:sp>
      <p:sp>
        <p:nvSpPr>
          <p:cNvPr id="64" name="Text 62"/>
          <p:cNvSpPr/>
          <p:nvPr/>
        </p:nvSpPr>
        <p:spPr>
          <a:xfrm>
            <a:off x="6975589" y="2448299"/>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a:t>
            </a:r>
            <a:endParaRPr lang="en-US" sz="1050" dirty="0"/>
          </a:p>
        </p:txBody>
      </p:sp>
      <p:sp>
        <p:nvSpPr>
          <p:cNvPr id="65" name="Shape 63"/>
          <p:cNvSpPr/>
          <p:nvPr/>
        </p:nvSpPr>
        <p:spPr>
          <a:xfrm>
            <a:off x="8554507" y="2404982"/>
            <a:ext cx="1603430" cy="387856"/>
          </a:xfrm>
          <a:prstGeom prst="rect">
            <a:avLst/>
          </a:prstGeom>
          <a:solidFill>
            <a:srgbClr val="FFFFFF"/>
          </a:solidFill>
          <a:ln/>
        </p:spPr>
        <p:txBody>
          <a:bodyPr/>
          <a:lstStyle/>
          <a:p>
            <a:endParaRPr lang="ko-KR" altLang="en-US"/>
          </a:p>
        </p:txBody>
      </p:sp>
      <p:sp>
        <p:nvSpPr>
          <p:cNvPr id="66" name="Shape 64"/>
          <p:cNvSpPr/>
          <p:nvPr/>
        </p:nvSpPr>
        <p:spPr>
          <a:xfrm>
            <a:off x="8554507" y="2404982"/>
            <a:ext cx="1603430" cy="9525"/>
          </a:xfrm>
          <a:prstGeom prst="rect">
            <a:avLst/>
          </a:prstGeom>
          <a:solidFill>
            <a:srgbClr val="EADFD3"/>
          </a:solidFill>
          <a:ln/>
        </p:spPr>
        <p:txBody>
          <a:bodyPr/>
          <a:lstStyle/>
          <a:p>
            <a:endParaRPr lang="ko-KR" altLang="en-US"/>
          </a:p>
        </p:txBody>
      </p:sp>
      <p:sp>
        <p:nvSpPr>
          <p:cNvPr id="67" name="Shape 65"/>
          <p:cNvSpPr/>
          <p:nvPr/>
        </p:nvSpPr>
        <p:spPr>
          <a:xfrm>
            <a:off x="8554507" y="2404982"/>
            <a:ext cx="9525" cy="387856"/>
          </a:xfrm>
          <a:prstGeom prst="rect">
            <a:avLst/>
          </a:prstGeom>
          <a:solidFill>
            <a:srgbClr val="EADFD3"/>
          </a:solidFill>
          <a:ln/>
        </p:spPr>
        <p:txBody>
          <a:bodyPr/>
          <a:lstStyle/>
          <a:p>
            <a:endParaRPr lang="ko-KR" altLang="en-US"/>
          </a:p>
        </p:txBody>
      </p:sp>
      <p:sp>
        <p:nvSpPr>
          <p:cNvPr id="68" name="Text 66"/>
          <p:cNvSpPr/>
          <p:nvPr/>
        </p:nvSpPr>
        <p:spPr>
          <a:xfrm>
            <a:off x="8578774" y="2448299"/>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37.8%</a:t>
            </a:r>
            <a:endParaRPr lang="en-US" sz="1050" dirty="0"/>
          </a:p>
        </p:txBody>
      </p:sp>
      <p:sp>
        <p:nvSpPr>
          <p:cNvPr id="69" name="Shape 67"/>
          <p:cNvSpPr/>
          <p:nvPr/>
        </p:nvSpPr>
        <p:spPr>
          <a:xfrm>
            <a:off x="538580" y="2792838"/>
            <a:ext cx="1603185" cy="387856"/>
          </a:xfrm>
          <a:prstGeom prst="rect">
            <a:avLst/>
          </a:prstGeom>
          <a:solidFill>
            <a:srgbClr val="FCF8EC"/>
          </a:solidFill>
          <a:ln/>
        </p:spPr>
        <p:txBody>
          <a:bodyPr/>
          <a:lstStyle/>
          <a:p>
            <a:endParaRPr lang="ko-KR" altLang="en-US"/>
          </a:p>
        </p:txBody>
      </p:sp>
      <p:sp>
        <p:nvSpPr>
          <p:cNvPr id="70" name="Shape 68"/>
          <p:cNvSpPr/>
          <p:nvPr/>
        </p:nvSpPr>
        <p:spPr>
          <a:xfrm>
            <a:off x="538580" y="2792838"/>
            <a:ext cx="1603185" cy="9525"/>
          </a:xfrm>
          <a:prstGeom prst="rect">
            <a:avLst/>
          </a:prstGeom>
          <a:solidFill>
            <a:srgbClr val="EADFD3"/>
          </a:solidFill>
          <a:ln/>
        </p:spPr>
        <p:txBody>
          <a:bodyPr/>
          <a:lstStyle/>
          <a:p>
            <a:endParaRPr lang="ko-KR" altLang="en-US"/>
          </a:p>
        </p:txBody>
      </p:sp>
      <p:sp>
        <p:nvSpPr>
          <p:cNvPr id="71" name="Text 69"/>
          <p:cNvSpPr/>
          <p:nvPr/>
        </p:nvSpPr>
        <p:spPr>
          <a:xfrm>
            <a:off x="557630" y="2836155"/>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3년</a:t>
            </a:r>
            <a:endParaRPr lang="en-US" sz="1050" dirty="0"/>
          </a:p>
        </p:txBody>
      </p:sp>
      <p:sp>
        <p:nvSpPr>
          <p:cNvPr id="72" name="Shape 70"/>
          <p:cNvSpPr/>
          <p:nvPr/>
        </p:nvSpPr>
        <p:spPr>
          <a:xfrm>
            <a:off x="2141765" y="2792838"/>
            <a:ext cx="1603185" cy="387856"/>
          </a:xfrm>
          <a:prstGeom prst="rect">
            <a:avLst/>
          </a:prstGeom>
          <a:solidFill>
            <a:srgbClr val="FFFFFF"/>
          </a:solidFill>
          <a:ln/>
        </p:spPr>
        <p:txBody>
          <a:bodyPr/>
          <a:lstStyle/>
          <a:p>
            <a:endParaRPr lang="ko-KR" altLang="en-US"/>
          </a:p>
        </p:txBody>
      </p:sp>
      <p:sp>
        <p:nvSpPr>
          <p:cNvPr id="73" name="Shape 71"/>
          <p:cNvSpPr/>
          <p:nvPr/>
        </p:nvSpPr>
        <p:spPr>
          <a:xfrm>
            <a:off x="2141765" y="2792838"/>
            <a:ext cx="1603185" cy="9525"/>
          </a:xfrm>
          <a:prstGeom prst="rect">
            <a:avLst/>
          </a:prstGeom>
          <a:solidFill>
            <a:srgbClr val="EADFD3"/>
          </a:solidFill>
          <a:ln/>
        </p:spPr>
        <p:txBody>
          <a:bodyPr/>
          <a:lstStyle/>
          <a:p>
            <a:endParaRPr lang="ko-KR" altLang="en-US"/>
          </a:p>
        </p:txBody>
      </p:sp>
      <p:sp>
        <p:nvSpPr>
          <p:cNvPr id="74" name="Shape 72"/>
          <p:cNvSpPr/>
          <p:nvPr/>
        </p:nvSpPr>
        <p:spPr>
          <a:xfrm>
            <a:off x="2141765" y="2792838"/>
            <a:ext cx="9525" cy="387856"/>
          </a:xfrm>
          <a:prstGeom prst="rect">
            <a:avLst/>
          </a:prstGeom>
          <a:solidFill>
            <a:srgbClr val="EADFD3"/>
          </a:solidFill>
          <a:ln/>
        </p:spPr>
        <p:txBody>
          <a:bodyPr/>
          <a:lstStyle/>
          <a:p>
            <a:endParaRPr lang="ko-KR" altLang="en-US"/>
          </a:p>
        </p:txBody>
      </p:sp>
      <p:sp>
        <p:nvSpPr>
          <p:cNvPr id="75" name="Text 73"/>
          <p:cNvSpPr/>
          <p:nvPr/>
        </p:nvSpPr>
        <p:spPr>
          <a:xfrm>
            <a:off x="2166032" y="2836155"/>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43.4%</a:t>
            </a:r>
            <a:endParaRPr lang="en-US" sz="1050" dirty="0"/>
          </a:p>
        </p:txBody>
      </p:sp>
      <p:sp>
        <p:nvSpPr>
          <p:cNvPr id="76" name="Shape 74"/>
          <p:cNvSpPr/>
          <p:nvPr/>
        </p:nvSpPr>
        <p:spPr>
          <a:xfrm>
            <a:off x="3744951" y="2792838"/>
            <a:ext cx="1603185" cy="387856"/>
          </a:xfrm>
          <a:prstGeom prst="rect">
            <a:avLst/>
          </a:prstGeom>
          <a:solidFill>
            <a:srgbClr val="FFFFFF"/>
          </a:solidFill>
          <a:ln/>
        </p:spPr>
        <p:txBody>
          <a:bodyPr/>
          <a:lstStyle/>
          <a:p>
            <a:endParaRPr lang="ko-KR" altLang="en-US"/>
          </a:p>
        </p:txBody>
      </p:sp>
      <p:sp>
        <p:nvSpPr>
          <p:cNvPr id="77" name="Shape 75"/>
          <p:cNvSpPr/>
          <p:nvPr/>
        </p:nvSpPr>
        <p:spPr>
          <a:xfrm>
            <a:off x="3744951" y="2792838"/>
            <a:ext cx="1603185" cy="9525"/>
          </a:xfrm>
          <a:prstGeom prst="rect">
            <a:avLst/>
          </a:prstGeom>
          <a:solidFill>
            <a:srgbClr val="EADFD3"/>
          </a:solidFill>
          <a:ln/>
        </p:spPr>
        <p:txBody>
          <a:bodyPr/>
          <a:lstStyle/>
          <a:p>
            <a:endParaRPr lang="ko-KR" altLang="en-US"/>
          </a:p>
        </p:txBody>
      </p:sp>
      <p:sp>
        <p:nvSpPr>
          <p:cNvPr id="78" name="Shape 76"/>
          <p:cNvSpPr/>
          <p:nvPr/>
        </p:nvSpPr>
        <p:spPr>
          <a:xfrm>
            <a:off x="3744951" y="2792838"/>
            <a:ext cx="9525" cy="387856"/>
          </a:xfrm>
          <a:prstGeom prst="rect">
            <a:avLst/>
          </a:prstGeom>
          <a:solidFill>
            <a:srgbClr val="EADFD3"/>
          </a:solidFill>
          <a:ln/>
        </p:spPr>
        <p:txBody>
          <a:bodyPr/>
          <a:lstStyle/>
          <a:p>
            <a:endParaRPr lang="ko-KR" altLang="en-US"/>
          </a:p>
        </p:txBody>
      </p:sp>
      <p:sp>
        <p:nvSpPr>
          <p:cNvPr id="79" name="Text 77"/>
          <p:cNvSpPr/>
          <p:nvPr/>
        </p:nvSpPr>
        <p:spPr>
          <a:xfrm>
            <a:off x="3769218" y="2836155"/>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42.85%</a:t>
            </a:r>
            <a:endParaRPr lang="en-US" sz="1050" dirty="0"/>
          </a:p>
        </p:txBody>
      </p:sp>
      <p:sp>
        <p:nvSpPr>
          <p:cNvPr id="80" name="Shape 78"/>
          <p:cNvSpPr/>
          <p:nvPr/>
        </p:nvSpPr>
        <p:spPr>
          <a:xfrm>
            <a:off x="5348136" y="2792838"/>
            <a:ext cx="1603185" cy="387856"/>
          </a:xfrm>
          <a:prstGeom prst="rect">
            <a:avLst/>
          </a:prstGeom>
          <a:solidFill>
            <a:srgbClr val="FFFFFF"/>
          </a:solidFill>
          <a:ln/>
        </p:spPr>
        <p:txBody>
          <a:bodyPr/>
          <a:lstStyle/>
          <a:p>
            <a:endParaRPr lang="ko-KR" altLang="en-US"/>
          </a:p>
        </p:txBody>
      </p:sp>
      <p:sp>
        <p:nvSpPr>
          <p:cNvPr id="81" name="Shape 79"/>
          <p:cNvSpPr/>
          <p:nvPr/>
        </p:nvSpPr>
        <p:spPr>
          <a:xfrm>
            <a:off x="5348136" y="2792838"/>
            <a:ext cx="1603185" cy="9525"/>
          </a:xfrm>
          <a:prstGeom prst="rect">
            <a:avLst/>
          </a:prstGeom>
          <a:solidFill>
            <a:srgbClr val="EADFD3"/>
          </a:solidFill>
          <a:ln/>
        </p:spPr>
        <p:txBody>
          <a:bodyPr/>
          <a:lstStyle/>
          <a:p>
            <a:endParaRPr lang="ko-KR" altLang="en-US"/>
          </a:p>
        </p:txBody>
      </p:sp>
      <p:sp>
        <p:nvSpPr>
          <p:cNvPr id="82" name="Shape 80"/>
          <p:cNvSpPr/>
          <p:nvPr/>
        </p:nvSpPr>
        <p:spPr>
          <a:xfrm>
            <a:off x="5348136" y="2792838"/>
            <a:ext cx="9525" cy="387856"/>
          </a:xfrm>
          <a:prstGeom prst="rect">
            <a:avLst/>
          </a:prstGeom>
          <a:solidFill>
            <a:srgbClr val="EADFD3"/>
          </a:solidFill>
          <a:ln/>
        </p:spPr>
        <p:txBody>
          <a:bodyPr/>
          <a:lstStyle/>
          <a:p>
            <a:endParaRPr lang="ko-KR" altLang="en-US"/>
          </a:p>
        </p:txBody>
      </p:sp>
      <p:sp>
        <p:nvSpPr>
          <p:cNvPr id="83" name="Text 81"/>
          <p:cNvSpPr/>
          <p:nvPr/>
        </p:nvSpPr>
        <p:spPr>
          <a:xfrm>
            <a:off x="5372403" y="2836155"/>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39.7%</a:t>
            </a:r>
            <a:endParaRPr lang="en-US" sz="1050" dirty="0"/>
          </a:p>
        </p:txBody>
      </p:sp>
      <p:sp>
        <p:nvSpPr>
          <p:cNvPr id="84" name="Shape 82"/>
          <p:cNvSpPr/>
          <p:nvPr/>
        </p:nvSpPr>
        <p:spPr>
          <a:xfrm>
            <a:off x="6951322" y="2792838"/>
            <a:ext cx="1603185" cy="387856"/>
          </a:xfrm>
          <a:prstGeom prst="rect">
            <a:avLst/>
          </a:prstGeom>
          <a:solidFill>
            <a:srgbClr val="FFFFFF"/>
          </a:solidFill>
          <a:ln/>
        </p:spPr>
        <p:txBody>
          <a:bodyPr/>
          <a:lstStyle/>
          <a:p>
            <a:endParaRPr lang="ko-KR" altLang="en-US"/>
          </a:p>
        </p:txBody>
      </p:sp>
      <p:sp>
        <p:nvSpPr>
          <p:cNvPr id="85" name="Shape 83"/>
          <p:cNvSpPr/>
          <p:nvPr/>
        </p:nvSpPr>
        <p:spPr>
          <a:xfrm>
            <a:off x="6951322" y="2792838"/>
            <a:ext cx="1603185" cy="9525"/>
          </a:xfrm>
          <a:prstGeom prst="rect">
            <a:avLst/>
          </a:prstGeom>
          <a:solidFill>
            <a:srgbClr val="EADFD3"/>
          </a:solidFill>
          <a:ln/>
        </p:spPr>
        <p:txBody>
          <a:bodyPr/>
          <a:lstStyle/>
          <a:p>
            <a:endParaRPr lang="ko-KR" altLang="en-US"/>
          </a:p>
        </p:txBody>
      </p:sp>
      <p:sp>
        <p:nvSpPr>
          <p:cNvPr id="86" name="Shape 84"/>
          <p:cNvSpPr/>
          <p:nvPr/>
        </p:nvSpPr>
        <p:spPr>
          <a:xfrm>
            <a:off x="6951322" y="2792838"/>
            <a:ext cx="9525" cy="387856"/>
          </a:xfrm>
          <a:prstGeom prst="rect">
            <a:avLst/>
          </a:prstGeom>
          <a:solidFill>
            <a:srgbClr val="EADFD3"/>
          </a:solidFill>
          <a:ln/>
        </p:spPr>
        <p:txBody>
          <a:bodyPr/>
          <a:lstStyle/>
          <a:p>
            <a:endParaRPr lang="ko-KR" altLang="en-US"/>
          </a:p>
        </p:txBody>
      </p:sp>
      <p:sp>
        <p:nvSpPr>
          <p:cNvPr id="87" name="Text 85"/>
          <p:cNvSpPr/>
          <p:nvPr/>
        </p:nvSpPr>
        <p:spPr>
          <a:xfrm>
            <a:off x="6975589" y="2836155"/>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43.4%</a:t>
            </a:r>
            <a:endParaRPr lang="en-US" sz="1050" dirty="0"/>
          </a:p>
        </p:txBody>
      </p:sp>
      <p:sp>
        <p:nvSpPr>
          <p:cNvPr id="88" name="Shape 86"/>
          <p:cNvSpPr/>
          <p:nvPr/>
        </p:nvSpPr>
        <p:spPr>
          <a:xfrm>
            <a:off x="8554507" y="2792838"/>
            <a:ext cx="1603430" cy="387856"/>
          </a:xfrm>
          <a:prstGeom prst="rect">
            <a:avLst/>
          </a:prstGeom>
          <a:solidFill>
            <a:srgbClr val="FFFFFF"/>
          </a:solidFill>
          <a:ln/>
        </p:spPr>
        <p:txBody>
          <a:bodyPr/>
          <a:lstStyle/>
          <a:p>
            <a:endParaRPr lang="ko-KR" altLang="en-US"/>
          </a:p>
        </p:txBody>
      </p:sp>
      <p:sp>
        <p:nvSpPr>
          <p:cNvPr id="89" name="Shape 87"/>
          <p:cNvSpPr/>
          <p:nvPr/>
        </p:nvSpPr>
        <p:spPr>
          <a:xfrm>
            <a:off x="8554507" y="2792838"/>
            <a:ext cx="1603430" cy="9525"/>
          </a:xfrm>
          <a:prstGeom prst="rect">
            <a:avLst/>
          </a:prstGeom>
          <a:solidFill>
            <a:srgbClr val="EADFD3"/>
          </a:solidFill>
          <a:ln/>
        </p:spPr>
        <p:txBody>
          <a:bodyPr/>
          <a:lstStyle/>
          <a:p>
            <a:endParaRPr lang="ko-KR" altLang="en-US"/>
          </a:p>
        </p:txBody>
      </p:sp>
      <p:sp>
        <p:nvSpPr>
          <p:cNvPr id="90" name="Shape 88"/>
          <p:cNvSpPr/>
          <p:nvPr/>
        </p:nvSpPr>
        <p:spPr>
          <a:xfrm>
            <a:off x="8554507" y="2792838"/>
            <a:ext cx="9525" cy="387856"/>
          </a:xfrm>
          <a:prstGeom prst="rect">
            <a:avLst/>
          </a:prstGeom>
          <a:solidFill>
            <a:srgbClr val="EADFD3"/>
          </a:solidFill>
          <a:ln/>
        </p:spPr>
        <p:txBody>
          <a:bodyPr/>
          <a:lstStyle/>
          <a:p>
            <a:endParaRPr lang="ko-KR" altLang="en-US"/>
          </a:p>
        </p:txBody>
      </p:sp>
      <p:sp>
        <p:nvSpPr>
          <p:cNvPr id="91" name="Text 89"/>
          <p:cNvSpPr/>
          <p:nvPr/>
        </p:nvSpPr>
        <p:spPr>
          <a:xfrm>
            <a:off x="8578774" y="2836155"/>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40.4%</a:t>
            </a:r>
            <a:endParaRPr lang="en-US" sz="1050" dirty="0"/>
          </a:p>
        </p:txBody>
      </p:sp>
      <p:sp>
        <p:nvSpPr>
          <p:cNvPr id="92" name="Shape 90"/>
          <p:cNvSpPr/>
          <p:nvPr/>
        </p:nvSpPr>
        <p:spPr>
          <a:xfrm>
            <a:off x="538580" y="3180693"/>
            <a:ext cx="1603185" cy="387856"/>
          </a:xfrm>
          <a:prstGeom prst="rect">
            <a:avLst/>
          </a:prstGeom>
          <a:solidFill>
            <a:srgbClr val="FCF8EC"/>
          </a:solidFill>
          <a:ln/>
        </p:spPr>
        <p:txBody>
          <a:bodyPr/>
          <a:lstStyle/>
          <a:p>
            <a:endParaRPr lang="ko-KR" altLang="en-US"/>
          </a:p>
        </p:txBody>
      </p:sp>
      <p:sp>
        <p:nvSpPr>
          <p:cNvPr id="93" name="Shape 91"/>
          <p:cNvSpPr/>
          <p:nvPr/>
        </p:nvSpPr>
        <p:spPr>
          <a:xfrm>
            <a:off x="538580" y="3180693"/>
            <a:ext cx="1603185" cy="9525"/>
          </a:xfrm>
          <a:prstGeom prst="rect">
            <a:avLst/>
          </a:prstGeom>
          <a:solidFill>
            <a:srgbClr val="EADFD3"/>
          </a:solidFill>
          <a:ln/>
        </p:spPr>
        <p:txBody>
          <a:bodyPr/>
          <a:lstStyle/>
          <a:p>
            <a:endParaRPr lang="ko-KR" altLang="en-US"/>
          </a:p>
        </p:txBody>
      </p:sp>
      <p:sp>
        <p:nvSpPr>
          <p:cNvPr id="94" name="Text 92"/>
          <p:cNvSpPr/>
          <p:nvPr/>
        </p:nvSpPr>
        <p:spPr>
          <a:xfrm>
            <a:off x="557630" y="3224010"/>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4년</a:t>
            </a:r>
            <a:endParaRPr lang="en-US" sz="1050" dirty="0"/>
          </a:p>
        </p:txBody>
      </p:sp>
      <p:sp>
        <p:nvSpPr>
          <p:cNvPr id="95" name="Shape 93"/>
          <p:cNvSpPr/>
          <p:nvPr/>
        </p:nvSpPr>
        <p:spPr>
          <a:xfrm>
            <a:off x="2141765" y="3180693"/>
            <a:ext cx="1603185" cy="387856"/>
          </a:xfrm>
          <a:prstGeom prst="rect">
            <a:avLst/>
          </a:prstGeom>
          <a:solidFill>
            <a:srgbClr val="FFFFFF"/>
          </a:solidFill>
          <a:ln/>
        </p:spPr>
        <p:txBody>
          <a:bodyPr/>
          <a:lstStyle/>
          <a:p>
            <a:endParaRPr lang="ko-KR" altLang="en-US"/>
          </a:p>
        </p:txBody>
      </p:sp>
      <p:sp>
        <p:nvSpPr>
          <p:cNvPr id="96" name="Shape 94"/>
          <p:cNvSpPr/>
          <p:nvPr/>
        </p:nvSpPr>
        <p:spPr>
          <a:xfrm>
            <a:off x="2141765" y="3180693"/>
            <a:ext cx="1603185" cy="9525"/>
          </a:xfrm>
          <a:prstGeom prst="rect">
            <a:avLst/>
          </a:prstGeom>
          <a:solidFill>
            <a:srgbClr val="EADFD3"/>
          </a:solidFill>
          <a:ln/>
        </p:spPr>
        <p:txBody>
          <a:bodyPr/>
          <a:lstStyle/>
          <a:p>
            <a:endParaRPr lang="ko-KR" altLang="en-US"/>
          </a:p>
        </p:txBody>
      </p:sp>
      <p:sp>
        <p:nvSpPr>
          <p:cNvPr id="97" name="Shape 95"/>
          <p:cNvSpPr/>
          <p:nvPr/>
        </p:nvSpPr>
        <p:spPr>
          <a:xfrm>
            <a:off x="2141765" y="3180693"/>
            <a:ext cx="9525" cy="387856"/>
          </a:xfrm>
          <a:prstGeom prst="rect">
            <a:avLst/>
          </a:prstGeom>
          <a:solidFill>
            <a:srgbClr val="EADFD3"/>
          </a:solidFill>
          <a:ln/>
        </p:spPr>
        <p:txBody>
          <a:bodyPr/>
          <a:lstStyle/>
          <a:p>
            <a:endParaRPr lang="ko-KR" altLang="en-US"/>
          </a:p>
        </p:txBody>
      </p:sp>
      <p:sp>
        <p:nvSpPr>
          <p:cNvPr id="98" name="Text 96"/>
          <p:cNvSpPr/>
          <p:nvPr/>
        </p:nvSpPr>
        <p:spPr>
          <a:xfrm>
            <a:off x="2166032" y="3224010"/>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44.9%</a:t>
            </a:r>
            <a:endParaRPr lang="en-US" sz="1050" dirty="0"/>
          </a:p>
        </p:txBody>
      </p:sp>
      <p:sp>
        <p:nvSpPr>
          <p:cNvPr id="99" name="Shape 97"/>
          <p:cNvSpPr/>
          <p:nvPr/>
        </p:nvSpPr>
        <p:spPr>
          <a:xfrm>
            <a:off x="3744951" y="3180693"/>
            <a:ext cx="1603185" cy="387856"/>
          </a:xfrm>
          <a:prstGeom prst="rect">
            <a:avLst/>
          </a:prstGeom>
          <a:solidFill>
            <a:srgbClr val="FFFFFF"/>
          </a:solidFill>
          <a:ln/>
        </p:spPr>
        <p:txBody>
          <a:bodyPr/>
          <a:lstStyle/>
          <a:p>
            <a:endParaRPr lang="ko-KR" altLang="en-US"/>
          </a:p>
        </p:txBody>
      </p:sp>
      <p:sp>
        <p:nvSpPr>
          <p:cNvPr id="100" name="Shape 98"/>
          <p:cNvSpPr/>
          <p:nvPr/>
        </p:nvSpPr>
        <p:spPr>
          <a:xfrm>
            <a:off x="3744951" y="3180693"/>
            <a:ext cx="1603185" cy="9525"/>
          </a:xfrm>
          <a:prstGeom prst="rect">
            <a:avLst/>
          </a:prstGeom>
          <a:solidFill>
            <a:srgbClr val="EADFD3"/>
          </a:solidFill>
          <a:ln/>
        </p:spPr>
        <p:txBody>
          <a:bodyPr/>
          <a:lstStyle/>
          <a:p>
            <a:endParaRPr lang="ko-KR" altLang="en-US"/>
          </a:p>
        </p:txBody>
      </p:sp>
      <p:sp>
        <p:nvSpPr>
          <p:cNvPr id="101" name="Shape 99"/>
          <p:cNvSpPr/>
          <p:nvPr/>
        </p:nvSpPr>
        <p:spPr>
          <a:xfrm>
            <a:off x="3744951" y="3180693"/>
            <a:ext cx="9525" cy="387856"/>
          </a:xfrm>
          <a:prstGeom prst="rect">
            <a:avLst/>
          </a:prstGeom>
          <a:solidFill>
            <a:srgbClr val="EADFD3"/>
          </a:solidFill>
          <a:ln/>
        </p:spPr>
        <p:txBody>
          <a:bodyPr/>
          <a:lstStyle/>
          <a:p>
            <a:endParaRPr lang="ko-KR" altLang="en-US"/>
          </a:p>
        </p:txBody>
      </p:sp>
      <p:sp>
        <p:nvSpPr>
          <p:cNvPr id="102" name="Text 100"/>
          <p:cNvSpPr/>
          <p:nvPr/>
        </p:nvSpPr>
        <p:spPr>
          <a:xfrm>
            <a:off x="3769218" y="3224010"/>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44.55%</a:t>
            </a:r>
            <a:endParaRPr lang="en-US" sz="1050" dirty="0"/>
          </a:p>
        </p:txBody>
      </p:sp>
      <p:sp>
        <p:nvSpPr>
          <p:cNvPr id="103" name="Shape 101"/>
          <p:cNvSpPr/>
          <p:nvPr/>
        </p:nvSpPr>
        <p:spPr>
          <a:xfrm>
            <a:off x="5348136" y="3180693"/>
            <a:ext cx="1603185" cy="387856"/>
          </a:xfrm>
          <a:prstGeom prst="rect">
            <a:avLst/>
          </a:prstGeom>
          <a:solidFill>
            <a:srgbClr val="FFFFFF"/>
          </a:solidFill>
          <a:ln/>
        </p:spPr>
        <p:txBody>
          <a:bodyPr/>
          <a:lstStyle/>
          <a:p>
            <a:endParaRPr lang="ko-KR" altLang="en-US"/>
          </a:p>
        </p:txBody>
      </p:sp>
      <p:sp>
        <p:nvSpPr>
          <p:cNvPr id="104" name="Shape 102"/>
          <p:cNvSpPr/>
          <p:nvPr/>
        </p:nvSpPr>
        <p:spPr>
          <a:xfrm>
            <a:off x="5348136" y="3180693"/>
            <a:ext cx="1603185" cy="9525"/>
          </a:xfrm>
          <a:prstGeom prst="rect">
            <a:avLst/>
          </a:prstGeom>
          <a:solidFill>
            <a:srgbClr val="EADFD3"/>
          </a:solidFill>
          <a:ln/>
        </p:spPr>
        <p:txBody>
          <a:bodyPr/>
          <a:lstStyle/>
          <a:p>
            <a:endParaRPr lang="ko-KR" altLang="en-US"/>
          </a:p>
        </p:txBody>
      </p:sp>
      <p:sp>
        <p:nvSpPr>
          <p:cNvPr id="105" name="Shape 103"/>
          <p:cNvSpPr/>
          <p:nvPr/>
        </p:nvSpPr>
        <p:spPr>
          <a:xfrm>
            <a:off x="5348136" y="3180693"/>
            <a:ext cx="9525" cy="387856"/>
          </a:xfrm>
          <a:prstGeom prst="rect">
            <a:avLst/>
          </a:prstGeom>
          <a:solidFill>
            <a:srgbClr val="EADFD3"/>
          </a:solidFill>
          <a:ln/>
        </p:spPr>
        <p:txBody>
          <a:bodyPr/>
          <a:lstStyle/>
          <a:p>
            <a:endParaRPr lang="ko-KR" altLang="en-US"/>
          </a:p>
        </p:txBody>
      </p:sp>
      <p:sp>
        <p:nvSpPr>
          <p:cNvPr id="106" name="Text 104"/>
          <p:cNvSpPr/>
          <p:nvPr/>
        </p:nvSpPr>
        <p:spPr>
          <a:xfrm>
            <a:off x="5372403" y="3224010"/>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41.3%</a:t>
            </a:r>
            <a:endParaRPr lang="en-US" sz="1050" dirty="0"/>
          </a:p>
        </p:txBody>
      </p:sp>
      <p:sp>
        <p:nvSpPr>
          <p:cNvPr id="107" name="Shape 105"/>
          <p:cNvSpPr/>
          <p:nvPr/>
        </p:nvSpPr>
        <p:spPr>
          <a:xfrm>
            <a:off x="6951322" y="3180693"/>
            <a:ext cx="1603185" cy="387856"/>
          </a:xfrm>
          <a:prstGeom prst="rect">
            <a:avLst/>
          </a:prstGeom>
          <a:solidFill>
            <a:srgbClr val="FFFFFF"/>
          </a:solidFill>
          <a:ln/>
        </p:spPr>
        <p:txBody>
          <a:bodyPr/>
          <a:lstStyle/>
          <a:p>
            <a:endParaRPr lang="ko-KR" altLang="en-US"/>
          </a:p>
        </p:txBody>
      </p:sp>
      <p:sp>
        <p:nvSpPr>
          <p:cNvPr id="108" name="Shape 106"/>
          <p:cNvSpPr/>
          <p:nvPr/>
        </p:nvSpPr>
        <p:spPr>
          <a:xfrm>
            <a:off x="6951322" y="3180693"/>
            <a:ext cx="1603185" cy="9525"/>
          </a:xfrm>
          <a:prstGeom prst="rect">
            <a:avLst/>
          </a:prstGeom>
          <a:solidFill>
            <a:srgbClr val="EADFD3"/>
          </a:solidFill>
          <a:ln/>
        </p:spPr>
        <p:txBody>
          <a:bodyPr/>
          <a:lstStyle/>
          <a:p>
            <a:endParaRPr lang="ko-KR" altLang="en-US"/>
          </a:p>
        </p:txBody>
      </p:sp>
      <p:sp>
        <p:nvSpPr>
          <p:cNvPr id="109" name="Shape 107"/>
          <p:cNvSpPr/>
          <p:nvPr/>
        </p:nvSpPr>
        <p:spPr>
          <a:xfrm>
            <a:off x="6951322" y="3180693"/>
            <a:ext cx="9525" cy="387856"/>
          </a:xfrm>
          <a:prstGeom prst="rect">
            <a:avLst/>
          </a:prstGeom>
          <a:solidFill>
            <a:srgbClr val="EADFD3"/>
          </a:solidFill>
          <a:ln/>
        </p:spPr>
        <p:txBody>
          <a:bodyPr/>
          <a:lstStyle/>
          <a:p>
            <a:endParaRPr lang="ko-KR" altLang="en-US"/>
          </a:p>
        </p:txBody>
      </p:sp>
      <p:sp>
        <p:nvSpPr>
          <p:cNvPr id="110" name="Text 108"/>
          <p:cNvSpPr/>
          <p:nvPr/>
        </p:nvSpPr>
        <p:spPr>
          <a:xfrm>
            <a:off x="6975589" y="3224010"/>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45%</a:t>
            </a:r>
            <a:endParaRPr lang="en-US" sz="1050" dirty="0"/>
          </a:p>
        </p:txBody>
      </p:sp>
      <p:sp>
        <p:nvSpPr>
          <p:cNvPr id="111" name="Shape 109"/>
          <p:cNvSpPr/>
          <p:nvPr/>
        </p:nvSpPr>
        <p:spPr>
          <a:xfrm>
            <a:off x="8554507" y="3180693"/>
            <a:ext cx="1603430" cy="387856"/>
          </a:xfrm>
          <a:prstGeom prst="rect">
            <a:avLst/>
          </a:prstGeom>
          <a:solidFill>
            <a:srgbClr val="FFFFFF"/>
          </a:solidFill>
          <a:ln/>
        </p:spPr>
        <p:txBody>
          <a:bodyPr/>
          <a:lstStyle/>
          <a:p>
            <a:endParaRPr lang="ko-KR" altLang="en-US"/>
          </a:p>
        </p:txBody>
      </p:sp>
      <p:sp>
        <p:nvSpPr>
          <p:cNvPr id="112" name="Shape 110"/>
          <p:cNvSpPr/>
          <p:nvPr/>
        </p:nvSpPr>
        <p:spPr>
          <a:xfrm>
            <a:off x="8554507" y="3180693"/>
            <a:ext cx="1603430" cy="9525"/>
          </a:xfrm>
          <a:prstGeom prst="rect">
            <a:avLst/>
          </a:prstGeom>
          <a:solidFill>
            <a:srgbClr val="EADFD3"/>
          </a:solidFill>
          <a:ln/>
        </p:spPr>
        <p:txBody>
          <a:bodyPr/>
          <a:lstStyle/>
          <a:p>
            <a:endParaRPr lang="ko-KR" altLang="en-US"/>
          </a:p>
        </p:txBody>
      </p:sp>
      <p:sp>
        <p:nvSpPr>
          <p:cNvPr id="113" name="Shape 111"/>
          <p:cNvSpPr/>
          <p:nvPr/>
        </p:nvSpPr>
        <p:spPr>
          <a:xfrm>
            <a:off x="8554507" y="3180693"/>
            <a:ext cx="9525" cy="387856"/>
          </a:xfrm>
          <a:prstGeom prst="rect">
            <a:avLst/>
          </a:prstGeom>
          <a:solidFill>
            <a:srgbClr val="EADFD3"/>
          </a:solidFill>
          <a:ln/>
        </p:spPr>
        <p:txBody>
          <a:bodyPr/>
          <a:lstStyle/>
          <a:p>
            <a:endParaRPr lang="ko-KR" altLang="en-US"/>
          </a:p>
        </p:txBody>
      </p:sp>
      <p:sp>
        <p:nvSpPr>
          <p:cNvPr id="114" name="Text 112"/>
          <p:cNvSpPr/>
          <p:nvPr/>
        </p:nvSpPr>
        <p:spPr>
          <a:xfrm>
            <a:off x="8578774" y="3224010"/>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41.9%</a:t>
            </a:r>
            <a:endParaRPr lang="en-US" sz="1050" dirty="0"/>
          </a:p>
        </p:txBody>
      </p:sp>
      <p:sp>
        <p:nvSpPr>
          <p:cNvPr id="115" name="Shape 113"/>
          <p:cNvSpPr/>
          <p:nvPr/>
        </p:nvSpPr>
        <p:spPr>
          <a:xfrm>
            <a:off x="538580" y="3568549"/>
            <a:ext cx="1603185" cy="656779"/>
          </a:xfrm>
          <a:prstGeom prst="rect">
            <a:avLst/>
          </a:prstGeom>
          <a:solidFill>
            <a:srgbClr val="F7E4D6"/>
          </a:solidFill>
          <a:ln/>
        </p:spPr>
        <p:txBody>
          <a:bodyPr/>
          <a:lstStyle/>
          <a:p>
            <a:endParaRPr lang="ko-KR" altLang="en-US"/>
          </a:p>
        </p:txBody>
      </p:sp>
      <p:sp>
        <p:nvSpPr>
          <p:cNvPr id="116" name="Shape 114"/>
          <p:cNvSpPr/>
          <p:nvPr/>
        </p:nvSpPr>
        <p:spPr>
          <a:xfrm>
            <a:off x="538580" y="3568549"/>
            <a:ext cx="1603185" cy="9525"/>
          </a:xfrm>
          <a:prstGeom prst="rect">
            <a:avLst/>
          </a:prstGeom>
          <a:solidFill>
            <a:srgbClr val="EADFD3"/>
          </a:solidFill>
          <a:ln/>
        </p:spPr>
        <p:txBody>
          <a:bodyPr/>
          <a:lstStyle/>
          <a:p>
            <a:endParaRPr lang="ko-KR" altLang="en-US"/>
          </a:p>
        </p:txBody>
      </p:sp>
      <p:sp>
        <p:nvSpPr>
          <p:cNvPr id="117" name="Text 115"/>
          <p:cNvSpPr/>
          <p:nvPr/>
        </p:nvSpPr>
        <p:spPr>
          <a:xfrm>
            <a:off x="557630" y="3611866"/>
            <a:ext cx="1565085"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납입완료 (5년)</a:t>
            </a:r>
            <a:endParaRPr lang="en-US" sz="1050" dirty="0"/>
          </a:p>
        </p:txBody>
      </p:sp>
      <p:sp>
        <p:nvSpPr>
          <p:cNvPr id="118" name="Shape 116"/>
          <p:cNvSpPr/>
          <p:nvPr/>
        </p:nvSpPr>
        <p:spPr>
          <a:xfrm>
            <a:off x="2141765" y="3568549"/>
            <a:ext cx="1603185" cy="656779"/>
          </a:xfrm>
          <a:prstGeom prst="rect">
            <a:avLst/>
          </a:prstGeom>
          <a:solidFill>
            <a:srgbClr val="F7E4D6"/>
          </a:solidFill>
          <a:ln/>
        </p:spPr>
        <p:txBody>
          <a:bodyPr/>
          <a:lstStyle/>
          <a:p>
            <a:endParaRPr lang="ko-KR" altLang="en-US"/>
          </a:p>
        </p:txBody>
      </p:sp>
      <p:sp>
        <p:nvSpPr>
          <p:cNvPr id="119" name="Shape 117"/>
          <p:cNvSpPr/>
          <p:nvPr/>
        </p:nvSpPr>
        <p:spPr>
          <a:xfrm>
            <a:off x="2141765" y="3568549"/>
            <a:ext cx="1603185" cy="9525"/>
          </a:xfrm>
          <a:prstGeom prst="rect">
            <a:avLst/>
          </a:prstGeom>
          <a:solidFill>
            <a:srgbClr val="EADFD3"/>
          </a:solidFill>
          <a:ln/>
        </p:spPr>
        <p:txBody>
          <a:bodyPr/>
          <a:lstStyle/>
          <a:p>
            <a:endParaRPr lang="ko-KR" altLang="en-US"/>
          </a:p>
        </p:txBody>
      </p:sp>
      <p:sp>
        <p:nvSpPr>
          <p:cNvPr id="120" name="Shape 118"/>
          <p:cNvSpPr/>
          <p:nvPr/>
        </p:nvSpPr>
        <p:spPr>
          <a:xfrm>
            <a:off x="2141765" y="3568549"/>
            <a:ext cx="9525" cy="656779"/>
          </a:xfrm>
          <a:prstGeom prst="rect">
            <a:avLst/>
          </a:prstGeom>
          <a:solidFill>
            <a:srgbClr val="EADFD3"/>
          </a:solidFill>
          <a:ln/>
        </p:spPr>
        <p:txBody>
          <a:bodyPr/>
          <a:lstStyle/>
          <a:p>
            <a:endParaRPr lang="ko-KR" altLang="en-US"/>
          </a:p>
        </p:txBody>
      </p:sp>
      <p:sp>
        <p:nvSpPr>
          <p:cNvPr id="121" name="Text 119"/>
          <p:cNvSpPr/>
          <p:nvPr/>
        </p:nvSpPr>
        <p:spPr>
          <a:xfrm>
            <a:off x="2166032" y="3611866"/>
            <a:ext cx="1559868"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99.9%</a:t>
            </a:r>
            <a:endParaRPr lang="en-US" sz="1050" dirty="0"/>
          </a:p>
        </p:txBody>
      </p:sp>
      <p:sp>
        <p:nvSpPr>
          <p:cNvPr id="122" name="Shape 120"/>
          <p:cNvSpPr/>
          <p:nvPr/>
        </p:nvSpPr>
        <p:spPr>
          <a:xfrm>
            <a:off x="3744951" y="3568549"/>
            <a:ext cx="1603185" cy="656779"/>
          </a:xfrm>
          <a:prstGeom prst="rect">
            <a:avLst/>
          </a:prstGeom>
          <a:solidFill>
            <a:srgbClr val="F7E4D6"/>
          </a:solidFill>
          <a:ln/>
        </p:spPr>
        <p:txBody>
          <a:bodyPr/>
          <a:lstStyle/>
          <a:p>
            <a:endParaRPr lang="ko-KR" altLang="en-US"/>
          </a:p>
        </p:txBody>
      </p:sp>
      <p:sp>
        <p:nvSpPr>
          <p:cNvPr id="123" name="Shape 121"/>
          <p:cNvSpPr/>
          <p:nvPr/>
        </p:nvSpPr>
        <p:spPr>
          <a:xfrm>
            <a:off x="3744951" y="3568549"/>
            <a:ext cx="1603185" cy="9525"/>
          </a:xfrm>
          <a:prstGeom prst="rect">
            <a:avLst/>
          </a:prstGeom>
          <a:solidFill>
            <a:srgbClr val="EADFD3"/>
          </a:solidFill>
          <a:ln/>
        </p:spPr>
        <p:txBody>
          <a:bodyPr/>
          <a:lstStyle/>
          <a:p>
            <a:endParaRPr lang="ko-KR" altLang="en-US"/>
          </a:p>
        </p:txBody>
      </p:sp>
      <p:sp>
        <p:nvSpPr>
          <p:cNvPr id="124" name="Shape 122"/>
          <p:cNvSpPr/>
          <p:nvPr/>
        </p:nvSpPr>
        <p:spPr>
          <a:xfrm>
            <a:off x="3744951" y="3568549"/>
            <a:ext cx="9525" cy="656779"/>
          </a:xfrm>
          <a:prstGeom prst="rect">
            <a:avLst/>
          </a:prstGeom>
          <a:solidFill>
            <a:srgbClr val="EADFD3"/>
          </a:solidFill>
          <a:ln/>
        </p:spPr>
        <p:txBody>
          <a:bodyPr/>
          <a:lstStyle/>
          <a:p>
            <a:endParaRPr lang="ko-KR" altLang="en-US"/>
          </a:p>
        </p:txBody>
      </p:sp>
      <p:sp>
        <p:nvSpPr>
          <p:cNvPr id="125" name="Text 123"/>
          <p:cNvSpPr/>
          <p:nvPr/>
        </p:nvSpPr>
        <p:spPr>
          <a:xfrm>
            <a:off x="3769218" y="3611866"/>
            <a:ext cx="1559868"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96.01%</a:t>
            </a:r>
            <a:endParaRPr lang="en-US" sz="1050" dirty="0"/>
          </a:p>
        </p:txBody>
      </p:sp>
      <p:sp>
        <p:nvSpPr>
          <p:cNvPr id="126" name="Shape 124"/>
          <p:cNvSpPr/>
          <p:nvPr/>
        </p:nvSpPr>
        <p:spPr>
          <a:xfrm>
            <a:off x="5348136" y="3568549"/>
            <a:ext cx="1603185" cy="656779"/>
          </a:xfrm>
          <a:prstGeom prst="rect">
            <a:avLst/>
          </a:prstGeom>
          <a:solidFill>
            <a:srgbClr val="F7E4D6"/>
          </a:solidFill>
          <a:ln/>
        </p:spPr>
        <p:txBody>
          <a:bodyPr/>
          <a:lstStyle/>
          <a:p>
            <a:endParaRPr lang="ko-KR" altLang="en-US"/>
          </a:p>
        </p:txBody>
      </p:sp>
      <p:sp>
        <p:nvSpPr>
          <p:cNvPr id="127" name="Shape 125"/>
          <p:cNvSpPr/>
          <p:nvPr/>
        </p:nvSpPr>
        <p:spPr>
          <a:xfrm>
            <a:off x="5348136" y="3568549"/>
            <a:ext cx="1603185" cy="9525"/>
          </a:xfrm>
          <a:prstGeom prst="rect">
            <a:avLst/>
          </a:prstGeom>
          <a:solidFill>
            <a:srgbClr val="EADFD3"/>
          </a:solidFill>
          <a:ln/>
        </p:spPr>
        <p:txBody>
          <a:bodyPr/>
          <a:lstStyle/>
          <a:p>
            <a:endParaRPr lang="ko-KR" altLang="en-US"/>
          </a:p>
        </p:txBody>
      </p:sp>
      <p:sp>
        <p:nvSpPr>
          <p:cNvPr id="128" name="Shape 126"/>
          <p:cNvSpPr/>
          <p:nvPr/>
        </p:nvSpPr>
        <p:spPr>
          <a:xfrm>
            <a:off x="5348136" y="3568549"/>
            <a:ext cx="9525" cy="656779"/>
          </a:xfrm>
          <a:prstGeom prst="rect">
            <a:avLst/>
          </a:prstGeom>
          <a:solidFill>
            <a:srgbClr val="EADFD3"/>
          </a:solidFill>
          <a:ln/>
        </p:spPr>
        <p:txBody>
          <a:bodyPr/>
          <a:lstStyle/>
          <a:p>
            <a:endParaRPr lang="ko-KR" altLang="en-US"/>
          </a:p>
        </p:txBody>
      </p:sp>
      <p:sp>
        <p:nvSpPr>
          <p:cNvPr id="129" name="Text 127"/>
          <p:cNvSpPr/>
          <p:nvPr/>
        </p:nvSpPr>
        <p:spPr>
          <a:xfrm>
            <a:off x="5372403" y="3611866"/>
            <a:ext cx="1559868"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98.2%</a:t>
            </a:r>
            <a:endParaRPr lang="en-US" sz="1050" dirty="0"/>
          </a:p>
        </p:txBody>
      </p:sp>
      <p:sp>
        <p:nvSpPr>
          <p:cNvPr id="130" name="Shape 128"/>
          <p:cNvSpPr/>
          <p:nvPr/>
        </p:nvSpPr>
        <p:spPr>
          <a:xfrm>
            <a:off x="6951322" y="3568549"/>
            <a:ext cx="1603185" cy="656779"/>
          </a:xfrm>
          <a:prstGeom prst="rect">
            <a:avLst/>
          </a:prstGeom>
          <a:solidFill>
            <a:srgbClr val="F7E4D6"/>
          </a:solidFill>
          <a:ln/>
        </p:spPr>
        <p:txBody>
          <a:bodyPr/>
          <a:lstStyle/>
          <a:p>
            <a:endParaRPr lang="ko-KR" altLang="en-US"/>
          </a:p>
        </p:txBody>
      </p:sp>
      <p:sp>
        <p:nvSpPr>
          <p:cNvPr id="131" name="Shape 129"/>
          <p:cNvSpPr/>
          <p:nvPr/>
        </p:nvSpPr>
        <p:spPr>
          <a:xfrm>
            <a:off x="6951322" y="3568549"/>
            <a:ext cx="1603185" cy="9525"/>
          </a:xfrm>
          <a:prstGeom prst="rect">
            <a:avLst/>
          </a:prstGeom>
          <a:solidFill>
            <a:srgbClr val="EADFD3"/>
          </a:solidFill>
          <a:ln/>
        </p:spPr>
        <p:txBody>
          <a:bodyPr/>
          <a:lstStyle/>
          <a:p>
            <a:endParaRPr lang="ko-KR" altLang="en-US"/>
          </a:p>
        </p:txBody>
      </p:sp>
      <p:sp>
        <p:nvSpPr>
          <p:cNvPr id="132" name="Shape 130"/>
          <p:cNvSpPr/>
          <p:nvPr/>
        </p:nvSpPr>
        <p:spPr>
          <a:xfrm>
            <a:off x="6951322" y="3568549"/>
            <a:ext cx="9525" cy="656779"/>
          </a:xfrm>
          <a:prstGeom prst="rect">
            <a:avLst/>
          </a:prstGeom>
          <a:solidFill>
            <a:srgbClr val="EADFD3"/>
          </a:solidFill>
          <a:ln/>
        </p:spPr>
        <p:txBody>
          <a:bodyPr/>
          <a:lstStyle/>
          <a:p>
            <a:endParaRPr lang="ko-KR" altLang="en-US"/>
          </a:p>
        </p:txBody>
      </p:sp>
      <p:sp>
        <p:nvSpPr>
          <p:cNvPr id="133" name="Text 131"/>
          <p:cNvSpPr/>
          <p:nvPr/>
        </p:nvSpPr>
        <p:spPr>
          <a:xfrm>
            <a:off x="6975589" y="3611866"/>
            <a:ext cx="1559868"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96.9%</a:t>
            </a:r>
            <a:endParaRPr lang="en-US" sz="1050" dirty="0"/>
          </a:p>
        </p:txBody>
      </p:sp>
      <p:sp>
        <p:nvSpPr>
          <p:cNvPr id="134" name="Shape 132"/>
          <p:cNvSpPr/>
          <p:nvPr/>
        </p:nvSpPr>
        <p:spPr>
          <a:xfrm>
            <a:off x="8554507" y="3568549"/>
            <a:ext cx="1603430" cy="656779"/>
          </a:xfrm>
          <a:prstGeom prst="rect">
            <a:avLst/>
          </a:prstGeom>
          <a:solidFill>
            <a:srgbClr val="F7E4D6"/>
          </a:solidFill>
          <a:ln/>
        </p:spPr>
        <p:txBody>
          <a:bodyPr/>
          <a:lstStyle/>
          <a:p>
            <a:endParaRPr lang="ko-KR" altLang="en-US"/>
          </a:p>
        </p:txBody>
      </p:sp>
      <p:sp>
        <p:nvSpPr>
          <p:cNvPr id="135" name="Shape 133"/>
          <p:cNvSpPr/>
          <p:nvPr/>
        </p:nvSpPr>
        <p:spPr>
          <a:xfrm>
            <a:off x="8554507" y="3568549"/>
            <a:ext cx="1603430" cy="9525"/>
          </a:xfrm>
          <a:prstGeom prst="rect">
            <a:avLst/>
          </a:prstGeom>
          <a:solidFill>
            <a:srgbClr val="EADFD3"/>
          </a:solidFill>
          <a:ln/>
        </p:spPr>
        <p:txBody>
          <a:bodyPr/>
          <a:lstStyle/>
          <a:p>
            <a:endParaRPr lang="ko-KR" altLang="en-US"/>
          </a:p>
        </p:txBody>
      </p:sp>
      <p:sp>
        <p:nvSpPr>
          <p:cNvPr id="136" name="Shape 134"/>
          <p:cNvSpPr/>
          <p:nvPr/>
        </p:nvSpPr>
        <p:spPr>
          <a:xfrm>
            <a:off x="8554507" y="3568549"/>
            <a:ext cx="9525" cy="656779"/>
          </a:xfrm>
          <a:prstGeom prst="rect">
            <a:avLst/>
          </a:prstGeom>
          <a:solidFill>
            <a:srgbClr val="EADFD3"/>
          </a:solidFill>
          <a:ln/>
        </p:spPr>
        <p:txBody>
          <a:bodyPr/>
          <a:lstStyle/>
          <a:p>
            <a:endParaRPr lang="ko-KR" altLang="en-US"/>
          </a:p>
        </p:txBody>
      </p:sp>
      <p:sp>
        <p:nvSpPr>
          <p:cNvPr id="137" name="Text 135"/>
          <p:cNvSpPr/>
          <p:nvPr/>
        </p:nvSpPr>
        <p:spPr>
          <a:xfrm>
            <a:off x="8578774" y="3611866"/>
            <a:ext cx="1560113" cy="613462"/>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99.7%</a:t>
            </a:r>
            <a:endParaRPr lang="en-US" sz="1050" dirty="0"/>
          </a:p>
        </p:txBody>
      </p:sp>
      <p:sp>
        <p:nvSpPr>
          <p:cNvPr id="138" name="Shape 136"/>
          <p:cNvSpPr/>
          <p:nvPr/>
        </p:nvSpPr>
        <p:spPr>
          <a:xfrm>
            <a:off x="538580" y="4225328"/>
            <a:ext cx="1603185" cy="395437"/>
          </a:xfrm>
          <a:prstGeom prst="rect">
            <a:avLst/>
          </a:prstGeom>
          <a:solidFill>
            <a:srgbClr val="F5E9CC"/>
          </a:solidFill>
          <a:ln/>
        </p:spPr>
        <p:txBody>
          <a:bodyPr/>
          <a:lstStyle/>
          <a:p>
            <a:endParaRPr lang="ko-KR" altLang="en-US"/>
          </a:p>
        </p:txBody>
      </p:sp>
      <p:sp>
        <p:nvSpPr>
          <p:cNvPr id="139" name="Shape 137"/>
          <p:cNvSpPr/>
          <p:nvPr/>
        </p:nvSpPr>
        <p:spPr>
          <a:xfrm>
            <a:off x="538580" y="4225328"/>
            <a:ext cx="1603185" cy="9525"/>
          </a:xfrm>
          <a:prstGeom prst="rect">
            <a:avLst/>
          </a:prstGeom>
          <a:solidFill>
            <a:srgbClr val="EADFD3"/>
          </a:solidFill>
          <a:ln/>
        </p:spPr>
        <p:txBody>
          <a:bodyPr/>
          <a:lstStyle/>
          <a:p>
            <a:endParaRPr lang="ko-KR" altLang="en-US"/>
          </a:p>
        </p:txBody>
      </p:sp>
      <p:sp>
        <p:nvSpPr>
          <p:cNvPr id="140" name="Text 138"/>
          <p:cNvSpPr/>
          <p:nvPr/>
        </p:nvSpPr>
        <p:spPr>
          <a:xfrm>
            <a:off x="557630" y="4268645"/>
            <a:ext cx="1565085"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10년</a:t>
            </a:r>
            <a:endParaRPr lang="en-US" sz="1050" dirty="0"/>
          </a:p>
        </p:txBody>
      </p:sp>
      <p:sp>
        <p:nvSpPr>
          <p:cNvPr id="141" name="Shape 139"/>
          <p:cNvSpPr/>
          <p:nvPr/>
        </p:nvSpPr>
        <p:spPr>
          <a:xfrm>
            <a:off x="2141765" y="4225328"/>
            <a:ext cx="1603185" cy="395437"/>
          </a:xfrm>
          <a:prstGeom prst="rect">
            <a:avLst/>
          </a:prstGeom>
          <a:solidFill>
            <a:srgbClr val="F5E9CC"/>
          </a:solidFill>
          <a:ln/>
        </p:spPr>
        <p:txBody>
          <a:bodyPr/>
          <a:lstStyle/>
          <a:p>
            <a:endParaRPr lang="ko-KR" altLang="en-US"/>
          </a:p>
        </p:txBody>
      </p:sp>
      <p:sp>
        <p:nvSpPr>
          <p:cNvPr id="142" name="Shape 140"/>
          <p:cNvSpPr/>
          <p:nvPr/>
        </p:nvSpPr>
        <p:spPr>
          <a:xfrm>
            <a:off x="2141765" y="4225328"/>
            <a:ext cx="1603185" cy="9525"/>
          </a:xfrm>
          <a:prstGeom prst="rect">
            <a:avLst/>
          </a:prstGeom>
          <a:solidFill>
            <a:srgbClr val="EADFD3"/>
          </a:solidFill>
          <a:ln/>
        </p:spPr>
        <p:txBody>
          <a:bodyPr/>
          <a:lstStyle/>
          <a:p>
            <a:endParaRPr lang="ko-KR" altLang="en-US"/>
          </a:p>
        </p:txBody>
      </p:sp>
      <p:sp>
        <p:nvSpPr>
          <p:cNvPr id="143" name="Shape 141"/>
          <p:cNvSpPr/>
          <p:nvPr/>
        </p:nvSpPr>
        <p:spPr>
          <a:xfrm>
            <a:off x="2141765" y="4225328"/>
            <a:ext cx="9525" cy="395437"/>
          </a:xfrm>
          <a:prstGeom prst="rect">
            <a:avLst/>
          </a:prstGeom>
          <a:solidFill>
            <a:srgbClr val="EADFD3"/>
          </a:solidFill>
          <a:ln/>
        </p:spPr>
        <p:txBody>
          <a:bodyPr/>
          <a:lstStyle/>
          <a:p>
            <a:endParaRPr lang="ko-KR" altLang="en-US"/>
          </a:p>
        </p:txBody>
      </p:sp>
      <p:sp>
        <p:nvSpPr>
          <p:cNvPr id="144" name="Text 142"/>
          <p:cNvSpPr/>
          <p:nvPr/>
        </p:nvSpPr>
        <p:spPr>
          <a:xfrm>
            <a:off x="2166032" y="4268645"/>
            <a:ext cx="1559868"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121%</a:t>
            </a:r>
            <a:endParaRPr lang="en-US" sz="1050" dirty="0"/>
          </a:p>
        </p:txBody>
      </p:sp>
      <p:sp>
        <p:nvSpPr>
          <p:cNvPr id="145" name="Shape 143"/>
          <p:cNvSpPr/>
          <p:nvPr/>
        </p:nvSpPr>
        <p:spPr>
          <a:xfrm>
            <a:off x="3744951" y="4225328"/>
            <a:ext cx="1603185" cy="395437"/>
          </a:xfrm>
          <a:prstGeom prst="rect">
            <a:avLst/>
          </a:prstGeom>
          <a:solidFill>
            <a:srgbClr val="F5E9CC"/>
          </a:solidFill>
          <a:ln/>
        </p:spPr>
        <p:txBody>
          <a:bodyPr/>
          <a:lstStyle/>
          <a:p>
            <a:endParaRPr lang="ko-KR" altLang="en-US"/>
          </a:p>
        </p:txBody>
      </p:sp>
      <p:sp>
        <p:nvSpPr>
          <p:cNvPr id="146" name="Shape 144"/>
          <p:cNvSpPr/>
          <p:nvPr/>
        </p:nvSpPr>
        <p:spPr>
          <a:xfrm>
            <a:off x="3744951" y="4225328"/>
            <a:ext cx="1603185" cy="9525"/>
          </a:xfrm>
          <a:prstGeom prst="rect">
            <a:avLst/>
          </a:prstGeom>
          <a:solidFill>
            <a:srgbClr val="EADFD3"/>
          </a:solidFill>
          <a:ln/>
        </p:spPr>
        <p:txBody>
          <a:bodyPr/>
          <a:lstStyle/>
          <a:p>
            <a:endParaRPr lang="ko-KR" altLang="en-US"/>
          </a:p>
        </p:txBody>
      </p:sp>
      <p:sp>
        <p:nvSpPr>
          <p:cNvPr id="147" name="Shape 145"/>
          <p:cNvSpPr/>
          <p:nvPr/>
        </p:nvSpPr>
        <p:spPr>
          <a:xfrm>
            <a:off x="3744951" y="4225328"/>
            <a:ext cx="9525" cy="395437"/>
          </a:xfrm>
          <a:prstGeom prst="rect">
            <a:avLst/>
          </a:prstGeom>
          <a:solidFill>
            <a:srgbClr val="EADFD3"/>
          </a:solidFill>
          <a:ln/>
        </p:spPr>
        <p:txBody>
          <a:bodyPr/>
          <a:lstStyle/>
          <a:p>
            <a:endParaRPr lang="ko-KR" altLang="en-US"/>
          </a:p>
        </p:txBody>
      </p:sp>
      <p:sp>
        <p:nvSpPr>
          <p:cNvPr id="148" name="Text 146"/>
          <p:cNvSpPr/>
          <p:nvPr/>
        </p:nvSpPr>
        <p:spPr>
          <a:xfrm>
            <a:off x="3769218" y="4268645"/>
            <a:ext cx="1559868"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120.53%</a:t>
            </a:r>
            <a:endParaRPr lang="en-US" sz="1050" dirty="0"/>
          </a:p>
        </p:txBody>
      </p:sp>
      <p:sp>
        <p:nvSpPr>
          <p:cNvPr id="149" name="Shape 147"/>
          <p:cNvSpPr/>
          <p:nvPr/>
        </p:nvSpPr>
        <p:spPr>
          <a:xfrm>
            <a:off x="5348136" y="4225328"/>
            <a:ext cx="1603185" cy="395437"/>
          </a:xfrm>
          <a:prstGeom prst="rect">
            <a:avLst/>
          </a:prstGeom>
          <a:solidFill>
            <a:srgbClr val="F5E9CC"/>
          </a:solidFill>
          <a:ln/>
        </p:spPr>
        <p:txBody>
          <a:bodyPr/>
          <a:lstStyle/>
          <a:p>
            <a:endParaRPr lang="ko-KR" altLang="en-US"/>
          </a:p>
        </p:txBody>
      </p:sp>
      <p:sp>
        <p:nvSpPr>
          <p:cNvPr id="150" name="Shape 148"/>
          <p:cNvSpPr/>
          <p:nvPr/>
        </p:nvSpPr>
        <p:spPr>
          <a:xfrm>
            <a:off x="5348136" y="4225328"/>
            <a:ext cx="1603185" cy="9525"/>
          </a:xfrm>
          <a:prstGeom prst="rect">
            <a:avLst/>
          </a:prstGeom>
          <a:solidFill>
            <a:srgbClr val="EADFD3"/>
          </a:solidFill>
          <a:ln/>
        </p:spPr>
        <p:txBody>
          <a:bodyPr/>
          <a:lstStyle/>
          <a:p>
            <a:endParaRPr lang="ko-KR" altLang="en-US"/>
          </a:p>
        </p:txBody>
      </p:sp>
      <p:sp>
        <p:nvSpPr>
          <p:cNvPr id="151" name="Shape 149"/>
          <p:cNvSpPr/>
          <p:nvPr/>
        </p:nvSpPr>
        <p:spPr>
          <a:xfrm>
            <a:off x="5348136" y="4225328"/>
            <a:ext cx="9525" cy="395437"/>
          </a:xfrm>
          <a:prstGeom prst="rect">
            <a:avLst/>
          </a:prstGeom>
          <a:solidFill>
            <a:srgbClr val="EADFD3"/>
          </a:solidFill>
          <a:ln/>
        </p:spPr>
        <p:txBody>
          <a:bodyPr/>
          <a:lstStyle/>
          <a:p>
            <a:endParaRPr lang="ko-KR" altLang="en-US"/>
          </a:p>
        </p:txBody>
      </p:sp>
      <p:sp>
        <p:nvSpPr>
          <p:cNvPr id="152" name="Text 150"/>
          <p:cNvSpPr/>
          <p:nvPr/>
        </p:nvSpPr>
        <p:spPr>
          <a:xfrm>
            <a:off x="5372403" y="4268645"/>
            <a:ext cx="1559868"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120.5%</a:t>
            </a:r>
            <a:endParaRPr lang="en-US" sz="1050" dirty="0"/>
          </a:p>
        </p:txBody>
      </p:sp>
      <p:sp>
        <p:nvSpPr>
          <p:cNvPr id="153" name="Shape 151"/>
          <p:cNvSpPr/>
          <p:nvPr/>
        </p:nvSpPr>
        <p:spPr>
          <a:xfrm>
            <a:off x="6951322" y="4225328"/>
            <a:ext cx="1603185" cy="395437"/>
          </a:xfrm>
          <a:prstGeom prst="rect">
            <a:avLst/>
          </a:prstGeom>
          <a:solidFill>
            <a:srgbClr val="F5E9CC"/>
          </a:solidFill>
          <a:ln/>
        </p:spPr>
        <p:txBody>
          <a:bodyPr/>
          <a:lstStyle/>
          <a:p>
            <a:endParaRPr lang="ko-KR" altLang="en-US"/>
          </a:p>
        </p:txBody>
      </p:sp>
      <p:sp>
        <p:nvSpPr>
          <p:cNvPr id="154" name="Shape 152"/>
          <p:cNvSpPr/>
          <p:nvPr/>
        </p:nvSpPr>
        <p:spPr>
          <a:xfrm>
            <a:off x="6951322" y="4225328"/>
            <a:ext cx="1603185" cy="9525"/>
          </a:xfrm>
          <a:prstGeom prst="rect">
            <a:avLst/>
          </a:prstGeom>
          <a:solidFill>
            <a:srgbClr val="EADFD3"/>
          </a:solidFill>
          <a:ln/>
        </p:spPr>
        <p:txBody>
          <a:bodyPr/>
          <a:lstStyle/>
          <a:p>
            <a:endParaRPr lang="ko-KR" altLang="en-US"/>
          </a:p>
        </p:txBody>
      </p:sp>
      <p:sp>
        <p:nvSpPr>
          <p:cNvPr id="155" name="Shape 153"/>
          <p:cNvSpPr/>
          <p:nvPr/>
        </p:nvSpPr>
        <p:spPr>
          <a:xfrm>
            <a:off x="6951322" y="4225328"/>
            <a:ext cx="9525" cy="395437"/>
          </a:xfrm>
          <a:prstGeom prst="rect">
            <a:avLst/>
          </a:prstGeom>
          <a:solidFill>
            <a:srgbClr val="EADFD3"/>
          </a:solidFill>
          <a:ln/>
        </p:spPr>
        <p:txBody>
          <a:bodyPr/>
          <a:lstStyle/>
          <a:p>
            <a:endParaRPr lang="ko-KR" altLang="en-US"/>
          </a:p>
        </p:txBody>
      </p:sp>
      <p:sp>
        <p:nvSpPr>
          <p:cNvPr id="156" name="Text 154"/>
          <p:cNvSpPr/>
          <p:nvPr/>
        </p:nvSpPr>
        <p:spPr>
          <a:xfrm>
            <a:off x="6975589" y="4268645"/>
            <a:ext cx="1559868"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120.5%</a:t>
            </a:r>
            <a:endParaRPr lang="en-US" sz="1050" dirty="0"/>
          </a:p>
        </p:txBody>
      </p:sp>
      <p:sp>
        <p:nvSpPr>
          <p:cNvPr id="157" name="Shape 155"/>
          <p:cNvSpPr/>
          <p:nvPr/>
        </p:nvSpPr>
        <p:spPr>
          <a:xfrm>
            <a:off x="8554507" y="4225328"/>
            <a:ext cx="1603430" cy="395437"/>
          </a:xfrm>
          <a:prstGeom prst="rect">
            <a:avLst/>
          </a:prstGeom>
          <a:solidFill>
            <a:srgbClr val="F5E9CC"/>
          </a:solidFill>
          <a:ln/>
        </p:spPr>
        <p:txBody>
          <a:bodyPr/>
          <a:lstStyle/>
          <a:p>
            <a:endParaRPr lang="ko-KR" altLang="en-US"/>
          </a:p>
        </p:txBody>
      </p:sp>
      <p:sp>
        <p:nvSpPr>
          <p:cNvPr id="158" name="Shape 156"/>
          <p:cNvSpPr/>
          <p:nvPr/>
        </p:nvSpPr>
        <p:spPr>
          <a:xfrm>
            <a:off x="8554507" y="4225328"/>
            <a:ext cx="1603430" cy="9525"/>
          </a:xfrm>
          <a:prstGeom prst="rect">
            <a:avLst/>
          </a:prstGeom>
          <a:solidFill>
            <a:srgbClr val="EADFD3"/>
          </a:solidFill>
          <a:ln/>
        </p:spPr>
        <p:txBody>
          <a:bodyPr/>
          <a:lstStyle/>
          <a:p>
            <a:endParaRPr lang="ko-KR" altLang="en-US"/>
          </a:p>
        </p:txBody>
      </p:sp>
      <p:sp>
        <p:nvSpPr>
          <p:cNvPr id="159" name="Shape 157"/>
          <p:cNvSpPr/>
          <p:nvPr/>
        </p:nvSpPr>
        <p:spPr>
          <a:xfrm>
            <a:off x="8554507" y="4225328"/>
            <a:ext cx="9525" cy="395437"/>
          </a:xfrm>
          <a:prstGeom prst="rect">
            <a:avLst/>
          </a:prstGeom>
          <a:solidFill>
            <a:srgbClr val="EADFD3"/>
          </a:solidFill>
          <a:ln/>
        </p:spPr>
        <p:txBody>
          <a:bodyPr/>
          <a:lstStyle/>
          <a:p>
            <a:endParaRPr lang="ko-KR" altLang="en-US"/>
          </a:p>
        </p:txBody>
      </p:sp>
      <p:sp>
        <p:nvSpPr>
          <p:cNvPr id="160" name="Text 158"/>
          <p:cNvSpPr/>
          <p:nvPr/>
        </p:nvSpPr>
        <p:spPr>
          <a:xfrm>
            <a:off x="8578774" y="4268645"/>
            <a:ext cx="1560113" cy="35212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120.4%</a:t>
            </a:r>
            <a:endParaRPr lang="en-US" sz="1050" dirty="0"/>
          </a:p>
        </p:txBody>
      </p:sp>
      <p:sp>
        <p:nvSpPr>
          <p:cNvPr id="161" name="Shape 159"/>
          <p:cNvSpPr/>
          <p:nvPr/>
        </p:nvSpPr>
        <p:spPr>
          <a:xfrm>
            <a:off x="538580" y="4620764"/>
            <a:ext cx="1603185" cy="387856"/>
          </a:xfrm>
          <a:prstGeom prst="rect">
            <a:avLst/>
          </a:prstGeom>
          <a:solidFill>
            <a:srgbClr val="FCF8EC"/>
          </a:solidFill>
          <a:ln/>
        </p:spPr>
        <p:txBody>
          <a:bodyPr/>
          <a:lstStyle/>
          <a:p>
            <a:endParaRPr lang="ko-KR" altLang="en-US"/>
          </a:p>
        </p:txBody>
      </p:sp>
      <p:sp>
        <p:nvSpPr>
          <p:cNvPr id="162" name="Shape 160"/>
          <p:cNvSpPr/>
          <p:nvPr/>
        </p:nvSpPr>
        <p:spPr>
          <a:xfrm>
            <a:off x="538580" y="4620764"/>
            <a:ext cx="1603185" cy="9525"/>
          </a:xfrm>
          <a:prstGeom prst="rect">
            <a:avLst/>
          </a:prstGeom>
          <a:solidFill>
            <a:srgbClr val="EADFD3"/>
          </a:solidFill>
          <a:ln/>
        </p:spPr>
        <p:txBody>
          <a:bodyPr/>
          <a:lstStyle/>
          <a:p>
            <a:endParaRPr lang="ko-KR" altLang="en-US"/>
          </a:p>
        </p:txBody>
      </p:sp>
      <p:sp>
        <p:nvSpPr>
          <p:cNvPr id="163" name="Text 161"/>
          <p:cNvSpPr/>
          <p:nvPr/>
        </p:nvSpPr>
        <p:spPr>
          <a:xfrm>
            <a:off x="557630" y="4664081"/>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15년</a:t>
            </a:r>
            <a:endParaRPr lang="en-US" sz="1050" dirty="0"/>
          </a:p>
        </p:txBody>
      </p:sp>
      <p:sp>
        <p:nvSpPr>
          <p:cNvPr id="164" name="Shape 162"/>
          <p:cNvSpPr/>
          <p:nvPr/>
        </p:nvSpPr>
        <p:spPr>
          <a:xfrm>
            <a:off x="2141765" y="4620764"/>
            <a:ext cx="1603185" cy="387856"/>
          </a:xfrm>
          <a:prstGeom prst="rect">
            <a:avLst/>
          </a:prstGeom>
          <a:solidFill>
            <a:srgbClr val="FFFFFF"/>
          </a:solidFill>
          <a:ln/>
        </p:spPr>
        <p:txBody>
          <a:bodyPr/>
          <a:lstStyle/>
          <a:p>
            <a:endParaRPr lang="ko-KR" altLang="en-US"/>
          </a:p>
        </p:txBody>
      </p:sp>
      <p:sp>
        <p:nvSpPr>
          <p:cNvPr id="165" name="Shape 163"/>
          <p:cNvSpPr/>
          <p:nvPr/>
        </p:nvSpPr>
        <p:spPr>
          <a:xfrm>
            <a:off x="2141765" y="4620764"/>
            <a:ext cx="1603185" cy="9525"/>
          </a:xfrm>
          <a:prstGeom prst="rect">
            <a:avLst/>
          </a:prstGeom>
          <a:solidFill>
            <a:srgbClr val="EADFD3"/>
          </a:solidFill>
          <a:ln/>
        </p:spPr>
        <p:txBody>
          <a:bodyPr/>
          <a:lstStyle/>
          <a:p>
            <a:endParaRPr lang="ko-KR" altLang="en-US"/>
          </a:p>
        </p:txBody>
      </p:sp>
      <p:sp>
        <p:nvSpPr>
          <p:cNvPr id="166" name="Shape 164"/>
          <p:cNvSpPr/>
          <p:nvPr/>
        </p:nvSpPr>
        <p:spPr>
          <a:xfrm>
            <a:off x="2141765" y="4620764"/>
            <a:ext cx="9525" cy="387856"/>
          </a:xfrm>
          <a:prstGeom prst="rect">
            <a:avLst/>
          </a:prstGeom>
          <a:solidFill>
            <a:srgbClr val="EADFD3"/>
          </a:solidFill>
          <a:ln/>
        </p:spPr>
        <p:txBody>
          <a:bodyPr/>
          <a:lstStyle/>
          <a:p>
            <a:endParaRPr lang="ko-KR" altLang="en-US"/>
          </a:p>
        </p:txBody>
      </p:sp>
      <p:sp>
        <p:nvSpPr>
          <p:cNvPr id="167" name="Text 165"/>
          <p:cNvSpPr/>
          <p:nvPr/>
        </p:nvSpPr>
        <p:spPr>
          <a:xfrm>
            <a:off x="2166032" y="4664081"/>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122.1%</a:t>
            </a:r>
            <a:endParaRPr lang="en-US" sz="1050" dirty="0"/>
          </a:p>
        </p:txBody>
      </p:sp>
      <p:sp>
        <p:nvSpPr>
          <p:cNvPr id="168" name="Shape 166"/>
          <p:cNvSpPr/>
          <p:nvPr/>
        </p:nvSpPr>
        <p:spPr>
          <a:xfrm>
            <a:off x="3744951" y="4620764"/>
            <a:ext cx="1603185" cy="387856"/>
          </a:xfrm>
          <a:prstGeom prst="rect">
            <a:avLst/>
          </a:prstGeom>
          <a:solidFill>
            <a:srgbClr val="FFFFFF"/>
          </a:solidFill>
          <a:ln/>
        </p:spPr>
        <p:txBody>
          <a:bodyPr/>
          <a:lstStyle/>
          <a:p>
            <a:endParaRPr lang="ko-KR" altLang="en-US"/>
          </a:p>
        </p:txBody>
      </p:sp>
      <p:sp>
        <p:nvSpPr>
          <p:cNvPr id="169" name="Shape 167"/>
          <p:cNvSpPr/>
          <p:nvPr/>
        </p:nvSpPr>
        <p:spPr>
          <a:xfrm>
            <a:off x="3744951" y="4620764"/>
            <a:ext cx="1603185" cy="9525"/>
          </a:xfrm>
          <a:prstGeom prst="rect">
            <a:avLst/>
          </a:prstGeom>
          <a:solidFill>
            <a:srgbClr val="EADFD3"/>
          </a:solidFill>
          <a:ln/>
        </p:spPr>
        <p:txBody>
          <a:bodyPr/>
          <a:lstStyle/>
          <a:p>
            <a:endParaRPr lang="ko-KR" altLang="en-US"/>
          </a:p>
        </p:txBody>
      </p:sp>
      <p:sp>
        <p:nvSpPr>
          <p:cNvPr id="170" name="Shape 168"/>
          <p:cNvSpPr/>
          <p:nvPr/>
        </p:nvSpPr>
        <p:spPr>
          <a:xfrm>
            <a:off x="3744951" y="4620764"/>
            <a:ext cx="9525" cy="387856"/>
          </a:xfrm>
          <a:prstGeom prst="rect">
            <a:avLst/>
          </a:prstGeom>
          <a:solidFill>
            <a:srgbClr val="EADFD3"/>
          </a:solidFill>
          <a:ln/>
        </p:spPr>
        <p:txBody>
          <a:bodyPr/>
          <a:lstStyle/>
          <a:p>
            <a:endParaRPr lang="ko-KR" altLang="en-US"/>
          </a:p>
        </p:txBody>
      </p:sp>
      <p:sp>
        <p:nvSpPr>
          <p:cNvPr id="171" name="Text 169"/>
          <p:cNvSpPr/>
          <p:nvPr/>
        </p:nvSpPr>
        <p:spPr>
          <a:xfrm>
            <a:off x="3769218" y="4664081"/>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132.71%</a:t>
            </a:r>
            <a:endParaRPr lang="en-US" sz="1050" dirty="0"/>
          </a:p>
        </p:txBody>
      </p:sp>
      <p:sp>
        <p:nvSpPr>
          <p:cNvPr id="172" name="Shape 170"/>
          <p:cNvSpPr/>
          <p:nvPr/>
        </p:nvSpPr>
        <p:spPr>
          <a:xfrm>
            <a:off x="5348136" y="4620764"/>
            <a:ext cx="1603185" cy="387856"/>
          </a:xfrm>
          <a:prstGeom prst="rect">
            <a:avLst/>
          </a:prstGeom>
          <a:solidFill>
            <a:srgbClr val="FFFFFF"/>
          </a:solidFill>
          <a:ln/>
        </p:spPr>
        <p:txBody>
          <a:bodyPr/>
          <a:lstStyle/>
          <a:p>
            <a:endParaRPr lang="ko-KR" altLang="en-US"/>
          </a:p>
        </p:txBody>
      </p:sp>
      <p:sp>
        <p:nvSpPr>
          <p:cNvPr id="173" name="Shape 171"/>
          <p:cNvSpPr/>
          <p:nvPr/>
        </p:nvSpPr>
        <p:spPr>
          <a:xfrm>
            <a:off x="5348136" y="4620764"/>
            <a:ext cx="1603185" cy="9525"/>
          </a:xfrm>
          <a:prstGeom prst="rect">
            <a:avLst/>
          </a:prstGeom>
          <a:solidFill>
            <a:srgbClr val="EADFD3"/>
          </a:solidFill>
          <a:ln/>
        </p:spPr>
        <p:txBody>
          <a:bodyPr/>
          <a:lstStyle/>
          <a:p>
            <a:endParaRPr lang="ko-KR" altLang="en-US"/>
          </a:p>
        </p:txBody>
      </p:sp>
      <p:sp>
        <p:nvSpPr>
          <p:cNvPr id="174" name="Shape 172"/>
          <p:cNvSpPr/>
          <p:nvPr/>
        </p:nvSpPr>
        <p:spPr>
          <a:xfrm>
            <a:off x="5348136" y="4620764"/>
            <a:ext cx="9525" cy="387856"/>
          </a:xfrm>
          <a:prstGeom prst="rect">
            <a:avLst/>
          </a:prstGeom>
          <a:solidFill>
            <a:srgbClr val="EADFD3"/>
          </a:solidFill>
          <a:ln/>
        </p:spPr>
        <p:txBody>
          <a:bodyPr/>
          <a:lstStyle/>
          <a:p>
            <a:endParaRPr lang="ko-KR" altLang="en-US"/>
          </a:p>
        </p:txBody>
      </p:sp>
      <p:sp>
        <p:nvSpPr>
          <p:cNvPr id="175" name="Text 173"/>
          <p:cNvSpPr/>
          <p:nvPr/>
        </p:nvSpPr>
        <p:spPr>
          <a:xfrm>
            <a:off x="5372403" y="4664081"/>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129.6%</a:t>
            </a:r>
            <a:endParaRPr lang="en-US" sz="1050" dirty="0"/>
          </a:p>
        </p:txBody>
      </p:sp>
      <p:sp>
        <p:nvSpPr>
          <p:cNvPr id="176" name="Shape 174"/>
          <p:cNvSpPr/>
          <p:nvPr/>
        </p:nvSpPr>
        <p:spPr>
          <a:xfrm>
            <a:off x="6951322" y="4620764"/>
            <a:ext cx="1603185" cy="387856"/>
          </a:xfrm>
          <a:prstGeom prst="rect">
            <a:avLst/>
          </a:prstGeom>
          <a:solidFill>
            <a:srgbClr val="FFFFFF"/>
          </a:solidFill>
          <a:ln/>
        </p:spPr>
        <p:txBody>
          <a:bodyPr/>
          <a:lstStyle/>
          <a:p>
            <a:endParaRPr lang="ko-KR" altLang="en-US"/>
          </a:p>
        </p:txBody>
      </p:sp>
      <p:sp>
        <p:nvSpPr>
          <p:cNvPr id="177" name="Shape 175"/>
          <p:cNvSpPr/>
          <p:nvPr/>
        </p:nvSpPr>
        <p:spPr>
          <a:xfrm>
            <a:off x="6951322" y="4620764"/>
            <a:ext cx="1603185" cy="9525"/>
          </a:xfrm>
          <a:prstGeom prst="rect">
            <a:avLst/>
          </a:prstGeom>
          <a:solidFill>
            <a:srgbClr val="EADFD3"/>
          </a:solidFill>
          <a:ln/>
        </p:spPr>
        <p:txBody>
          <a:bodyPr/>
          <a:lstStyle/>
          <a:p>
            <a:endParaRPr lang="ko-KR" altLang="en-US"/>
          </a:p>
        </p:txBody>
      </p:sp>
      <p:sp>
        <p:nvSpPr>
          <p:cNvPr id="178" name="Shape 176"/>
          <p:cNvSpPr/>
          <p:nvPr/>
        </p:nvSpPr>
        <p:spPr>
          <a:xfrm>
            <a:off x="6951322" y="4620764"/>
            <a:ext cx="9525" cy="387856"/>
          </a:xfrm>
          <a:prstGeom prst="rect">
            <a:avLst/>
          </a:prstGeom>
          <a:solidFill>
            <a:srgbClr val="EADFD3"/>
          </a:solidFill>
          <a:ln/>
        </p:spPr>
        <p:txBody>
          <a:bodyPr/>
          <a:lstStyle/>
          <a:p>
            <a:endParaRPr lang="ko-KR" altLang="en-US"/>
          </a:p>
        </p:txBody>
      </p:sp>
      <p:sp>
        <p:nvSpPr>
          <p:cNvPr id="179" name="Text 177"/>
          <p:cNvSpPr/>
          <p:nvPr/>
        </p:nvSpPr>
        <p:spPr>
          <a:xfrm>
            <a:off x="6975589" y="4664081"/>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124.7%</a:t>
            </a:r>
            <a:endParaRPr lang="en-US" sz="1050" dirty="0"/>
          </a:p>
        </p:txBody>
      </p:sp>
      <p:sp>
        <p:nvSpPr>
          <p:cNvPr id="180" name="Shape 178"/>
          <p:cNvSpPr/>
          <p:nvPr/>
        </p:nvSpPr>
        <p:spPr>
          <a:xfrm>
            <a:off x="8554507" y="4620764"/>
            <a:ext cx="1603430" cy="387856"/>
          </a:xfrm>
          <a:prstGeom prst="rect">
            <a:avLst/>
          </a:prstGeom>
          <a:solidFill>
            <a:srgbClr val="FFFFFF"/>
          </a:solidFill>
          <a:ln/>
        </p:spPr>
        <p:txBody>
          <a:bodyPr/>
          <a:lstStyle/>
          <a:p>
            <a:endParaRPr lang="ko-KR" altLang="en-US"/>
          </a:p>
        </p:txBody>
      </p:sp>
      <p:sp>
        <p:nvSpPr>
          <p:cNvPr id="181" name="Shape 179"/>
          <p:cNvSpPr/>
          <p:nvPr/>
        </p:nvSpPr>
        <p:spPr>
          <a:xfrm>
            <a:off x="8554507" y="4620764"/>
            <a:ext cx="1603430" cy="9525"/>
          </a:xfrm>
          <a:prstGeom prst="rect">
            <a:avLst/>
          </a:prstGeom>
          <a:solidFill>
            <a:srgbClr val="EADFD3"/>
          </a:solidFill>
          <a:ln/>
        </p:spPr>
        <p:txBody>
          <a:bodyPr/>
          <a:lstStyle/>
          <a:p>
            <a:endParaRPr lang="ko-KR" altLang="en-US"/>
          </a:p>
        </p:txBody>
      </p:sp>
      <p:sp>
        <p:nvSpPr>
          <p:cNvPr id="182" name="Shape 180"/>
          <p:cNvSpPr/>
          <p:nvPr/>
        </p:nvSpPr>
        <p:spPr>
          <a:xfrm>
            <a:off x="8554507" y="4620764"/>
            <a:ext cx="9525" cy="387856"/>
          </a:xfrm>
          <a:prstGeom prst="rect">
            <a:avLst/>
          </a:prstGeom>
          <a:solidFill>
            <a:srgbClr val="EADFD3"/>
          </a:solidFill>
          <a:ln/>
        </p:spPr>
        <p:txBody>
          <a:bodyPr/>
          <a:lstStyle/>
          <a:p>
            <a:endParaRPr lang="ko-KR" altLang="en-US"/>
          </a:p>
        </p:txBody>
      </p:sp>
      <p:sp>
        <p:nvSpPr>
          <p:cNvPr id="183" name="Text 181"/>
          <p:cNvSpPr/>
          <p:nvPr/>
        </p:nvSpPr>
        <p:spPr>
          <a:xfrm>
            <a:off x="8578774" y="4664081"/>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125%</a:t>
            </a:r>
            <a:endParaRPr lang="en-US" sz="1050" dirty="0"/>
          </a:p>
        </p:txBody>
      </p:sp>
      <p:sp>
        <p:nvSpPr>
          <p:cNvPr id="184" name="Shape 182"/>
          <p:cNvSpPr/>
          <p:nvPr/>
        </p:nvSpPr>
        <p:spPr>
          <a:xfrm>
            <a:off x="538580" y="5008620"/>
            <a:ext cx="1603185" cy="387856"/>
          </a:xfrm>
          <a:prstGeom prst="rect">
            <a:avLst/>
          </a:prstGeom>
          <a:solidFill>
            <a:srgbClr val="FCF8EC"/>
          </a:solidFill>
          <a:ln/>
        </p:spPr>
        <p:txBody>
          <a:bodyPr/>
          <a:lstStyle/>
          <a:p>
            <a:endParaRPr lang="ko-KR" altLang="en-US"/>
          </a:p>
        </p:txBody>
      </p:sp>
      <p:sp>
        <p:nvSpPr>
          <p:cNvPr id="185" name="Shape 183"/>
          <p:cNvSpPr/>
          <p:nvPr/>
        </p:nvSpPr>
        <p:spPr>
          <a:xfrm>
            <a:off x="538580" y="5008620"/>
            <a:ext cx="1603185" cy="9525"/>
          </a:xfrm>
          <a:prstGeom prst="rect">
            <a:avLst/>
          </a:prstGeom>
          <a:solidFill>
            <a:srgbClr val="EADFD3"/>
          </a:solidFill>
          <a:ln/>
        </p:spPr>
        <p:txBody>
          <a:bodyPr/>
          <a:lstStyle/>
          <a:p>
            <a:endParaRPr lang="ko-KR" altLang="en-US"/>
          </a:p>
        </p:txBody>
      </p:sp>
      <p:sp>
        <p:nvSpPr>
          <p:cNvPr id="186" name="Text 184"/>
          <p:cNvSpPr/>
          <p:nvPr/>
        </p:nvSpPr>
        <p:spPr>
          <a:xfrm>
            <a:off x="557630" y="5051937"/>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20년</a:t>
            </a:r>
            <a:endParaRPr lang="en-US" sz="1050" dirty="0"/>
          </a:p>
        </p:txBody>
      </p:sp>
      <p:sp>
        <p:nvSpPr>
          <p:cNvPr id="187" name="Shape 185"/>
          <p:cNvSpPr/>
          <p:nvPr/>
        </p:nvSpPr>
        <p:spPr>
          <a:xfrm>
            <a:off x="2141765" y="5008620"/>
            <a:ext cx="1603185" cy="387856"/>
          </a:xfrm>
          <a:prstGeom prst="rect">
            <a:avLst/>
          </a:prstGeom>
          <a:solidFill>
            <a:srgbClr val="FFFFFF"/>
          </a:solidFill>
          <a:ln/>
        </p:spPr>
        <p:txBody>
          <a:bodyPr/>
          <a:lstStyle/>
          <a:p>
            <a:endParaRPr lang="ko-KR" altLang="en-US"/>
          </a:p>
        </p:txBody>
      </p:sp>
      <p:sp>
        <p:nvSpPr>
          <p:cNvPr id="188" name="Shape 186"/>
          <p:cNvSpPr/>
          <p:nvPr/>
        </p:nvSpPr>
        <p:spPr>
          <a:xfrm>
            <a:off x="2141765" y="5008620"/>
            <a:ext cx="1603185" cy="9525"/>
          </a:xfrm>
          <a:prstGeom prst="rect">
            <a:avLst/>
          </a:prstGeom>
          <a:solidFill>
            <a:srgbClr val="EADFD3"/>
          </a:solidFill>
          <a:ln/>
        </p:spPr>
        <p:txBody>
          <a:bodyPr/>
          <a:lstStyle/>
          <a:p>
            <a:endParaRPr lang="ko-KR" altLang="en-US"/>
          </a:p>
        </p:txBody>
      </p:sp>
      <p:sp>
        <p:nvSpPr>
          <p:cNvPr id="189" name="Shape 187"/>
          <p:cNvSpPr/>
          <p:nvPr/>
        </p:nvSpPr>
        <p:spPr>
          <a:xfrm>
            <a:off x="2141765" y="5008620"/>
            <a:ext cx="9525" cy="387856"/>
          </a:xfrm>
          <a:prstGeom prst="rect">
            <a:avLst/>
          </a:prstGeom>
          <a:solidFill>
            <a:srgbClr val="EADFD3"/>
          </a:solidFill>
          <a:ln/>
        </p:spPr>
        <p:txBody>
          <a:bodyPr/>
          <a:lstStyle/>
          <a:p>
            <a:endParaRPr lang="ko-KR" altLang="en-US"/>
          </a:p>
        </p:txBody>
      </p:sp>
      <p:sp>
        <p:nvSpPr>
          <p:cNvPr id="190" name="Text 188"/>
          <p:cNvSpPr/>
          <p:nvPr/>
        </p:nvSpPr>
        <p:spPr>
          <a:xfrm>
            <a:off x="2166032" y="5051937"/>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123.3%</a:t>
            </a:r>
            <a:endParaRPr lang="en-US" sz="1050" dirty="0"/>
          </a:p>
        </p:txBody>
      </p:sp>
      <p:sp>
        <p:nvSpPr>
          <p:cNvPr id="191" name="Shape 189"/>
          <p:cNvSpPr/>
          <p:nvPr/>
        </p:nvSpPr>
        <p:spPr>
          <a:xfrm>
            <a:off x="3744951" y="5008620"/>
            <a:ext cx="1603185" cy="387856"/>
          </a:xfrm>
          <a:prstGeom prst="rect">
            <a:avLst/>
          </a:prstGeom>
          <a:solidFill>
            <a:srgbClr val="FFFFFF"/>
          </a:solidFill>
          <a:ln/>
        </p:spPr>
        <p:txBody>
          <a:bodyPr/>
          <a:lstStyle/>
          <a:p>
            <a:endParaRPr lang="ko-KR" altLang="en-US"/>
          </a:p>
        </p:txBody>
      </p:sp>
      <p:sp>
        <p:nvSpPr>
          <p:cNvPr id="192" name="Shape 190"/>
          <p:cNvSpPr/>
          <p:nvPr/>
        </p:nvSpPr>
        <p:spPr>
          <a:xfrm>
            <a:off x="3744951" y="5008620"/>
            <a:ext cx="1603185" cy="9525"/>
          </a:xfrm>
          <a:prstGeom prst="rect">
            <a:avLst/>
          </a:prstGeom>
          <a:solidFill>
            <a:srgbClr val="EADFD3"/>
          </a:solidFill>
          <a:ln/>
        </p:spPr>
        <p:txBody>
          <a:bodyPr/>
          <a:lstStyle/>
          <a:p>
            <a:endParaRPr lang="ko-KR" altLang="en-US"/>
          </a:p>
        </p:txBody>
      </p:sp>
      <p:sp>
        <p:nvSpPr>
          <p:cNvPr id="193" name="Shape 191"/>
          <p:cNvSpPr/>
          <p:nvPr/>
        </p:nvSpPr>
        <p:spPr>
          <a:xfrm>
            <a:off x="3744951" y="5008620"/>
            <a:ext cx="9525" cy="387856"/>
          </a:xfrm>
          <a:prstGeom prst="rect">
            <a:avLst/>
          </a:prstGeom>
          <a:solidFill>
            <a:srgbClr val="EADFD3"/>
          </a:solidFill>
          <a:ln/>
        </p:spPr>
        <p:txBody>
          <a:bodyPr/>
          <a:lstStyle/>
          <a:p>
            <a:endParaRPr lang="ko-KR" altLang="en-US"/>
          </a:p>
        </p:txBody>
      </p:sp>
      <p:sp>
        <p:nvSpPr>
          <p:cNvPr id="194" name="Text 192"/>
          <p:cNvSpPr/>
          <p:nvPr/>
        </p:nvSpPr>
        <p:spPr>
          <a:xfrm>
            <a:off x="3769218" y="5051937"/>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140.84%</a:t>
            </a:r>
            <a:endParaRPr lang="en-US" sz="1050" dirty="0"/>
          </a:p>
        </p:txBody>
      </p:sp>
      <p:sp>
        <p:nvSpPr>
          <p:cNvPr id="195" name="Shape 193"/>
          <p:cNvSpPr/>
          <p:nvPr/>
        </p:nvSpPr>
        <p:spPr>
          <a:xfrm>
            <a:off x="5348136" y="5008620"/>
            <a:ext cx="1603185" cy="387856"/>
          </a:xfrm>
          <a:prstGeom prst="rect">
            <a:avLst/>
          </a:prstGeom>
          <a:solidFill>
            <a:srgbClr val="FFFFFF"/>
          </a:solidFill>
          <a:ln/>
        </p:spPr>
        <p:txBody>
          <a:bodyPr/>
          <a:lstStyle/>
          <a:p>
            <a:endParaRPr lang="ko-KR" altLang="en-US"/>
          </a:p>
        </p:txBody>
      </p:sp>
      <p:sp>
        <p:nvSpPr>
          <p:cNvPr id="196" name="Shape 194"/>
          <p:cNvSpPr/>
          <p:nvPr/>
        </p:nvSpPr>
        <p:spPr>
          <a:xfrm>
            <a:off x="5348136" y="5008620"/>
            <a:ext cx="1603185" cy="9525"/>
          </a:xfrm>
          <a:prstGeom prst="rect">
            <a:avLst/>
          </a:prstGeom>
          <a:solidFill>
            <a:srgbClr val="EADFD3"/>
          </a:solidFill>
          <a:ln/>
        </p:spPr>
        <p:txBody>
          <a:bodyPr/>
          <a:lstStyle/>
          <a:p>
            <a:endParaRPr lang="ko-KR" altLang="en-US"/>
          </a:p>
        </p:txBody>
      </p:sp>
      <p:sp>
        <p:nvSpPr>
          <p:cNvPr id="197" name="Shape 195"/>
          <p:cNvSpPr/>
          <p:nvPr/>
        </p:nvSpPr>
        <p:spPr>
          <a:xfrm>
            <a:off x="5348136" y="5008620"/>
            <a:ext cx="9525" cy="387856"/>
          </a:xfrm>
          <a:prstGeom prst="rect">
            <a:avLst/>
          </a:prstGeom>
          <a:solidFill>
            <a:srgbClr val="EADFD3"/>
          </a:solidFill>
          <a:ln/>
        </p:spPr>
        <p:txBody>
          <a:bodyPr/>
          <a:lstStyle/>
          <a:p>
            <a:endParaRPr lang="ko-KR" altLang="en-US"/>
          </a:p>
        </p:txBody>
      </p:sp>
      <p:sp>
        <p:nvSpPr>
          <p:cNvPr id="198" name="Text 196"/>
          <p:cNvSpPr/>
          <p:nvPr/>
        </p:nvSpPr>
        <p:spPr>
          <a:xfrm>
            <a:off x="5372403" y="5051937"/>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139.2%</a:t>
            </a:r>
            <a:endParaRPr lang="en-US" sz="1050" dirty="0"/>
          </a:p>
        </p:txBody>
      </p:sp>
      <p:sp>
        <p:nvSpPr>
          <p:cNvPr id="199" name="Shape 197"/>
          <p:cNvSpPr/>
          <p:nvPr/>
        </p:nvSpPr>
        <p:spPr>
          <a:xfrm>
            <a:off x="6951322" y="5008620"/>
            <a:ext cx="1603185" cy="387856"/>
          </a:xfrm>
          <a:prstGeom prst="rect">
            <a:avLst/>
          </a:prstGeom>
          <a:solidFill>
            <a:srgbClr val="FFFFFF"/>
          </a:solidFill>
          <a:ln/>
        </p:spPr>
        <p:txBody>
          <a:bodyPr/>
          <a:lstStyle/>
          <a:p>
            <a:endParaRPr lang="ko-KR" altLang="en-US"/>
          </a:p>
        </p:txBody>
      </p:sp>
      <p:sp>
        <p:nvSpPr>
          <p:cNvPr id="200" name="Shape 198"/>
          <p:cNvSpPr/>
          <p:nvPr/>
        </p:nvSpPr>
        <p:spPr>
          <a:xfrm>
            <a:off x="6951322" y="5008620"/>
            <a:ext cx="1603185" cy="9525"/>
          </a:xfrm>
          <a:prstGeom prst="rect">
            <a:avLst/>
          </a:prstGeom>
          <a:solidFill>
            <a:srgbClr val="EADFD3"/>
          </a:solidFill>
          <a:ln/>
        </p:spPr>
        <p:txBody>
          <a:bodyPr/>
          <a:lstStyle/>
          <a:p>
            <a:endParaRPr lang="ko-KR" altLang="en-US"/>
          </a:p>
        </p:txBody>
      </p:sp>
      <p:sp>
        <p:nvSpPr>
          <p:cNvPr id="201" name="Shape 199"/>
          <p:cNvSpPr/>
          <p:nvPr/>
        </p:nvSpPr>
        <p:spPr>
          <a:xfrm>
            <a:off x="6951322" y="5008620"/>
            <a:ext cx="9525" cy="387856"/>
          </a:xfrm>
          <a:prstGeom prst="rect">
            <a:avLst/>
          </a:prstGeom>
          <a:solidFill>
            <a:srgbClr val="EADFD3"/>
          </a:solidFill>
          <a:ln/>
        </p:spPr>
        <p:txBody>
          <a:bodyPr/>
          <a:lstStyle/>
          <a:p>
            <a:endParaRPr lang="ko-KR" altLang="en-US"/>
          </a:p>
        </p:txBody>
      </p:sp>
      <p:sp>
        <p:nvSpPr>
          <p:cNvPr id="202" name="Text 200"/>
          <p:cNvSpPr/>
          <p:nvPr/>
        </p:nvSpPr>
        <p:spPr>
          <a:xfrm>
            <a:off x="6975589" y="5051937"/>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129.2%</a:t>
            </a:r>
            <a:endParaRPr lang="en-US" sz="1050" dirty="0"/>
          </a:p>
        </p:txBody>
      </p:sp>
      <p:sp>
        <p:nvSpPr>
          <p:cNvPr id="203" name="Shape 201"/>
          <p:cNvSpPr/>
          <p:nvPr/>
        </p:nvSpPr>
        <p:spPr>
          <a:xfrm>
            <a:off x="8554507" y="5008620"/>
            <a:ext cx="1603430" cy="387856"/>
          </a:xfrm>
          <a:prstGeom prst="rect">
            <a:avLst/>
          </a:prstGeom>
          <a:solidFill>
            <a:srgbClr val="FFFFFF"/>
          </a:solidFill>
          <a:ln/>
        </p:spPr>
        <p:txBody>
          <a:bodyPr/>
          <a:lstStyle/>
          <a:p>
            <a:endParaRPr lang="ko-KR" altLang="en-US"/>
          </a:p>
        </p:txBody>
      </p:sp>
      <p:sp>
        <p:nvSpPr>
          <p:cNvPr id="204" name="Shape 202"/>
          <p:cNvSpPr/>
          <p:nvPr/>
        </p:nvSpPr>
        <p:spPr>
          <a:xfrm>
            <a:off x="8554507" y="5008620"/>
            <a:ext cx="1603430" cy="9525"/>
          </a:xfrm>
          <a:prstGeom prst="rect">
            <a:avLst/>
          </a:prstGeom>
          <a:solidFill>
            <a:srgbClr val="EADFD3"/>
          </a:solidFill>
          <a:ln/>
        </p:spPr>
        <p:txBody>
          <a:bodyPr/>
          <a:lstStyle/>
          <a:p>
            <a:endParaRPr lang="ko-KR" altLang="en-US"/>
          </a:p>
        </p:txBody>
      </p:sp>
      <p:sp>
        <p:nvSpPr>
          <p:cNvPr id="205" name="Shape 203"/>
          <p:cNvSpPr/>
          <p:nvPr/>
        </p:nvSpPr>
        <p:spPr>
          <a:xfrm>
            <a:off x="8554507" y="5008620"/>
            <a:ext cx="9525" cy="387856"/>
          </a:xfrm>
          <a:prstGeom prst="rect">
            <a:avLst/>
          </a:prstGeom>
          <a:solidFill>
            <a:srgbClr val="EADFD3"/>
          </a:solidFill>
          <a:ln/>
        </p:spPr>
        <p:txBody>
          <a:bodyPr/>
          <a:lstStyle/>
          <a:p>
            <a:endParaRPr lang="ko-KR" altLang="en-US"/>
          </a:p>
        </p:txBody>
      </p:sp>
      <p:sp>
        <p:nvSpPr>
          <p:cNvPr id="206" name="Text 204"/>
          <p:cNvSpPr/>
          <p:nvPr/>
        </p:nvSpPr>
        <p:spPr>
          <a:xfrm>
            <a:off x="8578774" y="5051937"/>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129.7%</a:t>
            </a:r>
            <a:endParaRPr lang="en-US" sz="1050" dirty="0"/>
          </a:p>
        </p:txBody>
      </p:sp>
      <p:sp>
        <p:nvSpPr>
          <p:cNvPr id="207" name="Shape 205"/>
          <p:cNvSpPr/>
          <p:nvPr/>
        </p:nvSpPr>
        <p:spPr>
          <a:xfrm>
            <a:off x="538580" y="5396475"/>
            <a:ext cx="1603185" cy="387856"/>
          </a:xfrm>
          <a:prstGeom prst="rect">
            <a:avLst/>
          </a:prstGeom>
          <a:solidFill>
            <a:srgbClr val="FCF8EC"/>
          </a:solidFill>
          <a:ln/>
        </p:spPr>
        <p:txBody>
          <a:bodyPr/>
          <a:lstStyle/>
          <a:p>
            <a:endParaRPr lang="ko-KR" altLang="en-US"/>
          </a:p>
        </p:txBody>
      </p:sp>
      <p:sp>
        <p:nvSpPr>
          <p:cNvPr id="208" name="Shape 206"/>
          <p:cNvSpPr/>
          <p:nvPr/>
        </p:nvSpPr>
        <p:spPr>
          <a:xfrm>
            <a:off x="538580" y="5396475"/>
            <a:ext cx="1603185" cy="9525"/>
          </a:xfrm>
          <a:prstGeom prst="rect">
            <a:avLst/>
          </a:prstGeom>
          <a:solidFill>
            <a:srgbClr val="EADFD3"/>
          </a:solidFill>
          <a:ln/>
        </p:spPr>
        <p:txBody>
          <a:bodyPr/>
          <a:lstStyle/>
          <a:p>
            <a:endParaRPr lang="ko-KR" altLang="en-US"/>
          </a:p>
        </p:txBody>
      </p:sp>
      <p:sp>
        <p:nvSpPr>
          <p:cNvPr id="209" name="Text 207"/>
          <p:cNvSpPr/>
          <p:nvPr/>
        </p:nvSpPr>
        <p:spPr>
          <a:xfrm>
            <a:off x="557630" y="5439792"/>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25년</a:t>
            </a:r>
            <a:endParaRPr lang="en-US" sz="1050" dirty="0"/>
          </a:p>
        </p:txBody>
      </p:sp>
      <p:sp>
        <p:nvSpPr>
          <p:cNvPr id="210" name="Shape 208"/>
          <p:cNvSpPr/>
          <p:nvPr/>
        </p:nvSpPr>
        <p:spPr>
          <a:xfrm>
            <a:off x="2141765" y="5396475"/>
            <a:ext cx="1603185" cy="387856"/>
          </a:xfrm>
          <a:prstGeom prst="rect">
            <a:avLst/>
          </a:prstGeom>
          <a:solidFill>
            <a:srgbClr val="FFFFFF"/>
          </a:solidFill>
          <a:ln/>
        </p:spPr>
        <p:txBody>
          <a:bodyPr/>
          <a:lstStyle/>
          <a:p>
            <a:endParaRPr lang="ko-KR" altLang="en-US"/>
          </a:p>
        </p:txBody>
      </p:sp>
      <p:sp>
        <p:nvSpPr>
          <p:cNvPr id="211" name="Shape 209"/>
          <p:cNvSpPr/>
          <p:nvPr/>
        </p:nvSpPr>
        <p:spPr>
          <a:xfrm>
            <a:off x="2141765" y="5396475"/>
            <a:ext cx="1603185" cy="9525"/>
          </a:xfrm>
          <a:prstGeom prst="rect">
            <a:avLst/>
          </a:prstGeom>
          <a:solidFill>
            <a:srgbClr val="EADFD3"/>
          </a:solidFill>
          <a:ln/>
        </p:spPr>
        <p:txBody>
          <a:bodyPr/>
          <a:lstStyle/>
          <a:p>
            <a:endParaRPr lang="ko-KR" altLang="en-US"/>
          </a:p>
        </p:txBody>
      </p:sp>
      <p:sp>
        <p:nvSpPr>
          <p:cNvPr id="212" name="Shape 210"/>
          <p:cNvSpPr/>
          <p:nvPr/>
        </p:nvSpPr>
        <p:spPr>
          <a:xfrm>
            <a:off x="2141765" y="5396475"/>
            <a:ext cx="9525" cy="387856"/>
          </a:xfrm>
          <a:prstGeom prst="rect">
            <a:avLst/>
          </a:prstGeom>
          <a:solidFill>
            <a:srgbClr val="EADFD3"/>
          </a:solidFill>
          <a:ln/>
        </p:spPr>
        <p:txBody>
          <a:bodyPr/>
          <a:lstStyle/>
          <a:p>
            <a:endParaRPr lang="ko-KR" altLang="en-US"/>
          </a:p>
        </p:txBody>
      </p:sp>
      <p:sp>
        <p:nvSpPr>
          <p:cNvPr id="213" name="Text 211"/>
          <p:cNvSpPr/>
          <p:nvPr/>
        </p:nvSpPr>
        <p:spPr>
          <a:xfrm>
            <a:off x="2166032" y="5439792"/>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124.5%</a:t>
            </a:r>
            <a:endParaRPr lang="en-US" sz="1050" dirty="0"/>
          </a:p>
        </p:txBody>
      </p:sp>
      <p:sp>
        <p:nvSpPr>
          <p:cNvPr id="214" name="Shape 212"/>
          <p:cNvSpPr/>
          <p:nvPr/>
        </p:nvSpPr>
        <p:spPr>
          <a:xfrm>
            <a:off x="3744951" y="5396475"/>
            <a:ext cx="1603185" cy="387856"/>
          </a:xfrm>
          <a:prstGeom prst="rect">
            <a:avLst/>
          </a:prstGeom>
          <a:solidFill>
            <a:srgbClr val="FFFFFF"/>
          </a:solidFill>
          <a:ln/>
        </p:spPr>
        <p:txBody>
          <a:bodyPr/>
          <a:lstStyle/>
          <a:p>
            <a:endParaRPr lang="ko-KR" altLang="en-US"/>
          </a:p>
        </p:txBody>
      </p:sp>
      <p:sp>
        <p:nvSpPr>
          <p:cNvPr id="215" name="Shape 213"/>
          <p:cNvSpPr/>
          <p:nvPr/>
        </p:nvSpPr>
        <p:spPr>
          <a:xfrm>
            <a:off x="3744951" y="5396475"/>
            <a:ext cx="1603185" cy="9525"/>
          </a:xfrm>
          <a:prstGeom prst="rect">
            <a:avLst/>
          </a:prstGeom>
          <a:solidFill>
            <a:srgbClr val="EADFD3"/>
          </a:solidFill>
          <a:ln/>
        </p:spPr>
        <p:txBody>
          <a:bodyPr/>
          <a:lstStyle/>
          <a:p>
            <a:endParaRPr lang="ko-KR" altLang="en-US"/>
          </a:p>
        </p:txBody>
      </p:sp>
      <p:sp>
        <p:nvSpPr>
          <p:cNvPr id="216" name="Shape 214"/>
          <p:cNvSpPr/>
          <p:nvPr/>
        </p:nvSpPr>
        <p:spPr>
          <a:xfrm>
            <a:off x="3744951" y="5396475"/>
            <a:ext cx="9525" cy="387856"/>
          </a:xfrm>
          <a:prstGeom prst="rect">
            <a:avLst/>
          </a:prstGeom>
          <a:solidFill>
            <a:srgbClr val="EADFD3"/>
          </a:solidFill>
          <a:ln/>
        </p:spPr>
        <p:txBody>
          <a:bodyPr/>
          <a:lstStyle/>
          <a:p>
            <a:endParaRPr lang="ko-KR" altLang="en-US"/>
          </a:p>
        </p:txBody>
      </p:sp>
      <p:sp>
        <p:nvSpPr>
          <p:cNvPr id="217" name="Text 215"/>
          <p:cNvSpPr/>
          <p:nvPr/>
        </p:nvSpPr>
        <p:spPr>
          <a:xfrm>
            <a:off x="3769218" y="5439792"/>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149.44%</a:t>
            </a:r>
            <a:endParaRPr lang="en-US" sz="1050" dirty="0"/>
          </a:p>
        </p:txBody>
      </p:sp>
      <p:sp>
        <p:nvSpPr>
          <p:cNvPr id="218" name="Shape 216"/>
          <p:cNvSpPr/>
          <p:nvPr/>
        </p:nvSpPr>
        <p:spPr>
          <a:xfrm>
            <a:off x="5348136" y="5396475"/>
            <a:ext cx="1603185" cy="387856"/>
          </a:xfrm>
          <a:prstGeom prst="rect">
            <a:avLst/>
          </a:prstGeom>
          <a:solidFill>
            <a:srgbClr val="FFFFFF"/>
          </a:solidFill>
          <a:ln/>
        </p:spPr>
        <p:txBody>
          <a:bodyPr/>
          <a:lstStyle/>
          <a:p>
            <a:endParaRPr lang="ko-KR" altLang="en-US"/>
          </a:p>
        </p:txBody>
      </p:sp>
      <p:sp>
        <p:nvSpPr>
          <p:cNvPr id="219" name="Shape 217"/>
          <p:cNvSpPr/>
          <p:nvPr/>
        </p:nvSpPr>
        <p:spPr>
          <a:xfrm>
            <a:off x="5348136" y="5396475"/>
            <a:ext cx="1603185" cy="9525"/>
          </a:xfrm>
          <a:prstGeom prst="rect">
            <a:avLst/>
          </a:prstGeom>
          <a:solidFill>
            <a:srgbClr val="EADFD3"/>
          </a:solidFill>
          <a:ln/>
        </p:spPr>
        <p:txBody>
          <a:bodyPr/>
          <a:lstStyle/>
          <a:p>
            <a:endParaRPr lang="ko-KR" altLang="en-US"/>
          </a:p>
        </p:txBody>
      </p:sp>
      <p:sp>
        <p:nvSpPr>
          <p:cNvPr id="220" name="Shape 218"/>
          <p:cNvSpPr/>
          <p:nvPr/>
        </p:nvSpPr>
        <p:spPr>
          <a:xfrm>
            <a:off x="5348136" y="5396475"/>
            <a:ext cx="9525" cy="387856"/>
          </a:xfrm>
          <a:prstGeom prst="rect">
            <a:avLst/>
          </a:prstGeom>
          <a:solidFill>
            <a:srgbClr val="EADFD3"/>
          </a:solidFill>
          <a:ln/>
        </p:spPr>
        <p:txBody>
          <a:bodyPr/>
          <a:lstStyle/>
          <a:p>
            <a:endParaRPr lang="ko-KR" altLang="en-US"/>
          </a:p>
        </p:txBody>
      </p:sp>
      <p:sp>
        <p:nvSpPr>
          <p:cNvPr id="221" name="Text 219"/>
          <p:cNvSpPr/>
          <p:nvPr/>
        </p:nvSpPr>
        <p:spPr>
          <a:xfrm>
            <a:off x="5372403" y="5439792"/>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149.1%</a:t>
            </a:r>
            <a:endParaRPr lang="en-US" sz="1050" dirty="0"/>
          </a:p>
        </p:txBody>
      </p:sp>
      <p:sp>
        <p:nvSpPr>
          <p:cNvPr id="222" name="Shape 220"/>
          <p:cNvSpPr/>
          <p:nvPr/>
        </p:nvSpPr>
        <p:spPr>
          <a:xfrm>
            <a:off x="6951322" y="5396475"/>
            <a:ext cx="1603185" cy="387856"/>
          </a:xfrm>
          <a:prstGeom prst="rect">
            <a:avLst/>
          </a:prstGeom>
          <a:solidFill>
            <a:srgbClr val="FFFFFF"/>
          </a:solidFill>
          <a:ln/>
        </p:spPr>
        <p:txBody>
          <a:bodyPr/>
          <a:lstStyle/>
          <a:p>
            <a:endParaRPr lang="ko-KR" altLang="en-US"/>
          </a:p>
        </p:txBody>
      </p:sp>
      <p:sp>
        <p:nvSpPr>
          <p:cNvPr id="223" name="Shape 221"/>
          <p:cNvSpPr/>
          <p:nvPr/>
        </p:nvSpPr>
        <p:spPr>
          <a:xfrm>
            <a:off x="6951322" y="5396475"/>
            <a:ext cx="1603185" cy="9525"/>
          </a:xfrm>
          <a:prstGeom prst="rect">
            <a:avLst/>
          </a:prstGeom>
          <a:solidFill>
            <a:srgbClr val="EADFD3"/>
          </a:solidFill>
          <a:ln/>
        </p:spPr>
        <p:txBody>
          <a:bodyPr/>
          <a:lstStyle/>
          <a:p>
            <a:endParaRPr lang="ko-KR" altLang="en-US"/>
          </a:p>
        </p:txBody>
      </p:sp>
      <p:sp>
        <p:nvSpPr>
          <p:cNvPr id="224" name="Shape 222"/>
          <p:cNvSpPr/>
          <p:nvPr/>
        </p:nvSpPr>
        <p:spPr>
          <a:xfrm>
            <a:off x="6951322" y="5396475"/>
            <a:ext cx="9525" cy="387856"/>
          </a:xfrm>
          <a:prstGeom prst="rect">
            <a:avLst/>
          </a:prstGeom>
          <a:solidFill>
            <a:srgbClr val="EADFD3"/>
          </a:solidFill>
          <a:ln/>
        </p:spPr>
        <p:txBody>
          <a:bodyPr/>
          <a:lstStyle/>
          <a:p>
            <a:endParaRPr lang="ko-KR" altLang="en-US"/>
          </a:p>
        </p:txBody>
      </p:sp>
      <p:sp>
        <p:nvSpPr>
          <p:cNvPr id="225" name="Text 223"/>
          <p:cNvSpPr/>
          <p:nvPr/>
        </p:nvSpPr>
        <p:spPr>
          <a:xfrm>
            <a:off x="6975589" y="5439792"/>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134%</a:t>
            </a:r>
            <a:endParaRPr lang="en-US" sz="1050" dirty="0"/>
          </a:p>
        </p:txBody>
      </p:sp>
      <p:sp>
        <p:nvSpPr>
          <p:cNvPr id="226" name="Shape 224"/>
          <p:cNvSpPr/>
          <p:nvPr/>
        </p:nvSpPr>
        <p:spPr>
          <a:xfrm>
            <a:off x="8554507" y="5396475"/>
            <a:ext cx="1603430" cy="387856"/>
          </a:xfrm>
          <a:prstGeom prst="rect">
            <a:avLst/>
          </a:prstGeom>
          <a:solidFill>
            <a:srgbClr val="FFFFFF"/>
          </a:solidFill>
          <a:ln/>
        </p:spPr>
        <p:txBody>
          <a:bodyPr/>
          <a:lstStyle/>
          <a:p>
            <a:endParaRPr lang="ko-KR" altLang="en-US"/>
          </a:p>
        </p:txBody>
      </p:sp>
      <p:sp>
        <p:nvSpPr>
          <p:cNvPr id="227" name="Shape 225"/>
          <p:cNvSpPr/>
          <p:nvPr/>
        </p:nvSpPr>
        <p:spPr>
          <a:xfrm>
            <a:off x="8554507" y="5396475"/>
            <a:ext cx="1603430" cy="9525"/>
          </a:xfrm>
          <a:prstGeom prst="rect">
            <a:avLst/>
          </a:prstGeom>
          <a:solidFill>
            <a:srgbClr val="EADFD3"/>
          </a:solidFill>
          <a:ln/>
        </p:spPr>
        <p:txBody>
          <a:bodyPr/>
          <a:lstStyle/>
          <a:p>
            <a:endParaRPr lang="ko-KR" altLang="en-US"/>
          </a:p>
        </p:txBody>
      </p:sp>
      <p:sp>
        <p:nvSpPr>
          <p:cNvPr id="228" name="Shape 226"/>
          <p:cNvSpPr/>
          <p:nvPr/>
        </p:nvSpPr>
        <p:spPr>
          <a:xfrm>
            <a:off x="8554507" y="5396475"/>
            <a:ext cx="9525" cy="387856"/>
          </a:xfrm>
          <a:prstGeom prst="rect">
            <a:avLst/>
          </a:prstGeom>
          <a:solidFill>
            <a:srgbClr val="EADFD3"/>
          </a:solidFill>
          <a:ln/>
        </p:spPr>
        <p:txBody>
          <a:bodyPr/>
          <a:lstStyle/>
          <a:p>
            <a:endParaRPr lang="ko-KR" altLang="en-US"/>
          </a:p>
        </p:txBody>
      </p:sp>
      <p:sp>
        <p:nvSpPr>
          <p:cNvPr id="229" name="Text 227"/>
          <p:cNvSpPr/>
          <p:nvPr/>
        </p:nvSpPr>
        <p:spPr>
          <a:xfrm>
            <a:off x="8578774" y="5439792"/>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134.6%</a:t>
            </a:r>
            <a:endParaRPr lang="en-US" sz="1050" dirty="0"/>
          </a:p>
        </p:txBody>
      </p:sp>
      <p:sp>
        <p:nvSpPr>
          <p:cNvPr id="230" name="Shape 228"/>
          <p:cNvSpPr/>
          <p:nvPr/>
        </p:nvSpPr>
        <p:spPr>
          <a:xfrm>
            <a:off x="538580" y="5784331"/>
            <a:ext cx="1603185" cy="387856"/>
          </a:xfrm>
          <a:prstGeom prst="rect">
            <a:avLst/>
          </a:prstGeom>
          <a:solidFill>
            <a:srgbClr val="FCF8EC"/>
          </a:solidFill>
          <a:ln/>
        </p:spPr>
        <p:txBody>
          <a:bodyPr/>
          <a:lstStyle/>
          <a:p>
            <a:endParaRPr lang="ko-KR" altLang="en-US"/>
          </a:p>
        </p:txBody>
      </p:sp>
      <p:sp>
        <p:nvSpPr>
          <p:cNvPr id="231" name="Shape 229"/>
          <p:cNvSpPr/>
          <p:nvPr/>
        </p:nvSpPr>
        <p:spPr>
          <a:xfrm>
            <a:off x="538580" y="5784331"/>
            <a:ext cx="1603185" cy="9525"/>
          </a:xfrm>
          <a:prstGeom prst="rect">
            <a:avLst/>
          </a:prstGeom>
          <a:solidFill>
            <a:srgbClr val="EADFD3"/>
          </a:solidFill>
          <a:ln/>
        </p:spPr>
        <p:txBody>
          <a:bodyPr/>
          <a:lstStyle/>
          <a:p>
            <a:endParaRPr lang="ko-KR" altLang="en-US"/>
          </a:p>
        </p:txBody>
      </p:sp>
      <p:sp>
        <p:nvSpPr>
          <p:cNvPr id="232" name="Text 230"/>
          <p:cNvSpPr/>
          <p:nvPr/>
        </p:nvSpPr>
        <p:spPr>
          <a:xfrm>
            <a:off x="557630" y="5827648"/>
            <a:ext cx="1565085"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30년</a:t>
            </a:r>
            <a:endParaRPr lang="en-US" sz="1050" dirty="0"/>
          </a:p>
        </p:txBody>
      </p:sp>
      <p:sp>
        <p:nvSpPr>
          <p:cNvPr id="233" name="Shape 231"/>
          <p:cNvSpPr/>
          <p:nvPr/>
        </p:nvSpPr>
        <p:spPr>
          <a:xfrm>
            <a:off x="2141765" y="5784331"/>
            <a:ext cx="1603185" cy="387856"/>
          </a:xfrm>
          <a:prstGeom prst="rect">
            <a:avLst/>
          </a:prstGeom>
          <a:solidFill>
            <a:srgbClr val="FFFFFF"/>
          </a:solidFill>
          <a:ln/>
        </p:spPr>
        <p:txBody>
          <a:bodyPr/>
          <a:lstStyle/>
          <a:p>
            <a:endParaRPr lang="ko-KR" altLang="en-US"/>
          </a:p>
        </p:txBody>
      </p:sp>
      <p:sp>
        <p:nvSpPr>
          <p:cNvPr id="234" name="Shape 232"/>
          <p:cNvSpPr/>
          <p:nvPr/>
        </p:nvSpPr>
        <p:spPr>
          <a:xfrm>
            <a:off x="2141765" y="5784331"/>
            <a:ext cx="1603185" cy="9525"/>
          </a:xfrm>
          <a:prstGeom prst="rect">
            <a:avLst/>
          </a:prstGeom>
          <a:solidFill>
            <a:srgbClr val="EADFD3"/>
          </a:solidFill>
          <a:ln/>
        </p:spPr>
        <p:txBody>
          <a:bodyPr/>
          <a:lstStyle/>
          <a:p>
            <a:endParaRPr lang="ko-KR" altLang="en-US"/>
          </a:p>
        </p:txBody>
      </p:sp>
      <p:sp>
        <p:nvSpPr>
          <p:cNvPr id="235" name="Shape 233"/>
          <p:cNvSpPr/>
          <p:nvPr/>
        </p:nvSpPr>
        <p:spPr>
          <a:xfrm>
            <a:off x="2141765" y="5784331"/>
            <a:ext cx="9525" cy="387856"/>
          </a:xfrm>
          <a:prstGeom prst="rect">
            <a:avLst/>
          </a:prstGeom>
          <a:solidFill>
            <a:srgbClr val="EADFD3"/>
          </a:solidFill>
          <a:ln/>
        </p:spPr>
        <p:txBody>
          <a:bodyPr/>
          <a:lstStyle/>
          <a:p>
            <a:endParaRPr lang="ko-KR" altLang="en-US"/>
          </a:p>
        </p:txBody>
      </p:sp>
      <p:sp>
        <p:nvSpPr>
          <p:cNvPr id="236" name="Text 234"/>
          <p:cNvSpPr/>
          <p:nvPr/>
        </p:nvSpPr>
        <p:spPr>
          <a:xfrm>
            <a:off x="2166032" y="5827648"/>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125.5%</a:t>
            </a:r>
            <a:endParaRPr lang="en-US" sz="1050" dirty="0"/>
          </a:p>
        </p:txBody>
      </p:sp>
      <p:sp>
        <p:nvSpPr>
          <p:cNvPr id="237" name="Shape 235"/>
          <p:cNvSpPr/>
          <p:nvPr/>
        </p:nvSpPr>
        <p:spPr>
          <a:xfrm>
            <a:off x="3744951" y="5784331"/>
            <a:ext cx="1603185" cy="387856"/>
          </a:xfrm>
          <a:prstGeom prst="rect">
            <a:avLst/>
          </a:prstGeom>
          <a:solidFill>
            <a:srgbClr val="FFFFFF"/>
          </a:solidFill>
          <a:ln/>
        </p:spPr>
        <p:txBody>
          <a:bodyPr/>
          <a:lstStyle/>
          <a:p>
            <a:endParaRPr lang="ko-KR" altLang="en-US"/>
          </a:p>
        </p:txBody>
      </p:sp>
      <p:sp>
        <p:nvSpPr>
          <p:cNvPr id="238" name="Shape 236"/>
          <p:cNvSpPr/>
          <p:nvPr/>
        </p:nvSpPr>
        <p:spPr>
          <a:xfrm>
            <a:off x="3744951" y="5784331"/>
            <a:ext cx="1603185" cy="9525"/>
          </a:xfrm>
          <a:prstGeom prst="rect">
            <a:avLst/>
          </a:prstGeom>
          <a:solidFill>
            <a:srgbClr val="EADFD3"/>
          </a:solidFill>
          <a:ln/>
        </p:spPr>
        <p:txBody>
          <a:bodyPr/>
          <a:lstStyle/>
          <a:p>
            <a:endParaRPr lang="ko-KR" altLang="en-US"/>
          </a:p>
        </p:txBody>
      </p:sp>
      <p:sp>
        <p:nvSpPr>
          <p:cNvPr id="239" name="Shape 237"/>
          <p:cNvSpPr/>
          <p:nvPr/>
        </p:nvSpPr>
        <p:spPr>
          <a:xfrm>
            <a:off x="3744951" y="5784331"/>
            <a:ext cx="9525" cy="387856"/>
          </a:xfrm>
          <a:prstGeom prst="rect">
            <a:avLst/>
          </a:prstGeom>
          <a:solidFill>
            <a:srgbClr val="EADFD3"/>
          </a:solidFill>
          <a:ln/>
        </p:spPr>
        <p:txBody>
          <a:bodyPr/>
          <a:lstStyle/>
          <a:p>
            <a:endParaRPr lang="ko-KR" altLang="en-US"/>
          </a:p>
        </p:txBody>
      </p:sp>
      <p:sp>
        <p:nvSpPr>
          <p:cNvPr id="240" name="Text 238"/>
          <p:cNvSpPr/>
          <p:nvPr/>
        </p:nvSpPr>
        <p:spPr>
          <a:xfrm>
            <a:off x="3769218" y="5827648"/>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158.4%</a:t>
            </a:r>
            <a:endParaRPr lang="en-US" sz="1050" dirty="0"/>
          </a:p>
        </p:txBody>
      </p:sp>
      <p:sp>
        <p:nvSpPr>
          <p:cNvPr id="241" name="Shape 239"/>
          <p:cNvSpPr/>
          <p:nvPr/>
        </p:nvSpPr>
        <p:spPr>
          <a:xfrm>
            <a:off x="5348136" y="5784331"/>
            <a:ext cx="1603185" cy="387856"/>
          </a:xfrm>
          <a:prstGeom prst="rect">
            <a:avLst/>
          </a:prstGeom>
          <a:solidFill>
            <a:srgbClr val="FFFFFF"/>
          </a:solidFill>
          <a:ln/>
        </p:spPr>
        <p:txBody>
          <a:bodyPr/>
          <a:lstStyle/>
          <a:p>
            <a:endParaRPr lang="ko-KR" altLang="en-US"/>
          </a:p>
        </p:txBody>
      </p:sp>
      <p:sp>
        <p:nvSpPr>
          <p:cNvPr id="242" name="Shape 240"/>
          <p:cNvSpPr/>
          <p:nvPr/>
        </p:nvSpPr>
        <p:spPr>
          <a:xfrm>
            <a:off x="5348136" y="5784331"/>
            <a:ext cx="1603185" cy="9525"/>
          </a:xfrm>
          <a:prstGeom prst="rect">
            <a:avLst/>
          </a:prstGeom>
          <a:solidFill>
            <a:srgbClr val="EADFD3"/>
          </a:solidFill>
          <a:ln/>
        </p:spPr>
        <p:txBody>
          <a:bodyPr/>
          <a:lstStyle/>
          <a:p>
            <a:endParaRPr lang="ko-KR" altLang="en-US"/>
          </a:p>
        </p:txBody>
      </p:sp>
      <p:sp>
        <p:nvSpPr>
          <p:cNvPr id="243" name="Shape 241"/>
          <p:cNvSpPr/>
          <p:nvPr/>
        </p:nvSpPr>
        <p:spPr>
          <a:xfrm>
            <a:off x="5348136" y="5784331"/>
            <a:ext cx="9525" cy="387856"/>
          </a:xfrm>
          <a:prstGeom prst="rect">
            <a:avLst/>
          </a:prstGeom>
          <a:solidFill>
            <a:srgbClr val="EADFD3"/>
          </a:solidFill>
          <a:ln/>
        </p:spPr>
        <p:txBody>
          <a:bodyPr/>
          <a:lstStyle/>
          <a:p>
            <a:endParaRPr lang="ko-KR" altLang="en-US"/>
          </a:p>
        </p:txBody>
      </p:sp>
      <p:sp>
        <p:nvSpPr>
          <p:cNvPr id="244" name="Text 242"/>
          <p:cNvSpPr/>
          <p:nvPr/>
        </p:nvSpPr>
        <p:spPr>
          <a:xfrm>
            <a:off x="5372403" y="5827648"/>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159.2%</a:t>
            </a:r>
            <a:endParaRPr lang="en-US" sz="1050" dirty="0"/>
          </a:p>
        </p:txBody>
      </p:sp>
      <p:sp>
        <p:nvSpPr>
          <p:cNvPr id="245" name="Shape 243"/>
          <p:cNvSpPr/>
          <p:nvPr/>
        </p:nvSpPr>
        <p:spPr>
          <a:xfrm>
            <a:off x="6951322" y="5784331"/>
            <a:ext cx="1603185" cy="387856"/>
          </a:xfrm>
          <a:prstGeom prst="rect">
            <a:avLst/>
          </a:prstGeom>
          <a:solidFill>
            <a:srgbClr val="FFFFFF"/>
          </a:solidFill>
          <a:ln/>
        </p:spPr>
        <p:txBody>
          <a:bodyPr/>
          <a:lstStyle/>
          <a:p>
            <a:endParaRPr lang="ko-KR" altLang="en-US"/>
          </a:p>
        </p:txBody>
      </p:sp>
      <p:sp>
        <p:nvSpPr>
          <p:cNvPr id="246" name="Shape 244"/>
          <p:cNvSpPr/>
          <p:nvPr/>
        </p:nvSpPr>
        <p:spPr>
          <a:xfrm>
            <a:off x="6951322" y="5784331"/>
            <a:ext cx="1603185" cy="9525"/>
          </a:xfrm>
          <a:prstGeom prst="rect">
            <a:avLst/>
          </a:prstGeom>
          <a:solidFill>
            <a:srgbClr val="EADFD3"/>
          </a:solidFill>
          <a:ln/>
        </p:spPr>
        <p:txBody>
          <a:bodyPr/>
          <a:lstStyle/>
          <a:p>
            <a:endParaRPr lang="ko-KR" altLang="en-US"/>
          </a:p>
        </p:txBody>
      </p:sp>
      <p:sp>
        <p:nvSpPr>
          <p:cNvPr id="247" name="Shape 245"/>
          <p:cNvSpPr/>
          <p:nvPr/>
        </p:nvSpPr>
        <p:spPr>
          <a:xfrm>
            <a:off x="6951322" y="5784331"/>
            <a:ext cx="9525" cy="387856"/>
          </a:xfrm>
          <a:prstGeom prst="rect">
            <a:avLst/>
          </a:prstGeom>
          <a:solidFill>
            <a:srgbClr val="EADFD3"/>
          </a:solidFill>
          <a:ln/>
        </p:spPr>
        <p:txBody>
          <a:bodyPr/>
          <a:lstStyle/>
          <a:p>
            <a:endParaRPr lang="ko-KR" altLang="en-US"/>
          </a:p>
        </p:txBody>
      </p:sp>
      <p:sp>
        <p:nvSpPr>
          <p:cNvPr id="248" name="Text 246"/>
          <p:cNvSpPr/>
          <p:nvPr/>
        </p:nvSpPr>
        <p:spPr>
          <a:xfrm>
            <a:off x="6975589" y="5827648"/>
            <a:ext cx="1559868"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138.9%</a:t>
            </a:r>
            <a:endParaRPr lang="en-US" sz="1050" dirty="0"/>
          </a:p>
        </p:txBody>
      </p:sp>
      <p:sp>
        <p:nvSpPr>
          <p:cNvPr id="249" name="Shape 247"/>
          <p:cNvSpPr/>
          <p:nvPr/>
        </p:nvSpPr>
        <p:spPr>
          <a:xfrm>
            <a:off x="8554507" y="5784331"/>
            <a:ext cx="1603430" cy="387856"/>
          </a:xfrm>
          <a:prstGeom prst="rect">
            <a:avLst/>
          </a:prstGeom>
          <a:solidFill>
            <a:srgbClr val="FFFFFF"/>
          </a:solidFill>
          <a:ln/>
        </p:spPr>
        <p:txBody>
          <a:bodyPr/>
          <a:lstStyle/>
          <a:p>
            <a:endParaRPr lang="ko-KR" altLang="en-US"/>
          </a:p>
        </p:txBody>
      </p:sp>
      <p:sp>
        <p:nvSpPr>
          <p:cNvPr id="250" name="Shape 248"/>
          <p:cNvSpPr/>
          <p:nvPr/>
        </p:nvSpPr>
        <p:spPr>
          <a:xfrm>
            <a:off x="8554507" y="5784331"/>
            <a:ext cx="1603430" cy="9525"/>
          </a:xfrm>
          <a:prstGeom prst="rect">
            <a:avLst/>
          </a:prstGeom>
          <a:solidFill>
            <a:srgbClr val="EADFD3"/>
          </a:solidFill>
          <a:ln/>
        </p:spPr>
        <p:txBody>
          <a:bodyPr/>
          <a:lstStyle/>
          <a:p>
            <a:endParaRPr lang="ko-KR" altLang="en-US"/>
          </a:p>
        </p:txBody>
      </p:sp>
      <p:sp>
        <p:nvSpPr>
          <p:cNvPr id="251" name="Shape 249"/>
          <p:cNvSpPr/>
          <p:nvPr/>
        </p:nvSpPr>
        <p:spPr>
          <a:xfrm>
            <a:off x="8554507" y="5784331"/>
            <a:ext cx="9525" cy="387856"/>
          </a:xfrm>
          <a:prstGeom prst="rect">
            <a:avLst/>
          </a:prstGeom>
          <a:solidFill>
            <a:srgbClr val="EADFD3"/>
          </a:solidFill>
          <a:ln/>
        </p:spPr>
        <p:txBody>
          <a:bodyPr/>
          <a:lstStyle/>
          <a:p>
            <a:endParaRPr lang="ko-KR" altLang="en-US"/>
          </a:p>
        </p:txBody>
      </p:sp>
      <p:sp>
        <p:nvSpPr>
          <p:cNvPr id="252" name="Text 250"/>
          <p:cNvSpPr/>
          <p:nvPr/>
        </p:nvSpPr>
        <p:spPr>
          <a:xfrm>
            <a:off x="8578774" y="5827648"/>
            <a:ext cx="1560113" cy="34453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139.5%</a:t>
            </a:r>
            <a:endParaRPr lang="en-US" sz="1050" dirty="0"/>
          </a:p>
        </p:txBody>
      </p:sp>
      <p:sp>
        <p:nvSpPr>
          <p:cNvPr id="253" name="Shape 251"/>
          <p:cNvSpPr/>
          <p:nvPr/>
        </p:nvSpPr>
        <p:spPr>
          <a:xfrm>
            <a:off x="538580" y="6172187"/>
            <a:ext cx="1603185" cy="388263"/>
          </a:xfrm>
          <a:prstGeom prst="rect">
            <a:avLst/>
          </a:prstGeom>
          <a:solidFill>
            <a:srgbClr val="FCF8EC"/>
          </a:solidFill>
          <a:ln/>
        </p:spPr>
        <p:txBody>
          <a:bodyPr/>
          <a:lstStyle/>
          <a:p>
            <a:endParaRPr lang="ko-KR" altLang="en-US"/>
          </a:p>
        </p:txBody>
      </p:sp>
      <p:sp>
        <p:nvSpPr>
          <p:cNvPr id="254" name="Shape 252"/>
          <p:cNvSpPr/>
          <p:nvPr/>
        </p:nvSpPr>
        <p:spPr>
          <a:xfrm>
            <a:off x="538580" y="6172187"/>
            <a:ext cx="1603185" cy="9525"/>
          </a:xfrm>
          <a:prstGeom prst="rect">
            <a:avLst/>
          </a:prstGeom>
          <a:solidFill>
            <a:srgbClr val="EADFD3"/>
          </a:solidFill>
          <a:ln/>
        </p:spPr>
        <p:txBody>
          <a:bodyPr/>
          <a:lstStyle/>
          <a:p>
            <a:endParaRPr lang="ko-KR" altLang="en-US"/>
          </a:p>
        </p:txBody>
      </p:sp>
      <p:sp>
        <p:nvSpPr>
          <p:cNvPr id="255" name="Text 253"/>
          <p:cNvSpPr/>
          <p:nvPr/>
        </p:nvSpPr>
        <p:spPr>
          <a:xfrm>
            <a:off x="557630" y="6215504"/>
            <a:ext cx="1565085"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40년</a:t>
            </a:r>
            <a:endParaRPr lang="en-US" sz="1050" dirty="0"/>
          </a:p>
        </p:txBody>
      </p:sp>
      <p:sp>
        <p:nvSpPr>
          <p:cNvPr id="256" name="Shape 254"/>
          <p:cNvSpPr/>
          <p:nvPr/>
        </p:nvSpPr>
        <p:spPr>
          <a:xfrm>
            <a:off x="2141765" y="6172187"/>
            <a:ext cx="1603185" cy="388263"/>
          </a:xfrm>
          <a:prstGeom prst="rect">
            <a:avLst/>
          </a:prstGeom>
          <a:solidFill>
            <a:srgbClr val="FFFFFF"/>
          </a:solidFill>
          <a:ln/>
        </p:spPr>
        <p:txBody>
          <a:bodyPr/>
          <a:lstStyle/>
          <a:p>
            <a:endParaRPr lang="ko-KR" altLang="en-US"/>
          </a:p>
        </p:txBody>
      </p:sp>
      <p:sp>
        <p:nvSpPr>
          <p:cNvPr id="257" name="Shape 255"/>
          <p:cNvSpPr/>
          <p:nvPr/>
        </p:nvSpPr>
        <p:spPr>
          <a:xfrm>
            <a:off x="2141765" y="6172187"/>
            <a:ext cx="1603185" cy="9525"/>
          </a:xfrm>
          <a:prstGeom prst="rect">
            <a:avLst/>
          </a:prstGeom>
          <a:solidFill>
            <a:srgbClr val="EADFD3"/>
          </a:solidFill>
          <a:ln/>
        </p:spPr>
        <p:txBody>
          <a:bodyPr/>
          <a:lstStyle/>
          <a:p>
            <a:endParaRPr lang="ko-KR" altLang="en-US"/>
          </a:p>
        </p:txBody>
      </p:sp>
      <p:sp>
        <p:nvSpPr>
          <p:cNvPr id="258" name="Shape 256"/>
          <p:cNvSpPr/>
          <p:nvPr/>
        </p:nvSpPr>
        <p:spPr>
          <a:xfrm>
            <a:off x="2141765" y="6172187"/>
            <a:ext cx="9525" cy="388263"/>
          </a:xfrm>
          <a:prstGeom prst="rect">
            <a:avLst/>
          </a:prstGeom>
          <a:solidFill>
            <a:srgbClr val="EADFD3"/>
          </a:solidFill>
          <a:ln/>
        </p:spPr>
        <p:txBody>
          <a:bodyPr/>
          <a:lstStyle/>
          <a:p>
            <a:endParaRPr lang="ko-KR" altLang="en-US"/>
          </a:p>
        </p:txBody>
      </p:sp>
      <p:sp>
        <p:nvSpPr>
          <p:cNvPr id="259" name="Text 257"/>
          <p:cNvSpPr/>
          <p:nvPr/>
        </p:nvSpPr>
        <p:spPr>
          <a:xfrm>
            <a:off x="2166032" y="6215504"/>
            <a:ext cx="1559868"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126.2%</a:t>
            </a:r>
            <a:endParaRPr lang="en-US" sz="1050" dirty="0"/>
          </a:p>
        </p:txBody>
      </p:sp>
      <p:sp>
        <p:nvSpPr>
          <p:cNvPr id="260" name="Shape 258"/>
          <p:cNvSpPr/>
          <p:nvPr/>
        </p:nvSpPr>
        <p:spPr>
          <a:xfrm>
            <a:off x="3744951" y="6172187"/>
            <a:ext cx="1603185" cy="388263"/>
          </a:xfrm>
          <a:prstGeom prst="rect">
            <a:avLst/>
          </a:prstGeom>
          <a:solidFill>
            <a:srgbClr val="FFFFFF"/>
          </a:solidFill>
          <a:ln/>
        </p:spPr>
        <p:txBody>
          <a:bodyPr/>
          <a:lstStyle/>
          <a:p>
            <a:endParaRPr lang="ko-KR" altLang="en-US"/>
          </a:p>
        </p:txBody>
      </p:sp>
      <p:sp>
        <p:nvSpPr>
          <p:cNvPr id="261" name="Shape 259"/>
          <p:cNvSpPr/>
          <p:nvPr/>
        </p:nvSpPr>
        <p:spPr>
          <a:xfrm>
            <a:off x="3744951" y="6172187"/>
            <a:ext cx="1603185" cy="9525"/>
          </a:xfrm>
          <a:prstGeom prst="rect">
            <a:avLst/>
          </a:prstGeom>
          <a:solidFill>
            <a:srgbClr val="EADFD3"/>
          </a:solidFill>
          <a:ln/>
        </p:spPr>
        <p:txBody>
          <a:bodyPr/>
          <a:lstStyle/>
          <a:p>
            <a:endParaRPr lang="ko-KR" altLang="en-US"/>
          </a:p>
        </p:txBody>
      </p:sp>
      <p:sp>
        <p:nvSpPr>
          <p:cNvPr id="262" name="Shape 260"/>
          <p:cNvSpPr/>
          <p:nvPr/>
        </p:nvSpPr>
        <p:spPr>
          <a:xfrm>
            <a:off x="3744951" y="6172187"/>
            <a:ext cx="9525" cy="388263"/>
          </a:xfrm>
          <a:prstGeom prst="rect">
            <a:avLst/>
          </a:prstGeom>
          <a:solidFill>
            <a:srgbClr val="EADFD3"/>
          </a:solidFill>
          <a:ln/>
        </p:spPr>
        <p:txBody>
          <a:bodyPr/>
          <a:lstStyle/>
          <a:p>
            <a:endParaRPr lang="ko-KR" altLang="en-US"/>
          </a:p>
        </p:txBody>
      </p:sp>
      <p:sp>
        <p:nvSpPr>
          <p:cNvPr id="263" name="Text 261"/>
          <p:cNvSpPr/>
          <p:nvPr/>
        </p:nvSpPr>
        <p:spPr>
          <a:xfrm>
            <a:off x="3769218" y="6215504"/>
            <a:ext cx="1559868"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176.58%</a:t>
            </a:r>
            <a:endParaRPr lang="en-US" sz="1050" dirty="0"/>
          </a:p>
        </p:txBody>
      </p:sp>
      <p:sp>
        <p:nvSpPr>
          <p:cNvPr id="264" name="Shape 262"/>
          <p:cNvSpPr/>
          <p:nvPr/>
        </p:nvSpPr>
        <p:spPr>
          <a:xfrm>
            <a:off x="5348136" y="6172187"/>
            <a:ext cx="1603185" cy="388263"/>
          </a:xfrm>
          <a:prstGeom prst="rect">
            <a:avLst/>
          </a:prstGeom>
          <a:solidFill>
            <a:srgbClr val="FFFFFF"/>
          </a:solidFill>
          <a:ln/>
        </p:spPr>
        <p:txBody>
          <a:bodyPr/>
          <a:lstStyle/>
          <a:p>
            <a:endParaRPr lang="ko-KR" altLang="en-US"/>
          </a:p>
        </p:txBody>
      </p:sp>
      <p:sp>
        <p:nvSpPr>
          <p:cNvPr id="265" name="Shape 263"/>
          <p:cNvSpPr/>
          <p:nvPr/>
        </p:nvSpPr>
        <p:spPr>
          <a:xfrm>
            <a:off x="5348136" y="6172187"/>
            <a:ext cx="1603185" cy="9525"/>
          </a:xfrm>
          <a:prstGeom prst="rect">
            <a:avLst/>
          </a:prstGeom>
          <a:solidFill>
            <a:srgbClr val="EADFD3"/>
          </a:solidFill>
          <a:ln/>
        </p:spPr>
        <p:txBody>
          <a:bodyPr/>
          <a:lstStyle/>
          <a:p>
            <a:endParaRPr lang="ko-KR" altLang="en-US"/>
          </a:p>
        </p:txBody>
      </p:sp>
      <p:sp>
        <p:nvSpPr>
          <p:cNvPr id="266" name="Shape 264"/>
          <p:cNvSpPr/>
          <p:nvPr/>
        </p:nvSpPr>
        <p:spPr>
          <a:xfrm>
            <a:off x="5348136" y="6172187"/>
            <a:ext cx="9525" cy="388263"/>
          </a:xfrm>
          <a:prstGeom prst="rect">
            <a:avLst/>
          </a:prstGeom>
          <a:solidFill>
            <a:srgbClr val="EADFD3"/>
          </a:solidFill>
          <a:ln/>
        </p:spPr>
        <p:txBody>
          <a:bodyPr/>
          <a:lstStyle/>
          <a:p>
            <a:endParaRPr lang="ko-KR" altLang="en-US"/>
          </a:p>
        </p:txBody>
      </p:sp>
      <p:sp>
        <p:nvSpPr>
          <p:cNvPr id="267" name="Text 265"/>
          <p:cNvSpPr/>
          <p:nvPr/>
        </p:nvSpPr>
        <p:spPr>
          <a:xfrm>
            <a:off x="5372403" y="6215504"/>
            <a:ext cx="1559868"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178.2%</a:t>
            </a:r>
            <a:endParaRPr lang="en-US" sz="1050" dirty="0"/>
          </a:p>
        </p:txBody>
      </p:sp>
      <p:sp>
        <p:nvSpPr>
          <p:cNvPr id="268" name="Shape 266"/>
          <p:cNvSpPr/>
          <p:nvPr/>
        </p:nvSpPr>
        <p:spPr>
          <a:xfrm>
            <a:off x="6951322" y="6172187"/>
            <a:ext cx="1603185" cy="388263"/>
          </a:xfrm>
          <a:prstGeom prst="rect">
            <a:avLst/>
          </a:prstGeom>
          <a:solidFill>
            <a:srgbClr val="FFFFFF"/>
          </a:solidFill>
          <a:ln/>
        </p:spPr>
        <p:txBody>
          <a:bodyPr/>
          <a:lstStyle/>
          <a:p>
            <a:endParaRPr lang="ko-KR" altLang="en-US"/>
          </a:p>
        </p:txBody>
      </p:sp>
      <p:sp>
        <p:nvSpPr>
          <p:cNvPr id="269" name="Shape 267"/>
          <p:cNvSpPr/>
          <p:nvPr/>
        </p:nvSpPr>
        <p:spPr>
          <a:xfrm>
            <a:off x="6951322" y="6172187"/>
            <a:ext cx="1603185" cy="9525"/>
          </a:xfrm>
          <a:prstGeom prst="rect">
            <a:avLst/>
          </a:prstGeom>
          <a:solidFill>
            <a:srgbClr val="EADFD3"/>
          </a:solidFill>
          <a:ln/>
        </p:spPr>
        <p:txBody>
          <a:bodyPr/>
          <a:lstStyle/>
          <a:p>
            <a:endParaRPr lang="ko-KR" altLang="en-US"/>
          </a:p>
        </p:txBody>
      </p:sp>
      <p:sp>
        <p:nvSpPr>
          <p:cNvPr id="270" name="Shape 268"/>
          <p:cNvSpPr/>
          <p:nvPr/>
        </p:nvSpPr>
        <p:spPr>
          <a:xfrm>
            <a:off x="6951322" y="6172187"/>
            <a:ext cx="9525" cy="388263"/>
          </a:xfrm>
          <a:prstGeom prst="rect">
            <a:avLst/>
          </a:prstGeom>
          <a:solidFill>
            <a:srgbClr val="EADFD3"/>
          </a:solidFill>
          <a:ln/>
        </p:spPr>
        <p:txBody>
          <a:bodyPr/>
          <a:lstStyle/>
          <a:p>
            <a:endParaRPr lang="ko-KR" altLang="en-US"/>
          </a:p>
        </p:txBody>
      </p:sp>
      <p:sp>
        <p:nvSpPr>
          <p:cNvPr id="271" name="Text 269"/>
          <p:cNvSpPr/>
          <p:nvPr/>
        </p:nvSpPr>
        <p:spPr>
          <a:xfrm>
            <a:off x="6975589" y="6215504"/>
            <a:ext cx="1559868"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148.9%</a:t>
            </a:r>
            <a:endParaRPr lang="en-US" sz="1050" dirty="0"/>
          </a:p>
        </p:txBody>
      </p:sp>
      <p:sp>
        <p:nvSpPr>
          <p:cNvPr id="272" name="Shape 270"/>
          <p:cNvSpPr/>
          <p:nvPr/>
        </p:nvSpPr>
        <p:spPr>
          <a:xfrm>
            <a:off x="8554507" y="6172187"/>
            <a:ext cx="1603430" cy="388263"/>
          </a:xfrm>
          <a:prstGeom prst="rect">
            <a:avLst/>
          </a:prstGeom>
          <a:solidFill>
            <a:srgbClr val="FFFFFF"/>
          </a:solidFill>
          <a:ln/>
        </p:spPr>
        <p:txBody>
          <a:bodyPr/>
          <a:lstStyle/>
          <a:p>
            <a:endParaRPr lang="ko-KR" altLang="en-US"/>
          </a:p>
        </p:txBody>
      </p:sp>
      <p:sp>
        <p:nvSpPr>
          <p:cNvPr id="273" name="Shape 271"/>
          <p:cNvSpPr/>
          <p:nvPr/>
        </p:nvSpPr>
        <p:spPr>
          <a:xfrm>
            <a:off x="8554507" y="6172187"/>
            <a:ext cx="1603430" cy="9525"/>
          </a:xfrm>
          <a:prstGeom prst="rect">
            <a:avLst/>
          </a:prstGeom>
          <a:solidFill>
            <a:srgbClr val="EADFD3"/>
          </a:solidFill>
          <a:ln/>
        </p:spPr>
        <p:txBody>
          <a:bodyPr/>
          <a:lstStyle/>
          <a:p>
            <a:endParaRPr lang="ko-KR" altLang="en-US"/>
          </a:p>
        </p:txBody>
      </p:sp>
      <p:sp>
        <p:nvSpPr>
          <p:cNvPr id="274" name="Shape 272"/>
          <p:cNvSpPr/>
          <p:nvPr/>
        </p:nvSpPr>
        <p:spPr>
          <a:xfrm>
            <a:off x="8554507" y="6172187"/>
            <a:ext cx="9525" cy="388263"/>
          </a:xfrm>
          <a:prstGeom prst="rect">
            <a:avLst/>
          </a:prstGeom>
          <a:solidFill>
            <a:srgbClr val="EADFD3"/>
          </a:solidFill>
          <a:ln/>
        </p:spPr>
        <p:txBody>
          <a:bodyPr/>
          <a:lstStyle/>
          <a:p>
            <a:endParaRPr lang="ko-KR" altLang="en-US"/>
          </a:p>
        </p:txBody>
      </p:sp>
      <p:sp>
        <p:nvSpPr>
          <p:cNvPr id="275" name="Text 273"/>
          <p:cNvSpPr/>
          <p:nvPr/>
        </p:nvSpPr>
        <p:spPr>
          <a:xfrm>
            <a:off x="8578774" y="6215504"/>
            <a:ext cx="1560113" cy="344946"/>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149%</a:t>
            </a:r>
            <a:endParaRPr lang="en-US" sz="1050" dirty="0"/>
          </a:p>
        </p:txBody>
      </p:sp>
      <p:sp>
        <p:nvSpPr>
          <p:cNvPr id="276" name="Text 274"/>
          <p:cNvSpPr/>
          <p:nvPr/>
        </p:nvSpPr>
        <p:spPr>
          <a:xfrm>
            <a:off x="533363" y="6660878"/>
            <a:ext cx="10592770" cy="168526"/>
          </a:xfrm>
          <a:prstGeom prst="rect">
            <a:avLst/>
          </a:prstGeom>
          <a:noFill/>
          <a:ln/>
        </p:spPr>
        <p:txBody>
          <a:bodyPr wrap="square" lIns="25400" tIns="25400" rIns="25400" bIns="25400" rtlCol="0" anchor="t">
            <a:normAutofit fontScale="92500" lnSpcReduction="10000"/>
          </a:bodyPr>
          <a:lstStyle/>
          <a:p>
            <a:pPr marL="0" indent="0" algn="l">
              <a:buNone/>
            </a:pPr>
            <a:r>
              <a:rPr lang="en-US" sz="900" b="1" dirty="0">
                <a:solidFill>
                  <a:srgbClr val="B0573A"/>
                </a:solidFill>
                <a:latin typeface="Paperlogy 7 Bold" pitchFamily="2" charset="-127"/>
                <a:ea typeface="Paperlogy 7 Bold" pitchFamily="2" charset="-127"/>
                <a:cs typeface="Arial" pitchFamily="34" charset="-120"/>
              </a:rPr>
              <a:t>※ 본자료는 상품설계를 위한 참고자료로 고객에게 판매를 위한 자료로 제시할 수 없습니다.</a:t>
            </a:r>
            <a:endParaRPr lang="en-US" sz="900" dirty="0"/>
          </a:p>
        </p:txBody>
      </p:sp>
      <p:sp>
        <p:nvSpPr>
          <p:cNvPr id="277" name="Text 275"/>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78" name="Text 276"/>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79" name="Text 277"/>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BF8F3"/>
        </a:solidFill>
        <a:effectLst/>
      </p:bgPr>
    </p:bg>
    <p:spTree>
      <p:nvGrpSpPr>
        <p:cNvPr id="1" name=""/>
        <p:cNvGrpSpPr/>
        <p:nvPr/>
      </p:nvGrpSpPr>
      <p:grpSpPr>
        <a:xfrm>
          <a:off x="0" y="0"/>
          <a:ext cx="0" cy="0"/>
          <a:chOff x="0" y="0"/>
          <a:chExt cx="0" cy="0"/>
        </a:xfrm>
      </p:grpSpPr>
      <p:sp>
        <p:nvSpPr>
          <p:cNvPr id="2" name="Text 0"/>
          <p:cNvSpPr/>
          <p:nvPr/>
        </p:nvSpPr>
        <p:spPr>
          <a:xfrm>
            <a:off x="533363" y="297861"/>
            <a:ext cx="3472759" cy="413728"/>
          </a:xfrm>
          <a:prstGeom prst="rect">
            <a:avLst/>
          </a:prstGeom>
          <a:noFill/>
          <a:ln/>
        </p:spPr>
        <p:txBody>
          <a:bodyPr wrap="none" lIns="25400" tIns="25400" rIns="25400" bIns="25400" rtlCol="0" anchor="t">
            <a:normAutofit lnSpcReduction="10000"/>
          </a:bodyPr>
          <a:lstStyle/>
          <a:p>
            <a:pPr marL="0" indent="0" algn="l">
              <a:buNone/>
            </a:pPr>
            <a:r>
              <a:rPr lang="en-US" sz="2475" b="1" kern="0" spc="-62" dirty="0">
                <a:solidFill>
                  <a:srgbClr val="3A2C24"/>
                </a:solidFill>
                <a:latin typeface="Paperlogy 7 Bold" pitchFamily="2" charset="-127"/>
                <a:ea typeface="Paperlogy 7 Bold" pitchFamily="2" charset="-127"/>
                <a:cs typeface="Arial" pitchFamily="34" charset="-120"/>
              </a:rPr>
              <a:t>단기납종신 환급률 (7년납)</a:t>
            </a:r>
            <a:endParaRPr lang="en-US" sz="2475" dirty="0"/>
          </a:p>
        </p:txBody>
      </p:sp>
      <p:sp>
        <p:nvSpPr>
          <p:cNvPr id="3" name="Shape 1"/>
          <p:cNvSpPr/>
          <p:nvPr/>
        </p:nvSpPr>
        <p:spPr>
          <a:xfrm>
            <a:off x="533363" y="800085"/>
            <a:ext cx="9629791" cy="9525"/>
          </a:xfrm>
          <a:prstGeom prst="rect">
            <a:avLst/>
          </a:prstGeom>
          <a:solidFill>
            <a:srgbClr val="EADFD3"/>
          </a:solidFill>
          <a:ln/>
        </p:spPr>
        <p:txBody>
          <a:bodyPr/>
          <a:lstStyle/>
          <a:p>
            <a:endParaRPr lang="ko-KR" altLang="en-US"/>
          </a:p>
        </p:txBody>
      </p:sp>
      <p:sp>
        <p:nvSpPr>
          <p:cNvPr id="4" name="Text 2"/>
          <p:cNvSpPr/>
          <p:nvPr/>
        </p:nvSpPr>
        <p:spPr>
          <a:xfrm>
            <a:off x="533363" y="1095338"/>
            <a:ext cx="4959995" cy="210263"/>
          </a:xfrm>
          <a:prstGeom prst="rect">
            <a:avLst/>
          </a:prstGeom>
          <a:noFill/>
          <a:ln/>
        </p:spPr>
        <p:txBody>
          <a:bodyPr wrap="none" lIns="25400" tIns="25400" rIns="25400" bIns="25400" rtlCol="0" anchor="t">
            <a:normAutofit lnSpcReduction="10000"/>
          </a:bodyPr>
          <a:lstStyle/>
          <a:p>
            <a:pPr marL="0" indent="0" algn="l">
              <a:buNone/>
            </a:pPr>
            <a:r>
              <a:rPr lang="en-US" sz="1125" b="1" dirty="0">
                <a:solidFill>
                  <a:srgbClr val="3A2C24"/>
                </a:solidFill>
                <a:latin typeface="Paperlogy 7 Bold" pitchFamily="2" charset="-127"/>
                <a:ea typeface="Paperlogy 7 Bold" pitchFamily="2" charset="-127"/>
                <a:cs typeface="Arial" pitchFamily="34" charset="-120"/>
              </a:rPr>
              <a:t>40세 남자 저해약종신-보험료50만 - 7년납/종신, 최저 보증 이율 생보환급률 비교</a:t>
            </a:r>
            <a:endParaRPr lang="en-US" sz="1125" dirty="0"/>
          </a:p>
        </p:txBody>
      </p:sp>
      <p:sp>
        <p:nvSpPr>
          <p:cNvPr id="5" name="Text 3"/>
          <p:cNvSpPr/>
          <p:nvPr/>
        </p:nvSpPr>
        <p:spPr>
          <a:xfrm>
            <a:off x="9349375" y="1121423"/>
            <a:ext cx="889979" cy="168526"/>
          </a:xfrm>
          <a:prstGeom prst="rect">
            <a:avLst/>
          </a:prstGeom>
          <a:noFill/>
          <a:ln/>
        </p:spPr>
        <p:txBody>
          <a:bodyPr wrap="none" lIns="25400" tIns="25400" rIns="25400" bIns="25400" rtlCol="0" anchor="t">
            <a:normAutofit fontScale="92500" lnSpcReduction="10000"/>
          </a:bodyPr>
          <a:lstStyle/>
          <a:p>
            <a:pPr marL="0" indent="0" algn="l">
              <a:buNone/>
            </a:pPr>
            <a:r>
              <a:rPr lang="en-US" sz="900" b="1" dirty="0">
                <a:solidFill>
                  <a:srgbClr val="7B6B60"/>
                </a:solidFill>
                <a:latin typeface="Paperlogy 7 Bold" pitchFamily="2" charset="-127"/>
                <a:ea typeface="Paperlogy 7 Bold" pitchFamily="2" charset="-127"/>
                <a:cs typeface="Arial" pitchFamily="34" charset="-120"/>
              </a:rPr>
              <a:t>2026.9.30 기준</a:t>
            </a:r>
            <a:endParaRPr lang="en-US" sz="900" dirty="0"/>
          </a:p>
        </p:txBody>
      </p:sp>
      <p:sp>
        <p:nvSpPr>
          <p:cNvPr id="6" name="Shape 4"/>
          <p:cNvSpPr/>
          <p:nvPr/>
        </p:nvSpPr>
        <p:spPr>
          <a:xfrm>
            <a:off x="533363" y="1362712"/>
            <a:ext cx="9629791" cy="5202955"/>
          </a:xfrm>
          <a:prstGeom prst="roundRect">
            <a:avLst>
              <a:gd name="adj" fmla="val 2197"/>
            </a:avLst>
          </a:prstGeom>
          <a:solidFill>
            <a:srgbClr val="FFFFFF"/>
          </a:solidFill>
          <a:ln w="5217">
            <a:solidFill>
              <a:srgbClr val="EADFD3"/>
            </a:solidFill>
            <a:prstDash val="solid"/>
          </a:ln>
        </p:spPr>
        <p:txBody>
          <a:bodyPr/>
          <a:lstStyle/>
          <a:p>
            <a:endParaRPr lang="ko-KR" altLang="en-US"/>
          </a:p>
        </p:txBody>
      </p:sp>
      <p:sp>
        <p:nvSpPr>
          <p:cNvPr id="7" name="Shape 5"/>
          <p:cNvSpPr/>
          <p:nvPr/>
        </p:nvSpPr>
        <p:spPr>
          <a:xfrm>
            <a:off x="538580" y="1367929"/>
            <a:ext cx="1603185" cy="872879"/>
          </a:xfrm>
          <a:prstGeom prst="rect">
            <a:avLst/>
          </a:prstGeom>
          <a:solidFill>
            <a:srgbClr val="CF9C3C"/>
          </a:solidFill>
          <a:ln/>
        </p:spPr>
        <p:txBody>
          <a:bodyPr/>
          <a:lstStyle/>
          <a:p>
            <a:endParaRPr lang="ko-KR" altLang="en-US"/>
          </a:p>
        </p:txBody>
      </p:sp>
      <p:sp>
        <p:nvSpPr>
          <p:cNvPr id="8" name="Shape 6"/>
          <p:cNvSpPr/>
          <p:nvPr/>
        </p:nvSpPr>
        <p:spPr>
          <a:xfrm>
            <a:off x="2141765" y="1367929"/>
            <a:ext cx="1603185" cy="872879"/>
          </a:xfrm>
          <a:prstGeom prst="rect">
            <a:avLst/>
          </a:prstGeom>
          <a:solidFill>
            <a:srgbClr val="CF9C3C"/>
          </a:solidFill>
          <a:ln/>
        </p:spPr>
        <p:txBody>
          <a:bodyPr/>
          <a:lstStyle/>
          <a:p>
            <a:endParaRPr lang="ko-KR" altLang="en-US"/>
          </a:p>
        </p:txBody>
      </p:sp>
      <p:sp>
        <p:nvSpPr>
          <p:cNvPr id="9" name="Shape 7"/>
          <p:cNvSpPr/>
          <p:nvPr/>
        </p:nvSpPr>
        <p:spPr>
          <a:xfrm>
            <a:off x="2141765" y="1367929"/>
            <a:ext cx="9525" cy="872879"/>
          </a:xfrm>
          <a:prstGeom prst="rect">
            <a:avLst/>
          </a:prstGeom>
          <a:solidFill>
            <a:srgbClr val="FFFFFF">
              <a:alpha val="25000"/>
            </a:srgbClr>
          </a:solidFill>
          <a:ln/>
        </p:spPr>
        <p:txBody>
          <a:bodyPr/>
          <a:lstStyle/>
          <a:p>
            <a:endParaRPr lang="ko-KR" altLang="en-US"/>
          </a:p>
        </p:txBody>
      </p:sp>
      <p:sp>
        <p:nvSpPr>
          <p:cNvPr id="10" name="Text 8"/>
          <p:cNvSpPr/>
          <p:nvPr/>
        </p:nvSpPr>
        <p:spPr>
          <a:xfrm>
            <a:off x="2166032" y="1406029"/>
            <a:ext cx="1559868" cy="83477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하나생명/무) 하나로 THE </a:t>
            </a: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연결된</a:t>
            </a:r>
            <a:r>
              <a:rPr lang="en-US" sz="1050" b="1" kern="0" spc="-11" dirty="0">
                <a:solidFill>
                  <a:srgbClr val="FFFFFF"/>
                </a:solidFill>
                <a:latin typeface="Paperlogy 7 Bold" pitchFamily="2" charset="-127"/>
                <a:ea typeface="Paperlogy 7 Bold" pitchFamily="2" charset="-127"/>
                <a:cs typeface="Arial" pitchFamily="34" charset="-120"/>
              </a:rPr>
              <a:t> 종신보험</a:t>
            </a:r>
            <a:endParaRPr lang="en-US" sz="1050" dirty="0"/>
          </a:p>
        </p:txBody>
      </p:sp>
      <p:sp>
        <p:nvSpPr>
          <p:cNvPr id="11" name="Shape 9"/>
          <p:cNvSpPr/>
          <p:nvPr/>
        </p:nvSpPr>
        <p:spPr>
          <a:xfrm>
            <a:off x="3744951" y="1367929"/>
            <a:ext cx="1603185" cy="872879"/>
          </a:xfrm>
          <a:prstGeom prst="rect">
            <a:avLst/>
          </a:prstGeom>
          <a:solidFill>
            <a:srgbClr val="CF9C3C"/>
          </a:solidFill>
          <a:ln/>
        </p:spPr>
        <p:txBody>
          <a:bodyPr/>
          <a:lstStyle/>
          <a:p>
            <a:endParaRPr lang="ko-KR" altLang="en-US"/>
          </a:p>
        </p:txBody>
      </p:sp>
      <p:sp>
        <p:nvSpPr>
          <p:cNvPr id="12" name="Shape 10"/>
          <p:cNvSpPr/>
          <p:nvPr/>
        </p:nvSpPr>
        <p:spPr>
          <a:xfrm>
            <a:off x="3744951" y="1367929"/>
            <a:ext cx="9525" cy="872879"/>
          </a:xfrm>
          <a:prstGeom prst="rect">
            <a:avLst/>
          </a:prstGeom>
          <a:solidFill>
            <a:srgbClr val="FFFFFF">
              <a:alpha val="25000"/>
            </a:srgbClr>
          </a:solidFill>
          <a:ln/>
        </p:spPr>
        <p:txBody>
          <a:bodyPr/>
          <a:lstStyle/>
          <a:p>
            <a:endParaRPr lang="ko-KR" altLang="en-US"/>
          </a:p>
        </p:txBody>
      </p:sp>
      <p:sp>
        <p:nvSpPr>
          <p:cNvPr id="13" name="Text 11"/>
          <p:cNvSpPr/>
          <p:nvPr/>
        </p:nvSpPr>
        <p:spPr>
          <a:xfrm>
            <a:off x="3769218" y="1406029"/>
            <a:ext cx="1559868" cy="83477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라이나생명/무) THE채우는종신보험</a:t>
            </a:r>
            <a:endParaRPr lang="en-US" sz="1050" dirty="0"/>
          </a:p>
        </p:txBody>
      </p:sp>
      <p:sp>
        <p:nvSpPr>
          <p:cNvPr id="14" name="Shape 12"/>
          <p:cNvSpPr/>
          <p:nvPr/>
        </p:nvSpPr>
        <p:spPr>
          <a:xfrm>
            <a:off x="5348136" y="1367929"/>
            <a:ext cx="1603185" cy="872879"/>
          </a:xfrm>
          <a:prstGeom prst="rect">
            <a:avLst/>
          </a:prstGeom>
          <a:solidFill>
            <a:srgbClr val="CF9C3C"/>
          </a:solidFill>
          <a:ln/>
        </p:spPr>
        <p:txBody>
          <a:bodyPr/>
          <a:lstStyle/>
          <a:p>
            <a:endParaRPr lang="ko-KR" altLang="en-US"/>
          </a:p>
        </p:txBody>
      </p:sp>
      <p:sp>
        <p:nvSpPr>
          <p:cNvPr id="15" name="Shape 13"/>
          <p:cNvSpPr/>
          <p:nvPr/>
        </p:nvSpPr>
        <p:spPr>
          <a:xfrm>
            <a:off x="5348136" y="1367929"/>
            <a:ext cx="9525" cy="872879"/>
          </a:xfrm>
          <a:prstGeom prst="rect">
            <a:avLst/>
          </a:prstGeom>
          <a:solidFill>
            <a:srgbClr val="FFFFFF">
              <a:alpha val="25000"/>
            </a:srgbClr>
          </a:solidFill>
          <a:ln/>
        </p:spPr>
        <p:txBody>
          <a:bodyPr/>
          <a:lstStyle/>
          <a:p>
            <a:endParaRPr lang="ko-KR" altLang="en-US"/>
          </a:p>
        </p:txBody>
      </p:sp>
      <p:sp>
        <p:nvSpPr>
          <p:cNvPr id="16" name="Text 14"/>
          <p:cNvSpPr/>
          <p:nvPr/>
        </p:nvSpPr>
        <p:spPr>
          <a:xfrm>
            <a:off x="5372403" y="1406029"/>
            <a:ext cx="1559868" cy="83477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ABL생명/무) </a:t>
            </a:r>
            <a:r>
              <a:rPr lang="en-US" sz="1050" b="1" kern="0" spc="-11" dirty="0" err="1">
                <a:solidFill>
                  <a:srgbClr val="FFFFFF"/>
                </a:solidFill>
                <a:latin typeface="Paperlogy 7 Bold" pitchFamily="2" charset="-127"/>
                <a:ea typeface="Paperlogy 7 Bold" pitchFamily="2" charset="-127"/>
                <a:cs typeface="Arial" pitchFamily="34" charset="-120"/>
              </a:rPr>
              <a:t>우리WON</a:t>
            </a:r>
            <a:endParaRPr lang="en-US" sz="1050" b="1" kern="0" spc="-11" dirty="0">
              <a:solidFill>
                <a:srgbClr val="FFFFFF"/>
              </a:solidFill>
              <a:latin typeface="Paperlogy 7 Bold" pitchFamily="2" charset="-127"/>
              <a:ea typeface="Paperlogy 7 Bold" pitchFamily="2" charset="-127"/>
              <a:cs typeface="Arial" pitchFamily="34" charset="-120"/>
            </a:endParaRP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더드림종신보험</a:t>
            </a:r>
            <a:endParaRPr lang="en-US" sz="1050" dirty="0"/>
          </a:p>
        </p:txBody>
      </p:sp>
      <p:sp>
        <p:nvSpPr>
          <p:cNvPr id="17" name="Shape 15"/>
          <p:cNvSpPr/>
          <p:nvPr/>
        </p:nvSpPr>
        <p:spPr>
          <a:xfrm>
            <a:off x="6951322" y="1367929"/>
            <a:ext cx="1603185" cy="872879"/>
          </a:xfrm>
          <a:prstGeom prst="rect">
            <a:avLst/>
          </a:prstGeom>
          <a:solidFill>
            <a:srgbClr val="CF9C3C"/>
          </a:solidFill>
          <a:ln/>
        </p:spPr>
        <p:txBody>
          <a:bodyPr/>
          <a:lstStyle/>
          <a:p>
            <a:endParaRPr lang="ko-KR" altLang="en-US"/>
          </a:p>
        </p:txBody>
      </p:sp>
      <p:sp>
        <p:nvSpPr>
          <p:cNvPr id="18" name="Shape 16"/>
          <p:cNvSpPr/>
          <p:nvPr/>
        </p:nvSpPr>
        <p:spPr>
          <a:xfrm>
            <a:off x="6951322" y="1367929"/>
            <a:ext cx="9525" cy="872879"/>
          </a:xfrm>
          <a:prstGeom prst="rect">
            <a:avLst/>
          </a:prstGeom>
          <a:solidFill>
            <a:srgbClr val="FFFFFF">
              <a:alpha val="25000"/>
            </a:srgbClr>
          </a:solidFill>
          <a:ln/>
        </p:spPr>
        <p:txBody>
          <a:bodyPr/>
          <a:lstStyle/>
          <a:p>
            <a:endParaRPr lang="ko-KR" altLang="en-US"/>
          </a:p>
        </p:txBody>
      </p:sp>
      <p:sp>
        <p:nvSpPr>
          <p:cNvPr id="19" name="Text 17"/>
          <p:cNvSpPr/>
          <p:nvPr/>
        </p:nvSpPr>
        <p:spPr>
          <a:xfrm>
            <a:off x="6975589" y="1406029"/>
            <a:ext cx="1559868" cy="83477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동양생명/무)</a:t>
            </a:r>
            <a:r>
              <a:rPr lang="en-US" sz="1050" b="1" kern="0" spc="-11" dirty="0" err="1">
                <a:solidFill>
                  <a:srgbClr val="FFFFFF"/>
                </a:solidFill>
                <a:latin typeface="Paperlogy 7 Bold" pitchFamily="2" charset="-127"/>
                <a:ea typeface="Paperlogy 7 Bold" pitchFamily="2" charset="-127"/>
                <a:cs typeface="Arial" pitchFamily="34" charset="-120"/>
              </a:rPr>
              <a:t>우리WON</a:t>
            </a:r>
            <a:endParaRPr lang="en-US" sz="1050" b="1" kern="0" spc="-11" dirty="0">
              <a:solidFill>
                <a:srgbClr val="FFFFFF"/>
              </a:solidFill>
              <a:latin typeface="Paperlogy 7 Bold" pitchFamily="2" charset="-127"/>
              <a:ea typeface="Paperlogy 7 Bold" pitchFamily="2" charset="-127"/>
              <a:cs typeface="Arial" pitchFamily="34" charset="-120"/>
            </a:endParaRPr>
          </a:p>
          <a:p>
            <a:pPr marL="0" indent="0" algn="ctr">
              <a:lnSpc>
                <a:spcPct val="121632"/>
              </a:lnSpc>
              <a:buNone/>
            </a:pPr>
            <a:r>
              <a:rPr lang="en-US" sz="1050" b="1" kern="0" spc="-11" dirty="0" err="1">
                <a:solidFill>
                  <a:srgbClr val="FFFFFF"/>
                </a:solidFill>
                <a:latin typeface="Paperlogy 7 Bold" pitchFamily="2" charset="-127"/>
                <a:ea typeface="Paperlogy 7 Bold" pitchFamily="2" charset="-127"/>
                <a:cs typeface="Arial" pitchFamily="34" charset="-120"/>
              </a:rPr>
              <a:t>하는</a:t>
            </a:r>
            <a:r>
              <a:rPr lang="en-US" sz="1050" b="1" kern="0" spc="-11" dirty="0">
                <a:solidFill>
                  <a:srgbClr val="FFFFFF"/>
                </a:solidFill>
                <a:latin typeface="Paperlogy 7 Bold" pitchFamily="2" charset="-127"/>
                <a:ea typeface="Paperlogy 7 Bold" pitchFamily="2" charset="-127"/>
                <a:cs typeface="Arial" pitchFamily="34" charset="-120"/>
              </a:rPr>
              <a:t> 알뜰플러스종신보험</a:t>
            </a:r>
            <a:endParaRPr lang="en-US" sz="1050" dirty="0"/>
          </a:p>
        </p:txBody>
      </p:sp>
      <p:sp>
        <p:nvSpPr>
          <p:cNvPr id="20" name="Shape 18"/>
          <p:cNvSpPr/>
          <p:nvPr/>
        </p:nvSpPr>
        <p:spPr>
          <a:xfrm>
            <a:off x="8554507" y="1367929"/>
            <a:ext cx="1603430" cy="872879"/>
          </a:xfrm>
          <a:prstGeom prst="rect">
            <a:avLst/>
          </a:prstGeom>
          <a:solidFill>
            <a:srgbClr val="CF9C3C"/>
          </a:solidFill>
          <a:ln/>
        </p:spPr>
        <p:txBody>
          <a:bodyPr/>
          <a:lstStyle/>
          <a:p>
            <a:endParaRPr lang="ko-KR" altLang="en-US"/>
          </a:p>
        </p:txBody>
      </p:sp>
      <p:sp>
        <p:nvSpPr>
          <p:cNvPr id="21" name="Shape 19"/>
          <p:cNvSpPr/>
          <p:nvPr/>
        </p:nvSpPr>
        <p:spPr>
          <a:xfrm>
            <a:off x="8554507" y="1367929"/>
            <a:ext cx="9525" cy="872879"/>
          </a:xfrm>
          <a:prstGeom prst="rect">
            <a:avLst/>
          </a:prstGeom>
          <a:solidFill>
            <a:srgbClr val="FFFFFF">
              <a:alpha val="25000"/>
            </a:srgbClr>
          </a:solidFill>
          <a:ln/>
        </p:spPr>
        <p:txBody>
          <a:bodyPr/>
          <a:lstStyle/>
          <a:p>
            <a:endParaRPr lang="ko-KR" altLang="en-US"/>
          </a:p>
        </p:txBody>
      </p:sp>
      <p:sp>
        <p:nvSpPr>
          <p:cNvPr id="22" name="Text 20"/>
          <p:cNvSpPr/>
          <p:nvPr/>
        </p:nvSpPr>
        <p:spPr>
          <a:xfrm>
            <a:off x="8578774" y="1406029"/>
            <a:ext cx="1560113" cy="834779"/>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FFFFFF"/>
                </a:solidFill>
                <a:latin typeface="Paperlogy 7 Bold" pitchFamily="2" charset="-127"/>
                <a:ea typeface="Paperlogy 7 Bold" pitchFamily="2" charset="-127"/>
                <a:cs typeface="Arial" pitchFamily="34" charset="-120"/>
              </a:rPr>
              <a:t>푸본현대생명/무) MAX종신보험원픽종신보험</a:t>
            </a:r>
            <a:endParaRPr lang="en-US" sz="1050" dirty="0"/>
          </a:p>
        </p:txBody>
      </p:sp>
      <p:sp>
        <p:nvSpPr>
          <p:cNvPr id="23" name="Shape 21"/>
          <p:cNvSpPr/>
          <p:nvPr/>
        </p:nvSpPr>
        <p:spPr>
          <a:xfrm>
            <a:off x="538580" y="2240808"/>
            <a:ext cx="1603185" cy="368781"/>
          </a:xfrm>
          <a:prstGeom prst="rect">
            <a:avLst/>
          </a:prstGeom>
          <a:solidFill>
            <a:srgbClr val="FCF8EC"/>
          </a:solidFill>
          <a:ln/>
        </p:spPr>
        <p:txBody>
          <a:bodyPr/>
          <a:lstStyle/>
          <a:p>
            <a:endParaRPr lang="ko-KR" altLang="en-US"/>
          </a:p>
        </p:txBody>
      </p:sp>
      <p:sp>
        <p:nvSpPr>
          <p:cNvPr id="24" name="Shape 22"/>
          <p:cNvSpPr/>
          <p:nvPr/>
        </p:nvSpPr>
        <p:spPr>
          <a:xfrm>
            <a:off x="538580" y="2240808"/>
            <a:ext cx="1603185" cy="9525"/>
          </a:xfrm>
          <a:prstGeom prst="rect">
            <a:avLst/>
          </a:prstGeom>
          <a:solidFill>
            <a:srgbClr val="EADFD3"/>
          </a:solidFill>
          <a:ln/>
        </p:spPr>
        <p:txBody>
          <a:bodyPr/>
          <a:lstStyle/>
          <a:p>
            <a:endParaRPr lang="ko-KR" altLang="en-US"/>
          </a:p>
        </p:txBody>
      </p:sp>
      <p:sp>
        <p:nvSpPr>
          <p:cNvPr id="25" name="Text 23"/>
          <p:cNvSpPr/>
          <p:nvPr/>
        </p:nvSpPr>
        <p:spPr>
          <a:xfrm>
            <a:off x="557630" y="2284125"/>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1년</a:t>
            </a:r>
            <a:endParaRPr lang="en-US" sz="1050" dirty="0"/>
          </a:p>
        </p:txBody>
      </p:sp>
      <p:sp>
        <p:nvSpPr>
          <p:cNvPr id="26" name="Shape 24"/>
          <p:cNvSpPr/>
          <p:nvPr/>
        </p:nvSpPr>
        <p:spPr>
          <a:xfrm>
            <a:off x="2141765" y="2240808"/>
            <a:ext cx="1603185" cy="368781"/>
          </a:xfrm>
          <a:prstGeom prst="rect">
            <a:avLst/>
          </a:prstGeom>
          <a:solidFill>
            <a:srgbClr val="FFFFFF"/>
          </a:solidFill>
          <a:ln/>
        </p:spPr>
        <p:txBody>
          <a:bodyPr/>
          <a:lstStyle/>
          <a:p>
            <a:endParaRPr lang="ko-KR" altLang="en-US"/>
          </a:p>
        </p:txBody>
      </p:sp>
      <p:sp>
        <p:nvSpPr>
          <p:cNvPr id="27" name="Shape 25"/>
          <p:cNvSpPr/>
          <p:nvPr/>
        </p:nvSpPr>
        <p:spPr>
          <a:xfrm>
            <a:off x="2141765" y="2240808"/>
            <a:ext cx="1603185" cy="9525"/>
          </a:xfrm>
          <a:prstGeom prst="rect">
            <a:avLst/>
          </a:prstGeom>
          <a:solidFill>
            <a:srgbClr val="EADFD3"/>
          </a:solidFill>
          <a:ln/>
        </p:spPr>
        <p:txBody>
          <a:bodyPr/>
          <a:lstStyle/>
          <a:p>
            <a:endParaRPr lang="ko-KR" altLang="en-US"/>
          </a:p>
        </p:txBody>
      </p:sp>
      <p:sp>
        <p:nvSpPr>
          <p:cNvPr id="28" name="Shape 26"/>
          <p:cNvSpPr/>
          <p:nvPr/>
        </p:nvSpPr>
        <p:spPr>
          <a:xfrm>
            <a:off x="2141765" y="2240808"/>
            <a:ext cx="9525" cy="368781"/>
          </a:xfrm>
          <a:prstGeom prst="rect">
            <a:avLst/>
          </a:prstGeom>
          <a:solidFill>
            <a:srgbClr val="EADFD3"/>
          </a:solidFill>
          <a:ln/>
        </p:spPr>
        <p:txBody>
          <a:bodyPr/>
          <a:lstStyle/>
          <a:p>
            <a:endParaRPr lang="ko-KR" altLang="en-US"/>
          </a:p>
        </p:txBody>
      </p:sp>
      <p:sp>
        <p:nvSpPr>
          <p:cNvPr id="29" name="Text 27"/>
          <p:cNvSpPr/>
          <p:nvPr/>
        </p:nvSpPr>
        <p:spPr>
          <a:xfrm>
            <a:off x="2166032" y="228412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26.92%</a:t>
            </a:r>
            <a:endParaRPr lang="en-US" sz="1050" dirty="0"/>
          </a:p>
        </p:txBody>
      </p:sp>
      <p:sp>
        <p:nvSpPr>
          <p:cNvPr id="30" name="Shape 28"/>
          <p:cNvSpPr/>
          <p:nvPr/>
        </p:nvSpPr>
        <p:spPr>
          <a:xfrm>
            <a:off x="3744951" y="2240808"/>
            <a:ext cx="1603185" cy="368781"/>
          </a:xfrm>
          <a:prstGeom prst="rect">
            <a:avLst/>
          </a:prstGeom>
          <a:solidFill>
            <a:srgbClr val="FFFFFF"/>
          </a:solidFill>
          <a:ln/>
        </p:spPr>
        <p:txBody>
          <a:bodyPr/>
          <a:lstStyle/>
          <a:p>
            <a:endParaRPr lang="ko-KR" altLang="en-US"/>
          </a:p>
        </p:txBody>
      </p:sp>
      <p:sp>
        <p:nvSpPr>
          <p:cNvPr id="31" name="Shape 29"/>
          <p:cNvSpPr/>
          <p:nvPr/>
        </p:nvSpPr>
        <p:spPr>
          <a:xfrm>
            <a:off x="3744951" y="2240808"/>
            <a:ext cx="1603185" cy="9525"/>
          </a:xfrm>
          <a:prstGeom prst="rect">
            <a:avLst/>
          </a:prstGeom>
          <a:solidFill>
            <a:srgbClr val="EADFD3"/>
          </a:solidFill>
          <a:ln/>
        </p:spPr>
        <p:txBody>
          <a:bodyPr/>
          <a:lstStyle/>
          <a:p>
            <a:endParaRPr lang="ko-KR" altLang="en-US"/>
          </a:p>
        </p:txBody>
      </p:sp>
      <p:sp>
        <p:nvSpPr>
          <p:cNvPr id="32" name="Shape 30"/>
          <p:cNvSpPr/>
          <p:nvPr/>
        </p:nvSpPr>
        <p:spPr>
          <a:xfrm>
            <a:off x="3744951" y="2240808"/>
            <a:ext cx="9525" cy="368781"/>
          </a:xfrm>
          <a:prstGeom prst="rect">
            <a:avLst/>
          </a:prstGeom>
          <a:solidFill>
            <a:srgbClr val="EADFD3"/>
          </a:solidFill>
          <a:ln/>
        </p:spPr>
        <p:txBody>
          <a:bodyPr/>
          <a:lstStyle/>
          <a:p>
            <a:endParaRPr lang="ko-KR" altLang="en-US"/>
          </a:p>
        </p:txBody>
      </p:sp>
      <p:sp>
        <p:nvSpPr>
          <p:cNvPr id="33" name="Text 31"/>
          <p:cNvSpPr/>
          <p:nvPr/>
        </p:nvSpPr>
        <p:spPr>
          <a:xfrm>
            <a:off x="3769218" y="228412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29.2%</a:t>
            </a:r>
            <a:endParaRPr lang="en-US" sz="1050" dirty="0"/>
          </a:p>
        </p:txBody>
      </p:sp>
      <p:sp>
        <p:nvSpPr>
          <p:cNvPr id="34" name="Shape 32"/>
          <p:cNvSpPr/>
          <p:nvPr/>
        </p:nvSpPr>
        <p:spPr>
          <a:xfrm>
            <a:off x="5348136" y="2240808"/>
            <a:ext cx="1603185" cy="368781"/>
          </a:xfrm>
          <a:prstGeom prst="rect">
            <a:avLst/>
          </a:prstGeom>
          <a:solidFill>
            <a:srgbClr val="FFFFFF"/>
          </a:solidFill>
          <a:ln/>
        </p:spPr>
        <p:txBody>
          <a:bodyPr/>
          <a:lstStyle/>
          <a:p>
            <a:endParaRPr lang="ko-KR" altLang="en-US"/>
          </a:p>
        </p:txBody>
      </p:sp>
      <p:sp>
        <p:nvSpPr>
          <p:cNvPr id="35" name="Shape 33"/>
          <p:cNvSpPr/>
          <p:nvPr/>
        </p:nvSpPr>
        <p:spPr>
          <a:xfrm>
            <a:off x="5348136" y="2240808"/>
            <a:ext cx="1603185" cy="9525"/>
          </a:xfrm>
          <a:prstGeom prst="rect">
            <a:avLst/>
          </a:prstGeom>
          <a:solidFill>
            <a:srgbClr val="EADFD3"/>
          </a:solidFill>
          <a:ln/>
        </p:spPr>
        <p:txBody>
          <a:bodyPr/>
          <a:lstStyle/>
          <a:p>
            <a:endParaRPr lang="ko-KR" altLang="en-US"/>
          </a:p>
        </p:txBody>
      </p:sp>
      <p:sp>
        <p:nvSpPr>
          <p:cNvPr id="36" name="Shape 34"/>
          <p:cNvSpPr/>
          <p:nvPr/>
        </p:nvSpPr>
        <p:spPr>
          <a:xfrm>
            <a:off x="5348136" y="2240808"/>
            <a:ext cx="9525" cy="368781"/>
          </a:xfrm>
          <a:prstGeom prst="rect">
            <a:avLst/>
          </a:prstGeom>
          <a:solidFill>
            <a:srgbClr val="EADFD3"/>
          </a:solidFill>
          <a:ln/>
        </p:spPr>
        <p:txBody>
          <a:bodyPr/>
          <a:lstStyle/>
          <a:p>
            <a:endParaRPr lang="ko-KR" altLang="en-US"/>
          </a:p>
        </p:txBody>
      </p:sp>
      <p:sp>
        <p:nvSpPr>
          <p:cNvPr id="37" name="Text 35"/>
          <p:cNvSpPr/>
          <p:nvPr/>
        </p:nvSpPr>
        <p:spPr>
          <a:xfrm>
            <a:off x="5372403" y="228412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25%</a:t>
            </a:r>
            <a:endParaRPr lang="en-US" sz="1050" dirty="0"/>
          </a:p>
        </p:txBody>
      </p:sp>
      <p:sp>
        <p:nvSpPr>
          <p:cNvPr id="38" name="Shape 36"/>
          <p:cNvSpPr/>
          <p:nvPr/>
        </p:nvSpPr>
        <p:spPr>
          <a:xfrm>
            <a:off x="6951322" y="2240808"/>
            <a:ext cx="1603185" cy="368781"/>
          </a:xfrm>
          <a:prstGeom prst="rect">
            <a:avLst/>
          </a:prstGeom>
          <a:solidFill>
            <a:srgbClr val="FFFFFF"/>
          </a:solidFill>
          <a:ln/>
        </p:spPr>
        <p:txBody>
          <a:bodyPr/>
          <a:lstStyle/>
          <a:p>
            <a:endParaRPr lang="ko-KR" altLang="en-US"/>
          </a:p>
        </p:txBody>
      </p:sp>
      <p:sp>
        <p:nvSpPr>
          <p:cNvPr id="39" name="Shape 37"/>
          <p:cNvSpPr/>
          <p:nvPr/>
        </p:nvSpPr>
        <p:spPr>
          <a:xfrm>
            <a:off x="6951322" y="2240808"/>
            <a:ext cx="1603185" cy="9525"/>
          </a:xfrm>
          <a:prstGeom prst="rect">
            <a:avLst/>
          </a:prstGeom>
          <a:solidFill>
            <a:srgbClr val="EADFD3"/>
          </a:solidFill>
          <a:ln/>
        </p:spPr>
        <p:txBody>
          <a:bodyPr/>
          <a:lstStyle/>
          <a:p>
            <a:endParaRPr lang="ko-KR" altLang="en-US"/>
          </a:p>
        </p:txBody>
      </p:sp>
      <p:sp>
        <p:nvSpPr>
          <p:cNvPr id="40" name="Shape 38"/>
          <p:cNvSpPr/>
          <p:nvPr/>
        </p:nvSpPr>
        <p:spPr>
          <a:xfrm>
            <a:off x="6951322" y="2240808"/>
            <a:ext cx="9525" cy="368781"/>
          </a:xfrm>
          <a:prstGeom prst="rect">
            <a:avLst/>
          </a:prstGeom>
          <a:solidFill>
            <a:srgbClr val="EADFD3"/>
          </a:solidFill>
          <a:ln/>
        </p:spPr>
        <p:txBody>
          <a:bodyPr/>
          <a:lstStyle/>
          <a:p>
            <a:endParaRPr lang="ko-KR" altLang="en-US"/>
          </a:p>
        </p:txBody>
      </p:sp>
      <p:sp>
        <p:nvSpPr>
          <p:cNvPr id="41" name="Text 39"/>
          <p:cNvSpPr/>
          <p:nvPr/>
        </p:nvSpPr>
        <p:spPr>
          <a:xfrm>
            <a:off x="6975589" y="228412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23.63%</a:t>
            </a:r>
            <a:endParaRPr lang="en-US" sz="1050" dirty="0"/>
          </a:p>
        </p:txBody>
      </p:sp>
      <p:sp>
        <p:nvSpPr>
          <p:cNvPr id="42" name="Shape 40"/>
          <p:cNvSpPr/>
          <p:nvPr/>
        </p:nvSpPr>
        <p:spPr>
          <a:xfrm>
            <a:off x="8554507" y="2240808"/>
            <a:ext cx="1603430" cy="368781"/>
          </a:xfrm>
          <a:prstGeom prst="rect">
            <a:avLst/>
          </a:prstGeom>
          <a:solidFill>
            <a:srgbClr val="FFFFFF"/>
          </a:solidFill>
          <a:ln/>
        </p:spPr>
        <p:txBody>
          <a:bodyPr/>
          <a:lstStyle/>
          <a:p>
            <a:endParaRPr lang="ko-KR" altLang="en-US"/>
          </a:p>
        </p:txBody>
      </p:sp>
      <p:sp>
        <p:nvSpPr>
          <p:cNvPr id="43" name="Shape 41"/>
          <p:cNvSpPr/>
          <p:nvPr/>
        </p:nvSpPr>
        <p:spPr>
          <a:xfrm>
            <a:off x="8554507" y="2240808"/>
            <a:ext cx="1603430" cy="9525"/>
          </a:xfrm>
          <a:prstGeom prst="rect">
            <a:avLst/>
          </a:prstGeom>
          <a:solidFill>
            <a:srgbClr val="EADFD3"/>
          </a:solidFill>
          <a:ln/>
        </p:spPr>
        <p:txBody>
          <a:bodyPr/>
          <a:lstStyle/>
          <a:p>
            <a:endParaRPr lang="ko-KR" altLang="en-US"/>
          </a:p>
        </p:txBody>
      </p:sp>
      <p:sp>
        <p:nvSpPr>
          <p:cNvPr id="44" name="Shape 42"/>
          <p:cNvSpPr/>
          <p:nvPr/>
        </p:nvSpPr>
        <p:spPr>
          <a:xfrm>
            <a:off x="8554507" y="2240808"/>
            <a:ext cx="9525" cy="368781"/>
          </a:xfrm>
          <a:prstGeom prst="rect">
            <a:avLst/>
          </a:prstGeom>
          <a:solidFill>
            <a:srgbClr val="EADFD3"/>
          </a:solidFill>
          <a:ln/>
        </p:spPr>
        <p:txBody>
          <a:bodyPr/>
          <a:lstStyle/>
          <a:p>
            <a:endParaRPr lang="ko-KR" altLang="en-US"/>
          </a:p>
        </p:txBody>
      </p:sp>
      <p:sp>
        <p:nvSpPr>
          <p:cNvPr id="45" name="Text 43"/>
          <p:cNvSpPr/>
          <p:nvPr/>
        </p:nvSpPr>
        <p:spPr>
          <a:xfrm>
            <a:off x="8578774" y="2284125"/>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28.9%</a:t>
            </a:r>
            <a:endParaRPr lang="en-US" sz="1050" dirty="0"/>
          </a:p>
        </p:txBody>
      </p:sp>
      <p:sp>
        <p:nvSpPr>
          <p:cNvPr id="46" name="Shape 44"/>
          <p:cNvSpPr/>
          <p:nvPr/>
        </p:nvSpPr>
        <p:spPr>
          <a:xfrm>
            <a:off x="538580" y="2609588"/>
            <a:ext cx="1603185" cy="368781"/>
          </a:xfrm>
          <a:prstGeom prst="rect">
            <a:avLst/>
          </a:prstGeom>
          <a:solidFill>
            <a:srgbClr val="FCF8EC"/>
          </a:solidFill>
          <a:ln/>
        </p:spPr>
        <p:txBody>
          <a:bodyPr/>
          <a:lstStyle/>
          <a:p>
            <a:endParaRPr lang="ko-KR" altLang="en-US"/>
          </a:p>
        </p:txBody>
      </p:sp>
      <p:sp>
        <p:nvSpPr>
          <p:cNvPr id="47" name="Shape 45"/>
          <p:cNvSpPr/>
          <p:nvPr/>
        </p:nvSpPr>
        <p:spPr>
          <a:xfrm>
            <a:off x="538580" y="2609588"/>
            <a:ext cx="1603185" cy="9525"/>
          </a:xfrm>
          <a:prstGeom prst="rect">
            <a:avLst/>
          </a:prstGeom>
          <a:solidFill>
            <a:srgbClr val="EADFD3"/>
          </a:solidFill>
          <a:ln/>
        </p:spPr>
        <p:txBody>
          <a:bodyPr/>
          <a:lstStyle/>
          <a:p>
            <a:endParaRPr lang="ko-KR" altLang="en-US"/>
          </a:p>
        </p:txBody>
      </p:sp>
      <p:sp>
        <p:nvSpPr>
          <p:cNvPr id="48" name="Text 46"/>
          <p:cNvSpPr/>
          <p:nvPr/>
        </p:nvSpPr>
        <p:spPr>
          <a:xfrm>
            <a:off x="557630" y="2652905"/>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2년</a:t>
            </a:r>
            <a:endParaRPr lang="en-US" sz="1050" dirty="0"/>
          </a:p>
        </p:txBody>
      </p:sp>
      <p:sp>
        <p:nvSpPr>
          <p:cNvPr id="49" name="Shape 47"/>
          <p:cNvSpPr/>
          <p:nvPr/>
        </p:nvSpPr>
        <p:spPr>
          <a:xfrm>
            <a:off x="2141765" y="2609588"/>
            <a:ext cx="1603185" cy="368781"/>
          </a:xfrm>
          <a:prstGeom prst="rect">
            <a:avLst/>
          </a:prstGeom>
          <a:solidFill>
            <a:srgbClr val="FFFFFF"/>
          </a:solidFill>
          <a:ln/>
        </p:spPr>
        <p:txBody>
          <a:bodyPr/>
          <a:lstStyle/>
          <a:p>
            <a:endParaRPr lang="ko-KR" altLang="en-US"/>
          </a:p>
        </p:txBody>
      </p:sp>
      <p:sp>
        <p:nvSpPr>
          <p:cNvPr id="50" name="Shape 48"/>
          <p:cNvSpPr/>
          <p:nvPr/>
        </p:nvSpPr>
        <p:spPr>
          <a:xfrm>
            <a:off x="2141765" y="2609588"/>
            <a:ext cx="1603185" cy="9525"/>
          </a:xfrm>
          <a:prstGeom prst="rect">
            <a:avLst/>
          </a:prstGeom>
          <a:solidFill>
            <a:srgbClr val="EADFD3"/>
          </a:solidFill>
          <a:ln/>
        </p:spPr>
        <p:txBody>
          <a:bodyPr/>
          <a:lstStyle/>
          <a:p>
            <a:endParaRPr lang="ko-KR" altLang="en-US"/>
          </a:p>
        </p:txBody>
      </p:sp>
      <p:sp>
        <p:nvSpPr>
          <p:cNvPr id="51" name="Shape 49"/>
          <p:cNvSpPr/>
          <p:nvPr/>
        </p:nvSpPr>
        <p:spPr>
          <a:xfrm>
            <a:off x="2141765" y="2609588"/>
            <a:ext cx="9525" cy="368781"/>
          </a:xfrm>
          <a:prstGeom prst="rect">
            <a:avLst/>
          </a:prstGeom>
          <a:solidFill>
            <a:srgbClr val="EADFD3"/>
          </a:solidFill>
          <a:ln/>
        </p:spPr>
        <p:txBody>
          <a:bodyPr/>
          <a:lstStyle/>
          <a:p>
            <a:endParaRPr lang="ko-KR" altLang="en-US"/>
          </a:p>
        </p:txBody>
      </p:sp>
      <p:sp>
        <p:nvSpPr>
          <p:cNvPr id="52" name="Text 50"/>
          <p:cNvSpPr/>
          <p:nvPr/>
        </p:nvSpPr>
        <p:spPr>
          <a:xfrm>
            <a:off x="2166032" y="265290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36.09%</a:t>
            </a:r>
            <a:endParaRPr lang="en-US" sz="1050" dirty="0"/>
          </a:p>
        </p:txBody>
      </p:sp>
      <p:sp>
        <p:nvSpPr>
          <p:cNvPr id="53" name="Shape 51"/>
          <p:cNvSpPr/>
          <p:nvPr/>
        </p:nvSpPr>
        <p:spPr>
          <a:xfrm>
            <a:off x="3744951" y="2609588"/>
            <a:ext cx="1603185" cy="368781"/>
          </a:xfrm>
          <a:prstGeom prst="rect">
            <a:avLst/>
          </a:prstGeom>
          <a:solidFill>
            <a:srgbClr val="FFFFFF"/>
          </a:solidFill>
          <a:ln/>
        </p:spPr>
        <p:txBody>
          <a:bodyPr/>
          <a:lstStyle/>
          <a:p>
            <a:endParaRPr lang="ko-KR" altLang="en-US"/>
          </a:p>
        </p:txBody>
      </p:sp>
      <p:sp>
        <p:nvSpPr>
          <p:cNvPr id="54" name="Shape 52"/>
          <p:cNvSpPr/>
          <p:nvPr/>
        </p:nvSpPr>
        <p:spPr>
          <a:xfrm>
            <a:off x="3744951" y="2609588"/>
            <a:ext cx="1603185" cy="9525"/>
          </a:xfrm>
          <a:prstGeom prst="rect">
            <a:avLst/>
          </a:prstGeom>
          <a:solidFill>
            <a:srgbClr val="EADFD3"/>
          </a:solidFill>
          <a:ln/>
        </p:spPr>
        <p:txBody>
          <a:bodyPr/>
          <a:lstStyle/>
          <a:p>
            <a:endParaRPr lang="ko-KR" altLang="en-US"/>
          </a:p>
        </p:txBody>
      </p:sp>
      <p:sp>
        <p:nvSpPr>
          <p:cNvPr id="55" name="Shape 53"/>
          <p:cNvSpPr/>
          <p:nvPr/>
        </p:nvSpPr>
        <p:spPr>
          <a:xfrm>
            <a:off x="3744951" y="2609588"/>
            <a:ext cx="9525" cy="368781"/>
          </a:xfrm>
          <a:prstGeom prst="rect">
            <a:avLst/>
          </a:prstGeom>
          <a:solidFill>
            <a:srgbClr val="EADFD3"/>
          </a:solidFill>
          <a:ln/>
        </p:spPr>
        <p:txBody>
          <a:bodyPr/>
          <a:lstStyle/>
          <a:p>
            <a:endParaRPr lang="ko-KR" altLang="en-US"/>
          </a:p>
        </p:txBody>
      </p:sp>
      <p:sp>
        <p:nvSpPr>
          <p:cNvPr id="56" name="Text 54"/>
          <p:cNvSpPr/>
          <p:nvPr/>
        </p:nvSpPr>
        <p:spPr>
          <a:xfrm>
            <a:off x="3769218" y="265290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37.2%</a:t>
            </a:r>
            <a:endParaRPr lang="en-US" sz="1050" dirty="0"/>
          </a:p>
        </p:txBody>
      </p:sp>
      <p:sp>
        <p:nvSpPr>
          <p:cNvPr id="57" name="Shape 55"/>
          <p:cNvSpPr/>
          <p:nvPr/>
        </p:nvSpPr>
        <p:spPr>
          <a:xfrm>
            <a:off x="5348136" y="2609588"/>
            <a:ext cx="1603185" cy="368781"/>
          </a:xfrm>
          <a:prstGeom prst="rect">
            <a:avLst/>
          </a:prstGeom>
          <a:solidFill>
            <a:srgbClr val="FFFFFF"/>
          </a:solidFill>
          <a:ln/>
        </p:spPr>
        <p:txBody>
          <a:bodyPr/>
          <a:lstStyle/>
          <a:p>
            <a:endParaRPr lang="ko-KR" altLang="en-US"/>
          </a:p>
        </p:txBody>
      </p:sp>
      <p:sp>
        <p:nvSpPr>
          <p:cNvPr id="58" name="Shape 56"/>
          <p:cNvSpPr/>
          <p:nvPr/>
        </p:nvSpPr>
        <p:spPr>
          <a:xfrm>
            <a:off x="5348136" y="2609588"/>
            <a:ext cx="1603185" cy="9525"/>
          </a:xfrm>
          <a:prstGeom prst="rect">
            <a:avLst/>
          </a:prstGeom>
          <a:solidFill>
            <a:srgbClr val="EADFD3"/>
          </a:solidFill>
          <a:ln/>
        </p:spPr>
        <p:txBody>
          <a:bodyPr/>
          <a:lstStyle/>
          <a:p>
            <a:endParaRPr lang="ko-KR" altLang="en-US"/>
          </a:p>
        </p:txBody>
      </p:sp>
      <p:sp>
        <p:nvSpPr>
          <p:cNvPr id="59" name="Shape 57"/>
          <p:cNvSpPr/>
          <p:nvPr/>
        </p:nvSpPr>
        <p:spPr>
          <a:xfrm>
            <a:off x="5348136" y="2609588"/>
            <a:ext cx="9525" cy="368781"/>
          </a:xfrm>
          <a:prstGeom prst="rect">
            <a:avLst/>
          </a:prstGeom>
          <a:solidFill>
            <a:srgbClr val="EADFD3"/>
          </a:solidFill>
          <a:ln/>
        </p:spPr>
        <p:txBody>
          <a:bodyPr/>
          <a:lstStyle/>
          <a:p>
            <a:endParaRPr lang="ko-KR" altLang="en-US"/>
          </a:p>
        </p:txBody>
      </p:sp>
      <p:sp>
        <p:nvSpPr>
          <p:cNvPr id="60" name="Text 58"/>
          <p:cNvSpPr/>
          <p:nvPr/>
        </p:nvSpPr>
        <p:spPr>
          <a:xfrm>
            <a:off x="5372403" y="265290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34%</a:t>
            </a:r>
            <a:endParaRPr lang="en-US" sz="1050" dirty="0"/>
          </a:p>
        </p:txBody>
      </p:sp>
      <p:sp>
        <p:nvSpPr>
          <p:cNvPr id="61" name="Shape 59"/>
          <p:cNvSpPr/>
          <p:nvPr/>
        </p:nvSpPr>
        <p:spPr>
          <a:xfrm>
            <a:off x="6951322" y="2609588"/>
            <a:ext cx="1603185" cy="368781"/>
          </a:xfrm>
          <a:prstGeom prst="rect">
            <a:avLst/>
          </a:prstGeom>
          <a:solidFill>
            <a:srgbClr val="FFFFFF"/>
          </a:solidFill>
          <a:ln/>
        </p:spPr>
        <p:txBody>
          <a:bodyPr/>
          <a:lstStyle/>
          <a:p>
            <a:endParaRPr lang="ko-KR" altLang="en-US"/>
          </a:p>
        </p:txBody>
      </p:sp>
      <p:sp>
        <p:nvSpPr>
          <p:cNvPr id="62" name="Shape 60"/>
          <p:cNvSpPr/>
          <p:nvPr/>
        </p:nvSpPr>
        <p:spPr>
          <a:xfrm>
            <a:off x="6951322" y="2609588"/>
            <a:ext cx="1603185" cy="9525"/>
          </a:xfrm>
          <a:prstGeom prst="rect">
            <a:avLst/>
          </a:prstGeom>
          <a:solidFill>
            <a:srgbClr val="EADFD3"/>
          </a:solidFill>
          <a:ln/>
        </p:spPr>
        <p:txBody>
          <a:bodyPr/>
          <a:lstStyle/>
          <a:p>
            <a:endParaRPr lang="ko-KR" altLang="en-US"/>
          </a:p>
        </p:txBody>
      </p:sp>
      <p:sp>
        <p:nvSpPr>
          <p:cNvPr id="63" name="Shape 61"/>
          <p:cNvSpPr/>
          <p:nvPr/>
        </p:nvSpPr>
        <p:spPr>
          <a:xfrm>
            <a:off x="6951322" y="2609588"/>
            <a:ext cx="9525" cy="368781"/>
          </a:xfrm>
          <a:prstGeom prst="rect">
            <a:avLst/>
          </a:prstGeom>
          <a:solidFill>
            <a:srgbClr val="EADFD3"/>
          </a:solidFill>
          <a:ln/>
        </p:spPr>
        <p:txBody>
          <a:bodyPr/>
          <a:lstStyle/>
          <a:p>
            <a:endParaRPr lang="ko-KR" altLang="en-US"/>
          </a:p>
        </p:txBody>
      </p:sp>
      <p:sp>
        <p:nvSpPr>
          <p:cNvPr id="64" name="Text 62"/>
          <p:cNvSpPr/>
          <p:nvPr/>
        </p:nvSpPr>
        <p:spPr>
          <a:xfrm>
            <a:off x="6975589" y="2652905"/>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33.71%</a:t>
            </a:r>
            <a:endParaRPr lang="en-US" sz="1050" dirty="0"/>
          </a:p>
        </p:txBody>
      </p:sp>
      <p:sp>
        <p:nvSpPr>
          <p:cNvPr id="65" name="Shape 63"/>
          <p:cNvSpPr/>
          <p:nvPr/>
        </p:nvSpPr>
        <p:spPr>
          <a:xfrm>
            <a:off x="8554507" y="2609588"/>
            <a:ext cx="1603430" cy="368781"/>
          </a:xfrm>
          <a:prstGeom prst="rect">
            <a:avLst/>
          </a:prstGeom>
          <a:solidFill>
            <a:srgbClr val="FFFFFF"/>
          </a:solidFill>
          <a:ln/>
        </p:spPr>
        <p:txBody>
          <a:bodyPr/>
          <a:lstStyle/>
          <a:p>
            <a:endParaRPr lang="ko-KR" altLang="en-US"/>
          </a:p>
        </p:txBody>
      </p:sp>
      <p:sp>
        <p:nvSpPr>
          <p:cNvPr id="66" name="Shape 64"/>
          <p:cNvSpPr/>
          <p:nvPr/>
        </p:nvSpPr>
        <p:spPr>
          <a:xfrm>
            <a:off x="8554507" y="2609588"/>
            <a:ext cx="1603430" cy="9525"/>
          </a:xfrm>
          <a:prstGeom prst="rect">
            <a:avLst/>
          </a:prstGeom>
          <a:solidFill>
            <a:srgbClr val="EADFD3"/>
          </a:solidFill>
          <a:ln/>
        </p:spPr>
        <p:txBody>
          <a:bodyPr/>
          <a:lstStyle/>
          <a:p>
            <a:endParaRPr lang="ko-KR" altLang="en-US"/>
          </a:p>
        </p:txBody>
      </p:sp>
      <p:sp>
        <p:nvSpPr>
          <p:cNvPr id="67" name="Shape 65"/>
          <p:cNvSpPr/>
          <p:nvPr/>
        </p:nvSpPr>
        <p:spPr>
          <a:xfrm>
            <a:off x="8554507" y="2609588"/>
            <a:ext cx="9525" cy="368781"/>
          </a:xfrm>
          <a:prstGeom prst="rect">
            <a:avLst/>
          </a:prstGeom>
          <a:solidFill>
            <a:srgbClr val="EADFD3"/>
          </a:solidFill>
          <a:ln/>
        </p:spPr>
        <p:txBody>
          <a:bodyPr/>
          <a:lstStyle/>
          <a:p>
            <a:endParaRPr lang="ko-KR" altLang="en-US"/>
          </a:p>
        </p:txBody>
      </p:sp>
      <p:sp>
        <p:nvSpPr>
          <p:cNvPr id="68" name="Text 66"/>
          <p:cNvSpPr/>
          <p:nvPr/>
        </p:nvSpPr>
        <p:spPr>
          <a:xfrm>
            <a:off x="8578774" y="2652905"/>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37.1%</a:t>
            </a:r>
            <a:endParaRPr lang="en-US" sz="1050" dirty="0"/>
          </a:p>
        </p:txBody>
      </p:sp>
      <p:sp>
        <p:nvSpPr>
          <p:cNvPr id="69" name="Shape 67"/>
          <p:cNvSpPr/>
          <p:nvPr/>
        </p:nvSpPr>
        <p:spPr>
          <a:xfrm>
            <a:off x="538580" y="2978369"/>
            <a:ext cx="1603185" cy="368781"/>
          </a:xfrm>
          <a:prstGeom prst="rect">
            <a:avLst/>
          </a:prstGeom>
          <a:solidFill>
            <a:srgbClr val="FCF8EC"/>
          </a:solidFill>
          <a:ln/>
        </p:spPr>
        <p:txBody>
          <a:bodyPr/>
          <a:lstStyle/>
          <a:p>
            <a:endParaRPr lang="ko-KR" altLang="en-US"/>
          </a:p>
        </p:txBody>
      </p:sp>
      <p:sp>
        <p:nvSpPr>
          <p:cNvPr id="70" name="Shape 68"/>
          <p:cNvSpPr/>
          <p:nvPr/>
        </p:nvSpPr>
        <p:spPr>
          <a:xfrm>
            <a:off x="538580" y="2978369"/>
            <a:ext cx="1603185" cy="9525"/>
          </a:xfrm>
          <a:prstGeom prst="rect">
            <a:avLst/>
          </a:prstGeom>
          <a:solidFill>
            <a:srgbClr val="EADFD3"/>
          </a:solidFill>
          <a:ln/>
        </p:spPr>
        <p:txBody>
          <a:bodyPr/>
          <a:lstStyle/>
          <a:p>
            <a:endParaRPr lang="ko-KR" altLang="en-US"/>
          </a:p>
        </p:txBody>
      </p:sp>
      <p:sp>
        <p:nvSpPr>
          <p:cNvPr id="71" name="Text 69"/>
          <p:cNvSpPr/>
          <p:nvPr/>
        </p:nvSpPr>
        <p:spPr>
          <a:xfrm>
            <a:off x="557630" y="3021686"/>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3년</a:t>
            </a:r>
            <a:endParaRPr lang="en-US" sz="1050" dirty="0"/>
          </a:p>
        </p:txBody>
      </p:sp>
      <p:sp>
        <p:nvSpPr>
          <p:cNvPr id="72" name="Shape 70"/>
          <p:cNvSpPr/>
          <p:nvPr/>
        </p:nvSpPr>
        <p:spPr>
          <a:xfrm>
            <a:off x="2141765" y="2978369"/>
            <a:ext cx="1603185" cy="368781"/>
          </a:xfrm>
          <a:prstGeom prst="rect">
            <a:avLst/>
          </a:prstGeom>
          <a:solidFill>
            <a:srgbClr val="FFFFFF"/>
          </a:solidFill>
          <a:ln/>
        </p:spPr>
        <p:txBody>
          <a:bodyPr/>
          <a:lstStyle/>
          <a:p>
            <a:endParaRPr lang="ko-KR" altLang="en-US"/>
          </a:p>
        </p:txBody>
      </p:sp>
      <p:sp>
        <p:nvSpPr>
          <p:cNvPr id="73" name="Shape 71"/>
          <p:cNvSpPr/>
          <p:nvPr/>
        </p:nvSpPr>
        <p:spPr>
          <a:xfrm>
            <a:off x="2141765" y="2978369"/>
            <a:ext cx="1603185" cy="9525"/>
          </a:xfrm>
          <a:prstGeom prst="rect">
            <a:avLst/>
          </a:prstGeom>
          <a:solidFill>
            <a:srgbClr val="EADFD3"/>
          </a:solidFill>
          <a:ln/>
        </p:spPr>
        <p:txBody>
          <a:bodyPr/>
          <a:lstStyle/>
          <a:p>
            <a:endParaRPr lang="ko-KR" altLang="en-US"/>
          </a:p>
        </p:txBody>
      </p:sp>
      <p:sp>
        <p:nvSpPr>
          <p:cNvPr id="74" name="Shape 72"/>
          <p:cNvSpPr/>
          <p:nvPr/>
        </p:nvSpPr>
        <p:spPr>
          <a:xfrm>
            <a:off x="2141765" y="2978369"/>
            <a:ext cx="9525" cy="368781"/>
          </a:xfrm>
          <a:prstGeom prst="rect">
            <a:avLst/>
          </a:prstGeom>
          <a:solidFill>
            <a:srgbClr val="EADFD3"/>
          </a:solidFill>
          <a:ln/>
        </p:spPr>
        <p:txBody>
          <a:bodyPr/>
          <a:lstStyle/>
          <a:p>
            <a:endParaRPr lang="ko-KR" altLang="en-US"/>
          </a:p>
        </p:txBody>
      </p:sp>
      <p:sp>
        <p:nvSpPr>
          <p:cNvPr id="75" name="Text 73"/>
          <p:cNvSpPr/>
          <p:nvPr/>
        </p:nvSpPr>
        <p:spPr>
          <a:xfrm>
            <a:off x="2166032" y="3021686"/>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39.54%</a:t>
            </a:r>
            <a:endParaRPr lang="en-US" sz="1050" dirty="0"/>
          </a:p>
        </p:txBody>
      </p:sp>
      <p:sp>
        <p:nvSpPr>
          <p:cNvPr id="76" name="Shape 74"/>
          <p:cNvSpPr/>
          <p:nvPr/>
        </p:nvSpPr>
        <p:spPr>
          <a:xfrm>
            <a:off x="3744951" y="2978369"/>
            <a:ext cx="1603185" cy="368781"/>
          </a:xfrm>
          <a:prstGeom prst="rect">
            <a:avLst/>
          </a:prstGeom>
          <a:solidFill>
            <a:srgbClr val="FFFFFF"/>
          </a:solidFill>
          <a:ln/>
        </p:spPr>
        <p:txBody>
          <a:bodyPr/>
          <a:lstStyle/>
          <a:p>
            <a:endParaRPr lang="ko-KR" altLang="en-US"/>
          </a:p>
        </p:txBody>
      </p:sp>
      <p:sp>
        <p:nvSpPr>
          <p:cNvPr id="77" name="Shape 75"/>
          <p:cNvSpPr/>
          <p:nvPr/>
        </p:nvSpPr>
        <p:spPr>
          <a:xfrm>
            <a:off x="3744951" y="2978369"/>
            <a:ext cx="1603185" cy="9525"/>
          </a:xfrm>
          <a:prstGeom prst="rect">
            <a:avLst/>
          </a:prstGeom>
          <a:solidFill>
            <a:srgbClr val="EADFD3"/>
          </a:solidFill>
          <a:ln/>
        </p:spPr>
        <p:txBody>
          <a:bodyPr/>
          <a:lstStyle/>
          <a:p>
            <a:endParaRPr lang="ko-KR" altLang="en-US"/>
          </a:p>
        </p:txBody>
      </p:sp>
      <p:sp>
        <p:nvSpPr>
          <p:cNvPr id="78" name="Shape 76"/>
          <p:cNvSpPr/>
          <p:nvPr/>
        </p:nvSpPr>
        <p:spPr>
          <a:xfrm>
            <a:off x="3744951" y="2978369"/>
            <a:ext cx="9525" cy="368781"/>
          </a:xfrm>
          <a:prstGeom prst="rect">
            <a:avLst/>
          </a:prstGeom>
          <a:solidFill>
            <a:srgbClr val="EADFD3"/>
          </a:solidFill>
          <a:ln/>
        </p:spPr>
        <p:txBody>
          <a:bodyPr/>
          <a:lstStyle/>
          <a:p>
            <a:endParaRPr lang="ko-KR" altLang="en-US"/>
          </a:p>
        </p:txBody>
      </p:sp>
      <p:sp>
        <p:nvSpPr>
          <p:cNvPr id="79" name="Text 77"/>
          <p:cNvSpPr/>
          <p:nvPr/>
        </p:nvSpPr>
        <p:spPr>
          <a:xfrm>
            <a:off x="3769218" y="3021686"/>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40.1%</a:t>
            </a:r>
            <a:endParaRPr lang="en-US" sz="1050" dirty="0"/>
          </a:p>
        </p:txBody>
      </p:sp>
      <p:sp>
        <p:nvSpPr>
          <p:cNvPr id="80" name="Shape 78"/>
          <p:cNvSpPr/>
          <p:nvPr/>
        </p:nvSpPr>
        <p:spPr>
          <a:xfrm>
            <a:off x="5348136" y="2978369"/>
            <a:ext cx="1603185" cy="368781"/>
          </a:xfrm>
          <a:prstGeom prst="rect">
            <a:avLst/>
          </a:prstGeom>
          <a:solidFill>
            <a:srgbClr val="FFFFFF"/>
          </a:solidFill>
          <a:ln/>
        </p:spPr>
        <p:txBody>
          <a:bodyPr/>
          <a:lstStyle/>
          <a:p>
            <a:endParaRPr lang="ko-KR" altLang="en-US"/>
          </a:p>
        </p:txBody>
      </p:sp>
      <p:sp>
        <p:nvSpPr>
          <p:cNvPr id="81" name="Shape 79"/>
          <p:cNvSpPr/>
          <p:nvPr/>
        </p:nvSpPr>
        <p:spPr>
          <a:xfrm>
            <a:off x="5348136" y="2978369"/>
            <a:ext cx="1603185" cy="9525"/>
          </a:xfrm>
          <a:prstGeom prst="rect">
            <a:avLst/>
          </a:prstGeom>
          <a:solidFill>
            <a:srgbClr val="EADFD3"/>
          </a:solidFill>
          <a:ln/>
        </p:spPr>
        <p:txBody>
          <a:bodyPr/>
          <a:lstStyle/>
          <a:p>
            <a:endParaRPr lang="ko-KR" altLang="en-US"/>
          </a:p>
        </p:txBody>
      </p:sp>
      <p:sp>
        <p:nvSpPr>
          <p:cNvPr id="82" name="Shape 80"/>
          <p:cNvSpPr/>
          <p:nvPr/>
        </p:nvSpPr>
        <p:spPr>
          <a:xfrm>
            <a:off x="5348136" y="2978369"/>
            <a:ext cx="9525" cy="368781"/>
          </a:xfrm>
          <a:prstGeom prst="rect">
            <a:avLst/>
          </a:prstGeom>
          <a:solidFill>
            <a:srgbClr val="EADFD3"/>
          </a:solidFill>
          <a:ln/>
        </p:spPr>
        <p:txBody>
          <a:bodyPr/>
          <a:lstStyle/>
          <a:p>
            <a:endParaRPr lang="ko-KR" altLang="en-US"/>
          </a:p>
        </p:txBody>
      </p:sp>
      <p:sp>
        <p:nvSpPr>
          <p:cNvPr id="83" name="Text 81"/>
          <p:cNvSpPr/>
          <p:nvPr/>
        </p:nvSpPr>
        <p:spPr>
          <a:xfrm>
            <a:off x="5372403" y="3021686"/>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37.5%</a:t>
            </a:r>
            <a:endParaRPr lang="en-US" sz="1050" dirty="0"/>
          </a:p>
        </p:txBody>
      </p:sp>
      <p:sp>
        <p:nvSpPr>
          <p:cNvPr id="84" name="Shape 82"/>
          <p:cNvSpPr/>
          <p:nvPr/>
        </p:nvSpPr>
        <p:spPr>
          <a:xfrm>
            <a:off x="6951322" y="2978369"/>
            <a:ext cx="1603185" cy="368781"/>
          </a:xfrm>
          <a:prstGeom prst="rect">
            <a:avLst/>
          </a:prstGeom>
          <a:solidFill>
            <a:srgbClr val="FFFFFF"/>
          </a:solidFill>
          <a:ln/>
        </p:spPr>
        <p:txBody>
          <a:bodyPr/>
          <a:lstStyle/>
          <a:p>
            <a:endParaRPr lang="ko-KR" altLang="en-US"/>
          </a:p>
        </p:txBody>
      </p:sp>
      <p:sp>
        <p:nvSpPr>
          <p:cNvPr id="85" name="Shape 83"/>
          <p:cNvSpPr/>
          <p:nvPr/>
        </p:nvSpPr>
        <p:spPr>
          <a:xfrm>
            <a:off x="6951322" y="2978369"/>
            <a:ext cx="1603185" cy="9525"/>
          </a:xfrm>
          <a:prstGeom prst="rect">
            <a:avLst/>
          </a:prstGeom>
          <a:solidFill>
            <a:srgbClr val="EADFD3"/>
          </a:solidFill>
          <a:ln/>
        </p:spPr>
        <p:txBody>
          <a:bodyPr/>
          <a:lstStyle/>
          <a:p>
            <a:endParaRPr lang="ko-KR" altLang="en-US"/>
          </a:p>
        </p:txBody>
      </p:sp>
      <p:sp>
        <p:nvSpPr>
          <p:cNvPr id="86" name="Shape 84"/>
          <p:cNvSpPr/>
          <p:nvPr/>
        </p:nvSpPr>
        <p:spPr>
          <a:xfrm>
            <a:off x="6951322" y="2978369"/>
            <a:ext cx="9525" cy="368781"/>
          </a:xfrm>
          <a:prstGeom prst="rect">
            <a:avLst/>
          </a:prstGeom>
          <a:solidFill>
            <a:srgbClr val="EADFD3"/>
          </a:solidFill>
          <a:ln/>
        </p:spPr>
        <p:txBody>
          <a:bodyPr/>
          <a:lstStyle/>
          <a:p>
            <a:endParaRPr lang="ko-KR" altLang="en-US"/>
          </a:p>
        </p:txBody>
      </p:sp>
      <p:sp>
        <p:nvSpPr>
          <p:cNvPr id="87" name="Text 85"/>
          <p:cNvSpPr/>
          <p:nvPr/>
        </p:nvSpPr>
        <p:spPr>
          <a:xfrm>
            <a:off x="6975589" y="3021686"/>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37.45%</a:t>
            </a:r>
            <a:endParaRPr lang="en-US" sz="1050" dirty="0"/>
          </a:p>
        </p:txBody>
      </p:sp>
      <p:sp>
        <p:nvSpPr>
          <p:cNvPr id="88" name="Shape 86"/>
          <p:cNvSpPr/>
          <p:nvPr/>
        </p:nvSpPr>
        <p:spPr>
          <a:xfrm>
            <a:off x="8554507" y="2978369"/>
            <a:ext cx="1603430" cy="368781"/>
          </a:xfrm>
          <a:prstGeom prst="rect">
            <a:avLst/>
          </a:prstGeom>
          <a:solidFill>
            <a:srgbClr val="FFFFFF"/>
          </a:solidFill>
          <a:ln/>
        </p:spPr>
        <p:txBody>
          <a:bodyPr/>
          <a:lstStyle/>
          <a:p>
            <a:endParaRPr lang="ko-KR" altLang="en-US"/>
          </a:p>
        </p:txBody>
      </p:sp>
      <p:sp>
        <p:nvSpPr>
          <p:cNvPr id="89" name="Shape 87"/>
          <p:cNvSpPr/>
          <p:nvPr/>
        </p:nvSpPr>
        <p:spPr>
          <a:xfrm>
            <a:off x="8554507" y="2978369"/>
            <a:ext cx="1603430" cy="9525"/>
          </a:xfrm>
          <a:prstGeom prst="rect">
            <a:avLst/>
          </a:prstGeom>
          <a:solidFill>
            <a:srgbClr val="EADFD3"/>
          </a:solidFill>
          <a:ln/>
        </p:spPr>
        <p:txBody>
          <a:bodyPr/>
          <a:lstStyle/>
          <a:p>
            <a:endParaRPr lang="ko-KR" altLang="en-US"/>
          </a:p>
        </p:txBody>
      </p:sp>
      <p:sp>
        <p:nvSpPr>
          <p:cNvPr id="90" name="Shape 88"/>
          <p:cNvSpPr/>
          <p:nvPr/>
        </p:nvSpPr>
        <p:spPr>
          <a:xfrm>
            <a:off x="8554507" y="2978369"/>
            <a:ext cx="9525" cy="368781"/>
          </a:xfrm>
          <a:prstGeom prst="rect">
            <a:avLst/>
          </a:prstGeom>
          <a:solidFill>
            <a:srgbClr val="EADFD3"/>
          </a:solidFill>
          <a:ln/>
        </p:spPr>
        <p:txBody>
          <a:bodyPr/>
          <a:lstStyle/>
          <a:p>
            <a:endParaRPr lang="ko-KR" altLang="en-US"/>
          </a:p>
        </p:txBody>
      </p:sp>
      <p:sp>
        <p:nvSpPr>
          <p:cNvPr id="91" name="Text 89"/>
          <p:cNvSpPr/>
          <p:nvPr/>
        </p:nvSpPr>
        <p:spPr>
          <a:xfrm>
            <a:off x="8578774" y="3021686"/>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40.2%</a:t>
            </a:r>
            <a:endParaRPr lang="en-US" sz="1050" dirty="0"/>
          </a:p>
        </p:txBody>
      </p:sp>
      <p:sp>
        <p:nvSpPr>
          <p:cNvPr id="92" name="Shape 90"/>
          <p:cNvSpPr/>
          <p:nvPr/>
        </p:nvSpPr>
        <p:spPr>
          <a:xfrm>
            <a:off x="538580" y="3347150"/>
            <a:ext cx="1603185" cy="368781"/>
          </a:xfrm>
          <a:prstGeom prst="rect">
            <a:avLst/>
          </a:prstGeom>
          <a:solidFill>
            <a:srgbClr val="FCF8EC"/>
          </a:solidFill>
          <a:ln/>
        </p:spPr>
        <p:txBody>
          <a:bodyPr/>
          <a:lstStyle/>
          <a:p>
            <a:endParaRPr lang="ko-KR" altLang="en-US"/>
          </a:p>
        </p:txBody>
      </p:sp>
      <p:sp>
        <p:nvSpPr>
          <p:cNvPr id="93" name="Shape 91"/>
          <p:cNvSpPr/>
          <p:nvPr/>
        </p:nvSpPr>
        <p:spPr>
          <a:xfrm>
            <a:off x="538580" y="3347150"/>
            <a:ext cx="1603185" cy="9525"/>
          </a:xfrm>
          <a:prstGeom prst="rect">
            <a:avLst/>
          </a:prstGeom>
          <a:solidFill>
            <a:srgbClr val="EADFD3"/>
          </a:solidFill>
          <a:ln/>
        </p:spPr>
        <p:txBody>
          <a:bodyPr/>
          <a:lstStyle/>
          <a:p>
            <a:endParaRPr lang="ko-KR" altLang="en-US"/>
          </a:p>
        </p:txBody>
      </p:sp>
      <p:sp>
        <p:nvSpPr>
          <p:cNvPr id="94" name="Text 92"/>
          <p:cNvSpPr/>
          <p:nvPr/>
        </p:nvSpPr>
        <p:spPr>
          <a:xfrm>
            <a:off x="557630" y="3390467"/>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4년</a:t>
            </a:r>
            <a:endParaRPr lang="en-US" sz="1050" dirty="0"/>
          </a:p>
        </p:txBody>
      </p:sp>
      <p:sp>
        <p:nvSpPr>
          <p:cNvPr id="95" name="Shape 93"/>
          <p:cNvSpPr/>
          <p:nvPr/>
        </p:nvSpPr>
        <p:spPr>
          <a:xfrm>
            <a:off x="2141765" y="3347150"/>
            <a:ext cx="1603185" cy="368781"/>
          </a:xfrm>
          <a:prstGeom prst="rect">
            <a:avLst/>
          </a:prstGeom>
          <a:solidFill>
            <a:srgbClr val="FFFFFF"/>
          </a:solidFill>
          <a:ln/>
        </p:spPr>
        <p:txBody>
          <a:bodyPr/>
          <a:lstStyle/>
          <a:p>
            <a:endParaRPr lang="ko-KR" altLang="en-US"/>
          </a:p>
        </p:txBody>
      </p:sp>
      <p:sp>
        <p:nvSpPr>
          <p:cNvPr id="96" name="Shape 94"/>
          <p:cNvSpPr/>
          <p:nvPr/>
        </p:nvSpPr>
        <p:spPr>
          <a:xfrm>
            <a:off x="2141765" y="3347150"/>
            <a:ext cx="1603185" cy="9525"/>
          </a:xfrm>
          <a:prstGeom prst="rect">
            <a:avLst/>
          </a:prstGeom>
          <a:solidFill>
            <a:srgbClr val="EADFD3"/>
          </a:solidFill>
          <a:ln/>
        </p:spPr>
        <p:txBody>
          <a:bodyPr/>
          <a:lstStyle/>
          <a:p>
            <a:endParaRPr lang="ko-KR" altLang="en-US"/>
          </a:p>
        </p:txBody>
      </p:sp>
      <p:sp>
        <p:nvSpPr>
          <p:cNvPr id="97" name="Shape 95"/>
          <p:cNvSpPr/>
          <p:nvPr/>
        </p:nvSpPr>
        <p:spPr>
          <a:xfrm>
            <a:off x="2141765" y="3347150"/>
            <a:ext cx="9525" cy="368781"/>
          </a:xfrm>
          <a:prstGeom prst="rect">
            <a:avLst/>
          </a:prstGeom>
          <a:solidFill>
            <a:srgbClr val="EADFD3"/>
          </a:solidFill>
          <a:ln/>
        </p:spPr>
        <p:txBody>
          <a:bodyPr/>
          <a:lstStyle/>
          <a:p>
            <a:endParaRPr lang="ko-KR" altLang="en-US"/>
          </a:p>
        </p:txBody>
      </p:sp>
      <p:sp>
        <p:nvSpPr>
          <p:cNvPr id="98" name="Text 96"/>
          <p:cNvSpPr/>
          <p:nvPr/>
        </p:nvSpPr>
        <p:spPr>
          <a:xfrm>
            <a:off x="2166032" y="3390467"/>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41.57%</a:t>
            </a:r>
            <a:endParaRPr lang="en-US" sz="1050" dirty="0"/>
          </a:p>
        </p:txBody>
      </p:sp>
      <p:sp>
        <p:nvSpPr>
          <p:cNvPr id="99" name="Shape 97"/>
          <p:cNvSpPr/>
          <p:nvPr/>
        </p:nvSpPr>
        <p:spPr>
          <a:xfrm>
            <a:off x="3744951" y="3347150"/>
            <a:ext cx="1603185" cy="368781"/>
          </a:xfrm>
          <a:prstGeom prst="rect">
            <a:avLst/>
          </a:prstGeom>
          <a:solidFill>
            <a:srgbClr val="FFFFFF"/>
          </a:solidFill>
          <a:ln/>
        </p:spPr>
        <p:txBody>
          <a:bodyPr/>
          <a:lstStyle/>
          <a:p>
            <a:endParaRPr lang="ko-KR" altLang="en-US"/>
          </a:p>
        </p:txBody>
      </p:sp>
      <p:sp>
        <p:nvSpPr>
          <p:cNvPr id="100" name="Shape 98"/>
          <p:cNvSpPr/>
          <p:nvPr/>
        </p:nvSpPr>
        <p:spPr>
          <a:xfrm>
            <a:off x="3744951" y="3347150"/>
            <a:ext cx="1603185" cy="9525"/>
          </a:xfrm>
          <a:prstGeom prst="rect">
            <a:avLst/>
          </a:prstGeom>
          <a:solidFill>
            <a:srgbClr val="EADFD3"/>
          </a:solidFill>
          <a:ln/>
        </p:spPr>
        <p:txBody>
          <a:bodyPr/>
          <a:lstStyle/>
          <a:p>
            <a:endParaRPr lang="ko-KR" altLang="en-US"/>
          </a:p>
        </p:txBody>
      </p:sp>
      <p:sp>
        <p:nvSpPr>
          <p:cNvPr id="101" name="Shape 99"/>
          <p:cNvSpPr/>
          <p:nvPr/>
        </p:nvSpPr>
        <p:spPr>
          <a:xfrm>
            <a:off x="3744951" y="3347150"/>
            <a:ext cx="9525" cy="368781"/>
          </a:xfrm>
          <a:prstGeom prst="rect">
            <a:avLst/>
          </a:prstGeom>
          <a:solidFill>
            <a:srgbClr val="EADFD3"/>
          </a:solidFill>
          <a:ln/>
        </p:spPr>
        <p:txBody>
          <a:bodyPr/>
          <a:lstStyle/>
          <a:p>
            <a:endParaRPr lang="ko-KR" altLang="en-US"/>
          </a:p>
        </p:txBody>
      </p:sp>
      <p:sp>
        <p:nvSpPr>
          <p:cNvPr id="102" name="Text 100"/>
          <p:cNvSpPr/>
          <p:nvPr/>
        </p:nvSpPr>
        <p:spPr>
          <a:xfrm>
            <a:off x="3769218" y="3390467"/>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41.8%</a:t>
            </a:r>
            <a:endParaRPr lang="en-US" sz="1050" dirty="0"/>
          </a:p>
        </p:txBody>
      </p:sp>
      <p:sp>
        <p:nvSpPr>
          <p:cNvPr id="103" name="Shape 101"/>
          <p:cNvSpPr/>
          <p:nvPr/>
        </p:nvSpPr>
        <p:spPr>
          <a:xfrm>
            <a:off x="5348136" y="3347150"/>
            <a:ext cx="1603185" cy="368781"/>
          </a:xfrm>
          <a:prstGeom prst="rect">
            <a:avLst/>
          </a:prstGeom>
          <a:solidFill>
            <a:srgbClr val="FFFFFF"/>
          </a:solidFill>
          <a:ln/>
        </p:spPr>
        <p:txBody>
          <a:bodyPr/>
          <a:lstStyle/>
          <a:p>
            <a:endParaRPr lang="ko-KR" altLang="en-US"/>
          </a:p>
        </p:txBody>
      </p:sp>
      <p:sp>
        <p:nvSpPr>
          <p:cNvPr id="104" name="Shape 102"/>
          <p:cNvSpPr/>
          <p:nvPr/>
        </p:nvSpPr>
        <p:spPr>
          <a:xfrm>
            <a:off x="5348136" y="3347150"/>
            <a:ext cx="1603185" cy="9525"/>
          </a:xfrm>
          <a:prstGeom prst="rect">
            <a:avLst/>
          </a:prstGeom>
          <a:solidFill>
            <a:srgbClr val="EADFD3"/>
          </a:solidFill>
          <a:ln/>
        </p:spPr>
        <p:txBody>
          <a:bodyPr/>
          <a:lstStyle/>
          <a:p>
            <a:endParaRPr lang="ko-KR" altLang="en-US"/>
          </a:p>
        </p:txBody>
      </p:sp>
      <p:sp>
        <p:nvSpPr>
          <p:cNvPr id="105" name="Shape 103"/>
          <p:cNvSpPr/>
          <p:nvPr/>
        </p:nvSpPr>
        <p:spPr>
          <a:xfrm>
            <a:off x="5348136" y="3347150"/>
            <a:ext cx="9525" cy="368781"/>
          </a:xfrm>
          <a:prstGeom prst="rect">
            <a:avLst/>
          </a:prstGeom>
          <a:solidFill>
            <a:srgbClr val="EADFD3"/>
          </a:solidFill>
          <a:ln/>
        </p:spPr>
        <p:txBody>
          <a:bodyPr/>
          <a:lstStyle/>
          <a:p>
            <a:endParaRPr lang="ko-KR" altLang="en-US"/>
          </a:p>
        </p:txBody>
      </p:sp>
      <p:sp>
        <p:nvSpPr>
          <p:cNvPr id="106" name="Text 104"/>
          <p:cNvSpPr/>
          <p:nvPr/>
        </p:nvSpPr>
        <p:spPr>
          <a:xfrm>
            <a:off x="5372403" y="3390467"/>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39.5%</a:t>
            </a:r>
            <a:endParaRPr lang="en-US" sz="1050" dirty="0"/>
          </a:p>
        </p:txBody>
      </p:sp>
      <p:sp>
        <p:nvSpPr>
          <p:cNvPr id="107" name="Shape 105"/>
          <p:cNvSpPr/>
          <p:nvPr/>
        </p:nvSpPr>
        <p:spPr>
          <a:xfrm>
            <a:off x="6951322" y="3347150"/>
            <a:ext cx="1603185" cy="368781"/>
          </a:xfrm>
          <a:prstGeom prst="rect">
            <a:avLst/>
          </a:prstGeom>
          <a:solidFill>
            <a:srgbClr val="FFFFFF"/>
          </a:solidFill>
          <a:ln/>
        </p:spPr>
        <p:txBody>
          <a:bodyPr/>
          <a:lstStyle/>
          <a:p>
            <a:endParaRPr lang="ko-KR" altLang="en-US"/>
          </a:p>
        </p:txBody>
      </p:sp>
      <p:sp>
        <p:nvSpPr>
          <p:cNvPr id="108" name="Shape 106"/>
          <p:cNvSpPr/>
          <p:nvPr/>
        </p:nvSpPr>
        <p:spPr>
          <a:xfrm>
            <a:off x="6951322" y="3347150"/>
            <a:ext cx="1603185" cy="9525"/>
          </a:xfrm>
          <a:prstGeom prst="rect">
            <a:avLst/>
          </a:prstGeom>
          <a:solidFill>
            <a:srgbClr val="EADFD3"/>
          </a:solidFill>
          <a:ln/>
        </p:spPr>
        <p:txBody>
          <a:bodyPr/>
          <a:lstStyle/>
          <a:p>
            <a:endParaRPr lang="ko-KR" altLang="en-US"/>
          </a:p>
        </p:txBody>
      </p:sp>
      <p:sp>
        <p:nvSpPr>
          <p:cNvPr id="109" name="Shape 107"/>
          <p:cNvSpPr/>
          <p:nvPr/>
        </p:nvSpPr>
        <p:spPr>
          <a:xfrm>
            <a:off x="6951322" y="3347150"/>
            <a:ext cx="9525" cy="368781"/>
          </a:xfrm>
          <a:prstGeom prst="rect">
            <a:avLst/>
          </a:prstGeom>
          <a:solidFill>
            <a:srgbClr val="EADFD3"/>
          </a:solidFill>
          <a:ln/>
        </p:spPr>
        <p:txBody>
          <a:bodyPr/>
          <a:lstStyle/>
          <a:p>
            <a:endParaRPr lang="ko-KR" altLang="en-US"/>
          </a:p>
        </p:txBody>
      </p:sp>
      <p:sp>
        <p:nvSpPr>
          <p:cNvPr id="110" name="Text 108"/>
          <p:cNvSpPr/>
          <p:nvPr/>
        </p:nvSpPr>
        <p:spPr>
          <a:xfrm>
            <a:off x="6975589" y="3390467"/>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39.6%</a:t>
            </a:r>
            <a:endParaRPr lang="en-US" sz="1050" dirty="0"/>
          </a:p>
        </p:txBody>
      </p:sp>
      <p:sp>
        <p:nvSpPr>
          <p:cNvPr id="111" name="Shape 109"/>
          <p:cNvSpPr/>
          <p:nvPr/>
        </p:nvSpPr>
        <p:spPr>
          <a:xfrm>
            <a:off x="8554507" y="3347150"/>
            <a:ext cx="1603430" cy="368781"/>
          </a:xfrm>
          <a:prstGeom prst="rect">
            <a:avLst/>
          </a:prstGeom>
          <a:solidFill>
            <a:srgbClr val="FFFFFF"/>
          </a:solidFill>
          <a:ln/>
        </p:spPr>
        <p:txBody>
          <a:bodyPr/>
          <a:lstStyle/>
          <a:p>
            <a:endParaRPr lang="ko-KR" altLang="en-US"/>
          </a:p>
        </p:txBody>
      </p:sp>
      <p:sp>
        <p:nvSpPr>
          <p:cNvPr id="112" name="Shape 110"/>
          <p:cNvSpPr/>
          <p:nvPr/>
        </p:nvSpPr>
        <p:spPr>
          <a:xfrm>
            <a:off x="8554507" y="3347150"/>
            <a:ext cx="1603430" cy="9525"/>
          </a:xfrm>
          <a:prstGeom prst="rect">
            <a:avLst/>
          </a:prstGeom>
          <a:solidFill>
            <a:srgbClr val="EADFD3"/>
          </a:solidFill>
          <a:ln/>
        </p:spPr>
        <p:txBody>
          <a:bodyPr/>
          <a:lstStyle/>
          <a:p>
            <a:endParaRPr lang="ko-KR" altLang="en-US"/>
          </a:p>
        </p:txBody>
      </p:sp>
      <p:sp>
        <p:nvSpPr>
          <p:cNvPr id="113" name="Shape 111"/>
          <p:cNvSpPr/>
          <p:nvPr/>
        </p:nvSpPr>
        <p:spPr>
          <a:xfrm>
            <a:off x="8554507" y="3347150"/>
            <a:ext cx="9525" cy="368781"/>
          </a:xfrm>
          <a:prstGeom prst="rect">
            <a:avLst/>
          </a:prstGeom>
          <a:solidFill>
            <a:srgbClr val="EADFD3"/>
          </a:solidFill>
          <a:ln/>
        </p:spPr>
        <p:txBody>
          <a:bodyPr/>
          <a:lstStyle/>
          <a:p>
            <a:endParaRPr lang="ko-KR" altLang="en-US"/>
          </a:p>
        </p:txBody>
      </p:sp>
      <p:sp>
        <p:nvSpPr>
          <p:cNvPr id="114" name="Text 112"/>
          <p:cNvSpPr/>
          <p:nvPr/>
        </p:nvSpPr>
        <p:spPr>
          <a:xfrm>
            <a:off x="8578774" y="3390467"/>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42%</a:t>
            </a:r>
            <a:endParaRPr lang="en-US" sz="1050" dirty="0"/>
          </a:p>
        </p:txBody>
      </p:sp>
      <p:sp>
        <p:nvSpPr>
          <p:cNvPr id="115" name="Shape 113"/>
          <p:cNvSpPr/>
          <p:nvPr/>
        </p:nvSpPr>
        <p:spPr>
          <a:xfrm>
            <a:off x="538580" y="3715931"/>
            <a:ext cx="1603185" cy="368781"/>
          </a:xfrm>
          <a:prstGeom prst="rect">
            <a:avLst/>
          </a:prstGeom>
          <a:solidFill>
            <a:srgbClr val="FCF8EC"/>
          </a:solidFill>
          <a:ln/>
        </p:spPr>
        <p:txBody>
          <a:bodyPr/>
          <a:lstStyle/>
          <a:p>
            <a:endParaRPr lang="ko-KR" altLang="en-US"/>
          </a:p>
        </p:txBody>
      </p:sp>
      <p:sp>
        <p:nvSpPr>
          <p:cNvPr id="116" name="Shape 114"/>
          <p:cNvSpPr/>
          <p:nvPr/>
        </p:nvSpPr>
        <p:spPr>
          <a:xfrm>
            <a:off x="538580" y="3715931"/>
            <a:ext cx="1603185" cy="9525"/>
          </a:xfrm>
          <a:prstGeom prst="rect">
            <a:avLst/>
          </a:prstGeom>
          <a:solidFill>
            <a:srgbClr val="EADFD3"/>
          </a:solidFill>
          <a:ln/>
        </p:spPr>
        <p:txBody>
          <a:bodyPr/>
          <a:lstStyle/>
          <a:p>
            <a:endParaRPr lang="ko-KR" altLang="en-US"/>
          </a:p>
        </p:txBody>
      </p:sp>
      <p:sp>
        <p:nvSpPr>
          <p:cNvPr id="117" name="Text 115"/>
          <p:cNvSpPr/>
          <p:nvPr/>
        </p:nvSpPr>
        <p:spPr>
          <a:xfrm>
            <a:off x="557630" y="3759248"/>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5년</a:t>
            </a:r>
            <a:endParaRPr lang="en-US" sz="1050" dirty="0"/>
          </a:p>
        </p:txBody>
      </p:sp>
      <p:sp>
        <p:nvSpPr>
          <p:cNvPr id="118" name="Shape 116"/>
          <p:cNvSpPr/>
          <p:nvPr/>
        </p:nvSpPr>
        <p:spPr>
          <a:xfrm>
            <a:off x="2141765" y="3715931"/>
            <a:ext cx="1603185" cy="368781"/>
          </a:xfrm>
          <a:prstGeom prst="rect">
            <a:avLst/>
          </a:prstGeom>
          <a:solidFill>
            <a:srgbClr val="FFFFFF"/>
          </a:solidFill>
          <a:ln/>
        </p:spPr>
        <p:txBody>
          <a:bodyPr/>
          <a:lstStyle/>
          <a:p>
            <a:endParaRPr lang="ko-KR" altLang="en-US"/>
          </a:p>
        </p:txBody>
      </p:sp>
      <p:sp>
        <p:nvSpPr>
          <p:cNvPr id="119" name="Shape 117"/>
          <p:cNvSpPr/>
          <p:nvPr/>
        </p:nvSpPr>
        <p:spPr>
          <a:xfrm>
            <a:off x="2141765" y="3715931"/>
            <a:ext cx="1603185" cy="9525"/>
          </a:xfrm>
          <a:prstGeom prst="rect">
            <a:avLst/>
          </a:prstGeom>
          <a:solidFill>
            <a:srgbClr val="EADFD3"/>
          </a:solidFill>
          <a:ln/>
        </p:spPr>
        <p:txBody>
          <a:bodyPr/>
          <a:lstStyle/>
          <a:p>
            <a:endParaRPr lang="ko-KR" altLang="en-US"/>
          </a:p>
        </p:txBody>
      </p:sp>
      <p:sp>
        <p:nvSpPr>
          <p:cNvPr id="120" name="Shape 118"/>
          <p:cNvSpPr/>
          <p:nvPr/>
        </p:nvSpPr>
        <p:spPr>
          <a:xfrm>
            <a:off x="2141765" y="3715931"/>
            <a:ext cx="9525" cy="368781"/>
          </a:xfrm>
          <a:prstGeom prst="rect">
            <a:avLst/>
          </a:prstGeom>
          <a:solidFill>
            <a:srgbClr val="EADFD3"/>
          </a:solidFill>
          <a:ln/>
        </p:spPr>
        <p:txBody>
          <a:bodyPr/>
          <a:lstStyle/>
          <a:p>
            <a:endParaRPr lang="ko-KR" altLang="en-US"/>
          </a:p>
        </p:txBody>
      </p:sp>
      <p:sp>
        <p:nvSpPr>
          <p:cNvPr id="121" name="Text 119"/>
          <p:cNvSpPr/>
          <p:nvPr/>
        </p:nvSpPr>
        <p:spPr>
          <a:xfrm>
            <a:off x="2166032" y="375924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43.03%</a:t>
            </a:r>
            <a:endParaRPr lang="en-US" sz="1050" dirty="0"/>
          </a:p>
        </p:txBody>
      </p:sp>
      <p:sp>
        <p:nvSpPr>
          <p:cNvPr id="122" name="Shape 120"/>
          <p:cNvSpPr/>
          <p:nvPr/>
        </p:nvSpPr>
        <p:spPr>
          <a:xfrm>
            <a:off x="3744951" y="3715931"/>
            <a:ext cx="1603185" cy="368781"/>
          </a:xfrm>
          <a:prstGeom prst="rect">
            <a:avLst/>
          </a:prstGeom>
          <a:solidFill>
            <a:srgbClr val="FFFFFF"/>
          </a:solidFill>
          <a:ln/>
        </p:spPr>
        <p:txBody>
          <a:bodyPr/>
          <a:lstStyle/>
          <a:p>
            <a:endParaRPr lang="ko-KR" altLang="en-US"/>
          </a:p>
        </p:txBody>
      </p:sp>
      <p:sp>
        <p:nvSpPr>
          <p:cNvPr id="123" name="Shape 121"/>
          <p:cNvSpPr/>
          <p:nvPr/>
        </p:nvSpPr>
        <p:spPr>
          <a:xfrm>
            <a:off x="3744951" y="3715931"/>
            <a:ext cx="1603185" cy="9525"/>
          </a:xfrm>
          <a:prstGeom prst="rect">
            <a:avLst/>
          </a:prstGeom>
          <a:solidFill>
            <a:srgbClr val="EADFD3"/>
          </a:solidFill>
          <a:ln/>
        </p:spPr>
        <p:txBody>
          <a:bodyPr/>
          <a:lstStyle/>
          <a:p>
            <a:endParaRPr lang="ko-KR" altLang="en-US"/>
          </a:p>
        </p:txBody>
      </p:sp>
      <p:sp>
        <p:nvSpPr>
          <p:cNvPr id="124" name="Shape 122"/>
          <p:cNvSpPr/>
          <p:nvPr/>
        </p:nvSpPr>
        <p:spPr>
          <a:xfrm>
            <a:off x="3744951" y="3715931"/>
            <a:ext cx="9525" cy="368781"/>
          </a:xfrm>
          <a:prstGeom prst="rect">
            <a:avLst/>
          </a:prstGeom>
          <a:solidFill>
            <a:srgbClr val="EADFD3"/>
          </a:solidFill>
          <a:ln/>
        </p:spPr>
        <p:txBody>
          <a:bodyPr/>
          <a:lstStyle/>
          <a:p>
            <a:endParaRPr lang="ko-KR" altLang="en-US"/>
          </a:p>
        </p:txBody>
      </p:sp>
      <p:sp>
        <p:nvSpPr>
          <p:cNvPr id="125" name="Text 123"/>
          <p:cNvSpPr/>
          <p:nvPr/>
        </p:nvSpPr>
        <p:spPr>
          <a:xfrm>
            <a:off x="3769218" y="375924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43%</a:t>
            </a:r>
            <a:endParaRPr lang="en-US" sz="1050" dirty="0"/>
          </a:p>
        </p:txBody>
      </p:sp>
      <p:sp>
        <p:nvSpPr>
          <p:cNvPr id="126" name="Shape 124"/>
          <p:cNvSpPr/>
          <p:nvPr/>
        </p:nvSpPr>
        <p:spPr>
          <a:xfrm>
            <a:off x="5348136" y="3715931"/>
            <a:ext cx="1603185" cy="368781"/>
          </a:xfrm>
          <a:prstGeom prst="rect">
            <a:avLst/>
          </a:prstGeom>
          <a:solidFill>
            <a:srgbClr val="FFFFFF"/>
          </a:solidFill>
          <a:ln/>
        </p:spPr>
        <p:txBody>
          <a:bodyPr/>
          <a:lstStyle/>
          <a:p>
            <a:endParaRPr lang="ko-KR" altLang="en-US"/>
          </a:p>
        </p:txBody>
      </p:sp>
      <p:sp>
        <p:nvSpPr>
          <p:cNvPr id="127" name="Shape 125"/>
          <p:cNvSpPr/>
          <p:nvPr/>
        </p:nvSpPr>
        <p:spPr>
          <a:xfrm>
            <a:off x="5348136" y="3715931"/>
            <a:ext cx="1603185" cy="9525"/>
          </a:xfrm>
          <a:prstGeom prst="rect">
            <a:avLst/>
          </a:prstGeom>
          <a:solidFill>
            <a:srgbClr val="EADFD3"/>
          </a:solidFill>
          <a:ln/>
        </p:spPr>
        <p:txBody>
          <a:bodyPr/>
          <a:lstStyle/>
          <a:p>
            <a:endParaRPr lang="ko-KR" altLang="en-US"/>
          </a:p>
        </p:txBody>
      </p:sp>
      <p:sp>
        <p:nvSpPr>
          <p:cNvPr id="128" name="Shape 126"/>
          <p:cNvSpPr/>
          <p:nvPr/>
        </p:nvSpPr>
        <p:spPr>
          <a:xfrm>
            <a:off x="5348136" y="3715931"/>
            <a:ext cx="9525" cy="368781"/>
          </a:xfrm>
          <a:prstGeom prst="rect">
            <a:avLst/>
          </a:prstGeom>
          <a:solidFill>
            <a:srgbClr val="EADFD3"/>
          </a:solidFill>
          <a:ln/>
        </p:spPr>
        <p:txBody>
          <a:bodyPr/>
          <a:lstStyle/>
          <a:p>
            <a:endParaRPr lang="ko-KR" altLang="en-US"/>
          </a:p>
        </p:txBody>
      </p:sp>
      <p:sp>
        <p:nvSpPr>
          <p:cNvPr id="129" name="Text 127"/>
          <p:cNvSpPr/>
          <p:nvPr/>
        </p:nvSpPr>
        <p:spPr>
          <a:xfrm>
            <a:off x="5372403" y="375924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a:t>
            </a:r>
            <a:endParaRPr lang="en-US" sz="1050" dirty="0"/>
          </a:p>
        </p:txBody>
      </p:sp>
      <p:sp>
        <p:nvSpPr>
          <p:cNvPr id="130" name="Shape 128"/>
          <p:cNvSpPr/>
          <p:nvPr/>
        </p:nvSpPr>
        <p:spPr>
          <a:xfrm>
            <a:off x="6951322" y="3715931"/>
            <a:ext cx="1603185" cy="368781"/>
          </a:xfrm>
          <a:prstGeom prst="rect">
            <a:avLst/>
          </a:prstGeom>
          <a:solidFill>
            <a:srgbClr val="FFFFFF"/>
          </a:solidFill>
          <a:ln/>
        </p:spPr>
        <p:txBody>
          <a:bodyPr/>
          <a:lstStyle/>
          <a:p>
            <a:endParaRPr lang="ko-KR" altLang="en-US"/>
          </a:p>
        </p:txBody>
      </p:sp>
      <p:sp>
        <p:nvSpPr>
          <p:cNvPr id="131" name="Shape 129"/>
          <p:cNvSpPr/>
          <p:nvPr/>
        </p:nvSpPr>
        <p:spPr>
          <a:xfrm>
            <a:off x="6951322" y="3715931"/>
            <a:ext cx="1603185" cy="9525"/>
          </a:xfrm>
          <a:prstGeom prst="rect">
            <a:avLst/>
          </a:prstGeom>
          <a:solidFill>
            <a:srgbClr val="EADFD3"/>
          </a:solidFill>
          <a:ln/>
        </p:spPr>
        <p:txBody>
          <a:bodyPr/>
          <a:lstStyle/>
          <a:p>
            <a:endParaRPr lang="ko-KR" altLang="en-US"/>
          </a:p>
        </p:txBody>
      </p:sp>
      <p:sp>
        <p:nvSpPr>
          <p:cNvPr id="132" name="Shape 130"/>
          <p:cNvSpPr/>
          <p:nvPr/>
        </p:nvSpPr>
        <p:spPr>
          <a:xfrm>
            <a:off x="6951322" y="3715931"/>
            <a:ext cx="9525" cy="368781"/>
          </a:xfrm>
          <a:prstGeom prst="rect">
            <a:avLst/>
          </a:prstGeom>
          <a:solidFill>
            <a:srgbClr val="EADFD3"/>
          </a:solidFill>
          <a:ln/>
        </p:spPr>
        <p:txBody>
          <a:bodyPr/>
          <a:lstStyle/>
          <a:p>
            <a:endParaRPr lang="ko-KR" altLang="en-US"/>
          </a:p>
        </p:txBody>
      </p:sp>
      <p:sp>
        <p:nvSpPr>
          <p:cNvPr id="133" name="Text 131"/>
          <p:cNvSpPr/>
          <p:nvPr/>
        </p:nvSpPr>
        <p:spPr>
          <a:xfrm>
            <a:off x="6975589" y="375924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41.13%</a:t>
            </a:r>
            <a:endParaRPr lang="en-US" sz="1050" dirty="0"/>
          </a:p>
        </p:txBody>
      </p:sp>
      <p:sp>
        <p:nvSpPr>
          <p:cNvPr id="134" name="Shape 132"/>
          <p:cNvSpPr/>
          <p:nvPr/>
        </p:nvSpPr>
        <p:spPr>
          <a:xfrm>
            <a:off x="8554507" y="3715931"/>
            <a:ext cx="1603430" cy="368781"/>
          </a:xfrm>
          <a:prstGeom prst="rect">
            <a:avLst/>
          </a:prstGeom>
          <a:solidFill>
            <a:srgbClr val="FFFFFF"/>
          </a:solidFill>
          <a:ln/>
        </p:spPr>
        <p:txBody>
          <a:bodyPr/>
          <a:lstStyle/>
          <a:p>
            <a:endParaRPr lang="ko-KR" altLang="en-US"/>
          </a:p>
        </p:txBody>
      </p:sp>
      <p:sp>
        <p:nvSpPr>
          <p:cNvPr id="135" name="Shape 133"/>
          <p:cNvSpPr/>
          <p:nvPr/>
        </p:nvSpPr>
        <p:spPr>
          <a:xfrm>
            <a:off x="8554507" y="3715931"/>
            <a:ext cx="1603430" cy="9525"/>
          </a:xfrm>
          <a:prstGeom prst="rect">
            <a:avLst/>
          </a:prstGeom>
          <a:solidFill>
            <a:srgbClr val="EADFD3"/>
          </a:solidFill>
          <a:ln/>
        </p:spPr>
        <p:txBody>
          <a:bodyPr/>
          <a:lstStyle/>
          <a:p>
            <a:endParaRPr lang="ko-KR" altLang="en-US"/>
          </a:p>
        </p:txBody>
      </p:sp>
      <p:sp>
        <p:nvSpPr>
          <p:cNvPr id="136" name="Shape 134"/>
          <p:cNvSpPr/>
          <p:nvPr/>
        </p:nvSpPr>
        <p:spPr>
          <a:xfrm>
            <a:off x="8554507" y="3715931"/>
            <a:ext cx="9525" cy="368781"/>
          </a:xfrm>
          <a:prstGeom prst="rect">
            <a:avLst/>
          </a:prstGeom>
          <a:solidFill>
            <a:srgbClr val="EADFD3"/>
          </a:solidFill>
          <a:ln/>
        </p:spPr>
        <p:txBody>
          <a:bodyPr/>
          <a:lstStyle/>
          <a:p>
            <a:endParaRPr lang="ko-KR" altLang="en-US"/>
          </a:p>
        </p:txBody>
      </p:sp>
      <p:sp>
        <p:nvSpPr>
          <p:cNvPr id="137" name="Text 135"/>
          <p:cNvSpPr/>
          <p:nvPr/>
        </p:nvSpPr>
        <p:spPr>
          <a:xfrm>
            <a:off x="8578774" y="3759248"/>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43.3%</a:t>
            </a:r>
            <a:endParaRPr lang="en-US" sz="1050" dirty="0"/>
          </a:p>
        </p:txBody>
      </p:sp>
      <p:sp>
        <p:nvSpPr>
          <p:cNvPr id="138" name="Shape 136"/>
          <p:cNvSpPr/>
          <p:nvPr/>
        </p:nvSpPr>
        <p:spPr>
          <a:xfrm>
            <a:off x="538580" y="4084711"/>
            <a:ext cx="1603185" cy="368781"/>
          </a:xfrm>
          <a:prstGeom prst="rect">
            <a:avLst/>
          </a:prstGeom>
          <a:solidFill>
            <a:srgbClr val="FCF8EC"/>
          </a:solidFill>
          <a:ln/>
        </p:spPr>
        <p:txBody>
          <a:bodyPr/>
          <a:lstStyle/>
          <a:p>
            <a:endParaRPr lang="ko-KR" altLang="en-US"/>
          </a:p>
        </p:txBody>
      </p:sp>
      <p:sp>
        <p:nvSpPr>
          <p:cNvPr id="139" name="Shape 137"/>
          <p:cNvSpPr/>
          <p:nvPr/>
        </p:nvSpPr>
        <p:spPr>
          <a:xfrm>
            <a:off x="538580" y="4084711"/>
            <a:ext cx="1603185" cy="9525"/>
          </a:xfrm>
          <a:prstGeom prst="rect">
            <a:avLst/>
          </a:prstGeom>
          <a:solidFill>
            <a:srgbClr val="EADFD3"/>
          </a:solidFill>
          <a:ln/>
        </p:spPr>
        <p:txBody>
          <a:bodyPr/>
          <a:lstStyle/>
          <a:p>
            <a:endParaRPr lang="ko-KR" altLang="en-US"/>
          </a:p>
        </p:txBody>
      </p:sp>
      <p:sp>
        <p:nvSpPr>
          <p:cNvPr id="140" name="Text 138"/>
          <p:cNvSpPr/>
          <p:nvPr/>
        </p:nvSpPr>
        <p:spPr>
          <a:xfrm>
            <a:off x="557630" y="4128028"/>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6년</a:t>
            </a:r>
            <a:endParaRPr lang="en-US" sz="1050" dirty="0"/>
          </a:p>
        </p:txBody>
      </p:sp>
      <p:sp>
        <p:nvSpPr>
          <p:cNvPr id="141" name="Shape 139"/>
          <p:cNvSpPr/>
          <p:nvPr/>
        </p:nvSpPr>
        <p:spPr>
          <a:xfrm>
            <a:off x="2141765" y="4084711"/>
            <a:ext cx="1603185" cy="368781"/>
          </a:xfrm>
          <a:prstGeom prst="rect">
            <a:avLst/>
          </a:prstGeom>
          <a:solidFill>
            <a:srgbClr val="FFFFFF"/>
          </a:solidFill>
          <a:ln/>
        </p:spPr>
        <p:txBody>
          <a:bodyPr/>
          <a:lstStyle/>
          <a:p>
            <a:endParaRPr lang="ko-KR" altLang="en-US"/>
          </a:p>
        </p:txBody>
      </p:sp>
      <p:sp>
        <p:nvSpPr>
          <p:cNvPr id="142" name="Shape 140"/>
          <p:cNvSpPr/>
          <p:nvPr/>
        </p:nvSpPr>
        <p:spPr>
          <a:xfrm>
            <a:off x="2141765" y="4084711"/>
            <a:ext cx="1603185" cy="9525"/>
          </a:xfrm>
          <a:prstGeom prst="rect">
            <a:avLst/>
          </a:prstGeom>
          <a:solidFill>
            <a:srgbClr val="EADFD3"/>
          </a:solidFill>
          <a:ln/>
        </p:spPr>
        <p:txBody>
          <a:bodyPr/>
          <a:lstStyle/>
          <a:p>
            <a:endParaRPr lang="ko-KR" altLang="en-US"/>
          </a:p>
        </p:txBody>
      </p:sp>
      <p:sp>
        <p:nvSpPr>
          <p:cNvPr id="143" name="Shape 141"/>
          <p:cNvSpPr/>
          <p:nvPr/>
        </p:nvSpPr>
        <p:spPr>
          <a:xfrm>
            <a:off x="2141765" y="4084711"/>
            <a:ext cx="9525" cy="368781"/>
          </a:xfrm>
          <a:prstGeom prst="rect">
            <a:avLst/>
          </a:prstGeom>
          <a:solidFill>
            <a:srgbClr val="EADFD3"/>
          </a:solidFill>
          <a:ln/>
        </p:spPr>
        <p:txBody>
          <a:bodyPr/>
          <a:lstStyle/>
          <a:p>
            <a:endParaRPr lang="ko-KR" altLang="en-US"/>
          </a:p>
        </p:txBody>
      </p:sp>
      <p:sp>
        <p:nvSpPr>
          <p:cNvPr id="144" name="Text 142"/>
          <p:cNvSpPr/>
          <p:nvPr/>
        </p:nvSpPr>
        <p:spPr>
          <a:xfrm>
            <a:off x="2166032" y="412802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44.22%</a:t>
            </a:r>
            <a:endParaRPr lang="en-US" sz="1050" dirty="0"/>
          </a:p>
        </p:txBody>
      </p:sp>
      <p:sp>
        <p:nvSpPr>
          <p:cNvPr id="145" name="Shape 143"/>
          <p:cNvSpPr/>
          <p:nvPr/>
        </p:nvSpPr>
        <p:spPr>
          <a:xfrm>
            <a:off x="3744951" y="4084711"/>
            <a:ext cx="1603185" cy="368781"/>
          </a:xfrm>
          <a:prstGeom prst="rect">
            <a:avLst/>
          </a:prstGeom>
          <a:solidFill>
            <a:srgbClr val="FFFFFF"/>
          </a:solidFill>
          <a:ln/>
        </p:spPr>
        <p:txBody>
          <a:bodyPr/>
          <a:lstStyle/>
          <a:p>
            <a:endParaRPr lang="ko-KR" altLang="en-US"/>
          </a:p>
        </p:txBody>
      </p:sp>
      <p:sp>
        <p:nvSpPr>
          <p:cNvPr id="146" name="Shape 144"/>
          <p:cNvSpPr/>
          <p:nvPr/>
        </p:nvSpPr>
        <p:spPr>
          <a:xfrm>
            <a:off x="3744951" y="4084711"/>
            <a:ext cx="1603185" cy="9525"/>
          </a:xfrm>
          <a:prstGeom prst="rect">
            <a:avLst/>
          </a:prstGeom>
          <a:solidFill>
            <a:srgbClr val="EADFD3"/>
          </a:solidFill>
          <a:ln/>
        </p:spPr>
        <p:txBody>
          <a:bodyPr/>
          <a:lstStyle/>
          <a:p>
            <a:endParaRPr lang="ko-KR" altLang="en-US"/>
          </a:p>
        </p:txBody>
      </p:sp>
      <p:sp>
        <p:nvSpPr>
          <p:cNvPr id="147" name="Shape 145"/>
          <p:cNvSpPr/>
          <p:nvPr/>
        </p:nvSpPr>
        <p:spPr>
          <a:xfrm>
            <a:off x="3744951" y="4084711"/>
            <a:ext cx="9525" cy="368781"/>
          </a:xfrm>
          <a:prstGeom prst="rect">
            <a:avLst/>
          </a:prstGeom>
          <a:solidFill>
            <a:srgbClr val="EADFD3"/>
          </a:solidFill>
          <a:ln/>
        </p:spPr>
        <p:txBody>
          <a:bodyPr/>
          <a:lstStyle/>
          <a:p>
            <a:endParaRPr lang="ko-KR" altLang="en-US"/>
          </a:p>
        </p:txBody>
      </p:sp>
      <p:sp>
        <p:nvSpPr>
          <p:cNvPr id="148" name="Text 146"/>
          <p:cNvSpPr/>
          <p:nvPr/>
        </p:nvSpPr>
        <p:spPr>
          <a:xfrm>
            <a:off x="3769218" y="412802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44%</a:t>
            </a:r>
            <a:endParaRPr lang="en-US" sz="1050" dirty="0"/>
          </a:p>
        </p:txBody>
      </p:sp>
      <p:sp>
        <p:nvSpPr>
          <p:cNvPr id="149" name="Shape 147"/>
          <p:cNvSpPr/>
          <p:nvPr/>
        </p:nvSpPr>
        <p:spPr>
          <a:xfrm>
            <a:off x="5348136" y="4084711"/>
            <a:ext cx="1603185" cy="368781"/>
          </a:xfrm>
          <a:prstGeom prst="rect">
            <a:avLst/>
          </a:prstGeom>
          <a:solidFill>
            <a:srgbClr val="FFFFFF"/>
          </a:solidFill>
          <a:ln/>
        </p:spPr>
        <p:txBody>
          <a:bodyPr/>
          <a:lstStyle/>
          <a:p>
            <a:endParaRPr lang="ko-KR" altLang="en-US"/>
          </a:p>
        </p:txBody>
      </p:sp>
      <p:sp>
        <p:nvSpPr>
          <p:cNvPr id="150" name="Shape 148"/>
          <p:cNvSpPr/>
          <p:nvPr/>
        </p:nvSpPr>
        <p:spPr>
          <a:xfrm>
            <a:off x="5348136" y="4084711"/>
            <a:ext cx="1603185" cy="9525"/>
          </a:xfrm>
          <a:prstGeom prst="rect">
            <a:avLst/>
          </a:prstGeom>
          <a:solidFill>
            <a:srgbClr val="EADFD3"/>
          </a:solidFill>
          <a:ln/>
        </p:spPr>
        <p:txBody>
          <a:bodyPr/>
          <a:lstStyle/>
          <a:p>
            <a:endParaRPr lang="ko-KR" altLang="en-US"/>
          </a:p>
        </p:txBody>
      </p:sp>
      <p:sp>
        <p:nvSpPr>
          <p:cNvPr id="151" name="Shape 149"/>
          <p:cNvSpPr/>
          <p:nvPr/>
        </p:nvSpPr>
        <p:spPr>
          <a:xfrm>
            <a:off x="5348136" y="4084711"/>
            <a:ext cx="9525" cy="368781"/>
          </a:xfrm>
          <a:prstGeom prst="rect">
            <a:avLst/>
          </a:prstGeom>
          <a:solidFill>
            <a:srgbClr val="EADFD3"/>
          </a:solidFill>
          <a:ln/>
        </p:spPr>
        <p:txBody>
          <a:bodyPr/>
          <a:lstStyle/>
          <a:p>
            <a:endParaRPr lang="ko-KR" altLang="en-US"/>
          </a:p>
        </p:txBody>
      </p:sp>
      <p:sp>
        <p:nvSpPr>
          <p:cNvPr id="152" name="Text 150"/>
          <p:cNvSpPr/>
          <p:nvPr/>
        </p:nvSpPr>
        <p:spPr>
          <a:xfrm>
            <a:off x="5372403" y="412802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42.2%</a:t>
            </a:r>
            <a:endParaRPr lang="en-US" sz="1050" dirty="0"/>
          </a:p>
        </p:txBody>
      </p:sp>
      <p:sp>
        <p:nvSpPr>
          <p:cNvPr id="153" name="Shape 151"/>
          <p:cNvSpPr/>
          <p:nvPr/>
        </p:nvSpPr>
        <p:spPr>
          <a:xfrm>
            <a:off x="6951322" y="4084711"/>
            <a:ext cx="1603185" cy="368781"/>
          </a:xfrm>
          <a:prstGeom prst="rect">
            <a:avLst/>
          </a:prstGeom>
          <a:solidFill>
            <a:srgbClr val="FFFFFF"/>
          </a:solidFill>
          <a:ln/>
        </p:spPr>
        <p:txBody>
          <a:bodyPr/>
          <a:lstStyle/>
          <a:p>
            <a:endParaRPr lang="ko-KR" altLang="en-US"/>
          </a:p>
        </p:txBody>
      </p:sp>
      <p:sp>
        <p:nvSpPr>
          <p:cNvPr id="154" name="Shape 152"/>
          <p:cNvSpPr/>
          <p:nvPr/>
        </p:nvSpPr>
        <p:spPr>
          <a:xfrm>
            <a:off x="6951322" y="4084711"/>
            <a:ext cx="1603185" cy="9525"/>
          </a:xfrm>
          <a:prstGeom prst="rect">
            <a:avLst/>
          </a:prstGeom>
          <a:solidFill>
            <a:srgbClr val="EADFD3"/>
          </a:solidFill>
          <a:ln/>
        </p:spPr>
        <p:txBody>
          <a:bodyPr/>
          <a:lstStyle/>
          <a:p>
            <a:endParaRPr lang="ko-KR" altLang="en-US"/>
          </a:p>
        </p:txBody>
      </p:sp>
      <p:sp>
        <p:nvSpPr>
          <p:cNvPr id="155" name="Shape 153"/>
          <p:cNvSpPr/>
          <p:nvPr/>
        </p:nvSpPr>
        <p:spPr>
          <a:xfrm>
            <a:off x="6951322" y="4084711"/>
            <a:ext cx="9525" cy="368781"/>
          </a:xfrm>
          <a:prstGeom prst="rect">
            <a:avLst/>
          </a:prstGeom>
          <a:solidFill>
            <a:srgbClr val="EADFD3"/>
          </a:solidFill>
          <a:ln/>
        </p:spPr>
        <p:txBody>
          <a:bodyPr/>
          <a:lstStyle/>
          <a:p>
            <a:endParaRPr lang="ko-KR" altLang="en-US"/>
          </a:p>
        </p:txBody>
      </p:sp>
      <p:sp>
        <p:nvSpPr>
          <p:cNvPr id="156" name="Text 154"/>
          <p:cNvSpPr/>
          <p:nvPr/>
        </p:nvSpPr>
        <p:spPr>
          <a:xfrm>
            <a:off x="6975589" y="4128028"/>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42.35%</a:t>
            </a:r>
            <a:endParaRPr lang="en-US" sz="1050" dirty="0"/>
          </a:p>
        </p:txBody>
      </p:sp>
      <p:sp>
        <p:nvSpPr>
          <p:cNvPr id="157" name="Shape 155"/>
          <p:cNvSpPr/>
          <p:nvPr/>
        </p:nvSpPr>
        <p:spPr>
          <a:xfrm>
            <a:off x="8554507" y="4084711"/>
            <a:ext cx="1603430" cy="368781"/>
          </a:xfrm>
          <a:prstGeom prst="rect">
            <a:avLst/>
          </a:prstGeom>
          <a:solidFill>
            <a:srgbClr val="FFFFFF"/>
          </a:solidFill>
          <a:ln/>
        </p:spPr>
        <p:txBody>
          <a:bodyPr/>
          <a:lstStyle/>
          <a:p>
            <a:endParaRPr lang="ko-KR" altLang="en-US"/>
          </a:p>
        </p:txBody>
      </p:sp>
      <p:sp>
        <p:nvSpPr>
          <p:cNvPr id="158" name="Shape 156"/>
          <p:cNvSpPr/>
          <p:nvPr/>
        </p:nvSpPr>
        <p:spPr>
          <a:xfrm>
            <a:off x="8554507" y="4084711"/>
            <a:ext cx="1603430" cy="9525"/>
          </a:xfrm>
          <a:prstGeom prst="rect">
            <a:avLst/>
          </a:prstGeom>
          <a:solidFill>
            <a:srgbClr val="EADFD3"/>
          </a:solidFill>
          <a:ln/>
        </p:spPr>
        <p:txBody>
          <a:bodyPr/>
          <a:lstStyle/>
          <a:p>
            <a:endParaRPr lang="ko-KR" altLang="en-US"/>
          </a:p>
        </p:txBody>
      </p:sp>
      <p:sp>
        <p:nvSpPr>
          <p:cNvPr id="159" name="Shape 157"/>
          <p:cNvSpPr/>
          <p:nvPr/>
        </p:nvSpPr>
        <p:spPr>
          <a:xfrm>
            <a:off x="8554507" y="4084711"/>
            <a:ext cx="9525" cy="368781"/>
          </a:xfrm>
          <a:prstGeom prst="rect">
            <a:avLst/>
          </a:prstGeom>
          <a:solidFill>
            <a:srgbClr val="EADFD3"/>
          </a:solidFill>
          <a:ln/>
        </p:spPr>
        <p:txBody>
          <a:bodyPr/>
          <a:lstStyle/>
          <a:p>
            <a:endParaRPr lang="ko-KR" altLang="en-US"/>
          </a:p>
        </p:txBody>
      </p:sp>
      <p:sp>
        <p:nvSpPr>
          <p:cNvPr id="160" name="Text 158"/>
          <p:cNvSpPr/>
          <p:nvPr/>
        </p:nvSpPr>
        <p:spPr>
          <a:xfrm>
            <a:off x="8578774" y="4128028"/>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44.4%</a:t>
            </a:r>
            <a:endParaRPr lang="en-US" sz="1050" dirty="0"/>
          </a:p>
        </p:txBody>
      </p:sp>
      <p:sp>
        <p:nvSpPr>
          <p:cNvPr id="161" name="Shape 159"/>
          <p:cNvSpPr/>
          <p:nvPr/>
        </p:nvSpPr>
        <p:spPr>
          <a:xfrm>
            <a:off x="538580" y="4453492"/>
            <a:ext cx="1603185" cy="624417"/>
          </a:xfrm>
          <a:prstGeom prst="rect">
            <a:avLst/>
          </a:prstGeom>
          <a:solidFill>
            <a:srgbClr val="F7E4D6"/>
          </a:solidFill>
          <a:ln/>
        </p:spPr>
        <p:txBody>
          <a:bodyPr/>
          <a:lstStyle/>
          <a:p>
            <a:endParaRPr lang="ko-KR" altLang="en-US"/>
          </a:p>
        </p:txBody>
      </p:sp>
      <p:sp>
        <p:nvSpPr>
          <p:cNvPr id="162" name="Shape 160"/>
          <p:cNvSpPr/>
          <p:nvPr/>
        </p:nvSpPr>
        <p:spPr>
          <a:xfrm>
            <a:off x="538580" y="4453492"/>
            <a:ext cx="1603185" cy="9525"/>
          </a:xfrm>
          <a:prstGeom prst="rect">
            <a:avLst/>
          </a:prstGeom>
          <a:solidFill>
            <a:srgbClr val="EADFD3"/>
          </a:solidFill>
          <a:ln/>
        </p:spPr>
        <p:txBody>
          <a:bodyPr/>
          <a:lstStyle/>
          <a:p>
            <a:endParaRPr lang="ko-KR" altLang="en-US"/>
          </a:p>
        </p:txBody>
      </p:sp>
      <p:sp>
        <p:nvSpPr>
          <p:cNvPr id="163" name="Text 161"/>
          <p:cNvSpPr/>
          <p:nvPr/>
        </p:nvSpPr>
        <p:spPr>
          <a:xfrm>
            <a:off x="557630" y="4496809"/>
            <a:ext cx="1565085"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납입완료 (7년)</a:t>
            </a:r>
            <a:endParaRPr lang="en-US" sz="1050" dirty="0"/>
          </a:p>
        </p:txBody>
      </p:sp>
      <p:sp>
        <p:nvSpPr>
          <p:cNvPr id="164" name="Shape 162"/>
          <p:cNvSpPr/>
          <p:nvPr/>
        </p:nvSpPr>
        <p:spPr>
          <a:xfrm>
            <a:off x="2141765" y="4453492"/>
            <a:ext cx="1603185" cy="624417"/>
          </a:xfrm>
          <a:prstGeom prst="rect">
            <a:avLst/>
          </a:prstGeom>
          <a:solidFill>
            <a:srgbClr val="F7E4D6"/>
          </a:solidFill>
          <a:ln/>
        </p:spPr>
        <p:txBody>
          <a:bodyPr/>
          <a:lstStyle/>
          <a:p>
            <a:endParaRPr lang="ko-KR" altLang="en-US"/>
          </a:p>
        </p:txBody>
      </p:sp>
      <p:sp>
        <p:nvSpPr>
          <p:cNvPr id="165" name="Shape 163"/>
          <p:cNvSpPr/>
          <p:nvPr/>
        </p:nvSpPr>
        <p:spPr>
          <a:xfrm>
            <a:off x="2141765" y="4453492"/>
            <a:ext cx="1603185" cy="9525"/>
          </a:xfrm>
          <a:prstGeom prst="rect">
            <a:avLst/>
          </a:prstGeom>
          <a:solidFill>
            <a:srgbClr val="EADFD3"/>
          </a:solidFill>
          <a:ln/>
        </p:spPr>
        <p:txBody>
          <a:bodyPr/>
          <a:lstStyle/>
          <a:p>
            <a:endParaRPr lang="ko-KR" altLang="en-US"/>
          </a:p>
        </p:txBody>
      </p:sp>
      <p:sp>
        <p:nvSpPr>
          <p:cNvPr id="166" name="Shape 164"/>
          <p:cNvSpPr/>
          <p:nvPr/>
        </p:nvSpPr>
        <p:spPr>
          <a:xfrm>
            <a:off x="2141765" y="4453492"/>
            <a:ext cx="9525" cy="624417"/>
          </a:xfrm>
          <a:prstGeom prst="rect">
            <a:avLst/>
          </a:prstGeom>
          <a:solidFill>
            <a:srgbClr val="EADFD3"/>
          </a:solidFill>
          <a:ln/>
        </p:spPr>
        <p:txBody>
          <a:bodyPr/>
          <a:lstStyle/>
          <a:p>
            <a:endParaRPr lang="ko-KR" altLang="en-US"/>
          </a:p>
        </p:txBody>
      </p:sp>
      <p:sp>
        <p:nvSpPr>
          <p:cNvPr id="167" name="Text 165"/>
          <p:cNvSpPr/>
          <p:nvPr/>
        </p:nvSpPr>
        <p:spPr>
          <a:xfrm>
            <a:off x="2166032" y="4496809"/>
            <a:ext cx="1559868"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100%</a:t>
            </a:r>
            <a:endParaRPr lang="en-US" sz="1050" dirty="0"/>
          </a:p>
        </p:txBody>
      </p:sp>
      <p:sp>
        <p:nvSpPr>
          <p:cNvPr id="168" name="Shape 166"/>
          <p:cNvSpPr/>
          <p:nvPr/>
        </p:nvSpPr>
        <p:spPr>
          <a:xfrm>
            <a:off x="3744951" y="4453492"/>
            <a:ext cx="1603185" cy="624417"/>
          </a:xfrm>
          <a:prstGeom prst="rect">
            <a:avLst/>
          </a:prstGeom>
          <a:solidFill>
            <a:srgbClr val="F7E4D6"/>
          </a:solidFill>
          <a:ln/>
        </p:spPr>
        <p:txBody>
          <a:bodyPr/>
          <a:lstStyle/>
          <a:p>
            <a:endParaRPr lang="ko-KR" altLang="en-US"/>
          </a:p>
        </p:txBody>
      </p:sp>
      <p:sp>
        <p:nvSpPr>
          <p:cNvPr id="169" name="Shape 167"/>
          <p:cNvSpPr/>
          <p:nvPr/>
        </p:nvSpPr>
        <p:spPr>
          <a:xfrm>
            <a:off x="3744951" y="4453492"/>
            <a:ext cx="1603185" cy="9525"/>
          </a:xfrm>
          <a:prstGeom prst="rect">
            <a:avLst/>
          </a:prstGeom>
          <a:solidFill>
            <a:srgbClr val="EADFD3"/>
          </a:solidFill>
          <a:ln/>
        </p:spPr>
        <p:txBody>
          <a:bodyPr/>
          <a:lstStyle/>
          <a:p>
            <a:endParaRPr lang="ko-KR" altLang="en-US"/>
          </a:p>
        </p:txBody>
      </p:sp>
      <p:sp>
        <p:nvSpPr>
          <p:cNvPr id="170" name="Shape 168"/>
          <p:cNvSpPr/>
          <p:nvPr/>
        </p:nvSpPr>
        <p:spPr>
          <a:xfrm>
            <a:off x="3744951" y="4453492"/>
            <a:ext cx="9525" cy="624417"/>
          </a:xfrm>
          <a:prstGeom prst="rect">
            <a:avLst/>
          </a:prstGeom>
          <a:solidFill>
            <a:srgbClr val="EADFD3"/>
          </a:solidFill>
          <a:ln/>
        </p:spPr>
        <p:txBody>
          <a:bodyPr/>
          <a:lstStyle/>
          <a:p>
            <a:endParaRPr lang="ko-KR" altLang="en-US"/>
          </a:p>
        </p:txBody>
      </p:sp>
      <p:sp>
        <p:nvSpPr>
          <p:cNvPr id="171" name="Text 169"/>
          <p:cNvSpPr/>
          <p:nvPr/>
        </p:nvSpPr>
        <p:spPr>
          <a:xfrm>
            <a:off x="3769218" y="4496809"/>
            <a:ext cx="1559868"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99.9%</a:t>
            </a:r>
            <a:endParaRPr lang="en-US" sz="1050" dirty="0"/>
          </a:p>
        </p:txBody>
      </p:sp>
      <p:sp>
        <p:nvSpPr>
          <p:cNvPr id="172" name="Shape 170"/>
          <p:cNvSpPr/>
          <p:nvPr/>
        </p:nvSpPr>
        <p:spPr>
          <a:xfrm>
            <a:off x="5348136" y="4453492"/>
            <a:ext cx="1603185" cy="624417"/>
          </a:xfrm>
          <a:prstGeom prst="rect">
            <a:avLst/>
          </a:prstGeom>
          <a:solidFill>
            <a:srgbClr val="F7E4D6"/>
          </a:solidFill>
          <a:ln/>
        </p:spPr>
        <p:txBody>
          <a:bodyPr/>
          <a:lstStyle/>
          <a:p>
            <a:endParaRPr lang="ko-KR" altLang="en-US"/>
          </a:p>
        </p:txBody>
      </p:sp>
      <p:sp>
        <p:nvSpPr>
          <p:cNvPr id="173" name="Shape 171"/>
          <p:cNvSpPr/>
          <p:nvPr/>
        </p:nvSpPr>
        <p:spPr>
          <a:xfrm>
            <a:off x="5348136" y="4453492"/>
            <a:ext cx="1603185" cy="9525"/>
          </a:xfrm>
          <a:prstGeom prst="rect">
            <a:avLst/>
          </a:prstGeom>
          <a:solidFill>
            <a:srgbClr val="EADFD3"/>
          </a:solidFill>
          <a:ln/>
        </p:spPr>
        <p:txBody>
          <a:bodyPr/>
          <a:lstStyle/>
          <a:p>
            <a:endParaRPr lang="ko-KR" altLang="en-US"/>
          </a:p>
        </p:txBody>
      </p:sp>
      <p:sp>
        <p:nvSpPr>
          <p:cNvPr id="174" name="Shape 172"/>
          <p:cNvSpPr/>
          <p:nvPr/>
        </p:nvSpPr>
        <p:spPr>
          <a:xfrm>
            <a:off x="5348136" y="4453492"/>
            <a:ext cx="9525" cy="624417"/>
          </a:xfrm>
          <a:prstGeom prst="rect">
            <a:avLst/>
          </a:prstGeom>
          <a:solidFill>
            <a:srgbClr val="EADFD3"/>
          </a:solidFill>
          <a:ln/>
        </p:spPr>
        <p:txBody>
          <a:bodyPr/>
          <a:lstStyle/>
          <a:p>
            <a:endParaRPr lang="ko-KR" altLang="en-US"/>
          </a:p>
        </p:txBody>
      </p:sp>
      <p:sp>
        <p:nvSpPr>
          <p:cNvPr id="175" name="Text 173"/>
          <p:cNvSpPr/>
          <p:nvPr/>
        </p:nvSpPr>
        <p:spPr>
          <a:xfrm>
            <a:off x="5372403" y="4496809"/>
            <a:ext cx="1559868"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100%</a:t>
            </a:r>
            <a:endParaRPr lang="en-US" sz="1050" dirty="0"/>
          </a:p>
        </p:txBody>
      </p:sp>
      <p:sp>
        <p:nvSpPr>
          <p:cNvPr id="176" name="Shape 174"/>
          <p:cNvSpPr/>
          <p:nvPr/>
        </p:nvSpPr>
        <p:spPr>
          <a:xfrm>
            <a:off x="6951322" y="4453492"/>
            <a:ext cx="1603185" cy="624417"/>
          </a:xfrm>
          <a:prstGeom prst="rect">
            <a:avLst/>
          </a:prstGeom>
          <a:solidFill>
            <a:srgbClr val="F7E4D6"/>
          </a:solidFill>
          <a:ln/>
        </p:spPr>
        <p:txBody>
          <a:bodyPr/>
          <a:lstStyle/>
          <a:p>
            <a:endParaRPr lang="ko-KR" altLang="en-US"/>
          </a:p>
        </p:txBody>
      </p:sp>
      <p:sp>
        <p:nvSpPr>
          <p:cNvPr id="177" name="Shape 175"/>
          <p:cNvSpPr/>
          <p:nvPr/>
        </p:nvSpPr>
        <p:spPr>
          <a:xfrm>
            <a:off x="6951322" y="4453492"/>
            <a:ext cx="1603185" cy="9525"/>
          </a:xfrm>
          <a:prstGeom prst="rect">
            <a:avLst/>
          </a:prstGeom>
          <a:solidFill>
            <a:srgbClr val="EADFD3"/>
          </a:solidFill>
          <a:ln/>
        </p:spPr>
        <p:txBody>
          <a:bodyPr/>
          <a:lstStyle/>
          <a:p>
            <a:endParaRPr lang="ko-KR" altLang="en-US"/>
          </a:p>
        </p:txBody>
      </p:sp>
      <p:sp>
        <p:nvSpPr>
          <p:cNvPr id="178" name="Shape 176"/>
          <p:cNvSpPr/>
          <p:nvPr/>
        </p:nvSpPr>
        <p:spPr>
          <a:xfrm>
            <a:off x="6951322" y="4453492"/>
            <a:ext cx="9525" cy="624417"/>
          </a:xfrm>
          <a:prstGeom prst="rect">
            <a:avLst/>
          </a:prstGeom>
          <a:solidFill>
            <a:srgbClr val="EADFD3"/>
          </a:solidFill>
          <a:ln/>
        </p:spPr>
        <p:txBody>
          <a:bodyPr/>
          <a:lstStyle/>
          <a:p>
            <a:endParaRPr lang="ko-KR" altLang="en-US"/>
          </a:p>
        </p:txBody>
      </p:sp>
      <p:sp>
        <p:nvSpPr>
          <p:cNvPr id="179" name="Text 177"/>
          <p:cNvSpPr/>
          <p:nvPr/>
        </p:nvSpPr>
        <p:spPr>
          <a:xfrm>
            <a:off x="6975589" y="4496809"/>
            <a:ext cx="1559868"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100%</a:t>
            </a:r>
            <a:endParaRPr lang="en-US" sz="1050" dirty="0"/>
          </a:p>
        </p:txBody>
      </p:sp>
      <p:sp>
        <p:nvSpPr>
          <p:cNvPr id="180" name="Shape 178"/>
          <p:cNvSpPr/>
          <p:nvPr/>
        </p:nvSpPr>
        <p:spPr>
          <a:xfrm>
            <a:off x="8554507" y="4453492"/>
            <a:ext cx="1603430" cy="624417"/>
          </a:xfrm>
          <a:prstGeom prst="rect">
            <a:avLst/>
          </a:prstGeom>
          <a:solidFill>
            <a:srgbClr val="F7E4D6"/>
          </a:solidFill>
          <a:ln/>
        </p:spPr>
        <p:txBody>
          <a:bodyPr/>
          <a:lstStyle/>
          <a:p>
            <a:endParaRPr lang="ko-KR" altLang="en-US"/>
          </a:p>
        </p:txBody>
      </p:sp>
      <p:sp>
        <p:nvSpPr>
          <p:cNvPr id="181" name="Shape 179"/>
          <p:cNvSpPr/>
          <p:nvPr/>
        </p:nvSpPr>
        <p:spPr>
          <a:xfrm>
            <a:off x="8554507" y="4453492"/>
            <a:ext cx="1603430" cy="9525"/>
          </a:xfrm>
          <a:prstGeom prst="rect">
            <a:avLst/>
          </a:prstGeom>
          <a:solidFill>
            <a:srgbClr val="EADFD3"/>
          </a:solidFill>
          <a:ln/>
        </p:spPr>
        <p:txBody>
          <a:bodyPr/>
          <a:lstStyle/>
          <a:p>
            <a:endParaRPr lang="ko-KR" altLang="en-US"/>
          </a:p>
        </p:txBody>
      </p:sp>
      <p:sp>
        <p:nvSpPr>
          <p:cNvPr id="182" name="Shape 180"/>
          <p:cNvSpPr/>
          <p:nvPr/>
        </p:nvSpPr>
        <p:spPr>
          <a:xfrm>
            <a:off x="8554507" y="4453492"/>
            <a:ext cx="9525" cy="624417"/>
          </a:xfrm>
          <a:prstGeom prst="rect">
            <a:avLst/>
          </a:prstGeom>
          <a:solidFill>
            <a:srgbClr val="EADFD3"/>
          </a:solidFill>
          <a:ln/>
        </p:spPr>
        <p:txBody>
          <a:bodyPr/>
          <a:lstStyle/>
          <a:p>
            <a:endParaRPr lang="ko-KR" altLang="en-US"/>
          </a:p>
        </p:txBody>
      </p:sp>
      <p:sp>
        <p:nvSpPr>
          <p:cNvPr id="183" name="Text 181"/>
          <p:cNvSpPr/>
          <p:nvPr/>
        </p:nvSpPr>
        <p:spPr>
          <a:xfrm>
            <a:off x="8578774" y="4496809"/>
            <a:ext cx="1560113" cy="581100"/>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100%</a:t>
            </a:r>
            <a:endParaRPr lang="en-US" sz="1050" dirty="0"/>
          </a:p>
        </p:txBody>
      </p:sp>
      <p:sp>
        <p:nvSpPr>
          <p:cNvPr id="184" name="Shape 182"/>
          <p:cNvSpPr/>
          <p:nvPr/>
        </p:nvSpPr>
        <p:spPr>
          <a:xfrm>
            <a:off x="538580" y="5077909"/>
            <a:ext cx="1603185" cy="375954"/>
          </a:xfrm>
          <a:prstGeom prst="rect">
            <a:avLst/>
          </a:prstGeom>
          <a:solidFill>
            <a:srgbClr val="F5E9CC"/>
          </a:solidFill>
          <a:ln/>
        </p:spPr>
        <p:txBody>
          <a:bodyPr/>
          <a:lstStyle/>
          <a:p>
            <a:endParaRPr lang="ko-KR" altLang="en-US"/>
          </a:p>
        </p:txBody>
      </p:sp>
      <p:sp>
        <p:nvSpPr>
          <p:cNvPr id="185" name="Shape 183"/>
          <p:cNvSpPr/>
          <p:nvPr/>
        </p:nvSpPr>
        <p:spPr>
          <a:xfrm>
            <a:off x="538580" y="5077909"/>
            <a:ext cx="1603185" cy="9525"/>
          </a:xfrm>
          <a:prstGeom prst="rect">
            <a:avLst/>
          </a:prstGeom>
          <a:solidFill>
            <a:srgbClr val="EADFD3"/>
          </a:solidFill>
          <a:ln/>
        </p:spPr>
        <p:txBody>
          <a:bodyPr/>
          <a:lstStyle/>
          <a:p>
            <a:endParaRPr lang="ko-KR" altLang="en-US"/>
          </a:p>
        </p:txBody>
      </p:sp>
      <p:sp>
        <p:nvSpPr>
          <p:cNvPr id="186" name="Text 184"/>
          <p:cNvSpPr/>
          <p:nvPr/>
        </p:nvSpPr>
        <p:spPr>
          <a:xfrm>
            <a:off x="557630" y="5121226"/>
            <a:ext cx="1565085"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10년</a:t>
            </a:r>
            <a:endParaRPr lang="en-US" sz="1050" dirty="0"/>
          </a:p>
        </p:txBody>
      </p:sp>
      <p:sp>
        <p:nvSpPr>
          <p:cNvPr id="187" name="Shape 185"/>
          <p:cNvSpPr/>
          <p:nvPr/>
        </p:nvSpPr>
        <p:spPr>
          <a:xfrm>
            <a:off x="2141765" y="5077909"/>
            <a:ext cx="1603185" cy="375954"/>
          </a:xfrm>
          <a:prstGeom prst="rect">
            <a:avLst/>
          </a:prstGeom>
          <a:solidFill>
            <a:srgbClr val="F5E9CC"/>
          </a:solidFill>
          <a:ln/>
        </p:spPr>
        <p:txBody>
          <a:bodyPr/>
          <a:lstStyle/>
          <a:p>
            <a:endParaRPr lang="ko-KR" altLang="en-US"/>
          </a:p>
        </p:txBody>
      </p:sp>
      <p:sp>
        <p:nvSpPr>
          <p:cNvPr id="188" name="Shape 186"/>
          <p:cNvSpPr/>
          <p:nvPr/>
        </p:nvSpPr>
        <p:spPr>
          <a:xfrm>
            <a:off x="2141765" y="5077909"/>
            <a:ext cx="1603185" cy="9525"/>
          </a:xfrm>
          <a:prstGeom prst="rect">
            <a:avLst/>
          </a:prstGeom>
          <a:solidFill>
            <a:srgbClr val="EADFD3"/>
          </a:solidFill>
          <a:ln/>
        </p:spPr>
        <p:txBody>
          <a:bodyPr/>
          <a:lstStyle/>
          <a:p>
            <a:endParaRPr lang="ko-KR" altLang="en-US"/>
          </a:p>
        </p:txBody>
      </p:sp>
      <p:sp>
        <p:nvSpPr>
          <p:cNvPr id="189" name="Shape 187"/>
          <p:cNvSpPr/>
          <p:nvPr/>
        </p:nvSpPr>
        <p:spPr>
          <a:xfrm>
            <a:off x="2141765" y="5077909"/>
            <a:ext cx="9525" cy="375954"/>
          </a:xfrm>
          <a:prstGeom prst="rect">
            <a:avLst/>
          </a:prstGeom>
          <a:solidFill>
            <a:srgbClr val="EADFD3"/>
          </a:solidFill>
          <a:ln/>
        </p:spPr>
        <p:txBody>
          <a:bodyPr/>
          <a:lstStyle/>
          <a:p>
            <a:endParaRPr lang="ko-KR" altLang="en-US"/>
          </a:p>
        </p:txBody>
      </p:sp>
      <p:sp>
        <p:nvSpPr>
          <p:cNvPr id="190" name="Text 188"/>
          <p:cNvSpPr/>
          <p:nvPr/>
        </p:nvSpPr>
        <p:spPr>
          <a:xfrm>
            <a:off x="2166032" y="5121226"/>
            <a:ext cx="1559868"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117.66%</a:t>
            </a:r>
            <a:endParaRPr lang="en-US" sz="1050" dirty="0"/>
          </a:p>
        </p:txBody>
      </p:sp>
      <p:sp>
        <p:nvSpPr>
          <p:cNvPr id="191" name="Shape 189"/>
          <p:cNvSpPr/>
          <p:nvPr/>
        </p:nvSpPr>
        <p:spPr>
          <a:xfrm>
            <a:off x="3744951" y="5077909"/>
            <a:ext cx="1603185" cy="375954"/>
          </a:xfrm>
          <a:prstGeom prst="rect">
            <a:avLst/>
          </a:prstGeom>
          <a:solidFill>
            <a:srgbClr val="F5E9CC"/>
          </a:solidFill>
          <a:ln/>
        </p:spPr>
        <p:txBody>
          <a:bodyPr/>
          <a:lstStyle/>
          <a:p>
            <a:endParaRPr lang="ko-KR" altLang="en-US"/>
          </a:p>
        </p:txBody>
      </p:sp>
      <p:sp>
        <p:nvSpPr>
          <p:cNvPr id="192" name="Shape 190"/>
          <p:cNvSpPr/>
          <p:nvPr/>
        </p:nvSpPr>
        <p:spPr>
          <a:xfrm>
            <a:off x="3744951" y="5077909"/>
            <a:ext cx="1603185" cy="9525"/>
          </a:xfrm>
          <a:prstGeom prst="rect">
            <a:avLst/>
          </a:prstGeom>
          <a:solidFill>
            <a:srgbClr val="EADFD3"/>
          </a:solidFill>
          <a:ln/>
        </p:spPr>
        <p:txBody>
          <a:bodyPr/>
          <a:lstStyle/>
          <a:p>
            <a:endParaRPr lang="ko-KR" altLang="en-US"/>
          </a:p>
        </p:txBody>
      </p:sp>
      <p:sp>
        <p:nvSpPr>
          <p:cNvPr id="193" name="Shape 191"/>
          <p:cNvSpPr/>
          <p:nvPr/>
        </p:nvSpPr>
        <p:spPr>
          <a:xfrm>
            <a:off x="3744951" y="5077909"/>
            <a:ext cx="9525" cy="375954"/>
          </a:xfrm>
          <a:prstGeom prst="rect">
            <a:avLst/>
          </a:prstGeom>
          <a:solidFill>
            <a:srgbClr val="EADFD3"/>
          </a:solidFill>
          <a:ln/>
        </p:spPr>
        <p:txBody>
          <a:bodyPr/>
          <a:lstStyle/>
          <a:p>
            <a:endParaRPr lang="ko-KR" altLang="en-US"/>
          </a:p>
        </p:txBody>
      </p:sp>
      <p:sp>
        <p:nvSpPr>
          <p:cNvPr id="194" name="Text 192"/>
          <p:cNvSpPr/>
          <p:nvPr/>
        </p:nvSpPr>
        <p:spPr>
          <a:xfrm>
            <a:off x="3769218" y="5121226"/>
            <a:ext cx="1559868"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117.6%</a:t>
            </a:r>
            <a:endParaRPr lang="en-US" sz="1050" dirty="0"/>
          </a:p>
        </p:txBody>
      </p:sp>
      <p:sp>
        <p:nvSpPr>
          <p:cNvPr id="195" name="Shape 193"/>
          <p:cNvSpPr/>
          <p:nvPr/>
        </p:nvSpPr>
        <p:spPr>
          <a:xfrm>
            <a:off x="5348136" y="5077909"/>
            <a:ext cx="1603185" cy="375954"/>
          </a:xfrm>
          <a:prstGeom prst="rect">
            <a:avLst/>
          </a:prstGeom>
          <a:solidFill>
            <a:srgbClr val="F5E9CC"/>
          </a:solidFill>
          <a:ln/>
        </p:spPr>
        <p:txBody>
          <a:bodyPr/>
          <a:lstStyle/>
          <a:p>
            <a:endParaRPr lang="ko-KR" altLang="en-US"/>
          </a:p>
        </p:txBody>
      </p:sp>
      <p:sp>
        <p:nvSpPr>
          <p:cNvPr id="196" name="Shape 194"/>
          <p:cNvSpPr/>
          <p:nvPr/>
        </p:nvSpPr>
        <p:spPr>
          <a:xfrm>
            <a:off x="5348136" y="5077909"/>
            <a:ext cx="1603185" cy="9525"/>
          </a:xfrm>
          <a:prstGeom prst="rect">
            <a:avLst/>
          </a:prstGeom>
          <a:solidFill>
            <a:srgbClr val="EADFD3"/>
          </a:solidFill>
          <a:ln/>
        </p:spPr>
        <p:txBody>
          <a:bodyPr/>
          <a:lstStyle/>
          <a:p>
            <a:endParaRPr lang="ko-KR" altLang="en-US"/>
          </a:p>
        </p:txBody>
      </p:sp>
      <p:sp>
        <p:nvSpPr>
          <p:cNvPr id="197" name="Shape 195"/>
          <p:cNvSpPr/>
          <p:nvPr/>
        </p:nvSpPr>
        <p:spPr>
          <a:xfrm>
            <a:off x="5348136" y="5077909"/>
            <a:ext cx="9525" cy="375954"/>
          </a:xfrm>
          <a:prstGeom prst="rect">
            <a:avLst/>
          </a:prstGeom>
          <a:solidFill>
            <a:srgbClr val="EADFD3"/>
          </a:solidFill>
          <a:ln/>
        </p:spPr>
        <p:txBody>
          <a:bodyPr/>
          <a:lstStyle/>
          <a:p>
            <a:endParaRPr lang="ko-KR" altLang="en-US"/>
          </a:p>
        </p:txBody>
      </p:sp>
      <p:sp>
        <p:nvSpPr>
          <p:cNvPr id="198" name="Text 196"/>
          <p:cNvSpPr/>
          <p:nvPr/>
        </p:nvSpPr>
        <p:spPr>
          <a:xfrm>
            <a:off x="5372403" y="5121226"/>
            <a:ext cx="1559868"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117.6%</a:t>
            </a:r>
            <a:endParaRPr lang="en-US" sz="1050" dirty="0"/>
          </a:p>
        </p:txBody>
      </p:sp>
      <p:sp>
        <p:nvSpPr>
          <p:cNvPr id="199" name="Shape 197"/>
          <p:cNvSpPr/>
          <p:nvPr/>
        </p:nvSpPr>
        <p:spPr>
          <a:xfrm>
            <a:off x="6951322" y="5077909"/>
            <a:ext cx="1603185" cy="375954"/>
          </a:xfrm>
          <a:prstGeom prst="rect">
            <a:avLst/>
          </a:prstGeom>
          <a:solidFill>
            <a:srgbClr val="F5E9CC"/>
          </a:solidFill>
          <a:ln/>
        </p:spPr>
        <p:txBody>
          <a:bodyPr/>
          <a:lstStyle/>
          <a:p>
            <a:endParaRPr lang="ko-KR" altLang="en-US"/>
          </a:p>
        </p:txBody>
      </p:sp>
      <p:sp>
        <p:nvSpPr>
          <p:cNvPr id="200" name="Shape 198"/>
          <p:cNvSpPr/>
          <p:nvPr/>
        </p:nvSpPr>
        <p:spPr>
          <a:xfrm>
            <a:off x="6951322" y="5077909"/>
            <a:ext cx="1603185" cy="9525"/>
          </a:xfrm>
          <a:prstGeom prst="rect">
            <a:avLst/>
          </a:prstGeom>
          <a:solidFill>
            <a:srgbClr val="EADFD3"/>
          </a:solidFill>
          <a:ln/>
        </p:spPr>
        <p:txBody>
          <a:bodyPr/>
          <a:lstStyle/>
          <a:p>
            <a:endParaRPr lang="ko-KR" altLang="en-US"/>
          </a:p>
        </p:txBody>
      </p:sp>
      <p:sp>
        <p:nvSpPr>
          <p:cNvPr id="201" name="Shape 199"/>
          <p:cNvSpPr/>
          <p:nvPr/>
        </p:nvSpPr>
        <p:spPr>
          <a:xfrm>
            <a:off x="6951322" y="5077909"/>
            <a:ext cx="9525" cy="375954"/>
          </a:xfrm>
          <a:prstGeom prst="rect">
            <a:avLst/>
          </a:prstGeom>
          <a:solidFill>
            <a:srgbClr val="EADFD3"/>
          </a:solidFill>
          <a:ln/>
        </p:spPr>
        <p:txBody>
          <a:bodyPr/>
          <a:lstStyle/>
          <a:p>
            <a:endParaRPr lang="ko-KR" altLang="en-US"/>
          </a:p>
        </p:txBody>
      </p:sp>
      <p:sp>
        <p:nvSpPr>
          <p:cNvPr id="202" name="Text 200"/>
          <p:cNvSpPr/>
          <p:nvPr/>
        </p:nvSpPr>
        <p:spPr>
          <a:xfrm>
            <a:off x="6975589" y="5121226"/>
            <a:ext cx="1559868"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117.6%</a:t>
            </a:r>
            <a:endParaRPr lang="en-US" sz="1050" dirty="0"/>
          </a:p>
        </p:txBody>
      </p:sp>
      <p:sp>
        <p:nvSpPr>
          <p:cNvPr id="203" name="Shape 201"/>
          <p:cNvSpPr/>
          <p:nvPr/>
        </p:nvSpPr>
        <p:spPr>
          <a:xfrm>
            <a:off x="8554507" y="5077909"/>
            <a:ext cx="1603430" cy="375954"/>
          </a:xfrm>
          <a:prstGeom prst="rect">
            <a:avLst/>
          </a:prstGeom>
          <a:solidFill>
            <a:srgbClr val="F5E9CC"/>
          </a:solidFill>
          <a:ln/>
        </p:spPr>
        <p:txBody>
          <a:bodyPr/>
          <a:lstStyle/>
          <a:p>
            <a:endParaRPr lang="ko-KR" altLang="en-US"/>
          </a:p>
        </p:txBody>
      </p:sp>
      <p:sp>
        <p:nvSpPr>
          <p:cNvPr id="204" name="Shape 202"/>
          <p:cNvSpPr/>
          <p:nvPr/>
        </p:nvSpPr>
        <p:spPr>
          <a:xfrm>
            <a:off x="8554507" y="5077909"/>
            <a:ext cx="1603430" cy="9525"/>
          </a:xfrm>
          <a:prstGeom prst="rect">
            <a:avLst/>
          </a:prstGeom>
          <a:solidFill>
            <a:srgbClr val="EADFD3"/>
          </a:solidFill>
          <a:ln/>
        </p:spPr>
        <p:txBody>
          <a:bodyPr/>
          <a:lstStyle/>
          <a:p>
            <a:endParaRPr lang="ko-KR" altLang="en-US"/>
          </a:p>
        </p:txBody>
      </p:sp>
      <p:sp>
        <p:nvSpPr>
          <p:cNvPr id="205" name="Shape 203"/>
          <p:cNvSpPr/>
          <p:nvPr/>
        </p:nvSpPr>
        <p:spPr>
          <a:xfrm>
            <a:off x="8554507" y="5077909"/>
            <a:ext cx="9525" cy="375954"/>
          </a:xfrm>
          <a:prstGeom prst="rect">
            <a:avLst/>
          </a:prstGeom>
          <a:solidFill>
            <a:srgbClr val="EADFD3"/>
          </a:solidFill>
          <a:ln/>
        </p:spPr>
        <p:txBody>
          <a:bodyPr/>
          <a:lstStyle/>
          <a:p>
            <a:endParaRPr lang="ko-KR" altLang="en-US"/>
          </a:p>
        </p:txBody>
      </p:sp>
      <p:sp>
        <p:nvSpPr>
          <p:cNvPr id="206" name="Text 204"/>
          <p:cNvSpPr/>
          <p:nvPr/>
        </p:nvSpPr>
        <p:spPr>
          <a:xfrm>
            <a:off x="8578774" y="5121226"/>
            <a:ext cx="1560113" cy="332637"/>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C24E2C"/>
                </a:solidFill>
                <a:latin typeface="Paperlogy 7 Bold" pitchFamily="2" charset="-127"/>
                <a:ea typeface="Paperlogy 7 Bold" pitchFamily="2" charset="-127"/>
                <a:cs typeface="Arial" pitchFamily="34" charset="-120"/>
              </a:rPr>
              <a:t>117.6%</a:t>
            </a:r>
            <a:endParaRPr lang="en-US" sz="1050" dirty="0"/>
          </a:p>
        </p:txBody>
      </p:sp>
      <p:sp>
        <p:nvSpPr>
          <p:cNvPr id="207" name="Shape 205"/>
          <p:cNvSpPr/>
          <p:nvPr/>
        </p:nvSpPr>
        <p:spPr>
          <a:xfrm>
            <a:off x="538580" y="5453863"/>
            <a:ext cx="1603185" cy="368781"/>
          </a:xfrm>
          <a:prstGeom prst="rect">
            <a:avLst/>
          </a:prstGeom>
          <a:solidFill>
            <a:srgbClr val="FCF8EC"/>
          </a:solidFill>
          <a:ln/>
        </p:spPr>
        <p:txBody>
          <a:bodyPr/>
          <a:lstStyle/>
          <a:p>
            <a:endParaRPr lang="ko-KR" altLang="en-US"/>
          </a:p>
        </p:txBody>
      </p:sp>
      <p:sp>
        <p:nvSpPr>
          <p:cNvPr id="208" name="Shape 206"/>
          <p:cNvSpPr/>
          <p:nvPr/>
        </p:nvSpPr>
        <p:spPr>
          <a:xfrm>
            <a:off x="538580" y="5453863"/>
            <a:ext cx="1603185" cy="9525"/>
          </a:xfrm>
          <a:prstGeom prst="rect">
            <a:avLst/>
          </a:prstGeom>
          <a:solidFill>
            <a:srgbClr val="EADFD3"/>
          </a:solidFill>
          <a:ln/>
        </p:spPr>
        <p:txBody>
          <a:bodyPr/>
          <a:lstStyle/>
          <a:p>
            <a:endParaRPr lang="ko-KR" altLang="en-US"/>
          </a:p>
        </p:txBody>
      </p:sp>
      <p:sp>
        <p:nvSpPr>
          <p:cNvPr id="209" name="Text 207"/>
          <p:cNvSpPr/>
          <p:nvPr/>
        </p:nvSpPr>
        <p:spPr>
          <a:xfrm>
            <a:off x="557630" y="5497180"/>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15년</a:t>
            </a:r>
            <a:endParaRPr lang="en-US" sz="1050" dirty="0"/>
          </a:p>
        </p:txBody>
      </p:sp>
      <p:sp>
        <p:nvSpPr>
          <p:cNvPr id="210" name="Shape 208"/>
          <p:cNvSpPr/>
          <p:nvPr/>
        </p:nvSpPr>
        <p:spPr>
          <a:xfrm>
            <a:off x="2141765" y="5453863"/>
            <a:ext cx="1603185" cy="368781"/>
          </a:xfrm>
          <a:prstGeom prst="rect">
            <a:avLst/>
          </a:prstGeom>
          <a:solidFill>
            <a:srgbClr val="FFFFFF"/>
          </a:solidFill>
          <a:ln/>
        </p:spPr>
        <p:txBody>
          <a:bodyPr/>
          <a:lstStyle/>
          <a:p>
            <a:endParaRPr lang="ko-KR" altLang="en-US"/>
          </a:p>
        </p:txBody>
      </p:sp>
      <p:sp>
        <p:nvSpPr>
          <p:cNvPr id="211" name="Shape 209"/>
          <p:cNvSpPr/>
          <p:nvPr/>
        </p:nvSpPr>
        <p:spPr>
          <a:xfrm>
            <a:off x="2141765" y="5453863"/>
            <a:ext cx="1603185" cy="9525"/>
          </a:xfrm>
          <a:prstGeom prst="rect">
            <a:avLst/>
          </a:prstGeom>
          <a:solidFill>
            <a:srgbClr val="EADFD3"/>
          </a:solidFill>
          <a:ln/>
        </p:spPr>
        <p:txBody>
          <a:bodyPr/>
          <a:lstStyle/>
          <a:p>
            <a:endParaRPr lang="ko-KR" altLang="en-US"/>
          </a:p>
        </p:txBody>
      </p:sp>
      <p:sp>
        <p:nvSpPr>
          <p:cNvPr id="212" name="Shape 210"/>
          <p:cNvSpPr/>
          <p:nvPr/>
        </p:nvSpPr>
        <p:spPr>
          <a:xfrm>
            <a:off x="2141765" y="5453863"/>
            <a:ext cx="9525" cy="368781"/>
          </a:xfrm>
          <a:prstGeom prst="rect">
            <a:avLst/>
          </a:prstGeom>
          <a:solidFill>
            <a:srgbClr val="EADFD3"/>
          </a:solidFill>
          <a:ln/>
        </p:spPr>
        <p:txBody>
          <a:bodyPr/>
          <a:lstStyle/>
          <a:p>
            <a:endParaRPr lang="ko-KR" altLang="en-US"/>
          </a:p>
        </p:txBody>
      </p:sp>
      <p:sp>
        <p:nvSpPr>
          <p:cNvPr id="213" name="Text 211"/>
          <p:cNvSpPr/>
          <p:nvPr/>
        </p:nvSpPr>
        <p:spPr>
          <a:xfrm>
            <a:off x="2166032" y="5497180"/>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129.62%</a:t>
            </a:r>
            <a:endParaRPr lang="en-US" sz="1050" dirty="0"/>
          </a:p>
        </p:txBody>
      </p:sp>
      <p:sp>
        <p:nvSpPr>
          <p:cNvPr id="214" name="Shape 212"/>
          <p:cNvSpPr/>
          <p:nvPr/>
        </p:nvSpPr>
        <p:spPr>
          <a:xfrm>
            <a:off x="3744951" y="5453863"/>
            <a:ext cx="1603185" cy="368781"/>
          </a:xfrm>
          <a:prstGeom prst="rect">
            <a:avLst/>
          </a:prstGeom>
          <a:solidFill>
            <a:srgbClr val="FFFFFF"/>
          </a:solidFill>
          <a:ln/>
        </p:spPr>
        <p:txBody>
          <a:bodyPr/>
          <a:lstStyle/>
          <a:p>
            <a:endParaRPr lang="ko-KR" altLang="en-US"/>
          </a:p>
        </p:txBody>
      </p:sp>
      <p:sp>
        <p:nvSpPr>
          <p:cNvPr id="215" name="Shape 213"/>
          <p:cNvSpPr/>
          <p:nvPr/>
        </p:nvSpPr>
        <p:spPr>
          <a:xfrm>
            <a:off x="3744951" y="5453863"/>
            <a:ext cx="1603185" cy="9525"/>
          </a:xfrm>
          <a:prstGeom prst="rect">
            <a:avLst/>
          </a:prstGeom>
          <a:solidFill>
            <a:srgbClr val="EADFD3"/>
          </a:solidFill>
          <a:ln/>
        </p:spPr>
        <p:txBody>
          <a:bodyPr/>
          <a:lstStyle/>
          <a:p>
            <a:endParaRPr lang="ko-KR" altLang="en-US"/>
          </a:p>
        </p:txBody>
      </p:sp>
      <p:sp>
        <p:nvSpPr>
          <p:cNvPr id="216" name="Shape 214"/>
          <p:cNvSpPr/>
          <p:nvPr/>
        </p:nvSpPr>
        <p:spPr>
          <a:xfrm>
            <a:off x="3744951" y="5453863"/>
            <a:ext cx="9525" cy="368781"/>
          </a:xfrm>
          <a:prstGeom prst="rect">
            <a:avLst/>
          </a:prstGeom>
          <a:solidFill>
            <a:srgbClr val="EADFD3"/>
          </a:solidFill>
          <a:ln/>
        </p:spPr>
        <p:txBody>
          <a:bodyPr/>
          <a:lstStyle/>
          <a:p>
            <a:endParaRPr lang="ko-KR" altLang="en-US"/>
          </a:p>
        </p:txBody>
      </p:sp>
      <p:sp>
        <p:nvSpPr>
          <p:cNvPr id="217" name="Text 215"/>
          <p:cNvSpPr/>
          <p:nvPr/>
        </p:nvSpPr>
        <p:spPr>
          <a:xfrm>
            <a:off x="3769218" y="5497180"/>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126.9%</a:t>
            </a:r>
            <a:endParaRPr lang="en-US" sz="1050" dirty="0"/>
          </a:p>
        </p:txBody>
      </p:sp>
      <p:sp>
        <p:nvSpPr>
          <p:cNvPr id="218" name="Shape 216"/>
          <p:cNvSpPr/>
          <p:nvPr/>
        </p:nvSpPr>
        <p:spPr>
          <a:xfrm>
            <a:off x="5348136" y="5453863"/>
            <a:ext cx="1603185" cy="368781"/>
          </a:xfrm>
          <a:prstGeom prst="rect">
            <a:avLst/>
          </a:prstGeom>
          <a:solidFill>
            <a:srgbClr val="FFFFFF"/>
          </a:solidFill>
          <a:ln/>
        </p:spPr>
        <p:txBody>
          <a:bodyPr/>
          <a:lstStyle/>
          <a:p>
            <a:endParaRPr lang="ko-KR" altLang="en-US"/>
          </a:p>
        </p:txBody>
      </p:sp>
      <p:sp>
        <p:nvSpPr>
          <p:cNvPr id="219" name="Shape 217"/>
          <p:cNvSpPr/>
          <p:nvPr/>
        </p:nvSpPr>
        <p:spPr>
          <a:xfrm>
            <a:off x="5348136" y="5453863"/>
            <a:ext cx="1603185" cy="9525"/>
          </a:xfrm>
          <a:prstGeom prst="rect">
            <a:avLst/>
          </a:prstGeom>
          <a:solidFill>
            <a:srgbClr val="EADFD3"/>
          </a:solidFill>
          <a:ln/>
        </p:spPr>
        <p:txBody>
          <a:bodyPr/>
          <a:lstStyle/>
          <a:p>
            <a:endParaRPr lang="ko-KR" altLang="en-US"/>
          </a:p>
        </p:txBody>
      </p:sp>
      <p:sp>
        <p:nvSpPr>
          <p:cNvPr id="220" name="Shape 218"/>
          <p:cNvSpPr/>
          <p:nvPr/>
        </p:nvSpPr>
        <p:spPr>
          <a:xfrm>
            <a:off x="5348136" y="5453863"/>
            <a:ext cx="9525" cy="368781"/>
          </a:xfrm>
          <a:prstGeom prst="rect">
            <a:avLst/>
          </a:prstGeom>
          <a:solidFill>
            <a:srgbClr val="EADFD3"/>
          </a:solidFill>
          <a:ln/>
        </p:spPr>
        <p:txBody>
          <a:bodyPr/>
          <a:lstStyle/>
          <a:p>
            <a:endParaRPr lang="ko-KR" altLang="en-US"/>
          </a:p>
        </p:txBody>
      </p:sp>
      <p:sp>
        <p:nvSpPr>
          <p:cNvPr id="221" name="Text 219"/>
          <p:cNvSpPr/>
          <p:nvPr/>
        </p:nvSpPr>
        <p:spPr>
          <a:xfrm>
            <a:off x="5372403" y="5497180"/>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126.5%</a:t>
            </a:r>
            <a:endParaRPr lang="en-US" sz="1050" dirty="0"/>
          </a:p>
        </p:txBody>
      </p:sp>
      <p:sp>
        <p:nvSpPr>
          <p:cNvPr id="222" name="Shape 220"/>
          <p:cNvSpPr/>
          <p:nvPr/>
        </p:nvSpPr>
        <p:spPr>
          <a:xfrm>
            <a:off x="6951322" y="5453863"/>
            <a:ext cx="1603185" cy="368781"/>
          </a:xfrm>
          <a:prstGeom prst="rect">
            <a:avLst/>
          </a:prstGeom>
          <a:solidFill>
            <a:srgbClr val="FFFFFF"/>
          </a:solidFill>
          <a:ln/>
        </p:spPr>
        <p:txBody>
          <a:bodyPr/>
          <a:lstStyle/>
          <a:p>
            <a:endParaRPr lang="ko-KR" altLang="en-US"/>
          </a:p>
        </p:txBody>
      </p:sp>
      <p:sp>
        <p:nvSpPr>
          <p:cNvPr id="223" name="Shape 221"/>
          <p:cNvSpPr/>
          <p:nvPr/>
        </p:nvSpPr>
        <p:spPr>
          <a:xfrm>
            <a:off x="6951322" y="5453863"/>
            <a:ext cx="1603185" cy="9525"/>
          </a:xfrm>
          <a:prstGeom prst="rect">
            <a:avLst/>
          </a:prstGeom>
          <a:solidFill>
            <a:srgbClr val="EADFD3"/>
          </a:solidFill>
          <a:ln/>
        </p:spPr>
        <p:txBody>
          <a:bodyPr/>
          <a:lstStyle/>
          <a:p>
            <a:endParaRPr lang="ko-KR" altLang="en-US"/>
          </a:p>
        </p:txBody>
      </p:sp>
      <p:sp>
        <p:nvSpPr>
          <p:cNvPr id="224" name="Shape 222"/>
          <p:cNvSpPr/>
          <p:nvPr/>
        </p:nvSpPr>
        <p:spPr>
          <a:xfrm>
            <a:off x="6951322" y="5453863"/>
            <a:ext cx="9525" cy="368781"/>
          </a:xfrm>
          <a:prstGeom prst="rect">
            <a:avLst/>
          </a:prstGeom>
          <a:solidFill>
            <a:srgbClr val="EADFD3"/>
          </a:solidFill>
          <a:ln/>
        </p:spPr>
        <p:txBody>
          <a:bodyPr/>
          <a:lstStyle/>
          <a:p>
            <a:endParaRPr lang="ko-KR" altLang="en-US"/>
          </a:p>
        </p:txBody>
      </p:sp>
      <p:sp>
        <p:nvSpPr>
          <p:cNvPr id="225" name="Text 223"/>
          <p:cNvSpPr/>
          <p:nvPr/>
        </p:nvSpPr>
        <p:spPr>
          <a:xfrm>
            <a:off x="6975589" y="5497180"/>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127.69%</a:t>
            </a:r>
            <a:endParaRPr lang="en-US" sz="1050" dirty="0"/>
          </a:p>
        </p:txBody>
      </p:sp>
      <p:sp>
        <p:nvSpPr>
          <p:cNvPr id="226" name="Shape 224"/>
          <p:cNvSpPr/>
          <p:nvPr/>
        </p:nvSpPr>
        <p:spPr>
          <a:xfrm>
            <a:off x="8554507" y="5453863"/>
            <a:ext cx="1603430" cy="368781"/>
          </a:xfrm>
          <a:prstGeom prst="rect">
            <a:avLst/>
          </a:prstGeom>
          <a:solidFill>
            <a:srgbClr val="FFFFFF"/>
          </a:solidFill>
          <a:ln/>
        </p:spPr>
        <p:txBody>
          <a:bodyPr/>
          <a:lstStyle/>
          <a:p>
            <a:endParaRPr lang="ko-KR" altLang="en-US"/>
          </a:p>
        </p:txBody>
      </p:sp>
      <p:sp>
        <p:nvSpPr>
          <p:cNvPr id="227" name="Shape 225"/>
          <p:cNvSpPr/>
          <p:nvPr/>
        </p:nvSpPr>
        <p:spPr>
          <a:xfrm>
            <a:off x="8554507" y="5453863"/>
            <a:ext cx="1603430" cy="9525"/>
          </a:xfrm>
          <a:prstGeom prst="rect">
            <a:avLst/>
          </a:prstGeom>
          <a:solidFill>
            <a:srgbClr val="EADFD3"/>
          </a:solidFill>
          <a:ln/>
        </p:spPr>
        <p:txBody>
          <a:bodyPr/>
          <a:lstStyle/>
          <a:p>
            <a:endParaRPr lang="ko-KR" altLang="en-US"/>
          </a:p>
        </p:txBody>
      </p:sp>
      <p:sp>
        <p:nvSpPr>
          <p:cNvPr id="228" name="Shape 226"/>
          <p:cNvSpPr/>
          <p:nvPr/>
        </p:nvSpPr>
        <p:spPr>
          <a:xfrm>
            <a:off x="8554507" y="5453863"/>
            <a:ext cx="9525" cy="368781"/>
          </a:xfrm>
          <a:prstGeom prst="rect">
            <a:avLst/>
          </a:prstGeom>
          <a:solidFill>
            <a:srgbClr val="EADFD3"/>
          </a:solidFill>
          <a:ln/>
        </p:spPr>
        <p:txBody>
          <a:bodyPr/>
          <a:lstStyle/>
          <a:p>
            <a:endParaRPr lang="ko-KR" altLang="en-US"/>
          </a:p>
        </p:txBody>
      </p:sp>
      <p:sp>
        <p:nvSpPr>
          <p:cNvPr id="229" name="Text 227"/>
          <p:cNvSpPr/>
          <p:nvPr/>
        </p:nvSpPr>
        <p:spPr>
          <a:xfrm>
            <a:off x="8578774" y="5497180"/>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121.8%</a:t>
            </a:r>
            <a:endParaRPr lang="en-US" sz="1050" dirty="0"/>
          </a:p>
        </p:txBody>
      </p:sp>
      <p:sp>
        <p:nvSpPr>
          <p:cNvPr id="230" name="Shape 228"/>
          <p:cNvSpPr/>
          <p:nvPr/>
        </p:nvSpPr>
        <p:spPr>
          <a:xfrm>
            <a:off x="538580" y="5822644"/>
            <a:ext cx="1603185" cy="368781"/>
          </a:xfrm>
          <a:prstGeom prst="rect">
            <a:avLst/>
          </a:prstGeom>
          <a:solidFill>
            <a:srgbClr val="FCF8EC"/>
          </a:solidFill>
          <a:ln/>
        </p:spPr>
        <p:txBody>
          <a:bodyPr/>
          <a:lstStyle/>
          <a:p>
            <a:endParaRPr lang="ko-KR" altLang="en-US"/>
          </a:p>
        </p:txBody>
      </p:sp>
      <p:sp>
        <p:nvSpPr>
          <p:cNvPr id="231" name="Shape 229"/>
          <p:cNvSpPr/>
          <p:nvPr/>
        </p:nvSpPr>
        <p:spPr>
          <a:xfrm>
            <a:off x="538580" y="5822644"/>
            <a:ext cx="1603185" cy="9525"/>
          </a:xfrm>
          <a:prstGeom prst="rect">
            <a:avLst/>
          </a:prstGeom>
          <a:solidFill>
            <a:srgbClr val="EADFD3"/>
          </a:solidFill>
          <a:ln/>
        </p:spPr>
        <p:txBody>
          <a:bodyPr/>
          <a:lstStyle/>
          <a:p>
            <a:endParaRPr lang="ko-KR" altLang="en-US"/>
          </a:p>
        </p:txBody>
      </p:sp>
      <p:sp>
        <p:nvSpPr>
          <p:cNvPr id="232" name="Text 230"/>
          <p:cNvSpPr/>
          <p:nvPr/>
        </p:nvSpPr>
        <p:spPr>
          <a:xfrm>
            <a:off x="557630" y="5865961"/>
            <a:ext cx="1565085"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20년</a:t>
            </a:r>
            <a:endParaRPr lang="en-US" sz="1050" dirty="0"/>
          </a:p>
        </p:txBody>
      </p:sp>
      <p:sp>
        <p:nvSpPr>
          <p:cNvPr id="233" name="Shape 231"/>
          <p:cNvSpPr/>
          <p:nvPr/>
        </p:nvSpPr>
        <p:spPr>
          <a:xfrm>
            <a:off x="2141765" y="5822644"/>
            <a:ext cx="1603185" cy="368781"/>
          </a:xfrm>
          <a:prstGeom prst="rect">
            <a:avLst/>
          </a:prstGeom>
          <a:solidFill>
            <a:srgbClr val="FFFFFF"/>
          </a:solidFill>
          <a:ln/>
        </p:spPr>
        <p:txBody>
          <a:bodyPr/>
          <a:lstStyle/>
          <a:p>
            <a:endParaRPr lang="ko-KR" altLang="en-US"/>
          </a:p>
        </p:txBody>
      </p:sp>
      <p:sp>
        <p:nvSpPr>
          <p:cNvPr id="234" name="Shape 232"/>
          <p:cNvSpPr/>
          <p:nvPr/>
        </p:nvSpPr>
        <p:spPr>
          <a:xfrm>
            <a:off x="2141765" y="5822644"/>
            <a:ext cx="1603185" cy="9525"/>
          </a:xfrm>
          <a:prstGeom prst="rect">
            <a:avLst/>
          </a:prstGeom>
          <a:solidFill>
            <a:srgbClr val="EADFD3"/>
          </a:solidFill>
          <a:ln/>
        </p:spPr>
        <p:txBody>
          <a:bodyPr/>
          <a:lstStyle/>
          <a:p>
            <a:endParaRPr lang="ko-KR" altLang="en-US"/>
          </a:p>
        </p:txBody>
      </p:sp>
      <p:sp>
        <p:nvSpPr>
          <p:cNvPr id="235" name="Shape 233"/>
          <p:cNvSpPr/>
          <p:nvPr/>
        </p:nvSpPr>
        <p:spPr>
          <a:xfrm>
            <a:off x="2141765" y="5822644"/>
            <a:ext cx="9525" cy="368781"/>
          </a:xfrm>
          <a:prstGeom prst="rect">
            <a:avLst/>
          </a:prstGeom>
          <a:solidFill>
            <a:srgbClr val="EADFD3"/>
          </a:solidFill>
          <a:ln/>
        </p:spPr>
        <p:txBody>
          <a:bodyPr/>
          <a:lstStyle/>
          <a:p>
            <a:endParaRPr lang="ko-KR" altLang="en-US"/>
          </a:p>
        </p:txBody>
      </p:sp>
      <p:sp>
        <p:nvSpPr>
          <p:cNvPr id="236" name="Text 234"/>
          <p:cNvSpPr/>
          <p:nvPr/>
        </p:nvSpPr>
        <p:spPr>
          <a:xfrm>
            <a:off x="2166032" y="5865961"/>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137.67%</a:t>
            </a:r>
            <a:endParaRPr lang="en-US" sz="1050" dirty="0"/>
          </a:p>
        </p:txBody>
      </p:sp>
      <p:sp>
        <p:nvSpPr>
          <p:cNvPr id="237" name="Shape 235"/>
          <p:cNvSpPr/>
          <p:nvPr/>
        </p:nvSpPr>
        <p:spPr>
          <a:xfrm>
            <a:off x="3744951" y="5822644"/>
            <a:ext cx="1603185" cy="368781"/>
          </a:xfrm>
          <a:prstGeom prst="rect">
            <a:avLst/>
          </a:prstGeom>
          <a:solidFill>
            <a:srgbClr val="FFFFFF"/>
          </a:solidFill>
          <a:ln/>
        </p:spPr>
        <p:txBody>
          <a:bodyPr/>
          <a:lstStyle/>
          <a:p>
            <a:endParaRPr lang="ko-KR" altLang="en-US"/>
          </a:p>
        </p:txBody>
      </p:sp>
      <p:sp>
        <p:nvSpPr>
          <p:cNvPr id="238" name="Shape 236"/>
          <p:cNvSpPr/>
          <p:nvPr/>
        </p:nvSpPr>
        <p:spPr>
          <a:xfrm>
            <a:off x="3744951" y="5822644"/>
            <a:ext cx="1603185" cy="9525"/>
          </a:xfrm>
          <a:prstGeom prst="rect">
            <a:avLst/>
          </a:prstGeom>
          <a:solidFill>
            <a:srgbClr val="EADFD3"/>
          </a:solidFill>
          <a:ln/>
        </p:spPr>
        <p:txBody>
          <a:bodyPr/>
          <a:lstStyle/>
          <a:p>
            <a:endParaRPr lang="ko-KR" altLang="en-US"/>
          </a:p>
        </p:txBody>
      </p:sp>
      <p:sp>
        <p:nvSpPr>
          <p:cNvPr id="239" name="Shape 237"/>
          <p:cNvSpPr/>
          <p:nvPr/>
        </p:nvSpPr>
        <p:spPr>
          <a:xfrm>
            <a:off x="3744951" y="5822644"/>
            <a:ext cx="9525" cy="368781"/>
          </a:xfrm>
          <a:prstGeom prst="rect">
            <a:avLst/>
          </a:prstGeom>
          <a:solidFill>
            <a:srgbClr val="EADFD3"/>
          </a:solidFill>
          <a:ln/>
        </p:spPr>
        <p:txBody>
          <a:bodyPr/>
          <a:lstStyle/>
          <a:p>
            <a:endParaRPr lang="ko-KR" altLang="en-US"/>
          </a:p>
        </p:txBody>
      </p:sp>
      <p:sp>
        <p:nvSpPr>
          <p:cNvPr id="240" name="Text 238"/>
          <p:cNvSpPr/>
          <p:nvPr/>
        </p:nvSpPr>
        <p:spPr>
          <a:xfrm>
            <a:off x="3769218" y="5865961"/>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137%</a:t>
            </a:r>
            <a:endParaRPr lang="en-US" sz="1050" dirty="0"/>
          </a:p>
        </p:txBody>
      </p:sp>
      <p:sp>
        <p:nvSpPr>
          <p:cNvPr id="241" name="Shape 239"/>
          <p:cNvSpPr/>
          <p:nvPr/>
        </p:nvSpPr>
        <p:spPr>
          <a:xfrm>
            <a:off x="5348136" y="5822644"/>
            <a:ext cx="1603185" cy="368781"/>
          </a:xfrm>
          <a:prstGeom prst="rect">
            <a:avLst/>
          </a:prstGeom>
          <a:solidFill>
            <a:srgbClr val="FFFFFF"/>
          </a:solidFill>
          <a:ln/>
        </p:spPr>
        <p:txBody>
          <a:bodyPr/>
          <a:lstStyle/>
          <a:p>
            <a:endParaRPr lang="ko-KR" altLang="en-US"/>
          </a:p>
        </p:txBody>
      </p:sp>
      <p:sp>
        <p:nvSpPr>
          <p:cNvPr id="242" name="Shape 240"/>
          <p:cNvSpPr/>
          <p:nvPr/>
        </p:nvSpPr>
        <p:spPr>
          <a:xfrm>
            <a:off x="5348136" y="5822644"/>
            <a:ext cx="1603185" cy="9525"/>
          </a:xfrm>
          <a:prstGeom prst="rect">
            <a:avLst/>
          </a:prstGeom>
          <a:solidFill>
            <a:srgbClr val="EADFD3"/>
          </a:solidFill>
          <a:ln/>
        </p:spPr>
        <p:txBody>
          <a:bodyPr/>
          <a:lstStyle/>
          <a:p>
            <a:endParaRPr lang="ko-KR" altLang="en-US"/>
          </a:p>
        </p:txBody>
      </p:sp>
      <p:sp>
        <p:nvSpPr>
          <p:cNvPr id="243" name="Shape 241"/>
          <p:cNvSpPr/>
          <p:nvPr/>
        </p:nvSpPr>
        <p:spPr>
          <a:xfrm>
            <a:off x="5348136" y="5822644"/>
            <a:ext cx="9525" cy="368781"/>
          </a:xfrm>
          <a:prstGeom prst="rect">
            <a:avLst/>
          </a:prstGeom>
          <a:solidFill>
            <a:srgbClr val="EADFD3"/>
          </a:solidFill>
          <a:ln/>
        </p:spPr>
        <p:txBody>
          <a:bodyPr/>
          <a:lstStyle/>
          <a:p>
            <a:endParaRPr lang="ko-KR" altLang="en-US"/>
          </a:p>
        </p:txBody>
      </p:sp>
      <p:sp>
        <p:nvSpPr>
          <p:cNvPr id="244" name="Text 242"/>
          <p:cNvSpPr/>
          <p:nvPr/>
        </p:nvSpPr>
        <p:spPr>
          <a:xfrm>
            <a:off x="5372403" y="5865961"/>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135.9%</a:t>
            </a:r>
            <a:endParaRPr lang="en-US" sz="1050" dirty="0"/>
          </a:p>
        </p:txBody>
      </p:sp>
      <p:sp>
        <p:nvSpPr>
          <p:cNvPr id="245" name="Shape 243"/>
          <p:cNvSpPr/>
          <p:nvPr/>
        </p:nvSpPr>
        <p:spPr>
          <a:xfrm>
            <a:off x="6951322" y="5822644"/>
            <a:ext cx="1603185" cy="368781"/>
          </a:xfrm>
          <a:prstGeom prst="rect">
            <a:avLst/>
          </a:prstGeom>
          <a:solidFill>
            <a:srgbClr val="FFFFFF"/>
          </a:solidFill>
          <a:ln/>
        </p:spPr>
        <p:txBody>
          <a:bodyPr/>
          <a:lstStyle/>
          <a:p>
            <a:endParaRPr lang="ko-KR" altLang="en-US"/>
          </a:p>
        </p:txBody>
      </p:sp>
      <p:sp>
        <p:nvSpPr>
          <p:cNvPr id="246" name="Shape 244"/>
          <p:cNvSpPr/>
          <p:nvPr/>
        </p:nvSpPr>
        <p:spPr>
          <a:xfrm>
            <a:off x="6951322" y="5822644"/>
            <a:ext cx="1603185" cy="9525"/>
          </a:xfrm>
          <a:prstGeom prst="rect">
            <a:avLst/>
          </a:prstGeom>
          <a:solidFill>
            <a:srgbClr val="EADFD3"/>
          </a:solidFill>
          <a:ln/>
        </p:spPr>
        <p:txBody>
          <a:bodyPr/>
          <a:lstStyle/>
          <a:p>
            <a:endParaRPr lang="ko-KR" altLang="en-US"/>
          </a:p>
        </p:txBody>
      </p:sp>
      <p:sp>
        <p:nvSpPr>
          <p:cNvPr id="247" name="Shape 245"/>
          <p:cNvSpPr/>
          <p:nvPr/>
        </p:nvSpPr>
        <p:spPr>
          <a:xfrm>
            <a:off x="6951322" y="5822644"/>
            <a:ext cx="9525" cy="368781"/>
          </a:xfrm>
          <a:prstGeom prst="rect">
            <a:avLst/>
          </a:prstGeom>
          <a:solidFill>
            <a:srgbClr val="EADFD3"/>
          </a:solidFill>
          <a:ln/>
        </p:spPr>
        <p:txBody>
          <a:bodyPr/>
          <a:lstStyle/>
          <a:p>
            <a:endParaRPr lang="ko-KR" altLang="en-US"/>
          </a:p>
        </p:txBody>
      </p:sp>
      <p:sp>
        <p:nvSpPr>
          <p:cNvPr id="248" name="Text 246"/>
          <p:cNvSpPr/>
          <p:nvPr/>
        </p:nvSpPr>
        <p:spPr>
          <a:xfrm>
            <a:off x="6975589" y="5865961"/>
            <a:ext cx="1559868"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138.46%</a:t>
            </a:r>
            <a:endParaRPr lang="en-US" sz="1050" dirty="0"/>
          </a:p>
        </p:txBody>
      </p:sp>
      <p:sp>
        <p:nvSpPr>
          <p:cNvPr id="249" name="Shape 247"/>
          <p:cNvSpPr/>
          <p:nvPr/>
        </p:nvSpPr>
        <p:spPr>
          <a:xfrm>
            <a:off x="8554507" y="5822644"/>
            <a:ext cx="1603430" cy="368781"/>
          </a:xfrm>
          <a:prstGeom prst="rect">
            <a:avLst/>
          </a:prstGeom>
          <a:solidFill>
            <a:srgbClr val="FFFFFF"/>
          </a:solidFill>
          <a:ln/>
        </p:spPr>
        <p:txBody>
          <a:bodyPr/>
          <a:lstStyle/>
          <a:p>
            <a:endParaRPr lang="ko-KR" altLang="en-US"/>
          </a:p>
        </p:txBody>
      </p:sp>
      <p:sp>
        <p:nvSpPr>
          <p:cNvPr id="250" name="Shape 248"/>
          <p:cNvSpPr/>
          <p:nvPr/>
        </p:nvSpPr>
        <p:spPr>
          <a:xfrm>
            <a:off x="8554507" y="5822644"/>
            <a:ext cx="1603430" cy="9525"/>
          </a:xfrm>
          <a:prstGeom prst="rect">
            <a:avLst/>
          </a:prstGeom>
          <a:solidFill>
            <a:srgbClr val="EADFD3"/>
          </a:solidFill>
          <a:ln/>
        </p:spPr>
        <p:txBody>
          <a:bodyPr/>
          <a:lstStyle/>
          <a:p>
            <a:endParaRPr lang="ko-KR" altLang="en-US"/>
          </a:p>
        </p:txBody>
      </p:sp>
      <p:sp>
        <p:nvSpPr>
          <p:cNvPr id="251" name="Shape 249"/>
          <p:cNvSpPr/>
          <p:nvPr/>
        </p:nvSpPr>
        <p:spPr>
          <a:xfrm>
            <a:off x="8554507" y="5822644"/>
            <a:ext cx="9525" cy="368781"/>
          </a:xfrm>
          <a:prstGeom prst="rect">
            <a:avLst/>
          </a:prstGeom>
          <a:solidFill>
            <a:srgbClr val="EADFD3"/>
          </a:solidFill>
          <a:ln/>
        </p:spPr>
        <p:txBody>
          <a:bodyPr/>
          <a:lstStyle/>
          <a:p>
            <a:endParaRPr lang="ko-KR" altLang="en-US"/>
          </a:p>
        </p:txBody>
      </p:sp>
      <p:sp>
        <p:nvSpPr>
          <p:cNvPr id="252" name="Text 250"/>
          <p:cNvSpPr/>
          <p:nvPr/>
        </p:nvSpPr>
        <p:spPr>
          <a:xfrm>
            <a:off x="8578774" y="5865961"/>
            <a:ext cx="1560113" cy="325464"/>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126.3%</a:t>
            </a:r>
            <a:endParaRPr lang="en-US" sz="1050" dirty="0"/>
          </a:p>
        </p:txBody>
      </p:sp>
      <p:sp>
        <p:nvSpPr>
          <p:cNvPr id="253" name="Shape 251"/>
          <p:cNvSpPr/>
          <p:nvPr/>
        </p:nvSpPr>
        <p:spPr>
          <a:xfrm>
            <a:off x="538580" y="6191424"/>
            <a:ext cx="1603185" cy="369025"/>
          </a:xfrm>
          <a:prstGeom prst="rect">
            <a:avLst/>
          </a:prstGeom>
          <a:solidFill>
            <a:srgbClr val="FCF8EC"/>
          </a:solidFill>
          <a:ln/>
        </p:spPr>
        <p:txBody>
          <a:bodyPr/>
          <a:lstStyle/>
          <a:p>
            <a:endParaRPr lang="ko-KR" altLang="en-US"/>
          </a:p>
        </p:txBody>
      </p:sp>
      <p:sp>
        <p:nvSpPr>
          <p:cNvPr id="254" name="Shape 252"/>
          <p:cNvSpPr/>
          <p:nvPr/>
        </p:nvSpPr>
        <p:spPr>
          <a:xfrm>
            <a:off x="538580" y="6191424"/>
            <a:ext cx="1603185" cy="9525"/>
          </a:xfrm>
          <a:prstGeom prst="rect">
            <a:avLst/>
          </a:prstGeom>
          <a:solidFill>
            <a:srgbClr val="EADFD3"/>
          </a:solidFill>
          <a:ln/>
        </p:spPr>
        <p:txBody>
          <a:bodyPr/>
          <a:lstStyle/>
          <a:p>
            <a:endParaRPr lang="ko-KR" altLang="en-US"/>
          </a:p>
        </p:txBody>
      </p:sp>
      <p:sp>
        <p:nvSpPr>
          <p:cNvPr id="255" name="Text 253"/>
          <p:cNvSpPr/>
          <p:nvPr/>
        </p:nvSpPr>
        <p:spPr>
          <a:xfrm>
            <a:off x="557630" y="6234741"/>
            <a:ext cx="1565085"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25년</a:t>
            </a:r>
            <a:endParaRPr lang="en-US" sz="1050" dirty="0"/>
          </a:p>
        </p:txBody>
      </p:sp>
      <p:sp>
        <p:nvSpPr>
          <p:cNvPr id="256" name="Shape 254"/>
          <p:cNvSpPr/>
          <p:nvPr/>
        </p:nvSpPr>
        <p:spPr>
          <a:xfrm>
            <a:off x="2141765" y="6191424"/>
            <a:ext cx="1603185" cy="369025"/>
          </a:xfrm>
          <a:prstGeom prst="rect">
            <a:avLst/>
          </a:prstGeom>
          <a:solidFill>
            <a:srgbClr val="FFFFFF"/>
          </a:solidFill>
          <a:ln/>
        </p:spPr>
        <p:txBody>
          <a:bodyPr/>
          <a:lstStyle/>
          <a:p>
            <a:endParaRPr lang="ko-KR" altLang="en-US"/>
          </a:p>
        </p:txBody>
      </p:sp>
      <p:sp>
        <p:nvSpPr>
          <p:cNvPr id="257" name="Shape 255"/>
          <p:cNvSpPr/>
          <p:nvPr/>
        </p:nvSpPr>
        <p:spPr>
          <a:xfrm>
            <a:off x="2141765" y="6191424"/>
            <a:ext cx="1603185" cy="9525"/>
          </a:xfrm>
          <a:prstGeom prst="rect">
            <a:avLst/>
          </a:prstGeom>
          <a:solidFill>
            <a:srgbClr val="EADFD3"/>
          </a:solidFill>
          <a:ln/>
        </p:spPr>
        <p:txBody>
          <a:bodyPr/>
          <a:lstStyle/>
          <a:p>
            <a:endParaRPr lang="ko-KR" altLang="en-US"/>
          </a:p>
        </p:txBody>
      </p:sp>
      <p:sp>
        <p:nvSpPr>
          <p:cNvPr id="258" name="Shape 256"/>
          <p:cNvSpPr/>
          <p:nvPr/>
        </p:nvSpPr>
        <p:spPr>
          <a:xfrm>
            <a:off x="2141765" y="6191424"/>
            <a:ext cx="9525" cy="369025"/>
          </a:xfrm>
          <a:prstGeom prst="rect">
            <a:avLst/>
          </a:prstGeom>
          <a:solidFill>
            <a:srgbClr val="EADFD3"/>
          </a:solidFill>
          <a:ln/>
        </p:spPr>
        <p:txBody>
          <a:bodyPr/>
          <a:lstStyle/>
          <a:p>
            <a:endParaRPr lang="ko-KR" altLang="en-US"/>
          </a:p>
        </p:txBody>
      </p:sp>
      <p:sp>
        <p:nvSpPr>
          <p:cNvPr id="259" name="Text 257"/>
          <p:cNvSpPr/>
          <p:nvPr/>
        </p:nvSpPr>
        <p:spPr>
          <a:xfrm>
            <a:off x="2166032" y="6234741"/>
            <a:ext cx="1559868"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146.19%</a:t>
            </a:r>
            <a:endParaRPr lang="en-US" sz="1050" dirty="0"/>
          </a:p>
        </p:txBody>
      </p:sp>
      <p:sp>
        <p:nvSpPr>
          <p:cNvPr id="260" name="Shape 258"/>
          <p:cNvSpPr/>
          <p:nvPr/>
        </p:nvSpPr>
        <p:spPr>
          <a:xfrm>
            <a:off x="3744951" y="6191424"/>
            <a:ext cx="1603185" cy="369025"/>
          </a:xfrm>
          <a:prstGeom prst="rect">
            <a:avLst/>
          </a:prstGeom>
          <a:solidFill>
            <a:srgbClr val="FFFFFF"/>
          </a:solidFill>
          <a:ln/>
        </p:spPr>
        <p:txBody>
          <a:bodyPr/>
          <a:lstStyle/>
          <a:p>
            <a:endParaRPr lang="ko-KR" altLang="en-US"/>
          </a:p>
        </p:txBody>
      </p:sp>
      <p:sp>
        <p:nvSpPr>
          <p:cNvPr id="261" name="Shape 259"/>
          <p:cNvSpPr/>
          <p:nvPr/>
        </p:nvSpPr>
        <p:spPr>
          <a:xfrm>
            <a:off x="3744951" y="6191424"/>
            <a:ext cx="1603185" cy="9525"/>
          </a:xfrm>
          <a:prstGeom prst="rect">
            <a:avLst/>
          </a:prstGeom>
          <a:solidFill>
            <a:srgbClr val="EADFD3"/>
          </a:solidFill>
          <a:ln/>
        </p:spPr>
        <p:txBody>
          <a:bodyPr/>
          <a:lstStyle/>
          <a:p>
            <a:endParaRPr lang="ko-KR" altLang="en-US"/>
          </a:p>
        </p:txBody>
      </p:sp>
      <p:sp>
        <p:nvSpPr>
          <p:cNvPr id="262" name="Shape 260"/>
          <p:cNvSpPr/>
          <p:nvPr/>
        </p:nvSpPr>
        <p:spPr>
          <a:xfrm>
            <a:off x="3744951" y="6191424"/>
            <a:ext cx="9525" cy="369025"/>
          </a:xfrm>
          <a:prstGeom prst="rect">
            <a:avLst/>
          </a:prstGeom>
          <a:solidFill>
            <a:srgbClr val="EADFD3"/>
          </a:solidFill>
          <a:ln/>
        </p:spPr>
        <p:txBody>
          <a:bodyPr/>
          <a:lstStyle/>
          <a:p>
            <a:endParaRPr lang="ko-KR" altLang="en-US"/>
          </a:p>
        </p:txBody>
      </p:sp>
      <p:sp>
        <p:nvSpPr>
          <p:cNvPr id="263" name="Text 261"/>
          <p:cNvSpPr/>
          <p:nvPr/>
        </p:nvSpPr>
        <p:spPr>
          <a:xfrm>
            <a:off x="3769218" y="6234741"/>
            <a:ext cx="1559868"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147.9%</a:t>
            </a:r>
            <a:endParaRPr lang="en-US" sz="1050" dirty="0"/>
          </a:p>
        </p:txBody>
      </p:sp>
      <p:sp>
        <p:nvSpPr>
          <p:cNvPr id="264" name="Shape 262"/>
          <p:cNvSpPr/>
          <p:nvPr/>
        </p:nvSpPr>
        <p:spPr>
          <a:xfrm>
            <a:off x="5348136" y="6191424"/>
            <a:ext cx="1603185" cy="369025"/>
          </a:xfrm>
          <a:prstGeom prst="rect">
            <a:avLst/>
          </a:prstGeom>
          <a:solidFill>
            <a:srgbClr val="FFFFFF"/>
          </a:solidFill>
          <a:ln/>
        </p:spPr>
        <p:txBody>
          <a:bodyPr/>
          <a:lstStyle/>
          <a:p>
            <a:endParaRPr lang="ko-KR" altLang="en-US"/>
          </a:p>
        </p:txBody>
      </p:sp>
      <p:sp>
        <p:nvSpPr>
          <p:cNvPr id="265" name="Shape 263"/>
          <p:cNvSpPr/>
          <p:nvPr/>
        </p:nvSpPr>
        <p:spPr>
          <a:xfrm>
            <a:off x="5348136" y="6191424"/>
            <a:ext cx="1603185" cy="9525"/>
          </a:xfrm>
          <a:prstGeom prst="rect">
            <a:avLst/>
          </a:prstGeom>
          <a:solidFill>
            <a:srgbClr val="EADFD3"/>
          </a:solidFill>
          <a:ln/>
        </p:spPr>
        <p:txBody>
          <a:bodyPr/>
          <a:lstStyle/>
          <a:p>
            <a:endParaRPr lang="ko-KR" altLang="en-US"/>
          </a:p>
        </p:txBody>
      </p:sp>
      <p:sp>
        <p:nvSpPr>
          <p:cNvPr id="266" name="Shape 264"/>
          <p:cNvSpPr/>
          <p:nvPr/>
        </p:nvSpPr>
        <p:spPr>
          <a:xfrm>
            <a:off x="5348136" y="6191424"/>
            <a:ext cx="9525" cy="369025"/>
          </a:xfrm>
          <a:prstGeom prst="rect">
            <a:avLst/>
          </a:prstGeom>
          <a:solidFill>
            <a:srgbClr val="EADFD3"/>
          </a:solidFill>
          <a:ln/>
        </p:spPr>
        <p:txBody>
          <a:bodyPr/>
          <a:lstStyle/>
          <a:p>
            <a:endParaRPr lang="ko-KR" altLang="en-US"/>
          </a:p>
        </p:txBody>
      </p:sp>
      <p:sp>
        <p:nvSpPr>
          <p:cNvPr id="267" name="Text 265"/>
          <p:cNvSpPr/>
          <p:nvPr/>
        </p:nvSpPr>
        <p:spPr>
          <a:xfrm>
            <a:off x="5372403" y="6234741"/>
            <a:ext cx="1559868"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145.6%</a:t>
            </a:r>
            <a:endParaRPr lang="en-US" sz="1050" dirty="0"/>
          </a:p>
        </p:txBody>
      </p:sp>
      <p:sp>
        <p:nvSpPr>
          <p:cNvPr id="268" name="Shape 266"/>
          <p:cNvSpPr/>
          <p:nvPr/>
        </p:nvSpPr>
        <p:spPr>
          <a:xfrm>
            <a:off x="6951322" y="6191424"/>
            <a:ext cx="1603185" cy="369025"/>
          </a:xfrm>
          <a:prstGeom prst="rect">
            <a:avLst/>
          </a:prstGeom>
          <a:solidFill>
            <a:srgbClr val="FFFFFF"/>
          </a:solidFill>
          <a:ln/>
        </p:spPr>
        <p:txBody>
          <a:bodyPr/>
          <a:lstStyle/>
          <a:p>
            <a:endParaRPr lang="ko-KR" altLang="en-US"/>
          </a:p>
        </p:txBody>
      </p:sp>
      <p:sp>
        <p:nvSpPr>
          <p:cNvPr id="269" name="Shape 267"/>
          <p:cNvSpPr/>
          <p:nvPr/>
        </p:nvSpPr>
        <p:spPr>
          <a:xfrm>
            <a:off x="6951322" y="6191424"/>
            <a:ext cx="1603185" cy="9525"/>
          </a:xfrm>
          <a:prstGeom prst="rect">
            <a:avLst/>
          </a:prstGeom>
          <a:solidFill>
            <a:srgbClr val="EADFD3"/>
          </a:solidFill>
          <a:ln/>
        </p:spPr>
        <p:txBody>
          <a:bodyPr/>
          <a:lstStyle/>
          <a:p>
            <a:endParaRPr lang="ko-KR" altLang="en-US"/>
          </a:p>
        </p:txBody>
      </p:sp>
      <p:sp>
        <p:nvSpPr>
          <p:cNvPr id="270" name="Shape 268"/>
          <p:cNvSpPr/>
          <p:nvPr/>
        </p:nvSpPr>
        <p:spPr>
          <a:xfrm>
            <a:off x="6951322" y="6191424"/>
            <a:ext cx="9525" cy="369025"/>
          </a:xfrm>
          <a:prstGeom prst="rect">
            <a:avLst/>
          </a:prstGeom>
          <a:solidFill>
            <a:srgbClr val="EADFD3"/>
          </a:solidFill>
          <a:ln/>
        </p:spPr>
        <p:txBody>
          <a:bodyPr/>
          <a:lstStyle/>
          <a:p>
            <a:endParaRPr lang="ko-KR" altLang="en-US"/>
          </a:p>
        </p:txBody>
      </p:sp>
      <p:sp>
        <p:nvSpPr>
          <p:cNvPr id="271" name="Text 269"/>
          <p:cNvSpPr/>
          <p:nvPr/>
        </p:nvSpPr>
        <p:spPr>
          <a:xfrm>
            <a:off x="6975589" y="6234741"/>
            <a:ext cx="1559868"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149.86%</a:t>
            </a:r>
            <a:endParaRPr lang="en-US" sz="1050" dirty="0"/>
          </a:p>
        </p:txBody>
      </p:sp>
      <p:sp>
        <p:nvSpPr>
          <p:cNvPr id="272" name="Shape 270"/>
          <p:cNvSpPr/>
          <p:nvPr/>
        </p:nvSpPr>
        <p:spPr>
          <a:xfrm>
            <a:off x="8554507" y="6191424"/>
            <a:ext cx="1603430" cy="369025"/>
          </a:xfrm>
          <a:prstGeom prst="rect">
            <a:avLst/>
          </a:prstGeom>
          <a:solidFill>
            <a:srgbClr val="FFFFFF"/>
          </a:solidFill>
          <a:ln/>
        </p:spPr>
        <p:txBody>
          <a:bodyPr/>
          <a:lstStyle/>
          <a:p>
            <a:endParaRPr lang="ko-KR" altLang="en-US"/>
          </a:p>
        </p:txBody>
      </p:sp>
      <p:sp>
        <p:nvSpPr>
          <p:cNvPr id="273" name="Shape 271"/>
          <p:cNvSpPr/>
          <p:nvPr/>
        </p:nvSpPr>
        <p:spPr>
          <a:xfrm>
            <a:off x="8554507" y="6191424"/>
            <a:ext cx="1603430" cy="9525"/>
          </a:xfrm>
          <a:prstGeom prst="rect">
            <a:avLst/>
          </a:prstGeom>
          <a:solidFill>
            <a:srgbClr val="EADFD3"/>
          </a:solidFill>
          <a:ln/>
        </p:spPr>
        <p:txBody>
          <a:bodyPr/>
          <a:lstStyle/>
          <a:p>
            <a:endParaRPr lang="ko-KR" altLang="en-US"/>
          </a:p>
        </p:txBody>
      </p:sp>
      <p:sp>
        <p:nvSpPr>
          <p:cNvPr id="274" name="Shape 272"/>
          <p:cNvSpPr/>
          <p:nvPr/>
        </p:nvSpPr>
        <p:spPr>
          <a:xfrm>
            <a:off x="8554507" y="6191424"/>
            <a:ext cx="9525" cy="369025"/>
          </a:xfrm>
          <a:prstGeom prst="rect">
            <a:avLst/>
          </a:prstGeom>
          <a:solidFill>
            <a:srgbClr val="EADFD3"/>
          </a:solidFill>
          <a:ln/>
        </p:spPr>
        <p:txBody>
          <a:bodyPr/>
          <a:lstStyle/>
          <a:p>
            <a:endParaRPr lang="ko-KR" altLang="en-US"/>
          </a:p>
        </p:txBody>
      </p:sp>
      <p:sp>
        <p:nvSpPr>
          <p:cNvPr id="275" name="Text 273"/>
          <p:cNvSpPr/>
          <p:nvPr/>
        </p:nvSpPr>
        <p:spPr>
          <a:xfrm>
            <a:off x="8578774" y="6234741"/>
            <a:ext cx="1560113" cy="325708"/>
          </a:xfrm>
          <a:prstGeom prst="rect">
            <a:avLst/>
          </a:prstGeom>
          <a:noFill/>
          <a:ln/>
        </p:spPr>
        <p:txBody>
          <a:bodyPr wrap="square" lIns="25400" tIns="25400" rIns="25400" bIns="25400" rtlCol="0" anchor="ctr">
            <a:normAutofit/>
          </a:bodyPr>
          <a:lstStyle/>
          <a:p>
            <a:pPr marL="0" indent="0" algn="ctr">
              <a:lnSpc>
                <a:spcPct val="121632"/>
              </a:lnSpc>
              <a:buNone/>
            </a:pPr>
            <a:r>
              <a:rPr lang="en-US" sz="1050" b="1" kern="0" spc="-11" dirty="0">
                <a:solidFill>
                  <a:srgbClr val="3A2C24"/>
                </a:solidFill>
                <a:latin typeface="Paperlogy 7 Bold" pitchFamily="2" charset="-127"/>
                <a:ea typeface="Paperlogy 7 Bold" pitchFamily="2" charset="-127"/>
                <a:cs typeface="Arial" pitchFamily="34" charset="-120"/>
              </a:rPr>
              <a:t>131.1%</a:t>
            </a:r>
            <a:endParaRPr lang="en-US" sz="1050" dirty="0"/>
          </a:p>
        </p:txBody>
      </p:sp>
      <p:sp>
        <p:nvSpPr>
          <p:cNvPr id="276" name="Text 274"/>
          <p:cNvSpPr/>
          <p:nvPr/>
        </p:nvSpPr>
        <p:spPr>
          <a:xfrm>
            <a:off x="533363" y="6660878"/>
            <a:ext cx="10592770" cy="168526"/>
          </a:xfrm>
          <a:prstGeom prst="rect">
            <a:avLst/>
          </a:prstGeom>
          <a:noFill/>
          <a:ln/>
        </p:spPr>
        <p:txBody>
          <a:bodyPr wrap="square" lIns="25400" tIns="25400" rIns="25400" bIns="25400" rtlCol="0" anchor="t">
            <a:normAutofit fontScale="92500" lnSpcReduction="10000"/>
          </a:bodyPr>
          <a:lstStyle/>
          <a:p>
            <a:pPr marL="0" indent="0" algn="l">
              <a:buNone/>
            </a:pPr>
            <a:r>
              <a:rPr lang="en-US" sz="900" b="1" dirty="0">
                <a:solidFill>
                  <a:srgbClr val="B0573A"/>
                </a:solidFill>
                <a:latin typeface="Paperlogy 7 Bold" pitchFamily="2" charset="-127"/>
                <a:ea typeface="Paperlogy 7 Bold" pitchFamily="2" charset="-127"/>
                <a:cs typeface="Arial" pitchFamily="34" charset="-120"/>
              </a:rPr>
              <a:t>※ 본자료는 상품설계를 위한 참고자료로 고객에게 판매를 위한 자료로 제시할 수 없습니다.</a:t>
            </a:r>
            <a:endParaRPr lang="en-US" sz="900" dirty="0"/>
          </a:p>
        </p:txBody>
      </p:sp>
      <p:sp>
        <p:nvSpPr>
          <p:cNvPr id="277" name="Text 275"/>
          <p:cNvSpPr/>
          <p:nvPr/>
        </p:nvSpPr>
        <p:spPr>
          <a:xfrm>
            <a:off x="3792654" y="7077346"/>
            <a:ext cx="31111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7B6B60"/>
                </a:solidFill>
                <a:latin typeface="Paperlogy 7 Bold" pitchFamily="2" charset="-127"/>
                <a:ea typeface="Paperlogy 7 Bold" pitchFamily="2" charset="-127"/>
                <a:cs typeface="Arial" pitchFamily="34" charset="-120"/>
              </a:rPr>
              <a:t>더 자세한 상품내용은 GA 소식지와 지점장님 상품조회 자료를 참고해 주세요.</a:t>
            </a:r>
            <a:endParaRPr lang="en-US" sz="750" dirty="0"/>
          </a:p>
        </p:txBody>
      </p:sp>
      <p:sp>
        <p:nvSpPr>
          <p:cNvPr id="278" name="Text 276"/>
          <p:cNvSpPr/>
          <p:nvPr/>
        </p:nvSpPr>
        <p:spPr>
          <a:xfrm>
            <a:off x="2257804" y="7234347"/>
            <a:ext cx="6180827" cy="176107"/>
          </a:xfrm>
          <a:prstGeom prst="rect">
            <a:avLst/>
          </a:prstGeom>
          <a:noFill/>
          <a:ln/>
        </p:spPr>
        <p:txBody>
          <a:bodyPr wrap="none" lIns="25400" tIns="25400" rIns="25400" bIns="25400" rtlCol="0" anchor="t">
            <a:normAutofit lnSpcReduction="10000"/>
          </a:bodyPr>
          <a:lstStyle/>
          <a:p>
            <a:pPr marL="0" indent="0" algn="ctr">
              <a:lnSpc>
                <a:spcPct val="120333"/>
              </a:lnSpc>
              <a:buNone/>
            </a:pPr>
            <a:r>
              <a:rPr lang="en-US" sz="750" b="1" kern="0" spc="-8" dirty="0">
                <a:solidFill>
                  <a:srgbClr val="B0573A"/>
                </a:solidFill>
                <a:latin typeface="Paperlogy 7 Bold" pitchFamily="2" charset="-127"/>
                <a:ea typeface="Paperlogy 7 Bold" pitchFamily="2" charset="-127"/>
                <a:cs typeface="Arial" pitchFamily="34" charset="-120"/>
              </a:rPr>
              <a:t>본 자료를 설계사 교육을 위해 만든 자료입니다. 고객에게 배포할 수 없으며 이 자료를 광고나 다른 용도로 사용시 생기는 문제에 법적 책임을 지지 않습니다.</a:t>
            </a:r>
            <a:endParaRPr lang="en-US" sz="750" dirty="0"/>
          </a:p>
        </p:txBody>
      </p:sp>
      <p:sp>
        <p:nvSpPr>
          <p:cNvPr id="279" name="Text 277"/>
          <p:cNvSpPr/>
          <p:nvPr/>
        </p:nvSpPr>
        <p:spPr>
          <a:xfrm>
            <a:off x="10035989" y="7236711"/>
            <a:ext cx="203366" cy="173744"/>
          </a:xfrm>
          <a:prstGeom prst="rect">
            <a:avLst/>
          </a:prstGeom>
          <a:noFill/>
          <a:ln/>
        </p:spPr>
        <p:txBody>
          <a:bodyPr wrap="square" lIns="25400" tIns="25400" rIns="25400" bIns="25400" rtlCol="0" anchor="t">
            <a:normAutofit fontScale="92500"/>
          </a:bodyPr>
          <a:lstStyle/>
          <a:p>
            <a:pPr marL="0" indent="0" algn="l">
              <a:buNone/>
            </a:pPr>
            <a:r>
              <a:rPr lang="en-US" sz="900" b="1" dirty="0">
                <a:solidFill>
                  <a:srgbClr val="A69687"/>
                </a:solidFill>
                <a:latin typeface="Paperlogy 7 Bold" pitchFamily="2" charset="-127"/>
                <a:ea typeface="Paperlogy 7 Bold" pitchFamily="2" charset="-127"/>
                <a:cs typeface="Arial"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E2D3"/>
        </a:solidFill>
        <a:effectLst/>
      </p:bgPr>
    </p:bg>
    <p:spTree>
      <p:nvGrpSpPr>
        <p:cNvPr id="1" name=""/>
        <p:cNvGrpSpPr/>
        <p:nvPr/>
      </p:nvGrpSpPr>
      <p:grpSpPr>
        <a:xfrm>
          <a:off x="0" y="0"/>
          <a:ext cx="0" cy="0"/>
          <a:chOff x="0" y="0"/>
          <a:chExt cx="0" cy="0"/>
        </a:xfrm>
      </p:grpSpPr>
      <p:sp>
        <p:nvSpPr>
          <p:cNvPr id="2" name="Shape 0"/>
          <p:cNvSpPr/>
          <p:nvPr/>
        </p:nvSpPr>
        <p:spPr>
          <a:xfrm>
            <a:off x="6696012" y="-1714456"/>
            <a:ext cx="5333952" cy="5333952"/>
          </a:xfrm>
          <a:prstGeom prst="ellipse">
            <a:avLst/>
          </a:prstGeom>
          <a:solidFill>
            <a:srgbClr val="CF7446">
              <a:alpha val="10000"/>
            </a:srgbClr>
          </a:solidFill>
          <a:ln/>
        </p:spPr>
        <p:txBody>
          <a:bodyPr/>
          <a:lstStyle/>
          <a:p>
            <a:endParaRPr lang="ko-KR" altLang="en-US"/>
          </a:p>
        </p:txBody>
      </p:sp>
      <p:sp>
        <p:nvSpPr>
          <p:cNvPr id="3" name="Text 1"/>
          <p:cNvSpPr/>
          <p:nvPr/>
        </p:nvSpPr>
        <p:spPr>
          <a:xfrm>
            <a:off x="2556847" y="3286094"/>
            <a:ext cx="6141015" cy="1028689"/>
          </a:xfrm>
          <a:prstGeom prst="rect">
            <a:avLst/>
          </a:prstGeom>
          <a:noFill/>
          <a:ln/>
        </p:spPr>
        <p:txBody>
          <a:bodyPr wrap="none" lIns="25400" tIns="25400" rIns="25400" bIns="25400" rtlCol="0" anchor="t">
            <a:normAutofit lnSpcReduction="10000"/>
          </a:bodyPr>
          <a:lstStyle/>
          <a:p>
            <a:pPr marL="0" indent="0" algn="l">
              <a:lnSpc>
                <a:spcPct val="87100"/>
              </a:lnSpc>
              <a:buNone/>
            </a:pPr>
            <a:r>
              <a:rPr lang="en-US" sz="7800" b="1" kern="0" spc="-156" dirty="0">
                <a:solidFill>
                  <a:srgbClr val="9A4A27"/>
                </a:solidFill>
                <a:latin typeface="Paperlogy 7 Bold" pitchFamily="2" charset="-127"/>
                <a:ea typeface="Paperlogy 7 Bold" pitchFamily="2" charset="-127"/>
                <a:cs typeface="Arial" pitchFamily="34" charset="-120"/>
              </a:rPr>
              <a:t>THANK YOU</a:t>
            </a:r>
            <a:endParaRPr lang="en-US" sz="7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10236</Words>
  <Application>Microsoft Macintosh PowerPoint</Application>
  <PresentationFormat>사용자 지정</PresentationFormat>
  <Paragraphs>1949</Paragraphs>
  <Slides>51</Slides>
  <Notes>51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51</vt:i4>
      </vt:variant>
    </vt:vector>
  </HeadingPairs>
  <TitlesOfParts>
    <vt:vector size="54" baseType="lpstr">
      <vt:lpstr>Paperlogy 7 Bold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두식 윤</cp:lastModifiedBy>
  <cp:revision>4</cp:revision>
  <dcterms:created xsi:type="dcterms:W3CDTF">2026-10-01T08:23:38Z</dcterms:created>
  <dcterms:modified xsi:type="dcterms:W3CDTF">2026-10-08T04:44:13Z</dcterms:modified>
</cp:coreProperties>
</file>