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6"/>
  </p:notesMasterIdLst>
  <p:handoutMasterIdLst>
    <p:handoutMasterId r:id="rId27"/>
  </p:handoutMasterIdLst>
  <p:sldIdLst>
    <p:sldId id="256" r:id="rId2"/>
    <p:sldId id="2119931931" r:id="rId3"/>
    <p:sldId id="2119931956" r:id="rId4"/>
    <p:sldId id="2119932394" r:id="rId5"/>
    <p:sldId id="2119932448" r:id="rId6"/>
    <p:sldId id="2119932449" r:id="rId7"/>
    <p:sldId id="2119932430" r:id="rId8"/>
    <p:sldId id="2119932431" r:id="rId9"/>
    <p:sldId id="2119932471" r:id="rId10"/>
    <p:sldId id="2119932472" r:id="rId11"/>
    <p:sldId id="2119932406" r:id="rId12"/>
    <p:sldId id="2119932390" r:id="rId13"/>
    <p:sldId id="2119932391" r:id="rId14"/>
    <p:sldId id="2119931958" r:id="rId15"/>
    <p:sldId id="2119932395" r:id="rId16"/>
    <p:sldId id="2119932473" r:id="rId17"/>
    <p:sldId id="2119932456" r:id="rId18"/>
    <p:sldId id="2119932476" r:id="rId19"/>
    <p:sldId id="2119932477" r:id="rId20"/>
    <p:sldId id="2119932480" r:id="rId21"/>
    <p:sldId id="2119932481" r:id="rId22"/>
    <p:sldId id="2119932407" r:id="rId23"/>
    <p:sldId id="2119932392" r:id="rId24"/>
    <p:sldId id="2119932393" r:id="rId25"/>
  </p:sldIdLst>
  <p:sldSz cx="10691813" cy="7559675"/>
  <p:notesSz cx="6889750" cy="10021888"/>
  <p:embeddedFontLst>
    <p:embeddedFont>
      <p:font typeface="나눔스퀘어OTF" panose="020B0600000101010101" pitchFamily="34" charset="-127"/>
      <p:regular r:id="rId28"/>
    </p:embeddedFont>
    <p:embeddedFont>
      <p:font typeface="NanumSquareOTF Bold" panose="020B0600000101010101" pitchFamily="34" charset="-127"/>
      <p:bold r:id="rId29"/>
    </p:embeddedFont>
    <p:embeddedFont>
      <p:font typeface="NanumSquareOTF ExtraBold" panose="020B0600000101010101" pitchFamily="34" charset="-127"/>
      <p:bold r:id="rId30"/>
    </p:embeddedFont>
    <p:embeddedFont>
      <p:font typeface="맑은 고딕" panose="020B0503020000020004" pitchFamily="34" charset="-127"/>
      <p:regular r:id="rId31"/>
      <p:bold r:id="rId32"/>
    </p:embeddedFont>
    <p:embeddedFont>
      <p:font typeface="NanumSquare" panose="020B0600000101010101" pitchFamily="34" charset="-127"/>
      <p:regular r:id="rId33"/>
    </p:embeddedFont>
    <p:embeddedFont>
      <p:font typeface="NanumSquare Bold" panose="020B0600000101010101" pitchFamily="34" charset="-127"/>
      <p:bold r:id="rId34"/>
    </p:embeddedFont>
    <p:embeddedFont>
      <p:font typeface="NanumSquare ExtraBold" panose="020B0600000101010101" pitchFamily="34" charset="-127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442" userDrawn="1">
          <p15:clr>
            <a:srgbClr val="A4A3A4"/>
          </p15:clr>
        </p15:guide>
        <p15:guide id="3" orient="horz" pos="4309" userDrawn="1">
          <p15:clr>
            <a:srgbClr val="A4A3A4"/>
          </p15:clr>
        </p15:guide>
        <p15:guide id="4" pos="62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8BDA"/>
    <a:srgbClr val="6591E0"/>
    <a:srgbClr val="EFF7FF"/>
    <a:srgbClr val="FBFDFF"/>
    <a:srgbClr val="C4E6FF"/>
    <a:srgbClr val="4075BA"/>
    <a:srgbClr val="FFFFFF"/>
    <a:srgbClr val="F2F2F2"/>
    <a:srgbClr val="F4B625"/>
    <a:srgbClr val="082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97" autoAdjust="0"/>
    <p:restoredTop sz="97864" autoAdjust="0"/>
  </p:normalViewPr>
  <p:slideViewPr>
    <p:cSldViewPr snapToGrid="0">
      <p:cViewPr varScale="1">
        <p:scale>
          <a:sx n="71" d="100"/>
          <a:sy n="71" d="100"/>
        </p:scale>
        <p:origin x="168" y="1496"/>
      </p:cViewPr>
      <p:guideLst>
        <p:guide orient="horz" pos="680"/>
        <p:guide pos="442"/>
        <p:guide orient="horz" pos="4309"/>
        <p:guide pos="629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3" d="100"/>
          <a:sy n="133" d="100"/>
        </p:scale>
        <p:origin x="609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82255B7-69C7-7145-92A2-93286F5161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E0EE83-4C27-0961-45B7-CF3AF98090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0E75C-46A5-5041-B4AB-57D2765D022B}" type="datetimeFigureOut">
              <a:rPr kumimoji="1" lang="ko-KR" altLang="en-US" smtClean="0"/>
              <a:t>2026. 10. 8.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BC1988-EA31-1A2D-F8B5-00874E9F37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E7F57B-A869-0676-3EC1-A896656BE2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22C54-0F67-9546-9DFA-4061D50953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9352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AD2C1536-A46D-44B8-9DB0-87DAF5674984}" type="datetimeFigureOut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252538"/>
            <a:ext cx="47847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48AE9C61-D71F-4873-9C6E-8768632F0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6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E9C61-D71F-4873-9C6E-8768632F0BD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6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D86F-B1CD-F8FF-F7DA-A0616BA7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471775-D9D5-9666-5318-091557ED7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48896C-E003-4231-877F-1211396D8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32CD4-8910-88F2-FB03-A0E1E2E7A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E9C61-D71F-4873-9C6E-8768632F0BDD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582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E9C61-D71F-4873-9C6E-8768632F0BD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08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591E-E608-031C-1C7A-5E7A94D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D661AB-A7C4-1958-72CB-8ECF9F82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A6922-85EA-F6A1-ABAD-50CBF358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1892A-F416-716E-EDD6-DCC18F86B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E9C61-D71F-4873-9C6E-8768632F0BDD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25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21D18-3C75-A511-23B6-8E390E3AEA03}"/>
              </a:ext>
            </a:extLst>
          </p:cNvPr>
          <p:cNvSpPr txBox="1"/>
          <p:nvPr userDrawn="1"/>
        </p:nvSpPr>
        <p:spPr>
          <a:xfrm>
            <a:off x="6513935" y="6819497"/>
            <a:ext cx="309973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</a:p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</a:t>
            </a:r>
            <a:endParaRPr lang="en-US" altLang="ko-KR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4" name="그림 3" descr="텍스트, 포스터, 그래픽 디자인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5A833C-56DE-AD46-71C5-70797A3931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6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85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A9E597-C0E1-05F0-AA48-14B3F68360A1}"/>
              </a:ext>
            </a:extLst>
          </p:cNvPr>
          <p:cNvSpPr/>
          <p:nvPr userDrawn="1"/>
        </p:nvSpPr>
        <p:spPr>
          <a:xfrm>
            <a:off x="1370253" y="7136296"/>
            <a:ext cx="7951305" cy="42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12E17-8989-DD7A-7B6F-220629C6EACB}"/>
              </a:ext>
            </a:extLst>
          </p:cNvPr>
          <p:cNvSpPr txBox="1"/>
          <p:nvPr userDrawn="1"/>
        </p:nvSpPr>
        <p:spPr>
          <a:xfrm>
            <a:off x="706047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6" name="그림 5" descr="텍스트, 명함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FAB685-4F59-53C7-CBA5-176B51BA5C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6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4" name="그림 3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25FA9B-26FB-18CA-3D45-A9FC171700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9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5" name="그림 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6CEA2E2-9092-F814-D3D1-DABB706A6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8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81C91-5510-C858-0EC7-ECC379369AC9}"/>
              </a:ext>
            </a:extLst>
          </p:cNvPr>
          <p:cNvSpPr txBox="1"/>
          <p:nvPr userDrawn="1"/>
        </p:nvSpPr>
        <p:spPr>
          <a:xfrm>
            <a:off x="2039370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4" name="그림 3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AE12EB4-6C03-FC77-52CF-6F9AD568A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5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4" name="그림 3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6BA404-F39C-3A8D-EF3D-900E53E98A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9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5CC417B-B384-FBC9-2ACC-508CA57B7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580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4BED0C-96CD-40AE-9203-DB60680F6F10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41C4A-69C1-1968-A185-92F557B85102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더 자세한 상품내용은 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GA </a:t>
            </a:r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24CAD2-A3AF-9B9B-C76C-DB2DFFEB2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3764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9ACD71-2BBF-C117-50D1-0658C35E01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4BED0C-96CD-40AE-9203-DB60680F6F10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12497-85A8-91BA-04A7-6B091B2F7F54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더 자세한 상품내용은 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GA </a:t>
            </a:r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4EC1C3B-FE12-84FF-97C9-F442FC306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450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F174BA-2726-DFE6-8CA7-109628417A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C7D5D7-2AAA-F7D6-1566-B7284E57A344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62977-8BFE-8DD9-F168-744F61D538DD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더 자세한 상품내용은 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GA </a:t>
            </a:r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308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화이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35132A4-B8CF-F8FE-F209-9EE58E641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1BF64F-F936-A774-5C04-A10E244359CE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25191-7BD4-F3B5-3692-8949C6D7631D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더 자세한 상품내용은 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GA </a:t>
            </a:r>
            <a:r>
              <a:rPr lang="ko-KR" altLang="en-US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b="0" i="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F031F99-7D76-F58C-BF94-9406A0A1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" panose="020B0600000101010101" pitchFamily="34" charset="-127"/>
                <a:ea typeface="NanumSquare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168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81C91-5510-C858-0EC7-ECC379369AC9}"/>
              </a:ext>
            </a:extLst>
          </p:cNvPr>
          <p:cNvSpPr txBox="1"/>
          <p:nvPr userDrawn="1"/>
        </p:nvSpPr>
        <p:spPr>
          <a:xfrm>
            <a:off x="2199048" y="7246312"/>
            <a:ext cx="7869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4" name="그림 3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9E9219E-A767-8664-6C1F-03348496C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0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191892-9E66-39CB-2DAA-8336724A93A3}"/>
              </a:ext>
            </a:extLst>
          </p:cNvPr>
          <p:cNvSpPr/>
          <p:nvPr userDrawn="1"/>
        </p:nvSpPr>
        <p:spPr>
          <a:xfrm>
            <a:off x="180109" y="7051964"/>
            <a:ext cx="9933709" cy="507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 descr="스크린샷, 노랑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558FC54-C23C-5D27-F552-016AD0894A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1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9D80-1296-C249-B707-2352911286B5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10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C68A-C941-6944-B9E9-AB1C3DFFDF5C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52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B0CA-C8B8-4A46-A634-9A9E2D55BB52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675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C578-5653-CB49-93C2-B0DEE82531F5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82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72A-BCC3-0047-A5A1-D1D5751BABD4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3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94AA7-725C-EA41-B28C-CFF7422012B8}" type="datetime1">
              <a:rPr lang="ko-KR" altLang="en-US" smtClean="0"/>
              <a:t>2026. 10. 8.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1A3510-D841-D57E-58A7-939CF19275C4}"/>
              </a:ext>
            </a:extLst>
          </p:cNvPr>
          <p:cNvSpPr/>
          <p:nvPr userDrawn="1"/>
        </p:nvSpPr>
        <p:spPr>
          <a:xfrm>
            <a:off x="0" y="-631771"/>
            <a:ext cx="381000" cy="381000"/>
          </a:xfrm>
          <a:prstGeom prst="rect">
            <a:avLst/>
          </a:prstGeom>
          <a:solidFill>
            <a:srgbClr val="1D46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ECDB31-7482-EC9D-FA37-CD3B8999A764}"/>
              </a:ext>
            </a:extLst>
          </p:cNvPr>
          <p:cNvSpPr/>
          <p:nvPr userDrawn="1"/>
        </p:nvSpPr>
        <p:spPr>
          <a:xfrm>
            <a:off x="447395" y="-631771"/>
            <a:ext cx="381000" cy="381000"/>
          </a:xfrm>
          <a:prstGeom prst="rect">
            <a:avLst/>
          </a:prstGeom>
          <a:solidFill>
            <a:srgbClr val="1F46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3829A9-B53A-8696-08FF-FC13DAD9C5EE}"/>
              </a:ext>
            </a:extLst>
          </p:cNvPr>
          <p:cNvSpPr/>
          <p:nvPr userDrawn="1"/>
        </p:nvSpPr>
        <p:spPr>
          <a:xfrm>
            <a:off x="894790" y="-631771"/>
            <a:ext cx="381000" cy="381000"/>
          </a:xfrm>
          <a:prstGeom prst="rect">
            <a:avLst/>
          </a:prstGeom>
          <a:solidFill>
            <a:srgbClr val="082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2536A5-82D1-7036-CA53-3B11ECF5BDDA}"/>
              </a:ext>
            </a:extLst>
          </p:cNvPr>
          <p:cNvSpPr/>
          <p:nvPr userDrawn="1"/>
        </p:nvSpPr>
        <p:spPr>
          <a:xfrm>
            <a:off x="1342185" y="-631771"/>
            <a:ext cx="381000" cy="381000"/>
          </a:xfrm>
          <a:prstGeom prst="rect">
            <a:avLst/>
          </a:prstGeom>
          <a:solidFill>
            <a:srgbClr val="C193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77B089-B2F8-C5D6-B5A5-A707CB82FD28}"/>
              </a:ext>
            </a:extLst>
          </p:cNvPr>
          <p:cNvSpPr/>
          <p:nvPr userDrawn="1"/>
        </p:nvSpPr>
        <p:spPr>
          <a:xfrm>
            <a:off x="1789580" y="-631771"/>
            <a:ext cx="381000" cy="381000"/>
          </a:xfrm>
          <a:prstGeom prst="rect">
            <a:avLst/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B20C33-88AE-587C-3082-01DEBE7AD01E}"/>
              </a:ext>
            </a:extLst>
          </p:cNvPr>
          <p:cNvSpPr/>
          <p:nvPr userDrawn="1"/>
        </p:nvSpPr>
        <p:spPr>
          <a:xfrm>
            <a:off x="2236975" y="-631771"/>
            <a:ext cx="381000" cy="381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FA97E1-400D-5D8F-92F6-977982564E4C}"/>
              </a:ext>
            </a:extLst>
          </p:cNvPr>
          <p:cNvSpPr/>
          <p:nvPr userDrawn="1"/>
        </p:nvSpPr>
        <p:spPr>
          <a:xfrm>
            <a:off x="2684370" y="-631771"/>
            <a:ext cx="381000" cy="381000"/>
          </a:xfrm>
          <a:prstGeom prst="rect">
            <a:avLst/>
          </a:prstGeom>
          <a:solidFill>
            <a:srgbClr val="2458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A1294-BECE-F9C5-934F-C75AD9E74F23}"/>
              </a:ext>
            </a:extLst>
          </p:cNvPr>
          <p:cNvSpPr/>
          <p:nvPr userDrawn="1"/>
        </p:nvSpPr>
        <p:spPr>
          <a:xfrm>
            <a:off x="3131764" y="-631771"/>
            <a:ext cx="381000" cy="381000"/>
          </a:xfrm>
          <a:prstGeom prst="rect">
            <a:avLst/>
          </a:prstGeom>
          <a:solidFill>
            <a:srgbClr val="618B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B0FFDF-4019-D498-C747-C1D3A9A76B84}"/>
              </a:ext>
            </a:extLst>
          </p:cNvPr>
          <p:cNvSpPr/>
          <p:nvPr userDrawn="1"/>
        </p:nvSpPr>
        <p:spPr>
          <a:xfrm>
            <a:off x="3573588" y="-631771"/>
            <a:ext cx="381000" cy="381000"/>
          </a:xfrm>
          <a:prstGeom prst="rect">
            <a:avLst/>
          </a:prstGeom>
          <a:solidFill>
            <a:srgbClr val="6591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A77CEC-D3BB-88E0-F34C-C50F59399BE6}"/>
              </a:ext>
            </a:extLst>
          </p:cNvPr>
          <p:cNvSpPr/>
          <p:nvPr userDrawn="1"/>
        </p:nvSpPr>
        <p:spPr>
          <a:xfrm>
            <a:off x="4015412" y="-633883"/>
            <a:ext cx="381000" cy="381000"/>
          </a:xfrm>
          <a:prstGeom prst="rect">
            <a:avLst/>
          </a:prstGeom>
          <a:solidFill>
            <a:srgbClr val="E8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AF087-DDDE-8E74-11B9-CE045C68CEA0}"/>
              </a:ext>
            </a:extLst>
          </p:cNvPr>
          <p:cNvSpPr txBox="1"/>
          <p:nvPr userDrawn="1"/>
        </p:nvSpPr>
        <p:spPr>
          <a:xfrm>
            <a:off x="63138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r>
              <a:rPr lang="ko-KR" altLang="en-US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b="0" i="0" spc="-40" dirty="0">
                <a:solidFill>
                  <a:srgbClr val="C00000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rgbClr val="C00000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DD75E6-3DAC-0AFE-1E6F-11CBF302F95C}"/>
              </a:ext>
            </a:extLst>
          </p:cNvPr>
          <p:cNvSpPr/>
          <p:nvPr userDrawn="1"/>
        </p:nvSpPr>
        <p:spPr>
          <a:xfrm>
            <a:off x="4457236" y="-633883"/>
            <a:ext cx="381000" cy="381000"/>
          </a:xfrm>
          <a:prstGeom prst="rect">
            <a:avLst/>
          </a:prstGeom>
          <a:solidFill>
            <a:srgbClr val="F4B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5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78" r:id="rId4"/>
    <p:sldLayoutId id="2147483674" r:id="rId5"/>
    <p:sldLayoutId id="2147483679" r:id="rId6"/>
    <p:sldLayoutId id="2147483665" r:id="rId7"/>
    <p:sldLayoutId id="2147483676" r:id="rId8"/>
    <p:sldLayoutId id="2147483667" r:id="rId9"/>
    <p:sldLayoutId id="2147483677" r:id="rId10"/>
    <p:sldLayoutId id="2147483675" r:id="rId11"/>
    <p:sldLayoutId id="2147483666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90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5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49F1-C97E-2B60-8861-598D3DFB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76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0319-EB33-7A80-4BAB-1D1C3DA7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A2D709EF-9914-280E-FE41-FBC256857496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생명보험 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BEST CHOICE</a:t>
            </a:r>
          </a:p>
        </p:txBody>
      </p:sp>
      <p:sp>
        <p:nvSpPr>
          <p:cNvPr id="35" name="부제목 2">
            <a:extLst>
              <a:ext uri="{FF2B5EF4-FFF2-40B4-BE49-F238E27FC236}">
                <a16:creationId xmlns:a16="http://schemas.microsoft.com/office/drawing/2014/main" id="{F47907C6-101D-8D71-43B6-55573F0D2F43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00" normalizeH="0" baseline="0" noProof="0" dirty="0">
                <a:ln>
                  <a:noFill/>
                </a:ln>
                <a:solidFill>
                  <a:srgbClr val="082765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생명보험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4E20DC-B57A-2748-E31E-1170A3B96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한쪽 모서리가 둥근 사각형 2">
            <a:extLst>
              <a:ext uri="{FF2B5EF4-FFF2-40B4-BE49-F238E27FC236}">
                <a16:creationId xmlns:a16="http://schemas.microsoft.com/office/drawing/2014/main" id="{014FE9CA-2916-C56D-19E2-8E4685B2AD69}"/>
              </a:ext>
            </a:extLst>
          </p:cNvPr>
          <p:cNvSpPr/>
          <p:nvPr/>
        </p:nvSpPr>
        <p:spPr>
          <a:xfrm>
            <a:off x="1626872" y="5548649"/>
            <a:ext cx="8359313" cy="397072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가성비 상품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endParaRPr>
          </a:p>
        </p:txBody>
      </p:sp>
      <p:pic>
        <p:nvPicPr>
          <p:cNvPr id="4" name="그림 3" descr="테이블웨어, 컵, 트로피, 정물 사진이(가) 표시된 사진&#10;&#10;자동 생성된 설명">
            <a:extLst>
              <a:ext uri="{FF2B5EF4-FFF2-40B4-BE49-F238E27FC236}">
                <a16:creationId xmlns:a16="http://schemas.microsoft.com/office/drawing/2014/main" id="{27B25E6C-E3F2-F766-9D2E-8059291AF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3" y="1037100"/>
            <a:ext cx="622490" cy="1545495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5ED7255B-2C95-908C-DBA6-E9AB838892A1}"/>
              </a:ext>
            </a:extLst>
          </p:cNvPr>
          <p:cNvSpPr txBox="1">
            <a:spLocks/>
          </p:cNvSpPr>
          <p:nvPr/>
        </p:nvSpPr>
        <p:spPr>
          <a:xfrm>
            <a:off x="691977" y="2968511"/>
            <a:ext cx="641882" cy="40531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B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S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T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 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H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O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I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  <a:endParaRPr kumimoji="0" lang="ko-KR" altLang="en-US" sz="2400" b="1" i="0" u="none" strike="noStrike" kern="1200" cap="none" spc="-100" normalizeH="0" baseline="0" noProof="0" dirty="0">
              <a:ln>
                <a:noFill/>
              </a:ln>
              <a:solidFill>
                <a:srgbClr val="DDEBF8"/>
              </a:solidFill>
              <a:effectLst/>
              <a:uLnTx/>
              <a:uFillTx/>
              <a:latin typeface="NanumSquareOTF ExtraBold" panose="020B0600000101010101" pitchFamily="34" charset="-127"/>
              <a:ea typeface="NanumSquareOTF ExtraBold" panose="020B0600000101010101" pitchFamily="34" charset="-127"/>
              <a:cs typeface="+mn-cs"/>
            </a:endParaRPr>
          </a:p>
        </p:txBody>
      </p:sp>
      <p:sp>
        <p:nvSpPr>
          <p:cNvPr id="11" name="한쪽 모서리가 둥근 사각형 10">
            <a:extLst>
              <a:ext uri="{FF2B5EF4-FFF2-40B4-BE49-F238E27FC236}">
                <a16:creationId xmlns:a16="http://schemas.microsoft.com/office/drawing/2014/main" id="{7EB8D212-3C2B-5FCA-F5A1-0341A523EFD0}"/>
              </a:ext>
            </a:extLst>
          </p:cNvPr>
          <p:cNvSpPr/>
          <p:nvPr/>
        </p:nvSpPr>
        <p:spPr>
          <a:xfrm>
            <a:off x="1626871" y="1068394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달러종신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endParaRPr>
          </a:p>
        </p:txBody>
      </p:sp>
      <p:sp>
        <p:nvSpPr>
          <p:cNvPr id="14" name="한쪽 모서리가 둥근 사각형 13">
            <a:extLst>
              <a:ext uri="{FF2B5EF4-FFF2-40B4-BE49-F238E27FC236}">
                <a16:creationId xmlns:a16="http://schemas.microsoft.com/office/drawing/2014/main" id="{694A3F6B-F37B-F19A-19D8-8073FBAE3CA5}"/>
              </a:ext>
            </a:extLst>
          </p:cNvPr>
          <p:cNvSpPr/>
          <p:nvPr/>
        </p:nvSpPr>
        <p:spPr>
          <a:xfrm flipH="1">
            <a:off x="3325219" y="1068590"/>
            <a:ext cx="6664916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lvl="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AIA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생명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프라임달러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종신</a:t>
            </a:r>
            <a:endParaRPr lang="en-US" altLang="ko-KR" sz="20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메트라이프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백만인을위한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달러종신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Plus</a:t>
            </a:r>
          </a:p>
        </p:txBody>
      </p:sp>
      <p:pic>
        <p:nvPicPr>
          <p:cNvPr id="18" name="그림 17" descr="스케치, 클립아트, 그림, 그래픽이(가) 표시된 사진&#10;&#10;자동 생성된 설명">
            <a:extLst>
              <a:ext uri="{FF2B5EF4-FFF2-40B4-BE49-F238E27FC236}">
                <a16:creationId xmlns:a16="http://schemas.microsoft.com/office/drawing/2014/main" id="{CA0AD4EE-D105-D914-5322-CBE3CC710AE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2" y="1399564"/>
            <a:ext cx="737590" cy="645391"/>
          </a:xfrm>
          <a:prstGeom prst="rect">
            <a:avLst/>
          </a:prstGeom>
        </p:spPr>
      </p:pic>
      <p:sp>
        <p:nvSpPr>
          <p:cNvPr id="20" name="한쪽 모서리가 둥근 사각형 19">
            <a:extLst>
              <a:ext uri="{FF2B5EF4-FFF2-40B4-BE49-F238E27FC236}">
                <a16:creationId xmlns:a16="http://schemas.microsoft.com/office/drawing/2014/main" id="{6E133008-F178-30CC-7E1F-FE6379519C55}"/>
              </a:ext>
            </a:extLst>
          </p:cNvPr>
          <p:cNvSpPr/>
          <p:nvPr/>
        </p:nvSpPr>
        <p:spPr>
          <a:xfrm>
            <a:off x="1626873" y="2570668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대치료비</a:t>
            </a:r>
            <a:endParaRPr kumimoji="1" lang="en-US" altLang="ko-KR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종신</a:t>
            </a:r>
          </a:p>
        </p:txBody>
      </p:sp>
      <p:sp>
        <p:nvSpPr>
          <p:cNvPr id="21" name="한쪽 모서리가 둥근 사각형 20">
            <a:extLst>
              <a:ext uri="{FF2B5EF4-FFF2-40B4-BE49-F238E27FC236}">
                <a16:creationId xmlns:a16="http://schemas.microsoft.com/office/drawing/2014/main" id="{E0842012-2A98-75BC-9FFF-AD5E90004F73}"/>
              </a:ext>
            </a:extLst>
          </p:cNvPr>
          <p:cNvSpPr/>
          <p:nvPr/>
        </p:nvSpPr>
        <p:spPr>
          <a:xfrm flipH="1">
            <a:off x="3325221" y="2570864"/>
            <a:ext cx="6664916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lvl="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신한라이프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3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케어 리워드 종신</a:t>
            </a:r>
            <a:endParaRPr lang="en-US" altLang="ko-KR" sz="20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교보생명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–3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밸런스 보장보험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PLUS</a:t>
            </a:r>
          </a:p>
        </p:txBody>
      </p:sp>
      <p:pic>
        <p:nvPicPr>
          <p:cNvPr id="22" name="그림 21" descr="직사각형, 상징, 대칭, 사각형이(가) 표시된 사진&#10;&#10;자동 생성된 설명">
            <a:extLst>
              <a:ext uri="{FF2B5EF4-FFF2-40B4-BE49-F238E27FC236}">
                <a16:creationId xmlns:a16="http://schemas.microsoft.com/office/drawing/2014/main" id="{84691F03-C13D-BBE3-7224-9E0FFA9922F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681" y="2896734"/>
            <a:ext cx="580852" cy="645391"/>
          </a:xfrm>
          <a:prstGeom prst="rect">
            <a:avLst/>
          </a:prstGeom>
        </p:spPr>
      </p:pic>
      <p:sp>
        <p:nvSpPr>
          <p:cNvPr id="24" name="한쪽 모서리가 둥근 사각형 23">
            <a:extLst>
              <a:ext uri="{FF2B5EF4-FFF2-40B4-BE49-F238E27FC236}">
                <a16:creationId xmlns:a16="http://schemas.microsoft.com/office/drawing/2014/main" id="{42DA570F-A993-A5B1-1B7C-ED5E1F458AE2}"/>
              </a:ext>
            </a:extLst>
          </p:cNvPr>
          <p:cNvSpPr/>
          <p:nvPr/>
        </p:nvSpPr>
        <p:spPr>
          <a:xfrm>
            <a:off x="1626873" y="4072942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항암호르몬</a:t>
            </a:r>
            <a:endParaRPr kumimoji="1" lang="en-US" altLang="ko-KR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집중치료</a:t>
            </a:r>
          </a:p>
        </p:txBody>
      </p:sp>
      <p:sp>
        <p:nvSpPr>
          <p:cNvPr id="27" name="한쪽 모서리가 둥근 사각형 26">
            <a:extLst>
              <a:ext uri="{FF2B5EF4-FFF2-40B4-BE49-F238E27FC236}">
                <a16:creationId xmlns:a16="http://schemas.microsoft.com/office/drawing/2014/main" id="{8A2E5D01-DD30-3E55-38B1-9FB10E68EEAF}"/>
              </a:ext>
            </a:extLst>
          </p:cNvPr>
          <p:cNvSpPr/>
          <p:nvPr/>
        </p:nvSpPr>
        <p:spPr>
          <a:xfrm flipH="1">
            <a:off x="3325221" y="4073138"/>
            <a:ext cx="6660964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삼성생명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가족대표 건강보험</a:t>
            </a:r>
            <a:endParaRPr lang="en-US" altLang="ko-KR" sz="20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푸본현대생명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20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건강보험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마이픽</a:t>
            </a:r>
            <a:endParaRPr lang="en-US" altLang="ko-KR" sz="20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8" name="그림 27" descr="원, 그래픽, 디자인, 예술이(가) 표시된 사진&#10;&#10;자동 생성된 설명">
            <a:extLst>
              <a:ext uri="{FF2B5EF4-FFF2-40B4-BE49-F238E27FC236}">
                <a16:creationId xmlns:a16="http://schemas.microsoft.com/office/drawing/2014/main" id="{88774200-2D3C-0685-0D1D-2192DBC6C59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681" y="4347627"/>
            <a:ext cx="580852" cy="691490"/>
          </a:xfrm>
          <a:prstGeom prst="rect">
            <a:avLst/>
          </a:prstGeom>
        </p:spPr>
      </p:pic>
      <p:sp>
        <p:nvSpPr>
          <p:cNvPr id="29" name="한쪽 모서리가 둥근 사각형 28">
            <a:extLst>
              <a:ext uri="{FF2B5EF4-FFF2-40B4-BE49-F238E27FC236}">
                <a16:creationId xmlns:a16="http://schemas.microsoft.com/office/drawing/2014/main" id="{FED50A97-C90B-989E-CBF8-646178105084}"/>
              </a:ext>
            </a:extLst>
          </p:cNvPr>
          <p:cNvSpPr/>
          <p:nvPr/>
        </p:nvSpPr>
        <p:spPr>
          <a:xfrm flipH="1">
            <a:off x="2031904" y="5945721"/>
            <a:ext cx="3628113" cy="886379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흥국생명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다사랑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오튼튼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건강보험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삼성생명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가족대표 건강보험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KB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라이프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5.10.5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딱좋은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플러스 건강보험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한쪽 모서리가 둥근 사각형 29">
            <a:extLst>
              <a:ext uri="{FF2B5EF4-FFF2-40B4-BE49-F238E27FC236}">
                <a16:creationId xmlns:a16="http://schemas.microsoft.com/office/drawing/2014/main" id="{9B90E36A-B85A-546D-26A3-32F6F7DD4236}"/>
              </a:ext>
            </a:extLst>
          </p:cNvPr>
          <p:cNvSpPr/>
          <p:nvPr/>
        </p:nvSpPr>
        <p:spPr>
          <a:xfrm flipH="1">
            <a:off x="6348325" y="5945721"/>
            <a:ext cx="3628113" cy="886379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1400" b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미래에셋생명 </a:t>
            </a:r>
            <a:r>
              <a:rPr lang="en-US" altLang="ko-KR" sz="1400" b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M-</a:t>
            </a:r>
            <a:r>
              <a:rPr lang="ko-KR" altLang="en-US" sz="1400" b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케어 건강보험 </a:t>
            </a:r>
            <a:r>
              <a:rPr lang="en-US" altLang="ko-KR" sz="1400" b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3.10.5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KB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라이프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딱좋은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초경증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건강보험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7800" lvl="0" indent="-177800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흥국생명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 </a:t>
            </a:r>
            <a:r>
              <a:rPr lang="ko-KR" altLang="en-US" sz="1400" b="1" dirty="0" err="1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다사랑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3.10.5 </a:t>
            </a:r>
            <a:r>
              <a:rPr lang="ko-KR" altLang="en-US" sz="14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간편건강</a:t>
            </a:r>
            <a:endParaRPr lang="en-US" altLang="ko-KR" sz="1400" b="1" dirty="0">
              <a:solidFill>
                <a:srgbClr val="01326E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2" name="한쪽 모서리가 둥근 사각형 31">
            <a:extLst>
              <a:ext uri="{FF2B5EF4-FFF2-40B4-BE49-F238E27FC236}">
                <a16:creationId xmlns:a16="http://schemas.microsoft.com/office/drawing/2014/main" id="{8CE2C713-1735-EA96-DE12-E3EB7149F822}"/>
              </a:ext>
            </a:extLst>
          </p:cNvPr>
          <p:cNvSpPr/>
          <p:nvPr/>
        </p:nvSpPr>
        <p:spPr>
          <a:xfrm>
            <a:off x="1636581" y="5945917"/>
            <a:ext cx="408986" cy="886183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건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강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체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3" name="한쪽 모서리가 둥근 사각형 32">
            <a:extLst>
              <a:ext uri="{FF2B5EF4-FFF2-40B4-BE49-F238E27FC236}">
                <a16:creationId xmlns:a16="http://schemas.microsoft.com/office/drawing/2014/main" id="{EFF59811-951E-B949-F826-CFA5E0AFAD5F}"/>
              </a:ext>
            </a:extLst>
          </p:cNvPr>
          <p:cNvSpPr/>
          <p:nvPr/>
        </p:nvSpPr>
        <p:spPr>
          <a:xfrm>
            <a:off x="5939343" y="5945721"/>
            <a:ext cx="408986" cy="886379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초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경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</a:t>
            </a:r>
            <a:endParaRPr kumimoji="1" lang="en-US" altLang="ko-KR" sz="1500" b="1" dirty="0">
              <a:solidFill>
                <a:srgbClr val="85A4DB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92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65CC-D441-1B4D-AE77-D8CE5260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863AD8-BA68-4C25-A4BC-3A1FED92F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412694"/>
              </p:ext>
            </p:extLst>
          </p:nvPr>
        </p:nvGraphicFramePr>
        <p:xfrm>
          <a:off x="701673" y="1079500"/>
          <a:ext cx="9288466" cy="5761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432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544143">
                  <a:extLst>
                    <a:ext uri="{9D8B030D-6E8A-4147-A177-3AD203B41FA5}">
                      <a16:colId xmlns:a16="http://schemas.microsoft.com/office/drawing/2014/main" val="2321391396"/>
                    </a:ext>
                  </a:extLst>
                </a:gridCol>
                <a:gridCol w="837393">
                  <a:extLst>
                    <a:ext uri="{9D8B030D-6E8A-4147-A177-3AD203B41FA5}">
                      <a16:colId xmlns:a16="http://schemas.microsoft.com/office/drawing/2014/main" val="2825198235"/>
                    </a:ext>
                  </a:extLst>
                </a:gridCol>
                <a:gridCol w="3515749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3515749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</a:tblGrid>
              <a:tr h="40770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(7</a:t>
                      </a:r>
                      <a:r>
                        <a:rPr lang="ko-KR" altLang="en-US" sz="15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년납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)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AIA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메트라이프</a:t>
                      </a:r>
                      <a:endParaRPr lang="ko-KR" altLang="en-US" sz="17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5452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AIA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안심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프라임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달러종신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백만인을위한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달러종신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Plus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5452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심사유형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표준형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 3.2.5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표준형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3.2.5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3545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</a:t>
                      </a:r>
                      <a:endParaRPr lang="en-US" altLang="ko-KR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년납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15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- 70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- 70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 err="1"/>
                        <a:t>년납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22086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간편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년납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- 75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054260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 err="1"/>
                        <a:t>년납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- 73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0357"/>
                  </a:ext>
                </a:extLst>
              </a:tr>
              <a:tr h="35452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사망보장 체증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200%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체증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150%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체증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850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남성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가입금액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$20,000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$386.60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$317.60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3545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환급률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완납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+ 1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99.79%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99.68%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08005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+ 1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124.86%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124.82%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66386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+ 1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133.54%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129.82%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843555"/>
                  </a:ext>
                </a:extLst>
              </a:tr>
              <a:tr h="3545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+ 1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162.84%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134.99%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7119"/>
                  </a:ext>
                </a:extLst>
              </a:tr>
              <a:tr h="60269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장기보유시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환급률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극대화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 납입면제로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진단시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납입부담↓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환급률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↑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일반암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뇌혈관질환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심혈관질환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치료종결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경과시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일반심사 진행 가능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5" name="부제목 2">
            <a:extLst>
              <a:ext uri="{FF2B5EF4-FFF2-40B4-BE49-F238E27FC236}">
                <a16:creationId xmlns:a16="http://schemas.microsoft.com/office/drawing/2014/main" id="{EEDBA95D-2F93-2A27-145A-EC590432205D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달러종신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340228-838F-5FF3-77DE-ABD44347E9BA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AIA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프라임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달러종신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01E3C9-539B-2CC0-1BD4-E2A083899E0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98" y="83534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B7454-7553-BD28-1B51-700F7D6E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79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555B-DDEE-00A6-98FE-C05C354C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A6A8B491-DAE5-2516-02BD-25F8AD14A57A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달러종신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DDD8EB8C-34D2-CB39-A49A-BA971FA7B5B9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AIA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프라임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달러종신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F8FD130-EC44-472F-2FC6-BBCA0F1B283C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5F56A7A-AE27-1379-7C23-6D3A4547F901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일반심사형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만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15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~70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간편심사형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: 30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~70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업계 최고 수준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해약환급률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제공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암 납입면제까지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!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2978A97-DF65-9FE8-6E7B-885E67D3EFDF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3895F07-A35A-EED3-39F0-50E337E3E3CE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사망보장은 기본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가입금액 최대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배 체증으로 물가상승분까지 커버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장기 보유 시 타사대비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환급률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증가폭이 높아 안전자산 달러를 모아가기에 적합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B1DA5E2-9B98-5F5E-83BC-5532B94FA79C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F5BAF82-13DA-A611-7293-7DF0D2563D35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국내 투자자들은 부동산 비중이 높아 이미 상당 부분 원화 자산에 집중되어 있기 때문에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사망으로 인한 남은 가족의 부채 리스크 또는 상속세를 준비함과 동시에 안전자산인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l"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달러자산을 함께 준비하여 전체적인 위험을 분산할 수 있는 최적의 상품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7E3E12-6AD3-53EF-EA98-20A278728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C58FD6-09A8-174D-68FE-8C344D856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512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B72E-1AA6-EEBE-E124-7112A1C8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920C244-F343-352E-440B-1729E26653E0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신한라이프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3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케어 리워드 종신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06DB7B-1CCD-50C8-52EB-AA2F620DB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482515FF-0470-56D6-E694-27FEB14C3D0F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대치료비 종신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C76F96-FF23-AE01-1408-740B3DD17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451930"/>
              </p:ext>
            </p:extLst>
          </p:nvPr>
        </p:nvGraphicFramePr>
        <p:xfrm>
          <a:off x="701675" y="1079501"/>
          <a:ext cx="9288463" cy="576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432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392086">
                  <a:extLst>
                    <a:ext uri="{9D8B030D-6E8A-4147-A177-3AD203B41FA5}">
                      <a16:colId xmlns:a16="http://schemas.microsoft.com/office/drawing/2014/main" val="2321391396"/>
                    </a:ext>
                  </a:extLst>
                </a:gridCol>
                <a:gridCol w="989449">
                  <a:extLst>
                    <a:ext uri="{9D8B030D-6E8A-4147-A177-3AD203B41FA5}">
                      <a16:colId xmlns:a16="http://schemas.microsoft.com/office/drawing/2014/main" val="147466174"/>
                    </a:ext>
                  </a:extLst>
                </a:gridCol>
                <a:gridCol w="3515748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3515748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</a:tblGrid>
              <a:tr h="41134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신한라이프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교보생명</a:t>
                      </a:r>
                      <a:endParaRPr lang="ko-KR" altLang="en-US" sz="17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5768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케어 리워드 종신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밸런스 보장보험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PLUS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5768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심사유형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표준형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 335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표준형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325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35768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10,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20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년납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7, 10, 12, 15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622598"/>
                  </a:ext>
                </a:extLst>
              </a:tr>
              <a:tr h="357689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 가입나이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15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- 70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- 50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35768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간편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간편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-60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22086"/>
                  </a:ext>
                </a:extLst>
              </a:tr>
              <a:tr h="53354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납입면제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뇌출혈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급성심근경색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50%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이상 장해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암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특정허혈심장질환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특정뇌혈관질환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50%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이상 장해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7077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수술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항암약물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항암방사선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항암복합치료</a:t>
                      </a:r>
                      <a:endParaRPr lang="en-US" altLang="ko-KR" sz="12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치료별 각각 연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회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가입금액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20%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지급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수술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항암약물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항암방사선 중</a:t>
                      </a:r>
                      <a:endParaRPr lang="en-US" altLang="ko-KR" sz="12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가지 치료 연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회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가입금액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20%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지급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6590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대질환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수술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급여 혈전제거술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혈전용해치료</a:t>
                      </a:r>
                      <a:endParaRPr lang="en-US" altLang="ko-KR" sz="12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혈전 복합치료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중환자실치료</a:t>
                      </a:r>
                      <a:endParaRPr lang="en-US" altLang="ko-KR" sz="12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치료별 각각 연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회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 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가입금액 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20% </a:t>
                      </a:r>
                      <a:r>
                        <a:rPr lang="en-US" altLang="ko-KR" sz="105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(</a:t>
                      </a:r>
                      <a:r>
                        <a:rPr lang="ko-KR" altLang="en-US" sz="105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중환자실 </a:t>
                      </a:r>
                      <a:r>
                        <a:rPr lang="en-US" altLang="ko-KR" sz="105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10%)</a:t>
                      </a:r>
                      <a:endParaRPr lang="ko-KR" altLang="en-US" sz="12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수술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혈전용해치료 중</a:t>
                      </a:r>
                      <a:endParaRPr lang="en-US" altLang="ko-KR" sz="12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가지 치료 연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회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가입금액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20% 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지급</a:t>
                      </a:r>
                      <a:endParaRPr lang="en-US" altLang="ko-KR" sz="12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77712"/>
                  </a:ext>
                </a:extLst>
              </a:tr>
              <a:tr h="4292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보장기간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</a:t>
                      </a:r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2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대질환 종신 보장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암 종신 보장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2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대질환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보장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587863"/>
                  </a:ext>
                </a:extLst>
              </a:tr>
              <a:tr h="3576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완납시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환급률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112.7%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112.4%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08005"/>
                  </a:ext>
                </a:extLst>
              </a:tr>
              <a:tr h="3576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간편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104.2%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99.5%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66386"/>
                  </a:ext>
                </a:extLst>
              </a:tr>
              <a:tr h="75324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대질환 모두 종신까지 보장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치료별 지급 및 복합치료까지 든든하게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!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주요치료비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20%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지급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30%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지급형 선택 가능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완납 후 해약 시 이미 진단받은 주요치료 보장 평생 보장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10" name="그림 9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4A21FC-CAFB-6EE6-C29B-063E28361D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98" y="835346"/>
            <a:ext cx="624488" cy="8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9A6F-A8EC-E2E6-6D2C-CADFB2CE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808CB72D-062E-F3E4-CB42-3DF29435F655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신한라이프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3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케어 리워드 종신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FA73DEC-EB71-ACFD-803F-7FB5F63B75FE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7455D0-DFB3-3752-91C4-FF07FF52E9BB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일반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: 15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- 70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간편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: 30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- 70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사망보장과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대 치료비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환급률을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모두 챙겨 갈 수 있는 상품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7C35B2D-2B41-C72F-67A2-0FB5264C95D6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D1DDF4D-4D58-41BF-E255-455D40E1B00D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경쟁사와 달리 암과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2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대질환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모두 종신까지 치료비를 보장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치료를 받아도 환급금과 사망보험금은 유지되고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진단 후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대질병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연금전환 시</a:t>
            </a:r>
            <a:b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10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년간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300%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연금액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증액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!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1A3C291-CD9C-892D-F0BA-19F05AEA6B46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62A1BD0-A494-6B19-8959-7595326963BE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최초 출시했던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단기납종신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기고객들의 만기가 도래하고 있는데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기존에 사망보장과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환급률만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가져가실 수 있는 상품에서 이제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3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대질병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치료비와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3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대질병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진단 시 연금액까지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든든하게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챙겨가실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수 있는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사망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·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치료비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·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환급률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·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연금까지 살면서 필요한 모든 것을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준비하실  수 있는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올인원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상품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0D9009-3988-819A-62DE-EBDD47872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6C2018-BD72-1041-D54F-FF8FEAB9D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A422961A-8641-9F82-42ED-6A073CC58C8A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대치료비 종신</a:t>
            </a:r>
          </a:p>
        </p:txBody>
      </p:sp>
    </p:spTree>
    <p:extLst>
      <p:ext uri="{BB962C8B-B14F-4D97-AF65-F5344CB8AC3E}">
        <p14:creationId xmlns:p14="http://schemas.microsoft.com/office/powerpoint/2010/main" val="428517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B9EB-1FC8-A4C2-4064-B4F5AAB9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A08EAD8F-E70D-DC6C-B35F-95D68F2A0B6E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삼성생명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가족대표 건강보험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7B441-B580-123C-B6D4-96B927E29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3A0B58-3946-70D6-8795-7EF77AC7D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697411"/>
              </p:ext>
            </p:extLst>
          </p:nvPr>
        </p:nvGraphicFramePr>
        <p:xfrm>
          <a:off x="701673" y="1079500"/>
          <a:ext cx="9288464" cy="576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432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1096647">
                  <a:extLst>
                    <a:ext uri="{9D8B030D-6E8A-4147-A177-3AD203B41FA5}">
                      <a16:colId xmlns:a16="http://schemas.microsoft.com/office/drawing/2014/main" val="2321391396"/>
                    </a:ext>
                  </a:extLst>
                </a:gridCol>
                <a:gridCol w="2042763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757874">
                  <a:extLst>
                    <a:ext uri="{9D8B030D-6E8A-4147-A177-3AD203B41FA5}">
                      <a16:colId xmlns:a16="http://schemas.microsoft.com/office/drawing/2014/main" val="1471893054"/>
                    </a:ext>
                  </a:extLst>
                </a:gridCol>
                <a:gridCol w="1757874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757874">
                  <a:extLst>
                    <a:ext uri="{9D8B030D-6E8A-4147-A177-3AD203B41FA5}">
                      <a16:colId xmlns:a16="http://schemas.microsoft.com/office/drawing/2014/main" val="1809103380"/>
                    </a:ext>
                  </a:extLst>
                </a:gridCol>
              </a:tblGrid>
              <a:tr h="64786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삼성생명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푸본현대생명</a:t>
                      </a:r>
                      <a:endParaRPr lang="ko-KR" altLang="en-US" sz="17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5633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가족대표 건강보험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건강보험 </a:t>
                      </a:r>
                      <a:r>
                        <a:rPr lang="ko-KR" altLang="en-US" sz="15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마이픽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5633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15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- 75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15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- 70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5633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10, 15, 20, 30</a:t>
                      </a:r>
                      <a:r>
                        <a:rPr lang="ko-KR" altLang="en-US" sz="15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년납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10, 15, 20, 30</a:t>
                      </a:r>
                      <a:r>
                        <a:rPr lang="ko-KR" altLang="en-US" sz="15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22598"/>
                  </a:ext>
                </a:extLst>
              </a:tr>
              <a:tr h="563360"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가입금액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일반 암직접치료비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 </a:t>
                      </a:r>
                      <a:r>
                        <a:rPr lang="ko-KR" altLang="en-US" sz="15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유사암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백만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일반 암주요치료비 </a:t>
                      </a:r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천만 </a:t>
                      </a:r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/</a:t>
                      </a:r>
                      <a:r>
                        <a:rPr lang="ko-KR" altLang="en-US" sz="15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유사암</a:t>
                      </a:r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321318">
                <a:tc rowSpan="3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고지유형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표준체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3.5.5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표준체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3.5.5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6760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40</a:t>
                      </a:r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세 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39,310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47,678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39,776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46,608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77712"/>
                  </a:ext>
                </a:extLst>
              </a:tr>
              <a:tr h="676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40</a:t>
                      </a:r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세 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36,450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45,004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38,746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47,532</a:t>
                      </a:r>
                      <a:endParaRPr lang="ko-KR" altLang="en-US" sz="15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587863"/>
                  </a:ext>
                </a:extLst>
              </a:tr>
              <a:tr h="1186355"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5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항암호르몬 치료 매 년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10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 보장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간편 → 건강체 무사고전환으로 보험료 할인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항암호르몬 치료 매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]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 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10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 보장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고혈압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</a:t>
                      </a:r>
                      <a:r>
                        <a:rPr lang="ko-KR" altLang="en-US" sz="15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고지혈</a:t>
                      </a:r>
                      <a:r>
                        <a:rPr lang="en-US" altLang="ko-KR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/</a:t>
                      </a: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당뇨 등 만성질환과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5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함께 준비하기 좋은 상품</a:t>
                      </a:r>
                      <a:endParaRPr lang="en-US" altLang="ko-KR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5" name="그림 4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5BBD21-F1B1-6600-DB7F-6927B9D6360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98" y="835346"/>
            <a:ext cx="624488" cy="890814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472D2FD0-D19C-D63B-5930-876280722D4F}"/>
              </a:ext>
            </a:extLst>
          </p:cNvPr>
          <p:cNvSpPr txBox="1">
            <a:spLocks/>
          </p:cNvSpPr>
          <p:nvPr/>
        </p:nvSpPr>
        <p:spPr>
          <a:xfrm>
            <a:off x="8669909" y="177539"/>
            <a:ext cx="1965161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항암호르몬 집중치료</a:t>
            </a:r>
          </a:p>
        </p:txBody>
      </p:sp>
    </p:spTree>
    <p:extLst>
      <p:ext uri="{BB962C8B-B14F-4D97-AF65-F5344CB8AC3E}">
        <p14:creationId xmlns:p14="http://schemas.microsoft.com/office/powerpoint/2010/main" val="354139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1016-BC0F-124C-3D06-B0D044A0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2EEA0222-BBAA-1F53-D9CD-30DCD58D1C63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삼성생명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가족대표 건강보험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F6A422D-CC86-4E9B-AF94-A9E77D231C22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10E9CB2-80E8-1F29-38BD-CBA6A65602F9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- 75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가족결합 할인 및 예외질환 최대 운영 등 보험료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언더라이팅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모두 경쟁력 높은 상품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8D6D30E-E96D-111F-14C8-8A415E8D2FDA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4458D4A-80C0-005B-2B06-705DBB9F4389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현재 손보사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/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생보사 대부분 항암호르몬치료 가입한도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1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백만 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~ 3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백만으로 축소되어</a:t>
            </a:r>
            <a:b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타사대비 경쟁력이 높은 상품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0701738-6318-D274-ABB5-439F457E8AF4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397D4D9-1FB0-7E95-AD82-DECF5FA6C236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계속해서 증가하는 남성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여성 전립선암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유방암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발생자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5~10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년간 장기간의 치료가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필요한 만큼 호르몬치료 보장으로 혹시 모를 소득 단절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치료비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생활비를 타사대비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저렴한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보험료로 크게 보장을 준비할 수 있는 플랜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98B810-58A2-3D3B-2B35-7EFB14179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46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162CB0E-3A4A-1231-FD5E-7FB84C63C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C6740A3-232D-3FCF-AE16-7416C1204247}"/>
              </a:ext>
            </a:extLst>
          </p:cNvPr>
          <p:cNvSpPr txBox="1">
            <a:spLocks/>
          </p:cNvSpPr>
          <p:nvPr/>
        </p:nvSpPr>
        <p:spPr>
          <a:xfrm>
            <a:off x="8669909" y="177539"/>
            <a:ext cx="1965161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항암호르몬 집중치료</a:t>
            </a:r>
          </a:p>
        </p:txBody>
      </p:sp>
    </p:spTree>
    <p:extLst>
      <p:ext uri="{BB962C8B-B14F-4D97-AF65-F5344CB8AC3E}">
        <p14:creationId xmlns:p14="http://schemas.microsoft.com/office/powerpoint/2010/main" val="133460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699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D36C120-F4A6-0940-6C7F-DAEF5774A10B}"/>
              </a:ext>
            </a:extLst>
          </p:cNvPr>
          <p:cNvSpPr txBox="1">
            <a:spLocks/>
          </p:cNvSpPr>
          <p:nvPr/>
        </p:nvSpPr>
        <p:spPr>
          <a:xfrm>
            <a:off x="8718246" y="177539"/>
            <a:ext cx="1818583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건강체 가성비 상품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2F9537-25F2-8E83-54C1-EB4111017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22359"/>
              </p:ext>
            </p:extLst>
          </p:nvPr>
        </p:nvGraphicFramePr>
        <p:xfrm>
          <a:off x="701675" y="1079500"/>
          <a:ext cx="9288466" cy="556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67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2467">
                  <a:extLst>
                    <a:ext uri="{9D8B030D-6E8A-4147-A177-3AD203B41FA5}">
                      <a16:colId xmlns:a16="http://schemas.microsoft.com/office/drawing/2014/main" val="2470179069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50015309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35100021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106398273"/>
                    </a:ext>
                  </a:extLst>
                </a:gridCol>
              </a:tblGrid>
              <a:tr h="4643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흥국생명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삼성생명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KB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27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다사랑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오튼튼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가족대표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5.10.5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딱좋은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플러스건강보험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427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80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75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80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27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427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27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일반암진단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11,340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8,760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11,900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7,660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11,550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9,020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17433"/>
                  </a:ext>
                </a:extLst>
              </a:tr>
              <a:tr h="570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암주요치료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26,534</a:t>
                      </a:r>
                      <a:endParaRPr lang="en-US" altLang="ko-KR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24,402</a:t>
                      </a:r>
                      <a:b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</a:b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28,986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25,392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35,686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27,412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427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뇌혈관진단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6,850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6,380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9,080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6,260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6,970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6,410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01747"/>
                  </a:ext>
                </a:extLst>
              </a:tr>
              <a:tr h="427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허혈성진단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6,110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2,910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5,820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3,270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5,170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2,290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029"/>
                  </a:ext>
                </a:extLst>
              </a:tr>
              <a:tr h="6407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순환계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15,335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8,090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11,060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 err="1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중환자실치료미포함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5,370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 err="1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중환자실치료미포함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18,500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10,300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75153"/>
                  </a:ext>
                </a:extLst>
              </a:tr>
              <a:tr h="427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1,913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2,211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2,090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1,950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2,254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2,249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8021"/>
                  </a:ext>
                </a:extLst>
              </a:tr>
              <a:tr h="46911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이런 분들께 추천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!</a:t>
                      </a:r>
                      <a:endParaRPr lang="ko-KR" altLang="en-US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50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이하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주계약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70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만기 설계로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보험료 절감 가능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 진단</a:t>
                      </a:r>
                      <a:r>
                        <a:rPr lang="ko-KR" altLang="en-US" sz="1200" b="1" i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및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순환계치료비 가성비 플랜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가족결합시 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5% 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추가할인 혜택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대질환 보험료 경쟁력↑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B6BB1C-F481-58FE-3CCB-03F4D2FFA001}"/>
              </a:ext>
            </a:extLst>
          </p:cNvPr>
          <p:cNvSpPr txBox="1"/>
          <p:nvPr/>
        </p:nvSpPr>
        <p:spPr>
          <a:xfrm>
            <a:off x="4566659" y="6641707"/>
            <a:ext cx="554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40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100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세만기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20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해지환급금 미지급형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담보별 보험료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89F33039-31ED-CB87-C93B-272BA49465F1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_3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대진단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및 주요치료비 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추천사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건강체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306DF1-3CE4-68D0-6B2B-A4863E730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83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5492-C1CD-A765-024A-5B127262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BF2C7673-ED6D-30A9-35B5-A67434EAA617}"/>
              </a:ext>
            </a:extLst>
          </p:cNvPr>
          <p:cNvSpPr txBox="1">
            <a:spLocks/>
          </p:cNvSpPr>
          <p:nvPr/>
        </p:nvSpPr>
        <p:spPr>
          <a:xfrm>
            <a:off x="8718246" y="177539"/>
            <a:ext cx="1818583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초경증</a:t>
            </a:r>
            <a:r>
              <a:rPr kumimoji="0" lang="ko-KR" altLang="en-US" sz="2400" b="1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 가성비 상품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D3DF16C1-13B4-E53B-09B3-FDC73B24B7F3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_3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대진단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및 주요치료비 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추천사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초경증</a:t>
            </a:r>
            <a:endParaRPr kumimoji="0" lang="ko-KR" altLang="en-US" sz="2400" b="1" u="none" strike="noStrike" kern="1200" cap="none" spc="-15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F41D11-7656-E093-9894-FE1CE9707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6A644D3-E8E6-31E9-92E6-0F74A62E8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55032"/>
              </p:ext>
            </p:extLst>
          </p:nvPr>
        </p:nvGraphicFramePr>
        <p:xfrm>
          <a:off x="701674" y="1079501"/>
          <a:ext cx="9288464" cy="556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489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3489">
                  <a:extLst>
                    <a:ext uri="{9D8B030D-6E8A-4147-A177-3AD203B41FA5}">
                      <a16:colId xmlns:a16="http://schemas.microsoft.com/office/drawing/2014/main" val="2470179069"/>
                    </a:ext>
                  </a:extLst>
                </a:gridCol>
                <a:gridCol w="1225521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25521">
                  <a:extLst>
                    <a:ext uri="{9D8B030D-6E8A-4147-A177-3AD203B41FA5}">
                      <a16:colId xmlns:a16="http://schemas.microsoft.com/office/drawing/2014/main" val="2500153091"/>
                    </a:ext>
                  </a:extLst>
                </a:gridCol>
                <a:gridCol w="1297611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97611">
                  <a:extLst>
                    <a:ext uri="{9D8B030D-6E8A-4147-A177-3AD203B41FA5}">
                      <a16:colId xmlns:a16="http://schemas.microsoft.com/office/drawing/2014/main" val="2351000211"/>
                    </a:ext>
                  </a:extLst>
                </a:gridCol>
                <a:gridCol w="1297611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97611">
                  <a:extLst>
                    <a:ext uri="{9D8B030D-6E8A-4147-A177-3AD203B41FA5}">
                      <a16:colId xmlns:a16="http://schemas.microsoft.com/office/drawing/2014/main" val="2106398273"/>
                    </a:ext>
                  </a:extLst>
                </a:gridCol>
              </a:tblGrid>
              <a:tr h="4316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미래에셋생명</a:t>
                      </a:r>
                      <a:endParaRPr lang="ko-KR" altLang="en-US" sz="17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KB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흥국생명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753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M-</a:t>
                      </a:r>
                      <a:r>
                        <a:rPr lang="ko-KR" altLang="en-US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케어 건강보험</a:t>
                      </a:r>
                      <a:r>
                        <a:rPr lang="en-US" altLang="ko-KR" sz="1400" b="0" i="0" baseline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3.10.5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딱좋은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초경증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다사랑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3.10.5 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간편건강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6202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</a:t>
                      </a:r>
                      <a:r>
                        <a:rPr lang="ko-KR" altLang="en-US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 </a:t>
                      </a:r>
                      <a:r>
                        <a:rPr lang="en-US" altLang="ko-KR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~ 75</a:t>
                      </a:r>
                      <a:r>
                        <a:rPr lang="ko-KR" altLang="en-US" sz="1400" b="0" i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~ 80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~ 80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3753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10·20·25·30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3753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31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일반암진단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14,780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12,940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13,760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10,680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15,500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13,000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17433"/>
                  </a:ext>
                </a:extLst>
              </a:tr>
              <a:tr h="5817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암주요치료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36,894</a:t>
                      </a:r>
                      <a:endParaRPr lang="en-US" altLang="ko-KR" sz="11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32,412</a:t>
                      </a:r>
                      <a:endParaRPr lang="en-US" altLang="ko-KR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45,142</a:t>
                      </a:r>
                    </a:p>
                    <a:p>
                      <a:pPr algn="ctr" latinLnBrk="1"/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35,434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39,539</a:t>
                      </a:r>
                    </a:p>
                    <a:p>
                      <a:pPr algn="ctr" latinLnBrk="1"/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39,170</a:t>
                      </a:r>
                    </a:p>
                    <a:p>
                      <a:pPr algn="ctr" latinLnBrk="1"/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만기지급</a:t>
                      </a: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431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뇌혈관진단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11,700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11,580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7,690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7,100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9,040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8,470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01747"/>
                  </a:ext>
                </a:extLst>
              </a:tr>
              <a:tr h="431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허혈성진단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10,160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7,320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6,060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2,570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8,220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4,050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029"/>
                  </a:ext>
                </a:extLst>
              </a:tr>
              <a:tr h="615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순환계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26,719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17,037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23,370</a:t>
                      </a:r>
                    </a:p>
                    <a:p>
                      <a:pPr marL="0" marR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13,090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22,435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11,735</a:t>
                      </a:r>
                    </a:p>
                    <a:p>
                      <a:pPr algn="ctr" latinLnBrk="1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중환자실치료포함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75153"/>
                  </a:ext>
                </a:extLst>
              </a:tr>
              <a:tr h="431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6,856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7,908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2,900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2,847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2,904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3,393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8021"/>
                  </a:ext>
                </a:extLst>
              </a:tr>
              <a:tr h="4619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이런 분들께 추천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!</a:t>
                      </a:r>
                      <a:endParaRPr lang="ko-KR" altLang="en-US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중환자실치료제외</a:t>
                      </a:r>
                      <a:r>
                        <a:rPr lang="en-US" altLang="ko-KR" sz="1200" b="1" i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암주요치료 가성비 플랜 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대진단비 및 여성 종합보험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 주요치료 위주 플랜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578F37-913E-1C89-4F35-82A23864A6F3}"/>
              </a:ext>
            </a:extLst>
          </p:cNvPr>
          <p:cNvSpPr txBox="1"/>
          <p:nvPr/>
        </p:nvSpPr>
        <p:spPr>
          <a:xfrm>
            <a:off x="4566659" y="6641707"/>
            <a:ext cx="554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40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100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세만기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20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해지환급금 미지급형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담보별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보험료</a:t>
            </a:r>
          </a:p>
        </p:txBody>
      </p:sp>
    </p:spTree>
    <p:extLst>
      <p:ext uri="{BB962C8B-B14F-4D97-AF65-F5344CB8AC3E}">
        <p14:creationId xmlns:p14="http://schemas.microsoft.com/office/powerpoint/2010/main" val="82275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26B2-F910-62C4-4960-ABF6E4A6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15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0A5A-430C-F803-472F-242C7643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4D1E70D0-1E34-B8F2-EC69-C29E7973F9F2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00" normalizeH="0" baseline="0" noProof="0" dirty="0">
                <a:ln>
                  <a:noFill/>
                </a:ln>
                <a:solidFill>
                  <a:srgbClr val="1C468F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손해보험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6C3330CB-5B1B-5F9E-81BA-224E7E2B1529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손해보험 </a:t>
            </a:r>
            <a:r>
              <a:rPr kumimoji="0" lang="en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BEST CHOICE</a:t>
            </a:r>
          </a:p>
        </p:txBody>
      </p:sp>
      <p:pic>
        <p:nvPicPr>
          <p:cNvPr id="39" name="그림 38" descr="테이블웨어, 컵, 트로피, 정물 사진이(가) 표시된 사진&#10;&#10;자동 생성된 설명">
            <a:extLst>
              <a:ext uri="{FF2B5EF4-FFF2-40B4-BE49-F238E27FC236}">
                <a16:creationId xmlns:a16="http://schemas.microsoft.com/office/drawing/2014/main" id="{068A3345-23DE-ACA8-078C-5490CC6ED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3" y="1045399"/>
            <a:ext cx="622490" cy="1545495"/>
          </a:xfrm>
          <a:prstGeom prst="rect">
            <a:avLst/>
          </a:prstGeom>
        </p:spPr>
      </p:pic>
      <p:sp>
        <p:nvSpPr>
          <p:cNvPr id="3" name="한쪽 모서리가 둥근 사각형 2">
            <a:extLst>
              <a:ext uri="{FF2B5EF4-FFF2-40B4-BE49-F238E27FC236}">
                <a16:creationId xmlns:a16="http://schemas.microsoft.com/office/drawing/2014/main" id="{34DDAC1D-2C9A-5708-17FE-2117FCB02C33}"/>
              </a:ext>
            </a:extLst>
          </p:cNvPr>
          <p:cNvSpPr/>
          <p:nvPr/>
        </p:nvSpPr>
        <p:spPr>
          <a:xfrm flipH="1">
            <a:off x="2031904" y="5954020"/>
            <a:ext cx="3628113" cy="886379"/>
          </a:xfrm>
          <a:prstGeom prst="round1Rect">
            <a:avLst>
              <a:gd name="adj" fmla="val 23391"/>
            </a:avLst>
          </a:prstGeom>
          <a:solidFill>
            <a:srgbClr val="EBF5FF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NH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농협손해보험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5.10.5 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굿플러스</a:t>
            </a:r>
            <a:endParaRPr lang="en-US" altLang="ko-KR" sz="1400" b="1" dirty="0">
              <a:solidFill>
                <a:srgbClr val="0131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메리츠화재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The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건강한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5.10.5</a:t>
            </a:r>
          </a:p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삼성화재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New</a:t>
            </a:r>
            <a:r>
              <a:rPr lang="ko-KR" altLang="en-US" sz="1400" b="1" dirty="0" err="1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내돈내삼</a:t>
            </a:r>
            <a:endParaRPr lang="ko-KR" altLang="en-US" sz="1400" b="1" dirty="0">
              <a:solidFill>
                <a:srgbClr val="0131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" name="한쪽 모서리가 둥근 사각형 1">
            <a:extLst>
              <a:ext uri="{FF2B5EF4-FFF2-40B4-BE49-F238E27FC236}">
                <a16:creationId xmlns:a16="http://schemas.microsoft.com/office/drawing/2014/main" id="{25680D77-96A8-F809-DF1D-0AFA71B2B652}"/>
              </a:ext>
            </a:extLst>
          </p:cNvPr>
          <p:cNvSpPr/>
          <p:nvPr/>
        </p:nvSpPr>
        <p:spPr>
          <a:xfrm>
            <a:off x="1626872" y="5556948"/>
            <a:ext cx="8359313" cy="397072"/>
          </a:xfrm>
          <a:prstGeom prst="round1Rect">
            <a:avLst>
              <a:gd name="adj" fmla="val 23391"/>
            </a:avLst>
          </a:prstGeom>
          <a:solidFill>
            <a:srgbClr val="85A4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dirty="0" err="1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유병자</a:t>
            </a: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 가성비 상품</a:t>
            </a:r>
            <a:endParaRPr kumimoji="1" lang="ko-KR" altLang="en-US" sz="2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NanumSquare Bold" panose="020B0600000101010101" pitchFamily="34" charset="-127"/>
              <a:ea typeface="NanumSquare Bold" panose="020B0600000101010101" pitchFamily="34" charset="-127"/>
              <a:cs typeface="+mn-cs"/>
            </a:endParaRPr>
          </a:p>
        </p:txBody>
      </p:sp>
      <p:sp>
        <p:nvSpPr>
          <p:cNvPr id="8" name="한쪽 모서리가 둥근 사각형 7">
            <a:extLst>
              <a:ext uri="{FF2B5EF4-FFF2-40B4-BE49-F238E27FC236}">
                <a16:creationId xmlns:a16="http://schemas.microsoft.com/office/drawing/2014/main" id="{5FD0745B-DBFB-AB8F-01D2-B23154F27E54}"/>
              </a:ext>
            </a:extLst>
          </p:cNvPr>
          <p:cNvSpPr/>
          <p:nvPr/>
        </p:nvSpPr>
        <p:spPr>
          <a:xfrm flipH="1">
            <a:off x="6344806" y="5954020"/>
            <a:ext cx="3628113" cy="886379"/>
          </a:xfrm>
          <a:prstGeom prst="round1Rect">
            <a:avLst>
              <a:gd name="adj" fmla="val 23391"/>
            </a:avLst>
          </a:prstGeom>
          <a:solidFill>
            <a:srgbClr val="EBF5FF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롯데손해보험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en-US" altLang="ko-KR" sz="1400" b="1" dirty="0" err="1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let;simple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간편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3.10.10</a:t>
            </a:r>
          </a:p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메리츠화재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1400" b="1" dirty="0" err="1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통합간편건강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3.10.5</a:t>
            </a:r>
          </a:p>
          <a:p>
            <a:pPr marL="136525" lvl="0" indent="-136525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DB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손해보험 </a:t>
            </a:r>
            <a:r>
              <a:rPr lang="en-US" altLang="ko-KR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나에게 맞춘 </a:t>
            </a:r>
            <a:r>
              <a:rPr lang="ko-KR" altLang="en-US" sz="1400" b="1" dirty="0" err="1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더좋은</a:t>
            </a:r>
            <a:r>
              <a:rPr lang="ko-KR" altLang="en-US" sz="1400" b="1" dirty="0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ko-KR" altLang="en-US" sz="1400" b="1" dirty="0" err="1">
                <a:solidFill>
                  <a:srgbClr val="0131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초경증</a:t>
            </a:r>
            <a:endParaRPr lang="en-US" altLang="ko-KR" sz="1400" b="1" dirty="0">
              <a:solidFill>
                <a:srgbClr val="0131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0" name="한쪽 모서리가 둥근 사각형 9">
            <a:extLst>
              <a:ext uri="{FF2B5EF4-FFF2-40B4-BE49-F238E27FC236}">
                <a16:creationId xmlns:a16="http://schemas.microsoft.com/office/drawing/2014/main" id="{53BE8E4F-8F7C-3F58-2443-68605B8F3B3C}"/>
              </a:ext>
            </a:extLst>
          </p:cNvPr>
          <p:cNvSpPr/>
          <p:nvPr/>
        </p:nvSpPr>
        <p:spPr>
          <a:xfrm>
            <a:off x="1636581" y="5954216"/>
            <a:ext cx="408986" cy="886183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건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강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체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1" name="한쪽 모서리가 둥근 사각형 10">
            <a:extLst>
              <a:ext uri="{FF2B5EF4-FFF2-40B4-BE49-F238E27FC236}">
                <a16:creationId xmlns:a16="http://schemas.microsoft.com/office/drawing/2014/main" id="{834FEE85-1ED7-2635-D9A6-7B51618042EC}"/>
              </a:ext>
            </a:extLst>
          </p:cNvPr>
          <p:cNvSpPr/>
          <p:nvPr/>
        </p:nvSpPr>
        <p:spPr>
          <a:xfrm>
            <a:off x="5935824" y="5954020"/>
            <a:ext cx="408986" cy="886379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85A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초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경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500" b="1" dirty="0">
                <a:solidFill>
                  <a:srgbClr val="85A4DB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증</a:t>
            </a:r>
            <a:endParaRPr kumimoji="1" lang="en-US" altLang="ko-KR" sz="1500" b="1" dirty="0">
              <a:solidFill>
                <a:srgbClr val="85A4DB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4" name="부제목 2">
            <a:extLst>
              <a:ext uri="{FF2B5EF4-FFF2-40B4-BE49-F238E27FC236}">
                <a16:creationId xmlns:a16="http://schemas.microsoft.com/office/drawing/2014/main" id="{19C88BE9-26CA-6B17-3051-0FE129505131}"/>
              </a:ext>
            </a:extLst>
          </p:cNvPr>
          <p:cNvSpPr txBox="1">
            <a:spLocks/>
          </p:cNvSpPr>
          <p:nvPr/>
        </p:nvSpPr>
        <p:spPr>
          <a:xfrm>
            <a:off x="691977" y="2976810"/>
            <a:ext cx="641882" cy="40531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B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E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S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T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H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O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I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E</a:t>
            </a:r>
            <a:endParaRPr kumimoji="0" lang="ko-KR" altLang="en-US" sz="2400" b="1" u="none" strike="noStrike" kern="1200" cap="none" spc="-100" normalizeH="0" baseline="0" noProof="0" dirty="0">
              <a:ln>
                <a:noFill/>
              </a:ln>
              <a:solidFill>
                <a:srgbClr val="DDEBF8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34B3238-F5FD-A311-B711-19A6298E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6" name="한쪽 모서리가 둥근 사각형 30">
            <a:extLst>
              <a:ext uri="{FF2B5EF4-FFF2-40B4-BE49-F238E27FC236}">
                <a16:creationId xmlns:a16="http://schemas.microsoft.com/office/drawing/2014/main" id="{4A788A0C-F54E-1755-B90D-AC438963485F}"/>
              </a:ext>
            </a:extLst>
          </p:cNvPr>
          <p:cNvSpPr/>
          <p:nvPr/>
        </p:nvSpPr>
        <p:spPr>
          <a:xfrm>
            <a:off x="1626871" y="1068394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변호사</a:t>
            </a:r>
            <a:endParaRPr kumimoji="1" lang="en-US" altLang="ko-KR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lvl="0" algn="ctr">
              <a:defRPr/>
            </a:pPr>
            <a:r>
              <a:rPr kumimoji="1" lang="ko-KR" altLang="en-US" sz="2000" b="1" dirty="0" err="1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현물급부</a:t>
            </a:r>
            <a:endParaRPr kumimoji="1" lang="ko-KR" altLang="en-US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7" name="한쪽 모서리가 둥근 사각형 48">
            <a:extLst>
              <a:ext uri="{FF2B5EF4-FFF2-40B4-BE49-F238E27FC236}">
                <a16:creationId xmlns:a16="http://schemas.microsoft.com/office/drawing/2014/main" id="{00D80807-7614-CD60-A31D-E5923B7E248F}"/>
              </a:ext>
            </a:extLst>
          </p:cNvPr>
          <p:cNvSpPr/>
          <p:nvPr/>
        </p:nvSpPr>
        <p:spPr>
          <a:xfrm flipH="1">
            <a:off x="3325219" y="1068590"/>
            <a:ext cx="6664916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DB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손해보험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참좋은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운전자상해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하나손해보험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하나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더베스트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운전자상해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41" name="한쪽 모서리가 둥근 사각형 51">
            <a:extLst>
              <a:ext uri="{FF2B5EF4-FFF2-40B4-BE49-F238E27FC236}">
                <a16:creationId xmlns:a16="http://schemas.microsoft.com/office/drawing/2014/main" id="{542DCFAA-5545-754D-6311-10EB331A7BBF}"/>
              </a:ext>
            </a:extLst>
          </p:cNvPr>
          <p:cNvSpPr/>
          <p:nvPr/>
        </p:nvSpPr>
        <p:spPr>
          <a:xfrm>
            <a:off x="1626873" y="2570668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인공관절수술</a:t>
            </a:r>
          </a:p>
        </p:txBody>
      </p:sp>
      <p:sp>
        <p:nvSpPr>
          <p:cNvPr id="42" name="한쪽 모서리가 둥근 사각형 52">
            <a:extLst>
              <a:ext uri="{FF2B5EF4-FFF2-40B4-BE49-F238E27FC236}">
                <a16:creationId xmlns:a16="http://schemas.microsoft.com/office/drawing/2014/main" id="{E2D3E342-CD6F-1438-C59D-B1842A8DEA8C}"/>
              </a:ext>
            </a:extLst>
          </p:cNvPr>
          <p:cNvSpPr/>
          <p:nvPr/>
        </p:nvSpPr>
        <p:spPr>
          <a:xfrm flipH="1">
            <a:off x="3325221" y="2570864"/>
            <a:ext cx="6664916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한화손해보험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더경증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간편건강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삼성화재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온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[ON]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통 보장건강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KB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손해보험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5.10.10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플러스 건강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45" name="한쪽 모서리가 둥근 사각형 53">
            <a:extLst>
              <a:ext uri="{FF2B5EF4-FFF2-40B4-BE49-F238E27FC236}">
                <a16:creationId xmlns:a16="http://schemas.microsoft.com/office/drawing/2014/main" id="{E922553C-5990-8ED0-B7E6-417813C1E588}"/>
              </a:ext>
            </a:extLst>
          </p:cNvPr>
          <p:cNvSpPr/>
          <p:nvPr/>
        </p:nvSpPr>
        <p:spPr>
          <a:xfrm>
            <a:off x="1626873" y="4072942"/>
            <a:ext cx="1698348" cy="1307733"/>
          </a:xfrm>
          <a:prstGeom prst="round1Rect">
            <a:avLst>
              <a:gd name="adj" fmla="val 23391"/>
            </a:avLst>
          </a:prstGeom>
          <a:solidFill>
            <a:srgbClr val="85A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ko-KR" altLang="en-US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수술비</a:t>
            </a:r>
            <a:endParaRPr kumimoji="1" lang="en-US" altLang="ko-KR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lvl="0" algn="ctr">
              <a:defRPr/>
            </a:pPr>
            <a:r>
              <a:rPr kumimoji="1" lang="en-US" altLang="ko-KR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kumimoji="1" lang="ko-KR" altLang="en-US" sz="2000" b="1" dirty="0" err="1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대장용종</a:t>
            </a:r>
            <a:r>
              <a:rPr kumimoji="1" lang="en-US" altLang="ko-KR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endParaRPr kumimoji="1" lang="ko-KR" altLang="en-US" sz="2000" b="1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46" name="한쪽 모서리가 둥근 사각형 54">
            <a:extLst>
              <a:ext uri="{FF2B5EF4-FFF2-40B4-BE49-F238E27FC236}">
                <a16:creationId xmlns:a16="http://schemas.microsoft.com/office/drawing/2014/main" id="{6E19128B-1F5E-01DC-222A-F3BEF40A1D79}"/>
              </a:ext>
            </a:extLst>
          </p:cNvPr>
          <p:cNvSpPr/>
          <p:nvPr/>
        </p:nvSpPr>
        <p:spPr>
          <a:xfrm flipH="1">
            <a:off x="3325221" y="4073138"/>
            <a:ext cx="6660964" cy="1307733"/>
          </a:xfrm>
          <a:prstGeom prst="round1Rect">
            <a:avLst>
              <a:gd name="adj" fmla="val 23391"/>
            </a:avLst>
          </a:prstGeom>
          <a:solidFill>
            <a:srgbClr val="EA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삼성화재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New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내돈내삼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한화손해보험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더건강한 한아름 종합보험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77800" lvl="0" indent="-1778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30175" algn="l"/>
              </a:tabLst>
              <a:defRPr/>
            </a:pP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현대해상 </a:t>
            </a:r>
            <a:r>
              <a:rPr lang="en-US" altLang="ko-KR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– </a:t>
            </a:r>
            <a:r>
              <a:rPr lang="ko-KR" altLang="en-US" sz="2000" b="1" dirty="0" err="1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퍼펙트플러스</a:t>
            </a:r>
            <a:r>
              <a:rPr lang="ko-KR" altLang="en-US" sz="2000" b="1" dirty="0">
                <a:solidFill>
                  <a:srgbClr val="01326E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종합보험</a:t>
            </a:r>
            <a:endParaRPr lang="en-US" altLang="ko-KR" sz="2000" b="1" dirty="0">
              <a:solidFill>
                <a:srgbClr val="01326E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240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A9BF-D563-DE22-9726-B9CBC4C1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8A0FD9-724F-E085-2F8D-1F448A8F1CEF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DB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참좋은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운전자상해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7AF135-90DA-FD84-9960-5DA4E6EB2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FD224C-80AD-1698-BB41-CDA7C739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19433"/>
              </p:ext>
            </p:extLst>
          </p:nvPr>
        </p:nvGraphicFramePr>
        <p:xfrm>
          <a:off x="701675" y="1079502"/>
          <a:ext cx="9288466" cy="5680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405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1585581">
                  <a:extLst>
                    <a:ext uri="{9D8B030D-6E8A-4147-A177-3AD203B41FA5}">
                      <a16:colId xmlns:a16="http://schemas.microsoft.com/office/drawing/2014/main" val="2321391396"/>
                    </a:ext>
                  </a:extLst>
                </a:gridCol>
                <a:gridCol w="1714620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857310">
                  <a:extLst>
                    <a:ext uri="{9D8B030D-6E8A-4147-A177-3AD203B41FA5}">
                      <a16:colId xmlns:a16="http://schemas.microsoft.com/office/drawing/2014/main" val="1471893054"/>
                    </a:ext>
                  </a:extLst>
                </a:gridCol>
                <a:gridCol w="857310">
                  <a:extLst>
                    <a:ext uri="{9D8B030D-6E8A-4147-A177-3AD203B41FA5}">
                      <a16:colId xmlns:a16="http://schemas.microsoft.com/office/drawing/2014/main" val="2326472312"/>
                    </a:ext>
                  </a:extLst>
                </a:gridCol>
                <a:gridCol w="1714620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857310">
                  <a:extLst>
                    <a:ext uri="{9D8B030D-6E8A-4147-A177-3AD203B41FA5}">
                      <a16:colId xmlns:a16="http://schemas.microsoft.com/office/drawing/2014/main" val="1809103380"/>
                    </a:ext>
                  </a:extLst>
                </a:gridCol>
                <a:gridCol w="857310">
                  <a:extLst>
                    <a:ext uri="{9D8B030D-6E8A-4147-A177-3AD203B41FA5}">
                      <a16:colId xmlns:a16="http://schemas.microsoft.com/office/drawing/2014/main" val="834695573"/>
                    </a:ext>
                  </a:extLst>
                </a:gridCol>
              </a:tblGrid>
              <a:tr h="39064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DB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하나손해보험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396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참좋은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운전자상해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하나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더베스트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운전자상해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396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18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- 80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18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- 80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3396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3, 5, 10, 15, 20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년 만기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전기납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5, 7, 10, 15, 20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 만기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전기납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22598"/>
                  </a:ext>
                </a:extLst>
              </a:tr>
              <a:tr h="339689"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변호사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현물급부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 판매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O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O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339689">
                <a:tc rowSpan="8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주요담보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최대 가입한도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기준금액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최대 가입한도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기준금액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5173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교통사고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처리지원금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억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4,040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억</a:t>
                      </a:r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억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3,279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77712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교사처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(6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주 미만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1,541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1,285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961080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벌금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대인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천만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261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천만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271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23530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벌금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대물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24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백만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23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628312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상해입원일당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644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885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587863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marL="0" algn="ctr" defTabSz="1007943" rtl="0" eaLnBrk="1" latinLnBrk="1" hangingPunct="1"/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골절진단비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50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484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399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94708"/>
                  </a:ext>
                </a:extLst>
              </a:tr>
              <a:tr h="339689">
                <a:tc vMerge="1">
                  <a:txBody>
                    <a:bodyPr/>
                    <a:lstStyle/>
                    <a:p>
                      <a:pPr marL="0" algn="ctr" defTabSz="1007943" rtl="0" eaLnBrk="1" latinLnBrk="1" hangingPunct="1"/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부상치료비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(14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급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6,462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8,085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593153"/>
                  </a:ext>
                </a:extLst>
              </a:tr>
              <a:tr h="339689"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최소보험료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07943" rtl="0" eaLnBrk="1" latinLnBrk="1" hangingPunct="1"/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2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만원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만원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01149"/>
                  </a:ext>
                </a:extLst>
              </a:tr>
              <a:tr h="695648"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업계 </a:t>
                      </a:r>
                      <a:r>
                        <a:rPr lang="en-US" altLang="ko-KR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위 운전자보험 </a:t>
                      </a:r>
                      <a:r>
                        <a:rPr lang="ko-KR" altLang="en-US" sz="13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판매사</a:t>
                      </a:r>
                      <a:r>
                        <a:rPr lang="en-US" altLang="ko-KR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노하우↑</a:t>
                      </a:r>
                      <a:r>
                        <a:rPr lang="en-US" altLang="ko-KR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포트홀</a:t>
                      </a: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사고</a:t>
                      </a:r>
                      <a:r>
                        <a:rPr lang="en-US" altLang="ko-KR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3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혼유</a:t>
                      </a: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보상 등 부수 담보 다수운영</a:t>
                      </a:r>
                      <a:endParaRPr lang="en-US" altLang="ko-KR" sz="13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교통사고처리지원금 </a:t>
                      </a:r>
                      <a:r>
                        <a:rPr lang="en-US" altLang="ko-KR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2.5</a:t>
                      </a:r>
                      <a:r>
                        <a:rPr lang="ko-KR" altLang="en-US" sz="13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억으로 업계 최대</a:t>
                      </a:r>
                      <a:endParaRPr lang="en-US" altLang="ko-KR" sz="13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10" name="그림 9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F306DC-1D68-DE72-8D5F-6E8F0D19020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98" y="835346"/>
            <a:ext cx="624488" cy="890814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9E10F2D8-3F4C-6B88-389C-BDAF2DE130C4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925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변호사 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현물급부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9B6F6-76F8-33AC-D595-ECAC88509A60}"/>
              </a:ext>
            </a:extLst>
          </p:cNvPr>
          <p:cNvSpPr txBox="1"/>
          <p:nvPr/>
        </p:nvSpPr>
        <p:spPr>
          <a:xfrm>
            <a:off x="4566659" y="6782139"/>
            <a:ext cx="554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(40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남성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1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급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20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해지환급금 미지급형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  <a:endParaRPr lang="ko-KR" altLang="en-US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99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F67D-B142-E5B3-2ACA-577ABF60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A9FBAC97-A7A1-7041-BC5A-6E211EEAC2BB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DB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참좋은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운전자상해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6765F30-3EB4-A9F2-2014-52852B86ACE4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AED3FC6-EAF7-653D-A54E-31BF8A9874D4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40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- 80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/7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/10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/20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90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/100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만기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E098DA5-7587-1687-45B7-6470B0208C80}"/>
              </a:ext>
            </a:extLst>
          </p:cNvPr>
          <p:cNvSpPr/>
          <p:nvPr/>
        </p:nvSpPr>
        <p:spPr>
          <a:xfrm>
            <a:off x="701674" y="4913746"/>
            <a:ext cx="1251816" cy="1927629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A44C690-9712-B4E8-DD9E-A69922DDF7AB}"/>
              </a:ext>
            </a:extLst>
          </p:cNvPr>
          <p:cNvSpPr/>
          <p:nvPr/>
        </p:nvSpPr>
        <p:spPr>
          <a:xfrm>
            <a:off x="1953489" y="4913745"/>
            <a:ext cx="8036645" cy="1927629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2025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12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월까지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리모델링을 하지 못했던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과거 소액의 비용담보를 갖고 있는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l" latinLnBrk="1">
              <a:spcBef>
                <a:spcPts val="140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모든 고객분들이 가입 대상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26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월 이후 리모델링을 진행했더라도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</a:p>
          <a:p>
            <a:pPr algn="l" latinLnBrk="1">
              <a:spcBef>
                <a:spcPts val="140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자기부담금이 있는 것이 싫은 고객분들 또한 현물 급부 담보로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제안드리기에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적합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10109FC-8774-5759-7465-CF411C774E1F}"/>
              </a:ext>
            </a:extLst>
          </p:cNvPr>
          <p:cNvSpPr/>
          <p:nvPr/>
        </p:nvSpPr>
        <p:spPr>
          <a:xfrm>
            <a:off x="701675" y="2995531"/>
            <a:ext cx="1251816" cy="162431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5221162-E90E-AAB4-10FA-82C09BD650B5}"/>
              </a:ext>
            </a:extLst>
          </p:cNvPr>
          <p:cNvSpPr/>
          <p:nvPr/>
        </p:nvSpPr>
        <p:spPr>
          <a:xfrm>
            <a:off x="1953490" y="2995530"/>
            <a:ext cx="8036645" cy="162431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타사 변호사선임비용 담보와 달리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자기부담금 없는 변호사선임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현물급부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판매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marL="182563" indent="-182563" latinLnBrk="1"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고객이 직접 변호사를 찾는 번거로움 없이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마음에 들때까지 변경도 가능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992822-40ED-C292-B333-488B6B1B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426689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E14342-F823-2E73-ACAF-912B34B24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95662BF4-0738-874D-84E7-EBC44D807BA7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925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변호사 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현물급부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50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21F6-4489-4711-FC72-DB82452A3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D25A4E99-9E20-020C-E309-DB25ACDB4F60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한화손해보험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더경증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간편건강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BE600-0982-8238-3DB2-10C0E4EBC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0C4125C-E52B-6C28-D021-A60630AA9ABF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인공관절수술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35A0E79-4D24-D6E8-D8BD-B93B350A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849414"/>
              </p:ext>
            </p:extLst>
          </p:nvPr>
        </p:nvGraphicFramePr>
        <p:xfrm>
          <a:off x="701674" y="1079500"/>
          <a:ext cx="9288467" cy="576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6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3475728377"/>
                    </a:ext>
                  </a:extLst>
                </a:gridCol>
                <a:gridCol w="2468987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2468987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2468987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</a:tblGrid>
              <a:tr h="5217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한화손해보험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삼성화재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KB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53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더경증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간편건강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온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[ON]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통보장건강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5.10.10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플러스 건강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9528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담보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통합근골격계질환진단치료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특정근골격계질환통합보장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+ </a:t>
                      </a:r>
                      <a:r>
                        <a:rPr lang="ko-KR" altLang="en-US" sz="12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중증무릎관절연골손상진단</a:t>
                      </a:r>
                      <a:endParaRPr lang="ko-KR" altLang="en-US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중증무릎관절연골손상진단</a:t>
                      </a:r>
                      <a:endParaRPr lang="en-US" altLang="ko-KR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+</a:t>
                      </a:r>
                      <a:r>
                        <a:rPr lang="ko-KR" altLang="en-US" sz="12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중증무릎관절연골손상</a:t>
                      </a:r>
                      <a:r>
                        <a:rPr lang="ko-KR" altLang="en-US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특정줄기세포치료 </a:t>
                      </a:r>
                      <a:r>
                        <a:rPr lang="en-US" altLang="ko-KR" sz="12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+ </a:t>
                      </a:r>
                      <a:r>
                        <a:rPr lang="ko-KR" altLang="en-US" sz="12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신인공관절치환수술</a:t>
                      </a:r>
                      <a:endParaRPr lang="ko-KR" altLang="en-US" sz="12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53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카티스템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7713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중증무릎관절</a:t>
                      </a:r>
                      <a:endParaRPr lang="en-US" altLang="ko-KR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연골손상진단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373627"/>
                  </a:ext>
                </a:extLst>
              </a:tr>
              <a:tr h="453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인공관절치환술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21679"/>
                  </a:ext>
                </a:extLst>
              </a:tr>
              <a:tr h="4537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관절질환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관절경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-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91226"/>
                  </a:ext>
                </a:extLst>
              </a:tr>
              <a:tr h="453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관절경외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-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16995"/>
                  </a:ext>
                </a:extLst>
              </a:tr>
              <a:tr h="124644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근골격계질환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및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올리스크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질병수술비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경증제외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등 수술비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가입한도가 타사대비 높은 편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수술비 플랜으로 가져가기에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매우 적합한 상품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건강체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또는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365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고당지뇌심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고지상품으로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U/W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기준은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까다로우나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보장금액은 높은 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낮은 최소보험료로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주요 특약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집중가입 유리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9" name="그림 8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2BCF6B7-9C4B-B800-7118-92AF96FC114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81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5BE7-50DB-8E33-9F69-68BBD609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3429882C-8660-5910-27DE-87C64E4FBCA3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한화손해보험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더경증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간편건강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2561108-A1B4-DB3A-12EB-1CF210C66DA0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9E80DE4-14BB-5A5D-521E-09B07F58DA70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- 80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카티스템 및 관절질환수술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치환술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척추질환 수술 등 근골격계 관련 질환의 최적화 플랜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8CFD60C-BBA0-4AEF-766B-C2846792684E}"/>
              </a:ext>
            </a:extLst>
          </p:cNvPr>
          <p:cNvSpPr/>
          <p:nvPr/>
        </p:nvSpPr>
        <p:spPr>
          <a:xfrm>
            <a:off x="701675" y="2984057"/>
            <a:ext cx="1251816" cy="1458635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DC45DEF-107D-65CE-B166-2AD47D34D6EB}"/>
              </a:ext>
            </a:extLst>
          </p:cNvPr>
          <p:cNvSpPr/>
          <p:nvPr/>
        </p:nvSpPr>
        <p:spPr>
          <a:xfrm>
            <a:off x="1953490" y="2984056"/>
            <a:ext cx="8036645" cy="1458635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5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세대실손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개정 이후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비중증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비급여치료에 대한 자기부담 증가로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</a:t>
            </a:r>
            <a:b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흔히 발생하는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근골격계질환에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대한 치료비 대비가 추가로 필요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C4067D0-B0B8-90A9-BAEF-8DA815E35C9A}"/>
              </a:ext>
            </a:extLst>
          </p:cNvPr>
          <p:cNvSpPr/>
          <p:nvPr/>
        </p:nvSpPr>
        <p:spPr>
          <a:xfrm>
            <a:off x="701674" y="4725112"/>
            <a:ext cx="1251816" cy="2116264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682297-98AD-5D3A-67A2-389F18DDDD09}"/>
              </a:ext>
            </a:extLst>
          </p:cNvPr>
          <p:cNvSpPr/>
          <p:nvPr/>
        </p:nvSpPr>
        <p:spPr>
          <a:xfrm>
            <a:off x="1953489" y="4725111"/>
            <a:ext cx="8036645" cy="2116264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대한민국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다빈도질환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상위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20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위 안에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4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개나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랭크되어있는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근골격계 질환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l"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한 해 환자수 약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60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만명으로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사실상 사람이 노화되면서 발병하는 누구나 발생하며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l"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재수술도 빈번하게 일어나는 질환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세대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실손가입자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뿐만 아니라 고령자라면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algn="l" latinLnBrk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모두가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준비해야 하는 상품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88C041-1242-2C7A-D683-A076ADAB7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69" y="3332373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E9A9C1-4930-6767-ABEC-8DBACBD20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A28BF8E-8C95-7567-61BB-E970F2239012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인공관절수술</a:t>
            </a:r>
          </a:p>
        </p:txBody>
      </p:sp>
    </p:spTree>
    <p:extLst>
      <p:ext uri="{BB962C8B-B14F-4D97-AF65-F5344CB8AC3E}">
        <p14:creationId xmlns:p14="http://schemas.microsoft.com/office/powerpoint/2010/main" val="1980042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EBB6-5F11-C560-6DD2-942F5B17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CBBC46F-5F73-E148-2094-69C7106AC30C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삼성화재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New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내돈내삼</a:t>
            </a:r>
            <a:endParaRPr lang="ko-KR" altLang="en-US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FFFD4-7F95-9CEF-B0E7-D300A58D7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A3F9CDE-F99F-4BBB-305D-9E9349F44386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수술비 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대장용종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74C481-CC5D-BAD9-2557-F403D50D1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258697"/>
              </p:ext>
            </p:extLst>
          </p:nvPr>
        </p:nvGraphicFramePr>
        <p:xfrm>
          <a:off x="701675" y="1079503"/>
          <a:ext cx="9288467" cy="5779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6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3475728377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822995">
                  <a:extLst>
                    <a:ext uri="{9D8B030D-6E8A-4147-A177-3AD203B41FA5}">
                      <a16:colId xmlns:a16="http://schemas.microsoft.com/office/drawing/2014/main" val="996135868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3761035301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822995">
                  <a:extLst>
                    <a:ext uri="{9D8B030D-6E8A-4147-A177-3AD203B41FA5}">
                      <a16:colId xmlns:a16="http://schemas.microsoft.com/office/drawing/2014/main" val="1306088899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2289480478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822995">
                  <a:extLst>
                    <a:ext uri="{9D8B030D-6E8A-4147-A177-3AD203B41FA5}">
                      <a16:colId xmlns:a16="http://schemas.microsoft.com/office/drawing/2014/main" val="879067908"/>
                    </a:ext>
                  </a:extLst>
                </a:gridCol>
                <a:gridCol w="822996">
                  <a:extLst>
                    <a:ext uri="{9D8B030D-6E8A-4147-A177-3AD203B41FA5}">
                      <a16:colId xmlns:a16="http://schemas.microsoft.com/office/drawing/2014/main" val="304403816"/>
                    </a:ext>
                  </a:extLst>
                </a:gridCol>
              </a:tblGrid>
              <a:tr h="5629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삼성화재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한화손해보험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현대해상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8949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New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내돈내삼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더건강한 한아름 종합보험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퍼펙트플러스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종합보험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48949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16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- 70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– 65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- 70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515762"/>
                  </a:ext>
                </a:extLst>
              </a:tr>
              <a:tr h="48949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8949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경증제외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-</a:t>
                      </a:r>
                      <a:endParaRPr lang="ko-KR" altLang="en-US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-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8949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27336"/>
                  </a:ext>
                </a:extLst>
              </a:tr>
              <a:tr h="48949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1-5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50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3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91226"/>
                  </a:ext>
                </a:extLst>
              </a:tr>
              <a:tr h="300284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대장용종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지급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경증제외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083301"/>
                  </a:ext>
                </a:extLst>
              </a:tr>
              <a:tr h="3002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80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80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80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14842"/>
                  </a:ext>
                </a:extLst>
              </a:tr>
              <a:tr h="300284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백내장 지급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+ 1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+ 62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+ 1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질병수술비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+ 1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+ 3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621469"/>
                  </a:ext>
                </a:extLst>
              </a:tr>
              <a:tr h="30028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110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70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04309"/>
                  </a:ext>
                </a:extLst>
              </a:tr>
              <a:tr h="105998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용종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진단비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및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양성신생물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진단비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1-8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종진단비 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포함시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대장용종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최대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130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만원 지급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경증제외 포함 수술비 가입한도 업계 최대수준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All Risk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상급종합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 100</a:t>
                      </a: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만으로 타사 경증질환 또는 </a:t>
                      </a:r>
                      <a:r>
                        <a:rPr lang="en-US" altLang="ko-KR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10</a:t>
                      </a:r>
                      <a:r>
                        <a:rPr lang="ko-KR" altLang="en-US" sz="1400" b="1" i="0" dirty="0" err="1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대질환</a:t>
                      </a:r>
                      <a:endParaRPr lang="en-US" altLang="ko-KR" sz="1400" b="1" i="0" dirty="0"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400"/>
                        </a:spcBef>
                      </a:pPr>
                      <a:r>
                        <a:rPr lang="ko-KR" altLang="en-US" sz="14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상급종합병원 수술비 대비 우위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9" name="그림 8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01C11E-5D42-C7F4-B5E8-E630DF0A291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00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D90F-F7DA-B59E-C35D-B4178000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E270F391-C739-2BA0-EDEC-11ED60FC6954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삼성화재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– New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내돈내삼</a:t>
            </a:r>
            <a:endParaRPr lang="en" altLang="ko-KR" sz="2400" b="1" spc="-150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55AF8C6-974D-AB0B-76CD-A19C8A9A9D48}"/>
              </a:ext>
            </a:extLst>
          </p:cNvPr>
          <p:cNvSpPr/>
          <p:nvPr/>
        </p:nvSpPr>
        <p:spPr>
          <a:xfrm>
            <a:off x="701676" y="1087815"/>
            <a:ext cx="1251816" cy="1313641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CA8194D-6C73-C586-1B87-4C1913C6B5C9}"/>
              </a:ext>
            </a:extLst>
          </p:cNvPr>
          <p:cNvSpPr/>
          <p:nvPr/>
        </p:nvSpPr>
        <p:spPr>
          <a:xfrm>
            <a:off x="1953491" y="1087814"/>
            <a:ext cx="8036645" cy="1313641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- 70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종수술비 동시가입 및 단독가입 등 타사대비 특약 구성의 유연성 높음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B4F4DFE-551B-078D-7BAC-645510E43BA5}"/>
              </a:ext>
            </a:extLst>
          </p:cNvPr>
          <p:cNvSpPr/>
          <p:nvPr/>
        </p:nvSpPr>
        <p:spPr>
          <a:xfrm>
            <a:off x="701675" y="2814514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9CD1BFA-908E-068D-D9A6-FA0775CB71D8}"/>
              </a:ext>
            </a:extLst>
          </p:cNvPr>
          <p:cNvSpPr/>
          <p:nvPr/>
        </p:nvSpPr>
        <p:spPr>
          <a:xfrm>
            <a:off x="1953490" y="2814513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시작되는 직장인 건강검진 시즌에 맞춰</a:t>
            </a:r>
            <a: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저렴한 보험료로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가성비있게</a:t>
            </a:r>
            <a:br>
              <a:rPr lang="en-US" altLang="ko-KR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1600" b="1" dirty="0" err="1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대장용종제거</a:t>
            </a:r>
            <a:r>
              <a:rPr lang="ko-KR" altLang="en-US" sz="1600" b="1" dirty="0">
                <a:solidFill>
                  <a:srgbClr val="FF0000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수술비를 준비할 수 있는 플랜</a:t>
            </a:r>
            <a:endParaRPr lang="en-US" altLang="ko-KR" sz="1600" b="1" dirty="0">
              <a:solidFill>
                <a:srgbClr val="FF0000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CF92C3D-65EC-D54C-D816-2FE762465920}"/>
              </a:ext>
            </a:extLst>
          </p:cNvPr>
          <p:cNvSpPr/>
          <p:nvPr/>
        </p:nvSpPr>
        <p:spPr>
          <a:xfrm>
            <a:off x="701674" y="4433340"/>
            <a:ext cx="1251816" cy="2408035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BF73ECA-BE11-6ABC-448A-3BAD5D17BBE8}"/>
              </a:ext>
            </a:extLst>
          </p:cNvPr>
          <p:cNvSpPr/>
          <p:nvPr/>
        </p:nvSpPr>
        <p:spPr>
          <a:xfrm>
            <a:off x="1953489" y="4433339"/>
            <a:ext cx="8036645" cy="2408035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건강검진 대장내시경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성인 3명 중 1명꼴로 </a:t>
            </a:r>
            <a:r>
              <a:rPr lang="ko-KR" altLang="ko-KR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용종이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발견될 만큼 흔하고,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50대 이상 무증상자에서도 20~30%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발견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남 얘기가 아니라 </a:t>
            </a:r>
            <a:r>
              <a:rPr lang="ko-KR" altLang="ko-KR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확률상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고객에게 직접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와닿는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얘기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!</a:t>
            </a:r>
          </a:p>
          <a:p>
            <a:pPr marL="182563" indent="-182563" latinLnBrk="1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marL="182563" indent="-182563" latinLnBrk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발견 연령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도 계속 </a:t>
            </a:r>
            <a:r>
              <a:rPr lang="ko-KR" altLang="en-US" sz="16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내려오는중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!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한국의 20~49세 대장암 발생률은 42개국 중 1위이고,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 latinLnBrk="1">
              <a:spcBef>
                <a:spcPts val="600"/>
              </a:spcBef>
            </a:pP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   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검진 권고 연령도 45세로 낮아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진 상황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. 40대에</a:t>
            </a:r>
            <a:r>
              <a:rPr lang="ko-KR" altLang="en-US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는</a:t>
            </a:r>
            <a:r>
              <a:rPr lang="ko-KR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이미 준비가 필요한 시기</a:t>
            </a:r>
            <a:r>
              <a:rPr lang="en-US" altLang="ko-KR" sz="16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!</a:t>
            </a:r>
            <a:r>
              <a:rPr lang="ko-KR" altLang="ko-KR" sz="1600" dirty="0"/>
              <a:t>.</a:t>
            </a:r>
            <a:endParaRPr lang="en-US" altLang="ko-KR" sz="16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94EC73-730D-A973-E30B-64552E7FF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53" y="3036397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A97CB9-494C-28E7-2BB9-A8ED3090C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4B8B5355-D986-9243-6607-08A3BCC93C1F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수술비 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대장용종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endParaRPr lang="ko-KR" altLang="en-US" sz="2400" b="1" spc="-100" dirty="0">
              <a:solidFill>
                <a:srgbClr val="062765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259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813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9D799E5F-72E4-5395-C2DB-2C3502583AC4}"/>
              </a:ext>
            </a:extLst>
          </p:cNvPr>
          <p:cNvSpPr txBox="1">
            <a:spLocks/>
          </p:cNvSpPr>
          <p:nvPr/>
        </p:nvSpPr>
        <p:spPr>
          <a:xfrm>
            <a:off x="8634750" y="-167950"/>
            <a:ext cx="2057063" cy="112431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5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1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건강체 가성비 상품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FB2DAE1-1D2F-2D55-4CC3-DBD97BE81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10272"/>
              </p:ext>
            </p:extLst>
          </p:nvPr>
        </p:nvGraphicFramePr>
        <p:xfrm>
          <a:off x="701675" y="1080717"/>
          <a:ext cx="9288466" cy="551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67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2467">
                  <a:extLst>
                    <a:ext uri="{9D8B030D-6E8A-4147-A177-3AD203B41FA5}">
                      <a16:colId xmlns:a16="http://schemas.microsoft.com/office/drawing/2014/main" val="2470179069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50015309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35100021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106398273"/>
                    </a:ext>
                  </a:extLst>
                </a:gridCol>
              </a:tblGrid>
              <a:tr h="39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NH</a:t>
                      </a:r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농협손해보험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삼성화재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메리츠화재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5.10.5 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굿플러스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New 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내돈내삼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The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건강한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5.10.5 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보장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 ~ 60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16 ~ 70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 ~ 60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20·25·30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20·25·30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일반암진단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</a:rPr>
                        <a:t>11,390</a:t>
                      </a:r>
                      <a:endParaRPr lang="ko-KR" altLang="en-US" sz="1400" b="1" i="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6,880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13,910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10,510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12,070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8,030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17433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암주요치료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0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(10</a:t>
                      </a:r>
                      <a:r>
                        <a:rPr lang="ko-KR" altLang="en-US" sz="10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년지급</a:t>
                      </a:r>
                      <a:r>
                        <a:rPr lang="en-US" altLang="ko-KR" sz="10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18,060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11,583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20,093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17,298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22,570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16,090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뇌혈관진단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9,290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7,340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9,060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8,170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9,720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8,020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01747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허혈성진단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4,870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2,200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6,070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2,830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6,320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2,390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029"/>
                  </a:ext>
                </a:extLst>
              </a:tr>
              <a:tr h="476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순환계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12,890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6,620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12,395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9,245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14,774</a:t>
                      </a:r>
                    </a:p>
                    <a:p>
                      <a:pPr algn="ctr" latinLnBrk="1"/>
                      <a:r>
                        <a:rPr lang="en-US" altLang="ko-KR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통합치료비</a:t>
                      </a:r>
                      <a:r>
                        <a:rPr lang="en-US" altLang="ko-KR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10,336</a:t>
                      </a: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통합치료비</a:t>
                      </a:r>
                      <a:r>
                        <a:rPr lang="en-US" altLang="ko-KR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75153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1,283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1,412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1,985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</a:rPr>
                        <a:t>2,050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</a:rPr>
                        <a:t>1,860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2,325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8021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이런 분들께 추천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!</a:t>
                      </a:r>
                      <a:endParaRPr lang="ko-KR" altLang="en-US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여성 종합보험 가성비 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TOP</a:t>
                      </a:r>
                      <a:endParaRPr lang="ko-KR" altLang="en-US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남성 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대질환 및 순환계주요치료 플랜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암진단치료비 등 신규담보 경쟁력↑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96B696A-E3ED-183A-F56D-E680E8997B9E}"/>
              </a:ext>
            </a:extLst>
          </p:cNvPr>
          <p:cNvSpPr txBox="1"/>
          <p:nvPr/>
        </p:nvSpPr>
        <p:spPr>
          <a:xfrm>
            <a:off x="4556396" y="6633336"/>
            <a:ext cx="554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(40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100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세만기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20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해지환급금 미지급형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담보별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보험료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  <a:endParaRPr lang="ko-KR" altLang="en-US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FB4B21B5-4803-5456-4EDF-F05527188B32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_3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대진단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및 주요치료비 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추천사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건강체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A0F78A-B500-2A57-5A7F-28BF958C5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5463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C332-7B74-646E-C1B7-007001B2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>
            <a:extLst>
              <a:ext uri="{FF2B5EF4-FFF2-40B4-BE49-F238E27FC236}">
                <a16:creationId xmlns:a16="http://schemas.microsoft.com/office/drawing/2014/main" id="{88BF1597-DC58-90D6-83B1-30D71546002A}"/>
              </a:ext>
            </a:extLst>
          </p:cNvPr>
          <p:cNvSpPr txBox="1">
            <a:spLocks/>
          </p:cNvSpPr>
          <p:nvPr/>
        </p:nvSpPr>
        <p:spPr>
          <a:xfrm>
            <a:off x="8634750" y="-167950"/>
            <a:ext cx="2057063" cy="112431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5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1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초경증</a:t>
            </a:r>
            <a:r>
              <a:rPr kumimoji="0" lang="ko-KR" altLang="en-US" sz="1800" b="1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 Bold" panose="020B0600000101010101" pitchFamily="34" charset="-127"/>
                <a:ea typeface="NanumSquare Bold" panose="020B0600000101010101" pitchFamily="34" charset="-127"/>
                <a:cs typeface="+mn-cs"/>
              </a:rPr>
              <a:t> 가성비 상품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A714C8B6-3F66-8124-1ED7-783C9F494FF8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_3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대진단</a:t>
            </a:r>
            <a:r>
              <a:rPr kumimoji="0" lang="ko-KR" altLang="en-US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및 주요치료비 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추천사</a:t>
            </a:r>
            <a:r>
              <a:rPr kumimoji="0" lang="en-US" altLang="ko-KR" sz="2400" b="1" u="none" strike="noStrike" kern="1200" cap="none" spc="-15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_</a:t>
            </a:r>
            <a:r>
              <a:rPr kumimoji="0" lang="ko-KR" altLang="en-US" sz="2400" b="1" u="none" strike="noStrike" kern="1200" cap="none" spc="-15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초경증</a:t>
            </a:r>
            <a:endParaRPr kumimoji="0" lang="ko-KR" altLang="en-US" sz="2400" b="1" u="none" strike="noStrike" kern="1200" cap="none" spc="-15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0AD50-7A10-F485-F13F-B37144C3F931}"/>
              </a:ext>
            </a:extLst>
          </p:cNvPr>
          <p:cNvSpPr txBox="1"/>
          <p:nvPr/>
        </p:nvSpPr>
        <p:spPr>
          <a:xfrm>
            <a:off x="4556396" y="6633336"/>
            <a:ext cx="554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(40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100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세만기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20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년납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해지환급금 미지급형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담보별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보험료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  <a:endParaRPr lang="ko-KR" altLang="en-US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2EC40B9-9ED7-5F1A-4D7F-C1619C8B8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063962"/>
              </p:ext>
            </p:extLst>
          </p:nvPr>
        </p:nvGraphicFramePr>
        <p:xfrm>
          <a:off x="701675" y="1080717"/>
          <a:ext cx="9288466" cy="551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67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2467">
                  <a:extLst>
                    <a:ext uri="{9D8B030D-6E8A-4147-A177-3AD203B41FA5}">
                      <a16:colId xmlns:a16="http://schemas.microsoft.com/office/drawing/2014/main" val="2470179069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50015309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35100021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106398273"/>
                    </a:ext>
                  </a:extLst>
                </a:gridCol>
              </a:tblGrid>
              <a:tr h="39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롯데손해보험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메리츠화재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DB</a:t>
                      </a:r>
                      <a:r>
                        <a:rPr lang="ko-KR" altLang="en-US" sz="1800" b="1" i="0" dirty="0"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6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3300B"/>
                          </a:solidFill>
                          <a:effectLst/>
                          <a:uLnTx/>
                          <a:uFillTx/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Let:simple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3300B"/>
                          </a:solidFill>
                          <a:effectLst/>
                          <a:uLnTx/>
                          <a:uFillTx/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3300B"/>
                          </a:solidFill>
                          <a:effectLst/>
                          <a:uLnTx/>
                          <a:uFillTx/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간편 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3300B"/>
                          </a:solidFill>
                          <a:effectLst/>
                          <a:uLnTx/>
                          <a:uFillTx/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3.10.10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통합간편건강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3.10.5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나에게 맞춘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더좋은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초경증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 간편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90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90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15 ~ 90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납입기간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10·15·20·25·30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20·30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10·15·20·25·30</a:t>
                      </a:r>
                      <a:r>
                        <a:rPr lang="ko-KR" altLang="en-US" sz="14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년납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일반암진단</a:t>
                      </a:r>
                      <a:endParaRPr lang="ko-KR" altLang="en-US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13,900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10,710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16,450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11,200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16,380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12,840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17433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암주요치료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0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(10</a:t>
                      </a:r>
                      <a:r>
                        <a:rPr lang="ko-KR" altLang="en-US" sz="1000" b="0" i="0" dirty="0" err="1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년지급</a:t>
                      </a:r>
                      <a:r>
                        <a:rPr lang="en-US" altLang="ko-KR" sz="10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)</a:t>
                      </a:r>
                      <a:endParaRPr lang="ko-KR" altLang="en-US" sz="10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21,976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19,348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28,926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23,590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27,202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21,440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뇌혈관진단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12,150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10,280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13,800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10,880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13,260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12,840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01747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허혈성진단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FF0000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7,700</a:t>
                      </a:r>
                      <a:endParaRPr lang="ko-KR" altLang="en-US" sz="1400" b="0" i="0" dirty="0">
                        <a:solidFill>
                          <a:srgbClr val="FF0000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3,390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9,980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3,870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7,810</a:t>
                      </a:r>
                      <a:endParaRPr lang="ko-KR" altLang="en-US" sz="1400" b="1" i="0" kern="1200" dirty="0">
                        <a:solidFill>
                          <a:schemeClr val="tx1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5,050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029"/>
                  </a:ext>
                </a:extLst>
              </a:tr>
              <a:tr h="4765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순환계</a:t>
                      </a:r>
                      <a:endParaRPr lang="en-US" altLang="ko-KR" sz="11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주요치료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1,000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21,880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9,860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26,981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18,841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18,785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12,040</a:t>
                      </a:r>
                      <a:endParaRPr lang="ko-KR" altLang="en-US" sz="1400" b="0" i="0" dirty="0"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75153"/>
                  </a:ext>
                </a:extLst>
              </a:tr>
              <a:tr h="464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질병수술비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10</a:t>
                      </a:r>
                      <a:r>
                        <a:rPr lang="ko-KR" altLang="en-US" sz="1400" b="0" i="0" dirty="0"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2,509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rgbClr val="FF3300"/>
                          </a:solidFill>
                          <a:latin typeface="NanumSquare ExtraBold" panose="020B0600000101010101" pitchFamily="34" charset="-127"/>
                          <a:ea typeface="NanumSquare ExtraBold" panose="020B0600000101010101" pitchFamily="34" charset="-127"/>
                          <a:cs typeface="+mn-cs"/>
                        </a:rPr>
                        <a:t>2,594</a:t>
                      </a:r>
                      <a:endParaRPr lang="ko-KR" altLang="en-US" sz="1400" b="1" i="0" kern="1200" dirty="0">
                        <a:solidFill>
                          <a:srgbClr val="FF3300"/>
                        </a:solidFill>
                        <a:latin typeface="NanumSquare ExtraBold" panose="020B0600000101010101" pitchFamily="34" charset="-127"/>
                        <a:ea typeface="NanumSquare Extra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2,624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3,360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</a:rPr>
                        <a:t>3,222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latin typeface="NanumSquare" panose="020B0600000101010101" pitchFamily="34" charset="-127"/>
                          <a:ea typeface="NanumSquare" panose="020B0600000101010101" pitchFamily="34" charset="-127"/>
                          <a:cs typeface="+mn-cs"/>
                        </a:rPr>
                        <a:t>2,881</a:t>
                      </a:r>
                      <a:endParaRPr lang="ko-KR" altLang="en-US" sz="1400" b="0" i="0" kern="1200" dirty="0">
                        <a:solidFill>
                          <a:schemeClr val="tx1"/>
                        </a:solidFill>
                        <a:latin typeface="NanumSquare" panose="020B0600000101010101" pitchFamily="34" charset="-127"/>
                        <a:ea typeface="NanumSquare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8021"/>
                  </a:ext>
                </a:extLst>
              </a:tr>
              <a:tr h="46455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이런 분들께 추천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!</a:t>
                      </a:r>
                      <a:endParaRPr lang="ko-KR" altLang="en-US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초경증상품 보험료 경쟁력↑</a:t>
                      </a:r>
                      <a:endParaRPr lang="en-US" altLang="ko-KR" sz="1200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NanumSquare Bold" panose="020B0600000101010101" pitchFamily="34" charset="-127"/>
                        <a:ea typeface="NanumSquare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검사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진단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치료 등 통합치료비 플랜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남성 </a:t>
                      </a:r>
                      <a:r>
                        <a:rPr lang="en-US" altLang="ko-KR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2</a:t>
                      </a:r>
                      <a:r>
                        <a:rPr lang="ko-KR" altLang="en-US" sz="12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anumSquare Bold" panose="020B0600000101010101" pitchFamily="34" charset="-127"/>
                          <a:ea typeface="NanumSquare Bold" panose="020B0600000101010101" pitchFamily="34" charset="-127"/>
                        </a:rPr>
                        <a:t>대혈관질환 위주 플랜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3A6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E5049D-2B41-9D13-1D5B-A67A36A12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568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나눔스퀘어OTF" panose="020B0600000101010101" pitchFamily="34" charset="-127"/>
            <a:ea typeface="나눔스퀘어OTF" panose="020B0600000101010101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23487</TotalTime>
  <Words>2566</Words>
  <Application>Microsoft Macintosh PowerPoint</Application>
  <PresentationFormat>사용자 지정</PresentationFormat>
  <Paragraphs>862</Paragraphs>
  <Slides>24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6" baseType="lpstr">
      <vt:lpstr>Aptos Display</vt:lpstr>
      <vt:lpstr>NanumSquareOTF Bold</vt:lpstr>
      <vt:lpstr>맑은 고딕</vt:lpstr>
      <vt:lpstr>Arial</vt:lpstr>
      <vt:lpstr>NanumSquare Bold</vt:lpstr>
      <vt:lpstr>Aptos</vt:lpstr>
      <vt:lpstr>Wingdings</vt:lpstr>
      <vt:lpstr>NanumSquareOTF ExtraBold</vt:lpstr>
      <vt:lpstr>NanumSquare</vt:lpstr>
      <vt:lpstr>NanumSquare ExtraBold</vt:lpstr>
      <vt:lpstr>나눔스퀘어OTF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shin</dc:creator>
  <cp:lastModifiedBy>두식 윤</cp:lastModifiedBy>
  <cp:revision>3442</cp:revision>
  <cp:lastPrinted>2024-09-02T05:28:03Z</cp:lastPrinted>
  <dcterms:created xsi:type="dcterms:W3CDTF">2024-08-27T05:40:52Z</dcterms:created>
  <dcterms:modified xsi:type="dcterms:W3CDTF">2026-10-08T05:57:00Z</dcterms:modified>
</cp:coreProperties>
</file>